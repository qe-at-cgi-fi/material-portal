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92" r:id="rId3"/>
    <p:sldId id="293" r:id="rId4"/>
    <p:sldId id="294" r:id="rId5"/>
    <p:sldId id="295" r:id="rId6"/>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17" r:id="rId28"/>
    <p:sldId id="318" r:id="rId29"/>
    <p:sldId id="319" r:id="rId30"/>
    <p:sldId id="323" r:id="rId31"/>
    <p:sldId id="321" r:id="rId32"/>
    <p:sldId id="322" r:id="rId33"/>
    <p:sldId id="291" r:id="rId34"/>
    <p:sldId id="257" r:id="rId35"/>
  </p:sldIdLst>
  <p:sldSz cx="9144000" cy="6858000" type="screen4x3"/>
  <p:notesSz cx="6734175" cy="98679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309" autoAdjust="0"/>
  </p:normalViewPr>
  <p:slideViewPr>
    <p:cSldViewPr>
      <p:cViewPr varScale="1">
        <p:scale>
          <a:sx n="62" d="100"/>
          <a:sy n="62" d="100"/>
        </p:scale>
        <p:origin x="-824" y="-11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6368"/>
    </p:cViewPr>
  </p:sorterViewPr>
  <p:notesViewPr>
    <p:cSldViewPr>
      <p:cViewPr varScale="1">
        <p:scale>
          <a:sx n="64" d="100"/>
          <a:sy n="64" d="100"/>
        </p:scale>
        <p:origin x="-2490" y="-126"/>
      </p:cViewPr>
      <p:guideLst>
        <p:guide orient="horz" pos="3108"/>
        <p:guide pos="2121"/>
      </p:guideLst>
    </p:cSldViewPr>
  </p:notes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printerSettings" Target="printerSettings/printerSettings1.bin"/><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143" cy="493395"/>
          </a:xfrm>
          <a:prstGeom prst="rect">
            <a:avLst/>
          </a:prstGeom>
        </p:spPr>
        <p:txBody>
          <a:bodyPr vert="horz" lIns="91440" tIns="45720" rIns="91440" bIns="45720" rtlCol="0"/>
          <a:lstStyle>
            <a:lvl1pPr algn="l">
              <a:defRPr sz="1200"/>
            </a:lvl1pPr>
          </a:lstStyle>
          <a:p>
            <a:endParaRPr lang="fi-FI"/>
          </a:p>
        </p:txBody>
      </p:sp>
      <p:sp>
        <p:nvSpPr>
          <p:cNvPr id="3" name="Date Placeholder 2"/>
          <p:cNvSpPr>
            <a:spLocks noGrp="1"/>
          </p:cNvSpPr>
          <p:nvPr>
            <p:ph type="dt" idx="1"/>
          </p:nvPr>
        </p:nvSpPr>
        <p:spPr>
          <a:xfrm>
            <a:off x="3814474" y="0"/>
            <a:ext cx="2918143" cy="493395"/>
          </a:xfrm>
          <a:prstGeom prst="rect">
            <a:avLst/>
          </a:prstGeom>
        </p:spPr>
        <p:txBody>
          <a:bodyPr vert="horz" lIns="91440" tIns="45720" rIns="91440" bIns="45720" rtlCol="0"/>
          <a:lstStyle>
            <a:lvl1pPr algn="r">
              <a:defRPr sz="1200"/>
            </a:lvl1pPr>
          </a:lstStyle>
          <a:p>
            <a:fld id="{36A5C55B-5751-4D85-896F-91204AA783C7}" type="datetimeFigureOut">
              <a:rPr lang="en-US" smtClean="0"/>
              <a:pPr/>
              <a:t>30/05/17</a:t>
            </a:fld>
            <a:endParaRPr lang="fi-FI"/>
          </a:p>
        </p:txBody>
      </p:sp>
      <p:sp>
        <p:nvSpPr>
          <p:cNvPr id="4" name="Slide Image Placeholder 3"/>
          <p:cNvSpPr>
            <a:spLocks noGrp="1" noRot="1" noChangeAspect="1"/>
          </p:cNvSpPr>
          <p:nvPr>
            <p:ph type="sldImg" idx="2"/>
          </p:nvPr>
        </p:nvSpPr>
        <p:spPr>
          <a:xfrm>
            <a:off x="900113" y="739775"/>
            <a:ext cx="4933950" cy="3700463"/>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73418" y="4687253"/>
            <a:ext cx="5387340" cy="444055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6" name="Footer Placeholder 5"/>
          <p:cNvSpPr>
            <a:spLocks noGrp="1"/>
          </p:cNvSpPr>
          <p:nvPr>
            <p:ph type="ftr" sz="quarter" idx="4"/>
          </p:nvPr>
        </p:nvSpPr>
        <p:spPr>
          <a:xfrm>
            <a:off x="0" y="9372792"/>
            <a:ext cx="2918143" cy="493395"/>
          </a:xfrm>
          <a:prstGeom prst="rect">
            <a:avLst/>
          </a:prstGeom>
        </p:spPr>
        <p:txBody>
          <a:bodyPr vert="horz" lIns="91440" tIns="45720" rIns="91440" bIns="45720" rtlCol="0" anchor="b"/>
          <a:lstStyle>
            <a:lvl1pPr algn="l">
              <a:defRPr sz="1200"/>
            </a:lvl1pPr>
          </a:lstStyle>
          <a:p>
            <a:endParaRPr lang="fi-FI"/>
          </a:p>
        </p:txBody>
      </p:sp>
      <p:sp>
        <p:nvSpPr>
          <p:cNvPr id="7" name="Slide Number Placeholder 6"/>
          <p:cNvSpPr>
            <a:spLocks noGrp="1"/>
          </p:cNvSpPr>
          <p:nvPr>
            <p:ph type="sldNum" sz="quarter" idx="5"/>
          </p:nvPr>
        </p:nvSpPr>
        <p:spPr>
          <a:xfrm>
            <a:off x="3814474" y="9372792"/>
            <a:ext cx="2918143" cy="493395"/>
          </a:xfrm>
          <a:prstGeom prst="rect">
            <a:avLst/>
          </a:prstGeom>
        </p:spPr>
        <p:txBody>
          <a:bodyPr vert="horz" lIns="91440" tIns="45720" rIns="91440" bIns="45720" rtlCol="0" anchor="b"/>
          <a:lstStyle>
            <a:lvl1pPr algn="r">
              <a:defRPr sz="1200"/>
            </a:lvl1pPr>
          </a:lstStyle>
          <a:p>
            <a:fld id="{3B46C0F0-CF11-4FCF-A404-2F2FF520469E}" type="slidenum">
              <a:rPr lang="fi-FI" smtClean="0"/>
              <a:pPr/>
              <a:t>‹#›</a:t>
            </a:fld>
            <a:endParaRPr lang="fi-FI"/>
          </a:p>
        </p:txBody>
      </p:sp>
    </p:spTree>
    <p:extLst>
      <p:ext uri="{BB962C8B-B14F-4D97-AF65-F5344CB8AC3E}">
        <p14:creationId xmlns:p14="http://schemas.microsoft.com/office/powerpoint/2010/main" val="3777203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a:t>
            </a:fld>
            <a:endParaRPr lang="fi-FI"/>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a:t>
            </a:fld>
            <a:endParaRPr lang="fi-FI"/>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3</a:t>
            </a:fld>
            <a:endParaRPr lang="fi-FI"/>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4</a:t>
            </a:fld>
            <a:endParaRPr lang="fi-FI"/>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5</a:t>
            </a:fld>
            <a:endParaRPr lang="fi-FI"/>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39E0DA-FF3E-427C-9C08-0A8F67C833BD}" type="slidenum">
              <a:rPr lang="en-GB"/>
              <a:pPr/>
              <a:t>6</a:t>
            </a:fld>
            <a:endParaRPr lang="en-GB" dirty="0"/>
          </a:p>
        </p:txBody>
      </p:sp>
      <p:sp>
        <p:nvSpPr>
          <p:cNvPr id="1511426" name="Rectangle 2"/>
          <p:cNvSpPr>
            <a:spLocks noGrp="1" noRot="1" noChangeAspect="1" noChangeArrowheads="1" noTextEdit="1"/>
          </p:cNvSpPr>
          <p:nvPr>
            <p:ph type="sldImg"/>
          </p:nvPr>
        </p:nvSpPr>
        <p:spPr>
          <a:xfrm>
            <a:off x="1065213" y="858838"/>
            <a:ext cx="4605337" cy="3455987"/>
          </a:xfrm>
          <a:ln/>
        </p:spPr>
      </p:sp>
      <p:sp>
        <p:nvSpPr>
          <p:cNvPr id="1511427" name="Rectangle 3"/>
          <p:cNvSpPr>
            <a:spLocks noGrp="1" noChangeArrowheads="1"/>
          </p:cNvSpPr>
          <p:nvPr>
            <p:ph type="body" idx="1"/>
          </p:nvPr>
        </p:nvSpPr>
        <p:spPr>
          <a:xfrm>
            <a:off x="897682" y="4703127"/>
            <a:ext cx="4938813" cy="4462062"/>
          </a:xfrm>
        </p:spPr>
        <p:txBody>
          <a:bodyPr lIns="90087" tIns="45043" rIns="90087" bIns="45043"/>
          <a:lstStyle/>
          <a:p>
            <a:endParaRPr lang="fi-FI"/>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4110E2-08BC-4457-BB99-BA5AF98673C9}" type="slidenum">
              <a:rPr lang="en-GB"/>
              <a:pPr/>
              <a:t>7</a:t>
            </a:fld>
            <a:endParaRPr lang="en-GB" dirty="0"/>
          </a:p>
        </p:txBody>
      </p:sp>
      <p:sp>
        <p:nvSpPr>
          <p:cNvPr id="1459202" name="Rectangle 2"/>
          <p:cNvSpPr>
            <a:spLocks noGrp="1" noRot="1" noChangeAspect="1" noChangeArrowheads="1" noTextEdit="1"/>
          </p:cNvSpPr>
          <p:nvPr>
            <p:ph type="sldImg"/>
          </p:nvPr>
        </p:nvSpPr>
        <p:spPr>
          <a:ln/>
        </p:spPr>
      </p:sp>
      <p:sp>
        <p:nvSpPr>
          <p:cNvPr id="1459203" name="Rectangle 3"/>
          <p:cNvSpPr>
            <a:spLocks noGrp="1" noChangeArrowheads="1"/>
          </p:cNvSpPr>
          <p:nvPr>
            <p:ph type="body" idx="1"/>
          </p:nvPr>
        </p:nvSpPr>
        <p:spPr/>
        <p:txBody>
          <a:bodyPr lIns="89781" tIns="44891" rIns="89781" bIns="44891"/>
          <a:lstStyle/>
          <a:p>
            <a:endParaRPr lang="fi-FI" dirty="0"/>
          </a:p>
          <a:p>
            <a:r>
              <a:rPr lang="fi-FI" dirty="0"/>
              <a:t>Onko oire yleensäkään ongelma? Kuinka tärkeä ongelma? Onko oire aina oleellinen? Jos pitää jatkuvasti ikkunaa auki niin että reumatismi vaivaa, niin eikös siinä vaiheessa lääke taas olisi korjata tilannetekijöitä. Vai ovatko oireet aina seurausta tilannetekijöistä? Toisaalta, tällöin jotkin tilannetekijät olisivat sisäsyntyisiä. </a:t>
            </a:r>
          </a:p>
          <a:p>
            <a:endParaRPr lang="fi-FI" dirty="0"/>
          </a:p>
          <a:p>
            <a:r>
              <a:rPr lang="fi-FI" dirty="0"/>
              <a:t>Missä kuviossa tavoitteet ja keinot? Onko monenlaisia tavoitteita? Vai onko tavoite arvioinnissa aina parantaa/korjata? (sairausvertauskuva)</a:t>
            </a:r>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830C2CD-670E-42F8-9548-303C8DB7B926}" type="slidenum">
              <a:rPr lang="fi-FI" smtClean="0"/>
              <a:pPr/>
              <a:t>8</a:t>
            </a:fld>
            <a:endParaRPr lang="fi-FI"/>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830C2CD-670E-42F8-9548-303C8DB7B926}" type="slidenum">
              <a:rPr lang="fi-FI" smtClean="0"/>
              <a:pPr/>
              <a:t>9</a:t>
            </a:fld>
            <a:endParaRPr lang="fi-FI"/>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10</a:t>
            </a:fld>
            <a:endParaRPr lang="fi-FI"/>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11</a:t>
            </a:fld>
            <a:endParaRPr lang="fi-FI"/>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12</a:t>
            </a:fld>
            <a:endParaRPr lang="fi-FI"/>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13</a:t>
            </a:fld>
            <a:endParaRPr lang="fi-FI"/>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14</a:t>
            </a:fld>
            <a:endParaRPr lang="fi-FI"/>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15</a:t>
            </a:fld>
            <a:endParaRPr lang="fi-FI"/>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16</a:t>
            </a:fld>
            <a:endParaRPr lang="fi-FI"/>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17</a:t>
            </a:fld>
            <a:endParaRPr lang="fi-FI"/>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18</a:t>
            </a:fld>
            <a:endParaRPr lang="fi-FI"/>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355D4F-85B5-4685-B8F8-4C09FDFBECA5}" type="slidenum">
              <a:rPr lang="en-GB"/>
              <a:pPr/>
              <a:t>19</a:t>
            </a:fld>
            <a:endParaRPr lang="en-GB" dirty="0"/>
          </a:p>
        </p:txBody>
      </p:sp>
      <p:sp>
        <p:nvSpPr>
          <p:cNvPr id="1505282" name="Rectangle 2"/>
          <p:cNvSpPr>
            <a:spLocks noGrp="1" noRot="1" noChangeAspect="1" noChangeArrowheads="1" noTextEdit="1"/>
          </p:cNvSpPr>
          <p:nvPr>
            <p:ph type="sldImg"/>
          </p:nvPr>
        </p:nvSpPr>
        <p:spPr>
          <a:ln/>
        </p:spPr>
      </p:sp>
      <p:sp>
        <p:nvSpPr>
          <p:cNvPr id="1505283"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6E4B35-C1D1-4629-A3EC-7EA47838A21E}" type="slidenum">
              <a:rPr lang="en-GB"/>
              <a:pPr/>
              <a:t>20</a:t>
            </a:fld>
            <a:endParaRPr lang="en-GB" dirty="0"/>
          </a:p>
        </p:txBody>
      </p:sp>
      <p:sp>
        <p:nvSpPr>
          <p:cNvPr id="1507330" name="Rectangle 2"/>
          <p:cNvSpPr>
            <a:spLocks noGrp="1" noRot="1" noChangeAspect="1" noChangeArrowheads="1" noTextEdit="1"/>
          </p:cNvSpPr>
          <p:nvPr>
            <p:ph type="sldImg"/>
          </p:nvPr>
        </p:nvSpPr>
        <p:spPr>
          <a:ln/>
        </p:spPr>
      </p:sp>
      <p:sp>
        <p:nvSpPr>
          <p:cNvPr id="1507331" name="Rectangle 3"/>
          <p:cNvSpPr>
            <a:spLocks noGrp="1" noChangeArrowheads="1"/>
          </p:cNvSpPr>
          <p:nvPr>
            <p:ph type="body" idx="1"/>
          </p:nvPr>
        </p:nvSpPr>
        <p:spPr/>
        <p:txBody>
          <a:bodyPr/>
          <a:lstStyle/>
          <a:p>
            <a:r>
              <a:rPr lang="fi-FI"/>
              <a:t>Keltainen: tavoitteiden kirkastus, dokumentointi</a:t>
            </a:r>
          </a:p>
          <a:p>
            <a:r>
              <a:rPr lang="fi-FI"/>
              <a:t>Oranssi: Viestintäparannus</a:t>
            </a:r>
          </a:p>
          <a:p>
            <a:r>
              <a:rPr lang="fi-FI"/>
              <a:t>Punainen: mittaristoon, erityisesti tuntiraportoinnin käyttöönottoon liittyvät asiat</a:t>
            </a:r>
          </a:p>
          <a:p>
            <a:r>
              <a:rPr lang="fi-FI"/>
              <a:t>vihreä: kehittäjän testausprosessin kehittäminen</a:t>
            </a:r>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21</a:t>
            </a:fld>
            <a:endParaRPr lang="fi-FI"/>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22</a:t>
            </a:fld>
            <a:endParaRPr lang="fi-FI"/>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23</a:t>
            </a:fld>
            <a:endParaRPr lang="fi-FI"/>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24</a:t>
            </a:fld>
            <a:endParaRPr lang="fi-FI"/>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25</a:t>
            </a:fld>
            <a:endParaRPr lang="fi-FI"/>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7C0CF697-E9C7-412C-B703-3A093BE15AC0}" type="slidenum">
              <a:rPr lang="fi-FI" smtClean="0"/>
              <a:pPr/>
              <a:t>26</a:t>
            </a:fld>
            <a:endParaRPr lang="fi-FI"/>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C2D6C569-1E96-42B0-A3D1-B9044D7B3A27}" type="slidenum">
              <a:rPr lang="fi-FI" smtClean="0"/>
              <a:pPr/>
              <a:t>27</a:t>
            </a:fld>
            <a:endParaRPr lang="fi-FI"/>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28</a:t>
            </a:fld>
            <a:endParaRPr lang="fi-FI"/>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29</a:t>
            </a:fld>
            <a:endParaRPr lang="fi-FI"/>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30</a:t>
            </a:fld>
            <a:endParaRPr lang="fi-FI"/>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7EFC6FC-4970-4A06-A11D-8003F3F71E1F}" type="slidenum">
              <a:rPr lang="fi-FI" smtClean="0"/>
              <a:pPr/>
              <a:t>31</a:t>
            </a:fld>
            <a:endParaRPr lang="fi-FI"/>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7C0CF697-E9C7-412C-B703-3A093BE15AC0}" type="slidenum">
              <a:rPr lang="fi-FI" smtClean="0"/>
              <a:pPr/>
              <a:t>32</a:t>
            </a:fld>
            <a:endParaRPr lang="fi-FI"/>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33</a:t>
            </a:fld>
            <a:endParaRPr lang="fi-FI"/>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8090F80B-00F3-431D-B31E-47D2F9301A1B}" type="slidenum">
              <a:rPr lang="fi-FI" smtClean="0"/>
              <a:pPr/>
              <a:t>34</a:t>
            </a:fld>
            <a:endParaRPr lang="fi-FI"/>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30/05/17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30/05/17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30/05/17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30/05/17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30/05/17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30/05/17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30/05/17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30/05/17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30/05/17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30/05/17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30/05/17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30/05/17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0" y="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4" Type="http://schemas.openxmlformats.org/officeDocument/2006/relationships/image" Target="../media/image2.png"/><Relationship Id="rId5" Type="http://schemas.openxmlformats.org/officeDocument/2006/relationships/hyperlink" Target="http://creativecommons.org/licenses/by/1.0/fi/" TargetMode="External"/><Relationship Id="rId6" Type="http://schemas.openxmlformats.org/officeDocument/2006/relationships/hyperlink" Target="http://creativecommons.org/licenses/by/1.0/fi/deed.en" TargetMode="External"/><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wmf"/></Relationships>
</file>

<file path=ppt/slides/_rels/slide17.xml.rels><?xml version="1.0" encoding="UTF-8" standalone="yes"?>
<Relationships xmlns="http://schemas.openxmlformats.org/package/2006/relationships"><Relationship Id="rId3" Type="http://schemas.openxmlformats.org/officeDocument/2006/relationships/image" Target="../media/image5.wmf"/><Relationship Id="rId4" Type="http://schemas.openxmlformats.org/officeDocument/2006/relationships/image" Target="../media/image6.wmf"/><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hyperlink" Target="http://creativecommons.org/licenses/by/1.0/fi/" TargetMode="External"/><Relationship Id="rId5" Type="http://schemas.openxmlformats.org/officeDocument/2006/relationships/hyperlink" Target="http://creativecommons.org/licenses/by/1.0/fi/deed.en" TargetMode="External"/><Relationship Id="rId6" Type="http://schemas.openxmlformats.org/officeDocument/2006/relationships/image" Target="../media/image8.wmf"/><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image" Target="../media/image10.wmf"/><Relationship Id="rId4" Type="http://schemas.openxmlformats.org/officeDocument/2006/relationships/image" Target="../media/image11.wmf"/><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Testauksen parantaminen</a:t>
            </a:r>
            <a:endParaRPr lang="fi-FI" dirty="0"/>
          </a:p>
        </p:txBody>
      </p:sp>
      <p:sp>
        <p:nvSpPr>
          <p:cNvPr id="3" name="Text Placeholder 2"/>
          <p:cNvSpPr>
            <a:spLocks noGrp="1"/>
          </p:cNvSpPr>
          <p:nvPr>
            <p:ph type="body" idx="1"/>
          </p:nvPr>
        </p:nvSpPr>
        <p:spPr/>
        <p:txBody>
          <a:bodyPr/>
          <a:lstStyle/>
          <a:p>
            <a:r>
              <a:rPr lang="fi-FI" dirty="0" smtClean="0"/>
              <a:t>Jatkuvasta oppimisesta säännölliseen muutokseen</a:t>
            </a:r>
            <a:endParaRPr lang="fi-FI" dirty="0"/>
          </a:p>
        </p:txBody>
      </p:sp>
      <p:pic>
        <p:nvPicPr>
          <p:cNvPr id="8194" name="Picture 2" descr="C:\Documents and Settings\Maaret\My Documents\My Pictures\Microsoft Clip Organizer\j0288967.wmf"/>
          <p:cNvPicPr>
            <a:picLocks noChangeAspect="1" noChangeArrowheads="1"/>
          </p:cNvPicPr>
          <p:nvPr/>
        </p:nvPicPr>
        <p:blipFill>
          <a:blip r:embed="rId3" cstate="print"/>
          <a:srcRect/>
          <a:stretch>
            <a:fillRect/>
          </a:stretch>
        </p:blipFill>
        <p:spPr bwMode="auto">
          <a:xfrm>
            <a:off x="5143504" y="428604"/>
            <a:ext cx="3312651" cy="3230564"/>
          </a:xfrm>
          <a:prstGeom prst="rect">
            <a:avLst/>
          </a:prstGeom>
          <a:noFill/>
        </p:spPr>
      </p:pic>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dirty="0"/>
          </a:p>
        </p:txBody>
      </p:sp>
      <p:grpSp>
        <p:nvGrpSpPr>
          <p:cNvPr id="4" name="Group 12"/>
          <p:cNvGrpSpPr/>
          <p:nvPr/>
        </p:nvGrpSpPr>
        <p:grpSpPr>
          <a:xfrm>
            <a:off x="4876800" y="5943600"/>
            <a:ext cx="4114800" cy="685800"/>
            <a:chOff x="838200" y="5486400"/>
            <a:chExt cx="4114800" cy="685800"/>
          </a:xfrm>
        </p:grpSpPr>
        <p:sp>
          <p:nvSpPr>
            <p:cNvPr id="12" name="Rectangle 11"/>
            <p:cNvSpPr/>
            <p:nvPr/>
          </p:nvSpPr>
          <p:spPr>
            <a:xfrm>
              <a:off x="838200" y="5486400"/>
              <a:ext cx="4114800" cy="685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i-FI"/>
            </a:p>
          </p:txBody>
        </p:sp>
        <p:pic>
          <p:nvPicPr>
            <p:cNvPr id="13" name="Picture 12" descr="88x31.png"/>
            <p:cNvPicPr>
              <a:picLocks noChangeAspect="1"/>
            </p:cNvPicPr>
            <p:nvPr/>
          </p:nvPicPr>
          <p:blipFill>
            <a:blip r:embed="rId4" cstate="print"/>
            <a:stretch>
              <a:fillRect/>
            </a:stretch>
          </p:blipFill>
          <p:spPr>
            <a:xfrm>
              <a:off x="939940" y="5638800"/>
              <a:ext cx="1117460" cy="393651"/>
            </a:xfrm>
            <a:prstGeom prst="rect">
              <a:avLst/>
            </a:prstGeom>
          </p:spPr>
        </p:pic>
        <p:sp>
          <p:nvSpPr>
            <p:cNvPr id="14" name="TextBox 13"/>
            <p:cNvSpPr txBox="1"/>
            <p:nvPr/>
          </p:nvSpPr>
          <p:spPr>
            <a:xfrm>
              <a:off x="2057400" y="5511225"/>
              <a:ext cx="2819400" cy="646331"/>
            </a:xfrm>
            <a:prstGeom prst="rect">
              <a:avLst/>
            </a:prstGeom>
            <a:noFill/>
          </p:spPr>
          <p:txBody>
            <a:bodyPr wrap="square" rtlCol="0">
              <a:spAutoFit/>
            </a:bodyPr>
            <a:lstStyle/>
            <a:p>
              <a:r>
                <a:rPr lang="fi-FI" sz="900" b="1" dirty="0" smtClean="0"/>
                <a:t>Erkki Pöyhönen &amp; Maaret Pyhäjärvi</a:t>
              </a:r>
            </a:p>
            <a:p>
              <a:r>
                <a:rPr lang="fi-FI" sz="900" dirty="0" smtClean="0"/>
                <a:t>Nimeä |  Attribution (Finland)</a:t>
              </a:r>
            </a:p>
            <a:p>
              <a:pPr marL="0" lvl="1"/>
              <a:r>
                <a:rPr lang="fi-FI" sz="900" dirty="0" smtClean="0">
                  <a:hlinkClick r:id="rId5"/>
                </a:rPr>
                <a:t>http://creativecommons.org/licenses/by/1.0/fi/</a:t>
              </a:r>
              <a:endParaRPr lang="fi-FI" sz="900" dirty="0" smtClean="0"/>
            </a:p>
            <a:p>
              <a:pPr marL="0" lvl="1"/>
              <a:r>
                <a:rPr lang="fi-FI" sz="900" dirty="0" smtClean="0">
                  <a:hlinkClick r:id="rId6"/>
                </a:rPr>
                <a:t>http://creativecommons.org/licenses/by/1.0/fi/deed.en</a:t>
              </a:r>
              <a:endParaRPr lang="fi-FI" sz="900" dirty="0" smtClean="0"/>
            </a:p>
          </p:txBody>
        </p:sp>
      </p:gr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7874" name="Rectangle 2"/>
          <p:cNvSpPr>
            <a:spLocks noGrp="1" noChangeArrowheads="1"/>
          </p:cNvSpPr>
          <p:nvPr>
            <p:ph type="title"/>
          </p:nvPr>
        </p:nvSpPr>
        <p:spPr/>
        <p:txBody>
          <a:bodyPr>
            <a:normAutofit fontScale="90000"/>
          </a:bodyPr>
          <a:lstStyle/>
          <a:p>
            <a:r>
              <a:rPr lang="en-GB" dirty="0"/>
              <a:t>Self-Organized Team Also Organizes for Improvement</a:t>
            </a:r>
          </a:p>
        </p:txBody>
      </p:sp>
      <p:sp>
        <p:nvSpPr>
          <p:cNvPr id="1487875" name="Rectangle 3"/>
          <p:cNvSpPr>
            <a:spLocks noGrp="1" noChangeArrowheads="1"/>
          </p:cNvSpPr>
          <p:nvPr>
            <p:ph idx="1"/>
          </p:nvPr>
        </p:nvSpPr>
        <p:spPr/>
        <p:txBody>
          <a:bodyPr>
            <a:noAutofit/>
          </a:bodyPr>
          <a:lstStyle/>
          <a:p>
            <a:r>
              <a:rPr lang="en-GB" sz="2000" dirty="0"/>
              <a:t>Agile values suggest improvement done where the problem is, everyone solves their own </a:t>
            </a:r>
            <a:r>
              <a:rPr lang="en-GB" sz="2000" dirty="0" smtClean="0"/>
              <a:t>problems - together</a:t>
            </a:r>
            <a:endParaRPr lang="en-GB" sz="2000" dirty="0"/>
          </a:p>
          <a:p>
            <a:r>
              <a:rPr lang="en-GB" sz="2000" dirty="0"/>
              <a:t>Using examples of what other people did in similar situations is a source of ideas </a:t>
            </a:r>
          </a:p>
          <a:p>
            <a:pPr lvl="1"/>
            <a:r>
              <a:rPr lang="en-GB" sz="1800" dirty="0"/>
              <a:t>Availability of those ideas is difficult</a:t>
            </a:r>
          </a:p>
          <a:p>
            <a:r>
              <a:rPr lang="en-GB" sz="2000" dirty="0"/>
              <a:t>My take</a:t>
            </a:r>
          </a:p>
          <a:p>
            <a:pPr lvl="1"/>
            <a:r>
              <a:rPr lang="en-GB" sz="1800" dirty="0"/>
              <a:t>Point things to teams that seem to have improvement potential and ask for solutions</a:t>
            </a:r>
          </a:p>
          <a:p>
            <a:pPr lvl="1"/>
            <a:r>
              <a:rPr lang="en-GB" sz="1800" dirty="0"/>
              <a:t>Suggest solutions for problems outside a team’s scope, volunteer to facilitate but make the changes visible, enable participation</a:t>
            </a:r>
          </a:p>
          <a:p>
            <a:pPr lvl="1"/>
            <a:r>
              <a:rPr lang="en-GB" sz="1800" dirty="0"/>
              <a:t>Encourage to share good practices</a:t>
            </a:r>
          </a:p>
          <a:p>
            <a:pPr lvl="1"/>
            <a:r>
              <a:rPr lang="en-GB" sz="1800" dirty="0"/>
              <a:t>Organize workshops on common issues, find solution together</a:t>
            </a:r>
          </a:p>
        </p:txBody>
      </p:sp>
      <p:sp>
        <p:nvSpPr>
          <p:cNvPr id="4" name="Slide Number Placeholder 3"/>
          <p:cNvSpPr>
            <a:spLocks noGrp="1"/>
          </p:cNvSpPr>
          <p:nvPr>
            <p:ph type="sldNum" sz="quarter" idx="12"/>
          </p:nvPr>
        </p:nvSpPr>
        <p:spPr/>
        <p:txBody>
          <a:bodyPr/>
          <a:lstStyle/>
          <a:p>
            <a:fld id="{227F0B53-9592-4779-891F-997228E46E01}" type="slidenum">
              <a:rPr lang="sv-SE" smtClean="0"/>
              <a:pPr/>
              <a:t>2</a:t>
            </a:fld>
            <a:endParaRPr lang="sv-SE"/>
          </a:p>
        </p:txBody>
      </p:sp>
      <p:sp>
        <p:nvSpPr>
          <p:cNvPr id="5" name="Footer Placeholder 4"/>
          <p:cNvSpPr>
            <a:spLocks noGrp="1"/>
          </p:cNvSpPr>
          <p:nvPr>
            <p:ph type="ftr" sz="quarter" idx="11"/>
          </p:nvPr>
        </p:nvSpPr>
        <p:spPr/>
        <p:txBody>
          <a:bodyPr/>
          <a:lstStyle/>
          <a:p>
            <a:r>
              <a:rPr lang="en-US" smtClean="0"/>
              <a:t>DAY 2</a:t>
            </a:r>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Concept of Kaizen and Retrospectives</a:t>
            </a:r>
            <a:endParaRPr lang="fi-FI" dirty="0"/>
          </a:p>
        </p:txBody>
      </p:sp>
      <p:sp>
        <p:nvSpPr>
          <p:cNvPr id="3" name="Content Placeholder 2"/>
          <p:cNvSpPr>
            <a:spLocks noGrp="1"/>
          </p:cNvSpPr>
          <p:nvPr>
            <p:ph idx="1"/>
          </p:nvPr>
        </p:nvSpPr>
        <p:spPr/>
        <p:txBody>
          <a:bodyPr>
            <a:normAutofit fontScale="92500" lnSpcReduction="10000"/>
          </a:bodyPr>
          <a:lstStyle/>
          <a:p>
            <a:r>
              <a:rPr lang="fi-FI" dirty="0" smtClean="0"/>
              <a:t>Small and continuous change</a:t>
            </a:r>
          </a:p>
          <a:p>
            <a:r>
              <a:rPr lang="fi-FI" dirty="0" smtClean="0"/>
              <a:t>Inspect-and-adapt, change and see how it works</a:t>
            </a:r>
          </a:p>
          <a:p>
            <a:r>
              <a:rPr lang="fi-FI" dirty="0" smtClean="0"/>
              <a:t>Global optimization instead of local: considering the value chain</a:t>
            </a:r>
          </a:p>
          <a:p>
            <a:r>
              <a:rPr lang="fi-FI" dirty="0" smtClean="0"/>
              <a:t>Don’t complete the project, bring the learning for the benefit of the ongoing project</a:t>
            </a:r>
          </a:p>
          <a:p>
            <a:endParaRPr lang="fi-FI" dirty="0" smtClean="0"/>
          </a:p>
          <a:p>
            <a:r>
              <a:rPr lang="fi-FI" dirty="0" smtClean="0">
                <a:solidFill>
                  <a:schemeClr val="accent6"/>
                </a:solidFill>
              </a:rPr>
              <a:t>Starting from a seemingly good standard does not emphasize continuous change</a:t>
            </a:r>
            <a:endParaRPr lang="fi-FI" dirty="0">
              <a:solidFill>
                <a:schemeClr val="accent6"/>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dirty="0"/>
          </a:p>
        </p:txBody>
      </p:sp>
      <p:sp>
        <p:nvSpPr>
          <p:cNvPr id="5" name="Footer Placeholder 4"/>
          <p:cNvSpPr>
            <a:spLocks noGrp="1"/>
          </p:cNvSpPr>
          <p:nvPr>
            <p:ph type="ftr" sz="quarter" idx="11"/>
          </p:nvPr>
        </p:nvSpPr>
        <p:spPr/>
        <p:txBody>
          <a:bodyPr/>
          <a:lstStyle/>
          <a:p>
            <a:r>
              <a:rPr lang="en-US" smtClean="0"/>
              <a:t>DAY 2</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Agile Focuses on People</a:t>
            </a:r>
            <a:endParaRPr lang="fi-FI" dirty="0"/>
          </a:p>
        </p:txBody>
      </p:sp>
      <p:sp>
        <p:nvSpPr>
          <p:cNvPr id="3" name="Content Placeholder 2"/>
          <p:cNvSpPr>
            <a:spLocks noGrp="1"/>
          </p:cNvSpPr>
          <p:nvPr>
            <p:ph idx="1"/>
          </p:nvPr>
        </p:nvSpPr>
        <p:spPr/>
        <p:txBody>
          <a:bodyPr>
            <a:normAutofit lnSpcReduction="10000"/>
          </a:bodyPr>
          <a:lstStyle/>
          <a:p>
            <a:r>
              <a:rPr lang="fi-FI" dirty="0" smtClean="0"/>
              <a:t>A significant part of </a:t>
            </a:r>
            <a:r>
              <a:rPr lang="fi-FI" i="1" dirty="0" smtClean="0"/>
              <a:t>process improvement</a:t>
            </a:r>
            <a:r>
              <a:rPr lang="fi-FI" dirty="0" smtClean="0"/>
              <a:t> is related to </a:t>
            </a:r>
          </a:p>
          <a:p>
            <a:pPr lvl="1"/>
            <a:r>
              <a:rPr lang="fi-FI" dirty="0" smtClean="0"/>
              <a:t>Individual’s abilities and skills</a:t>
            </a:r>
          </a:p>
          <a:p>
            <a:pPr lvl="1"/>
            <a:r>
              <a:rPr lang="fi-FI" dirty="0" smtClean="0"/>
              <a:t>Team’s ability to work together for the goals</a:t>
            </a:r>
          </a:p>
          <a:p>
            <a:r>
              <a:rPr lang="fi-FI" dirty="0" smtClean="0"/>
              <a:t>Learning by doing</a:t>
            </a:r>
          </a:p>
          <a:p>
            <a:pPr lvl="1"/>
            <a:r>
              <a:rPr lang="fi-FI" dirty="0" smtClean="0"/>
              <a:t>Retrospectives as mechanism to change things for better on regular and frequent intervals</a:t>
            </a:r>
          </a:p>
          <a:p>
            <a:pPr lvl="1"/>
            <a:r>
              <a:rPr lang="fi-FI" dirty="0" smtClean="0"/>
              <a:t>Other people’s practices are ideas, make things work for you</a:t>
            </a:r>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dirty="0"/>
          </a:p>
        </p:txBody>
      </p:sp>
      <p:sp>
        <p:nvSpPr>
          <p:cNvPr id="5" name="Footer Placeholder 4"/>
          <p:cNvSpPr>
            <a:spLocks noGrp="1"/>
          </p:cNvSpPr>
          <p:nvPr>
            <p:ph type="ftr" sz="quarter" idx="11"/>
          </p:nvPr>
        </p:nvSpPr>
        <p:spPr/>
        <p:txBody>
          <a:bodyPr/>
          <a:lstStyle/>
          <a:p>
            <a:r>
              <a:rPr lang="en-US" smtClean="0"/>
              <a:t>DAY 2</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0226" name="Rectangle 2"/>
          <p:cNvSpPr>
            <a:spLocks noGrp="1" noChangeArrowheads="1"/>
          </p:cNvSpPr>
          <p:nvPr>
            <p:ph type="title"/>
          </p:nvPr>
        </p:nvSpPr>
        <p:spPr/>
        <p:txBody>
          <a:bodyPr>
            <a:normAutofit fontScale="90000"/>
          </a:bodyPr>
          <a:lstStyle/>
          <a:p>
            <a:r>
              <a:rPr lang="en-US" dirty="0"/>
              <a:t>Improvement Starting Point and Organizing</a:t>
            </a:r>
            <a:endParaRPr lang="en-GB" dirty="0"/>
          </a:p>
        </p:txBody>
      </p:sp>
      <p:sp>
        <p:nvSpPr>
          <p:cNvPr id="1460227" name="Rectangle 3"/>
          <p:cNvSpPr>
            <a:spLocks noGrp="1" noChangeArrowheads="1"/>
          </p:cNvSpPr>
          <p:nvPr>
            <p:ph type="body" sz="half" idx="1"/>
          </p:nvPr>
        </p:nvSpPr>
        <p:spPr/>
        <p:txBody>
          <a:bodyPr/>
          <a:lstStyle/>
          <a:p>
            <a:pPr algn="ctr">
              <a:lnSpc>
                <a:spcPct val="110000"/>
              </a:lnSpc>
            </a:pPr>
            <a:r>
              <a:rPr lang="en-US" sz="1800" b="1" dirty="0"/>
              <a:t>As a Project – large scale</a:t>
            </a:r>
          </a:p>
          <a:p>
            <a:pPr>
              <a:lnSpc>
                <a:spcPct val="110000"/>
              </a:lnSpc>
            </a:pPr>
            <a:r>
              <a:rPr lang="en-US" sz="1600" dirty="0"/>
              <a:t>Strengths:</a:t>
            </a:r>
          </a:p>
          <a:p>
            <a:pPr lvl="1">
              <a:lnSpc>
                <a:spcPct val="90000"/>
              </a:lnSpc>
            </a:pPr>
            <a:r>
              <a:rPr lang="en-US" sz="1600" dirty="0"/>
              <a:t>Isolated resourcing and scope</a:t>
            </a:r>
          </a:p>
          <a:p>
            <a:pPr lvl="1">
              <a:lnSpc>
                <a:spcPct val="90000"/>
              </a:lnSpc>
            </a:pPr>
            <a:r>
              <a:rPr lang="en-US" sz="1600" dirty="0"/>
              <a:t>Gives status for the effort with a label</a:t>
            </a:r>
          </a:p>
          <a:p>
            <a:pPr lvl="1">
              <a:lnSpc>
                <a:spcPct val="90000"/>
              </a:lnSpc>
            </a:pPr>
            <a:r>
              <a:rPr lang="en-US" sz="1600" dirty="0"/>
              <a:t>Gives permission to focus with resourcing</a:t>
            </a:r>
          </a:p>
          <a:p>
            <a:pPr lvl="1">
              <a:lnSpc>
                <a:spcPct val="90000"/>
              </a:lnSpc>
            </a:pPr>
            <a:r>
              <a:rPr lang="en-US" sz="1600" dirty="0"/>
              <a:t>Visible to management with project </a:t>
            </a:r>
            <a:r>
              <a:rPr lang="en-US" sz="1600" dirty="0" smtClean="0"/>
              <a:t>follow-up </a:t>
            </a:r>
            <a:r>
              <a:rPr lang="en-US" sz="1600" dirty="0"/>
              <a:t>mechanisms</a:t>
            </a:r>
          </a:p>
          <a:p>
            <a:pPr>
              <a:lnSpc>
                <a:spcPct val="110000"/>
              </a:lnSpc>
            </a:pPr>
            <a:r>
              <a:rPr lang="en-GB" sz="1600" dirty="0"/>
              <a:t>Weaknesses:</a:t>
            </a:r>
          </a:p>
          <a:p>
            <a:pPr lvl="1">
              <a:lnSpc>
                <a:spcPct val="90000"/>
              </a:lnSpc>
            </a:pPr>
            <a:r>
              <a:rPr lang="en-GB" sz="1600" dirty="0"/>
              <a:t>May become distant to real life and real needs</a:t>
            </a:r>
          </a:p>
          <a:p>
            <a:pPr lvl="1">
              <a:lnSpc>
                <a:spcPct val="90000"/>
              </a:lnSpc>
            </a:pPr>
            <a:r>
              <a:rPr lang="en-GB" sz="1600" dirty="0"/>
              <a:t>Generalized instruction don’t work in specialized situations</a:t>
            </a:r>
          </a:p>
        </p:txBody>
      </p:sp>
      <p:sp>
        <p:nvSpPr>
          <p:cNvPr id="1460228" name="Rectangle 4"/>
          <p:cNvSpPr>
            <a:spLocks noGrp="1" noChangeArrowheads="1"/>
          </p:cNvSpPr>
          <p:nvPr>
            <p:ph type="body" sz="half" idx="2"/>
          </p:nvPr>
        </p:nvSpPr>
        <p:spPr/>
        <p:txBody>
          <a:bodyPr/>
          <a:lstStyle/>
          <a:p>
            <a:pPr algn="ctr"/>
            <a:r>
              <a:rPr lang="en-US" sz="1800" b="1" dirty="0"/>
              <a:t>As Part of Work – small scale</a:t>
            </a:r>
          </a:p>
          <a:p>
            <a:r>
              <a:rPr lang="en-US" sz="1600" dirty="0"/>
              <a:t>Strengths:</a:t>
            </a:r>
          </a:p>
          <a:p>
            <a:pPr lvl="1"/>
            <a:r>
              <a:rPr lang="en-US" sz="1600" dirty="0"/>
              <a:t>Goal of improvement bound directly to real work</a:t>
            </a:r>
          </a:p>
          <a:p>
            <a:pPr lvl="1"/>
            <a:r>
              <a:rPr lang="en-US" sz="1600" dirty="0"/>
              <a:t>Avoidance of shelf-methods</a:t>
            </a:r>
          </a:p>
          <a:p>
            <a:pPr lvl="1"/>
            <a:r>
              <a:rPr lang="en-US" sz="1600" dirty="0"/>
              <a:t>Knowing the real needs by heart</a:t>
            </a:r>
          </a:p>
          <a:p>
            <a:r>
              <a:rPr lang="en-GB" sz="1600" dirty="0"/>
              <a:t>Weaknesses:</a:t>
            </a:r>
          </a:p>
          <a:p>
            <a:pPr lvl="1"/>
            <a:r>
              <a:rPr lang="en-GB" sz="1600" dirty="0"/>
              <a:t>Generalization for use in other projects may be challenging</a:t>
            </a:r>
          </a:p>
          <a:p>
            <a:pPr lvl="1"/>
            <a:r>
              <a:rPr lang="en-GB" sz="1600" dirty="0"/>
              <a:t>Improvement is easily a lower priority tasks and stays alive only with strong personal interests</a:t>
            </a:r>
          </a:p>
        </p:txBody>
      </p:sp>
      <p:sp>
        <p:nvSpPr>
          <p:cNvPr id="1460229" name="Rectangle 5"/>
          <p:cNvSpPr>
            <a:spLocks noChangeArrowheads="1"/>
          </p:cNvSpPr>
          <p:nvPr/>
        </p:nvSpPr>
        <p:spPr bwMode="auto">
          <a:xfrm>
            <a:off x="4800600" y="5638800"/>
            <a:ext cx="3962400" cy="762000"/>
          </a:xfrm>
          <a:prstGeom prst="rect">
            <a:avLst/>
          </a:prstGeom>
          <a:solidFill>
            <a:schemeClr val="tx2"/>
          </a:solidFill>
          <a:ln w="12700">
            <a:noFill/>
            <a:miter lim="800000"/>
            <a:headEnd/>
            <a:tailEnd/>
          </a:ln>
          <a:effectLst>
            <a:outerShdw dist="107763" dir="18900000" algn="ctr" rotWithShape="0">
              <a:schemeClr val="bg2"/>
            </a:outerShdw>
          </a:effectLst>
        </p:spPr>
        <p:txBody>
          <a:bodyPr lIns="90000" tIns="46800" rIns="90000" bIns="46800" anchor="ctr"/>
          <a:lstStyle/>
          <a:p>
            <a:pPr algn="ctr"/>
            <a:r>
              <a:rPr lang="en-US" sz="1600" dirty="0">
                <a:solidFill>
                  <a:schemeClr val="bg1"/>
                </a:solidFill>
              </a:rPr>
              <a:t>Works if you already have idea on what should be improved and project management is committed.</a:t>
            </a:r>
            <a:endParaRPr lang="en-GB" sz="1600" dirty="0">
              <a:solidFill>
                <a:schemeClr val="bg1"/>
              </a:solidFill>
            </a:endParaRPr>
          </a:p>
        </p:txBody>
      </p:sp>
      <p:sp>
        <p:nvSpPr>
          <p:cNvPr id="1460230" name="Rectangle 6"/>
          <p:cNvSpPr>
            <a:spLocks noChangeArrowheads="1"/>
          </p:cNvSpPr>
          <p:nvPr/>
        </p:nvSpPr>
        <p:spPr bwMode="auto">
          <a:xfrm>
            <a:off x="533400" y="5638800"/>
            <a:ext cx="3962400" cy="762000"/>
          </a:xfrm>
          <a:prstGeom prst="rect">
            <a:avLst/>
          </a:prstGeom>
          <a:solidFill>
            <a:schemeClr val="tx2"/>
          </a:solidFill>
          <a:ln w="12700">
            <a:noFill/>
            <a:miter lim="800000"/>
            <a:headEnd/>
            <a:tailEnd/>
          </a:ln>
          <a:effectLst>
            <a:outerShdw dist="107763" dir="18900000" algn="ctr" rotWithShape="0">
              <a:schemeClr val="bg2"/>
            </a:outerShdw>
          </a:effectLst>
        </p:spPr>
        <p:txBody>
          <a:bodyPr lIns="90000" tIns="46800" rIns="90000" bIns="46800" anchor="ctr"/>
          <a:lstStyle/>
          <a:p>
            <a:pPr algn="ctr"/>
            <a:r>
              <a:rPr lang="en-US" sz="1600" dirty="0">
                <a:solidFill>
                  <a:schemeClr val="bg1"/>
                </a:solidFill>
              </a:rPr>
              <a:t>Works when analyzing needs requires time and effort and commitment needs emphasizing.</a:t>
            </a:r>
            <a:endParaRPr lang="en-GB" sz="1600" dirty="0">
              <a:solidFill>
                <a:schemeClr val="bg1"/>
              </a:solidFill>
            </a:endParaRPr>
          </a:p>
        </p:txBody>
      </p:sp>
      <p:sp>
        <p:nvSpPr>
          <p:cNvPr id="8" name="Slide Number Placeholder 7"/>
          <p:cNvSpPr>
            <a:spLocks noGrp="1"/>
          </p:cNvSpPr>
          <p:nvPr>
            <p:ph type="sldNum" sz="quarter" idx="12"/>
          </p:nvPr>
        </p:nvSpPr>
        <p:spPr/>
        <p:txBody>
          <a:bodyPr/>
          <a:lstStyle/>
          <a:p>
            <a:fld id="{B6F15528-21DE-4FAA-801E-634DDDAF4B2B}" type="slidenum">
              <a:rPr lang="en-US" smtClean="0"/>
              <a:pPr/>
              <a:t>5</a:t>
            </a:fld>
            <a:endParaRPr lang="en-US" dirty="0"/>
          </a:p>
        </p:txBody>
      </p:sp>
      <p:sp>
        <p:nvSpPr>
          <p:cNvPr id="9" name="Footer Placeholder 8"/>
          <p:cNvSpPr>
            <a:spLocks noGrp="1"/>
          </p:cNvSpPr>
          <p:nvPr>
            <p:ph type="ftr" sz="quarter" idx="11"/>
          </p:nvPr>
        </p:nvSpPr>
        <p:spPr/>
        <p:txBody>
          <a:bodyPr/>
          <a:lstStyle/>
          <a:p>
            <a:r>
              <a:rPr lang="en-US" smtClean="0"/>
              <a:t>DAY 2</a:t>
            </a:r>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0402" name="Rectangle 2"/>
          <p:cNvSpPr>
            <a:spLocks noChangeArrowheads="1"/>
          </p:cNvSpPr>
          <p:nvPr/>
        </p:nvSpPr>
        <p:spPr bwMode="auto">
          <a:xfrm>
            <a:off x="5978525" y="1714488"/>
            <a:ext cx="1336675" cy="502920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lstStyle/>
          <a:p>
            <a:pPr algn="ctr" defTabSz="762000">
              <a:lnSpc>
                <a:spcPct val="90000"/>
              </a:lnSpc>
            </a:pPr>
            <a:r>
              <a:rPr lang="en-US" sz="2000" dirty="0"/>
              <a:t>Process </a:t>
            </a:r>
            <a:br>
              <a:rPr lang="en-US" sz="2000" dirty="0"/>
            </a:br>
            <a:r>
              <a:rPr lang="en-US" sz="2000" dirty="0"/>
              <a:t>evaluation</a:t>
            </a:r>
          </a:p>
        </p:txBody>
      </p:sp>
      <p:sp>
        <p:nvSpPr>
          <p:cNvPr id="1510403" name="Line 3"/>
          <p:cNvSpPr>
            <a:spLocks noChangeShapeType="1"/>
          </p:cNvSpPr>
          <p:nvPr/>
        </p:nvSpPr>
        <p:spPr bwMode="auto">
          <a:xfrm>
            <a:off x="5789613" y="4841863"/>
            <a:ext cx="381000"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04" name="Rectangle 4"/>
          <p:cNvSpPr>
            <a:spLocks noChangeArrowheads="1"/>
          </p:cNvSpPr>
          <p:nvPr/>
        </p:nvSpPr>
        <p:spPr bwMode="auto">
          <a:xfrm>
            <a:off x="4540250" y="2314563"/>
            <a:ext cx="1239838" cy="430213"/>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Resources</a:t>
            </a:r>
          </a:p>
        </p:txBody>
      </p:sp>
      <p:sp>
        <p:nvSpPr>
          <p:cNvPr id="1510405" name="Rectangle 5"/>
          <p:cNvSpPr>
            <a:spLocks noChangeArrowheads="1"/>
          </p:cNvSpPr>
          <p:nvPr/>
        </p:nvSpPr>
        <p:spPr bwMode="auto">
          <a:xfrm>
            <a:off x="1676400" y="2312976"/>
            <a:ext cx="1103313" cy="433387"/>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Skills</a:t>
            </a:r>
          </a:p>
        </p:txBody>
      </p:sp>
      <p:sp>
        <p:nvSpPr>
          <p:cNvPr id="1510406" name="Rectangle 6"/>
          <p:cNvSpPr>
            <a:spLocks noChangeArrowheads="1"/>
          </p:cNvSpPr>
          <p:nvPr/>
        </p:nvSpPr>
        <p:spPr bwMode="auto">
          <a:xfrm>
            <a:off x="6075363" y="2314563"/>
            <a:ext cx="1103312" cy="430213"/>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Prioritization</a:t>
            </a:r>
          </a:p>
        </p:txBody>
      </p:sp>
      <p:sp>
        <p:nvSpPr>
          <p:cNvPr id="1510407" name="Rectangle 7"/>
          <p:cNvSpPr>
            <a:spLocks noChangeArrowheads="1"/>
          </p:cNvSpPr>
          <p:nvPr/>
        </p:nvSpPr>
        <p:spPr bwMode="auto">
          <a:xfrm>
            <a:off x="233363" y="2314563"/>
            <a:ext cx="1103312" cy="431800"/>
          </a:xfrm>
          <a:prstGeom prst="rect">
            <a:avLst/>
          </a:prstGeom>
          <a:solidFill>
            <a:schemeClr val="bg1"/>
          </a:solidFill>
          <a:ln w="12700">
            <a:solidFill>
              <a:schemeClr val="tx1"/>
            </a:solidFill>
            <a:miter lim="800000"/>
            <a:headEnd/>
            <a:tailEnd/>
          </a:ln>
          <a:effectLst/>
        </p:spPr>
        <p:txBody>
          <a:bodyPr wrap="none" anchor="ctr"/>
          <a:lstStyle/>
          <a:p>
            <a:endParaRPr lang="en-US" dirty="0"/>
          </a:p>
        </p:txBody>
      </p:sp>
      <p:sp>
        <p:nvSpPr>
          <p:cNvPr id="1510408" name="Rectangle 8"/>
          <p:cNvSpPr>
            <a:spLocks noChangeArrowheads="1"/>
          </p:cNvSpPr>
          <p:nvPr/>
        </p:nvSpPr>
        <p:spPr bwMode="auto">
          <a:xfrm>
            <a:off x="3098800" y="2314563"/>
            <a:ext cx="1103313" cy="430213"/>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Rewards</a:t>
            </a:r>
          </a:p>
        </p:txBody>
      </p:sp>
      <p:sp>
        <p:nvSpPr>
          <p:cNvPr id="1510409" name="Line 9"/>
          <p:cNvSpPr>
            <a:spLocks noChangeShapeType="1"/>
          </p:cNvSpPr>
          <p:nvPr/>
        </p:nvSpPr>
        <p:spPr bwMode="auto">
          <a:xfrm>
            <a:off x="1338263" y="2530463"/>
            <a:ext cx="304800"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10" name="Line 10"/>
          <p:cNvSpPr>
            <a:spLocks noChangeShapeType="1"/>
          </p:cNvSpPr>
          <p:nvPr/>
        </p:nvSpPr>
        <p:spPr bwMode="auto">
          <a:xfrm>
            <a:off x="2803525" y="2530463"/>
            <a:ext cx="304800"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11" name="Line 11"/>
          <p:cNvSpPr>
            <a:spLocks noChangeShapeType="1"/>
          </p:cNvSpPr>
          <p:nvPr/>
        </p:nvSpPr>
        <p:spPr bwMode="auto">
          <a:xfrm>
            <a:off x="4229100" y="2530463"/>
            <a:ext cx="304800"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12" name="Line 12"/>
          <p:cNvSpPr>
            <a:spLocks noChangeShapeType="1"/>
          </p:cNvSpPr>
          <p:nvPr/>
        </p:nvSpPr>
        <p:spPr bwMode="auto">
          <a:xfrm>
            <a:off x="5786438" y="2530463"/>
            <a:ext cx="269875"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13" name="Rectangle 13"/>
          <p:cNvSpPr>
            <a:spLocks noChangeArrowheads="1"/>
          </p:cNvSpPr>
          <p:nvPr/>
        </p:nvSpPr>
        <p:spPr bwMode="auto">
          <a:xfrm>
            <a:off x="379413" y="2378063"/>
            <a:ext cx="712787" cy="304800"/>
          </a:xfrm>
          <a:prstGeom prst="rect">
            <a:avLst/>
          </a:prstGeom>
          <a:noFill/>
          <a:ln w="9525">
            <a:noFill/>
            <a:miter lim="800000"/>
            <a:headEnd/>
            <a:tailEnd/>
          </a:ln>
          <a:effectLst/>
        </p:spPr>
        <p:txBody>
          <a:bodyPr wrap="none" lIns="90915" tIns="45458" rIns="90915" bIns="45458">
            <a:spAutoFit/>
          </a:bodyPr>
          <a:lstStyle/>
          <a:p>
            <a:pPr algn="l" defTabSz="903288"/>
            <a:r>
              <a:rPr lang="en-US" sz="1400" b="1" dirty="0"/>
              <a:t>Vision</a:t>
            </a:r>
          </a:p>
        </p:txBody>
      </p:sp>
      <p:sp>
        <p:nvSpPr>
          <p:cNvPr id="1510414" name="Rectangle 14"/>
          <p:cNvSpPr>
            <a:spLocks noChangeArrowheads="1"/>
          </p:cNvSpPr>
          <p:nvPr/>
        </p:nvSpPr>
        <p:spPr bwMode="auto">
          <a:xfrm>
            <a:off x="4540250" y="3065451"/>
            <a:ext cx="1236663" cy="412750"/>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Resources</a:t>
            </a:r>
          </a:p>
        </p:txBody>
      </p:sp>
      <p:sp>
        <p:nvSpPr>
          <p:cNvPr id="1510415" name="Rectangle 15"/>
          <p:cNvSpPr>
            <a:spLocks noChangeArrowheads="1"/>
          </p:cNvSpPr>
          <p:nvPr/>
        </p:nvSpPr>
        <p:spPr bwMode="auto">
          <a:xfrm>
            <a:off x="1676400" y="3057513"/>
            <a:ext cx="1103313" cy="430213"/>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Skills</a:t>
            </a:r>
          </a:p>
        </p:txBody>
      </p:sp>
      <p:sp>
        <p:nvSpPr>
          <p:cNvPr id="1510416" name="Rectangle 16"/>
          <p:cNvSpPr>
            <a:spLocks noChangeArrowheads="1"/>
          </p:cNvSpPr>
          <p:nvPr/>
        </p:nvSpPr>
        <p:spPr bwMode="auto">
          <a:xfrm>
            <a:off x="6075363" y="3065451"/>
            <a:ext cx="1122362" cy="412750"/>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Prioritization</a:t>
            </a:r>
          </a:p>
        </p:txBody>
      </p:sp>
      <p:sp>
        <p:nvSpPr>
          <p:cNvPr id="1510417" name="Rectangle 17"/>
          <p:cNvSpPr>
            <a:spLocks noChangeArrowheads="1"/>
          </p:cNvSpPr>
          <p:nvPr/>
        </p:nvSpPr>
        <p:spPr bwMode="auto">
          <a:xfrm>
            <a:off x="3098800" y="3055926"/>
            <a:ext cx="1103313" cy="431800"/>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Rewards</a:t>
            </a:r>
          </a:p>
        </p:txBody>
      </p:sp>
      <p:sp>
        <p:nvSpPr>
          <p:cNvPr id="1510418" name="Line 18"/>
          <p:cNvSpPr>
            <a:spLocks noChangeShapeType="1"/>
          </p:cNvSpPr>
          <p:nvPr/>
        </p:nvSpPr>
        <p:spPr bwMode="auto">
          <a:xfrm>
            <a:off x="2803525" y="3271826"/>
            <a:ext cx="304800"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19" name="Line 19"/>
          <p:cNvSpPr>
            <a:spLocks noChangeShapeType="1"/>
          </p:cNvSpPr>
          <p:nvPr/>
        </p:nvSpPr>
        <p:spPr bwMode="auto">
          <a:xfrm>
            <a:off x="4230688" y="3273413"/>
            <a:ext cx="303212"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20" name="Rectangle 20"/>
          <p:cNvSpPr>
            <a:spLocks noChangeArrowheads="1"/>
          </p:cNvSpPr>
          <p:nvPr/>
        </p:nvSpPr>
        <p:spPr bwMode="auto">
          <a:xfrm>
            <a:off x="4540250" y="3779826"/>
            <a:ext cx="1262063" cy="430212"/>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Resources</a:t>
            </a:r>
          </a:p>
        </p:txBody>
      </p:sp>
      <p:sp>
        <p:nvSpPr>
          <p:cNvPr id="1510421" name="Rectangle 21"/>
          <p:cNvSpPr>
            <a:spLocks noChangeArrowheads="1"/>
          </p:cNvSpPr>
          <p:nvPr/>
        </p:nvSpPr>
        <p:spPr bwMode="auto">
          <a:xfrm>
            <a:off x="6075363" y="3779826"/>
            <a:ext cx="1087437" cy="430212"/>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Prioritization</a:t>
            </a:r>
          </a:p>
        </p:txBody>
      </p:sp>
      <p:sp>
        <p:nvSpPr>
          <p:cNvPr id="1510422" name="Rectangle 22"/>
          <p:cNvSpPr>
            <a:spLocks noChangeArrowheads="1"/>
          </p:cNvSpPr>
          <p:nvPr/>
        </p:nvSpPr>
        <p:spPr bwMode="auto">
          <a:xfrm>
            <a:off x="228600" y="3779826"/>
            <a:ext cx="1103313" cy="430212"/>
          </a:xfrm>
          <a:prstGeom prst="rect">
            <a:avLst/>
          </a:prstGeom>
          <a:solidFill>
            <a:schemeClr val="bg1"/>
          </a:solidFill>
          <a:ln w="12700">
            <a:solidFill>
              <a:schemeClr val="tx1"/>
            </a:solidFill>
            <a:miter lim="800000"/>
            <a:headEnd/>
            <a:tailEnd/>
          </a:ln>
          <a:effectLst/>
        </p:spPr>
        <p:txBody>
          <a:bodyPr wrap="none" anchor="ctr"/>
          <a:lstStyle/>
          <a:p>
            <a:endParaRPr lang="en-US" dirty="0"/>
          </a:p>
        </p:txBody>
      </p:sp>
      <p:sp>
        <p:nvSpPr>
          <p:cNvPr id="1510423" name="Rectangle 23"/>
          <p:cNvSpPr>
            <a:spLocks noChangeArrowheads="1"/>
          </p:cNvSpPr>
          <p:nvPr/>
        </p:nvSpPr>
        <p:spPr bwMode="auto">
          <a:xfrm>
            <a:off x="3098800" y="3779826"/>
            <a:ext cx="1103313" cy="430212"/>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Rewards</a:t>
            </a:r>
          </a:p>
        </p:txBody>
      </p:sp>
      <p:sp>
        <p:nvSpPr>
          <p:cNvPr id="1510424" name="Line 24"/>
          <p:cNvSpPr>
            <a:spLocks noChangeShapeType="1"/>
          </p:cNvSpPr>
          <p:nvPr/>
        </p:nvSpPr>
        <p:spPr bwMode="auto">
          <a:xfrm>
            <a:off x="1357313" y="3994138"/>
            <a:ext cx="1735137"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25" name="Line 25"/>
          <p:cNvSpPr>
            <a:spLocks noChangeShapeType="1"/>
          </p:cNvSpPr>
          <p:nvPr/>
        </p:nvSpPr>
        <p:spPr bwMode="auto">
          <a:xfrm>
            <a:off x="4211638" y="3994138"/>
            <a:ext cx="303212"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26" name="Line 26"/>
          <p:cNvSpPr>
            <a:spLocks noChangeShapeType="1"/>
          </p:cNvSpPr>
          <p:nvPr/>
        </p:nvSpPr>
        <p:spPr bwMode="auto">
          <a:xfrm>
            <a:off x="5808663" y="3994138"/>
            <a:ext cx="285750"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27" name="AutoShape 27"/>
          <p:cNvSpPr>
            <a:spLocks noChangeArrowheads="1"/>
          </p:cNvSpPr>
          <p:nvPr/>
        </p:nvSpPr>
        <p:spPr bwMode="auto">
          <a:xfrm>
            <a:off x="7291388" y="3925876"/>
            <a:ext cx="366712" cy="138112"/>
          </a:xfrm>
          <a:prstGeom prst="rightArrow">
            <a:avLst>
              <a:gd name="adj1" fmla="val 50000"/>
              <a:gd name="adj2" fmla="val 132771"/>
            </a:avLst>
          </a:prstGeom>
          <a:solidFill>
            <a:schemeClr val="bg1"/>
          </a:solidFill>
          <a:ln w="12700">
            <a:solidFill>
              <a:schemeClr val="tx1"/>
            </a:solidFill>
            <a:miter lim="800000"/>
            <a:headEnd/>
            <a:tailEnd/>
          </a:ln>
          <a:effectLst/>
        </p:spPr>
        <p:txBody>
          <a:bodyPr wrap="none" anchor="ctr"/>
          <a:lstStyle/>
          <a:p>
            <a:endParaRPr lang="en-US" dirty="0"/>
          </a:p>
        </p:txBody>
      </p:sp>
      <p:sp>
        <p:nvSpPr>
          <p:cNvPr id="1510428" name="Rectangle 28"/>
          <p:cNvSpPr>
            <a:spLocks noChangeArrowheads="1"/>
          </p:cNvSpPr>
          <p:nvPr/>
        </p:nvSpPr>
        <p:spPr bwMode="auto">
          <a:xfrm>
            <a:off x="371475" y="3841738"/>
            <a:ext cx="712788" cy="304800"/>
          </a:xfrm>
          <a:prstGeom prst="rect">
            <a:avLst/>
          </a:prstGeom>
          <a:noFill/>
          <a:ln w="9525">
            <a:noFill/>
            <a:miter lim="800000"/>
            <a:headEnd/>
            <a:tailEnd/>
          </a:ln>
          <a:effectLst/>
        </p:spPr>
        <p:txBody>
          <a:bodyPr wrap="none" lIns="90915" tIns="45458" rIns="90915" bIns="45458">
            <a:spAutoFit/>
          </a:bodyPr>
          <a:lstStyle/>
          <a:p>
            <a:pPr algn="l" defTabSz="903288"/>
            <a:r>
              <a:rPr lang="en-US" sz="1400" b="1" dirty="0"/>
              <a:t>Vision</a:t>
            </a:r>
          </a:p>
        </p:txBody>
      </p:sp>
      <p:sp>
        <p:nvSpPr>
          <p:cNvPr id="1510429" name="Rectangle 29"/>
          <p:cNvSpPr>
            <a:spLocks noChangeArrowheads="1"/>
          </p:cNvSpPr>
          <p:nvPr/>
        </p:nvSpPr>
        <p:spPr bwMode="auto">
          <a:xfrm>
            <a:off x="4578350" y="4618026"/>
            <a:ext cx="1204913" cy="449262"/>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Resources</a:t>
            </a:r>
          </a:p>
        </p:txBody>
      </p:sp>
      <p:sp>
        <p:nvSpPr>
          <p:cNvPr id="1510430" name="Rectangle 30"/>
          <p:cNvSpPr>
            <a:spLocks noChangeArrowheads="1"/>
          </p:cNvSpPr>
          <p:nvPr/>
        </p:nvSpPr>
        <p:spPr bwMode="auto">
          <a:xfrm>
            <a:off x="1676400" y="4625963"/>
            <a:ext cx="1104900" cy="431800"/>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Skills</a:t>
            </a:r>
          </a:p>
        </p:txBody>
      </p:sp>
      <p:sp>
        <p:nvSpPr>
          <p:cNvPr id="1510431" name="Rectangle 31"/>
          <p:cNvSpPr>
            <a:spLocks noChangeArrowheads="1"/>
          </p:cNvSpPr>
          <p:nvPr/>
        </p:nvSpPr>
        <p:spPr bwMode="auto">
          <a:xfrm>
            <a:off x="6075363" y="4618026"/>
            <a:ext cx="1103312" cy="449262"/>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Prioritization</a:t>
            </a:r>
          </a:p>
        </p:txBody>
      </p:sp>
      <p:sp>
        <p:nvSpPr>
          <p:cNvPr id="1510432" name="Rectangle 32"/>
          <p:cNvSpPr>
            <a:spLocks noChangeArrowheads="1"/>
          </p:cNvSpPr>
          <p:nvPr/>
        </p:nvSpPr>
        <p:spPr bwMode="auto">
          <a:xfrm>
            <a:off x="233363" y="4627551"/>
            <a:ext cx="1103312" cy="430212"/>
          </a:xfrm>
          <a:prstGeom prst="rect">
            <a:avLst/>
          </a:prstGeom>
          <a:solidFill>
            <a:schemeClr val="bg1"/>
          </a:solidFill>
          <a:ln w="12700">
            <a:solidFill>
              <a:schemeClr val="tx1"/>
            </a:solidFill>
            <a:miter lim="800000"/>
            <a:headEnd/>
            <a:tailEnd/>
          </a:ln>
          <a:effectLst/>
        </p:spPr>
        <p:txBody>
          <a:bodyPr wrap="none" anchor="ctr"/>
          <a:lstStyle/>
          <a:p>
            <a:endParaRPr lang="en-US" dirty="0"/>
          </a:p>
        </p:txBody>
      </p:sp>
      <p:sp>
        <p:nvSpPr>
          <p:cNvPr id="1510433" name="Line 33"/>
          <p:cNvSpPr>
            <a:spLocks noChangeShapeType="1"/>
          </p:cNvSpPr>
          <p:nvPr/>
        </p:nvSpPr>
        <p:spPr bwMode="auto">
          <a:xfrm>
            <a:off x="1338263" y="4841863"/>
            <a:ext cx="331787"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34" name="Line 34"/>
          <p:cNvSpPr>
            <a:spLocks noChangeShapeType="1"/>
          </p:cNvSpPr>
          <p:nvPr/>
        </p:nvSpPr>
        <p:spPr bwMode="auto">
          <a:xfrm>
            <a:off x="2841625" y="4841863"/>
            <a:ext cx="1673225"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35" name="AutoShape 35"/>
          <p:cNvSpPr>
            <a:spLocks noChangeArrowheads="1"/>
          </p:cNvSpPr>
          <p:nvPr/>
        </p:nvSpPr>
        <p:spPr bwMode="auto">
          <a:xfrm>
            <a:off x="7318375" y="4772013"/>
            <a:ext cx="339725" cy="141288"/>
          </a:xfrm>
          <a:prstGeom prst="rightArrow">
            <a:avLst>
              <a:gd name="adj1" fmla="val 50000"/>
              <a:gd name="adj2" fmla="val 120235"/>
            </a:avLst>
          </a:prstGeom>
          <a:solidFill>
            <a:schemeClr val="bg1"/>
          </a:solidFill>
          <a:ln w="12700">
            <a:solidFill>
              <a:schemeClr val="tx1"/>
            </a:solidFill>
            <a:miter lim="800000"/>
            <a:headEnd/>
            <a:tailEnd/>
          </a:ln>
          <a:effectLst/>
        </p:spPr>
        <p:txBody>
          <a:bodyPr wrap="none" anchor="ctr"/>
          <a:lstStyle/>
          <a:p>
            <a:endParaRPr lang="en-US" dirty="0"/>
          </a:p>
        </p:txBody>
      </p:sp>
      <p:sp>
        <p:nvSpPr>
          <p:cNvPr id="1510436" name="Rectangle 36"/>
          <p:cNvSpPr>
            <a:spLocks noChangeArrowheads="1"/>
          </p:cNvSpPr>
          <p:nvPr/>
        </p:nvSpPr>
        <p:spPr bwMode="auto">
          <a:xfrm>
            <a:off x="352425" y="4667238"/>
            <a:ext cx="712788" cy="304800"/>
          </a:xfrm>
          <a:prstGeom prst="rect">
            <a:avLst/>
          </a:prstGeom>
          <a:noFill/>
          <a:ln w="9525">
            <a:noFill/>
            <a:miter lim="800000"/>
            <a:headEnd/>
            <a:tailEnd/>
          </a:ln>
          <a:effectLst/>
        </p:spPr>
        <p:txBody>
          <a:bodyPr wrap="none" lIns="90915" tIns="45458" rIns="90915" bIns="45458">
            <a:spAutoFit/>
          </a:bodyPr>
          <a:lstStyle/>
          <a:p>
            <a:pPr algn="l" defTabSz="903288"/>
            <a:r>
              <a:rPr lang="en-US" sz="1400" b="1" dirty="0"/>
              <a:t>Vision</a:t>
            </a:r>
          </a:p>
        </p:txBody>
      </p:sp>
      <p:sp>
        <p:nvSpPr>
          <p:cNvPr id="1510437" name="Rectangle 37"/>
          <p:cNvSpPr>
            <a:spLocks noChangeArrowheads="1"/>
          </p:cNvSpPr>
          <p:nvPr/>
        </p:nvSpPr>
        <p:spPr bwMode="auto">
          <a:xfrm>
            <a:off x="1676400" y="5291126"/>
            <a:ext cx="1103313" cy="430212"/>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Skills</a:t>
            </a:r>
          </a:p>
        </p:txBody>
      </p:sp>
      <p:sp>
        <p:nvSpPr>
          <p:cNvPr id="1510438" name="Rectangle 38"/>
          <p:cNvSpPr>
            <a:spLocks noChangeArrowheads="1"/>
          </p:cNvSpPr>
          <p:nvPr/>
        </p:nvSpPr>
        <p:spPr bwMode="auto">
          <a:xfrm>
            <a:off x="6075363" y="5310176"/>
            <a:ext cx="1085850" cy="431800"/>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Prioritization</a:t>
            </a:r>
          </a:p>
        </p:txBody>
      </p:sp>
      <p:sp>
        <p:nvSpPr>
          <p:cNvPr id="1510439" name="Rectangle 39"/>
          <p:cNvSpPr>
            <a:spLocks noChangeArrowheads="1"/>
          </p:cNvSpPr>
          <p:nvPr/>
        </p:nvSpPr>
        <p:spPr bwMode="auto">
          <a:xfrm>
            <a:off x="233363" y="5259376"/>
            <a:ext cx="1103312" cy="431800"/>
          </a:xfrm>
          <a:prstGeom prst="rect">
            <a:avLst/>
          </a:prstGeom>
          <a:solidFill>
            <a:schemeClr val="bg1"/>
          </a:solidFill>
          <a:ln w="12700">
            <a:solidFill>
              <a:schemeClr val="tx1"/>
            </a:solidFill>
            <a:miter lim="800000"/>
            <a:headEnd/>
            <a:tailEnd/>
          </a:ln>
          <a:effectLst/>
        </p:spPr>
        <p:txBody>
          <a:bodyPr wrap="none" anchor="ctr"/>
          <a:lstStyle/>
          <a:p>
            <a:endParaRPr lang="en-US" dirty="0"/>
          </a:p>
        </p:txBody>
      </p:sp>
      <p:sp>
        <p:nvSpPr>
          <p:cNvPr id="1510440" name="Rectangle 40"/>
          <p:cNvSpPr>
            <a:spLocks noChangeArrowheads="1"/>
          </p:cNvSpPr>
          <p:nvPr/>
        </p:nvSpPr>
        <p:spPr bwMode="auto">
          <a:xfrm>
            <a:off x="3098800" y="5284776"/>
            <a:ext cx="1103313" cy="430212"/>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Rewards</a:t>
            </a:r>
          </a:p>
        </p:txBody>
      </p:sp>
      <p:sp>
        <p:nvSpPr>
          <p:cNvPr id="1510441" name="Line 41"/>
          <p:cNvSpPr>
            <a:spLocks noChangeShapeType="1"/>
          </p:cNvSpPr>
          <p:nvPr/>
        </p:nvSpPr>
        <p:spPr bwMode="auto">
          <a:xfrm>
            <a:off x="1370013" y="5467338"/>
            <a:ext cx="300037"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42" name="Line 42"/>
          <p:cNvSpPr>
            <a:spLocks noChangeShapeType="1"/>
          </p:cNvSpPr>
          <p:nvPr/>
        </p:nvSpPr>
        <p:spPr bwMode="auto">
          <a:xfrm>
            <a:off x="2803525" y="5538776"/>
            <a:ext cx="288925"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43" name="Line 43"/>
          <p:cNvSpPr>
            <a:spLocks noChangeShapeType="1"/>
          </p:cNvSpPr>
          <p:nvPr/>
        </p:nvSpPr>
        <p:spPr bwMode="auto">
          <a:xfrm>
            <a:off x="4211638" y="5483213"/>
            <a:ext cx="1858962"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44" name="Rectangle 44"/>
          <p:cNvSpPr>
            <a:spLocks noChangeArrowheads="1"/>
          </p:cNvSpPr>
          <p:nvPr/>
        </p:nvSpPr>
        <p:spPr bwMode="auto">
          <a:xfrm>
            <a:off x="390525" y="5353038"/>
            <a:ext cx="712788" cy="304800"/>
          </a:xfrm>
          <a:prstGeom prst="rect">
            <a:avLst/>
          </a:prstGeom>
          <a:noFill/>
          <a:ln w="9525">
            <a:noFill/>
            <a:miter lim="800000"/>
            <a:headEnd/>
            <a:tailEnd/>
          </a:ln>
          <a:effectLst/>
        </p:spPr>
        <p:txBody>
          <a:bodyPr wrap="none" lIns="90915" tIns="45458" rIns="90915" bIns="45458">
            <a:spAutoFit/>
          </a:bodyPr>
          <a:lstStyle/>
          <a:p>
            <a:pPr algn="l" defTabSz="903288"/>
            <a:r>
              <a:rPr lang="en-US" sz="1400" b="1" dirty="0"/>
              <a:t>Vision</a:t>
            </a:r>
          </a:p>
        </p:txBody>
      </p:sp>
      <p:sp>
        <p:nvSpPr>
          <p:cNvPr id="1510445" name="Rectangle 45"/>
          <p:cNvSpPr>
            <a:spLocks noChangeArrowheads="1"/>
          </p:cNvSpPr>
          <p:nvPr/>
        </p:nvSpPr>
        <p:spPr bwMode="auto">
          <a:xfrm>
            <a:off x="4521200" y="6045188"/>
            <a:ext cx="1239838" cy="430213"/>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Resources</a:t>
            </a:r>
          </a:p>
        </p:txBody>
      </p:sp>
      <p:sp>
        <p:nvSpPr>
          <p:cNvPr id="1510446" name="Rectangle 46"/>
          <p:cNvSpPr>
            <a:spLocks noChangeArrowheads="1"/>
          </p:cNvSpPr>
          <p:nvPr/>
        </p:nvSpPr>
        <p:spPr bwMode="auto">
          <a:xfrm>
            <a:off x="1676400" y="6045188"/>
            <a:ext cx="1103313" cy="431800"/>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Skills</a:t>
            </a:r>
          </a:p>
        </p:txBody>
      </p:sp>
      <p:sp>
        <p:nvSpPr>
          <p:cNvPr id="1510447" name="Rectangle 47"/>
          <p:cNvSpPr>
            <a:spLocks noChangeArrowheads="1"/>
          </p:cNvSpPr>
          <p:nvPr/>
        </p:nvSpPr>
        <p:spPr bwMode="auto">
          <a:xfrm>
            <a:off x="233363" y="6045188"/>
            <a:ext cx="1103312" cy="431800"/>
          </a:xfrm>
          <a:prstGeom prst="rect">
            <a:avLst/>
          </a:prstGeom>
          <a:solidFill>
            <a:schemeClr val="bg1"/>
          </a:solidFill>
          <a:ln w="12700">
            <a:solidFill>
              <a:schemeClr val="tx1"/>
            </a:solidFill>
            <a:miter lim="800000"/>
            <a:headEnd/>
            <a:tailEnd/>
          </a:ln>
          <a:effectLst/>
        </p:spPr>
        <p:txBody>
          <a:bodyPr wrap="none" anchor="ctr"/>
          <a:lstStyle/>
          <a:p>
            <a:endParaRPr lang="en-US" dirty="0"/>
          </a:p>
        </p:txBody>
      </p:sp>
      <p:sp>
        <p:nvSpPr>
          <p:cNvPr id="1510448" name="Rectangle 48"/>
          <p:cNvSpPr>
            <a:spLocks noChangeArrowheads="1"/>
          </p:cNvSpPr>
          <p:nvPr/>
        </p:nvSpPr>
        <p:spPr bwMode="auto">
          <a:xfrm>
            <a:off x="3079750" y="6045188"/>
            <a:ext cx="1103313" cy="430213"/>
          </a:xfrm>
          <a:prstGeom prst="rect">
            <a:avLst/>
          </a:prstGeom>
          <a:solidFill>
            <a:schemeClr val="bg1"/>
          </a:solidFill>
          <a:ln w="12700">
            <a:solidFill>
              <a:schemeClr val="tx1"/>
            </a:solidFill>
            <a:miter lim="800000"/>
            <a:headEnd/>
            <a:tailEnd/>
          </a:ln>
          <a:effectLst/>
        </p:spPr>
        <p:txBody>
          <a:bodyPr wrap="none" lIns="90915" tIns="45458" rIns="90915" bIns="45458" anchor="ctr"/>
          <a:lstStyle/>
          <a:p>
            <a:pPr algn="ctr" defTabSz="903288"/>
            <a:r>
              <a:rPr lang="en-US" sz="1400" b="1" dirty="0"/>
              <a:t>Rewards</a:t>
            </a:r>
          </a:p>
        </p:txBody>
      </p:sp>
      <p:sp>
        <p:nvSpPr>
          <p:cNvPr id="1510449" name="Line 49"/>
          <p:cNvSpPr>
            <a:spLocks noChangeShapeType="1"/>
          </p:cNvSpPr>
          <p:nvPr/>
        </p:nvSpPr>
        <p:spPr bwMode="auto">
          <a:xfrm>
            <a:off x="1357313" y="6261088"/>
            <a:ext cx="312737"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50" name="Line 50"/>
          <p:cNvSpPr>
            <a:spLocks noChangeShapeType="1"/>
          </p:cNvSpPr>
          <p:nvPr/>
        </p:nvSpPr>
        <p:spPr bwMode="auto">
          <a:xfrm>
            <a:off x="2784475" y="6261088"/>
            <a:ext cx="304800"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51" name="Line 51"/>
          <p:cNvSpPr>
            <a:spLocks noChangeShapeType="1"/>
          </p:cNvSpPr>
          <p:nvPr/>
        </p:nvSpPr>
        <p:spPr bwMode="auto">
          <a:xfrm>
            <a:off x="4211638" y="6261088"/>
            <a:ext cx="303212"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52" name="Line 52"/>
          <p:cNvSpPr>
            <a:spLocks noChangeShapeType="1"/>
          </p:cNvSpPr>
          <p:nvPr/>
        </p:nvSpPr>
        <p:spPr bwMode="auto">
          <a:xfrm>
            <a:off x="5770563" y="6261088"/>
            <a:ext cx="1711325"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53" name="AutoShape 53"/>
          <p:cNvSpPr>
            <a:spLocks noChangeArrowheads="1"/>
          </p:cNvSpPr>
          <p:nvPr/>
        </p:nvSpPr>
        <p:spPr bwMode="auto">
          <a:xfrm>
            <a:off x="7318375" y="6191238"/>
            <a:ext cx="377825" cy="139700"/>
          </a:xfrm>
          <a:prstGeom prst="rightArrow">
            <a:avLst>
              <a:gd name="adj1" fmla="val 50000"/>
              <a:gd name="adj2" fmla="val 135240"/>
            </a:avLst>
          </a:prstGeom>
          <a:solidFill>
            <a:schemeClr val="bg1"/>
          </a:solidFill>
          <a:ln w="12700">
            <a:solidFill>
              <a:schemeClr val="tx1"/>
            </a:solidFill>
            <a:miter lim="800000"/>
            <a:headEnd/>
            <a:tailEnd/>
          </a:ln>
          <a:effectLst/>
        </p:spPr>
        <p:txBody>
          <a:bodyPr wrap="none" anchor="ctr"/>
          <a:lstStyle/>
          <a:p>
            <a:endParaRPr lang="en-US" dirty="0"/>
          </a:p>
        </p:txBody>
      </p:sp>
      <p:sp>
        <p:nvSpPr>
          <p:cNvPr id="1510454" name="Rectangle 54"/>
          <p:cNvSpPr>
            <a:spLocks noChangeArrowheads="1"/>
          </p:cNvSpPr>
          <p:nvPr/>
        </p:nvSpPr>
        <p:spPr bwMode="auto">
          <a:xfrm>
            <a:off x="409575" y="6108688"/>
            <a:ext cx="712788" cy="304800"/>
          </a:xfrm>
          <a:prstGeom prst="rect">
            <a:avLst/>
          </a:prstGeom>
          <a:noFill/>
          <a:ln w="9525">
            <a:noFill/>
            <a:miter lim="800000"/>
            <a:headEnd/>
            <a:tailEnd/>
          </a:ln>
          <a:effectLst/>
        </p:spPr>
        <p:txBody>
          <a:bodyPr wrap="none" lIns="90915" tIns="45458" rIns="90915" bIns="45458">
            <a:spAutoFit/>
          </a:bodyPr>
          <a:lstStyle/>
          <a:p>
            <a:pPr algn="l" defTabSz="903288"/>
            <a:r>
              <a:rPr lang="en-US" sz="1400" b="1" dirty="0"/>
              <a:t>Vision</a:t>
            </a:r>
          </a:p>
        </p:txBody>
      </p:sp>
      <p:sp>
        <p:nvSpPr>
          <p:cNvPr id="1510455" name="Oval 55"/>
          <p:cNvSpPr>
            <a:spLocks noChangeArrowheads="1"/>
          </p:cNvSpPr>
          <p:nvPr/>
        </p:nvSpPr>
        <p:spPr bwMode="auto">
          <a:xfrm>
            <a:off x="7718425" y="2995601"/>
            <a:ext cx="1146175" cy="555625"/>
          </a:xfrm>
          <a:prstGeom prst="ellipse">
            <a:avLst/>
          </a:prstGeom>
          <a:solidFill>
            <a:schemeClr val="bg1"/>
          </a:solidFill>
          <a:ln w="12700">
            <a:solidFill>
              <a:schemeClr val="tx1"/>
            </a:solidFill>
            <a:round/>
            <a:headEnd/>
            <a:tailEnd/>
          </a:ln>
          <a:effectLst/>
        </p:spPr>
        <p:txBody>
          <a:bodyPr wrap="none" lIns="90915" tIns="45458" rIns="90915" bIns="45458" anchor="ctr"/>
          <a:lstStyle/>
          <a:p>
            <a:pPr algn="ctr" defTabSz="903288"/>
            <a:r>
              <a:rPr lang="en-US" sz="1400" b="1" dirty="0"/>
              <a:t>Confusion</a:t>
            </a:r>
          </a:p>
        </p:txBody>
      </p:sp>
      <p:sp>
        <p:nvSpPr>
          <p:cNvPr id="1510456" name="Oval 56"/>
          <p:cNvSpPr>
            <a:spLocks noChangeArrowheads="1"/>
          </p:cNvSpPr>
          <p:nvPr/>
        </p:nvSpPr>
        <p:spPr bwMode="auto">
          <a:xfrm>
            <a:off x="7710488" y="2243126"/>
            <a:ext cx="1165225" cy="576262"/>
          </a:xfrm>
          <a:prstGeom prst="ellipse">
            <a:avLst/>
          </a:prstGeom>
          <a:solidFill>
            <a:schemeClr val="bg1"/>
          </a:solidFill>
          <a:ln w="12700">
            <a:solidFill>
              <a:schemeClr val="tx1"/>
            </a:solidFill>
            <a:round/>
            <a:headEnd/>
            <a:tailEnd/>
          </a:ln>
          <a:effectLst>
            <a:outerShdw dist="107763" dir="2700000" algn="ctr" rotWithShape="0">
              <a:schemeClr val="bg2"/>
            </a:outerShdw>
          </a:effectLst>
        </p:spPr>
        <p:txBody>
          <a:bodyPr wrap="none" lIns="90915" tIns="45458" rIns="90915" bIns="45458" anchor="ctr"/>
          <a:lstStyle/>
          <a:p>
            <a:pPr algn="ctr" defTabSz="903288"/>
            <a:r>
              <a:rPr lang="en-US" sz="1400" b="1" dirty="0"/>
              <a:t>Change</a:t>
            </a:r>
          </a:p>
        </p:txBody>
      </p:sp>
      <p:sp>
        <p:nvSpPr>
          <p:cNvPr id="1510457" name="Oval 57"/>
          <p:cNvSpPr>
            <a:spLocks noChangeArrowheads="1"/>
          </p:cNvSpPr>
          <p:nvPr/>
        </p:nvSpPr>
        <p:spPr bwMode="auto">
          <a:xfrm>
            <a:off x="7737475" y="4518013"/>
            <a:ext cx="1109663" cy="650875"/>
          </a:xfrm>
          <a:prstGeom prst="ellipse">
            <a:avLst/>
          </a:prstGeom>
          <a:solidFill>
            <a:schemeClr val="bg1"/>
          </a:solidFill>
          <a:ln w="12700">
            <a:solidFill>
              <a:schemeClr val="tx1"/>
            </a:solidFill>
            <a:round/>
            <a:headEnd/>
            <a:tailEnd/>
          </a:ln>
          <a:effectLst/>
        </p:spPr>
        <p:txBody>
          <a:bodyPr wrap="none" lIns="90915" tIns="45458" rIns="90915" bIns="45458" anchor="ctr"/>
          <a:lstStyle/>
          <a:p>
            <a:pPr algn="ctr" defTabSz="903288"/>
            <a:r>
              <a:rPr lang="en-US" sz="1400" b="1" dirty="0"/>
              <a:t>Slow </a:t>
            </a:r>
            <a:r>
              <a:rPr lang="en-US" sz="1400" b="1" dirty="0" smtClean="0"/>
              <a:t/>
            </a:r>
            <a:br>
              <a:rPr lang="en-US" sz="1400" b="1" dirty="0" smtClean="0"/>
            </a:br>
            <a:r>
              <a:rPr lang="en-US" sz="1400" b="1" dirty="0" smtClean="0"/>
              <a:t>change</a:t>
            </a:r>
            <a:endParaRPr lang="en-US" sz="1400" b="1" dirty="0"/>
          </a:p>
        </p:txBody>
      </p:sp>
      <p:sp>
        <p:nvSpPr>
          <p:cNvPr id="1510458" name="Oval 58"/>
          <p:cNvSpPr>
            <a:spLocks noChangeArrowheads="1"/>
          </p:cNvSpPr>
          <p:nvPr/>
        </p:nvSpPr>
        <p:spPr bwMode="auto">
          <a:xfrm>
            <a:off x="7670800" y="5297476"/>
            <a:ext cx="1243013" cy="555625"/>
          </a:xfrm>
          <a:prstGeom prst="ellipse">
            <a:avLst/>
          </a:prstGeom>
          <a:solidFill>
            <a:schemeClr val="bg1"/>
          </a:solidFill>
          <a:ln w="12700">
            <a:solidFill>
              <a:schemeClr val="tx1"/>
            </a:solidFill>
            <a:round/>
            <a:headEnd/>
            <a:tailEnd/>
          </a:ln>
          <a:effectLst/>
        </p:spPr>
        <p:txBody>
          <a:bodyPr wrap="none" lIns="90915" tIns="45458" rIns="90915" bIns="45458" anchor="ctr"/>
          <a:lstStyle/>
          <a:p>
            <a:pPr algn="ctr" defTabSz="903288"/>
            <a:r>
              <a:rPr lang="en-US" sz="1400" b="1" dirty="0"/>
              <a:t>Frustration</a:t>
            </a:r>
          </a:p>
        </p:txBody>
      </p:sp>
      <p:sp>
        <p:nvSpPr>
          <p:cNvPr id="1510459" name="Oval 59"/>
          <p:cNvSpPr>
            <a:spLocks noChangeArrowheads="1"/>
          </p:cNvSpPr>
          <p:nvPr/>
        </p:nvSpPr>
        <p:spPr bwMode="auto">
          <a:xfrm>
            <a:off x="7766050" y="5964226"/>
            <a:ext cx="1054100" cy="593725"/>
          </a:xfrm>
          <a:prstGeom prst="ellipse">
            <a:avLst/>
          </a:prstGeom>
          <a:solidFill>
            <a:schemeClr val="bg1"/>
          </a:solidFill>
          <a:ln w="12700">
            <a:solidFill>
              <a:schemeClr val="tx1"/>
            </a:solidFill>
            <a:round/>
            <a:headEnd/>
            <a:tailEnd/>
          </a:ln>
          <a:effectLst/>
        </p:spPr>
        <p:txBody>
          <a:bodyPr wrap="none" lIns="90915" tIns="45458" rIns="90915" bIns="45458" anchor="ctr"/>
          <a:lstStyle/>
          <a:p>
            <a:pPr algn="ctr" defTabSz="903288"/>
            <a:r>
              <a:rPr lang="en-US" sz="1400" b="1" dirty="0"/>
              <a:t>Wrong </a:t>
            </a:r>
            <a:br>
              <a:rPr lang="en-US" sz="1400" b="1" dirty="0"/>
            </a:br>
            <a:r>
              <a:rPr lang="en-US" sz="1400" b="1" dirty="0"/>
              <a:t>change</a:t>
            </a:r>
          </a:p>
        </p:txBody>
      </p:sp>
      <p:sp>
        <p:nvSpPr>
          <p:cNvPr id="1510460" name="Oval 60"/>
          <p:cNvSpPr>
            <a:spLocks noChangeArrowheads="1"/>
          </p:cNvSpPr>
          <p:nvPr/>
        </p:nvSpPr>
        <p:spPr bwMode="auto">
          <a:xfrm>
            <a:off x="7767638" y="3735376"/>
            <a:ext cx="1050925" cy="520700"/>
          </a:xfrm>
          <a:prstGeom prst="ellipse">
            <a:avLst/>
          </a:prstGeom>
          <a:solidFill>
            <a:schemeClr val="bg1"/>
          </a:solidFill>
          <a:ln w="12700">
            <a:solidFill>
              <a:schemeClr val="tx1"/>
            </a:solidFill>
            <a:round/>
            <a:headEnd/>
            <a:tailEnd/>
          </a:ln>
          <a:effectLst/>
        </p:spPr>
        <p:txBody>
          <a:bodyPr wrap="none" lIns="90915" tIns="45458" rIns="90915" bIns="45458" anchor="ctr"/>
          <a:lstStyle/>
          <a:p>
            <a:pPr algn="ctr" defTabSz="903288"/>
            <a:r>
              <a:rPr lang="en-US" sz="1400" b="1" dirty="0"/>
              <a:t>Anxiety</a:t>
            </a:r>
          </a:p>
        </p:txBody>
      </p:sp>
      <p:sp>
        <p:nvSpPr>
          <p:cNvPr id="1510461" name="Line 61"/>
          <p:cNvSpPr>
            <a:spLocks noChangeShapeType="1"/>
          </p:cNvSpPr>
          <p:nvPr/>
        </p:nvSpPr>
        <p:spPr bwMode="auto">
          <a:xfrm>
            <a:off x="5786438" y="3271826"/>
            <a:ext cx="322262" cy="0"/>
          </a:xfrm>
          <a:prstGeom prst="line">
            <a:avLst/>
          </a:prstGeom>
          <a:noFill/>
          <a:ln w="12700">
            <a:solidFill>
              <a:schemeClr val="tx1"/>
            </a:solidFill>
            <a:round/>
            <a:headEnd type="none" w="sm" len="sm"/>
            <a:tailEnd type="none" w="sm" len="sm"/>
          </a:ln>
          <a:effectLst/>
        </p:spPr>
        <p:txBody>
          <a:bodyPr wrap="none" anchor="ctr"/>
          <a:lstStyle/>
          <a:p>
            <a:endParaRPr lang="en-US" dirty="0"/>
          </a:p>
        </p:txBody>
      </p:sp>
      <p:sp>
        <p:nvSpPr>
          <p:cNvPr id="1510462" name="Rectangle 62"/>
          <p:cNvSpPr>
            <a:spLocks noGrp="1" noChangeArrowheads="1"/>
          </p:cNvSpPr>
          <p:nvPr>
            <p:ph type="title"/>
          </p:nvPr>
        </p:nvSpPr>
        <p:spPr/>
        <p:txBody>
          <a:bodyPr>
            <a:normAutofit/>
          </a:bodyPr>
          <a:lstStyle/>
          <a:p>
            <a:r>
              <a:rPr lang="en-US" dirty="0"/>
              <a:t>Elements of Process Change</a:t>
            </a:r>
            <a:br>
              <a:rPr lang="en-US" dirty="0"/>
            </a:br>
            <a:r>
              <a:rPr lang="en-US" sz="1200" dirty="0"/>
              <a:t>Source: Tim Kasse, 1999. Managing complex change processes.</a:t>
            </a:r>
          </a:p>
        </p:txBody>
      </p:sp>
      <p:pic>
        <p:nvPicPr>
          <p:cNvPr id="1510463" name="Picture 63"/>
          <p:cNvPicPr>
            <a:picLocks noChangeAspect="1" noChangeArrowheads="1"/>
          </p:cNvPicPr>
          <p:nvPr/>
        </p:nvPicPr>
        <p:blipFill>
          <a:blip r:embed="rId3" cstate="print"/>
          <a:srcRect/>
          <a:stretch>
            <a:fillRect/>
          </a:stretch>
        </p:blipFill>
        <p:spPr bwMode="auto">
          <a:xfrm>
            <a:off x="561975" y="2857488"/>
            <a:ext cx="519113" cy="695325"/>
          </a:xfrm>
          <a:prstGeom prst="rect">
            <a:avLst/>
          </a:prstGeom>
          <a:noFill/>
          <a:ln w="12700">
            <a:noFill/>
            <a:miter lim="800000"/>
            <a:headEnd/>
            <a:tailEnd/>
          </a:ln>
          <a:effectLst/>
        </p:spPr>
      </p:pic>
      <p:pic>
        <p:nvPicPr>
          <p:cNvPr id="1510464" name="Picture 64"/>
          <p:cNvPicPr>
            <a:picLocks noChangeAspect="1" noChangeArrowheads="1"/>
          </p:cNvPicPr>
          <p:nvPr/>
        </p:nvPicPr>
        <p:blipFill>
          <a:blip r:embed="rId3" cstate="print"/>
          <a:srcRect/>
          <a:stretch>
            <a:fillRect/>
          </a:stretch>
        </p:blipFill>
        <p:spPr bwMode="auto">
          <a:xfrm>
            <a:off x="1943100" y="3533763"/>
            <a:ext cx="519113" cy="695325"/>
          </a:xfrm>
          <a:prstGeom prst="rect">
            <a:avLst/>
          </a:prstGeom>
          <a:noFill/>
          <a:ln w="12700">
            <a:noFill/>
            <a:miter lim="800000"/>
            <a:headEnd/>
            <a:tailEnd/>
          </a:ln>
          <a:effectLst/>
        </p:spPr>
      </p:pic>
      <p:pic>
        <p:nvPicPr>
          <p:cNvPr id="1510465" name="Picture 65"/>
          <p:cNvPicPr>
            <a:picLocks noChangeAspect="1" noChangeArrowheads="1"/>
          </p:cNvPicPr>
          <p:nvPr/>
        </p:nvPicPr>
        <p:blipFill>
          <a:blip r:embed="rId3" cstate="print"/>
          <a:srcRect/>
          <a:stretch>
            <a:fillRect/>
          </a:stretch>
        </p:blipFill>
        <p:spPr bwMode="auto">
          <a:xfrm>
            <a:off x="3419475" y="4371963"/>
            <a:ext cx="519113" cy="695325"/>
          </a:xfrm>
          <a:prstGeom prst="rect">
            <a:avLst/>
          </a:prstGeom>
          <a:noFill/>
          <a:ln w="12700">
            <a:noFill/>
            <a:miter lim="800000"/>
            <a:headEnd/>
            <a:tailEnd/>
          </a:ln>
          <a:effectLst/>
        </p:spPr>
      </p:pic>
      <p:pic>
        <p:nvPicPr>
          <p:cNvPr id="1510466" name="Picture 66"/>
          <p:cNvPicPr>
            <a:picLocks noChangeAspect="1" noChangeArrowheads="1"/>
          </p:cNvPicPr>
          <p:nvPr/>
        </p:nvPicPr>
        <p:blipFill>
          <a:blip r:embed="rId3" cstate="print"/>
          <a:srcRect/>
          <a:stretch>
            <a:fillRect/>
          </a:stretch>
        </p:blipFill>
        <p:spPr bwMode="auto">
          <a:xfrm>
            <a:off x="4897438" y="5133963"/>
            <a:ext cx="519112" cy="695325"/>
          </a:xfrm>
          <a:prstGeom prst="rect">
            <a:avLst/>
          </a:prstGeom>
          <a:noFill/>
          <a:ln w="12700">
            <a:noFill/>
            <a:miter lim="800000"/>
            <a:headEnd/>
            <a:tailEnd/>
          </a:ln>
          <a:effectLst/>
        </p:spPr>
      </p:pic>
      <p:pic>
        <p:nvPicPr>
          <p:cNvPr id="1510467" name="Picture 67"/>
          <p:cNvPicPr>
            <a:picLocks noChangeAspect="1" noChangeArrowheads="1"/>
          </p:cNvPicPr>
          <p:nvPr/>
        </p:nvPicPr>
        <p:blipFill>
          <a:blip r:embed="rId3" cstate="print"/>
          <a:srcRect/>
          <a:stretch>
            <a:fillRect/>
          </a:stretch>
        </p:blipFill>
        <p:spPr bwMode="auto">
          <a:xfrm>
            <a:off x="6445250" y="5913426"/>
            <a:ext cx="517525" cy="695325"/>
          </a:xfrm>
          <a:prstGeom prst="rect">
            <a:avLst/>
          </a:prstGeom>
          <a:noFill/>
          <a:ln w="12700">
            <a:noFill/>
            <a:miter lim="800000"/>
            <a:headEnd/>
            <a:tailEnd/>
          </a:ln>
          <a:effectLst/>
        </p:spPr>
      </p:pic>
      <p:sp>
        <p:nvSpPr>
          <p:cNvPr id="1510468" name="AutoShape 68"/>
          <p:cNvSpPr>
            <a:spLocks noChangeArrowheads="1"/>
          </p:cNvSpPr>
          <p:nvPr/>
        </p:nvSpPr>
        <p:spPr bwMode="auto">
          <a:xfrm>
            <a:off x="7315200" y="5505438"/>
            <a:ext cx="377825" cy="139700"/>
          </a:xfrm>
          <a:prstGeom prst="rightArrow">
            <a:avLst>
              <a:gd name="adj1" fmla="val 50000"/>
              <a:gd name="adj2" fmla="val 135240"/>
            </a:avLst>
          </a:prstGeom>
          <a:solidFill>
            <a:schemeClr val="bg1"/>
          </a:solidFill>
          <a:ln w="12700">
            <a:solidFill>
              <a:schemeClr val="tx1"/>
            </a:solidFill>
            <a:miter lim="800000"/>
            <a:headEnd/>
            <a:tailEnd/>
          </a:ln>
          <a:effectLst/>
        </p:spPr>
        <p:txBody>
          <a:bodyPr wrap="none" anchor="ctr"/>
          <a:lstStyle/>
          <a:p>
            <a:endParaRPr lang="en-US" dirty="0"/>
          </a:p>
        </p:txBody>
      </p:sp>
      <p:sp>
        <p:nvSpPr>
          <p:cNvPr id="1510469" name="AutoShape 69"/>
          <p:cNvSpPr>
            <a:spLocks noChangeArrowheads="1"/>
          </p:cNvSpPr>
          <p:nvPr/>
        </p:nvSpPr>
        <p:spPr bwMode="auto">
          <a:xfrm>
            <a:off x="7315200" y="3219438"/>
            <a:ext cx="377825" cy="139700"/>
          </a:xfrm>
          <a:prstGeom prst="rightArrow">
            <a:avLst>
              <a:gd name="adj1" fmla="val 50000"/>
              <a:gd name="adj2" fmla="val 135240"/>
            </a:avLst>
          </a:prstGeom>
          <a:solidFill>
            <a:schemeClr val="bg1"/>
          </a:solidFill>
          <a:ln w="12700">
            <a:solidFill>
              <a:schemeClr val="tx1"/>
            </a:solidFill>
            <a:miter lim="800000"/>
            <a:headEnd/>
            <a:tailEnd/>
          </a:ln>
          <a:effectLst/>
        </p:spPr>
        <p:txBody>
          <a:bodyPr wrap="none" anchor="ctr"/>
          <a:lstStyle/>
          <a:p>
            <a:endParaRPr lang="en-US" dirty="0"/>
          </a:p>
        </p:txBody>
      </p:sp>
      <p:sp>
        <p:nvSpPr>
          <p:cNvPr id="1510470" name="AutoShape 70"/>
          <p:cNvSpPr>
            <a:spLocks noChangeArrowheads="1"/>
          </p:cNvSpPr>
          <p:nvPr/>
        </p:nvSpPr>
        <p:spPr bwMode="auto">
          <a:xfrm>
            <a:off x="7315200" y="2457438"/>
            <a:ext cx="377825" cy="139700"/>
          </a:xfrm>
          <a:prstGeom prst="rightArrow">
            <a:avLst>
              <a:gd name="adj1" fmla="val 50000"/>
              <a:gd name="adj2" fmla="val 135240"/>
            </a:avLst>
          </a:prstGeom>
          <a:solidFill>
            <a:schemeClr val="bg1"/>
          </a:solidFill>
          <a:ln w="12700">
            <a:solidFill>
              <a:schemeClr val="tx1"/>
            </a:solidFill>
            <a:miter lim="800000"/>
            <a:headEnd/>
            <a:tailEnd/>
          </a:ln>
          <a:effectLst/>
        </p:spPr>
        <p:txBody>
          <a:bodyPr wrap="none" anchor="ctr"/>
          <a:lstStyle/>
          <a:p>
            <a:endParaRPr lang="en-US" dirty="0"/>
          </a:p>
        </p:txBody>
      </p:sp>
      <p:sp>
        <p:nvSpPr>
          <p:cNvPr id="71" name="Slide Number Placeholder 70"/>
          <p:cNvSpPr>
            <a:spLocks noGrp="1"/>
          </p:cNvSpPr>
          <p:nvPr>
            <p:ph type="sldNum" sz="quarter" idx="12"/>
          </p:nvPr>
        </p:nvSpPr>
        <p:spPr/>
        <p:txBody>
          <a:bodyPr/>
          <a:lstStyle/>
          <a:p>
            <a:fld id="{227F0B53-9592-4779-891F-997228E46E01}" type="slidenum">
              <a:rPr lang="sv-SE" smtClean="0"/>
              <a:pPr/>
              <a:t>6</a:t>
            </a:fld>
            <a:endParaRPr lang="sv-SE"/>
          </a:p>
        </p:txBody>
      </p:sp>
      <p:sp>
        <p:nvSpPr>
          <p:cNvPr id="72" name="Footer Placeholder 71"/>
          <p:cNvSpPr>
            <a:spLocks noGrp="1"/>
          </p:cNvSpPr>
          <p:nvPr>
            <p:ph type="ftr" sz="quarter" idx="11"/>
          </p:nvPr>
        </p:nvSpPr>
        <p:spPr/>
        <p:txBody>
          <a:bodyPr/>
          <a:lstStyle/>
          <a:p>
            <a:r>
              <a:rPr lang="en-US" smtClean="0"/>
              <a:t>DAY 2</a:t>
            </a:r>
            <a:endParaRPr lang="en-US" dirty="0"/>
          </a:p>
        </p:txBody>
      </p:sp>
    </p:spTree>
  </p:cSld>
  <p:clrMapOvr>
    <a:masterClrMapping/>
  </p:clrMapOvr>
  <p:transition xmlns:p14="http://schemas.microsoft.com/office/powerpoint/2010/main">
    <p:wipe dir="d"/>
  </p:transition>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8178" name="AutoShape 2"/>
          <p:cNvSpPr>
            <a:spLocks noChangeArrowheads="1"/>
          </p:cNvSpPr>
          <p:nvPr/>
        </p:nvSpPr>
        <p:spPr bwMode="auto">
          <a:xfrm>
            <a:off x="2819400" y="2066948"/>
            <a:ext cx="2133600" cy="914400"/>
          </a:xfrm>
          <a:prstGeom prst="roundRect">
            <a:avLst>
              <a:gd name="adj" fmla="val 16667"/>
            </a:avLst>
          </a:prstGeom>
          <a:solidFill>
            <a:schemeClr val="accent1"/>
          </a:solidFill>
          <a:ln w="9525">
            <a:solidFill>
              <a:srgbClr val="000000"/>
            </a:solidFill>
            <a:round/>
            <a:headEnd/>
            <a:tailEnd/>
          </a:ln>
          <a:effectLst/>
        </p:spPr>
        <p:txBody>
          <a:bodyPr anchor="ctr"/>
          <a:lstStyle/>
          <a:p>
            <a:pPr algn="ctr" eaLnBrk="1" hangingPunct="1"/>
            <a:r>
              <a:rPr lang="fi-FI" sz="1600">
                <a:solidFill>
                  <a:schemeClr val="bg1"/>
                </a:solidFill>
              </a:rPr>
              <a:t>Remedy (correct or counteract)</a:t>
            </a:r>
            <a:endParaRPr lang="en-GB" sz="1600" dirty="0">
              <a:solidFill>
                <a:schemeClr val="bg1"/>
              </a:solidFill>
            </a:endParaRPr>
          </a:p>
        </p:txBody>
      </p:sp>
      <p:sp>
        <p:nvSpPr>
          <p:cNvPr id="1458179" name="AutoShape 3"/>
          <p:cNvSpPr>
            <a:spLocks noChangeArrowheads="1"/>
          </p:cNvSpPr>
          <p:nvPr/>
        </p:nvSpPr>
        <p:spPr bwMode="auto">
          <a:xfrm>
            <a:off x="6858000" y="4733948"/>
            <a:ext cx="2133600" cy="914400"/>
          </a:xfrm>
          <a:prstGeom prst="roundRect">
            <a:avLst>
              <a:gd name="adj" fmla="val 16667"/>
            </a:avLst>
          </a:prstGeom>
          <a:solidFill>
            <a:schemeClr val="tx2"/>
          </a:solidFill>
          <a:ln w="9525">
            <a:solidFill>
              <a:srgbClr val="000000"/>
            </a:solidFill>
            <a:round/>
            <a:headEnd/>
            <a:tailEnd/>
          </a:ln>
          <a:effectLst/>
        </p:spPr>
        <p:txBody>
          <a:bodyPr anchor="ctr"/>
          <a:lstStyle/>
          <a:p>
            <a:pPr algn="ctr" eaLnBrk="1" hangingPunct="1"/>
            <a:r>
              <a:rPr lang="fi-FI" sz="1600">
                <a:solidFill>
                  <a:schemeClr val="bg1"/>
                </a:solidFill>
              </a:rPr>
              <a:t>Symptom</a:t>
            </a:r>
            <a:endParaRPr lang="en-GB" sz="1000" dirty="0">
              <a:solidFill>
                <a:schemeClr val="bg1"/>
              </a:solidFill>
            </a:endParaRPr>
          </a:p>
        </p:txBody>
      </p:sp>
      <p:sp>
        <p:nvSpPr>
          <p:cNvPr id="1458180" name="AutoShape 4"/>
          <p:cNvSpPr>
            <a:spLocks noChangeArrowheads="1"/>
          </p:cNvSpPr>
          <p:nvPr/>
        </p:nvSpPr>
        <p:spPr bwMode="auto">
          <a:xfrm>
            <a:off x="134938" y="4352948"/>
            <a:ext cx="2133600" cy="914400"/>
          </a:xfrm>
          <a:prstGeom prst="roundRect">
            <a:avLst>
              <a:gd name="adj" fmla="val 16667"/>
            </a:avLst>
          </a:prstGeom>
          <a:solidFill>
            <a:schemeClr val="tx2"/>
          </a:solidFill>
          <a:ln w="9525">
            <a:solidFill>
              <a:srgbClr val="000000"/>
            </a:solidFill>
            <a:round/>
            <a:headEnd/>
            <a:tailEnd/>
          </a:ln>
          <a:effectLst/>
        </p:spPr>
        <p:txBody>
          <a:bodyPr anchor="ctr"/>
          <a:lstStyle/>
          <a:p>
            <a:pPr algn="ctr" eaLnBrk="1" hangingPunct="1"/>
            <a:r>
              <a:rPr lang="fi-FI" sz="1600">
                <a:solidFill>
                  <a:schemeClr val="bg1"/>
                </a:solidFill>
              </a:rPr>
              <a:t>Structure / Anatomy</a:t>
            </a:r>
            <a:endParaRPr lang="en-GB" sz="1000" dirty="0">
              <a:solidFill>
                <a:schemeClr val="bg1"/>
              </a:solidFill>
            </a:endParaRPr>
          </a:p>
        </p:txBody>
      </p:sp>
      <p:sp>
        <p:nvSpPr>
          <p:cNvPr id="1458181" name="AutoShape 5"/>
          <p:cNvSpPr>
            <a:spLocks noChangeArrowheads="1"/>
          </p:cNvSpPr>
          <p:nvPr/>
        </p:nvSpPr>
        <p:spPr bwMode="auto">
          <a:xfrm>
            <a:off x="4343400" y="4352948"/>
            <a:ext cx="2133600" cy="914400"/>
          </a:xfrm>
          <a:prstGeom prst="roundRect">
            <a:avLst>
              <a:gd name="adj" fmla="val 16667"/>
            </a:avLst>
          </a:prstGeom>
          <a:solidFill>
            <a:schemeClr val="tx2"/>
          </a:solidFill>
          <a:ln w="9525">
            <a:solidFill>
              <a:srgbClr val="000000"/>
            </a:solidFill>
            <a:round/>
            <a:headEnd/>
            <a:tailEnd/>
          </a:ln>
          <a:effectLst/>
        </p:spPr>
        <p:txBody>
          <a:bodyPr anchor="ctr"/>
          <a:lstStyle/>
          <a:p>
            <a:pPr algn="ctr" eaLnBrk="1" hangingPunct="1"/>
            <a:r>
              <a:rPr lang="fi-FI" sz="1600">
                <a:solidFill>
                  <a:schemeClr val="bg1"/>
                </a:solidFill>
              </a:rPr>
              <a:t>Problem</a:t>
            </a:r>
            <a:endParaRPr lang="en-GB" sz="1000" dirty="0">
              <a:solidFill>
                <a:schemeClr val="bg1"/>
              </a:solidFill>
            </a:endParaRPr>
          </a:p>
        </p:txBody>
      </p:sp>
      <p:cxnSp>
        <p:nvCxnSpPr>
          <p:cNvPr id="1458182" name="AutoShape 6"/>
          <p:cNvCxnSpPr>
            <a:cxnSpLocks noChangeShapeType="1"/>
            <a:stCxn id="1458180" idx="3"/>
            <a:endCxn id="1458181" idx="1"/>
          </p:cNvCxnSpPr>
          <p:nvPr/>
        </p:nvCxnSpPr>
        <p:spPr bwMode="auto">
          <a:xfrm>
            <a:off x="2268538" y="4810148"/>
            <a:ext cx="2074862" cy="0"/>
          </a:xfrm>
          <a:prstGeom prst="straightConnector1">
            <a:avLst/>
          </a:prstGeom>
          <a:noFill/>
          <a:ln w="19050">
            <a:solidFill>
              <a:srgbClr val="000000"/>
            </a:solidFill>
            <a:round/>
            <a:headEnd/>
            <a:tailEnd type="triangle" w="med" len="med"/>
          </a:ln>
          <a:effectLst/>
        </p:spPr>
      </p:cxnSp>
      <p:cxnSp>
        <p:nvCxnSpPr>
          <p:cNvPr id="1458183" name="AutoShape 7"/>
          <p:cNvCxnSpPr>
            <a:cxnSpLocks noChangeShapeType="1"/>
            <a:stCxn id="1458181" idx="3"/>
            <a:endCxn id="1458179" idx="1"/>
          </p:cNvCxnSpPr>
          <p:nvPr/>
        </p:nvCxnSpPr>
        <p:spPr bwMode="auto">
          <a:xfrm>
            <a:off x="6477000" y="4810148"/>
            <a:ext cx="381000" cy="381000"/>
          </a:xfrm>
          <a:prstGeom prst="bentConnector3">
            <a:avLst>
              <a:gd name="adj1" fmla="val 50000"/>
            </a:avLst>
          </a:prstGeom>
          <a:noFill/>
          <a:ln w="19050">
            <a:solidFill>
              <a:srgbClr val="000000"/>
            </a:solidFill>
            <a:miter lim="800000"/>
            <a:headEnd/>
            <a:tailEnd type="triangle" w="med" len="med"/>
          </a:ln>
          <a:effectLst/>
        </p:spPr>
      </p:cxnSp>
      <p:cxnSp>
        <p:nvCxnSpPr>
          <p:cNvPr id="1458184" name="AutoShape 8"/>
          <p:cNvCxnSpPr>
            <a:cxnSpLocks noChangeShapeType="1"/>
            <a:stCxn id="1458178" idx="2"/>
            <a:endCxn id="1458181" idx="0"/>
          </p:cNvCxnSpPr>
          <p:nvPr/>
        </p:nvCxnSpPr>
        <p:spPr bwMode="auto">
          <a:xfrm rot="16200000" flipH="1">
            <a:off x="3962400" y="2905148"/>
            <a:ext cx="1371600" cy="1524000"/>
          </a:xfrm>
          <a:prstGeom prst="bentConnector3">
            <a:avLst>
              <a:gd name="adj1" fmla="val 50000"/>
            </a:avLst>
          </a:prstGeom>
          <a:noFill/>
          <a:ln w="19050">
            <a:solidFill>
              <a:srgbClr val="000000"/>
            </a:solidFill>
            <a:miter lim="800000"/>
            <a:headEnd/>
            <a:tailEnd type="triangle" w="med" len="med"/>
          </a:ln>
          <a:effectLst/>
        </p:spPr>
      </p:cxnSp>
      <p:cxnSp>
        <p:nvCxnSpPr>
          <p:cNvPr id="1458185" name="AutoShape 9"/>
          <p:cNvCxnSpPr>
            <a:cxnSpLocks noChangeShapeType="1"/>
            <a:stCxn id="1458178" idx="3"/>
            <a:endCxn id="1458179" idx="0"/>
          </p:cNvCxnSpPr>
          <p:nvPr/>
        </p:nvCxnSpPr>
        <p:spPr bwMode="auto">
          <a:xfrm>
            <a:off x="4953000" y="2524148"/>
            <a:ext cx="2971800" cy="2209800"/>
          </a:xfrm>
          <a:prstGeom prst="bentConnector2">
            <a:avLst/>
          </a:prstGeom>
          <a:noFill/>
          <a:ln w="28575">
            <a:solidFill>
              <a:srgbClr val="000000"/>
            </a:solidFill>
            <a:prstDash val="dashDot"/>
            <a:miter lim="800000"/>
            <a:headEnd type="triangle" w="med" len="med"/>
            <a:tailEnd/>
          </a:ln>
          <a:effectLst/>
        </p:spPr>
      </p:cxnSp>
      <p:sp>
        <p:nvSpPr>
          <p:cNvPr id="1458186" name="Rectangle 10"/>
          <p:cNvSpPr>
            <a:spLocks noGrp="1" noChangeArrowheads="1"/>
          </p:cNvSpPr>
          <p:nvPr>
            <p:ph type="title"/>
          </p:nvPr>
        </p:nvSpPr>
        <p:spPr/>
        <p:txBody>
          <a:bodyPr>
            <a:normAutofit fontScale="90000"/>
          </a:bodyPr>
          <a:lstStyle/>
          <a:p>
            <a:r>
              <a:rPr lang="fi-FI"/>
              <a:t>Test Process Improvement – Choosing the Right Medication</a:t>
            </a:r>
            <a:endParaRPr lang="en-GB" dirty="0"/>
          </a:p>
        </p:txBody>
      </p:sp>
      <p:sp>
        <p:nvSpPr>
          <p:cNvPr id="1458187" name="Oval 11"/>
          <p:cNvSpPr>
            <a:spLocks noChangeArrowheads="1"/>
          </p:cNvSpPr>
          <p:nvPr/>
        </p:nvSpPr>
        <p:spPr bwMode="auto">
          <a:xfrm>
            <a:off x="1447800" y="1838348"/>
            <a:ext cx="990600" cy="533400"/>
          </a:xfrm>
          <a:prstGeom prst="ellipse">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lang="fi-FI" sz="1200" dirty="0">
                <a:solidFill>
                  <a:schemeClr val="bg1"/>
                </a:solidFill>
              </a:rPr>
              <a:t>Price</a:t>
            </a:r>
            <a:endParaRPr lang="en-GB" sz="1200" dirty="0">
              <a:solidFill>
                <a:schemeClr val="bg1"/>
              </a:solidFill>
            </a:endParaRPr>
          </a:p>
        </p:txBody>
      </p:sp>
      <p:sp>
        <p:nvSpPr>
          <p:cNvPr id="1458188" name="Oval 12"/>
          <p:cNvSpPr>
            <a:spLocks noChangeArrowheads="1"/>
          </p:cNvSpPr>
          <p:nvPr/>
        </p:nvSpPr>
        <p:spPr bwMode="auto">
          <a:xfrm>
            <a:off x="1447800" y="2447948"/>
            <a:ext cx="990600" cy="533400"/>
          </a:xfrm>
          <a:prstGeom prst="ellipse">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lang="fi-FI" sz="1200">
                <a:solidFill>
                  <a:schemeClr val="bg1"/>
                </a:solidFill>
              </a:rPr>
              <a:t>Benefits</a:t>
            </a:r>
            <a:endParaRPr lang="en-GB" sz="1200" dirty="0">
              <a:solidFill>
                <a:schemeClr val="bg1"/>
              </a:solidFill>
            </a:endParaRPr>
          </a:p>
        </p:txBody>
      </p:sp>
      <p:cxnSp>
        <p:nvCxnSpPr>
          <p:cNvPr id="1458189" name="AutoShape 13"/>
          <p:cNvCxnSpPr>
            <a:cxnSpLocks noChangeShapeType="1"/>
            <a:stCxn id="1458178" idx="1"/>
            <a:endCxn id="1458188" idx="6"/>
          </p:cNvCxnSpPr>
          <p:nvPr/>
        </p:nvCxnSpPr>
        <p:spPr bwMode="auto">
          <a:xfrm rot="10800000" flipV="1">
            <a:off x="2438400" y="2524148"/>
            <a:ext cx="381000" cy="190500"/>
          </a:xfrm>
          <a:prstGeom prst="bentConnector3">
            <a:avLst>
              <a:gd name="adj1" fmla="val 50000"/>
            </a:avLst>
          </a:prstGeom>
          <a:noFill/>
          <a:ln w="9525">
            <a:solidFill>
              <a:srgbClr val="000000"/>
            </a:solidFill>
            <a:miter lim="800000"/>
            <a:headEnd/>
            <a:tailEnd/>
          </a:ln>
          <a:effectLst/>
        </p:spPr>
      </p:cxnSp>
      <p:cxnSp>
        <p:nvCxnSpPr>
          <p:cNvPr id="1458190" name="AutoShape 14"/>
          <p:cNvCxnSpPr>
            <a:cxnSpLocks noChangeShapeType="1"/>
            <a:stCxn id="1458178" idx="1"/>
            <a:endCxn id="1458187" idx="6"/>
          </p:cNvCxnSpPr>
          <p:nvPr/>
        </p:nvCxnSpPr>
        <p:spPr bwMode="auto">
          <a:xfrm rot="10800000">
            <a:off x="2438400" y="2105048"/>
            <a:ext cx="381000" cy="419100"/>
          </a:xfrm>
          <a:prstGeom prst="bentConnector3">
            <a:avLst>
              <a:gd name="adj1" fmla="val 50000"/>
            </a:avLst>
          </a:prstGeom>
          <a:noFill/>
          <a:ln w="9525">
            <a:solidFill>
              <a:srgbClr val="000000"/>
            </a:solidFill>
            <a:miter lim="800000"/>
            <a:headEnd/>
            <a:tailEnd/>
          </a:ln>
          <a:effectLst/>
        </p:spPr>
      </p:cxnSp>
      <p:sp>
        <p:nvSpPr>
          <p:cNvPr id="1458191" name="AutoShape 15"/>
          <p:cNvSpPr>
            <a:spLocks noChangeArrowheads="1"/>
          </p:cNvSpPr>
          <p:nvPr/>
        </p:nvSpPr>
        <p:spPr bwMode="auto">
          <a:xfrm>
            <a:off x="2819400" y="5800748"/>
            <a:ext cx="2133600" cy="914400"/>
          </a:xfrm>
          <a:prstGeom prst="roundRect">
            <a:avLst>
              <a:gd name="adj" fmla="val 16667"/>
            </a:avLst>
          </a:prstGeom>
          <a:solidFill>
            <a:schemeClr val="tx2"/>
          </a:solidFill>
          <a:ln w="9525">
            <a:solidFill>
              <a:srgbClr val="000000"/>
            </a:solidFill>
            <a:round/>
            <a:headEnd/>
            <a:tailEnd/>
          </a:ln>
          <a:effectLst/>
        </p:spPr>
        <p:txBody>
          <a:bodyPr anchor="ctr"/>
          <a:lstStyle/>
          <a:p>
            <a:pPr algn="ctr" eaLnBrk="1" hangingPunct="1"/>
            <a:r>
              <a:rPr lang="fi-FI" sz="1600">
                <a:solidFill>
                  <a:schemeClr val="bg1"/>
                </a:solidFill>
              </a:rPr>
              <a:t>Functional part</a:t>
            </a:r>
            <a:endParaRPr lang="en-GB" sz="1000" dirty="0">
              <a:solidFill>
                <a:schemeClr val="bg1"/>
              </a:solidFill>
            </a:endParaRPr>
          </a:p>
        </p:txBody>
      </p:sp>
      <p:cxnSp>
        <p:nvCxnSpPr>
          <p:cNvPr id="1458192" name="AutoShape 16"/>
          <p:cNvCxnSpPr>
            <a:cxnSpLocks noChangeShapeType="1"/>
            <a:stCxn id="1458180" idx="3"/>
            <a:endCxn id="1458191" idx="1"/>
          </p:cNvCxnSpPr>
          <p:nvPr/>
        </p:nvCxnSpPr>
        <p:spPr bwMode="auto">
          <a:xfrm>
            <a:off x="2268538" y="4810148"/>
            <a:ext cx="550862" cy="1447800"/>
          </a:xfrm>
          <a:prstGeom prst="bentConnector3">
            <a:avLst>
              <a:gd name="adj1" fmla="val 49856"/>
            </a:avLst>
          </a:prstGeom>
          <a:noFill/>
          <a:ln w="19050">
            <a:solidFill>
              <a:srgbClr val="000000"/>
            </a:solidFill>
            <a:miter lim="800000"/>
            <a:headEnd/>
            <a:tailEnd type="triangle" w="med" len="med"/>
          </a:ln>
          <a:effectLst/>
        </p:spPr>
      </p:cxnSp>
      <p:cxnSp>
        <p:nvCxnSpPr>
          <p:cNvPr id="1458193" name="AutoShape 17"/>
          <p:cNvCxnSpPr>
            <a:cxnSpLocks noChangeShapeType="1"/>
            <a:stCxn id="1458178" idx="2"/>
            <a:endCxn id="1458191" idx="0"/>
          </p:cNvCxnSpPr>
          <p:nvPr/>
        </p:nvCxnSpPr>
        <p:spPr bwMode="auto">
          <a:xfrm rot="5400000">
            <a:off x="2476500" y="4391048"/>
            <a:ext cx="2819400" cy="0"/>
          </a:xfrm>
          <a:prstGeom prst="straightConnector1">
            <a:avLst/>
          </a:prstGeom>
          <a:noFill/>
          <a:ln w="38100">
            <a:solidFill>
              <a:srgbClr val="FF0000"/>
            </a:solidFill>
            <a:prstDash val="sysDot"/>
            <a:round/>
            <a:headEnd/>
            <a:tailEnd type="triangle" w="med" len="med"/>
          </a:ln>
          <a:effectLst/>
        </p:spPr>
      </p:cxnSp>
      <p:cxnSp>
        <p:nvCxnSpPr>
          <p:cNvPr id="1458194" name="AutoShape 18"/>
          <p:cNvCxnSpPr>
            <a:cxnSpLocks noChangeShapeType="1"/>
            <a:stCxn id="1458191" idx="3"/>
            <a:endCxn id="1458181" idx="2"/>
          </p:cNvCxnSpPr>
          <p:nvPr/>
        </p:nvCxnSpPr>
        <p:spPr bwMode="auto">
          <a:xfrm flipV="1">
            <a:off x="4953000" y="5267348"/>
            <a:ext cx="457200" cy="990600"/>
          </a:xfrm>
          <a:prstGeom prst="bentConnector2">
            <a:avLst/>
          </a:prstGeom>
          <a:noFill/>
          <a:ln w="38100">
            <a:solidFill>
              <a:srgbClr val="FF0000"/>
            </a:solidFill>
            <a:prstDash val="sysDot"/>
            <a:miter lim="800000"/>
            <a:headEnd/>
            <a:tailEnd type="triangle" w="med" len="med"/>
          </a:ln>
          <a:effectLst/>
        </p:spPr>
      </p:cxnSp>
      <p:sp>
        <p:nvSpPr>
          <p:cNvPr id="1458195" name="Oval 19"/>
          <p:cNvSpPr>
            <a:spLocks noChangeArrowheads="1"/>
          </p:cNvSpPr>
          <p:nvPr/>
        </p:nvSpPr>
        <p:spPr bwMode="auto">
          <a:xfrm>
            <a:off x="704850" y="6029348"/>
            <a:ext cx="990600" cy="533400"/>
          </a:xfrm>
          <a:prstGeom prst="ellipse">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lang="fi-FI" sz="1200" dirty="0">
                <a:solidFill>
                  <a:schemeClr val="bg1"/>
                </a:solidFill>
              </a:rPr>
              <a:t>Context </a:t>
            </a:r>
            <a:br>
              <a:rPr lang="fi-FI" sz="1200" dirty="0">
                <a:solidFill>
                  <a:schemeClr val="bg1"/>
                </a:solidFill>
              </a:rPr>
            </a:br>
            <a:r>
              <a:rPr lang="fi-FI" sz="1200" dirty="0">
                <a:solidFill>
                  <a:schemeClr val="bg1"/>
                </a:solidFill>
              </a:rPr>
              <a:t>factors</a:t>
            </a:r>
            <a:endParaRPr lang="en-GB" sz="1200" dirty="0">
              <a:solidFill>
                <a:schemeClr val="bg1"/>
              </a:solidFill>
            </a:endParaRPr>
          </a:p>
        </p:txBody>
      </p:sp>
      <p:sp>
        <p:nvSpPr>
          <p:cNvPr id="1458196" name="Oval 20"/>
          <p:cNvSpPr>
            <a:spLocks noChangeArrowheads="1"/>
          </p:cNvSpPr>
          <p:nvPr/>
        </p:nvSpPr>
        <p:spPr bwMode="auto">
          <a:xfrm>
            <a:off x="1447800" y="3057548"/>
            <a:ext cx="990600" cy="533400"/>
          </a:xfrm>
          <a:prstGeom prst="ellipse">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lang="fi-FI" sz="1200">
                <a:solidFill>
                  <a:schemeClr val="bg1"/>
                </a:solidFill>
              </a:rPr>
              <a:t>Risks</a:t>
            </a:r>
            <a:endParaRPr lang="en-GB" sz="1200" dirty="0">
              <a:solidFill>
                <a:schemeClr val="bg1"/>
              </a:solidFill>
            </a:endParaRPr>
          </a:p>
        </p:txBody>
      </p:sp>
      <p:sp>
        <p:nvSpPr>
          <p:cNvPr id="1458197" name="Oval 21"/>
          <p:cNvSpPr>
            <a:spLocks noChangeArrowheads="1"/>
          </p:cNvSpPr>
          <p:nvPr/>
        </p:nvSpPr>
        <p:spPr bwMode="auto">
          <a:xfrm>
            <a:off x="228600" y="2447948"/>
            <a:ext cx="990600" cy="533400"/>
          </a:xfrm>
          <a:prstGeom prst="ellipse">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lang="fi-FI" sz="1200">
                <a:solidFill>
                  <a:schemeClr val="bg1"/>
                </a:solidFill>
              </a:rPr>
              <a:t>Effectiveness</a:t>
            </a:r>
            <a:endParaRPr lang="en-GB" sz="1200" dirty="0">
              <a:solidFill>
                <a:schemeClr val="bg1"/>
              </a:solidFill>
            </a:endParaRPr>
          </a:p>
        </p:txBody>
      </p:sp>
      <p:cxnSp>
        <p:nvCxnSpPr>
          <p:cNvPr id="1458198" name="AutoShape 22"/>
          <p:cNvCxnSpPr>
            <a:cxnSpLocks noChangeShapeType="1"/>
            <a:stCxn id="1458197" idx="6"/>
            <a:endCxn id="1458188" idx="2"/>
          </p:cNvCxnSpPr>
          <p:nvPr/>
        </p:nvCxnSpPr>
        <p:spPr bwMode="auto">
          <a:xfrm>
            <a:off x="1219200" y="2714648"/>
            <a:ext cx="228600" cy="0"/>
          </a:xfrm>
          <a:prstGeom prst="straightConnector1">
            <a:avLst/>
          </a:prstGeom>
          <a:noFill/>
          <a:ln w="9525">
            <a:solidFill>
              <a:srgbClr val="000000"/>
            </a:solidFill>
            <a:round/>
            <a:headEnd/>
            <a:tailEnd/>
          </a:ln>
          <a:effectLst/>
        </p:spPr>
      </p:cxnSp>
      <p:cxnSp>
        <p:nvCxnSpPr>
          <p:cNvPr id="1458199" name="AutoShape 23"/>
          <p:cNvCxnSpPr>
            <a:cxnSpLocks noChangeShapeType="1"/>
            <a:stCxn id="1458196" idx="6"/>
            <a:endCxn id="1458178" idx="1"/>
          </p:cNvCxnSpPr>
          <p:nvPr/>
        </p:nvCxnSpPr>
        <p:spPr bwMode="auto">
          <a:xfrm flipV="1">
            <a:off x="2438400" y="2524148"/>
            <a:ext cx="381000" cy="800100"/>
          </a:xfrm>
          <a:prstGeom prst="bentConnector3">
            <a:avLst>
              <a:gd name="adj1" fmla="val 50000"/>
            </a:avLst>
          </a:prstGeom>
          <a:noFill/>
          <a:ln w="9525">
            <a:solidFill>
              <a:srgbClr val="000000"/>
            </a:solidFill>
            <a:miter lim="800000"/>
            <a:headEnd/>
            <a:tailEnd/>
          </a:ln>
          <a:effectLst/>
        </p:spPr>
      </p:cxnSp>
      <p:sp>
        <p:nvSpPr>
          <p:cNvPr id="1458200" name="Oval 24"/>
          <p:cNvSpPr>
            <a:spLocks noChangeArrowheads="1"/>
          </p:cNvSpPr>
          <p:nvPr/>
        </p:nvSpPr>
        <p:spPr bwMode="auto">
          <a:xfrm>
            <a:off x="228600" y="3057548"/>
            <a:ext cx="990600" cy="533400"/>
          </a:xfrm>
          <a:prstGeom prst="ellipse">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lang="fi-FI" sz="1200">
                <a:solidFill>
                  <a:schemeClr val="bg1"/>
                </a:solidFill>
              </a:rPr>
              <a:t>Impact</a:t>
            </a:r>
            <a:endParaRPr lang="en-GB" sz="1200" dirty="0">
              <a:solidFill>
                <a:schemeClr val="bg1"/>
              </a:solidFill>
            </a:endParaRPr>
          </a:p>
        </p:txBody>
      </p:sp>
      <p:cxnSp>
        <p:nvCxnSpPr>
          <p:cNvPr id="1458201" name="AutoShape 25"/>
          <p:cNvCxnSpPr>
            <a:cxnSpLocks noChangeShapeType="1"/>
            <a:stCxn id="1458200" idx="6"/>
            <a:endCxn id="1458188" idx="2"/>
          </p:cNvCxnSpPr>
          <p:nvPr/>
        </p:nvCxnSpPr>
        <p:spPr bwMode="auto">
          <a:xfrm flipV="1">
            <a:off x="1219200" y="2714648"/>
            <a:ext cx="228600" cy="609600"/>
          </a:xfrm>
          <a:prstGeom prst="bentConnector3">
            <a:avLst>
              <a:gd name="adj1" fmla="val 50000"/>
            </a:avLst>
          </a:prstGeom>
          <a:noFill/>
          <a:ln w="9525">
            <a:solidFill>
              <a:srgbClr val="000000"/>
            </a:solidFill>
            <a:miter lim="800000"/>
            <a:headEnd/>
            <a:tailEnd/>
          </a:ln>
          <a:effectLst/>
        </p:spPr>
      </p:cxnSp>
      <p:sp>
        <p:nvSpPr>
          <p:cNvPr id="1458202" name="Oval 26"/>
          <p:cNvSpPr>
            <a:spLocks noChangeArrowheads="1"/>
          </p:cNvSpPr>
          <p:nvPr/>
        </p:nvSpPr>
        <p:spPr bwMode="auto">
          <a:xfrm>
            <a:off x="1447800" y="3667148"/>
            <a:ext cx="990600" cy="533400"/>
          </a:xfrm>
          <a:prstGeom prst="ellipse">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lang="fi-FI" sz="1200">
                <a:solidFill>
                  <a:schemeClr val="bg1"/>
                </a:solidFill>
              </a:rPr>
              <a:t>Constraints</a:t>
            </a:r>
            <a:endParaRPr lang="en-GB" sz="1200" dirty="0">
              <a:solidFill>
                <a:schemeClr val="bg1"/>
              </a:solidFill>
            </a:endParaRPr>
          </a:p>
        </p:txBody>
      </p:sp>
      <p:cxnSp>
        <p:nvCxnSpPr>
          <p:cNvPr id="1458203" name="AutoShape 27"/>
          <p:cNvCxnSpPr>
            <a:cxnSpLocks noChangeShapeType="1"/>
            <a:stCxn id="1458202" idx="6"/>
            <a:endCxn id="1458178" idx="1"/>
          </p:cNvCxnSpPr>
          <p:nvPr/>
        </p:nvCxnSpPr>
        <p:spPr bwMode="auto">
          <a:xfrm flipV="1">
            <a:off x="2438400" y="2524148"/>
            <a:ext cx="381000" cy="1409700"/>
          </a:xfrm>
          <a:prstGeom prst="bentConnector3">
            <a:avLst>
              <a:gd name="adj1" fmla="val 50000"/>
            </a:avLst>
          </a:prstGeom>
          <a:noFill/>
          <a:ln w="9525">
            <a:solidFill>
              <a:srgbClr val="000000"/>
            </a:solidFill>
            <a:miter lim="800000"/>
            <a:headEnd/>
            <a:tailEnd/>
          </a:ln>
          <a:effectLst/>
        </p:spPr>
      </p:cxnSp>
      <p:sp>
        <p:nvSpPr>
          <p:cNvPr id="1458204" name="Line 28"/>
          <p:cNvSpPr>
            <a:spLocks noChangeShapeType="1"/>
          </p:cNvSpPr>
          <p:nvPr/>
        </p:nvSpPr>
        <p:spPr bwMode="auto">
          <a:xfrm flipV="1">
            <a:off x="1447800" y="5267348"/>
            <a:ext cx="0" cy="304800"/>
          </a:xfrm>
          <a:prstGeom prst="line">
            <a:avLst/>
          </a:prstGeom>
          <a:noFill/>
          <a:ln w="38100">
            <a:solidFill>
              <a:srgbClr val="FF9900"/>
            </a:solidFill>
            <a:round/>
            <a:headEnd/>
            <a:tailEnd type="triangle" w="med" len="med"/>
          </a:ln>
          <a:effectLst>
            <a:outerShdw dist="107763" dir="2700000" algn="ctr" rotWithShape="0">
              <a:schemeClr val="bg2"/>
            </a:outerShdw>
          </a:effectLst>
        </p:spPr>
        <p:txBody>
          <a:bodyPr anchor="ctr"/>
          <a:lstStyle/>
          <a:p>
            <a:endParaRPr lang="en-US" dirty="0"/>
          </a:p>
        </p:txBody>
      </p:sp>
      <p:sp>
        <p:nvSpPr>
          <p:cNvPr id="1458205" name="Line 29"/>
          <p:cNvSpPr>
            <a:spLocks noChangeShapeType="1"/>
          </p:cNvSpPr>
          <p:nvPr/>
        </p:nvSpPr>
        <p:spPr bwMode="auto">
          <a:xfrm flipV="1">
            <a:off x="7620000" y="5648348"/>
            <a:ext cx="0" cy="304800"/>
          </a:xfrm>
          <a:prstGeom prst="line">
            <a:avLst/>
          </a:prstGeom>
          <a:noFill/>
          <a:ln w="38100">
            <a:solidFill>
              <a:srgbClr val="FF9900"/>
            </a:solidFill>
            <a:round/>
            <a:headEnd/>
            <a:tailEnd type="triangle" w="med" len="med"/>
          </a:ln>
          <a:effectLst>
            <a:outerShdw dist="107763" dir="2700000" algn="ctr" rotWithShape="0">
              <a:schemeClr val="bg2"/>
            </a:outerShdw>
          </a:effectLst>
        </p:spPr>
        <p:txBody>
          <a:bodyPr anchor="ctr"/>
          <a:lstStyle/>
          <a:p>
            <a:endParaRPr lang="en-US" dirty="0"/>
          </a:p>
        </p:txBody>
      </p:sp>
      <p:sp>
        <p:nvSpPr>
          <p:cNvPr id="1458206" name="Text Box 30"/>
          <p:cNvSpPr txBox="1">
            <a:spLocks noChangeArrowheads="1"/>
          </p:cNvSpPr>
          <p:nvPr/>
        </p:nvSpPr>
        <p:spPr bwMode="auto">
          <a:xfrm>
            <a:off x="5791200" y="5648348"/>
            <a:ext cx="1828800" cy="457200"/>
          </a:xfrm>
          <a:prstGeom prst="rect">
            <a:avLst/>
          </a:prstGeom>
          <a:noFill/>
          <a:ln w="9525">
            <a:noFill/>
            <a:miter lim="800000"/>
            <a:headEnd/>
            <a:tailEnd/>
          </a:ln>
          <a:effectLst/>
        </p:spPr>
        <p:txBody>
          <a:bodyPr>
            <a:spAutoFit/>
          </a:bodyPr>
          <a:lstStyle/>
          <a:p>
            <a:pPr algn="ctr" eaLnBrk="1" hangingPunct="1">
              <a:spcBef>
                <a:spcPct val="50000"/>
              </a:spcBef>
            </a:pPr>
            <a:r>
              <a:rPr lang="fi-FI" sz="1200"/>
              <a:t>”there’s no evidence of test coverage”</a:t>
            </a:r>
            <a:endParaRPr lang="en-GB" sz="1200" dirty="0"/>
          </a:p>
        </p:txBody>
      </p:sp>
      <p:sp>
        <p:nvSpPr>
          <p:cNvPr id="1458207" name="Oval 31"/>
          <p:cNvSpPr>
            <a:spLocks noChangeArrowheads="1"/>
          </p:cNvSpPr>
          <p:nvPr/>
        </p:nvSpPr>
        <p:spPr bwMode="auto">
          <a:xfrm>
            <a:off x="8077200" y="5876948"/>
            <a:ext cx="990600" cy="533400"/>
          </a:xfrm>
          <a:prstGeom prst="ellipse">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lang="fi-FI" sz="1200">
                <a:solidFill>
                  <a:schemeClr val="bg1"/>
                </a:solidFill>
              </a:rPr>
              <a:t>Importance</a:t>
            </a:r>
            <a:endParaRPr lang="en-GB" sz="1200" dirty="0">
              <a:solidFill>
                <a:schemeClr val="bg1"/>
              </a:solidFill>
            </a:endParaRPr>
          </a:p>
        </p:txBody>
      </p:sp>
      <p:cxnSp>
        <p:nvCxnSpPr>
          <p:cNvPr id="1458208" name="AutoShape 32"/>
          <p:cNvCxnSpPr>
            <a:cxnSpLocks noChangeShapeType="1"/>
            <a:stCxn id="1458207" idx="0"/>
            <a:endCxn id="1458179" idx="2"/>
          </p:cNvCxnSpPr>
          <p:nvPr/>
        </p:nvCxnSpPr>
        <p:spPr bwMode="auto">
          <a:xfrm rot="5400000" flipH="1">
            <a:off x="8134350" y="5438798"/>
            <a:ext cx="228600" cy="647700"/>
          </a:xfrm>
          <a:prstGeom prst="bentConnector3">
            <a:avLst>
              <a:gd name="adj1" fmla="val 50000"/>
            </a:avLst>
          </a:prstGeom>
          <a:noFill/>
          <a:ln w="9525">
            <a:solidFill>
              <a:srgbClr val="000000"/>
            </a:solidFill>
            <a:miter lim="800000"/>
            <a:headEnd/>
            <a:tailEnd/>
          </a:ln>
          <a:effectLst/>
        </p:spPr>
      </p:cxnSp>
      <p:sp>
        <p:nvSpPr>
          <p:cNvPr id="1458209" name="Text Box 33"/>
          <p:cNvSpPr txBox="1">
            <a:spLocks noChangeArrowheads="1"/>
          </p:cNvSpPr>
          <p:nvPr/>
        </p:nvSpPr>
        <p:spPr bwMode="auto">
          <a:xfrm>
            <a:off x="4724400" y="1762148"/>
            <a:ext cx="1828800" cy="457200"/>
          </a:xfrm>
          <a:prstGeom prst="rect">
            <a:avLst/>
          </a:prstGeom>
          <a:noFill/>
          <a:ln w="9525">
            <a:noFill/>
            <a:miter lim="800000"/>
            <a:headEnd/>
            <a:tailEnd/>
          </a:ln>
          <a:effectLst/>
        </p:spPr>
        <p:txBody>
          <a:bodyPr>
            <a:spAutoFit/>
          </a:bodyPr>
          <a:lstStyle/>
          <a:p>
            <a:pPr algn="ctr" eaLnBrk="1" hangingPunct="1">
              <a:spcBef>
                <a:spcPct val="50000"/>
              </a:spcBef>
            </a:pPr>
            <a:r>
              <a:rPr lang="fi-FI" sz="1200"/>
              <a:t>”is there a coverage metric”</a:t>
            </a:r>
            <a:endParaRPr lang="en-GB" sz="1200" dirty="0"/>
          </a:p>
        </p:txBody>
      </p:sp>
      <p:cxnSp>
        <p:nvCxnSpPr>
          <p:cNvPr id="1458210" name="AutoShape 34"/>
          <p:cNvCxnSpPr>
            <a:cxnSpLocks noChangeShapeType="1"/>
            <a:stCxn id="1458180" idx="2"/>
            <a:endCxn id="1458195" idx="0"/>
          </p:cNvCxnSpPr>
          <p:nvPr/>
        </p:nvCxnSpPr>
        <p:spPr bwMode="black">
          <a:xfrm flipH="1">
            <a:off x="1200150" y="5267348"/>
            <a:ext cx="1588" cy="762000"/>
          </a:xfrm>
          <a:prstGeom prst="straightConnector1">
            <a:avLst/>
          </a:prstGeom>
          <a:noFill/>
          <a:ln w="12700">
            <a:solidFill>
              <a:schemeClr val="tx1"/>
            </a:solidFill>
            <a:round/>
            <a:headEnd/>
            <a:tailEnd/>
          </a:ln>
          <a:effectLst/>
        </p:spPr>
      </p:cxnSp>
      <p:sp>
        <p:nvSpPr>
          <p:cNvPr id="36" name="Slide Number Placeholder 35"/>
          <p:cNvSpPr>
            <a:spLocks noGrp="1"/>
          </p:cNvSpPr>
          <p:nvPr>
            <p:ph type="sldNum" sz="quarter" idx="12"/>
          </p:nvPr>
        </p:nvSpPr>
        <p:spPr/>
        <p:txBody>
          <a:bodyPr/>
          <a:lstStyle/>
          <a:p>
            <a:fld id="{B6F15528-21DE-4FAA-801E-634DDDAF4B2B}" type="slidenum">
              <a:rPr lang="en-US" smtClean="0"/>
              <a:pPr/>
              <a:t>7</a:t>
            </a:fld>
            <a:endParaRPr lang="en-US" dirty="0"/>
          </a:p>
        </p:txBody>
      </p:sp>
      <p:sp>
        <p:nvSpPr>
          <p:cNvPr id="37" name="Footer Placeholder 36"/>
          <p:cNvSpPr>
            <a:spLocks noGrp="1"/>
          </p:cNvSpPr>
          <p:nvPr>
            <p:ph type="ftr" sz="quarter" idx="11"/>
          </p:nvPr>
        </p:nvSpPr>
        <p:spPr/>
        <p:txBody>
          <a:bodyPr/>
          <a:lstStyle/>
          <a:p>
            <a:r>
              <a:rPr lang="en-US" smtClean="0"/>
              <a:t>DAY 2</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Basic Principles of Lean Development</a:t>
            </a:r>
            <a:endParaRPr lang="fi-FI" dirty="0"/>
          </a:p>
        </p:txBody>
      </p:sp>
      <p:sp>
        <p:nvSpPr>
          <p:cNvPr id="3" name="Content Placeholder 2"/>
          <p:cNvSpPr>
            <a:spLocks noGrp="1"/>
          </p:cNvSpPr>
          <p:nvPr>
            <p:ph idx="1"/>
          </p:nvPr>
        </p:nvSpPr>
        <p:spPr/>
        <p:txBody>
          <a:bodyPr/>
          <a:lstStyle/>
          <a:p>
            <a:r>
              <a:rPr lang="fi-FI" dirty="0" smtClean="0"/>
              <a:t>Add nothing but value (Eliminate waste)</a:t>
            </a:r>
          </a:p>
          <a:p>
            <a:r>
              <a:rPr lang="fi-FI" dirty="0" smtClean="0"/>
              <a:t>Center on the people who add value</a:t>
            </a:r>
          </a:p>
          <a:p>
            <a:r>
              <a:rPr lang="fi-FI" dirty="0" smtClean="0"/>
              <a:t>Flow value on demand (Delay commitment)</a:t>
            </a:r>
          </a:p>
          <a:p>
            <a:r>
              <a:rPr lang="fi-FI" dirty="0" smtClean="0"/>
              <a:t>Optimize across organizations</a:t>
            </a:r>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dirty="0"/>
          </a:p>
        </p:txBody>
      </p:sp>
      <p:sp>
        <p:nvSpPr>
          <p:cNvPr id="5" name="Footer Placeholder 4"/>
          <p:cNvSpPr>
            <a:spLocks noGrp="1"/>
          </p:cNvSpPr>
          <p:nvPr>
            <p:ph type="ftr" sz="quarter" idx="11"/>
          </p:nvPr>
        </p:nvSpPr>
        <p:spPr/>
        <p:txBody>
          <a:bodyPr/>
          <a:lstStyle/>
          <a:p>
            <a:r>
              <a:rPr lang="en-US" smtClean="0"/>
              <a:t>DAY 2</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The Seven Wastes of Software Development</a:t>
            </a:r>
            <a:endParaRPr lang="fi-FI" dirty="0"/>
          </a:p>
        </p:txBody>
      </p:sp>
      <p:sp>
        <p:nvSpPr>
          <p:cNvPr id="3" name="Content Placeholder 2"/>
          <p:cNvSpPr>
            <a:spLocks noGrp="1"/>
          </p:cNvSpPr>
          <p:nvPr>
            <p:ph idx="1"/>
          </p:nvPr>
        </p:nvSpPr>
        <p:spPr/>
        <p:txBody>
          <a:bodyPr/>
          <a:lstStyle/>
          <a:p>
            <a:r>
              <a:rPr lang="fi-FI" dirty="0" smtClean="0"/>
              <a:t>Overproduction = Extra features</a:t>
            </a:r>
          </a:p>
          <a:p>
            <a:r>
              <a:rPr lang="fi-FI" dirty="0" smtClean="0"/>
              <a:t>Inventory = Requirements </a:t>
            </a:r>
          </a:p>
          <a:p>
            <a:r>
              <a:rPr lang="fi-FI" dirty="0" smtClean="0"/>
              <a:t>Extra processing steps = Extra steps</a:t>
            </a:r>
          </a:p>
          <a:p>
            <a:r>
              <a:rPr lang="fi-FI" dirty="0" smtClean="0"/>
              <a:t>Motion = Finding information</a:t>
            </a:r>
          </a:p>
          <a:p>
            <a:r>
              <a:rPr lang="fi-FI" dirty="0" smtClean="0"/>
              <a:t>Defects = Defects not caught by tests</a:t>
            </a:r>
          </a:p>
          <a:p>
            <a:r>
              <a:rPr lang="fi-FI" dirty="0" smtClean="0"/>
              <a:t>Waiting = Waiting, including customers</a:t>
            </a:r>
          </a:p>
          <a:p>
            <a:r>
              <a:rPr lang="fi-FI" dirty="0" smtClean="0"/>
              <a:t>Transportation = Handoffs</a:t>
            </a:r>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dirty="0"/>
          </a:p>
        </p:txBody>
      </p:sp>
      <p:sp>
        <p:nvSpPr>
          <p:cNvPr id="5" name="Footer Placeholder 4"/>
          <p:cNvSpPr>
            <a:spLocks noGrp="1"/>
          </p:cNvSpPr>
          <p:nvPr>
            <p:ph type="ftr" sz="quarter" idx="11"/>
          </p:nvPr>
        </p:nvSpPr>
        <p:spPr/>
        <p:txBody>
          <a:bodyPr/>
          <a:lstStyle/>
          <a:p>
            <a:r>
              <a:rPr lang="en-US" smtClean="0"/>
              <a:t>DAY 2</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Hints on Evolving and Improving Testing Practices</a:t>
            </a:r>
            <a:endParaRPr lang="fi-FI" dirty="0"/>
          </a:p>
        </p:txBody>
      </p:sp>
      <p:grpSp>
        <p:nvGrpSpPr>
          <p:cNvPr id="3" name="Group 9"/>
          <p:cNvGrpSpPr/>
          <p:nvPr/>
        </p:nvGrpSpPr>
        <p:grpSpPr>
          <a:xfrm>
            <a:off x="457200" y="1981200"/>
            <a:ext cx="8382000" cy="4572000"/>
            <a:chOff x="457200" y="1981200"/>
            <a:chExt cx="8382000" cy="4572000"/>
          </a:xfrm>
        </p:grpSpPr>
        <p:sp>
          <p:nvSpPr>
            <p:cNvPr id="4" name="Rectangle 3"/>
            <p:cNvSpPr/>
            <p:nvPr/>
          </p:nvSpPr>
          <p:spPr>
            <a:xfrm>
              <a:off x="457200" y="1981200"/>
              <a:ext cx="4114800" cy="359094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sz="2800" dirty="0" smtClean="0"/>
                <a:t>Retrospectives: Regular Process Reflection to Improve Practices</a:t>
              </a:r>
              <a:endParaRPr lang="fi-FI" sz="2800" dirty="0"/>
            </a:p>
          </p:txBody>
        </p:sp>
        <p:sp>
          <p:nvSpPr>
            <p:cNvPr id="6" name="Rectangle 5"/>
            <p:cNvSpPr/>
            <p:nvPr/>
          </p:nvSpPr>
          <p:spPr>
            <a:xfrm>
              <a:off x="4929190" y="2857496"/>
              <a:ext cx="3910010" cy="369570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sz="2800" dirty="0" smtClean="0"/>
                <a:t>Showing the Big Picture of Improvement and Status</a:t>
              </a:r>
              <a:endParaRPr lang="fi-FI" sz="2800" dirty="0"/>
            </a:p>
          </p:txBody>
        </p:sp>
      </p:grpSp>
      <p:sp>
        <p:nvSpPr>
          <p:cNvPr id="15" name="Slide Number Placeholder 14"/>
          <p:cNvSpPr>
            <a:spLocks noGrp="1"/>
          </p:cNvSpPr>
          <p:nvPr>
            <p:ph type="sldNum" sz="quarter" idx="12"/>
          </p:nvPr>
        </p:nvSpPr>
        <p:spPr/>
        <p:txBody>
          <a:bodyPr/>
          <a:lstStyle/>
          <a:p>
            <a:fld id="{B6F15528-21DE-4FAA-801E-634DDDAF4B2B}" type="slidenum">
              <a:rPr lang="en-US" smtClean="0"/>
              <a:pPr/>
              <a:t>10</a:t>
            </a:fld>
            <a:endParaRPr lang="en-US" dirty="0"/>
          </a:p>
        </p:txBody>
      </p:sp>
      <p:sp>
        <p:nvSpPr>
          <p:cNvPr id="7" name="Footer Placeholder 6"/>
          <p:cNvSpPr>
            <a:spLocks noGrp="1"/>
          </p:cNvSpPr>
          <p:nvPr>
            <p:ph type="ftr" sz="quarter" idx="11"/>
          </p:nvPr>
        </p:nvSpPr>
        <p:spPr/>
        <p:txBody>
          <a:bodyPr/>
          <a:lstStyle/>
          <a:p>
            <a:r>
              <a:rPr lang="en-US" smtClean="0"/>
              <a:t>DAY 2</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Retrospectives: Improvement from Bottom-Up</a:t>
            </a:r>
            <a:endParaRPr lang="en-US" dirty="0"/>
          </a:p>
        </p:txBody>
      </p:sp>
      <p:sp>
        <p:nvSpPr>
          <p:cNvPr id="3" name="Content Placeholder 2"/>
          <p:cNvSpPr>
            <a:spLocks noGrp="1"/>
          </p:cNvSpPr>
          <p:nvPr>
            <p:ph idx="1"/>
          </p:nvPr>
        </p:nvSpPr>
        <p:spPr/>
        <p:txBody>
          <a:bodyPr>
            <a:normAutofit fontScale="70000" lnSpcReduction="20000"/>
          </a:bodyPr>
          <a:lstStyle/>
          <a:p>
            <a:r>
              <a:rPr lang="en-GB" dirty="0" smtClean="0"/>
              <a:t>Team retrospectives: inspect and </a:t>
            </a:r>
            <a:br>
              <a:rPr lang="en-GB" dirty="0" smtClean="0"/>
            </a:br>
            <a:r>
              <a:rPr lang="en-GB" dirty="0" smtClean="0"/>
              <a:t>adapt</a:t>
            </a:r>
          </a:p>
          <a:p>
            <a:pPr lvl="1"/>
            <a:r>
              <a:rPr lang="en-GB" dirty="0" smtClean="0"/>
              <a:t>Inspect: Look at what we were trying to do and did against values, principles, practices, goals</a:t>
            </a:r>
          </a:p>
          <a:p>
            <a:pPr lvl="1"/>
            <a:r>
              <a:rPr lang="en-GB" dirty="0" smtClean="0"/>
              <a:t>Adapt: Decide on changes, and have them in place for next iteration</a:t>
            </a:r>
          </a:p>
          <a:p>
            <a:r>
              <a:rPr lang="en-GB" dirty="0" smtClean="0"/>
              <a:t>Dig into symptoms and root causes </a:t>
            </a:r>
          </a:p>
          <a:p>
            <a:pPr lvl="1"/>
            <a:r>
              <a:rPr lang="en-GB" dirty="0" smtClean="0"/>
              <a:t>Understanding what really is the issue to fix is relevant</a:t>
            </a:r>
          </a:p>
          <a:p>
            <a:pPr lvl="1"/>
            <a:r>
              <a:rPr lang="en-GB" dirty="0" smtClean="0"/>
              <a:t>E.g. “Project manager and test manager argue” </a:t>
            </a:r>
            <a:r>
              <a:rPr lang="en-GB" dirty="0" smtClean="0">
                <a:sym typeface="Wingdings" pitchFamily="2" charset="2"/>
              </a:rPr>
              <a:t> Teams don’t get heard on their opinion on quality</a:t>
            </a:r>
          </a:p>
          <a:p>
            <a:pPr>
              <a:lnSpc>
                <a:spcPct val="110000"/>
              </a:lnSpc>
            </a:pPr>
            <a:r>
              <a:rPr lang="en-GB" dirty="0" smtClean="0"/>
              <a:t>Some ideas:</a:t>
            </a:r>
          </a:p>
          <a:p>
            <a:pPr lvl="1">
              <a:lnSpc>
                <a:spcPct val="90000"/>
              </a:lnSpc>
            </a:pPr>
            <a:r>
              <a:rPr lang="en-GB" sz="2200" dirty="0" smtClean="0"/>
              <a:t>List of things people have said about the team’s performance and practices to analyze, 5*WHY</a:t>
            </a:r>
          </a:p>
          <a:p>
            <a:pPr lvl="1">
              <a:lnSpc>
                <a:spcPct val="90000"/>
              </a:lnSpc>
            </a:pPr>
            <a:r>
              <a:rPr lang="en-GB" sz="2200" dirty="0" smtClean="0"/>
              <a:t>Go through the team practices, analyze for better return on investment</a:t>
            </a:r>
          </a:p>
          <a:p>
            <a:pPr lvl="1">
              <a:lnSpc>
                <a:spcPct val="90000"/>
              </a:lnSpc>
            </a:pPr>
            <a:r>
              <a:rPr lang="en-GB" sz="2200" dirty="0" smtClean="0"/>
              <a:t>Drop or replace something that the team wanted to keep for a limited timeframe</a:t>
            </a:r>
          </a:p>
          <a:p>
            <a:pPr lvl="1"/>
            <a:endParaRPr lang="en-US" dirty="0"/>
          </a:p>
        </p:txBody>
      </p:sp>
      <p:sp>
        <p:nvSpPr>
          <p:cNvPr id="4" name="TextBox 3"/>
          <p:cNvSpPr txBox="1"/>
          <p:nvPr/>
        </p:nvSpPr>
        <p:spPr>
          <a:xfrm>
            <a:off x="6400800" y="1066800"/>
            <a:ext cx="2438400" cy="120032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dirty="0" smtClean="0"/>
              <a:t>Consider: What a team can change without involving others directly?</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dirty="0"/>
          </a:p>
        </p:txBody>
      </p:sp>
      <p:sp>
        <p:nvSpPr>
          <p:cNvPr id="7" name="Footer Placeholder 6"/>
          <p:cNvSpPr>
            <a:spLocks noGrp="1"/>
          </p:cNvSpPr>
          <p:nvPr>
            <p:ph type="ftr" sz="quarter" idx="11"/>
          </p:nvPr>
        </p:nvSpPr>
        <p:spPr/>
        <p:txBody>
          <a:bodyPr/>
          <a:lstStyle/>
          <a:p>
            <a:r>
              <a:rPr lang="en-US" smtClean="0"/>
              <a:t>DAY 2</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Retrospectives: One </a:t>
            </a:r>
            <a:br>
              <a:rPr lang="fi-FI" dirty="0" smtClean="0"/>
            </a:br>
            <a:r>
              <a:rPr lang="fi-FI" dirty="0" smtClean="0"/>
              <a:t>Typical Formula</a:t>
            </a:r>
            <a:endParaRPr lang="fi-FI" dirty="0"/>
          </a:p>
        </p:txBody>
      </p:sp>
      <p:sp>
        <p:nvSpPr>
          <p:cNvPr id="3" name="Content Placeholder 2"/>
          <p:cNvSpPr>
            <a:spLocks noGrp="1"/>
          </p:cNvSpPr>
          <p:nvPr>
            <p:ph idx="1"/>
          </p:nvPr>
        </p:nvSpPr>
        <p:spPr/>
        <p:txBody>
          <a:bodyPr>
            <a:normAutofit fontScale="85000" lnSpcReduction="20000"/>
          </a:bodyPr>
          <a:lstStyle/>
          <a:p>
            <a:r>
              <a:rPr lang="fi-FI" dirty="0" smtClean="0"/>
              <a:t>Identify</a:t>
            </a:r>
          </a:p>
          <a:p>
            <a:pPr lvl="1"/>
            <a:r>
              <a:rPr lang="fi-FI" dirty="0" smtClean="0"/>
              <a:t>Keep: Things that work well and should remain</a:t>
            </a:r>
          </a:p>
          <a:p>
            <a:pPr lvl="1"/>
            <a:r>
              <a:rPr lang="fi-FI" dirty="0" smtClean="0"/>
              <a:t>Drop: Things that don’t work well and should be changed:</a:t>
            </a:r>
          </a:p>
          <a:p>
            <a:pPr lvl="1"/>
            <a:r>
              <a:rPr lang="fi-FI" dirty="0" smtClean="0"/>
              <a:t>Try: Things that could change state as it is now for positive</a:t>
            </a:r>
          </a:p>
          <a:p>
            <a:pPr lvl="1"/>
            <a:r>
              <a:rPr lang="fi-FI" dirty="0" smtClean="0"/>
              <a:t>Joker: Anything outside the other categories, freeform ideas</a:t>
            </a:r>
          </a:p>
          <a:p>
            <a:r>
              <a:rPr lang="fi-FI" dirty="0" smtClean="0"/>
              <a:t>Group</a:t>
            </a:r>
          </a:p>
          <a:p>
            <a:pPr lvl="1"/>
            <a:r>
              <a:rPr lang="fi-FI" dirty="0" smtClean="0"/>
              <a:t>Similar ideas from many participants</a:t>
            </a:r>
          </a:p>
          <a:p>
            <a:r>
              <a:rPr lang="fi-FI" dirty="0" smtClean="0"/>
              <a:t>Prioritize</a:t>
            </a:r>
          </a:p>
          <a:p>
            <a:pPr lvl="1"/>
            <a:r>
              <a:rPr lang="fi-FI" dirty="0" smtClean="0"/>
              <a:t>Team voting on what is most relevant</a:t>
            </a:r>
          </a:p>
          <a:p>
            <a:r>
              <a:rPr lang="fi-FI" dirty="0" smtClean="0"/>
              <a:t>Agree on actions</a:t>
            </a:r>
          </a:p>
          <a:p>
            <a:pPr lvl="1"/>
            <a:r>
              <a:rPr lang="fi-FI" dirty="0" smtClean="0"/>
              <a:t>What changes will happen NOW</a:t>
            </a:r>
            <a:endParaRPr lang="fi-FI" dirty="0"/>
          </a:p>
        </p:txBody>
      </p:sp>
      <p:sp>
        <p:nvSpPr>
          <p:cNvPr id="12" name="Slide Number Placeholder 11"/>
          <p:cNvSpPr>
            <a:spLocks noGrp="1"/>
          </p:cNvSpPr>
          <p:nvPr>
            <p:ph type="sldNum" sz="quarter" idx="12"/>
          </p:nvPr>
        </p:nvSpPr>
        <p:spPr/>
        <p:txBody>
          <a:bodyPr/>
          <a:lstStyle/>
          <a:p>
            <a:fld id="{B6F15528-21DE-4FAA-801E-634DDDAF4B2B}" type="slidenum">
              <a:rPr lang="en-US" smtClean="0"/>
              <a:pPr/>
              <a:t>12</a:t>
            </a:fld>
            <a:endParaRPr lang="en-US" dirty="0"/>
          </a:p>
        </p:txBody>
      </p:sp>
      <p:sp>
        <p:nvSpPr>
          <p:cNvPr id="5" name="Footer Placeholder 4"/>
          <p:cNvSpPr>
            <a:spLocks noGrp="1"/>
          </p:cNvSpPr>
          <p:nvPr>
            <p:ph type="ftr" sz="quarter" idx="11"/>
          </p:nvPr>
        </p:nvSpPr>
        <p:spPr/>
        <p:txBody>
          <a:bodyPr/>
          <a:lstStyle/>
          <a:p>
            <a:r>
              <a:rPr lang="en-US" smtClean="0"/>
              <a:t>DAY 2</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Different Retrospectives</a:t>
            </a:r>
            <a:endParaRPr lang="fi-FI" dirty="0"/>
          </a:p>
        </p:txBody>
      </p:sp>
      <p:sp>
        <p:nvSpPr>
          <p:cNvPr id="4" name="Rectangle 3"/>
          <p:cNvSpPr/>
          <p:nvPr/>
        </p:nvSpPr>
        <p:spPr>
          <a:xfrm>
            <a:off x="381000" y="1828800"/>
            <a:ext cx="25908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Team Retrospective</a:t>
            </a:r>
            <a:endParaRPr lang="fi-FI" dirty="0"/>
          </a:p>
        </p:txBody>
      </p:sp>
      <p:sp>
        <p:nvSpPr>
          <p:cNvPr id="5" name="Rectangle 4"/>
          <p:cNvSpPr/>
          <p:nvPr/>
        </p:nvSpPr>
        <p:spPr>
          <a:xfrm>
            <a:off x="3352800" y="1828800"/>
            <a:ext cx="25908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Multi-Team Retrospective</a:t>
            </a:r>
            <a:endParaRPr lang="fi-FI" dirty="0"/>
          </a:p>
        </p:txBody>
      </p:sp>
      <p:sp>
        <p:nvSpPr>
          <p:cNvPr id="6" name="Rectangle 5"/>
          <p:cNvSpPr/>
          <p:nvPr/>
        </p:nvSpPr>
        <p:spPr>
          <a:xfrm>
            <a:off x="6248400" y="1828800"/>
            <a:ext cx="25908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Functional Retrospective</a:t>
            </a:r>
            <a:endParaRPr lang="fi-FI" dirty="0"/>
          </a:p>
        </p:txBody>
      </p:sp>
      <p:sp>
        <p:nvSpPr>
          <p:cNvPr id="7" name="Rectangle 6"/>
          <p:cNvSpPr/>
          <p:nvPr/>
        </p:nvSpPr>
        <p:spPr>
          <a:xfrm>
            <a:off x="457200" y="5638800"/>
            <a:ext cx="8229600" cy="8382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When you need improvement, you set up a proper audience to discuss and make things happen. </a:t>
            </a:r>
            <a:endParaRPr lang="fi-FI" dirty="0"/>
          </a:p>
        </p:txBody>
      </p:sp>
      <p:sp>
        <p:nvSpPr>
          <p:cNvPr id="8" name="TextBox 7"/>
          <p:cNvSpPr txBox="1"/>
          <p:nvPr/>
        </p:nvSpPr>
        <p:spPr>
          <a:xfrm>
            <a:off x="381000" y="3352800"/>
            <a:ext cx="2667000" cy="2031325"/>
          </a:xfrm>
          <a:prstGeom prst="rect">
            <a:avLst/>
          </a:prstGeom>
          <a:noFill/>
        </p:spPr>
        <p:txBody>
          <a:bodyPr wrap="square" rtlCol="0">
            <a:spAutoFit/>
          </a:bodyPr>
          <a:lstStyle/>
          <a:p>
            <a:pPr>
              <a:buFont typeface="Arial" pitchFamily="34" charset="0"/>
              <a:buChar char="•"/>
            </a:pPr>
            <a:r>
              <a:rPr lang="fi-FI" dirty="0" smtClean="0"/>
              <a:t> Most typical</a:t>
            </a:r>
          </a:p>
          <a:p>
            <a:pPr>
              <a:buFont typeface="Arial" pitchFamily="34" charset="0"/>
              <a:buChar char="•"/>
            </a:pPr>
            <a:r>
              <a:rPr lang="fi-FI" dirty="0" smtClean="0"/>
              <a:t> Global improvement from one point of view</a:t>
            </a:r>
          </a:p>
          <a:p>
            <a:pPr>
              <a:buFont typeface="Arial" pitchFamily="34" charset="0"/>
              <a:buChar char="•"/>
            </a:pPr>
            <a:r>
              <a:rPr lang="fi-FI" dirty="0" smtClean="0"/>
              <a:t> Often feelings of powerlessness on bigger issues</a:t>
            </a:r>
            <a:endParaRPr lang="fi-FI" dirty="0"/>
          </a:p>
        </p:txBody>
      </p:sp>
      <p:sp>
        <p:nvSpPr>
          <p:cNvPr id="9" name="TextBox 8"/>
          <p:cNvSpPr txBox="1"/>
          <p:nvPr/>
        </p:nvSpPr>
        <p:spPr>
          <a:xfrm>
            <a:off x="3352800" y="3352800"/>
            <a:ext cx="2667000" cy="1477328"/>
          </a:xfrm>
          <a:prstGeom prst="rect">
            <a:avLst/>
          </a:prstGeom>
          <a:noFill/>
        </p:spPr>
        <p:txBody>
          <a:bodyPr wrap="square" rtlCol="0">
            <a:spAutoFit/>
          </a:bodyPr>
          <a:lstStyle/>
          <a:p>
            <a:pPr>
              <a:buFont typeface="Arial" pitchFamily="34" charset="0"/>
              <a:buChar char="•"/>
            </a:pPr>
            <a:r>
              <a:rPr lang="fi-FI" dirty="0" smtClean="0"/>
              <a:t>  Representatives of various teams</a:t>
            </a:r>
          </a:p>
          <a:p>
            <a:pPr>
              <a:buFont typeface="Arial" pitchFamily="34" charset="0"/>
              <a:buChar char="•"/>
            </a:pPr>
            <a:r>
              <a:rPr lang="fi-FI" dirty="0" smtClean="0"/>
              <a:t> Triggers cross-team discussion and improvement</a:t>
            </a:r>
          </a:p>
        </p:txBody>
      </p:sp>
      <p:sp>
        <p:nvSpPr>
          <p:cNvPr id="10" name="TextBox 9"/>
          <p:cNvSpPr txBox="1"/>
          <p:nvPr/>
        </p:nvSpPr>
        <p:spPr>
          <a:xfrm>
            <a:off x="6248400" y="3352800"/>
            <a:ext cx="2667000" cy="1754326"/>
          </a:xfrm>
          <a:prstGeom prst="rect">
            <a:avLst/>
          </a:prstGeom>
          <a:noFill/>
        </p:spPr>
        <p:txBody>
          <a:bodyPr wrap="square" rtlCol="0">
            <a:spAutoFit/>
          </a:bodyPr>
          <a:lstStyle/>
          <a:p>
            <a:pPr>
              <a:buFont typeface="Arial" pitchFamily="34" charset="0"/>
              <a:buChar char="•"/>
            </a:pPr>
            <a:r>
              <a:rPr lang="fi-FI" dirty="0" smtClean="0"/>
              <a:t>  Function could be e.g. Testing </a:t>
            </a:r>
          </a:p>
          <a:p>
            <a:pPr>
              <a:buFont typeface="Arial" pitchFamily="34" charset="0"/>
              <a:buChar char="•"/>
            </a:pPr>
            <a:r>
              <a:rPr lang="fi-FI" dirty="0" smtClean="0"/>
              <a:t> Bring together people with common theme to exchange ideas </a:t>
            </a:r>
          </a:p>
        </p:txBody>
      </p:sp>
      <p:sp>
        <p:nvSpPr>
          <p:cNvPr id="15" name="Slide Number Placeholder 14"/>
          <p:cNvSpPr>
            <a:spLocks noGrp="1"/>
          </p:cNvSpPr>
          <p:nvPr>
            <p:ph type="sldNum" sz="quarter" idx="12"/>
          </p:nvPr>
        </p:nvSpPr>
        <p:spPr/>
        <p:txBody>
          <a:bodyPr/>
          <a:lstStyle/>
          <a:p>
            <a:fld id="{B6F15528-21DE-4FAA-801E-634DDDAF4B2B}" type="slidenum">
              <a:rPr lang="en-US" smtClean="0"/>
              <a:pPr/>
              <a:t>13</a:t>
            </a:fld>
            <a:endParaRPr lang="en-US" dirty="0"/>
          </a:p>
        </p:txBody>
      </p:sp>
      <p:sp>
        <p:nvSpPr>
          <p:cNvPr id="11" name="Footer Placeholder 10"/>
          <p:cNvSpPr>
            <a:spLocks noGrp="1"/>
          </p:cNvSpPr>
          <p:nvPr>
            <p:ph type="ftr" sz="quarter" idx="11"/>
          </p:nvPr>
        </p:nvSpPr>
        <p:spPr/>
        <p:txBody>
          <a:bodyPr/>
          <a:lstStyle/>
          <a:p>
            <a:r>
              <a:rPr lang="en-US" smtClean="0"/>
              <a:t>DAY 2</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Multi-team Setting for Improvement</a:t>
            </a:r>
            <a:endParaRPr lang="fi-FI" dirty="0"/>
          </a:p>
        </p:txBody>
      </p:sp>
      <p:sp>
        <p:nvSpPr>
          <p:cNvPr id="3" name="Content Placeholder 2"/>
          <p:cNvSpPr>
            <a:spLocks noGrp="1"/>
          </p:cNvSpPr>
          <p:nvPr>
            <p:ph idx="1"/>
          </p:nvPr>
        </p:nvSpPr>
        <p:spPr/>
        <p:txBody>
          <a:bodyPr/>
          <a:lstStyle/>
          <a:p>
            <a:r>
              <a:rPr lang="fi-FI" dirty="0" smtClean="0"/>
              <a:t>When there’s several teams, each should identify and fix things regarding the whole</a:t>
            </a:r>
          </a:p>
          <a:p>
            <a:r>
              <a:rPr lang="fi-FI" dirty="0" smtClean="0"/>
              <a:t>In practice, separation of concerns happens and without support it is easy to turn inwards – ”our team does this, we should improve our things”</a:t>
            </a:r>
          </a:p>
          <a:p>
            <a:r>
              <a:rPr lang="fi-FI" dirty="0" smtClean="0"/>
              <a:t>Role of a facilitator essential: help in thinking global improvement</a:t>
            </a:r>
          </a:p>
        </p:txBody>
      </p:sp>
      <p:sp>
        <p:nvSpPr>
          <p:cNvPr id="12" name="Slide Number Placeholder 11"/>
          <p:cNvSpPr>
            <a:spLocks noGrp="1"/>
          </p:cNvSpPr>
          <p:nvPr>
            <p:ph type="sldNum" sz="quarter" idx="12"/>
          </p:nvPr>
        </p:nvSpPr>
        <p:spPr/>
        <p:txBody>
          <a:bodyPr/>
          <a:lstStyle/>
          <a:p>
            <a:fld id="{B6F15528-21DE-4FAA-801E-634DDDAF4B2B}" type="slidenum">
              <a:rPr lang="en-US" smtClean="0"/>
              <a:pPr/>
              <a:t>14</a:t>
            </a:fld>
            <a:endParaRPr lang="en-US" dirty="0"/>
          </a:p>
        </p:txBody>
      </p:sp>
      <p:sp>
        <p:nvSpPr>
          <p:cNvPr id="5" name="Footer Placeholder 4"/>
          <p:cNvSpPr>
            <a:spLocks noGrp="1"/>
          </p:cNvSpPr>
          <p:nvPr>
            <p:ph type="ftr" sz="quarter" idx="11"/>
          </p:nvPr>
        </p:nvSpPr>
        <p:spPr/>
        <p:txBody>
          <a:bodyPr/>
          <a:lstStyle/>
          <a:p>
            <a:r>
              <a:rPr lang="en-US" smtClean="0"/>
              <a:t>DAY 2</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Retrospective Is an </a:t>
            </a:r>
            <a:br>
              <a:rPr lang="en-GB" dirty="0" smtClean="0"/>
            </a:br>
            <a:r>
              <a:rPr lang="en-GB" dirty="0" smtClean="0"/>
              <a:t>In-team Mechanism</a:t>
            </a:r>
            <a:endParaRPr lang="en-US" dirty="0"/>
          </a:p>
        </p:txBody>
      </p:sp>
      <p:sp>
        <p:nvSpPr>
          <p:cNvPr id="3" name="Content Placeholder 2"/>
          <p:cNvSpPr>
            <a:spLocks noGrp="1"/>
          </p:cNvSpPr>
          <p:nvPr>
            <p:ph idx="1"/>
          </p:nvPr>
        </p:nvSpPr>
        <p:spPr/>
        <p:txBody>
          <a:bodyPr/>
          <a:lstStyle/>
          <a:p>
            <a:r>
              <a:rPr lang="en-GB" dirty="0" smtClean="0"/>
              <a:t>For larger projects, the cross-team or cross-organization issues don’t get easily tackled with the local in-team retrospectives</a:t>
            </a:r>
          </a:p>
          <a:p>
            <a:r>
              <a:rPr lang="en-GB" dirty="0" smtClean="0"/>
              <a:t>For scaling:</a:t>
            </a:r>
          </a:p>
          <a:p>
            <a:pPr lvl="1"/>
            <a:r>
              <a:rPr lang="en-GB" dirty="0" smtClean="0"/>
              <a:t>Team representatives retrospective</a:t>
            </a:r>
          </a:p>
          <a:p>
            <a:pPr lvl="1"/>
            <a:r>
              <a:rPr lang="en-GB" dirty="0" smtClean="0"/>
              <a:t>Scrum masters retrospective</a:t>
            </a:r>
          </a:p>
          <a:p>
            <a:pPr lvl="1"/>
            <a:r>
              <a:rPr lang="en-GB" dirty="0" smtClean="0"/>
              <a:t>Mechanisms for including larger investments into being better in the product backlog</a:t>
            </a:r>
            <a:endParaRPr lang="en-US" dirty="0"/>
          </a:p>
        </p:txBody>
      </p:sp>
      <p:sp>
        <p:nvSpPr>
          <p:cNvPr id="4" name="Slide Number Placeholder 3"/>
          <p:cNvSpPr>
            <a:spLocks noGrp="1"/>
          </p:cNvSpPr>
          <p:nvPr>
            <p:ph type="sldNum" sz="quarter" idx="12"/>
          </p:nvPr>
        </p:nvSpPr>
        <p:spPr/>
        <p:txBody>
          <a:bodyPr/>
          <a:lstStyle/>
          <a:p>
            <a:fld id="{227F0B53-9592-4779-891F-997228E46E01}" type="slidenum">
              <a:rPr lang="sv-SE" smtClean="0"/>
              <a:pPr/>
              <a:t>15</a:t>
            </a:fld>
            <a:endParaRPr lang="sv-SE"/>
          </a:p>
        </p:txBody>
      </p:sp>
      <p:sp>
        <p:nvSpPr>
          <p:cNvPr id="5" name="Footer Placeholder 4"/>
          <p:cNvSpPr>
            <a:spLocks noGrp="1"/>
          </p:cNvSpPr>
          <p:nvPr>
            <p:ph type="ftr" sz="quarter" idx="11"/>
          </p:nvPr>
        </p:nvSpPr>
        <p:spPr/>
        <p:txBody>
          <a:bodyPr/>
          <a:lstStyle/>
          <a:p>
            <a:r>
              <a:rPr lang="en-US" smtClean="0"/>
              <a:t>DAY 2</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7570" name="Rectangle 2"/>
          <p:cNvSpPr>
            <a:spLocks noGrp="1" noChangeArrowheads="1"/>
          </p:cNvSpPr>
          <p:nvPr>
            <p:ph type="title"/>
          </p:nvPr>
        </p:nvSpPr>
        <p:spPr/>
        <p:txBody>
          <a:bodyPr>
            <a:normAutofit fontScale="90000"/>
          </a:bodyPr>
          <a:lstStyle/>
          <a:p>
            <a:r>
              <a:rPr lang="en-GB" dirty="0"/>
              <a:t>Bringing Visibility to </a:t>
            </a:r>
            <a:r>
              <a:rPr lang="en-GB" dirty="0" smtClean="0"/>
              <a:t/>
            </a:r>
            <a:br>
              <a:rPr lang="en-GB" dirty="0" smtClean="0"/>
            </a:br>
            <a:r>
              <a:rPr lang="en-GB" dirty="0" smtClean="0"/>
              <a:t>the </a:t>
            </a:r>
            <a:r>
              <a:rPr lang="en-GB" dirty="0"/>
              <a:t>Improvement Efforts</a:t>
            </a:r>
          </a:p>
        </p:txBody>
      </p:sp>
      <p:sp>
        <p:nvSpPr>
          <p:cNvPr id="1517571" name="Rectangle 3"/>
          <p:cNvSpPr>
            <a:spLocks noGrp="1" noChangeArrowheads="1"/>
          </p:cNvSpPr>
          <p:nvPr>
            <p:ph idx="1"/>
          </p:nvPr>
        </p:nvSpPr>
        <p:spPr/>
        <p:txBody>
          <a:bodyPr>
            <a:normAutofit fontScale="77500" lnSpcReduction="20000"/>
          </a:bodyPr>
          <a:lstStyle/>
          <a:p>
            <a:r>
              <a:rPr lang="en-GB" dirty="0"/>
              <a:t>Invisible results of status and improvements causes problems</a:t>
            </a:r>
          </a:p>
          <a:p>
            <a:pPr lvl="1"/>
            <a:r>
              <a:rPr lang="en-GB" dirty="0"/>
              <a:t>Decision-making stakeholders are more difficult to convince to allowing improvements</a:t>
            </a:r>
          </a:p>
          <a:p>
            <a:pPr lvl="1"/>
            <a:r>
              <a:rPr lang="en-GB" dirty="0"/>
              <a:t>Status of testing degenerates without internal marketing of results</a:t>
            </a:r>
          </a:p>
          <a:p>
            <a:r>
              <a:rPr lang="en-GB" dirty="0"/>
              <a:t>Two main brands of achieving this</a:t>
            </a:r>
          </a:p>
          <a:p>
            <a:pPr lvl="1"/>
            <a:r>
              <a:rPr lang="en-GB" dirty="0"/>
              <a:t>Pseudo-measurement: scoring your skills and practices on a scale </a:t>
            </a:r>
          </a:p>
          <a:p>
            <a:pPr lvl="1"/>
            <a:r>
              <a:rPr lang="en-GB" dirty="0"/>
              <a:t>Measurement: business bottom-line implications of saving money or making things more fluent</a:t>
            </a:r>
          </a:p>
          <a:p>
            <a:r>
              <a:rPr lang="en-GB" dirty="0"/>
              <a:t>Usually many things change at once in real world</a:t>
            </a:r>
          </a:p>
          <a:p>
            <a:pPr lvl="1"/>
            <a:r>
              <a:rPr lang="en-GB" dirty="0"/>
              <a:t>Avoid taking credit solely on testing side improvements, testing never succeeds without the support from others</a:t>
            </a:r>
          </a:p>
        </p:txBody>
      </p:sp>
      <p:pic>
        <p:nvPicPr>
          <p:cNvPr id="1517572" name="Picture 4"/>
          <p:cNvPicPr>
            <a:picLocks noChangeAspect="1" noChangeArrowheads="1"/>
          </p:cNvPicPr>
          <p:nvPr/>
        </p:nvPicPr>
        <p:blipFill>
          <a:blip r:embed="rId3" cstate="print"/>
          <a:srcRect/>
          <a:stretch>
            <a:fillRect/>
          </a:stretch>
        </p:blipFill>
        <p:spPr bwMode="auto">
          <a:xfrm>
            <a:off x="8077200" y="5242560"/>
            <a:ext cx="914400" cy="1463040"/>
          </a:xfrm>
          <a:prstGeom prst="rect">
            <a:avLst/>
          </a:prstGeom>
          <a:noFill/>
          <a:ln w="12700">
            <a:noFill/>
            <a:miter lim="800000"/>
            <a:headEnd/>
            <a:tailEnd/>
          </a:ln>
          <a:effectLst/>
        </p:spPr>
      </p:pic>
      <p:sp>
        <p:nvSpPr>
          <p:cNvPr id="5" name="Slide Number Placeholder 4"/>
          <p:cNvSpPr>
            <a:spLocks noGrp="1"/>
          </p:cNvSpPr>
          <p:nvPr>
            <p:ph type="sldNum" sz="quarter" idx="12"/>
          </p:nvPr>
        </p:nvSpPr>
        <p:spPr/>
        <p:txBody>
          <a:bodyPr/>
          <a:lstStyle/>
          <a:p>
            <a:fld id="{227F0B53-9592-4779-891F-997228E46E01}" type="slidenum">
              <a:rPr lang="sv-SE" smtClean="0"/>
              <a:pPr/>
              <a:t>16</a:t>
            </a:fld>
            <a:endParaRPr lang="sv-SE"/>
          </a:p>
        </p:txBody>
      </p:sp>
      <p:sp>
        <p:nvSpPr>
          <p:cNvPr id="6" name="Footer Placeholder 5"/>
          <p:cNvSpPr>
            <a:spLocks noGrp="1"/>
          </p:cNvSpPr>
          <p:nvPr>
            <p:ph type="ftr" sz="quarter" idx="11"/>
          </p:nvPr>
        </p:nvSpPr>
        <p:spPr/>
        <p:txBody>
          <a:bodyPr/>
          <a:lstStyle/>
          <a:p>
            <a:r>
              <a:rPr lang="en-US" smtClean="0"/>
              <a:t>DAY 2</a:t>
            </a:r>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4498" name="Rectangle 2"/>
          <p:cNvSpPr>
            <a:spLocks noGrp="1" noChangeArrowheads="1"/>
          </p:cNvSpPr>
          <p:nvPr>
            <p:ph type="title"/>
          </p:nvPr>
        </p:nvSpPr>
        <p:spPr/>
        <p:txBody>
          <a:bodyPr>
            <a:normAutofit fontScale="90000"/>
          </a:bodyPr>
          <a:lstStyle/>
          <a:p>
            <a:r>
              <a:rPr lang="en-GB" dirty="0"/>
              <a:t>Comparing Pre-Agile and Post-Agile is Larger Scale Improvement</a:t>
            </a:r>
          </a:p>
        </p:txBody>
      </p:sp>
      <p:sp>
        <p:nvSpPr>
          <p:cNvPr id="1514499" name="Rectangle 3"/>
          <p:cNvSpPr>
            <a:spLocks noGrp="1" noChangeArrowheads="1"/>
          </p:cNvSpPr>
          <p:nvPr>
            <p:ph sz="half" idx="1"/>
          </p:nvPr>
        </p:nvSpPr>
        <p:spPr/>
        <p:txBody>
          <a:bodyPr/>
          <a:lstStyle/>
          <a:p>
            <a:pPr>
              <a:lnSpc>
                <a:spcPct val="110000"/>
              </a:lnSpc>
            </a:pPr>
            <a:r>
              <a:rPr lang="en-GB" sz="1800" dirty="0"/>
              <a:t>Looking back on inaccurate scale gives confidence and ideas of improvement</a:t>
            </a:r>
          </a:p>
          <a:p>
            <a:pPr>
              <a:lnSpc>
                <a:spcPct val="110000"/>
              </a:lnSpc>
            </a:pPr>
            <a:r>
              <a:rPr lang="en-GB" sz="1800" dirty="0"/>
              <a:t>Number of releases</a:t>
            </a:r>
          </a:p>
          <a:p>
            <a:pPr lvl="1">
              <a:lnSpc>
                <a:spcPct val="90000"/>
              </a:lnSpc>
            </a:pPr>
            <a:r>
              <a:rPr lang="en-GB" sz="1600" dirty="0"/>
              <a:t>By business relevance and effort used</a:t>
            </a:r>
          </a:p>
          <a:p>
            <a:pPr>
              <a:lnSpc>
                <a:spcPct val="110000"/>
              </a:lnSpc>
            </a:pPr>
            <a:r>
              <a:rPr lang="en-GB" sz="1800" dirty="0"/>
              <a:t>Feature development</a:t>
            </a:r>
          </a:p>
          <a:p>
            <a:pPr lvl="1">
              <a:lnSpc>
                <a:spcPct val="90000"/>
              </a:lnSpc>
            </a:pPr>
            <a:r>
              <a:rPr lang="en-GB" sz="1600" dirty="0"/>
              <a:t>By importance to business and effort used </a:t>
            </a:r>
            <a:r>
              <a:rPr lang="en-GB" sz="1600" dirty="0">
                <a:sym typeface="Wingdings" pitchFamily="2" charset="2"/>
              </a:rPr>
              <a:t> rough ROI calculation</a:t>
            </a:r>
            <a:endParaRPr lang="en-GB" sz="1600" dirty="0"/>
          </a:p>
          <a:p>
            <a:pPr>
              <a:lnSpc>
                <a:spcPct val="110000"/>
              </a:lnSpc>
            </a:pPr>
            <a:r>
              <a:rPr lang="en-GB" sz="1800" dirty="0"/>
              <a:t>Quality as seen by customers</a:t>
            </a:r>
          </a:p>
          <a:p>
            <a:pPr lvl="1">
              <a:lnSpc>
                <a:spcPct val="90000"/>
              </a:lnSpc>
            </a:pPr>
            <a:r>
              <a:rPr lang="en-GB" sz="1600" dirty="0"/>
              <a:t>Beta and piloting programs &amp; Post-release support cases</a:t>
            </a:r>
          </a:p>
          <a:p>
            <a:pPr lvl="1">
              <a:lnSpc>
                <a:spcPct val="90000"/>
              </a:lnSpc>
            </a:pPr>
            <a:r>
              <a:rPr lang="en-GB" sz="1600" dirty="0"/>
              <a:t>(submitted / relevant / fixed / debt / not pending on R&amp;D)</a:t>
            </a:r>
          </a:p>
        </p:txBody>
      </p:sp>
      <p:pic>
        <p:nvPicPr>
          <p:cNvPr id="1514500" name="Picture 4"/>
          <p:cNvPicPr>
            <a:picLocks noChangeAspect="1" noChangeArrowheads="1"/>
          </p:cNvPicPr>
          <p:nvPr/>
        </p:nvPicPr>
        <p:blipFill>
          <a:blip r:embed="rId3" cstate="print"/>
          <a:srcRect/>
          <a:stretch>
            <a:fillRect/>
          </a:stretch>
        </p:blipFill>
        <p:spPr bwMode="auto">
          <a:xfrm>
            <a:off x="6786563" y="1582735"/>
            <a:ext cx="2205037" cy="1560513"/>
          </a:xfrm>
          <a:prstGeom prst="rect">
            <a:avLst/>
          </a:prstGeom>
          <a:noFill/>
          <a:ln w="12700">
            <a:noFill/>
            <a:miter lim="800000"/>
            <a:headEnd/>
            <a:tailEnd/>
          </a:ln>
          <a:effectLst/>
        </p:spPr>
      </p:pic>
      <p:pic>
        <p:nvPicPr>
          <p:cNvPr id="1514501" name="Picture 5"/>
          <p:cNvPicPr>
            <a:picLocks noChangeAspect="1" noChangeArrowheads="1"/>
          </p:cNvPicPr>
          <p:nvPr/>
        </p:nvPicPr>
        <p:blipFill>
          <a:blip r:embed="rId4" cstate="print"/>
          <a:srcRect/>
          <a:stretch>
            <a:fillRect/>
          </a:stretch>
        </p:blipFill>
        <p:spPr bwMode="auto">
          <a:xfrm>
            <a:off x="4495800" y="3408363"/>
            <a:ext cx="4572000" cy="3068637"/>
          </a:xfrm>
          <a:prstGeom prst="rect">
            <a:avLst/>
          </a:prstGeom>
          <a:noFill/>
          <a:ln w="12700">
            <a:noFill/>
            <a:miter lim="800000"/>
            <a:headEnd/>
            <a:tailEnd/>
          </a:ln>
          <a:effectLst/>
        </p:spPr>
      </p:pic>
      <p:sp>
        <p:nvSpPr>
          <p:cNvPr id="6" name="Slide Number Placeholder 5"/>
          <p:cNvSpPr>
            <a:spLocks noGrp="1"/>
          </p:cNvSpPr>
          <p:nvPr>
            <p:ph type="sldNum" sz="quarter" idx="12"/>
          </p:nvPr>
        </p:nvSpPr>
        <p:spPr/>
        <p:txBody>
          <a:bodyPr/>
          <a:lstStyle/>
          <a:p>
            <a:fld id="{227F0B53-9592-4779-891F-997228E46E01}" type="slidenum">
              <a:rPr lang="sv-SE" smtClean="0"/>
              <a:pPr/>
              <a:t>17</a:t>
            </a:fld>
            <a:endParaRPr lang="sv-SE"/>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i-FI" dirty="0" smtClean="0"/>
              <a:t>Test Process Improvement Model</a:t>
            </a:r>
            <a:endParaRPr lang="fi-FI" dirty="0"/>
          </a:p>
        </p:txBody>
      </p:sp>
      <p:sp>
        <p:nvSpPr>
          <p:cNvPr id="7" name="Content Placeholder 6"/>
          <p:cNvSpPr>
            <a:spLocks noGrp="1"/>
          </p:cNvSpPr>
          <p:nvPr>
            <p:ph idx="1"/>
          </p:nvPr>
        </p:nvSpPr>
        <p:spPr/>
        <p:txBody>
          <a:bodyPr>
            <a:normAutofit lnSpcReduction="10000"/>
          </a:bodyPr>
          <a:lstStyle/>
          <a:p>
            <a:r>
              <a:rPr lang="fi-FI" dirty="0" smtClean="0"/>
              <a:t>Originates from the Netherlands, Sogeti</a:t>
            </a:r>
          </a:p>
          <a:p>
            <a:r>
              <a:rPr lang="fi-FI" dirty="0" smtClean="0"/>
              <a:t>A means to show where you are and where you want to go with improvement</a:t>
            </a:r>
          </a:p>
          <a:p>
            <a:r>
              <a:rPr lang="fi-FI" dirty="0" smtClean="0"/>
              <a:t>Excellent list of areas from a professional testing’s point of view</a:t>
            </a:r>
          </a:p>
          <a:p>
            <a:r>
              <a:rPr lang="fi-FI" dirty="0" smtClean="0"/>
              <a:t>An inherently plan-driven approach of ”did you take the right medicine”</a:t>
            </a:r>
          </a:p>
          <a:p>
            <a:r>
              <a:rPr lang="fi-FI" dirty="0" smtClean="0"/>
              <a:t>Other similar candidate</a:t>
            </a:r>
          </a:p>
          <a:p>
            <a:pPr lvl="1"/>
            <a:r>
              <a:rPr lang="fi-FI" dirty="0" smtClean="0"/>
              <a:t>TMM – Test Maturity Model</a:t>
            </a:r>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dirty="0"/>
          </a:p>
        </p:txBody>
      </p:sp>
      <p:sp>
        <p:nvSpPr>
          <p:cNvPr id="8" name="Footer Placeholder 7"/>
          <p:cNvSpPr>
            <a:spLocks noGrp="1"/>
          </p:cNvSpPr>
          <p:nvPr>
            <p:ph type="ftr" sz="quarter" idx="11"/>
          </p:nvPr>
        </p:nvSpPr>
        <p:spPr/>
        <p:txBody>
          <a:bodyPr/>
          <a:lstStyle/>
          <a:p>
            <a:r>
              <a:rPr lang="en-US" smtClean="0"/>
              <a:t>DAY 2</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04258" name="Group 2"/>
          <p:cNvGraphicFramePr>
            <a:graphicFrameLocks noGrp="1"/>
          </p:cNvGraphicFramePr>
          <p:nvPr/>
        </p:nvGraphicFramePr>
        <p:xfrm>
          <a:off x="0" y="0"/>
          <a:ext cx="9144000" cy="7717536"/>
        </p:xfrm>
        <a:graphic>
          <a:graphicData uri="http://schemas.openxmlformats.org/drawingml/2006/table">
            <a:tbl>
              <a:tblPr/>
              <a:tblGrid>
                <a:gridCol w="2916238"/>
                <a:gridCol w="446087"/>
                <a:gridCol w="444500"/>
                <a:gridCol w="444500"/>
                <a:gridCol w="444500"/>
                <a:gridCol w="444500"/>
                <a:gridCol w="446088"/>
                <a:gridCol w="444500"/>
                <a:gridCol w="444500"/>
                <a:gridCol w="444500"/>
                <a:gridCol w="446087"/>
                <a:gridCol w="442913"/>
                <a:gridCol w="446087"/>
                <a:gridCol w="442913"/>
                <a:gridCol w="446087"/>
              </a:tblGrid>
              <a:tr h="341313">
                <a:tc rowSpan="2">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dirty="0" smtClean="0">
                          <a:ln>
                            <a:noFill/>
                          </a:ln>
                          <a:solidFill>
                            <a:schemeClr val="tx1"/>
                          </a:solidFill>
                          <a:effectLst/>
                          <a:latin typeface="Arial" charset="0"/>
                        </a:rPr>
                        <a:t>Key Areas</a:t>
                      </a:r>
                      <a:endParaRPr kumimoji="0" lang="en-US" sz="16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2DEA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6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DEA6"/>
                    </a:solidFill>
                  </a:tcPr>
                </a:tc>
                <a:tc gridSpan="5">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dirty="0" smtClean="0">
                          <a:ln>
                            <a:noFill/>
                          </a:ln>
                          <a:solidFill>
                            <a:schemeClr val="tx1"/>
                          </a:solidFill>
                          <a:effectLst/>
                          <a:latin typeface="Arial" charset="0"/>
                        </a:rPr>
                        <a:t>Controlled</a:t>
                      </a:r>
                      <a:endParaRPr kumimoji="0" lang="en-US" sz="16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DEA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dirty="0" smtClean="0">
                          <a:ln>
                            <a:noFill/>
                          </a:ln>
                          <a:solidFill>
                            <a:schemeClr val="tx1"/>
                          </a:solidFill>
                          <a:effectLst/>
                          <a:latin typeface="Arial" charset="0"/>
                        </a:rPr>
                        <a:t>Efficient</a:t>
                      </a:r>
                      <a:endParaRPr kumimoji="0" lang="en-US" sz="16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DEA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dirty="0" smtClean="0">
                          <a:ln>
                            <a:noFill/>
                          </a:ln>
                          <a:solidFill>
                            <a:schemeClr val="tx1"/>
                          </a:solidFill>
                          <a:effectLst/>
                          <a:latin typeface="Arial" charset="0"/>
                        </a:rPr>
                        <a:t>Optimized</a:t>
                      </a:r>
                      <a:endParaRPr kumimoji="0" lang="en-US" sz="16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DEA6"/>
                    </a:solidFill>
                  </a:tcPr>
                </a:tc>
                <a:tc hMerge="1">
                  <a:txBody>
                    <a:bodyPr/>
                    <a:lstStyle/>
                    <a:p>
                      <a:endParaRPr lang="en-US"/>
                    </a:p>
                  </a:txBody>
                  <a:tcPr/>
                </a:tc>
                <a:tc hMerge="1">
                  <a:txBody>
                    <a:bodyPr/>
                    <a:lstStyle/>
                    <a:p>
                      <a:endParaRPr lang="en-US"/>
                    </a:p>
                  </a:txBody>
                  <a:tcPr/>
                </a:tc>
              </a:tr>
              <a:tr h="341313">
                <a:tc vMerge="1">
                  <a:txBody>
                    <a:bodyPr/>
                    <a:lstStyle/>
                    <a:p>
                      <a:endParaRPr lang="en-US"/>
                    </a:p>
                  </a:txBody>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smtClean="0">
                          <a:ln>
                            <a:noFill/>
                          </a:ln>
                          <a:solidFill>
                            <a:schemeClr val="tx1"/>
                          </a:solidFill>
                          <a:effectLst/>
                          <a:latin typeface="Arial" charset="0"/>
                        </a:rPr>
                        <a:t>0</a:t>
                      </a:r>
                      <a:endParaRPr kumimoji="0" lang="en-US" sz="16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2DEA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smtClean="0">
                          <a:ln>
                            <a:noFill/>
                          </a:ln>
                          <a:solidFill>
                            <a:schemeClr val="tx1"/>
                          </a:solidFill>
                          <a:effectLst/>
                          <a:latin typeface="Arial" charset="0"/>
                        </a:rPr>
                        <a:t>1</a:t>
                      </a:r>
                      <a:endParaRPr kumimoji="0" lang="en-US" sz="16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2DEA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smtClean="0">
                          <a:ln>
                            <a:noFill/>
                          </a:ln>
                          <a:solidFill>
                            <a:schemeClr val="tx1"/>
                          </a:solidFill>
                          <a:effectLst/>
                          <a:latin typeface="Arial" charset="0"/>
                        </a:rPr>
                        <a:t>2</a:t>
                      </a:r>
                      <a:endParaRPr kumimoji="0" lang="en-US" sz="16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2DEA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smtClean="0">
                          <a:ln>
                            <a:noFill/>
                          </a:ln>
                          <a:solidFill>
                            <a:schemeClr val="tx1"/>
                          </a:solidFill>
                          <a:effectLst/>
                          <a:latin typeface="Arial" charset="0"/>
                        </a:rPr>
                        <a:t>3</a:t>
                      </a:r>
                      <a:endParaRPr kumimoji="0" lang="en-US" sz="16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2DEA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smtClean="0">
                          <a:ln>
                            <a:noFill/>
                          </a:ln>
                          <a:solidFill>
                            <a:schemeClr val="tx1"/>
                          </a:solidFill>
                          <a:effectLst/>
                          <a:latin typeface="Arial" charset="0"/>
                        </a:rPr>
                        <a:t>4</a:t>
                      </a:r>
                      <a:endParaRPr kumimoji="0" lang="en-US" sz="16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2DEA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smtClean="0">
                          <a:ln>
                            <a:noFill/>
                          </a:ln>
                          <a:solidFill>
                            <a:schemeClr val="tx1"/>
                          </a:solidFill>
                          <a:effectLst/>
                          <a:latin typeface="Arial" charset="0"/>
                        </a:rPr>
                        <a:t>5</a:t>
                      </a:r>
                      <a:endParaRPr kumimoji="0" lang="en-US" sz="16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2DEA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smtClean="0">
                          <a:ln>
                            <a:noFill/>
                          </a:ln>
                          <a:solidFill>
                            <a:schemeClr val="tx1"/>
                          </a:solidFill>
                          <a:effectLst/>
                          <a:latin typeface="Arial" charset="0"/>
                        </a:rPr>
                        <a:t>6</a:t>
                      </a:r>
                      <a:endParaRPr kumimoji="0" lang="en-US" sz="16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2DEA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smtClean="0">
                          <a:ln>
                            <a:noFill/>
                          </a:ln>
                          <a:solidFill>
                            <a:schemeClr val="tx1"/>
                          </a:solidFill>
                          <a:effectLst/>
                          <a:latin typeface="Arial" charset="0"/>
                        </a:rPr>
                        <a:t>7</a:t>
                      </a:r>
                      <a:endParaRPr kumimoji="0" lang="en-US" sz="16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2DEA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smtClean="0">
                          <a:ln>
                            <a:noFill/>
                          </a:ln>
                          <a:solidFill>
                            <a:schemeClr val="tx1"/>
                          </a:solidFill>
                          <a:effectLst/>
                          <a:latin typeface="Arial" charset="0"/>
                        </a:rPr>
                        <a:t>8</a:t>
                      </a:r>
                      <a:endParaRPr kumimoji="0" lang="en-US" sz="16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2DEA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smtClean="0">
                          <a:ln>
                            <a:noFill/>
                          </a:ln>
                          <a:solidFill>
                            <a:schemeClr val="tx1"/>
                          </a:solidFill>
                          <a:effectLst/>
                          <a:latin typeface="Arial" charset="0"/>
                        </a:rPr>
                        <a:t>9</a:t>
                      </a:r>
                      <a:endParaRPr kumimoji="0" lang="en-US" sz="16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2DEA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smtClean="0">
                          <a:ln>
                            <a:noFill/>
                          </a:ln>
                          <a:solidFill>
                            <a:schemeClr val="tx1"/>
                          </a:solidFill>
                          <a:effectLst/>
                          <a:latin typeface="Arial" charset="0"/>
                        </a:rPr>
                        <a:t>10</a:t>
                      </a:r>
                      <a:endParaRPr kumimoji="0" lang="en-US" sz="16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2DEA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smtClean="0">
                          <a:ln>
                            <a:noFill/>
                          </a:ln>
                          <a:solidFill>
                            <a:schemeClr val="tx1"/>
                          </a:solidFill>
                          <a:effectLst/>
                          <a:latin typeface="Arial" charset="0"/>
                        </a:rPr>
                        <a:t>11</a:t>
                      </a:r>
                      <a:endParaRPr kumimoji="0" lang="en-US" sz="16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2DEA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smtClean="0">
                          <a:ln>
                            <a:noFill/>
                          </a:ln>
                          <a:solidFill>
                            <a:schemeClr val="tx1"/>
                          </a:solidFill>
                          <a:effectLst/>
                          <a:latin typeface="Arial" charset="0"/>
                        </a:rPr>
                        <a:t>12</a:t>
                      </a:r>
                      <a:endParaRPr kumimoji="0" lang="en-US" sz="16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2DEA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600" b="1" i="0" u="none" strike="noStrike" cap="none" normalizeH="0" baseline="0" smtClean="0">
                          <a:ln>
                            <a:noFill/>
                          </a:ln>
                          <a:solidFill>
                            <a:schemeClr val="tx1"/>
                          </a:solidFill>
                          <a:effectLst/>
                          <a:latin typeface="Arial" charset="0"/>
                        </a:rPr>
                        <a:t>13</a:t>
                      </a:r>
                      <a:endParaRPr kumimoji="0" lang="en-US" sz="16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2DEA6"/>
                    </a:solidFill>
                  </a:tcPr>
                </a:tc>
              </a:tr>
              <a:tr h="3079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Test</a:t>
                      </a:r>
                      <a:r>
                        <a:rPr kumimoji="0" lang="fi-FI" sz="1400" b="0" i="0" u="none" strike="noStrike" cap="none" normalizeH="0" baseline="0" dirty="0" smtClean="0">
                          <a:ln>
                            <a:noFill/>
                          </a:ln>
                          <a:solidFill>
                            <a:schemeClr val="tx1"/>
                          </a:solidFill>
                          <a:effectLst/>
                          <a:latin typeface="Arial" charset="0"/>
                        </a:rPr>
                        <a:t> </a:t>
                      </a:r>
                      <a:r>
                        <a:rPr kumimoji="0" lang="fi-FI" sz="1400" b="0" i="0" u="none" strike="noStrike" cap="none" normalizeH="0" baseline="0" dirty="0" err="1" smtClean="0">
                          <a:ln>
                            <a:noFill/>
                          </a:ln>
                          <a:solidFill>
                            <a:schemeClr val="tx1"/>
                          </a:solidFill>
                          <a:effectLst/>
                          <a:latin typeface="Arial" charset="0"/>
                        </a:rPr>
                        <a:t>strategy</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C</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D</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9563">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Lifecycle</a:t>
                      </a:r>
                      <a:r>
                        <a:rPr kumimoji="0" lang="fi-FI" sz="1400" b="0" i="0" u="none" strike="noStrike" cap="none" normalizeH="0" baseline="0" dirty="0" smtClean="0">
                          <a:ln>
                            <a:noFill/>
                          </a:ln>
                          <a:solidFill>
                            <a:schemeClr val="tx1"/>
                          </a:solidFill>
                          <a:effectLst/>
                          <a:latin typeface="Arial" charset="0"/>
                        </a:rPr>
                        <a:t> </a:t>
                      </a:r>
                      <a:r>
                        <a:rPr kumimoji="0" lang="fi-FI" sz="1400" b="0" i="0" u="none" strike="noStrike" cap="none" normalizeH="0" baseline="0" dirty="0" err="1" smtClean="0">
                          <a:ln>
                            <a:noFill/>
                          </a:ln>
                          <a:solidFill>
                            <a:schemeClr val="tx1"/>
                          </a:solidFill>
                          <a:effectLst/>
                          <a:latin typeface="Arial" charset="0"/>
                        </a:rPr>
                        <a:t>model</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79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Moment</a:t>
                      </a:r>
                      <a:r>
                        <a:rPr kumimoji="0" lang="fi-FI" sz="1400" b="0" i="0" u="none" strike="noStrike" cap="none" normalizeH="0" baseline="0" dirty="0" smtClean="0">
                          <a:ln>
                            <a:noFill/>
                          </a:ln>
                          <a:solidFill>
                            <a:schemeClr val="tx1"/>
                          </a:solidFill>
                          <a:effectLst/>
                          <a:latin typeface="Arial" charset="0"/>
                        </a:rPr>
                        <a:t> of </a:t>
                      </a:r>
                      <a:r>
                        <a:rPr kumimoji="0" lang="fi-FI" sz="1400" b="0" i="0" u="none" strike="noStrike" cap="none" normalizeH="0" baseline="0" dirty="0" err="1" smtClean="0">
                          <a:ln>
                            <a:noFill/>
                          </a:ln>
                          <a:solidFill>
                            <a:schemeClr val="tx1"/>
                          </a:solidFill>
                          <a:effectLst/>
                          <a:latin typeface="Arial" charset="0"/>
                        </a:rPr>
                        <a:t>involvement</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C</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D</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9563">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Estimation</a:t>
                      </a:r>
                      <a:r>
                        <a:rPr kumimoji="0" lang="fi-FI" sz="1400" b="0" i="0" u="none" strike="noStrike" cap="none" normalizeH="0" baseline="0" dirty="0" smtClean="0">
                          <a:ln>
                            <a:noFill/>
                          </a:ln>
                          <a:solidFill>
                            <a:schemeClr val="tx1"/>
                          </a:solidFill>
                          <a:effectLst/>
                          <a:latin typeface="Arial" charset="0"/>
                        </a:rPr>
                        <a:t> and </a:t>
                      </a:r>
                      <a:r>
                        <a:rPr kumimoji="0" lang="fi-FI" sz="1400" b="0" i="0" u="none" strike="noStrike" cap="none" normalizeH="0" baseline="0" dirty="0" err="1" smtClean="0">
                          <a:ln>
                            <a:noFill/>
                          </a:ln>
                          <a:solidFill>
                            <a:schemeClr val="tx1"/>
                          </a:solidFill>
                          <a:effectLst/>
                          <a:latin typeface="Arial" charset="0"/>
                        </a:rPr>
                        <a:t>planning</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79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Test</a:t>
                      </a:r>
                      <a:r>
                        <a:rPr kumimoji="0" lang="fi-FI" sz="1400" b="0" i="0" u="none" strike="noStrike" cap="none" normalizeH="0" baseline="0" dirty="0" smtClean="0">
                          <a:ln>
                            <a:noFill/>
                          </a:ln>
                          <a:solidFill>
                            <a:schemeClr val="tx1"/>
                          </a:solidFill>
                          <a:effectLst/>
                          <a:latin typeface="Arial" charset="0"/>
                        </a:rPr>
                        <a:t> </a:t>
                      </a:r>
                      <a:r>
                        <a:rPr kumimoji="0" lang="fi-FI" sz="1400" b="0" i="0" u="none" strike="noStrike" cap="none" normalizeH="0" baseline="0" dirty="0" err="1" smtClean="0">
                          <a:ln>
                            <a:noFill/>
                          </a:ln>
                          <a:solidFill>
                            <a:schemeClr val="tx1"/>
                          </a:solidFill>
                          <a:effectLst/>
                          <a:latin typeface="Arial" charset="0"/>
                        </a:rPr>
                        <a:t>specification</a:t>
                      </a:r>
                      <a:r>
                        <a:rPr kumimoji="0" lang="fi-FI" sz="1400" b="0" i="0" u="none" strike="noStrike" cap="none" normalizeH="0" baseline="0" dirty="0" smtClean="0">
                          <a:ln>
                            <a:noFill/>
                          </a:ln>
                          <a:solidFill>
                            <a:schemeClr val="tx1"/>
                          </a:solidFill>
                          <a:effectLst/>
                          <a:latin typeface="Arial" charset="0"/>
                        </a:rPr>
                        <a:t> </a:t>
                      </a:r>
                      <a:r>
                        <a:rPr kumimoji="0" lang="fi-FI" sz="1400" b="0" i="0" u="none" strike="noStrike" cap="none" normalizeH="0" baseline="0" dirty="0" err="1" smtClean="0">
                          <a:ln>
                            <a:noFill/>
                          </a:ln>
                          <a:solidFill>
                            <a:schemeClr val="tx1"/>
                          </a:solidFill>
                          <a:effectLst/>
                          <a:latin typeface="Arial" charset="0"/>
                        </a:rPr>
                        <a:t>techniques</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9563">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Static</a:t>
                      </a:r>
                      <a:r>
                        <a:rPr kumimoji="0" lang="fi-FI" sz="1400" b="0" i="0" u="none" strike="noStrike" cap="none" normalizeH="0" baseline="0" dirty="0" smtClean="0">
                          <a:ln>
                            <a:noFill/>
                          </a:ln>
                          <a:solidFill>
                            <a:schemeClr val="tx1"/>
                          </a:solidFill>
                          <a:effectLst/>
                          <a:latin typeface="Arial" charset="0"/>
                        </a:rPr>
                        <a:t> </a:t>
                      </a:r>
                      <a:r>
                        <a:rPr kumimoji="0" lang="fi-FI" sz="1400" b="0" i="0" u="none" strike="noStrike" cap="none" normalizeH="0" baseline="0" dirty="0" err="1" smtClean="0">
                          <a:ln>
                            <a:noFill/>
                          </a:ln>
                          <a:solidFill>
                            <a:schemeClr val="tx1"/>
                          </a:solidFill>
                          <a:effectLst/>
                          <a:latin typeface="Arial" charset="0"/>
                        </a:rPr>
                        <a:t>test</a:t>
                      </a:r>
                      <a:r>
                        <a:rPr kumimoji="0" lang="fi-FI" sz="1400" b="0" i="0" u="none" strike="noStrike" cap="none" normalizeH="0" baseline="0" dirty="0" smtClean="0">
                          <a:ln>
                            <a:noFill/>
                          </a:ln>
                          <a:solidFill>
                            <a:schemeClr val="tx1"/>
                          </a:solidFill>
                          <a:effectLst/>
                          <a:latin typeface="Arial" charset="0"/>
                        </a:rPr>
                        <a:t> </a:t>
                      </a:r>
                      <a:r>
                        <a:rPr kumimoji="0" lang="fi-FI" sz="1400" b="0" i="0" u="none" strike="noStrike" cap="none" normalizeH="0" baseline="0" dirty="0" err="1" smtClean="0">
                          <a:ln>
                            <a:noFill/>
                          </a:ln>
                          <a:solidFill>
                            <a:schemeClr val="tx1"/>
                          </a:solidFill>
                          <a:effectLst/>
                          <a:latin typeface="Arial" charset="0"/>
                        </a:rPr>
                        <a:t>techniques</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79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Metrics</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C</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D</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9563">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Test</a:t>
                      </a:r>
                      <a:r>
                        <a:rPr kumimoji="0" lang="fi-FI" sz="1400" b="0" i="0" u="none" strike="noStrike" cap="none" normalizeH="0" baseline="0" dirty="0" smtClean="0">
                          <a:ln>
                            <a:noFill/>
                          </a:ln>
                          <a:solidFill>
                            <a:schemeClr val="tx1"/>
                          </a:solidFill>
                          <a:effectLst/>
                          <a:latin typeface="Arial" charset="0"/>
                        </a:rPr>
                        <a:t> </a:t>
                      </a:r>
                      <a:r>
                        <a:rPr kumimoji="0" lang="fi-FI" sz="1400" b="0" i="0" u="none" strike="noStrike" cap="none" normalizeH="0" baseline="0" dirty="0" err="1" smtClean="0">
                          <a:ln>
                            <a:noFill/>
                          </a:ln>
                          <a:solidFill>
                            <a:schemeClr val="tx1"/>
                          </a:solidFill>
                          <a:effectLst/>
                          <a:latin typeface="Arial" charset="0"/>
                        </a:rPr>
                        <a:t>automation</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C</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79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Test</a:t>
                      </a:r>
                      <a:r>
                        <a:rPr kumimoji="0" lang="fi-FI" sz="1400" b="0" i="0" u="none" strike="noStrike" cap="none" normalizeH="0" baseline="0" dirty="0" smtClean="0">
                          <a:ln>
                            <a:noFill/>
                          </a:ln>
                          <a:solidFill>
                            <a:schemeClr val="tx1"/>
                          </a:solidFill>
                          <a:effectLst/>
                          <a:latin typeface="Arial" charset="0"/>
                        </a:rPr>
                        <a:t> </a:t>
                      </a:r>
                      <a:r>
                        <a:rPr kumimoji="0" lang="fi-FI" sz="1400" b="0" i="0" u="none" strike="noStrike" cap="none" normalizeH="0" baseline="0" dirty="0" err="1" smtClean="0">
                          <a:ln>
                            <a:noFill/>
                          </a:ln>
                          <a:solidFill>
                            <a:schemeClr val="tx1"/>
                          </a:solidFill>
                          <a:effectLst/>
                          <a:latin typeface="Arial" charset="0"/>
                        </a:rPr>
                        <a:t>environment</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C</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9563">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smtClean="0">
                          <a:ln>
                            <a:noFill/>
                          </a:ln>
                          <a:solidFill>
                            <a:schemeClr val="tx1"/>
                          </a:solidFill>
                          <a:effectLst/>
                          <a:latin typeface="Arial" charset="0"/>
                        </a:rPr>
                        <a:t>Office </a:t>
                      </a:r>
                      <a:r>
                        <a:rPr kumimoji="0" lang="fi-FI" sz="1400" b="0" i="0" u="none" strike="noStrike" cap="none" normalizeH="0" baseline="0" dirty="0" err="1" smtClean="0">
                          <a:ln>
                            <a:noFill/>
                          </a:ln>
                          <a:solidFill>
                            <a:schemeClr val="tx1"/>
                          </a:solidFill>
                          <a:effectLst/>
                          <a:latin typeface="Arial" charset="0"/>
                        </a:rPr>
                        <a:t>environment</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79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Commitment</a:t>
                      </a:r>
                      <a:r>
                        <a:rPr kumimoji="0" lang="fi-FI" sz="1400" b="0" i="0" u="none" strike="noStrike" cap="none" normalizeH="0" baseline="0" dirty="0" smtClean="0">
                          <a:ln>
                            <a:noFill/>
                          </a:ln>
                          <a:solidFill>
                            <a:schemeClr val="tx1"/>
                          </a:solidFill>
                          <a:effectLst/>
                          <a:latin typeface="Arial" charset="0"/>
                        </a:rPr>
                        <a:t> and </a:t>
                      </a:r>
                      <a:r>
                        <a:rPr kumimoji="0" lang="fi-FI" sz="1400" b="0" i="0" u="none" strike="noStrike" cap="none" normalizeH="0" baseline="0" dirty="0" err="1" smtClean="0">
                          <a:ln>
                            <a:noFill/>
                          </a:ln>
                          <a:solidFill>
                            <a:schemeClr val="tx1"/>
                          </a:solidFill>
                          <a:effectLst/>
                          <a:latin typeface="Arial" charset="0"/>
                        </a:rPr>
                        <a:t>motivation</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C</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9563">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Test</a:t>
                      </a:r>
                      <a:r>
                        <a:rPr kumimoji="0" lang="fi-FI" sz="1400" b="0" i="0" u="none" strike="noStrike" cap="none" normalizeH="0" baseline="0" dirty="0" smtClean="0">
                          <a:ln>
                            <a:noFill/>
                          </a:ln>
                          <a:solidFill>
                            <a:schemeClr val="tx1"/>
                          </a:solidFill>
                          <a:effectLst/>
                          <a:latin typeface="Arial" charset="0"/>
                        </a:rPr>
                        <a:t> </a:t>
                      </a:r>
                      <a:r>
                        <a:rPr kumimoji="0" lang="fi-FI" sz="1400" b="0" i="0" u="none" strike="noStrike" cap="none" normalizeH="0" baseline="0" dirty="0" err="1" smtClean="0">
                          <a:ln>
                            <a:noFill/>
                          </a:ln>
                          <a:solidFill>
                            <a:schemeClr val="tx1"/>
                          </a:solidFill>
                          <a:effectLst/>
                          <a:latin typeface="Arial" charset="0"/>
                        </a:rPr>
                        <a:t>functions</a:t>
                      </a:r>
                      <a:r>
                        <a:rPr kumimoji="0" lang="fi-FI" sz="1400" b="0" i="0" u="none" strike="noStrike" cap="none" normalizeH="0" baseline="0" dirty="0" smtClean="0">
                          <a:ln>
                            <a:noFill/>
                          </a:ln>
                          <a:solidFill>
                            <a:schemeClr val="tx1"/>
                          </a:solidFill>
                          <a:effectLst/>
                          <a:latin typeface="Arial" charset="0"/>
                        </a:rPr>
                        <a:t> and </a:t>
                      </a:r>
                      <a:r>
                        <a:rPr kumimoji="0" lang="fi-FI" sz="1400" b="0" i="0" u="none" strike="noStrike" cap="none" normalizeH="0" baseline="0" dirty="0" err="1" smtClean="0">
                          <a:ln>
                            <a:noFill/>
                          </a:ln>
                          <a:solidFill>
                            <a:schemeClr val="tx1"/>
                          </a:solidFill>
                          <a:effectLst/>
                          <a:latin typeface="Arial" charset="0"/>
                        </a:rPr>
                        <a:t>training</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C</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79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Scope</a:t>
                      </a:r>
                      <a:r>
                        <a:rPr kumimoji="0" lang="fi-FI" sz="1400" b="0" i="0" u="none" strike="noStrike" cap="none" normalizeH="0" baseline="0" dirty="0" smtClean="0">
                          <a:ln>
                            <a:noFill/>
                          </a:ln>
                          <a:solidFill>
                            <a:schemeClr val="tx1"/>
                          </a:solidFill>
                          <a:effectLst/>
                          <a:latin typeface="Arial" charset="0"/>
                        </a:rPr>
                        <a:t> of </a:t>
                      </a:r>
                      <a:r>
                        <a:rPr kumimoji="0" lang="fi-FI" sz="1400" b="0" i="0" u="none" strike="noStrike" cap="none" normalizeH="0" baseline="0" dirty="0" err="1" smtClean="0">
                          <a:ln>
                            <a:noFill/>
                          </a:ln>
                          <a:solidFill>
                            <a:schemeClr val="tx1"/>
                          </a:solidFill>
                          <a:effectLst/>
                          <a:latin typeface="Arial" charset="0"/>
                        </a:rPr>
                        <a:t>methodology</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C</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9563">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Communication</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C</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79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Reporting</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C</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D</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9563">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Defect</a:t>
                      </a:r>
                      <a:r>
                        <a:rPr kumimoji="0" lang="fi-FI" sz="1400" b="0" i="0" u="none" strike="noStrike" cap="none" normalizeH="0" baseline="0" dirty="0" smtClean="0">
                          <a:ln>
                            <a:noFill/>
                          </a:ln>
                          <a:solidFill>
                            <a:schemeClr val="tx1"/>
                          </a:solidFill>
                          <a:effectLst/>
                          <a:latin typeface="Arial" charset="0"/>
                        </a:rPr>
                        <a:t> management</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C</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79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Testware</a:t>
                      </a:r>
                      <a:r>
                        <a:rPr kumimoji="0" lang="fi-FI" sz="1400" b="0" i="0" u="none" strike="noStrike" cap="none" normalizeH="0" baseline="0" dirty="0" smtClean="0">
                          <a:ln>
                            <a:noFill/>
                          </a:ln>
                          <a:solidFill>
                            <a:schemeClr val="tx1"/>
                          </a:solidFill>
                          <a:effectLst/>
                          <a:latin typeface="Arial" charset="0"/>
                        </a:rPr>
                        <a:t> management</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C</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D</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9563">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Test</a:t>
                      </a:r>
                      <a:r>
                        <a:rPr kumimoji="0" lang="fi-FI" sz="1400" b="0" i="0" u="none" strike="noStrike" cap="none" normalizeH="0" baseline="0" dirty="0" smtClean="0">
                          <a:ln>
                            <a:noFill/>
                          </a:ln>
                          <a:solidFill>
                            <a:schemeClr val="tx1"/>
                          </a:solidFill>
                          <a:effectLst/>
                          <a:latin typeface="Arial" charset="0"/>
                        </a:rPr>
                        <a:t> </a:t>
                      </a:r>
                      <a:r>
                        <a:rPr kumimoji="0" lang="fi-FI" sz="1400" b="0" i="0" u="none" strike="noStrike" cap="none" normalizeH="0" baseline="0" dirty="0" err="1" smtClean="0">
                          <a:ln>
                            <a:noFill/>
                          </a:ln>
                          <a:solidFill>
                            <a:schemeClr val="tx1"/>
                          </a:solidFill>
                          <a:effectLst/>
                          <a:latin typeface="Arial" charset="0"/>
                        </a:rPr>
                        <a:t>process</a:t>
                      </a:r>
                      <a:r>
                        <a:rPr kumimoji="0" lang="fi-FI" sz="1400" b="0" i="0" u="none" strike="noStrike" cap="none" normalizeH="0" baseline="0" dirty="0" smtClean="0">
                          <a:ln>
                            <a:noFill/>
                          </a:ln>
                          <a:solidFill>
                            <a:schemeClr val="tx1"/>
                          </a:solidFill>
                          <a:effectLst/>
                          <a:latin typeface="Arial" charset="0"/>
                        </a:rPr>
                        <a:t> management</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C</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79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Evaluation</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9563">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dirty="0" err="1" smtClean="0">
                          <a:ln>
                            <a:noFill/>
                          </a:ln>
                          <a:solidFill>
                            <a:schemeClr val="tx1"/>
                          </a:solidFill>
                          <a:effectLst/>
                          <a:latin typeface="Arial" charset="0"/>
                        </a:rPr>
                        <a:t>Low-level</a:t>
                      </a:r>
                      <a:r>
                        <a:rPr kumimoji="0" lang="fi-FI" sz="1400" b="0" i="0" u="none" strike="noStrike" cap="none" normalizeH="0" baseline="0" dirty="0" smtClean="0">
                          <a:ln>
                            <a:noFill/>
                          </a:ln>
                          <a:solidFill>
                            <a:schemeClr val="tx1"/>
                          </a:solidFill>
                          <a:effectLst/>
                          <a:latin typeface="Arial" charset="0"/>
                        </a:rPr>
                        <a:t> </a:t>
                      </a:r>
                      <a:r>
                        <a:rPr kumimoji="0" lang="fi-FI" sz="1400" b="0" i="0" u="none" strike="noStrike" cap="none" normalizeH="0" baseline="0" dirty="0" err="1" smtClean="0">
                          <a:ln>
                            <a:noFill/>
                          </a:ln>
                          <a:solidFill>
                            <a:schemeClr val="tx1"/>
                          </a:solidFill>
                          <a:effectLst/>
                          <a:latin typeface="Arial" charset="0"/>
                        </a:rPr>
                        <a:t>testing</a:t>
                      </a:r>
                      <a:endParaRPr kumimoji="0" lang="en-US" sz="1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A</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B</a:t>
                      </a: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400" b="0" i="0" u="none" strike="noStrike" cap="none" normalizeH="0" baseline="0" smtClean="0">
                          <a:ln>
                            <a:noFill/>
                          </a:ln>
                          <a:solidFill>
                            <a:schemeClr val="tx1"/>
                          </a:solidFill>
                          <a:effectLst/>
                          <a:latin typeface="Arial" charset="0"/>
                        </a:rPr>
                        <a:t>C</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 name="Slide Number Placeholder 2"/>
          <p:cNvSpPr>
            <a:spLocks noGrp="1"/>
          </p:cNvSpPr>
          <p:nvPr>
            <p:ph type="sldNum" sz="quarter" idx="12"/>
          </p:nvPr>
        </p:nvSpPr>
        <p:spPr/>
        <p:txBody>
          <a:bodyPr/>
          <a:lstStyle/>
          <a:p>
            <a:fld id="{227F0B53-9592-4779-891F-997228E46E01}" type="slidenum">
              <a:rPr lang="sv-SE" smtClean="0"/>
              <a:pPr/>
              <a:t>19</a:t>
            </a:fld>
            <a:endParaRPr lang="sv-SE"/>
          </a:p>
        </p:txBody>
      </p:sp>
      <p:sp>
        <p:nvSpPr>
          <p:cNvPr id="4" name="Footer Placeholder 3"/>
          <p:cNvSpPr>
            <a:spLocks noGrp="1"/>
          </p:cNvSpPr>
          <p:nvPr>
            <p:ph type="ftr" sz="quarter" idx="11"/>
          </p:nvPr>
        </p:nvSpPr>
        <p:spPr/>
        <p:txBody>
          <a:bodyPr/>
          <a:lstStyle/>
          <a:p>
            <a:r>
              <a:rPr lang="en-US" smtClean="0"/>
              <a:t>DAY 2</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06306" name="Group 2"/>
          <p:cNvGraphicFramePr>
            <a:graphicFrameLocks noGrp="1"/>
          </p:cNvGraphicFramePr>
          <p:nvPr/>
        </p:nvGraphicFramePr>
        <p:xfrm>
          <a:off x="166688" y="1500174"/>
          <a:ext cx="8596312" cy="5230368"/>
        </p:xfrm>
        <a:graphic>
          <a:graphicData uri="http://schemas.openxmlformats.org/drawingml/2006/table">
            <a:tbl>
              <a:tblPr/>
              <a:tblGrid>
                <a:gridCol w="2741612"/>
                <a:gridCol w="419100"/>
                <a:gridCol w="417513"/>
                <a:gridCol w="419100"/>
                <a:gridCol w="417512"/>
                <a:gridCol w="417513"/>
                <a:gridCol w="419100"/>
                <a:gridCol w="417512"/>
                <a:gridCol w="419100"/>
                <a:gridCol w="417513"/>
                <a:gridCol w="417512"/>
                <a:gridCol w="419100"/>
                <a:gridCol w="417513"/>
                <a:gridCol w="419100"/>
                <a:gridCol w="417512"/>
              </a:tblGrid>
              <a:tr h="193675">
                <a:tc rowSpan="2">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900" b="1" i="0" u="none" strike="noStrike" cap="none" normalizeH="0" baseline="0" dirty="0" smtClean="0">
                          <a:ln>
                            <a:noFill/>
                          </a:ln>
                          <a:solidFill>
                            <a:schemeClr val="bg1"/>
                          </a:solidFill>
                          <a:effectLst/>
                          <a:latin typeface="Arial" charset="0"/>
                        </a:rPr>
                        <a:t>Avainalueet</a:t>
                      </a:r>
                      <a:endParaRPr kumimoji="0" lang="en-US" sz="900" b="1" i="0" u="none" strike="noStrike" cap="none" normalizeH="0" baseline="0" dirty="0" smtClean="0">
                        <a:ln>
                          <a:noFill/>
                        </a:ln>
                        <a:solidFill>
                          <a:schemeClr val="bg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900" b="1" i="0" u="none" strike="noStrike" cap="none" normalizeH="0" baseline="0" dirty="0" smtClean="0">
                        <a:ln>
                          <a:noFill/>
                        </a:ln>
                        <a:solidFill>
                          <a:schemeClr val="bg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gridSpan="5">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bg1"/>
                          </a:solidFill>
                          <a:effectLst/>
                          <a:latin typeface="Arial" charset="0"/>
                        </a:rPr>
                        <a:t>Controlled</a:t>
                      </a:r>
                      <a:endParaRPr kumimoji="0" lang="en-US" sz="800" b="1" i="0" u="none" strike="noStrike" cap="none" normalizeH="0" baseline="0" dirty="0" smtClean="0">
                        <a:ln>
                          <a:noFill/>
                        </a:ln>
                        <a:solidFill>
                          <a:schemeClr val="bg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bg1"/>
                          </a:solidFill>
                          <a:effectLst/>
                          <a:latin typeface="Arial" charset="0"/>
                        </a:rPr>
                        <a:t>Efficient</a:t>
                      </a:r>
                      <a:endParaRPr kumimoji="0" lang="en-US" sz="800" b="1" i="0" u="none" strike="noStrike" cap="none" normalizeH="0" baseline="0" dirty="0" smtClean="0">
                        <a:ln>
                          <a:noFill/>
                        </a:ln>
                        <a:solidFill>
                          <a:schemeClr val="bg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bg1"/>
                          </a:solidFill>
                          <a:effectLst/>
                          <a:latin typeface="Arial" charset="0"/>
                        </a:rPr>
                        <a:t>Optimizing</a:t>
                      </a:r>
                      <a:endParaRPr kumimoji="0" lang="en-US" sz="800" b="1" i="0" u="none" strike="noStrike" cap="none" normalizeH="0" baseline="0" dirty="0" smtClean="0">
                        <a:ln>
                          <a:noFill/>
                        </a:ln>
                        <a:solidFill>
                          <a:schemeClr val="bg1"/>
                        </a:solidFill>
                        <a:effectLst/>
                        <a:latin typeface="Arial" charset="0"/>
                      </a:endParaRPr>
                    </a:p>
                  </a:txBody>
                  <a:tcPr horzOverflow="overflow">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tc hMerge="1">
                  <a:txBody>
                    <a:bodyPr/>
                    <a:lstStyle/>
                    <a:p>
                      <a:endParaRPr lang="en-US"/>
                    </a:p>
                  </a:txBody>
                  <a:tcPr/>
                </a:tc>
              </a:tr>
              <a:tr h="209550">
                <a:tc vMerge="1">
                  <a:txBody>
                    <a:bodyPr/>
                    <a:lstStyle/>
                    <a:p>
                      <a:endParaRPr lang="en-US"/>
                    </a:p>
                  </a:txBody>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bg1"/>
                          </a:solidFill>
                          <a:effectLst/>
                          <a:latin typeface="Arial" charset="0"/>
                        </a:rPr>
                        <a:t>0</a:t>
                      </a:r>
                      <a:endParaRPr kumimoji="0" lang="en-US" sz="700" b="1" i="0" u="none" strike="noStrike" cap="none" normalizeH="0" baseline="0" dirty="0" smtClean="0">
                        <a:ln>
                          <a:noFill/>
                        </a:ln>
                        <a:solidFill>
                          <a:schemeClr val="bg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bg1"/>
                          </a:solidFill>
                          <a:effectLst/>
                          <a:latin typeface="Arial" charset="0"/>
                        </a:rPr>
                        <a:t>1</a:t>
                      </a:r>
                      <a:endParaRPr kumimoji="0" lang="en-US" sz="700" b="1" i="0" u="none" strike="noStrike" cap="none" normalizeH="0" baseline="0" dirty="0" smtClean="0">
                        <a:ln>
                          <a:noFill/>
                        </a:ln>
                        <a:solidFill>
                          <a:schemeClr val="bg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bg1"/>
                          </a:solidFill>
                          <a:effectLst/>
                          <a:latin typeface="Arial" charset="0"/>
                        </a:rPr>
                        <a:t>2</a:t>
                      </a:r>
                      <a:endParaRPr kumimoji="0" lang="en-US" sz="700" b="1" i="0" u="none" strike="noStrike" cap="none" normalizeH="0" baseline="0" dirty="0" smtClean="0">
                        <a:ln>
                          <a:noFill/>
                        </a:ln>
                        <a:solidFill>
                          <a:schemeClr val="bg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bg1"/>
                          </a:solidFill>
                          <a:effectLst/>
                          <a:latin typeface="Arial" charset="0"/>
                        </a:rPr>
                        <a:t>3</a:t>
                      </a:r>
                      <a:endParaRPr kumimoji="0" lang="en-US" sz="700" b="1" i="0" u="none" strike="noStrike" cap="none" normalizeH="0" baseline="0" dirty="0" smtClean="0">
                        <a:ln>
                          <a:noFill/>
                        </a:ln>
                        <a:solidFill>
                          <a:schemeClr val="bg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bg1"/>
                          </a:solidFill>
                          <a:effectLst/>
                          <a:latin typeface="Arial" charset="0"/>
                        </a:rPr>
                        <a:t>4</a:t>
                      </a:r>
                      <a:endParaRPr kumimoji="0" lang="en-US" sz="700" b="1" i="0" u="none" strike="noStrike" cap="none" normalizeH="0" baseline="0" dirty="0" smtClean="0">
                        <a:ln>
                          <a:noFill/>
                        </a:ln>
                        <a:solidFill>
                          <a:schemeClr val="bg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bg1"/>
                          </a:solidFill>
                          <a:effectLst/>
                          <a:latin typeface="Arial" charset="0"/>
                        </a:rPr>
                        <a:t>5</a:t>
                      </a:r>
                      <a:endParaRPr kumimoji="0" lang="en-US" sz="700" b="1" i="0" u="none" strike="noStrike" cap="none" normalizeH="0" baseline="0" dirty="0" smtClean="0">
                        <a:ln>
                          <a:noFill/>
                        </a:ln>
                        <a:solidFill>
                          <a:schemeClr val="bg1"/>
                        </a:solidFill>
                        <a:effectLst/>
                        <a:latin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bg1"/>
                          </a:solidFill>
                          <a:effectLst/>
                          <a:latin typeface="Arial" charset="0"/>
                        </a:rPr>
                        <a:t>6</a:t>
                      </a:r>
                      <a:endParaRPr kumimoji="0" lang="en-US" sz="700" b="1" i="0" u="none" strike="noStrike" cap="none" normalizeH="0" baseline="0" dirty="0" smtClean="0">
                        <a:ln>
                          <a:noFill/>
                        </a:ln>
                        <a:solidFill>
                          <a:schemeClr val="bg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bg1"/>
                          </a:solidFill>
                          <a:effectLst/>
                          <a:latin typeface="Arial" charset="0"/>
                        </a:rPr>
                        <a:t>7</a:t>
                      </a:r>
                      <a:endParaRPr kumimoji="0" lang="en-US" sz="700" b="1" i="0" u="none" strike="noStrike" cap="none" normalizeH="0" baseline="0" dirty="0" smtClean="0">
                        <a:ln>
                          <a:noFill/>
                        </a:ln>
                        <a:solidFill>
                          <a:schemeClr val="bg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bg1"/>
                          </a:solidFill>
                          <a:effectLst/>
                          <a:latin typeface="Arial" charset="0"/>
                        </a:rPr>
                        <a:t>8</a:t>
                      </a:r>
                      <a:endParaRPr kumimoji="0" lang="en-US" sz="700" b="1" i="0" u="none" strike="noStrike" cap="none" normalizeH="0" baseline="0" dirty="0" smtClean="0">
                        <a:ln>
                          <a:noFill/>
                        </a:ln>
                        <a:solidFill>
                          <a:schemeClr val="bg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bg1"/>
                          </a:solidFill>
                          <a:effectLst/>
                          <a:latin typeface="Arial" charset="0"/>
                        </a:rPr>
                        <a:t>9</a:t>
                      </a:r>
                      <a:endParaRPr kumimoji="0" lang="en-US" sz="700" b="1" i="0" u="none" strike="noStrike" cap="none" normalizeH="0" baseline="0" dirty="0" smtClean="0">
                        <a:ln>
                          <a:noFill/>
                        </a:ln>
                        <a:solidFill>
                          <a:schemeClr val="bg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bg1"/>
                          </a:solidFill>
                          <a:effectLst/>
                          <a:latin typeface="Arial" charset="0"/>
                        </a:rPr>
                        <a:t>10</a:t>
                      </a:r>
                      <a:endParaRPr kumimoji="0" lang="en-US" sz="700" b="1" i="0" u="none" strike="noStrike" cap="none" normalizeH="0" baseline="0" dirty="0" smtClean="0">
                        <a:ln>
                          <a:noFill/>
                        </a:ln>
                        <a:solidFill>
                          <a:schemeClr val="bg1"/>
                        </a:solidFill>
                        <a:effectLst/>
                        <a:latin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bg1"/>
                          </a:solidFill>
                          <a:effectLst/>
                          <a:latin typeface="Arial" charset="0"/>
                        </a:rPr>
                        <a:t>11</a:t>
                      </a:r>
                      <a:endParaRPr kumimoji="0" lang="en-US" sz="700" b="1" i="0" u="none" strike="noStrike" cap="none" normalizeH="0" baseline="0" dirty="0" smtClean="0">
                        <a:ln>
                          <a:noFill/>
                        </a:ln>
                        <a:solidFill>
                          <a:schemeClr val="bg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bg1"/>
                          </a:solidFill>
                          <a:effectLst/>
                          <a:latin typeface="Arial" charset="0"/>
                        </a:rPr>
                        <a:t>12</a:t>
                      </a:r>
                      <a:endParaRPr kumimoji="0" lang="en-US" sz="700" b="1" i="0" u="none" strike="noStrike" cap="none" normalizeH="0" baseline="0" dirty="0" smtClean="0">
                        <a:ln>
                          <a:noFill/>
                        </a:ln>
                        <a:solidFill>
                          <a:schemeClr val="bg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bg1"/>
                          </a:solidFill>
                          <a:effectLst/>
                          <a:latin typeface="Arial" charset="0"/>
                        </a:rPr>
                        <a:t>13</a:t>
                      </a:r>
                      <a:endParaRPr kumimoji="0" lang="en-US" sz="700" b="1" i="0" u="none" strike="noStrike" cap="none" normalizeH="0" baseline="0" dirty="0" smtClean="0">
                        <a:ln>
                          <a:noFill/>
                        </a:ln>
                        <a:solidFill>
                          <a:schemeClr val="bg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r>
              <a:tr h="196850">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Test strategy</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C</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D</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6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Lifecycle model</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6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Moment of involvement</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C</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D</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72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Test estimation and planning</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2088">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Test specification techniques</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6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Static test techniques</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6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Metrics</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C</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D</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5263">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Test automation</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C</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6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Test environment</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C</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6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Office environment</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6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Commitment and motivation</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C</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6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Test functions and training</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C</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6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Scope of methodology</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C</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6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Communication</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C</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2088">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Reporting</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C</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D</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6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Defect management</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C</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Testware management</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C</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D</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Test process management</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775AF"/>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C</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6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Evaluation</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675">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800" b="1" i="0" u="none" strike="noStrike" cap="none" normalizeH="0" baseline="0" dirty="0" smtClean="0">
                          <a:ln>
                            <a:noFill/>
                          </a:ln>
                          <a:solidFill>
                            <a:schemeClr val="tx1"/>
                          </a:solidFill>
                          <a:effectLst/>
                          <a:latin typeface="Arial" charset="0"/>
                        </a:rPr>
                        <a:t>Low-level testing</a:t>
                      </a:r>
                      <a:endParaRPr kumimoji="0" lang="en-US" sz="800" b="1"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6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6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6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A</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66"/>
                    </a:solid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B</a:t>
                      </a: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r>
                        <a:rPr kumimoji="0" lang="fi-FI" sz="700" b="1" i="0" u="none" strike="noStrike" cap="none" normalizeH="0" baseline="0" smtClean="0">
                          <a:ln>
                            <a:noFill/>
                          </a:ln>
                          <a:solidFill>
                            <a:schemeClr val="tx1"/>
                          </a:solidFill>
                          <a:effectLst/>
                          <a:latin typeface="Arial" charset="0"/>
                        </a:rPr>
                        <a:t>C</a:t>
                      </a: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20000"/>
                        </a:spcAft>
                        <a:buClrTx/>
                        <a:buSzTx/>
                        <a:buFont typeface="Times" pitchFamily="18" charset="0"/>
                        <a:buNone/>
                        <a:tabLst/>
                      </a:pPr>
                      <a:endParaRPr kumimoji="0" lang="en-US" sz="7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ys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506677" name="Rectangle 373"/>
          <p:cNvSpPr>
            <a:spLocks noGrp="1" noChangeArrowheads="1"/>
          </p:cNvSpPr>
          <p:nvPr>
            <p:ph type="title"/>
          </p:nvPr>
        </p:nvSpPr>
        <p:spPr>
          <a:xfrm>
            <a:off x="457200" y="142852"/>
            <a:ext cx="8305800" cy="1143000"/>
          </a:xfrm>
        </p:spPr>
        <p:txBody>
          <a:bodyPr>
            <a:normAutofit fontScale="90000"/>
          </a:bodyPr>
          <a:lstStyle/>
          <a:p>
            <a:r>
              <a:rPr lang="fi-FI" dirty="0"/>
              <a:t>Example: Status and </a:t>
            </a:r>
            <a:r>
              <a:rPr lang="fi-FI" dirty="0" smtClean="0"/>
              <a:t>Improvements as Themes</a:t>
            </a:r>
            <a:endParaRPr lang="en-US" dirty="0"/>
          </a:p>
        </p:txBody>
      </p:sp>
      <p:sp>
        <p:nvSpPr>
          <p:cNvPr id="4" name="Slide Number Placeholder 3"/>
          <p:cNvSpPr>
            <a:spLocks noGrp="1"/>
          </p:cNvSpPr>
          <p:nvPr>
            <p:ph type="sldNum" sz="quarter" idx="12"/>
          </p:nvPr>
        </p:nvSpPr>
        <p:spPr/>
        <p:txBody>
          <a:bodyPr/>
          <a:lstStyle/>
          <a:p>
            <a:fld id="{227F0B53-9592-4779-891F-997228E46E01}" type="slidenum">
              <a:rPr lang="sv-SE" smtClean="0"/>
              <a:pPr/>
              <a:t>20</a:t>
            </a:fld>
            <a:endParaRPr lang="sv-SE"/>
          </a:p>
        </p:txBody>
      </p:sp>
      <p:sp>
        <p:nvSpPr>
          <p:cNvPr id="5" name="Footer Placeholder 4"/>
          <p:cNvSpPr>
            <a:spLocks noGrp="1"/>
          </p:cNvSpPr>
          <p:nvPr>
            <p:ph type="ftr" sz="quarter" idx="11"/>
          </p:nvPr>
        </p:nvSpPr>
        <p:spPr/>
        <p:txBody>
          <a:bodyPr/>
          <a:lstStyle/>
          <a:p>
            <a:r>
              <a:rPr lang="en-US" smtClean="0"/>
              <a:t>DAY 2</a:t>
            </a:r>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9378" name="Rectangle 2"/>
          <p:cNvSpPr>
            <a:spLocks noGrp="1" noChangeArrowheads="1"/>
          </p:cNvSpPr>
          <p:nvPr>
            <p:ph type="title"/>
          </p:nvPr>
        </p:nvSpPr>
        <p:spPr>
          <a:xfrm>
            <a:off x="609600" y="222250"/>
            <a:ext cx="7391400" cy="768350"/>
          </a:xfrm>
        </p:spPr>
        <p:txBody>
          <a:bodyPr>
            <a:noAutofit/>
          </a:bodyPr>
          <a:lstStyle/>
          <a:p>
            <a:r>
              <a:rPr lang="en-GB" sz="2800" dirty="0"/>
              <a:t>TPI-benchmark ’04 – </a:t>
            </a:r>
            <a:r>
              <a:rPr lang="en-GB" sz="2800" dirty="0" smtClean="0"/>
              <a:t/>
            </a:r>
            <a:br>
              <a:rPr lang="en-GB" sz="2800" dirty="0" smtClean="0"/>
            </a:br>
            <a:r>
              <a:rPr lang="en-GB" sz="2800" dirty="0" smtClean="0"/>
              <a:t>Conformiq </a:t>
            </a:r>
            <a:r>
              <a:rPr lang="en-GB" sz="2800" dirty="0"/>
              <a:t>(fi) &amp; Sogeti (nl)</a:t>
            </a:r>
          </a:p>
        </p:txBody>
      </p:sp>
      <p:pic>
        <p:nvPicPr>
          <p:cNvPr id="1509379" name="Picture 3" descr="C:\Documents and Settings\pyhama\Desktop\pictpi.bmp"/>
          <p:cNvPicPr>
            <a:picLocks noChangeAspect="1" noChangeArrowheads="1"/>
          </p:cNvPicPr>
          <p:nvPr/>
        </p:nvPicPr>
        <p:blipFill>
          <a:blip r:embed="rId3" cstate="print"/>
          <a:srcRect/>
          <a:stretch>
            <a:fillRect/>
          </a:stretch>
        </p:blipFill>
        <p:spPr bwMode="auto">
          <a:xfrm>
            <a:off x="685800" y="1066800"/>
            <a:ext cx="8077200" cy="5548313"/>
          </a:xfrm>
          <a:prstGeom prst="rect">
            <a:avLst/>
          </a:prstGeom>
          <a:noFill/>
        </p:spPr>
      </p:pic>
      <p:sp>
        <p:nvSpPr>
          <p:cNvPr id="4" name="Slide Number Placeholder 3"/>
          <p:cNvSpPr>
            <a:spLocks noGrp="1"/>
          </p:cNvSpPr>
          <p:nvPr>
            <p:ph type="sldNum" sz="quarter" idx="12"/>
          </p:nvPr>
        </p:nvSpPr>
        <p:spPr/>
        <p:txBody>
          <a:bodyPr/>
          <a:lstStyle/>
          <a:p>
            <a:fld id="{227F0B53-9592-4779-891F-997228E46E01}" type="slidenum">
              <a:rPr lang="sv-SE" smtClean="0"/>
              <a:pPr/>
              <a:t>21</a:t>
            </a:fld>
            <a:endParaRPr lang="sv-SE"/>
          </a:p>
        </p:txBody>
      </p:sp>
      <p:sp>
        <p:nvSpPr>
          <p:cNvPr id="5" name="Footer Placeholder 4"/>
          <p:cNvSpPr>
            <a:spLocks noGrp="1"/>
          </p:cNvSpPr>
          <p:nvPr>
            <p:ph type="ftr" sz="quarter" idx="11"/>
          </p:nvPr>
        </p:nvSpPr>
        <p:spPr/>
        <p:txBody>
          <a:bodyPr/>
          <a:lstStyle/>
          <a:p>
            <a:r>
              <a:rPr lang="en-US" smtClean="0"/>
              <a:t>DAY 2</a:t>
            </a:r>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Agile and TPI</a:t>
            </a:r>
            <a:endParaRPr lang="fi-FI" dirty="0"/>
          </a:p>
        </p:txBody>
      </p:sp>
      <p:sp>
        <p:nvSpPr>
          <p:cNvPr id="5" name="Content Placeholder 4"/>
          <p:cNvSpPr>
            <a:spLocks noGrp="1"/>
          </p:cNvSpPr>
          <p:nvPr>
            <p:ph idx="1"/>
          </p:nvPr>
        </p:nvSpPr>
        <p:spPr/>
        <p:txBody>
          <a:bodyPr/>
          <a:lstStyle/>
          <a:p>
            <a:r>
              <a:rPr lang="fi-FI" dirty="0" smtClean="0"/>
              <a:t>We observed that when we went forward, with TPI we went backwards</a:t>
            </a:r>
          </a:p>
          <a:p>
            <a:r>
              <a:rPr lang="fi-FI" dirty="0" smtClean="0"/>
              <a:t>The point of TPI is not to get on the right side with areas but you can choose your level</a:t>
            </a:r>
          </a:p>
          <a:p>
            <a:r>
              <a:rPr lang="fi-FI" dirty="0" smtClean="0"/>
              <a:t>However, you would want to show progress (to positive and to negative)</a:t>
            </a:r>
          </a:p>
          <a:p>
            <a:r>
              <a:rPr lang="fi-FI" dirty="0" smtClean="0"/>
              <a:t>We did this with school grades system of our relevant test areas of practice</a:t>
            </a:r>
            <a:endParaRPr lang="fi-FI"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22</a:t>
            </a:fld>
            <a:endParaRPr lang="en-US" dirty="0"/>
          </a:p>
        </p:txBody>
      </p:sp>
      <p:sp>
        <p:nvSpPr>
          <p:cNvPr id="6" name="Footer Placeholder 5"/>
          <p:cNvSpPr>
            <a:spLocks noGrp="1"/>
          </p:cNvSpPr>
          <p:nvPr>
            <p:ph type="ftr" sz="quarter" idx="11"/>
          </p:nvPr>
        </p:nvSpPr>
        <p:spPr/>
        <p:txBody>
          <a:bodyPr/>
          <a:lstStyle/>
          <a:p>
            <a:r>
              <a:rPr lang="en-US" smtClean="0"/>
              <a:t>DAY 2</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9922" name="Rectangle 2"/>
          <p:cNvSpPr>
            <a:spLocks noGrp="1" noChangeArrowheads="1"/>
          </p:cNvSpPr>
          <p:nvPr>
            <p:ph type="title"/>
          </p:nvPr>
        </p:nvSpPr>
        <p:spPr/>
        <p:txBody>
          <a:bodyPr/>
          <a:lstStyle/>
          <a:p>
            <a:r>
              <a:rPr lang="en-US" dirty="0"/>
              <a:t>Areas of Practices in Testing</a:t>
            </a:r>
            <a:endParaRPr lang="en-GB" dirty="0"/>
          </a:p>
        </p:txBody>
      </p:sp>
      <p:sp>
        <p:nvSpPr>
          <p:cNvPr id="1489923" name="Rectangle 3"/>
          <p:cNvSpPr>
            <a:spLocks noChangeArrowheads="1"/>
          </p:cNvSpPr>
          <p:nvPr/>
        </p:nvSpPr>
        <p:spPr bwMode="auto">
          <a:xfrm>
            <a:off x="457200" y="1798660"/>
            <a:ext cx="4038600" cy="723900"/>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Product-level Test Planning and Control </a:t>
            </a:r>
          </a:p>
          <a:p>
            <a:pPr algn="ctr"/>
            <a:r>
              <a:rPr lang="en-US" sz="1200" b="1" dirty="0">
                <a:solidFill>
                  <a:schemeClr val="bg1"/>
                </a:solidFill>
              </a:rPr>
              <a:t>“Master Test Planning”</a:t>
            </a:r>
            <a:endParaRPr lang="en-GB" sz="1200" b="1" dirty="0">
              <a:solidFill>
                <a:schemeClr val="bg1"/>
              </a:solidFill>
            </a:endParaRPr>
          </a:p>
        </p:txBody>
      </p:sp>
      <p:sp>
        <p:nvSpPr>
          <p:cNvPr id="1489924" name="Rectangle 4"/>
          <p:cNvSpPr>
            <a:spLocks noChangeArrowheads="1"/>
          </p:cNvSpPr>
          <p:nvPr/>
        </p:nvSpPr>
        <p:spPr bwMode="auto">
          <a:xfrm>
            <a:off x="457200" y="2636860"/>
            <a:ext cx="4038600" cy="725488"/>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Area-level Test Planning and Design </a:t>
            </a:r>
          </a:p>
          <a:p>
            <a:pPr algn="ctr"/>
            <a:r>
              <a:rPr lang="en-US" sz="1200" b="1" dirty="0">
                <a:solidFill>
                  <a:schemeClr val="bg1"/>
                </a:solidFill>
              </a:rPr>
              <a:t>“Test strategies, test specification”</a:t>
            </a:r>
            <a:endParaRPr lang="en-GB" sz="1200" b="1" dirty="0">
              <a:solidFill>
                <a:schemeClr val="bg1"/>
              </a:solidFill>
            </a:endParaRPr>
          </a:p>
        </p:txBody>
      </p:sp>
      <p:sp>
        <p:nvSpPr>
          <p:cNvPr id="1489925" name="Rectangle 5"/>
          <p:cNvSpPr>
            <a:spLocks noChangeArrowheads="1"/>
          </p:cNvSpPr>
          <p:nvPr/>
        </p:nvSpPr>
        <p:spPr bwMode="auto">
          <a:xfrm>
            <a:off x="457200" y="3475060"/>
            <a:ext cx="4038600" cy="725488"/>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Reporting</a:t>
            </a:r>
            <a:endParaRPr lang="en-GB" sz="1600" b="1" dirty="0">
              <a:solidFill>
                <a:schemeClr val="bg1"/>
              </a:solidFill>
            </a:endParaRPr>
          </a:p>
        </p:txBody>
      </p:sp>
      <p:sp>
        <p:nvSpPr>
          <p:cNvPr id="1489926" name="Rectangle 6"/>
          <p:cNvSpPr>
            <a:spLocks noChangeArrowheads="1"/>
          </p:cNvSpPr>
          <p:nvPr/>
        </p:nvSpPr>
        <p:spPr bwMode="auto">
          <a:xfrm>
            <a:off x="4724400" y="3475060"/>
            <a:ext cx="4038600" cy="723900"/>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Maintenance Testing</a:t>
            </a:r>
            <a:endParaRPr lang="en-GB" sz="1600" b="1" dirty="0">
              <a:solidFill>
                <a:schemeClr val="bg1"/>
              </a:solidFill>
            </a:endParaRPr>
          </a:p>
        </p:txBody>
      </p:sp>
      <p:sp>
        <p:nvSpPr>
          <p:cNvPr id="1489927" name="Rectangle 7"/>
          <p:cNvSpPr>
            <a:spLocks noChangeArrowheads="1"/>
          </p:cNvSpPr>
          <p:nvPr/>
        </p:nvSpPr>
        <p:spPr bwMode="auto">
          <a:xfrm>
            <a:off x="457200" y="4313260"/>
            <a:ext cx="4038600" cy="725488"/>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Execution and Logging</a:t>
            </a:r>
            <a:endParaRPr lang="en-GB" sz="1600" b="1" dirty="0">
              <a:solidFill>
                <a:schemeClr val="bg1"/>
              </a:solidFill>
            </a:endParaRPr>
          </a:p>
        </p:txBody>
      </p:sp>
      <p:sp>
        <p:nvSpPr>
          <p:cNvPr id="1489928" name="Rectangle 8"/>
          <p:cNvSpPr>
            <a:spLocks noChangeArrowheads="1"/>
          </p:cNvSpPr>
          <p:nvPr/>
        </p:nvSpPr>
        <p:spPr bwMode="auto">
          <a:xfrm>
            <a:off x="4724400" y="1798660"/>
            <a:ext cx="4038600" cy="725488"/>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Automation</a:t>
            </a:r>
          </a:p>
        </p:txBody>
      </p:sp>
      <p:sp>
        <p:nvSpPr>
          <p:cNvPr id="1489929" name="Rectangle 9"/>
          <p:cNvSpPr>
            <a:spLocks noChangeArrowheads="1"/>
          </p:cNvSpPr>
          <p:nvPr/>
        </p:nvSpPr>
        <p:spPr bwMode="auto">
          <a:xfrm>
            <a:off x="4724400" y="5151460"/>
            <a:ext cx="4038600" cy="725488"/>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Developer testing</a:t>
            </a:r>
            <a:endParaRPr lang="en-GB" sz="1600" b="1" dirty="0">
              <a:solidFill>
                <a:schemeClr val="bg1"/>
              </a:solidFill>
            </a:endParaRPr>
          </a:p>
        </p:txBody>
      </p:sp>
      <p:sp>
        <p:nvSpPr>
          <p:cNvPr id="1489930" name="Rectangle 10"/>
          <p:cNvSpPr>
            <a:spLocks noChangeArrowheads="1"/>
          </p:cNvSpPr>
          <p:nvPr/>
        </p:nvSpPr>
        <p:spPr bwMode="auto">
          <a:xfrm>
            <a:off x="4724400" y="4313260"/>
            <a:ext cx="4038600" cy="723900"/>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Development Documentation testing</a:t>
            </a:r>
          </a:p>
          <a:p>
            <a:pPr algn="ctr"/>
            <a:r>
              <a:rPr lang="en-US" sz="1200" b="1" dirty="0">
                <a:solidFill>
                  <a:schemeClr val="bg1"/>
                </a:solidFill>
              </a:rPr>
              <a:t>“Reviews and inspections of requirements, designs, plans”</a:t>
            </a:r>
            <a:endParaRPr lang="en-GB" sz="1200" b="1" dirty="0">
              <a:solidFill>
                <a:schemeClr val="bg1"/>
              </a:solidFill>
            </a:endParaRPr>
          </a:p>
        </p:txBody>
      </p:sp>
      <p:sp>
        <p:nvSpPr>
          <p:cNvPr id="1489931" name="Rectangle 11"/>
          <p:cNvSpPr>
            <a:spLocks noChangeArrowheads="1"/>
          </p:cNvSpPr>
          <p:nvPr/>
        </p:nvSpPr>
        <p:spPr bwMode="auto">
          <a:xfrm>
            <a:off x="457200" y="5151460"/>
            <a:ext cx="4038600" cy="725488"/>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Bug reporting</a:t>
            </a:r>
          </a:p>
        </p:txBody>
      </p:sp>
      <p:sp>
        <p:nvSpPr>
          <p:cNvPr id="1489932" name="Rectangle 12"/>
          <p:cNvSpPr>
            <a:spLocks noChangeArrowheads="1"/>
          </p:cNvSpPr>
          <p:nvPr/>
        </p:nvSpPr>
        <p:spPr bwMode="auto">
          <a:xfrm>
            <a:off x="457200" y="5989660"/>
            <a:ext cx="4038600" cy="725488"/>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Environments and Infrastructure</a:t>
            </a:r>
          </a:p>
        </p:txBody>
      </p:sp>
      <p:sp>
        <p:nvSpPr>
          <p:cNvPr id="1489933" name="Rectangle 13"/>
          <p:cNvSpPr>
            <a:spLocks noChangeArrowheads="1"/>
          </p:cNvSpPr>
          <p:nvPr/>
        </p:nvSpPr>
        <p:spPr bwMode="auto">
          <a:xfrm>
            <a:off x="4724400" y="2636860"/>
            <a:ext cx="4038600" cy="723900"/>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Acceptance testing of external components</a:t>
            </a:r>
          </a:p>
        </p:txBody>
      </p:sp>
      <p:sp>
        <p:nvSpPr>
          <p:cNvPr id="1489934" name="Rectangle 14"/>
          <p:cNvSpPr>
            <a:spLocks noChangeArrowheads="1"/>
          </p:cNvSpPr>
          <p:nvPr/>
        </p:nvSpPr>
        <p:spPr bwMode="auto">
          <a:xfrm>
            <a:off x="4724400" y="5989660"/>
            <a:ext cx="4038600" cy="725488"/>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QE Process Improvement</a:t>
            </a:r>
          </a:p>
        </p:txBody>
      </p:sp>
      <p:sp>
        <p:nvSpPr>
          <p:cNvPr id="1489935" name="Rectangle 15"/>
          <p:cNvSpPr>
            <a:spLocks noChangeArrowheads="1"/>
          </p:cNvSpPr>
          <p:nvPr/>
        </p:nvSpPr>
        <p:spPr bwMode="auto">
          <a:xfrm rot="-5400000">
            <a:off x="2590800" y="4008460"/>
            <a:ext cx="4114800" cy="457200"/>
          </a:xfrm>
          <a:prstGeom prst="rect">
            <a:avLst/>
          </a:prstGeom>
          <a:solidFill>
            <a:schemeClr val="accent2"/>
          </a:solidFill>
          <a:ln w="12700">
            <a:noFill/>
            <a:miter lim="800000"/>
            <a:headEnd/>
            <a:tailEnd/>
          </a:ln>
          <a:effectLst/>
        </p:spPr>
        <p:txBody>
          <a:bodyPr wrap="none" lIns="90000" tIns="46800" rIns="90000" bIns="46800" anchor="ctr"/>
          <a:lstStyle/>
          <a:p>
            <a:pPr algn="ctr"/>
            <a:r>
              <a:rPr lang="en-US" sz="1600" b="1" dirty="0">
                <a:solidFill>
                  <a:schemeClr val="bg1"/>
                </a:solidFill>
              </a:rPr>
              <a:t>Build mastering</a:t>
            </a:r>
            <a:endParaRPr lang="en-GB" sz="1600" b="1" dirty="0">
              <a:solidFill>
                <a:schemeClr val="bg1"/>
              </a:solidFill>
            </a:endParaRPr>
          </a:p>
        </p:txBody>
      </p:sp>
      <p:sp>
        <p:nvSpPr>
          <p:cNvPr id="16" name="Slide Number Placeholder 15"/>
          <p:cNvSpPr>
            <a:spLocks noGrp="1"/>
          </p:cNvSpPr>
          <p:nvPr>
            <p:ph type="sldNum" sz="quarter" idx="12"/>
          </p:nvPr>
        </p:nvSpPr>
        <p:spPr/>
        <p:txBody>
          <a:bodyPr/>
          <a:lstStyle/>
          <a:p>
            <a:fld id="{227F0B53-9592-4779-891F-997228E46E01}" type="slidenum">
              <a:rPr lang="sv-SE" smtClean="0"/>
              <a:pPr/>
              <a:t>23</a:t>
            </a:fld>
            <a:endParaRPr lang="sv-SE"/>
          </a:p>
        </p:txBody>
      </p:sp>
      <p:sp>
        <p:nvSpPr>
          <p:cNvPr id="17" name="Footer Placeholder 16"/>
          <p:cNvSpPr>
            <a:spLocks noGrp="1"/>
          </p:cNvSpPr>
          <p:nvPr>
            <p:ph type="ftr" sz="quarter" idx="11"/>
          </p:nvPr>
        </p:nvSpPr>
        <p:spPr/>
        <p:txBody>
          <a:bodyPr/>
          <a:lstStyle/>
          <a:p>
            <a:r>
              <a:rPr lang="en-US" smtClean="0"/>
              <a:t>DAY 2</a:t>
            </a:r>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90946" name="Rectangle 2"/>
          <p:cNvSpPr>
            <a:spLocks noGrp="1" noChangeArrowheads="1"/>
          </p:cNvSpPr>
          <p:nvPr>
            <p:ph type="title"/>
          </p:nvPr>
        </p:nvSpPr>
        <p:spPr>
          <a:xfrm>
            <a:off x="457200" y="285728"/>
            <a:ext cx="8305800" cy="1143000"/>
          </a:xfrm>
        </p:spPr>
        <p:txBody>
          <a:bodyPr>
            <a:normAutofit/>
          </a:bodyPr>
          <a:lstStyle/>
          <a:p>
            <a:r>
              <a:rPr lang="en-US" sz="3200" dirty="0"/>
              <a:t>So, What We Had at End </a:t>
            </a:r>
            <a:r>
              <a:rPr lang="en-US" sz="3200" dirty="0" smtClean="0"/>
              <a:t>of </a:t>
            </a:r>
            <a:r>
              <a:rPr lang="en-US" sz="3200" dirty="0"/>
              <a:t>2004</a:t>
            </a:r>
            <a:endParaRPr lang="en-GB" sz="3200" dirty="0"/>
          </a:p>
        </p:txBody>
      </p:sp>
      <p:grpSp>
        <p:nvGrpSpPr>
          <p:cNvPr id="2" name="Group 3"/>
          <p:cNvGrpSpPr>
            <a:grpSpLocks/>
          </p:cNvGrpSpPr>
          <p:nvPr/>
        </p:nvGrpSpPr>
        <p:grpSpPr bwMode="auto">
          <a:xfrm>
            <a:off x="457200" y="1371600"/>
            <a:ext cx="8305800" cy="4916488"/>
            <a:chOff x="288" y="864"/>
            <a:chExt cx="5232" cy="3097"/>
          </a:xfrm>
        </p:grpSpPr>
        <p:sp>
          <p:nvSpPr>
            <p:cNvPr id="1490948" name="Rectangle 4"/>
            <p:cNvSpPr>
              <a:spLocks noChangeArrowheads="1"/>
            </p:cNvSpPr>
            <p:nvPr/>
          </p:nvSpPr>
          <p:spPr bwMode="auto">
            <a:xfrm>
              <a:off x="288" y="864"/>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Product-level Test Planning and Control </a:t>
              </a:r>
            </a:p>
            <a:p>
              <a:pPr algn="ctr"/>
              <a:r>
                <a:rPr lang="en-US" sz="1200" b="1" dirty="0">
                  <a:solidFill>
                    <a:schemeClr val="bg1"/>
                  </a:solidFill>
                </a:rPr>
                <a:t>“Master Test Planning”</a:t>
              </a:r>
              <a:endParaRPr lang="en-GB" sz="1200" b="1" dirty="0">
                <a:solidFill>
                  <a:schemeClr val="bg1"/>
                </a:solidFill>
              </a:endParaRPr>
            </a:p>
          </p:txBody>
        </p:sp>
        <p:sp>
          <p:nvSpPr>
            <p:cNvPr id="1490949" name="Rectangle 5"/>
            <p:cNvSpPr>
              <a:spLocks noChangeArrowheads="1"/>
            </p:cNvSpPr>
            <p:nvPr/>
          </p:nvSpPr>
          <p:spPr bwMode="auto">
            <a:xfrm>
              <a:off x="288" y="1392"/>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Area-level Test Planning and Design </a:t>
              </a:r>
            </a:p>
            <a:p>
              <a:pPr algn="ctr"/>
              <a:r>
                <a:rPr lang="en-US" sz="1200" b="1" dirty="0">
                  <a:solidFill>
                    <a:schemeClr val="bg1"/>
                  </a:solidFill>
                </a:rPr>
                <a:t>“Test strategies, test specification”</a:t>
              </a:r>
              <a:endParaRPr lang="en-GB" sz="1200" b="1" dirty="0">
                <a:solidFill>
                  <a:schemeClr val="bg1"/>
                </a:solidFill>
              </a:endParaRPr>
            </a:p>
          </p:txBody>
        </p:sp>
        <p:sp>
          <p:nvSpPr>
            <p:cNvPr id="1490950" name="Rectangle 6"/>
            <p:cNvSpPr>
              <a:spLocks noChangeArrowheads="1"/>
            </p:cNvSpPr>
            <p:nvPr/>
          </p:nvSpPr>
          <p:spPr bwMode="auto">
            <a:xfrm>
              <a:off x="288" y="1920"/>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Reporting</a:t>
              </a:r>
              <a:endParaRPr lang="en-GB" sz="1600" b="1" dirty="0">
                <a:solidFill>
                  <a:schemeClr val="bg1"/>
                </a:solidFill>
              </a:endParaRPr>
            </a:p>
          </p:txBody>
        </p:sp>
        <p:sp>
          <p:nvSpPr>
            <p:cNvPr id="1490951" name="Rectangle 7"/>
            <p:cNvSpPr>
              <a:spLocks noChangeArrowheads="1"/>
            </p:cNvSpPr>
            <p:nvPr/>
          </p:nvSpPr>
          <p:spPr bwMode="auto">
            <a:xfrm>
              <a:off x="2976" y="1920"/>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Maintenance Testing</a:t>
              </a:r>
              <a:endParaRPr lang="en-GB" sz="1600" b="1" dirty="0">
                <a:solidFill>
                  <a:schemeClr val="bg1"/>
                </a:solidFill>
              </a:endParaRPr>
            </a:p>
          </p:txBody>
        </p:sp>
        <p:sp>
          <p:nvSpPr>
            <p:cNvPr id="1490952" name="Rectangle 8"/>
            <p:cNvSpPr>
              <a:spLocks noChangeArrowheads="1"/>
            </p:cNvSpPr>
            <p:nvPr/>
          </p:nvSpPr>
          <p:spPr bwMode="auto">
            <a:xfrm>
              <a:off x="288" y="2448"/>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Execution and Logging</a:t>
              </a:r>
              <a:endParaRPr lang="en-GB" sz="1600" b="1" dirty="0">
                <a:solidFill>
                  <a:schemeClr val="bg1"/>
                </a:solidFill>
              </a:endParaRPr>
            </a:p>
          </p:txBody>
        </p:sp>
        <p:sp>
          <p:nvSpPr>
            <p:cNvPr id="1490953" name="Rectangle 9"/>
            <p:cNvSpPr>
              <a:spLocks noChangeArrowheads="1"/>
            </p:cNvSpPr>
            <p:nvPr/>
          </p:nvSpPr>
          <p:spPr bwMode="auto">
            <a:xfrm>
              <a:off x="2976" y="864"/>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Automation</a:t>
              </a:r>
            </a:p>
          </p:txBody>
        </p:sp>
        <p:sp>
          <p:nvSpPr>
            <p:cNvPr id="1490954" name="Rectangle 10"/>
            <p:cNvSpPr>
              <a:spLocks noChangeArrowheads="1"/>
            </p:cNvSpPr>
            <p:nvPr/>
          </p:nvSpPr>
          <p:spPr bwMode="auto">
            <a:xfrm>
              <a:off x="2976" y="2976"/>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Developer testing</a:t>
              </a:r>
              <a:endParaRPr lang="en-GB" sz="1600" b="1" dirty="0">
                <a:solidFill>
                  <a:schemeClr val="bg1"/>
                </a:solidFill>
              </a:endParaRPr>
            </a:p>
          </p:txBody>
        </p:sp>
        <p:sp>
          <p:nvSpPr>
            <p:cNvPr id="1490955" name="Rectangle 11"/>
            <p:cNvSpPr>
              <a:spLocks noChangeArrowheads="1"/>
            </p:cNvSpPr>
            <p:nvPr/>
          </p:nvSpPr>
          <p:spPr bwMode="auto">
            <a:xfrm>
              <a:off x="2976" y="2448"/>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Development Documentation testing</a:t>
              </a:r>
            </a:p>
            <a:p>
              <a:pPr algn="ctr"/>
              <a:r>
                <a:rPr lang="en-US" sz="1200" b="1" dirty="0">
                  <a:solidFill>
                    <a:schemeClr val="bg1"/>
                  </a:solidFill>
                </a:rPr>
                <a:t>“Reviews and inspections of requirements, designs, plans”</a:t>
              </a:r>
              <a:endParaRPr lang="en-GB" sz="1200" b="1" dirty="0">
                <a:solidFill>
                  <a:schemeClr val="bg1"/>
                </a:solidFill>
              </a:endParaRPr>
            </a:p>
          </p:txBody>
        </p:sp>
        <p:sp>
          <p:nvSpPr>
            <p:cNvPr id="1490956" name="Rectangle 12"/>
            <p:cNvSpPr>
              <a:spLocks noChangeArrowheads="1"/>
            </p:cNvSpPr>
            <p:nvPr/>
          </p:nvSpPr>
          <p:spPr bwMode="auto">
            <a:xfrm>
              <a:off x="288" y="2976"/>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Bug reporting</a:t>
              </a:r>
            </a:p>
          </p:txBody>
        </p:sp>
        <p:sp>
          <p:nvSpPr>
            <p:cNvPr id="1490957" name="Rectangle 13"/>
            <p:cNvSpPr>
              <a:spLocks noChangeArrowheads="1"/>
            </p:cNvSpPr>
            <p:nvPr/>
          </p:nvSpPr>
          <p:spPr bwMode="auto">
            <a:xfrm>
              <a:off x="288" y="3504"/>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Environments and Infrastructure</a:t>
              </a:r>
            </a:p>
          </p:txBody>
        </p:sp>
        <p:sp>
          <p:nvSpPr>
            <p:cNvPr id="1490958" name="Rectangle 14"/>
            <p:cNvSpPr>
              <a:spLocks noChangeArrowheads="1"/>
            </p:cNvSpPr>
            <p:nvPr/>
          </p:nvSpPr>
          <p:spPr bwMode="auto">
            <a:xfrm>
              <a:off x="2976" y="1392"/>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Acceptance testing of external components</a:t>
              </a:r>
            </a:p>
          </p:txBody>
        </p:sp>
        <p:sp>
          <p:nvSpPr>
            <p:cNvPr id="1490959" name="Rectangle 15"/>
            <p:cNvSpPr>
              <a:spLocks noChangeArrowheads="1"/>
            </p:cNvSpPr>
            <p:nvPr/>
          </p:nvSpPr>
          <p:spPr bwMode="auto">
            <a:xfrm>
              <a:off x="2976" y="3504"/>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QE Process Improvement</a:t>
              </a:r>
            </a:p>
          </p:txBody>
        </p:sp>
      </p:grpSp>
      <p:sp>
        <p:nvSpPr>
          <p:cNvPr id="1490960" name="AutoShape 16"/>
          <p:cNvSpPr>
            <a:spLocks noChangeArrowheads="1"/>
          </p:cNvSpPr>
          <p:nvPr/>
        </p:nvSpPr>
        <p:spPr bwMode="auto">
          <a:xfrm>
            <a:off x="457200" y="14478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hlink"/>
                </a:solidFill>
              </a:rPr>
              <a:t>Master test plans not written.</a:t>
            </a:r>
          </a:p>
          <a:p>
            <a:pPr algn="ctr"/>
            <a:r>
              <a:rPr lang="en-US" sz="1200" b="1" dirty="0">
                <a:solidFill>
                  <a:schemeClr val="hlink"/>
                </a:solidFill>
              </a:rPr>
              <a:t>People working on their areas, only very few “system testers”</a:t>
            </a:r>
            <a:endParaRPr lang="en-GB" sz="1200" b="1" dirty="0">
              <a:solidFill>
                <a:schemeClr val="hlink"/>
              </a:solidFill>
            </a:endParaRPr>
          </a:p>
        </p:txBody>
      </p:sp>
      <p:sp>
        <p:nvSpPr>
          <p:cNvPr id="1490961" name="AutoShape 17"/>
          <p:cNvSpPr>
            <a:spLocks noChangeArrowheads="1"/>
          </p:cNvSpPr>
          <p:nvPr/>
        </p:nvSpPr>
        <p:spPr bwMode="auto">
          <a:xfrm>
            <a:off x="457200" y="22860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hlink"/>
                </a:solidFill>
              </a:rPr>
              <a:t>No strategies, detailed test cases with positive and negative tests, old priorities. Not enough non-functional aspects.</a:t>
            </a:r>
            <a:r>
              <a:rPr lang="en-US" sz="1200" b="1" dirty="0">
                <a:solidFill>
                  <a:schemeClr val="accent2"/>
                </a:solidFill>
              </a:rPr>
              <a:t> </a:t>
            </a:r>
            <a:endParaRPr lang="en-GB" sz="1200" b="1" dirty="0">
              <a:solidFill>
                <a:schemeClr val="accent2"/>
              </a:solidFill>
            </a:endParaRPr>
          </a:p>
        </p:txBody>
      </p:sp>
      <p:sp>
        <p:nvSpPr>
          <p:cNvPr id="1490962" name="AutoShape 18"/>
          <p:cNvSpPr>
            <a:spLocks noChangeArrowheads="1"/>
          </p:cNvSpPr>
          <p:nvPr/>
        </p:nvSpPr>
        <p:spPr bwMode="auto">
          <a:xfrm>
            <a:off x="457200" y="39624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hlink"/>
                </a:solidFill>
              </a:rPr>
              <a:t>Often only priority 1 cases run, system bugs not found, bugs found late. </a:t>
            </a:r>
          </a:p>
          <a:p>
            <a:pPr algn="ctr"/>
            <a:r>
              <a:rPr lang="en-US" sz="1200" b="1" dirty="0">
                <a:solidFill>
                  <a:schemeClr val="hlink"/>
                </a:solidFill>
              </a:rPr>
              <a:t>Logs filled in, kept negative cases on lists</a:t>
            </a:r>
            <a:endParaRPr lang="en-GB" sz="1200" b="1" dirty="0">
              <a:solidFill>
                <a:schemeClr val="hlink"/>
              </a:solidFill>
            </a:endParaRPr>
          </a:p>
        </p:txBody>
      </p:sp>
      <p:sp>
        <p:nvSpPr>
          <p:cNvPr id="1490963" name="AutoShape 19"/>
          <p:cNvSpPr>
            <a:spLocks noChangeArrowheads="1"/>
          </p:cNvSpPr>
          <p:nvPr/>
        </p:nvSpPr>
        <p:spPr bwMode="auto">
          <a:xfrm>
            <a:off x="457200" y="31242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hlink"/>
                </a:solidFill>
              </a:rPr>
              <a:t>Occasionally filled weekly reports about open severe bugs, false sense of security</a:t>
            </a:r>
            <a:endParaRPr lang="en-GB" sz="1200" b="1" dirty="0">
              <a:solidFill>
                <a:schemeClr val="hlink"/>
              </a:solidFill>
            </a:endParaRPr>
          </a:p>
        </p:txBody>
      </p:sp>
      <p:sp>
        <p:nvSpPr>
          <p:cNvPr id="1490964" name="AutoShape 20"/>
          <p:cNvSpPr>
            <a:spLocks noChangeArrowheads="1"/>
          </p:cNvSpPr>
          <p:nvPr/>
        </p:nvSpPr>
        <p:spPr bwMode="auto">
          <a:xfrm>
            <a:off x="457200" y="48006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hlink"/>
                </a:solidFill>
              </a:rPr>
              <a:t>Unfocused bug reports typically with higher than appropriate severity. Centralized large-effort CCB.</a:t>
            </a:r>
            <a:r>
              <a:rPr lang="en-US" sz="1200" b="1" dirty="0">
                <a:solidFill>
                  <a:schemeClr val="accent2"/>
                </a:solidFill>
              </a:rPr>
              <a:t> </a:t>
            </a:r>
            <a:endParaRPr lang="en-GB" sz="1200" b="1" dirty="0">
              <a:solidFill>
                <a:schemeClr val="accent2"/>
              </a:solidFill>
            </a:endParaRPr>
          </a:p>
        </p:txBody>
      </p:sp>
      <p:sp>
        <p:nvSpPr>
          <p:cNvPr id="1490965" name="AutoShape 21"/>
          <p:cNvSpPr>
            <a:spLocks noChangeArrowheads="1"/>
          </p:cNvSpPr>
          <p:nvPr/>
        </p:nvSpPr>
        <p:spPr bwMode="auto">
          <a:xfrm>
            <a:off x="457200" y="56388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hlink"/>
                </a:solidFill>
              </a:rPr>
              <a:t>Unknown/random lab services, everyone has their own env. </a:t>
            </a:r>
          </a:p>
          <a:p>
            <a:pPr algn="ctr"/>
            <a:r>
              <a:rPr lang="en-GB" sz="1200" b="1" dirty="0">
                <a:solidFill>
                  <a:schemeClr val="hlink"/>
                </a:solidFill>
              </a:rPr>
              <a:t>Slow network. </a:t>
            </a:r>
          </a:p>
        </p:txBody>
      </p:sp>
      <p:sp>
        <p:nvSpPr>
          <p:cNvPr id="1490966" name="AutoShape 22"/>
          <p:cNvSpPr>
            <a:spLocks noChangeArrowheads="1"/>
          </p:cNvSpPr>
          <p:nvPr/>
        </p:nvSpPr>
        <p:spPr bwMode="auto">
          <a:xfrm>
            <a:off x="4724400" y="14478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hlink"/>
                </a:solidFill>
              </a:rPr>
              <a:t>Full-time person to maintain GUI regression automation, API-level script-based solutions in some components</a:t>
            </a:r>
            <a:endParaRPr lang="en-GB" sz="1200" b="1" dirty="0">
              <a:solidFill>
                <a:schemeClr val="accent2"/>
              </a:solidFill>
            </a:endParaRPr>
          </a:p>
        </p:txBody>
      </p:sp>
      <p:sp>
        <p:nvSpPr>
          <p:cNvPr id="1490967" name="AutoShape 23"/>
          <p:cNvSpPr>
            <a:spLocks noChangeArrowheads="1"/>
          </p:cNvSpPr>
          <p:nvPr/>
        </p:nvSpPr>
        <p:spPr bwMode="auto">
          <a:xfrm>
            <a:off x="4724400" y="22860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hlink"/>
                </a:solidFill>
              </a:rPr>
              <a:t>Limited number of external components, with somewhat unclear acceptance testing.</a:t>
            </a:r>
          </a:p>
          <a:p>
            <a:pPr algn="ctr"/>
            <a:r>
              <a:rPr lang="en-US" sz="1200" b="1" dirty="0">
                <a:solidFill>
                  <a:schemeClr val="hlink"/>
                </a:solidFill>
              </a:rPr>
              <a:t>Subcontracting components undeveloped. </a:t>
            </a:r>
            <a:endParaRPr lang="en-GB" sz="1200" b="1" dirty="0">
              <a:solidFill>
                <a:schemeClr val="hlink"/>
              </a:solidFill>
            </a:endParaRPr>
          </a:p>
        </p:txBody>
      </p:sp>
      <p:sp>
        <p:nvSpPr>
          <p:cNvPr id="1490968" name="AutoShape 24"/>
          <p:cNvSpPr>
            <a:spLocks noChangeArrowheads="1"/>
          </p:cNvSpPr>
          <p:nvPr/>
        </p:nvSpPr>
        <p:spPr bwMode="auto">
          <a:xfrm>
            <a:off x="4724400" y="31242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hlink"/>
                </a:solidFill>
              </a:rPr>
              <a:t>Maintenance managers struggling with maintenance vs. project load, specialized maintenance QEs</a:t>
            </a:r>
            <a:endParaRPr lang="en-GB" sz="1200" b="1" dirty="0">
              <a:solidFill>
                <a:schemeClr val="hlink"/>
              </a:solidFill>
            </a:endParaRPr>
          </a:p>
        </p:txBody>
      </p:sp>
      <p:sp>
        <p:nvSpPr>
          <p:cNvPr id="1490969" name="AutoShape 25"/>
          <p:cNvSpPr>
            <a:spLocks noChangeArrowheads="1"/>
          </p:cNvSpPr>
          <p:nvPr/>
        </p:nvSpPr>
        <p:spPr bwMode="auto">
          <a:xfrm>
            <a:off x="4724400" y="39624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hlink"/>
                </a:solidFill>
              </a:rPr>
              <a:t>Some inspections used with quite bad results.</a:t>
            </a:r>
            <a:endParaRPr lang="en-GB" sz="1200" b="1" dirty="0">
              <a:solidFill>
                <a:schemeClr val="hlink"/>
              </a:solidFill>
            </a:endParaRPr>
          </a:p>
        </p:txBody>
      </p:sp>
      <p:sp>
        <p:nvSpPr>
          <p:cNvPr id="1490970" name="AutoShape 26"/>
          <p:cNvSpPr>
            <a:spLocks noChangeArrowheads="1"/>
          </p:cNvSpPr>
          <p:nvPr/>
        </p:nvSpPr>
        <p:spPr bwMode="auto">
          <a:xfrm>
            <a:off x="4724400" y="48006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hlink"/>
                </a:solidFill>
              </a:rPr>
              <a:t>Very few developers had tried, no support from QE side</a:t>
            </a:r>
            <a:endParaRPr lang="en-GB" sz="1200" b="1" dirty="0">
              <a:solidFill>
                <a:schemeClr val="hlink"/>
              </a:solidFill>
            </a:endParaRPr>
          </a:p>
        </p:txBody>
      </p:sp>
      <p:sp>
        <p:nvSpPr>
          <p:cNvPr id="1490971" name="AutoShape 27"/>
          <p:cNvSpPr>
            <a:spLocks noChangeArrowheads="1"/>
          </p:cNvSpPr>
          <p:nvPr/>
        </p:nvSpPr>
        <p:spPr bwMode="auto">
          <a:xfrm>
            <a:off x="4724400" y="56388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hlink"/>
                </a:solidFill>
              </a:rPr>
              <a:t>People not improving their own work. Nobody working on general testing improvements. QE Forum dead.</a:t>
            </a:r>
            <a:endParaRPr lang="en-GB" sz="1200" b="1" dirty="0">
              <a:solidFill>
                <a:schemeClr val="hlink"/>
              </a:solidFill>
            </a:endParaRPr>
          </a:p>
        </p:txBody>
      </p:sp>
      <p:grpSp>
        <p:nvGrpSpPr>
          <p:cNvPr id="3" name="Group 28"/>
          <p:cNvGrpSpPr>
            <a:grpSpLocks/>
          </p:cNvGrpSpPr>
          <p:nvPr/>
        </p:nvGrpSpPr>
        <p:grpSpPr bwMode="auto">
          <a:xfrm>
            <a:off x="76200" y="76200"/>
            <a:ext cx="8991600" cy="6172200"/>
            <a:chOff x="48" y="48"/>
            <a:chExt cx="5664" cy="3888"/>
          </a:xfrm>
        </p:grpSpPr>
        <p:sp>
          <p:nvSpPr>
            <p:cNvPr id="1490973" name="AutoShape 29"/>
            <p:cNvSpPr>
              <a:spLocks noChangeArrowheads="1"/>
            </p:cNvSpPr>
            <p:nvPr/>
          </p:nvSpPr>
          <p:spPr bwMode="auto">
            <a:xfrm>
              <a:off x="4896" y="48"/>
              <a:ext cx="624" cy="624"/>
            </a:xfrm>
            <a:prstGeom prst="foldedCorner">
              <a:avLst>
                <a:gd name="adj" fmla="val 28204"/>
              </a:avLst>
            </a:prstGeom>
            <a:solidFill>
              <a:srgbClr val="FF9900"/>
            </a:solidFill>
            <a:ln w="12700">
              <a:noFill/>
              <a:round/>
              <a:headEnd/>
              <a:tailEnd/>
            </a:ln>
            <a:effectLst/>
          </p:spPr>
          <p:txBody>
            <a:bodyPr wrap="none" lIns="90000" tIns="46800" rIns="90000" bIns="46800" anchor="ctr"/>
            <a:lstStyle/>
            <a:p>
              <a:pPr algn="ctr"/>
              <a:r>
                <a:rPr lang="fi-FI" sz="1400" b="1">
                  <a:solidFill>
                    <a:schemeClr val="bg1"/>
                  </a:solidFill>
                </a:rPr>
                <a:t>Grade:</a:t>
              </a:r>
            </a:p>
            <a:p>
              <a:pPr algn="ctr"/>
              <a:r>
                <a:rPr lang="fi-FI" sz="3200" b="1">
                  <a:solidFill>
                    <a:schemeClr val="bg1"/>
                  </a:solidFill>
                </a:rPr>
                <a:t>7</a:t>
              </a:r>
              <a:endParaRPr lang="en-GB" sz="3200" b="1" dirty="0">
                <a:solidFill>
                  <a:schemeClr val="bg1"/>
                </a:solidFill>
              </a:endParaRPr>
            </a:p>
          </p:txBody>
        </p:sp>
        <p:sp>
          <p:nvSpPr>
            <p:cNvPr id="1490974" name="AutoShape 30"/>
            <p:cNvSpPr>
              <a:spLocks noChangeArrowheads="1"/>
            </p:cNvSpPr>
            <p:nvPr/>
          </p:nvSpPr>
          <p:spPr bwMode="auto">
            <a:xfrm>
              <a:off x="48" y="912"/>
              <a:ext cx="336" cy="384"/>
            </a:xfrm>
            <a:prstGeom prst="foldedCorner">
              <a:avLst>
                <a:gd name="adj" fmla="val 28204"/>
              </a:avLst>
            </a:prstGeom>
            <a:solidFill>
              <a:srgbClr val="FF9900"/>
            </a:solidFill>
            <a:ln w="12700">
              <a:noFill/>
              <a:round/>
              <a:headEnd/>
              <a:tailEnd/>
            </a:ln>
            <a:effectLst/>
          </p:spPr>
          <p:txBody>
            <a:bodyPr wrap="none" lIns="90000" tIns="46800" rIns="90000" bIns="46800" anchor="ctr"/>
            <a:lstStyle/>
            <a:p>
              <a:pPr algn="ctr"/>
              <a:r>
                <a:rPr lang="fi-FI" sz="1000" b="1" dirty="0" err="1">
                  <a:solidFill>
                    <a:schemeClr val="bg1"/>
                  </a:solidFill>
                </a:rPr>
                <a:t>Grade</a:t>
              </a:r>
              <a:r>
                <a:rPr lang="fi-FI" sz="1000" b="1" dirty="0">
                  <a:solidFill>
                    <a:schemeClr val="bg1"/>
                  </a:solidFill>
                </a:rPr>
                <a:t>:</a:t>
              </a:r>
            </a:p>
            <a:p>
              <a:pPr algn="ctr"/>
              <a:r>
                <a:rPr lang="fi-FI" sz="2400" b="1" dirty="0">
                  <a:solidFill>
                    <a:schemeClr val="bg1"/>
                  </a:solidFill>
                </a:rPr>
                <a:t>7</a:t>
              </a:r>
              <a:endParaRPr lang="en-GB" sz="2400" b="1" dirty="0">
                <a:solidFill>
                  <a:schemeClr val="bg1"/>
                </a:solidFill>
              </a:endParaRPr>
            </a:p>
          </p:txBody>
        </p:sp>
        <p:sp>
          <p:nvSpPr>
            <p:cNvPr id="1490975" name="AutoShape 31"/>
            <p:cNvSpPr>
              <a:spLocks noChangeArrowheads="1"/>
            </p:cNvSpPr>
            <p:nvPr/>
          </p:nvSpPr>
          <p:spPr bwMode="auto">
            <a:xfrm>
              <a:off x="48" y="1440"/>
              <a:ext cx="336" cy="384"/>
            </a:xfrm>
            <a:prstGeom prst="foldedCorner">
              <a:avLst>
                <a:gd name="adj" fmla="val 28204"/>
              </a:avLst>
            </a:prstGeom>
            <a:solidFill>
              <a:srgbClr val="FF9900"/>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7</a:t>
              </a:r>
              <a:endParaRPr lang="en-GB" sz="2400" b="1" dirty="0">
                <a:solidFill>
                  <a:schemeClr val="bg1"/>
                </a:solidFill>
              </a:endParaRPr>
            </a:p>
          </p:txBody>
        </p:sp>
        <p:sp>
          <p:nvSpPr>
            <p:cNvPr id="1490976" name="AutoShape 32"/>
            <p:cNvSpPr>
              <a:spLocks noChangeArrowheads="1"/>
            </p:cNvSpPr>
            <p:nvPr/>
          </p:nvSpPr>
          <p:spPr bwMode="auto">
            <a:xfrm>
              <a:off x="48" y="1968"/>
              <a:ext cx="336" cy="384"/>
            </a:xfrm>
            <a:prstGeom prst="foldedCorner">
              <a:avLst>
                <a:gd name="adj" fmla="val 28204"/>
              </a:avLst>
            </a:prstGeom>
            <a:solidFill>
              <a:srgbClr val="FF9900"/>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sp>
          <p:nvSpPr>
            <p:cNvPr id="1490977" name="AutoShape 33"/>
            <p:cNvSpPr>
              <a:spLocks noChangeArrowheads="1"/>
            </p:cNvSpPr>
            <p:nvPr/>
          </p:nvSpPr>
          <p:spPr bwMode="auto">
            <a:xfrm>
              <a:off x="48" y="2496"/>
              <a:ext cx="336" cy="384"/>
            </a:xfrm>
            <a:prstGeom prst="foldedCorner">
              <a:avLst>
                <a:gd name="adj" fmla="val 28204"/>
              </a:avLst>
            </a:prstGeom>
            <a:solidFill>
              <a:srgbClr val="FF9900"/>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7</a:t>
              </a:r>
              <a:endParaRPr lang="en-GB" sz="2400" b="1" dirty="0">
                <a:solidFill>
                  <a:schemeClr val="bg1"/>
                </a:solidFill>
              </a:endParaRPr>
            </a:p>
          </p:txBody>
        </p:sp>
        <p:sp>
          <p:nvSpPr>
            <p:cNvPr id="1490978" name="AutoShape 34"/>
            <p:cNvSpPr>
              <a:spLocks noChangeArrowheads="1"/>
            </p:cNvSpPr>
            <p:nvPr/>
          </p:nvSpPr>
          <p:spPr bwMode="auto">
            <a:xfrm>
              <a:off x="48" y="3024"/>
              <a:ext cx="336" cy="384"/>
            </a:xfrm>
            <a:prstGeom prst="foldedCorner">
              <a:avLst>
                <a:gd name="adj" fmla="val 28204"/>
              </a:avLst>
            </a:prstGeom>
            <a:solidFill>
              <a:srgbClr val="FF9900"/>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sp>
          <p:nvSpPr>
            <p:cNvPr id="1490979" name="AutoShape 35"/>
            <p:cNvSpPr>
              <a:spLocks noChangeArrowheads="1"/>
            </p:cNvSpPr>
            <p:nvPr/>
          </p:nvSpPr>
          <p:spPr bwMode="auto">
            <a:xfrm>
              <a:off x="48" y="3552"/>
              <a:ext cx="336" cy="384"/>
            </a:xfrm>
            <a:prstGeom prst="foldedCorner">
              <a:avLst>
                <a:gd name="adj" fmla="val 28204"/>
              </a:avLst>
            </a:prstGeom>
            <a:solidFill>
              <a:srgbClr val="FF9900"/>
            </a:solidFill>
            <a:ln w="12700">
              <a:noFill/>
              <a:round/>
              <a:headEnd/>
              <a:tailEnd/>
            </a:ln>
            <a:effectLst/>
          </p:spPr>
          <p:txBody>
            <a:bodyPr wrap="none" lIns="90000" tIns="46800" rIns="90000" bIns="46800" anchor="ctr"/>
            <a:lstStyle/>
            <a:p>
              <a:pPr algn="ctr"/>
              <a:r>
                <a:rPr lang="fi-FI" sz="1000" b="1" dirty="0" err="1">
                  <a:solidFill>
                    <a:schemeClr val="bg1"/>
                  </a:solidFill>
                </a:rPr>
                <a:t>Grade</a:t>
              </a:r>
              <a:r>
                <a:rPr lang="fi-FI" sz="1000" b="1" dirty="0">
                  <a:solidFill>
                    <a:schemeClr val="bg1"/>
                  </a:solidFill>
                </a:rPr>
                <a:t>:</a:t>
              </a:r>
            </a:p>
            <a:p>
              <a:pPr algn="ctr"/>
              <a:r>
                <a:rPr lang="en-GB" sz="2400" b="1" dirty="0">
                  <a:solidFill>
                    <a:schemeClr val="bg1"/>
                  </a:solidFill>
                </a:rPr>
                <a:t>6</a:t>
              </a:r>
            </a:p>
          </p:txBody>
        </p:sp>
        <p:sp>
          <p:nvSpPr>
            <p:cNvPr id="1490980" name="AutoShape 36"/>
            <p:cNvSpPr>
              <a:spLocks noChangeArrowheads="1"/>
            </p:cNvSpPr>
            <p:nvPr/>
          </p:nvSpPr>
          <p:spPr bwMode="auto">
            <a:xfrm>
              <a:off x="5376" y="3552"/>
              <a:ext cx="336" cy="384"/>
            </a:xfrm>
            <a:prstGeom prst="foldedCorner">
              <a:avLst>
                <a:gd name="adj" fmla="val 28204"/>
              </a:avLst>
            </a:prstGeom>
            <a:solidFill>
              <a:srgbClr val="FF9900"/>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en-GB" sz="2400" b="1" dirty="0">
                  <a:solidFill>
                    <a:schemeClr val="bg1"/>
                  </a:solidFill>
                </a:rPr>
                <a:t>5</a:t>
              </a:r>
            </a:p>
          </p:txBody>
        </p:sp>
        <p:sp>
          <p:nvSpPr>
            <p:cNvPr id="1490981" name="AutoShape 37"/>
            <p:cNvSpPr>
              <a:spLocks noChangeArrowheads="1"/>
            </p:cNvSpPr>
            <p:nvPr/>
          </p:nvSpPr>
          <p:spPr bwMode="auto">
            <a:xfrm>
              <a:off x="5376" y="3024"/>
              <a:ext cx="336" cy="384"/>
            </a:xfrm>
            <a:prstGeom prst="foldedCorner">
              <a:avLst>
                <a:gd name="adj" fmla="val 28204"/>
              </a:avLst>
            </a:prstGeom>
            <a:solidFill>
              <a:srgbClr val="FF9900"/>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7</a:t>
              </a:r>
              <a:endParaRPr lang="en-GB" sz="2400" b="1" dirty="0">
                <a:solidFill>
                  <a:schemeClr val="bg1"/>
                </a:solidFill>
              </a:endParaRPr>
            </a:p>
          </p:txBody>
        </p:sp>
        <p:sp>
          <p:nvSpPr>
            <p:cNvPr id="1490982" name="AutoShape 38"/>
            <p:cNvSpPr>
              <a:spLocks noChangeArrowheads="1"/>
            </p:cNvSpPr>
            <p:nvPr/>
          </p:nvSpPr>
          <p:spPr bwMode="auto">
            <a:xfrm>
              <a:off x="5376" y="2496"/>
              <a:ext cx="336" cy="384"/>
            </a:xfrm>
            <a:prstGeom prst="foldedCorner">
              <a:avLst>
                <a:gd name="adj" fmla="val 28204"/>
              </a:avLst>
            </a:prstGeom>
            <a:solidFill>
              <a:srgbClr val="FF9900"/>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7</a:t>
              </a:r>
              <a:endParaRPr lang="en-GB" sz="2400" b="1" dirty="0">
                <a:solidFill>
                  <a:schemeClr val="bg1"/>
                </a:solidFill>
              </a:endParaRPr>
            </a:p>
          </p:txBody>
        </p:sp>
        <p:sp>
          <p:nvSpPr>
            <p:cNvPr id="1490983" name="AutoShape 39"/>
            <p:cNvSpPr>
              <a:spLocks noChangeArrowheads="1"/>
            </p:cNvSpPr>
            <p:nvPr/>
          </p:nvSpPr>
          <p:spPr bwMode="auto">
            <a:xfrm>
              <a:off x="5376" y="1968"/>
              <a:ext cx="336" cy="384"/>
            </a:xfrm>
            <a:prstGeom prst="foldedCorner">
              <a:avLst>
                <a:gd name="adj" fmla="val 28204"/>
              </a:avLst>
            </a:prstGeom>
            <a:solidFill>
              <a:srgbClr val="FF9900"/>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7</a:t>
              </a:r>
              <a:endParaRPr lang="en-GB" sz="2400" b="1" dirty="0">
                <a:solidFill>
                  <a:schemeClr val="bg1"/>
                </a:solidFill>
              </a:endParaRPr>
            </a:p>
          </p:txBody>
        </p:sp>
        <p:sp>
          <p:nvSpPr>
            <p:cNvPr id="1490984" name="AutoShape 40"/>
            <p:cNvSpPr>
              <a:spLocks noChangeArrowheads="1"/>
            </p:cNvSpPr>
            <p:nvPr/>
          </p:nvSpPr>
          <p:spPr bwMode="auto">
            <a:xfrm>
              <a:off x="5376" y="912"/>
              <a:ext cx="336" cy="384"/>
            </a:xfrm>
            <a:prstGeom prst="foldedCorner">
              <a:avLst>
                <a:gd name="adj" fmla="val 28204"/>
              </a:avLst>
            </a:prstGeom>
            <a:solidFill>
              <a:srgbClr val="FF9900"/>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7</a:t>
              </a:r>
              <a:endParaRPr lang="en-GB" sz="2400" b="1" dirty="0">
                <a:solidFill>
                  <a:schemeClr val="bg1"/>
                </a:solidFill>
              </a:endParaRPr>
            </a:p>
          </p:txBody>
        </p:sp>
        <p:sp>
          <p:nvSpPr>
            <p:cNvPr id="1490985" name="AutoShape 41"/>
            <p:cNvSpPr>
              <a:spLocks noChangeArrowheads="1"/>
            </p:cNvSpPr>
            <p:nvPr/>
          </p:nvSpPr>
          <p:spPr bwMode="auto">
            <a:xfrm>
              <a:off x="5376" y="1440"/>
              <a:ext cx="336" cy="384"/>
            </a:xfrm>
            <a:prstGeom prst="foldedCorner">
              <a:avLst>
                <a:gd name="adj" fmla="val 28204"/>
              </a:avLst>
            </a:prstGeom>
            <a:solidFill>
              <a:srgbClr val="FF9900"/>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grpSp>
      <p:sp>
        <p:nvSpPr>
          <p:cNvPr id="42" name="Slide Number Placeholder 41"/>
          <p:cNvSpPr>
            <a:spLocks noGrp="1"/>
          </p:cNvSpPr>
          <p:nvPr>
            <p:ph type="sldNum" sz="quarter" idx="12"/>
          </p:nvPr>
        </p:nvSpPr>
        <p:spPr/>
        <p:txBody>
          <a:bodyPr/>
          <a:lstStyle/>
          <a:p>
            <a:fld id="{227F0B53-9592-4779-891F-997228E46E01}" type="slidenum">
              <a:rPr lang="sv-SE" smtClean="0"/>
              <a:pPr/>
              <a:t>24</a:t>
            </a:fld>
            <a:endParaRPr lang="sv-SE"/>
          </a:p>
        </p:txBody>
      </p:sp>
      <p:sp>
        <p:nvSpPr>
          <p:cNvPr id="43" name="Footer Placeholder 42"/>
          <p:cNvSpPr>
            <a:spLocks noGrp="1"/>
          </p:cNvSpPr>
          <p:nvPr>
            <p:ph type="ftr" sz="quarter" idx="11"/>
          </p:nvPr>
        </p:nvSpPr>
        <p:spPr/>
        <p:txBody>
          <a:bodyPr/>
          <a:lstStyle/>
          <a:p>
            <a:r>
              <a:rPr lang="en-US" smtClean="0"/>
              <a:t>DAY 2</a:t>
            </a:r>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90960"/>
                                        </p:tgtEl>
                                        <p:attrNameLst>
                                          <p:attrName>style.visibility</p:attrName>
                                        </p:attrNameLst>
                                      </p:cBhvr>
                                      <p:to>
                                        <p:strVal val="visible"/>
                                      </p:to>
                                    </p:set>
                                    <p:anim calcmode="lin" valueType="num">
                                      <p:cBhvr additive="base">
                                        <p:cTn id="7" dur="500" fill="hold"/>
                                        <p:tgtEl>
                                          <p:spTgt spid="1490960"/>
                                        </p:tgtEl>
                                        <p:attrNameLst>
                                          <p:attrName>ppt_x</p:attrName>
                                        </p:attrNameLst>
                                      </p:cBhvr>
                                      <p:tavLst>
                                        <p:tav tm="0">
                                          <p:val>
                                            <p:strVal val="0-#ppt_w/2"/>
                                          </p:val>
                                        </p:tav>
                                        <p:tav tm="100000">
                                          <p:val>
                                            <p:strVal val="#ppt_x"/>
                                          </p:val>
                                        </p:tav>
                                      </p:tavLst>
                                    </p:anim>
                                    <p:anim calcmode="lin" valueType="num">
                                      <p:cBhvr additive="base">
                                        <p:cTn id="8" dur="500" fill="hold"/>
                                        <p:tgtEl>
                                          <p:spTgt spid="149096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90961"/>
                                        </p:tgtEl>
                                        <p:attrNameLst>
                                          <p:attrName>style.visibility</p:attrName>
                                        </p:attrNameLst>
                                      </p:cBhvr>
                                      <p:to>
                                        <p:strVal val="visible"/>
                                      </p:to>
                                    </p:set>
                                    <p:anim calcmode="lin" valueType="num">
                                      <p:cBhvr additive="base">
                                        <p:cTn id="13" dur="500" fill="hold"/>
                                        <p:tgtEl>
                                          <p:spTgt spid="1490961"/>
                                        </p:tgtEl>
                                        <p:attrNameLst>
                                          <p:attrName>ppt_x</p:attrName>
                                        </p:attrNameLst>
                                      </p:cBhvr>
                                      <p:tavLst>
                                        <p:tav tm="0">
                                          <p:val>
                                            <p:strVal val="0-#ppt_w/2"/>
                                          </p:val>
                                        </p:tav>
                                        <p:tav tm="100000">
                                          <p:val>
                                            <p:strVal val="#ppt_x"/>
                                          </p:val>
                                        </p:tav>
                                      </p:tavLst>
                                    </p:anim>
                                    <p:anim calcmode="lin" valueType="num">
                                      <p:cBhvr additive="base">
                                        <p:cTn id="14" dur="500" fill="hold"/>
                                        <p:tgtEl>
                                          <p:spTgt spid="149096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90963"/>
                                        </p:tgtEl>
                                        <p:attrNameLst>
                                          <p:attrName>style.visibility</p:attrName>
                                        </p:attrNameLst>
                                      </p:cBhvr>
                                      <p:to>
                                        <p:strVal val="visible"/>
                                      </p:to>
                                    </p:set>
                                    <p:anim calcmode="lin" valueType="num">
                                      <p:cBhvr additive="base">
                                        <p:cTn id="19" dur="500" fill="hold"/>
                                        <p:tgtEl>
                                          <p:spTgt spid="1490963"/>
                                        </p:tgtEl>
                                        <p:attrNameLst>
                                          <p:attrName>ppt_x</p:attrName>
                                        </p:attrNameLst>
                                      </p:cBhvr>
                                      <p:tavLst>
                                        <p:tav tm="0">
                                          <p:val>
                                            <p:strVal val="0-#ppt_w/2"/>
                                          </p:val>
                                        </p:tav>
                                        <p:tav tm="100000">
                                          <p:val>
                                            <p:strVal val="#ppt_x"/>
                                          </p:val>
                                        </p:tav>
                                      </p:tavLst>
                                    </p:anim>
                                    <p:anim calcmode="lin" valueType="num">
                                      <p:cBhvr additive="base">
                                        <p:cTn id="20" dur="500" fill="hold"/>
                                        <p:tgtEl>
                                          <p:spTgt spid="149096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90962"/>
                                        </p:tgtEl>
                                        <p:attrNameLst>
                                          <p:attrName>style.visibility</p:attrName>
                                        </p:attrNameLst>
                                      </p:cBhvr>
                                      <p:to>
                                        <p:strVal val="visible"/>
                                      </p:to>
                                    </p:set>
                                    <p:anim calcmode="lin" valueType="num">
                                      <p:cBhvr additive="base">
                                        <p:cTn id="25" dur="500" fill="hold"/>
                                        <p:tgtEl>
                                          <p:spTgt spid="1490962"/>
                                        </p:tgtEl>
                                        <p:attrNameLst>
                                          <p:attrName>ppt_x</p:attrName>
                                        </p:attrNameLst>
                                      </p:cBhvr>
                                      <p:tavLst>
                                        <p:tav tm="0">
                                          <p:val>
                                            <p:strVal val="0-#ppt_w/2"/>
                                          </p:val>
                                        </p:tav>
                                        <p:tav tm="100000">
                                          <p:val>
                                            <p:strVal val="#ppt_x"/>
                                          </p:val>
                                        </p:tav>
                                      </p:tavLst>
                                    </p:anim>
                                    <p:anim calcmode="lin" valueType="num">
                                      <p:cBhvr additive="base">
                                        <p:cTn id="26" dur="500" fill="hold"/>
                                        <p:tgtEl>
                                          <p:spTgt spid="149096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490964"/>
                                        </p:tgtEl>
                                        <p:attrNameLst>
                                          <p:attrName>style.visibility</p:attrName>
                                        </p:attrNameLst>
                                      </p:cBhvr>
                                      <p:to>
                                        <p:strVal val="visible"/>
                                      </p:to>
                                    </p:set>
                                    <p:anim calcmode="lin" valueType="num">
                                      <p:cBhvr additive="base">
                                        <p:cTn id="31" dur="500" fill="hold"/>
                                        <p:tgtEl>
                                          <p:spTgt spid="1490964"/>
                                        </p:tgtEl>
                                        <p:attrNameLst>
                                          <p:attrName>ppt_x</p:attrName>
                                        </p:attrNameLst>
                                      </p:cBhvr>
                                      <p:tavLst>
                                        <p:tav tm="0">
                                          <p:val>
                                            <p:strVal val="0-#ppt_w/2"/>
                                          </p:val>
                                        </p:tav>
                                        <p:tav tm="100000">
                                          <p:val>
                                            <p:strVal val="#ppt_x"/>
                                          </p:val>
                                        </p:tav>
                                      </p:tavLst>
                                    </p:anim>
                                    <p:anim calcmode="lin" valueType="num">
                                      <p:cBhvr additive="base">
                                        <p:cTn id="32" dur="500" fill="hold"/>
                                        <p:tgtEl>
                                          <p:spTgt spid="149096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490965"/>
                                        </p:tgtEl>
                                        <p:attrNameLst>
                                          <p:attrName>style.visibility</p:attrName>
                                        </p:attrNameLst>
                                      </p:cBhvr>
                                      <p:to>
                                        <p:strVal val="visible"/>
                                      </p:to>
                                    </p:set>
                                    <p:anim calcmode="lin" valueType="num">
                                      <p:cBhvr additive="base">
                                        <p:cTn id="37" dur="500" fill="hold"/>
                                        <p:tgtEl>
                                          <p:spTgt spid="1490965"/>
                                        </p:tgtEl>
                                        <p:attrNameLst>
                                          <p:attrName>ppt_x</p:attrName>
                                        </p:attrNameLst>
                                      </p:cBhvr>
                                      <p:tavLst>
                                        <p:tav tm="0">
                                          <p:val>
                                            <p:strVal val="0-#ppt_w/2"/>
                                          </p:val>
                                        </p:tav>
                                        <p:tav tm="100000">
                                          <p:val>
                                            <p:strVal val="#ppt_x"/>
                                          </p:val>
                                        </p:tav>
                                      </p:tavLst>
                                    </p:anim>
                                    <p:anim calcmode="lin" valueType="num">
                                      <p:cBhvr additive="base">
                                        <p:cTn id="38" dur="500" fill="hold"/>
                                        <p:tgtEl>
                                          <p:spTgt spid="149096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490966"/>
                                        </p:tgtEl>
                                        <p:attrNameLst>
                                          <p:attrName>style.visibility</p:attrName>
                                        </p:attrNameLst>
                                      </p:cBhvr>
                                      <p:to>
                                        <p:strVal val="visible"/>
                                      </p:to>
                                    </p:set>
                                    <p:anim calcmode="lin" valueType="num">
                                      <p:cBhvr additive="base">
                                        <p:cTn id="43" dur="500" fill="hold"/>
                                        <p:tgtEl>
                                          <p:spTgt spid="1490966"/>
                                        </p:tgtEl>
                                        <p:attrNameLst>
                                          <p:attrName>ppt_x</p:attrName>
                                        </p:attrNameLst>
                                      </p:cBhvr>
                                      <p:tavLst>
                                        <p:tav tm="0">
                                          <p:val>
                                            <p:strVal val="0-#ppt_w/2"/>
                                          </p:val>
                                        </p:tav>
                                        <p:tav tm="100000">
                                          <p:val>
                                            <p:strVal val="#ppt_x"/>
                                          </p:val>
                                        </p:tav>
                                      </p:tavLst>
                                    </p:anim>
                                    <p:anim calcmode="lin" valueType="num">
                                      <p:cBhvr additive="base">
                                        <p:cTn id="44" dur="500" fill="hold"/>
                                        <p:tgtEl>
                                          <p:spTgt spid="1490966"/>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490967"/>
                                        </p:tgtEl>
                                        <p:attrNameLst>
                                          <p:attrName>style.visibility</p:attrName>
                                        </p:attrNameLst>
                                      </p:cBhvr>
                                      <p:to>
                                        <p:strVal val="visible"/>
                                      </p:to>
                                    </p:set>
                                    <p:anim calcmode="lin" valueType="num">
                                      <p:cBhvr additive="base">
                                        <p:cTn id="49" dur="500" fill="hold"/>
                                        <p:tgtEl>
                                          <p:spTgt spid="1490967"/>
                                        </p:tgtEl>
                                        <p:attrNameLst>
                                          <p:attrName>ppt_x</p:attrName>
                                        </p:attrNameLst>
                                      </p:cBhvr>
                                      <p:tavLst>
                                        <p:tav tm="0">
                                          <p:val>
                                            <p:strVal val="0-#ppt_w/2"/>
                                          </p:val>
                                        </p:tav>
                                        <p:tav tm="100000">
                                          <p:val>
                                            <p:strVal val="#ppt_x"/>
                                          </p:val>
                                        </p:tav>
                                      </p:tavLst>
                                    </p:anim>
                                    <p:anim calcmode="lin" valueType="num">
                                      <p:cBhvr additive="base">
                                        <p:cTn id="50" dur="500" fill="hold"/>
                                        <p:tgtEl>
                                          <p:spTgt spid="1490967"/>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490968"/>
                                        </p:tgtEl>
                                        <p:attrNameLst>
                                          <p:attrName>style.visibility</p:attrName>
                                        </p:attrNameLst>
                                      </p:cBhvr>
                                      <p:to>
                                        <p:strVal val="visible"/>
                                      </p:to>
                                    </p:set>
                                    <p:anim calcmode="lin" valueType="num">
                                      <p:cBhvr additive="base">
                                        <p:cTn id="55" dur="500" fill="hold"/>
                                        <p:tgtEl>
                                          <p:spTgt spid="1490968"/>
                                        </p:tgtEl>
                                        <p:attrNameLst>
                                          <p:attrName>ppt_x</p:attrName>
                                        </p:attrNameLst>
                                      </p:cBhvr>
                                      <p:tavLst>
                                        <p:tav tm="0">
                                          <p:val>
                                            <p:strVal val="0-#ppt_w/2"/>
                                          </p:val>
                                        </p:tav>
                                        <p:tav tm="100000">
                                          <p:val>
                                            <p:strVal val="#ppt_x"/>
                                          </p:val>
                                        </p:tav>
                                      </p:tavLst>
                                    </p:anim>
                                    <p:anim calcmode="lin" valueType="num">
                                      <p:cBhvr additive="base">
                                        <p:cTn id="56" dur="500" fill="hold"/>
                                        <p:tgtEl>
                                          <p:spTgt spid="1490968"/>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490969"/>
                                        </p:tgtEl>
                                        <p:attrNameLst>
                                          <p:attrName>style.visibility</p:attrName>
                                        </p:attrNameLst>
                                      </p:cBhvr>
                                      <p:to>
                                        <p:strVal val="visible"/>
                                      </p:to>
                                    </p:set>
                                    <p:anim calcmode="lin" valueType="num">
                                      <p:cBhvr additive="base">
                                        <p:cTn id="61" dur="500" fill="hold"/>
                                        <p:tgtEl>
                                          <p:spTgt spid="1490969"/>
                                        </p:tgtEl>
                                        <p:attrNameLst>
                                          <p:attrName>ppt_x</p:attrName>
                                        </p:attrNameLst>
                                      </p:cBhvr>
                                      <p:tavLst>
                                        <p:tav tm="0">
                                          <p:val>
                                            <p:strVal val="0-#ppt_w/2"/>
                                          </p:val>
                                        </p:tav>
                                        <p:tav tm="100000">
                                          <p:val>
                                            <p:strVal val="#ppt_x"/>
                                          </p:val>
                                        </p:tav>
                                      </p:tavLst>
                                    </p:anim>
                                    <p:anim calcmode="lin" valueType="num">
                                      <p:cBhvr additive="base">
                                        <p:cTn id="62" dur="500" fill="hold"/>
                                        <p:tgtEl>
                                          <p:spTgt spid="1490969"/>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490970"/>
                                        </p:tgtEl>
                                        <p:attrNameLst>
                                          <p:attrName>style.visibility</p:attrName>
                                        </p:attrNameLst>
                                      </p:cBhvr>
                                      <p:to>
                                        <p:strVal val="visible"/>
                                      </p:to>
                                    </p:set>
                                    <p:anim calcmode="lin" valueType="num">
                                      <p:cBhvr additive="base">
                                        <p:cTn id="67" dur="500" fill="hold"/>
                                        <p:tgtEl>
                                          <p:spTgt spid="1490970"/>
                                        </p:tgtEl>
                                        <p:attrNameLst>
                                          <p:attrName>ppt_x</p:attrName>
                                        </p:attrNameLst>
                                      </p:cBhvr>
                                      <p:tavLst>
                                        <p:tav tm="0">
                                          <p:val>
                                            <p:strVal val="0-#ppt_w/2"/>
                                          </p:val>
                                        </p:tav>
                                        <p:tav tm="100000">
                                          <p:val>
                                            <p:strVal val="#ppt_x"/>
                                          </p:val>
                                        </p:tav>
                                      </p:tavLst>
                                    </p:anim>
                                    <p:anim calcmode="lin" valueType="num">
                                      <p:cBhvr additive="base">
                                        <p:cTn id="68" dur="500" fill="hold"/>
                                        <p:tgtEl>
                                          <p:spTgt spid="1490970"/>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490971"/>
                                        </p:tgtEl>
                                        <p:attrNameLst>
                                          <p:attrName>style.visibility</p:attrName>
                                        </p:attrNameLst>
                                      </p:cBhvr>
                                      <p:to>
                                        <p:strVal val="visible"/>
                                      </p:to>
                                    </p:set>
                                    <p:anim calcmode="lin" valueType="num">
                                      <p:cBhvr additive="base">
                                        <p:cTn id="73" dur="500" fill="hold"/>
                                        <p:tgtEl>
                                          <p:spTgt spid="1490971"/>
                                        </p:tgtEl>
                                        <p:attrNameLst>
                                          <p:attrName>ppt_x</p:attrName>
                                        </p:attrNameLst>
                                      </p:cBhvr>
                                      <p:tavLst>
                                        <p:tav tm="0">
                                          <p:val>
                                            <p:strVal val="0-#ppt_w/2"/>
                                          </p:val>
                                        </p:tav>
                                        <p:tav tm="100000">
                                          <p:val>
                                            <p:strVal val="#ppt_x"/>
                                          </p:val>
                                        </p:tav>
                                      </p:tavLst>
                                    </p:anim>
                                    <p:anim calcmode="lin" valueType="num">
                                      <p:cBhvr additive="base">
                                        <p:cTn id="74" dur="500" fill="hold"/>
                                        <p:tgtEl>
                                          <p:spTgt spid="1490971"/>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5" presetClass="entr" presetSubtype="0" fill="hold" nodeType="clickEffect">
                                  <p:stCondLst>
                                    <p:cond delay="0"/>
                                  </p:stCondLst>
                                  <p:childTnLst>
                                    <p:set>
                                      <p:cBhvr>
                                        <p:cTn id="78" dur="1" fill="hold">
                                          <p:stCondLst>
                                            <p:cond delay="0"/>
                                          </p:stCondLst>
                                        </p:cTn>
                                        <p:tgtEl>
                                          <p:spTgt spid="3"/>
                                        </p:tgtEl>
                                        <p:attrNameLst>
                                          <p:attrName>style.visibility</p:attrName>
                                        </p:attrNameLst>
                                      </p:cBhvr>
                                      <p:to>
                                        <p:strVal val="visible"/>
                                      </p:to>
                                    </p:set>
                                    <p:anim calcmode="lin" valueType="num">
                                      <p:cBhvr>
                                        <p:cTn id="79" dur="1000" fill="hold"/>
                                        <p:tgtEl>
                                          <p:spTgt spid="3"/>
                                        </p:tgtEl>
                                        <p:attrNameLst>
                                          <p:attrName>ppt_w</p:attrName>
                                        </p:attrNameLst>
                                      </p:cBhvr>
                                      <p:tavLst>
                                        <p:tav tm="0">
                                          <p:val>
                                            <p:fltVal val="0"/>
                                          </p:val>
                                        </p:tav>
                                        <p:tav tm="100000">
                                          <p:val>
                                            <p:strVal val="#ppt_w"/>
                                          </p:val>
                                        </p:tav>
                                      </p:tavLst>
                                    </p:anim>
                                    <p:anim calcmode="lin" valueType="num">
                                      <p:cBhvr>
                                        <p:cTn id="80" dur="1000" fill="hold"/>
                                        <p:tgtEl>
                                          <p:spTgt spid="3"/>
                                        </p:tgtEl>
                                        <p:attrNameLst>
                                          <p:attrName>ppt_h</p:attrName>
                                        </p:attrNameLst>
                                      </p:cBhvr>
                                      <p:tavLst>
                                        <p:tav tm="0">
                                          <p:val>
                                            <p:fltVal val="0"/>
                                          </p:val>
                                        </p:tav>
                                        <p:tav tm="100000">
                                          <p:val>
                                            <p:strVal val="#ppt_h"/>
                                          </p:val>
                                        </p:tav>
                                      </p:tavLst>
                                    </p:anim>
                                    <p:anim calcmode="lin" valueType="num">
                                      <p:cBhvr>
                                        <p:cTn id="81"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82" dur="1000" fill="hold"/>
                                        <p:tgtEl>
                                          <p:spTgt spid="3"/>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0960" grpId="0" animBg="1" autoUpdateAnimBg="0"/>
      <p:bldP spid="1490961" grpId="0" animBg="1" autoUpdateAnimBg="0"/>
      <p:bldP spid="1490962" grpId="0" animBg="1" autoUpdateAnimBg="0"/>
      <p:bldP spid="1490963" grpId="0" animBg="1" autoUpdateAnimBg="0"/>
      <p:bldP spid="1490964" grpId="0" animBg="1" autoUpdateAnimBg="0"/>
      <p:bldP spid="1490965" grpId="0" animBg="1" autoUpdateAnimBg="0"/>
      <p:bldP spid="1490966" grpId="0" animBg="1" autoUpdateAnimBg="0"/>
      <p:bldP spid="1490967" grpId="0" animBg="1" autoUpdateAnimBg="0"/>
      <p:bldP spid="1490968" grpId="0" animBg="1" autoUpdateAnimBg="0"/>
      <p:bldP spid="1490969" grpId="0" animBg="1" autoUpdateAnimBg="0"/>
      <p:bldP spid="1490970" grpId="0" animBg="1" autoUpdateAnimBg="0"/>
      <p:bldP spid="1490971"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91970" name="Rectangle 2"/>
          <p:cNvSpPr>
            <a:spLocks noGrp="1" noChangeArrowheads="1"/>
          </p:cNvSpPr>
          <p:nvPr>
            <p:ph type="title"/>
          </p:nvPr>
        </p:nvSpPr>
        <p:spPr>
          <a:xfrm>
            <a:off x="457200" y="285728"/>
            <a:ext cx="8305800" cy="1143000"/>
          </a:xfrm>
        </p:spPr>
        <p:txBody>
          <a:bodyPr>
            <a:noAutofit/>
          </a:bodyPr>
          <a:lstStyle/>
          <a:p>
            <a:r>
              <a:rPr lang="en-US" sz="3200" dirty="0"/>
              <a:t>So, What We Had in Beginning of </a:t>
            </a:r>
            <a:r>
              <a:rPr lang="en-US" sz="3200" dirty="0" smtClean="0"/>
              <a:t/>
            </a:r>
            <a:br>
              <a:rPr lang="en-US" sz="3200" dirty="0" smtClean="0"/>
            </a:br>
            <a:r>
              <a:rPr lang="en-US" sz="3200" dirty="0" smtClean="0"/>
              <a:t>2005</a:t>
            </a:r>
            <a:endParaRPr lang="en-GB" sz="3200" dirty="0"/>
          </a:p>
        </p:txBody>
      </p:sp>
      <p:grpSp>
        <p:nvGrpSpPr>
          <p:cNvPr id="2" name="Group 3"/>
          <p:cNvGrpSpPr>
            <a:grpSpLocks/>
          </p:cNvGrpSpPr>
          <p:nvPr/>
        </p:nvGrpSpPr>
        <p:grpSpPr bwMode="auto">
          <a:xfrm>
            <a:off x="457200" y="1371600"/>
            <a:ext cx="8305800" cy="4916488"/>
            <a:chOff x="288" y="864"/>
            <a:chExt cx="5232" cy="3097"/>
          </a:xfrm>
        </p:grpSpPr>
        <p:sp>
          <p:nvSpPr>
            <p:cNvPr id="1491972" name="Rectangle 4"/>
            <p:cNvSpPr>
              <a:spLocks noChangeArrowheads="1"/>
            </p:cNvSpPr>
            <p:nvPr/>
          </p:nvSpPr>
          <p:spPr bwMode="auto">
            <a:xfrm>
              <a:off x="288" y="864"/>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Product-level Test Planning and Control </a:t>
              </a:r>
            </a:p>
            <a:p>
              <a:pPr algn="ctr"/>
              <a:r>
                <a:rPr lang="en-US" sz="1200" b="1" dirty="0">
                  <a:solidFill>
                    <a:schemeClr val="bg1"/>
                  </a:solidFill>
                </a:rPr>
                <a:t>“Master Test Planning”</a:t>
              </a:r>
              <a:endParaRPr lang="en-GB" sz="1200" b="1" dirty="0">
                <a:solidFill>
                  <a:schemeClr val="bg1"/>
                </a:solidFill>
              </a:endParaRPr>
            </a:p>
          </p:txBody>
        </p:sp>
        <p:sp>
          <p:nvSpPr>
            <p:cNvPr id="1491973" name="Rectangle 5"/>
            <p:cNvSpPr>
              <a:spLocks noChangeArrowheads="1"/>
            </p:cNvSpPr>
            <p:nvPr/>
          </p:nvSpPr>
          <p:spPr bwMode="auto">
            <a:xfrm>
              <a:off x="288" y="1392"/>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Area-level Test Planning and Design </a:t>
              </a:r>
            </a:p>
            <a:p>
              <a:pPr algn="ctr"/>
              <a:r>
                <a:rPr lang="en-US" sz="1200" b="1" dirty="0">
                  <a:solidFill>
                    <a:schemeClr val="bg1"/>
                  </a:solidFill>
                </a:rPr>
                <a:t>“Test strategies, test specification”</a:t>
              </a:r>
              <a:endParaRPr lang="en-GB" sz="1200" b="1" dirty="0">
                <a:solidFill>
                  <a:schemeClr val="bg1"/>
                </a:solidFill>
              </a:endParaRPr>
            </a:p>
          </p:txBody>
        </p:sp>
        <p:sp>
          <p:nvSpPr>
            <p:cNvPr id="1491974" name="Rectangle 6"/>
            <p:cNvSpPr>
              <a:spLocks noChangeArrowheads="1"/>
            </p:cNvSpPr>
            <p:nvPr/>
          </p:nvSpPr>
          <p:spPr bwMode="auto">
            <a:xfrm>
              <a:off x="288" y="1920"/>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Reporting</a:t>
              </a:r>
              <a:endParaRPr lang="en-GB" sz="1600" b="1" dirty="0">
                <a:solidFill>
                  <a:schemeClr val="bg1"/>
                </a:solidFill>
              </a:endParaRPr>
            </a:p>
          </p:txBody>
        </p:sp>
        <p:sp>
          <p:nvSpPr>
            <p:cNvPr id="1491975" name="Rectangle 7"/>
            <p:cNvSpPr>
              <a:spLocks noChangeArrowheads="1"/>
            </p:cNvSpPr>
            <p:nvPr/>
          </p:nvSpPr>
          <p:spPr bwMode="auto">
            <a:xfrm>
              <a:off x="2976" y="1920"/>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Maintenance Testing</a:t>
              </a:r>
              <a:endParaRPr lang="en-GB" sz="1600" b="1" dirty="0">
                <a:solidFill>
                  <a:schemeClr val="bg1"/>
                </a:solidFill>
              </a:endParaRPr>
            </a:p>
          </p:txBody>
        </p:sp>
        <p:sp>
          <p:nvSpPr>
            <p:cNvPr id="1491976" name="Rectangle 8"/>
            <p:cNvSpPr>
              <a:spLocks noChangeArrowheads="1"/>
            </p:cNvSpPr>
            <p:nvPr/>
          </p:nvSpPr>
          <p:spPr bwMode="auto">
            <a:xfrm>
              <a:off x="288" y="2448"/>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Execution and Logging</a:t>
              </a:r>
              <a:endParaRPr lang="en-GB" sz="1600" b="1" dirty="0">
                <a:solidFill>
                  <a:schemeClr val="bg1"/>
                </a:solidFill>
              </a:endParaRPr>
            </a:p>
          </p:txBody>
        </p:sp>
        <p:sp>
          <p:nvSpPr>
            <p:cNvPr id="1491977" name="Rectangle 9"/>
            <p:cNvSpPr>
              <a:spLocks noChangeArrowheads="1"/>
            </p:cNvSpPr>
            <p:nvPr/>
          </p:nvSpPr>
          <p:spPr bwMode="auto">
            <a:xfrm>
              <a:off x="2976" y="864"/>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Automation</a:t>
              </a:r>
            </a:p>
          </p:txBody>
        </p:sp>
        <p:sp>
          <p:nvSpPr>
            <p:cNvPr id="1491978" name="Rectangle 10"/>
            <p:cNvSpPr>
              <a:spLocks noChangeArrowheads="1"/>
            </p:cNvSpPr>
            <p:nvPr/>
          </p:nvSpPr>
          <p:spPr bwMode="auto">
            <a:xfrm>
              <a:off x="2976" y="2976"/>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Developer testing</a:t>
              </a:r>
              <a:endParaRPr lang="en-GB" sz="1600" b="1" dirty="0">
                <a:solidFill>
                  <a:schemeClr val="bg1"/>
                </a:solidFill>
              </a:endParaRPr>
            </a:p>
          </p:txBody>
        </p:sp>
        <p:sp>
          <p:nvSpPr>
            <p:cNvPr id="1491979" name="Rectangle 11"/>
            <p:cNvSpPr>
              <a:spLocks noChangeArrowheads="1"/>
            </p:cNvSpPr>
            <p:nvPr/>
          </p:nvSpPr>
          <p:spPr bwMode="auto">
            <a:xfrm>
              <a:off x="2976" y="2448"/>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Development Documentation testing</a:t>
              </a:r>
            </a:p>
            <a:p>
              <a:pPr algn="ctr"/>
              <a:r>
                <a:rPr lang="en-US" sz="1200" b="1" dirty="0">
                  <a:solidFill>
                    <a:schemeClr val="bg1"/>
                  </a:solidFill>
                </a:rPr>
                <a:t>“Reviews and inspections of requirements, designs, plans”</a:t>
              </a:r>
              <a:endParaRPr lang="en-GB" sz="1200" b="1" dirty="0">
                <a:solidFill>
                  <a:schemeClr val="bg1"/>
                </a:solidFill>
              </a:endParaRPr>
            </a:p>
          </p:txBody>
        </p:sp>
        <p:sp>
          <p:nvSpPr>
            <p:cNvPr id="1491980" name="Rectangle 12"/>
            <p:cNvSpPr>
              <a:spLocks noChangeArrowheads="1"/>
            </p:cNvSpPr>
            <p:nvPr/>
          </p:nvSpPr>
          <p:spPr bwMode="auto">
            <a:xfrm>
              <a:off x="288" y="2976"/>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Bug reporting</a:t>
              </a:r>
            </a:p>
          </p:txBody>
        </p:sp>
        <p:sp>
          <p:nvSpPr>
            <p:cNvPr id="1491981" name="Rectangle 13"/>
            <p:cNvSpPr>
              <a:spLocks noChangeArrowheads="1"/>
            </p:cNvSpPr>
            <p:nvPr/>
          </p:nvSpPr>
          <p:spPr bwMode="auto">
            <a:xfrm>
              <a:off x="288" y="3504"/>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Environments and Infrastructure</a:t>
              </a:r>
            </a:p>
          </p:txBody>
        </p:sp>
        <p:sp>
          <p:nvSpPr>
            <p:cNvPr id="1491982" name="Rectangle 14"/>
            <p:cNvSpPr>
              <a:spLocks noChangeArrowheads="1"/>
            </p:cNvSpPr>
            <p:nvPr/>
          </p:nvSpPr>
          <p:spPr bwMode="auto">
            <a:xfrm>
              <a:off x="2976" y="1392"/>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Acceptance testing of external components</a:t>
              </a:r>
            </a:p>
          </p:txBody>
        </p:sp>
        <p:sp>
          <p:nvSpPr>
            <p:cNvPr id="1491983" name="Rectangle 15"/>
            <p:cNvSpPr>
              <a:spLocks noChangeArrowheads="1"/>
            </p:cNvSpPr>
            <p:nvPr/>
          </p:nvSpPr>
          <p:spPr bwMode="auto">
            <a:xfrm>
              <a:off x="2976" y="3504"/>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QE Process Improvement</a:t>
              </a:r>
            </a:p>
          </p:txBody>
        </p:sp>
      </p:grpSp>
      <p:sp>
        <p:nvSpPr>
          <p:cNvPr id="1491984" name="AutoShape 16"/>
          <p:cNvSpPr>
            <a:spLocks noChangeArrowheads="1"/>
          </p:cNvSpPr>
          <p:nvPr/>
        </p:nvSpPr>
        <p:spPr bwMode="auto">
          <a:xfrm>
            <a:off x="533400" y="14478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accent2"/>
                </a:solidFill>
              </a:rPr>
              <a:t>Master test plans written, not used</a:t>
            </a:r>
          </a:p>
          <a:p>
            <a:pPr algn="ctr"/>
            <a:r>
              <a:rPr lang="en-US" sz="1200" b="1" dirty="0">
                <a:solidFill>
                  <a:schemeClr val="accent2"/>
                </a:solidFill>
              </a:rPr>
              <a:t>People working on their areas, difficult to find “system testers”</a:t>
            </a:r>
            <a:endParaRPr lang="en-GB" sz="1200" b="1" dirty="0">
              <a:solidFill>
                <a:schemeClr val="accent2"/>
              </a:solidFill>
            </a:endParaRPr>
          </a:p>
        </p:txBody>
      </p:sp>
      <p:sp>
        <p:nvSpPr>
          <p:cNvPr id="1491985" name="AutoShape 17"/>
          <p:cNvSpPr>
            <a:spLocks noChangeArrowheads="1"/>
          </p:cNvSpPr>
          <p:nvPr/>
        </p:nvSpPr>
        <p:spPr bwMode="auto">
          <a:xfrm>
            <a:off x="533400" y="22860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accent2"/>
                </a:solidFill>
              </a:rPr>
              <a:t>No strategies, prioritized detailed test cases with both positive and negative tests. Not enough non-functional aspects. </a:t>
            </a:r>
            <a:endParaRPr lang="en-GB" sz="1200" b="1" dirty="0">
              <a:solidFill>
                <a:schemeClr val="accent2"/>
              </a:solidFill>
            </a:endParaRPr>
          </a:p>
        </p:txBody>
      </p:sp>
      <p:sp>
        <p:nvSpPr>
          <p:cNvPr id="1491986" name="AutoShape 18"/>
          <p:cNvSpPr>
            <a:spLocks noChangeArrowheads="1"/>
          </p:cNvSpPr>
          <p:nvPr/>
        </p:nvSpPr>
        <p:spPr bwMode="auto">
          <a:xfrm>
            <a:off x="533400" y="39624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accent2"/>
                </a:solidFill>
              </a:rPr>
              <a:t>Priorities focused a lot of effort on regression testing, bugs found late. </a:t>
            </a:r>
          </a:p>
          <a:p>
            <a:pPr algn="ctr"/>
            <a:r>
              <a:rPr lang="en-US" sz="1200" b="1" dirty="0">
                <a:solidFill>
                  <a:schemeClr val="accent2"/>
                </a:solidFill>
              </a:rPr>
              <a:t>Logs filled in, kept negative cases on lists</a:t>
            </a:r>
            <a:endParaRPr lang="en-GB" sz="1200" b="1" dirty="0">
              <a:solidFill>
                <a:schemeClr val="accent2"/>
              </a:solidFill>
            </a:endParaRPr>
          </a:p>
        </p:txBody>
      </p:sp>
      <p:sp>
        <p:nvSpPr>
          <p:cNvPr id="1491987" name="AutoShape 19"/>
          <p:cNvSpPr>
            <a:spLocks noChangeArrowheads="1"/>
          </p:cNvSpPr>
          <p:nvPr/>
        </p:nvSpPr>
        <p:spPr bwMode="auto">
          <a:xfrm>
            <a:off x="533400" y="31242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accent2"/>
                </a:solidFill>
              </a:rPr>
              <a:t>Occasionally filled weekly reports about open severe bugs, false sense of security</a:t>
            </a:r>
            <a:endParaRPr lang="en-GB" sz="1200" b="1" dirty="0">
              <a:solidFill>
                <a:schemeClr val="accent2"/>
              </a:solidFill>
            </a:endParaRPr>
          </a:p>
        </p:txBody>
      </p:sp>
      <p:sp>
        <p:nvSpPr>
          <p:cNvPr id="1491988" name="AutoShape 20"/>
          <p:cNvSpPr>
            <a:spLocks noChangeArrowheads="1"/>
          </p:cNvSpPr>
          <p:nvPr/>
        </p:nvSpPr>
        <p:spPr bwMode="auto">
          <a:xfrm>
            <a:off x="533400" y="48006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accent2"/>
                </a:solidFill>
              </a:rPr>
              <a:t>Unfocused bug reports typically with higher than appropriate severity. Centralized large-effort CCB. </a:t>
            </a:r>
            <a:endParaRPr lang="en-GB" sz="1200" b="1" dirty="0">
              <a:solidFill>
                <a:schemeClr val="accent2"/>
              </a:solidFill>
            </a:endParaRPr>
          </a:p>
        </p:txBody>
      </p:sp>
      <p:sp>
        <p:nvSpPr>
          <p:cNvPr id="1491989" name="AutoShape 21"/>
          <p:cNvSpPr>
            <a:spLocks noChangeArrowheads="1"/>
          </p:cNvSpPr>
          <p:nvPr/>
        </p:nvSpPr>
        <p:spPr bwMode="auto">
          <a:xfrm>
            <a:off x="533400" y="56388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accent2"/>
                </a:solidFill>
              </a:rPr>
              <a:t>Shared lab services a bare minimum, everyone has their own env. </a:t>
            </a:r>
          </a:p>
          <a:p>
            <a:pPr algn="ctr"/>
            <a:r>
              <a:rPr lang="en-GB" sz="1200" b="1" dirty="0">
                <a:solidFill>
                  <a:schemeClr val="accent2"/>
                </a:solidFill>
              </a:rPr>
              <a:t>Slow network. </a:t>
            </a:r>
          </a:p>
        </p:txBody>
      </p:sp>
      <p:sp>
        <p:nvSpPr>
          <p:cNvPr id="1491990" name="AutoShape 22"/>
          <p:cNvSpPr>
            <a:spLocks noChangeArrowheads="1"/>
          </p:cNvSpPr>
          <p:nvPr/>
        </p:nvSpPr>
        <p:spPr bwMode="auto">
          <a:xfrm>
            <a:off x="4800600" y="14478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accent2"/>
                </a:solidFill>
              </a:rPr>
              <a:t>Full-time person to maintain GUI regression automation, API-level script-based team solutions</a:t>
            </a:r>
            <a:r>
              <a:rPr lang="en-GB" sz="1200" b="1" dirty="0">
                <a:solidFill>
                  <a:schemeClr val="accent2"/>
                </a:solidFill>
              </a:rPr>
              <a:t> </a:t>
            </a:r>
          </a:p>
        </p:txBody>
      </p:sp>
      <p:sp>
        <p:nvSpPr>
          <p:cNvPr id="1491991" name="AutoShape 23"/>
          <p:cNvSpPr>
            <a:spLocks noChangeArrowheads="1"/>
          </p:cNvSpPr>
          <p:nvPr/>
        </p:nvSpPr>
        <p:spPr bwMode="auto">
          <a:xfrm>
            <a:off x="4800600" y="22860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accent2"/>
                </a:solidFill>
              </a:rPr>
              <a:t>Limited number of external components, with somewhat unclear acceptance testing.</a:t>
            </a:r>
          </a:p>
          <a:p>
            <a:pPr algn="ctr"/>
            <a:r>
              <a:rPr lang="en-US" sz="1200" b="1" dirty="0">
                <a:solidFill>
                  <a:schemeClr val="accent2"/>
                </a:solidFill>
              </a:rPr>
              <a:t>Subcontracting components undeveloped. </a:t>
            </a:r>
            <a:endParaRPr lang="en-GB" sz="1200" b="1" dirty="0">
              <a:solidFill>
                <a:schemeClr val="accent2"/>
              </a:solidFill>
            </a:endParaRPr>
          </a:p>
        </p:txBody>
      </p:sp>
      <p:sp>
        <p:nvSpPr>
          <p:cNvPr id="1491992" name="AutoShape 24"/>
          <p:cNvSpPr>
            <a:spLocks noChangeArrowheads="1"/>
          </p:cNvSpPr>
          <p:nvPr/>
        </p:nvSpPr>
        <p:spPr bwMode="auto">
          <a:xfrm>
            <a:off x="4800600" y="31242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accent2"/>
                </a:solidFill>
              </a:rPr>
              <a:t>Maintenance managers struggling with maintenance vs. project load, specialized maintenance QEs</a:t>
            </a:r>
            <a:endParaRPr lang="en-GB" sz="1200" b="1" dirty="0">
              <a:solidFill>
                <a:schemeClr val="accent2"/>
              </a:solidFill>
            </a:endParaRPr>
          </a:p>
        </p:txBody>
      </p:sp>
      <p:sp>
        <p:nvSpPr>
          <p:cNvPr id="1491993" name="AutoShape 25"/>
          <p:cNvSpPr>
            <a:spLocks noChangeArrowheads="1"/>
          </p:cNvSpPr>
          <p:nvPr/>
        </p:nvSpPr>
        <p:spPr bwMode="auto">
          <a:xfrm>
            <a:off x="4800600" y="39624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accent2"/>
                </a:solidFill>
              </a:rPr>
              <a:t>Progressive inspection concept developed, tried, but limited in applicability due to applying skills</a:t>
            </a:r>
            <a:endParaRPr lang="en-GB" sz="1200" b="1" dirty="0">
              <a:solidFill>
                <a:schemeClr val="accent2"/>
              </a:solidFill>
            </a:endParaRPr>
          </a:p>
        </p:txBody>
      </p:sp>
      <p:sp>
        <p:nvSpPr>
          <p:cNvPr id="1491994" name="AutoShape 26"/>
          <p:cNvSpPr>
            <a:spLocks noChangeArrowheads="1"/>
          </p:cNvSpPr>
          <p:nvPr/>
        </p:nvSpPr>
        <p:spPr bwMode="auto">
          <a:xfrm>
            <a:off x="4800600" y="48006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accent2"/>
                </a:solidFill>
              </a:rPr>
              <a:t>Some developers had tried, no support from QE side</a:t>
            </a:r>
            <a:endParaRPr lang="en-GB" sz="1200" b="1" dirty="0">
              <a:solidFill>
                <a:schemeClr val="accent2"/>
              </a:solidFill>
            </a:endParaRPr>
          </a:p>
        </p:txBody>
      </p:sp>
      <p:sp>
        <p:nvSpPr>
          <p:cNvPr id="1491995" name="AutoShape 27"/>
          <p:cNvSpPr>
            <a:spLocks noChangeArrowheads="1"/>
          </p:cNvSpPr>
          <p:nvPr/>
        </p:nvSpPr>
        <p:spPr bwMode="auto">
          <a:xfrm>
            <a:off x="4800600" y="56388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200" b="1" dirty="0">
                <a:solidFill>
                  <a:schemeClr val="accent2"/>
                </a:solidFill>
              </a:rPr>
              <a:t>People not improving their own work, waiting for intervention. QE forum just launched. </a:t>
            </a:r>
            <a:endParaRPr lang="en-GB" sz="1200" b="1" dirty="0">
              <a:solidFill>
                <a:schemeClr val="accent2"/>
              </a:solidFill>
            </a:endParaRPr>
          </a:p>
        </p:txBody>
      </p:sp>
      <p:grpSp>
        <p:nvGrpSpPr>
          <p:cNvPr id="3" name="Group 28"/>
          <p:cNvGrpSpPr>
            <a:grpSpLocks/>
          </p:cNvGrpSpPr>
          <p:nvPr/>
        </p:nvGrpSpPr>
        <p:grpSpPr bwMode="auto">
          <a:xfrm>
            <a:off x="76200" y="76200"/>
            <a:ext cx="8991600" cy="6172200"/>
            <a:chOff x="48" y="48"/>
            <a:chExt cx="5664" cy="3888"/>
          </a:xfrm>
        </p:grpSpPr>
        <p:sp>
          <p:nvSpPr>
            <p:cNvPr id="1491997" name="AutoShape 29"/>
            <p:cNvSpPr>
              <a:spLocks noChangeArrowheads="1"/>
            </p:cNvSpPr>
            <p:nvPr/>
          </p:nvSpPr>
          <p:spPr bwMode="auto">
            <a:xfrm>
              <a:off x="4896" y="48"/>
              <a:ext cx="624" cy="624"/>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400" b="1">
                  <a:solidFill>
                    <a:schemeClr val="bg1"/>
                  </a:solidFill>
                </a:rPr>
                <a:t>Grade:</a:t>
              </a:r>
            </a:p>
            <a:p>
              <a:pPr algn="ctr"/>
              <a:r>
                <a:rPr lang="fi-FI" sz="3200" b="1">
                  <a:solidFill>
                    <a:schemeClr val="bg1"/>
                  </a:solidFill>
                </a:rPr>
                <a:t>8</a:t>
              </a:r>
              <a:endParaRPr lang="en-GB" sz="3200" b="1" dirty="0">
                <a:solidFill>
                  <a:schemeClr val="bg1"/>
                </a:solidFill>
              </a:endParaRPr>
            </a:p>
          </p:txBody>
        </p:sp>
        <p:sp>
          <p:nvSpPr>
            <p:cNvPr id="1491998" name="AutoShape 30"/>
            <p:cNvSpPr>
              <a:spLocks noChangeArrowheads="1"/>
            </p:cNvSpPr>
            <p:nvPr/>
          </p:nvSpPr>
          <p:spPr bwMode="auto">
            <a:xfrm>
              <a:off x="48" y="912"/>
              <a:ext cx="336" cy="384"/>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sp>
          <p:nvSpPr>
            <p:cNvPr id="1491999" name="AutoShape 31"/>
            <p:cNvSpPr>
              <a:spLocks noChangeArrowheads="1"/>
            </p:cNvSpPr>
            <p:nvPr/>
          </p:nvSpPr>
          <p:spPr bwMode="auto">
            <a:xfrm>
              <a:off x="48" y="1440"/>
              <a:ext cx="336" cy="384"/>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sp>
          <p:nvSpPr>
            <p:cNvPr id="1492000" name="AutoShape 32"/>
            <p:cNvSpPr>
              <a:spLocks noChangeArrowheads="1"/>
            </p:cNvSpPr>
            <p:nvPr/>
          </p:nvSpPr>
          <p:spPr bwMode="auto">
            <a:xfrm>
              <a:off x="48" y="1968"/>
              <a:ext cx="336" cy="384"/>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7</a:t>
              </a:r>
              <a:endParaRPr lang="en-GB" sz="2400" b="1" dirty="0">
                <a:solidFill>
                  <a:schemeClr val="bg1"/>
                </a:solidFill>
              </a:endParaRPr>
            </a:p>
          </p:txBody>
        </p:sp>
        <p:sp>
          <p:nvSpPr>
            <p:cNvPr id="1492001" name="AutoShape 33"/>
            <p:cNvSpPr>
              <a:spLocks noChangeArrowheads="1"/>
            </p:cNvSpPr>
            <p:nvPr/>
          </p:nvSpPr>
          <p:spPr bwMode="auto">
            <a:xfrm>
              <a:off x="48" y="2496"/>
              <a:ext cx="336" cy="384"/>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2002" name="AutoShape 34"/>
            <p:cNvSpPr>
              <a:spLocks noChangeArrowheads="1"/>
            </p:cNvSpPr>
            <p:nvPr/>
          </p:nvSpPr>
          <p:spPr bwMode="auto">
            <a:xfrm>
              <a:off x="48" y="3024"/>
              <a:ext cx="336" cy="384"/>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sp>
          <p:nvSpPr>
            <p:cNvPr id="1492003" name="AutoShape 35"/>
            <p:cNvSpPr>
              <a:spLocks noChangeArrowheads="1"/>
            </p:cNvSpPr>
            <p:nvPr/>
          </p:nvSpPr>
          <p:spPr bwMode="auto">
            <a:xfrm>
              <a:off x="48" y="3552"/>
              <a:ext cx="336" cy="384"/>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7</a:t>
              </a:r>
              <a:endParaRPr lang="en-GB" sz="2400" b="1" dirty="0">
                <a:solidFill>
                  <a:schemeClr val="bg1"/>
                </a:solidFill>
              </a:endParaRPr>
            </a:p>
          </p:txBody>
        </p:sp>
        <p:sp>
          <p:nvSpPr>
            <p:cNvPr id="1492004" name="AutoShape 36"/>
            <p:cNvSpPr>
              <a:spLocks noChangeArrowheads="1"/>
            </p:cNvSpPr>
            <p:nvPr/>
          </p:nvSpPr>
          <p:spPr bwMode="auto">
            <a:xfrm>
              <a:off x="5376" y="3552"/>
              <a:ext cx="336" cy="384"/>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sp>
          <p:nvSpPr>
            <p:cNvPr id="1492005" name="AutoShape 37"/>
            <p:cNvSpPr>
              <a:spLocks noChangeArrowheads="1"/>
            </p:cNvSpPr>
            <p:nvPr/>
          </p:nvSpPr>
          <p:spPr bwMode="auto">
            <a:xfrm>
              <a:off x="5376" y="3024"/>
              <a:ext cx="336" cy="384"/>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sp>
          <p:nvSpPr>
            <p:cNvPr id="1492006" name="AutoShape 38"/>
            <p:cNvSpPr>
              <a:spLocks noChangeArrowheads="1"/>
            </p:cNvSpPr>
            <p:nvPr/>
          </p:nvSpPr>
          <p:spPr bwMode="auto">
            <a:xfrm>
              <a:off x="5376" y="2496"/>
              <a:ext cx="336" cy="384"/>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sp>
          <p:nvSpPr>
            <p:cNvPr id="1492007" name="AutoShape 39"/>
            <p:cNvSpPr>
              <a:spLocks noChangeArrowheads="1"/>
            </p:cNvSpPr>
            <p:nvPr/>
          </p:nvSpPr>
          <p:spPr bwMode="auto">
            <a:xfrm>
              <a:off x="5376" y="1968"/>
              <a:ext cx="336" cy="384"/>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7</a:t>
              </a:r>
              <a:endParaRPr lang="en-GB" sz="2400" b="1" dirty="0">
                <a:solidFill>
                  <a:schemeClr val="bg1"/>
                </a:solidFill>
              </a:endParaRPr>
            </a:p>
          </p:txBody>
        </p:sp>
        <p:sp>
          <p:nvSpPr>
            <p:cNvPr id="1492008" name="AutoShape 40"/>
            <p:cNvSpPr>
              <a:spLocks noChangeArrowheads="1"/>
            </p:cNvSpPr>
            <p:nvPr/>
          </p:nvSpPr>
          <p:spPr bwMode="auto">
            <a:xfrm>
              <a:off x="5376" y="912"/>
              <a:ext cx="336" cy="384"/>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sp>
          <p:nvSpPr>
            <p:cNvPr id="1492009" name="AutoShape 41"/>
            <p:cNvSpPr>
              <a:spLocks noChangeArrowheads="1"/>
            </p:cNvSpPr>
            <p:nvPr/>
          </p:nvSpPr>
          <p:spPr bwMode="auto">
            <a:xfrm>
              <a:off x="5376" y="1440"/>
              <a:ext cx="336" cy="384"/>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grpSp>
      <p:sp>
        <p:nvSpPr>
          <p:cNvPr id="42" name="Slide Number Placeholder 41"/>
          <p:cNvSpPr>
            <a:spLocks noGrp="1"/>
          </p:cNvSpPr>
          <p:nvPr>
            <p:ph type="sldNum" sz="quarter" idx="12"/>
          </p:nvPr>
        </p:nvSpPr>
        <p:spPr/>
        <p:txBody>
          <a:bodyPr/>
          <a:lstStyle/>
          <a:p>
            <a:fld id="{227F0B53-9592-4779-891F-997228E46E01}" type="slidenum">
              <a:rPr lang="sv-SE" smtClean="0"/>
              <a:pPr/>
              <a:t>25</a:t>
            </a:fld>
            <a:endParaRPr lang="sv-SE"/>
          </a:p>
        </p:txBody>
      </p:sp>
      <p:sp>
        <p:nvSpPr>
          <p:cNvPr id="43" name="Footer Placeholder 42"/>
          <p:cNvSpPr>
            <a:spLocks noGrp="1"/>
          </p:cNvSpPr>
          <p:nvPr>
            <p:ph type="ftr" sz="quarter" idx="11"/>
          </p:nvPr>
        </p:nvSpPr>
        <p:spPr/>
        <p:txBody>
          <a:bodyPr/>
          <a:lstStyle/>
          <a:p>
            <a:r>
              <a:rPr lang="en-US" smtClean="0"/>
              <a:t>DAY 2</a:t>
            </a:r>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91984"/>
                                        </p:tgtEl>
                                        <p:attrNameLst>
                                          <p:attrName>style.visibility</p:attrName>
                                        </p:attrNameLst>
                                      </p:cBhvr>
                                      <p:to>
                                        <p:strVal val="visible"/>
                                      </p:to>
                                    </p:set>
                                    <p:anim calcmode="lin" valueType="num">
                                      <p:cBhvr additive="base">
                                        <p:cTn id="7" dur="500" fill="hold"/>
                                        <p:tgtEl>
                                          <p:spTgt spid="1491984"/>
                                        </p:tgtEl>
                                        <p:attrNameLst>
                                          <p:attrName>ppt_x</p:attrName>
                                        </p:attrNameLst>
                                      </p:cBhvr>
                                      <p:tavLst>
                                        <p:tav tm="0">
                                          <p:val>
                                            <p:strVal val="0-#ppt_w/2"/>
                                          </p:val>
                                        </p:tav>
                                        <p:tav tm="100000">
                                          <p:val>
                                            <p:strVal val="#ppt_x"/>
                                          </p:val>
                                        </p:tav>
                                      </p:tavLst>
                                    </p:anim>
                                    <p:anim calcmode="lin" valueType="num">
                                      <p:cBhvr additive="base">
                                        <p:cTn id="8" dur="500" fill="hold"/>
                                        <p:tgtEl>
                                          <p:spTgt spid="149198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91985"/>
                                        </p:tgtEl>
                                        <p:attrNameLst>
                                          <p:attrName>style.visibility</p:attrName>
                                        </p:attrNameLst>
                                      </p:cBhvr>
                                      <p:to>
                                        <p:strVal val="visible"/>
                                      </p:to>
                                    </p:set>
                                    <p:anim calcmode="lin" valueType="num">
                                      <p:cBhvr additive="base">
                                        <p:cTn id="13" dur="500" fill="hold"/>
                                        <p:tgtEl>
                                          <p:spTgt spid="1491985"/>
                                        </p:tgtEl>
                                        <p:attrNameLst>
                                          <p:attrName>ppt_x</p:attrName>
                                        </p:attrNameLst>
                                      </p:cBhvr>
                                      <p:tavLst>
                                        <p:tav tm="0">
                                          <p:val>
                                            <p:strVal val="0-#ppt_w/2"/>
                                          </p:val>
                                        </p:tav>
                                        <p:tav tm="100000">
                                          <p:val>
                                            <p:strVal val="#ppt_x"/>
                                          </p:val>
                                        </p:tav>
                                      </p:tavLst>
                                    </p:anim>
                                    <p:anim calcmode="lin" valueType="num">
                                      <p:cBhvr additive="base">
                                        <p:cTn id="14" dur="500" fill="hold"/>
                                        <p:tgtEl>
                                          <p:spTgt spid="149198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91987"/>
                                        </p:tgtEl>
                                        <p:attrNameLst>
                                          <p:attrName>style.visibility</p:attrName>
                                        </p:attrNameLst>
                                      </p:cBhvr>
                                      <p:to>
                                        <p:strVal val="visible"/>
                                      </p:to>
                                    </p:set>
                                    <p:anim calcmode="lin" valueType="num">
                                      <p:cBhvr additive="base">
                                        <p:cTn id="19" dur="500" fill="hold"/>
                                        <p:tgtEl>
                                          <p:spTgt spid="1491987"/>
                                        </p:tgtEl>
                                        <p:attrNameLst>
                                          <p:attrName>ppt_x</p:attrName>
                                        </p:attrNameLst>
                                      </p:cBhvr>
                                      <p:tavLst>
                                        <p:tav tm="0">
                                          <p:val>
                                            <p:strVal val="0-#ppt_w/2"/>
                                          </p:val>
                                        </p:tav>
                                        <p:tav tm="100000">
                                          <p:val>
                                            <p:strVal val="#ppt_x"/>
                                          </p:val>
                                        </p:tav>
                                      </p:tavLst>
                                    </p:anim>
                                    <p:anim calcmode="lin" valueType="num">
                                      <p:cBhvr additive="base">
                                        <p:cTn id="20" dur="500" fill="hold"/>
                                        <p:tgtEl>
                                          <p:spTgt spid="149198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91986"/>
                                        </p:tgtEl>
                                        <p:attrNameLst>
                                          <p:attrName>style.visibility</p:attrName>
                                        </p:attrNameLst>
                                      </p:cBhvr>
                                      <p:to>
                                        <p:strVal val="visible"/>
                                      </p:to>
                                    </p:set>
                                    <p:anim calcmode="lin" valueType="num">
                                      <p:cBhvr additive="base">
                                        <p:cTn id="25" dur="500" fill="hold"/>
                                        <p:tgtEl>
                                          <p:spTgt spid="1491986"/>
                                        </p:tgtEl>
                                        <p:attrNameLst>
                                          <p:attrName>ppt_x</p:attrName>
                                        </p:attrNameLst>
                                      </p:cBhvr>
                                      <p:tavLst>
                                        <p:tav tm="0">
                                          <p:val>
                                            <p:strVal val="0-#ppt_w/2"/>
                                          </p:val>
                                        </p:tav>
                                        <p:tav tm="100000">
                                          <p:val>
                                            <p:strVal val="#ppt_x"/>
                                          </p:val>
                                        </p:tav>
                                      </p:tavLst>
                                    </p:anim>
                                    <p:anim calcmode="lin" valueType="num">
                                      <p:cBhvr additive="base">
                                        <p:cTn id="26" dur="500" fill="hold"/>
                                        <p:tgtEl>
                                          <p:spTgt spid="149198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491988"/>
                                        </p:tgtEl>
                                        <p:attrNameLst>
                                          <p:attrName>style.visibility</p:attrName>
                                        </p:attrNameLst>
                                      </p:cBhvr>
                                      <p:to>
                                        <p:strVal val="visible"/>
                                      </p:to>
                                    </p:set>
                                    <p:anim calcmode="lin" valueType="num">
                                      <p:cBhvr additive="base">
                                        <p:cTn id="31" dur="500" fill="hold"/>
                                        <p:tgtEl>
                                          <p:spTgt spid="1491988"/>
                                        </p:tgtEl>
                                        <p:attrNameLst>
                                          <p:attrName>ppt_x</p:attrName>
                                        </p:attrNameLst>
                                      </p:cBhvr>
                                      <p:tavLst>
                                        <p:tav tm="0">
                                          <p:val>
                                            <p:strVal val="0-#ppt_w/2"/>
                                          </p:val>
                                        </p:tav>
                                        <p:tav tm="100000">
                                          <p:val>
                                            <p:strVal val="#ppt_x"/>
                                          </p:val>
                                        </p:tav>
                                      </p:tavLst>
                                    </p:anim>
                                    <p:anim calcmode="lin" valueType="num">
                                      <p:cBhvr additive="base">
                                        <p:cTn id="32" dur="500" fill="hold"/>
                                        <p:tgtEl>
                                          <p:spTgt spid="149198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491989"/>
                                        </p:tgtEl>
                                        <p:attrNameLst>
                                          <p:attrName>style.visibility</p:attrName>
                                        </p:attrNameLst>
                                      </p:cBhvr>
                                      <p:to>
                                        <p:strVal val="visible"/>
                                      </p:to>
                                    </p:set>
                                    <p:anim calcmode="lin" valueType="num">
                                      <p:cBhvr additive="base">
                                        <p:cTn id="37" dur="500" fill="hold"/>
                                        <p:tgtEl>
                                          <p:spTgt spid="1491989"/>
                                        </p:tgtEl>
                                        <p:attrNameLst>
                                          <p:attrName>ppt_x</p:attrName>
                                        </p:attrNameLst>
                                      </p:cBhvr>
                                      <p:tavLst>
                                        <p:tav tm="0">
                                          <p:val>
                                            <p:strVal val="0-#ppt_w/2"/>
                                          </p:val>
                                        </p:tav>
                                        <p:tav tm="100000">
                                          <p:val>
                                            <p:strVal val="#ppt_x"/>
                                          </p:val>
                                        </p:tav>
                                      </p:tavLst>
                                    </p:anim>
                                    <p:anim calcmode="lin" valueType="num">
                                      <p:cBhvr additive="base">
                                        <p:cTn id="38" dur="500" fill="hold"/>
                                        <p:tgtEl>
                                          <p:spTgt spid="1491989"/>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491990"/>
                                        </p:tgtEl>
                                        <p:attrNameLst>
                                          <p:attrName>style.visibility</p:attrName>
                                        </p:attrNameLst>
                                      </p:cBhvr>
                                      <p:to>
                                        <p:strVal val="visible"/>
                                      </p:to>
                                    </p:set>
                                    <p:anim calcmode="lin" valueType="num">
                                      <p:cBhvr additive="base">
                                        <p:cTn id="43" dur="500" fill="hold"/>
                                        <p:tgtEl>
                                          <p:spTgt spid="1491990"/>
                                        </p:tgtEl>
                                        <p:attrNameLst>
                                          <p:attrName>ppt_x</p:attrName>
                                        </p:attrNameLst>
                                      </p:cBhvr>
                                      <p:tavLst>
                                        <p:tav tm="0">
                                          <p:val>
                                            <p:strVal val="0-#ppt_w/2"/>
                                          </p:val>
                                        </p:tav>
                                        <p:tav tm="100000">
                                          <p:val>
                                            <p:strVal val="#ppt_x"/>
                                          </p:val>
                                        </p:tav>
                                      </p:tavLst>
                                    </p:anim>
                                    <p:anim calcmode="lin" valueType="num">
                                      <p:cBhvr additive="base">
                                        <p:cTn id="44" dur="500" fill="hold"/>
                                        <p:tgtEl>
                                          <p:spTgt spid="1491990"/>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491991"/>
                                        </p:tgtEl>
                                        <p:attrNameLst>
                                          <p:attrName>style.visibility</p:attrName>
                                        </p:attrNameLst>
                                      </p:cBhvr>
                                      <p:to>
                                        <p:strVal val="visible"/>
                                      </p:to>
                                    </p:set>
                                    <p:anim calcmode="lin" valueType="num">
                                      <p:cBhvr additive="base">
                                        <p:cTn id="49" dur="500" fill="hold"/>
                                        <p:tgtEl>
                                          <p:spTgt spid="1491991"/>
                                        </p:tgtEl>
                                        <p:attrNameLst>
                                          <p:attrName>ppt_x</p:attrName>
                                        </p:attrNameLst>
                                      </p:cBhvr>
                                      <p:tavLst>
                                        <p:tav tm="0">
                                          <p:val>
                                            <p:strVal val="0-#ppt_w/2"/>
                                          </p:val>
                                        </p:tav>
                                        <p:tav tm="100000">
                                          <p:val>
                                            <p:strVal val="#ppt_x"/>
                                          </p:val>
                                        </p:tav>
                                      </p:tavLst>
                                    </p:anim>
                                    <p:anim calcmode="lin" valueType="num">
                                      <p:cBhvr additive="base">
                                        <p:cTn id="50" dur="500" fill="hold"/>
                                        <p:tgtEl>
                                          <p:spTgt spid="1491991"/>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491992"/>
                                        </p:tgtEl>
                                        <p:attrNameLst>
                                          <p:attrName>style.visibility</p:attrName>
                                        </p:attrNameLst>
                                      </p:cBhvr>
                                      <p:to>
                                        <p:strVal val="visible"/>
                                      </p:to>
                                    </p:set>
                                    <p:anim calcmode="lin" valueType="num">
                                      <p:cBhvr additive="base">
                                        <p:cTn id="55" dur="500" fill="hold"/>
                                        <p:tgtEl>
                                          <p:spTgt spid="1491992"/>
                                        </p:tgtEl>
                                        <p:attrNameLst>
                                          <p:attrName>ppt_x</p:attrName>
                                        </p:attrNameLst>
                                      </p:cBhvr>
                                      <p:tavLst>
                                        <p:tav tm="0">
                                          <p:val>
                                            <p:strVal val="0-#ppt_w/2"/>
                                          </p:val>
                                        </p:tav>
                                        <p:tav tm="100000">
                                          <p:val>
                                            <p:strVal val="#ppt_x"/>
                                          </p:val>
                                        </p:tav>
                                      </p:tavLst>
                                    </p:anim>
                                    <p:anim calcmode="lin" valueType="num">
                                      <p:cBhvr additive="base">
                                        <p:cTn id="56" dur="500" fill="hold"/>
                                        <p:tgtEl>
                                          <p:spTgt spid="1491992"/>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491993"/>
                                        </p:tgtEl>
                                        <p:attrNameLst>
                                          <p:attrName>style.visibility</p:attrName>
                                        </p:attrNameLst>
                                      </p:cBhvr>
                                      <p:to>
                                        <p:strVal val="visible"/>
                                      </p:to>
                                    </p:set>
                                    <p:anim calcmode="lin" valueType="num">
                                      <p:cBhvr additive="base">
                                        <p:cTn id="61" dur="500" fill="hold"/>
                                        <p:tgtEl>
                                          <p:spTgt spid="1491993"/>
                                        </p:tgtEl>
                                        <p:attrNameLst>
                                          <p:attrName>ppt_x</p:attrName>
                                        </p:attrNameLst>
                                      </p:cBhvr>
                                      <p:tavLst>
                                        <p:tav tm="0">
                                          <p:val>
                                            <p:strVal val="0-#ppt_w/2"/>
                                          </p:val>
                                        </p:tav>
                                        <p:tav tm="100000">
                                          <p:val>
                                            <p:strVal val="#ppt_x"/>
                                          </p:val>
                                        </p:tav>
                                      </p:tavLst>
                                    </p:anim>
                                    <p:anim calcmode="lin" valueType="num">
                                      <p:cBhvr additive="base">
                                        <p:cTn id="62" dur="500" fill="hold"/>
                                        <p:tgtEl>
                                          <p:spTgt spid="1491993"/>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491994"/>
                                        </p:tgtEl>
                                        <p:attrNameLst>
                                          <p:attrName>style.visibility</p:attrName>
                                        </p:attrNameLst>
                                      </p:cBhvr>
                                      <p:to>
                                        <p:strVal val="visible"/>
                                      </p:to>
                                    </p:set>
                                    <p:anim calcmode="lin" valueType="num">
                                      <p:cBhvr additive="base">
                                        <p:cTn id="67" dur="500" fill="hold"/>
                                        <p:tgtEl>
                                          <p:spTgt spid="1491994"/>
                                        </p:tgtEl>
                                        <p:attrNameLst>
                                          <p:attrName>ppt_x</p:attrName>
                                        </p:attrNameLst>
                                      </p:cBhvr>
                                      <p:tavLst>
                                        <p:tav tm="0">
                                          <p:val>
                                            <p:strVal val="0-#ppt_w/2"/>
                                          </p:val>
                                        </p:tav>
                                        <p:tav tm="100000">
                                          <p:val>
                                            <p:strVal val="#ppt_x"/>
                                          </p:val>
                                        </p:tav>
                                      </p:tavLst>
                                    </p:anim>
                                    <p:anim calcmode="lin" valueType="num">
                                      <p:cBhvr additive="base">
                                        <p:cTn id="68" dur="500" fill="hold"/>
                                        <p:tgtEl>
                                          <p:spTgt spid="1491994"/>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491995"/>
                                        </p:tgtEl>
                                        <p:attrNameLst>
                                          <p:attrName>style.visibility</p:attrName>
                                        </p:attrNameLst>
                                      </p:cBhvr>
                                      <p:to>
                                        <p:strVal val="visible"/>
                                      </p:to>
                                    </p:set>
                                    <p:anim calcmode="lin" valueType="num">
                                      <p:cBhvr additive="base">
                                        <p:cTn id="73" dur="500" fill="hold"/>
                                        <p:tgtEl>
                                          <p:spTgt spid="1491995"/>
                                        </p:tgtEl>
                                        <p:attrNameLst>
                                          <p:attrName>ppt_x</p:attrName>
                                        </p:attrNameLst>
                                      </p:cBhvr>
                                      <p:tavLst>
                                        <p:tav tm="0">
                                          <p:val>
                                            <p:strVal val="0-#ppt_w/2"/>
                                          </p:val>
                                        </p:tav>
                                        <p:tav tm="100000">
                                          <p:val>
                                            <p:strVal val="#ppt_x"/>
                                          </p:val>
                                        </p:tav>
                                      </p:tavLst>
                                    </p:anim>
                                    <p:anim calcmode="lin" valueType="num">
                                      <p:cBhvr additive="base">
                                        <p:cTn id="74" dur="500" fill="hold"/>
                                        <p:tgtEl>
                                          <p:spTgt spid="1491995"/>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5" presetClass="entr" presetSubtype="0" fill="hold" nodeType="clickEffect">
                                  <p:stCondLst>
                                    <p:cond delay="0"/>
                                  </p:stCondLst>
                                  <p:childTnLst>
                                    <p:set>
                                      <p:cBhvr>
                                        <p:cTn id="78" dur="1" fill="hold">
                                          <p:stCondLst>
                                            <p:cond delay="0"/>
                                          </p:stCondLst>
                                        </p:cTn>
                                        <p:tgtEl>
                                          <p:spTgt spid="3"/>
                                        </p:tgtEl>
                                        <p:attrNameLst>
                                          <p:attrName>style.visibility</p:attrName>
                                        </p:attrNameLst>
                                      </p:cBhvr>
                                      <p:to>
                                        <p:strVal val="visible"/>
                                      </p:to>
                                    </p:set>
                                    <p:anim calcmode="lin" valueType="num">
                                      <p:cBhvr>
                                        <p:cTn id="79" dur="1000" fill="hold"/>
                                        <p:tgtEl>
                                          <p:spTgt spid="3"/>
                                        </p:tgtEl>
                                        <p:attrNameLst>
                                          <p:attrName>ppt_w</p:attrName>
                                        </p:attrNameLst>
                                      </p:cBhvr>
                                      <p:tavLst>
                                        <p:tav tm="0">
                                          <p:val>
                                            <p:fltVal val="0"/>
                                          </p:val>
                                        </p:tav>
                                        <p:tav tm="100000">
                                          <p:val>
                                            <p:strVal val="#ppt_w"/>
                                          </p:val>
                                        </p:tav>
                                      </p:tavLst>
                                    </p:anim>
                                    <p:anim calcmode="lin" valueType="num">
                                      <p:cBhvr>
                                        <p:cTn id="80" dur="1000" fill="hold"/>
                                        <p:tgtEl>
                                          <p:spTgt spid="3"/>
                                        </p:tgtEl>
                                        <p:attrNameLst>
                                          <p:attrName>ppt_h</p:attrName>
                                        </p:attrNameLst>
                                      </p:cBhvr>
                                      <p:tavLst>
                                        <p:tav tm="0">
                                          <p:val>
                                            <p:fltVal val="0"/>
                                          </p:val>
                                        </p:tav>
                                        <p:tav tm="100000">
                                          <p:val>
                                            <p:strVal val="#ppt_h"/>
                                          </p:val>
                                        </p:tav>
                                      </p:tavLst>
                                    </p:anim>
                                    <p:anim calcmode="lin" valueType="num">
                                      <p:cBhvr>
                                        <p:cTn id="81"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82" dur="1000" fill="hold"/>
                                        <p:tgtEl>
                                          <p:spTgt spid="3"/>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1984" grpId="0" animBg="1" autoUpdateAnimBg="0"/>
      <p:bldP spid="1491985" grpId="0" animBg="1" autoUpdateAnimBg="0"/>
      <p:bldP spid="1491986" grpId="0" animBg="1" autoUpdateAnimBg="0"/>
      <p:bldP spid="1491987" grpId="0" animBg="1" autoUpdateAnimBg="0"/>
      <p:bldP spid="1491988" grpId="0" animBg="1" autoUpdateAnimBg="0"/>
      <p:bldP spid="1491989" grpId="0" animBg="1" autoUpdateAnimBg="0"/>
      <p:bldP spid="1491990" grpId="0" animBg="1" autoUpdateAnimBg="0"/>
      <p:bldP spid="1491991" grpId="0" animBg="1" autoUpdateAnimBg="0"/>
      <p:bldP spid="1491992" grpId="0" animBg="1" autoUpdateAnimBg="0"/>
      <p:bldP spid="1491993" grpId="0" animBg="1" autoUpdateAnimBg="0"/>
      <p:bldP spid="1491994" grpId="0" animBg="1" autoUpdateAnimBg="0"/>
      <p:bldP spid="1491995"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2994" name="Rectangle 2"/>
          <p:cNvSpPr>
            <a:spLocks noGrp="1" noChangeArrowheads="1"/>
          </p:cNvSpPr>
          <p:nvPr>
            <p:ph type="title"/>
          </p:nvPr>
        </p:nvSpPr>
        <p:spPr>
          <a:xfrm>
            <a:off x="457200" y="142852"/>
            <a:ext cx="8305800" cy="1143000"/>
          </a:xfrm>
        </p:spPr>
        <p:txBody>
          <a:bodyPr>
            <a:normAutofit fontScale="90000"/>
          </a:bodyPr>
          <a:lstStyle/>
          <a:p>
            <a:r>
              <a:rPr lang="en-US" sz="3600" dirty="0"/>
              <a:t>Where </a:t>
            </a:r>
            <a:r>
              <a:rPr lang="en-US" sz="3600" dirty="0" smtClean="0"/>
              <a:t>were we </a:t>
            </a:r>
            <a:r>
              <a:rPr lang="en-US" sz="1400" dirty="0"/>
              <a:t>(WinCore)</a:t>
            </a:r>
            <a:r>
              <a:rPr lang="en-US" sz="3600" dirty="0"/>
              <a:t> </a:t>
            </a:r>
            <a:r>
              <a:rPr lang="en-US" sz="3600" dirty="0" smtClean="0"/>
              <a:t>(</a:t>
            </a:r>
            <a:r>
              <a:rPr lang="en-US" sz="3600" dirty="0"/>
              <a:t>Spring </a:t>
            </a:r>
            <a:r>
              <a:rPr lang="en-US" sz="3600" dirty="0" smtClean="0"/>
              <a:t/>
            </a:r>
            <a:br>
              <a:rPr lang="en-US" sz="3600" dirty="0" smtClean="0"/>
            </a:br>
            <a:r>
              <a:rPr lang="en-US" sz="3600" dirty="0" smtClean="0"/>
              <a:t>2007</a:t>
            </a:r>
            <a:r>
              <a:rPr lang="en-US" sz="3600" dirty="0"/>
              <a:t>)</a:t>
            </a:r>
            <a:endParaRPr lang="en-GB" sz="3600" dirty="0"/>
          </a:p>
        </p:txBody>
      </p:sp>
      <p:grpSp>
        <p:nvGrpSpPr>
          <p:cNvPr id="2" name="Group 3"/>
          <p:cNvGrpSpPr>
            <a:grpSpLocks/>
          </p:cNvGrpSpPr>
          <p:nvPr/>
        </p:nvGrpSpPr>
        <p:grpSpPr bwMode="auto">
          <a:xfrm>
            <a:off x="457200" y="1143000"/>
            <a:ext cx="8305800" cy="4916488"/>
            <a:chOff x="288" y="864"/>
            <a:chExt cx="5232" cy="3097"/>
          </a:xfrm>
        </p:grpSpPr>
        <p:sp>
          <p:nvSpPr>
            <p:cNvPr id="1492996" name="Rectangle 4"/>
            <p:cNvSpPr>
              <a:spLocks noChangeArrowheads="1"/>
            </p:cNvSpPr>
            <p:nvPr/>
          </p:nvSpPr>
          <p:spPr bwMode="auto">
            <a:xfrm>
              <a:off x="288" y="864"/>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Product-level Test Planning and Control </a:t>
              </a:r>
            </a:p>
            <a:p>
              <a:pPr algn="ctr"/>
              <a:r>
                <a:rPr lang="en-US" sz="1200" b="1" dirty="0">
                  <a:solidFill>
                    <a:schemeClr val="bg1"/>
                  </a:solidFill>
                </a:rPr>
                <a:t>“Master Test Planning”</a:t>
              </a:r>
              <a:endParaRPr lang="en-GB" sz="1200" b="1" dirty="0">
                <a:solidFill>
                  <a:schemeClr val="bg1"/>
                </a:solidFill>
              </a:endParaRPr>
            </a:p>
          </p:txBody>
        </p:sp>
        <p:sp>
          <p:nvSpPr>
            <p:cNvPr id="1492997" name="Rectangle 5"/>
            <p:cNvSpPr>
              <a:spLocks noChangeArrowheads="1"/>
            </p:cNvSpPr>
            <p:nvPr/>
          </p:nvSpPr>
          <p:spPr bwMode="auto">
            <a:xfrm>
              <a:off x="288" y="1392"/>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Area-level Test Planning and Design </a:t>
              </a:r>
            </a:p>
            <a:p>
              <a:pPr algn="ctr"/>
              <a:r>
                <a:rPr lang="en-US" sz="1200" b="1" dirty="0">
                  <a:solidFill>
                    <a:schemeClr val="bg1"/>
                  </a:solidFill>
                </a:rPr>
                <a:t>“Test strategies, test specification”</a:t>
              </a:r>
              <a:endParaRPr lang="en-GB" sz="1200" b="1" dirty="0">
                <a:solidFill>
                  <a:schemeClr val="bg1"/>
                </a:solidFill>
              </a:endParaRPr>
            </a:p>
          </p:txBody>
        </p:sp>
        <p:sp>
          <p:nvSpPr>
            <p:cNvPr id="1492998" name="Rectangle 6"/>
            <p:cNvSpPr>
              <a:spLocks noChangeArrowheads="1"/>
            </p:cNvSpPr>
            <p:nvPr/>
          </p:nvSpPr>
          <p:spPr bwMode="auto">
            <a:xfrm>
              <a:off x="288" y="1920"/>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Reporting</a:t>
              </a:r>
              <a:endParaRPr lang="en-GB" sz="1600" b="1" dirty="0">
                <a:solidFill>
                  <a:schemeClr val="bg1"/>
                </a:solidFill>
              </a:endParaRPr>
            </a:p>
          </p:txBody>
        </p:sp>
        <p:sp>
          <p:nvSpPr>
            <p:cNvPr id="1492999" name="Rectangle 7"/>
            <p:cNvSpPr>
              <a:spLocks noChangeArrowheads="1"/>
            </p:cNvSpPr>
            <p:nvPr/>
          </p:nvSpPr>
          <p:spPr bwMode="auto">
            <a:xfrm>
              <a:off x="2976" y="1920"/>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Maintenance Testing</a:t>
              </a:r>
              <a:endParaRPr lang="en-GB" sz="1600" b="1" dirty="0">
                <a:solidFill>
                  <a:schemeClr val="bg1"/>
                </a:solidFill>
              </a:endParaRPr>
            </a:p>
          </p:txBody>
        </p:sp>
        <p:sp>
          <p:nvSpPr>
            <p:cNvPr id="1493000" name="Rectangle 8"/>
            <p:cNvSpPr>
              <a:spLocks noChangeArrowheads="1"/>
            </p:cNvSpPr>
            <p:nvPr/>
          </p:nvSpPr>
          <p:spPr bwMode="auto">
            <a:xfrm>
              <a:off x="288" y="2448"/>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Execution and Logging</a:t>
              </a:r>
              <a:endParaRPr lang="en-GB" sz="1600" b="1" dirty="0">
                <a:solidFill>
                  <a:schemeClr val="bg1"/>
                </a:solidFill>
              </a:endParaRPr>
            </a:p>
          </p:txBody>
        </p:sp>
        <p:sp>
          <p:nvSpPr>
            <p:cNvPr id="1493001" name="Rectangle 9"/>
            <p:cNvSpPr>
              <a:spLocks noChangeArrowheads="1"/>
            </p:cNvSpPr>
            <p:nvPr/>
          </p:nvSpPr>
          <p:spPr bwMode="auto">
            <a:xfrm>
              <a:off x="2976" y="864"/>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Automation</a:t>
              </a:r>
            </a:p>
          </p:txBody>
        </p:sp>
        <p:sp>
          <p:nvSpPr>
            <p:cNvPr id="1493002" name="Rectangle 10"/>
            <p:cNvSpPr>
              <a:spLocks noChangeArrowheads="1"/>
            </p:cNvSpPr>
            <p:nvPr/>
          </p:nvSpPr>
          <p:spPr bwMode="auto">
            <a:xfrm>
              <a:off x="2976" y="2976"/>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Developer testing</a:t>
              </a:r>
              <a:endParaRPr lang="en-GB" sz="1600" b="1" dirty="0">
                <a:solidFill>
                  <a:schemeClr val="bg1"/>
                </a:solidFill>
              </a:endParaRPr>
            </a:p>
          </p:txBody>
        </p:sp>
        <p:sp>
          <p:nvSpPr>
            <p:cNvPr id="1493003" name="Rectangle 11"/>
            <p:cNvSpPr>
              <a:spLocks noChangeArrowheads="1"/>
            </p:cNvSpPr>
            <p:nvPr/>
          </p:nvSpPr>
          <p:spPr bwMode="auto">
            <a:xfrm>
              <a:off x="2976" y="2448"/>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Development Documentation testing</a:t>
              </a:r>
            </a:p>
            <a:p>
              <a:pPr algn="ctr"/>
              <a:r>
                <a:rPr lang="en-US" sz="1200" b="1" dirty="0">
                  <a:solidFill>
                    <a:schemeClr val="bg1"/>
                  </a:solidFill>
                </a:rPr>
                <a:t>“Reviews and inspections of requirements, designs, plans”</a:t>
              </a:r>
              <a:endParaRPr lang="en-GB" sz="1200" b="1" dirty="0">
                <a:solidFill>
                  <a:schemeClr val="bg1"/>
                </a:solidFill>
              </a:endParaRPr>
            </a:p>
          </p:txBody>
        </p:sp>
        <p:sp>
          <p:nvSpPr>
            <p:cNvPr id="1493004" name="Rectangle 12"/>
            <p:cNvSpPr>
              <a:spLocks noChangeArrowheads="1"/>
            </p:cNvSpPr>
            <p:nvPr/>
          </p:nvSpPr>
          <p:spPr bwMode="auto">
            <a:xfrm>
              <a:off x="288" y="2976"/>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Bug reporting</a:t>
              </a:r>
            </a:p>
          </p:txBody>
        </p:sp>
        <p:sp>
          <p:nvSpPr>
            <p:cNvPr id="1493005" name="Rectangle 13"/>
            <p:cNvSpPr>
              <a:spLocks noChangeArrowheads="1"/>
            </p:cNvSpPr>
            <p:nvPr/>
          </p:nvSpPr>
          <p:spPr bwMode="auto">
            <a:xfrm>
              <a:off x="288" y="3504"/>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Environments and Infrastructure</a:t>
              </a:r>
            </a:p>
          </p:txBody>
        </p:sp>
        <p:sp>
          <p:nvSpPr>
            <p:cNvPr id="1493006" name="Rectangle 14"/>
            <p:cNvSpPr>
              <a:spLocks noChangeArrowheads="1"/>
            </p:cNvSpPr>
            <p:nvPr/>
          </p:nvSpPr>
          <p:spPr bwMode="auto">
            <a:xfrm>
              <a:off x="2976" y="1392"/>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Acceptance testing of external components</a:t>
              </a:r>
            </a:p>
          </p:txBody>
        </p:sp>
        <p:sp>
          <p:nvSpPr>
            <p:cNvPr id="1493007" name="Rectangle 15"/>
            <p:cNvSpPr>
              <a:spLocks noChangeArrowheads="1"/>
            </p:cNvSpPr>
            <p:nvPr/>
          </p:nvSpPr>
          <p:spPr bwMode="auto">
            <a:xfrm>
              <a:off x="2976" y="3504"/>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QE Process Improvement</a:t>
              </a:r>
            </a:p>
          </p:txBody>
        </p:sp>
      </p:grpSp>
      <p:sp>
        <p:nvSpPr>
          <p:cNvPr id="1493008" name="AutoShape 16"/>
          <p:cNvSpPr>
            <a:spLocks noChangeArrowheads="1"/>
          </p:cNvSpPr>
          <p:nvPr/>
        </p:nvSpPr>
        <p:spPr bwMode="auto">
          <a:xfrm>
            <a:off x="7772400" y="76200"/>
            <a:ext cx="990600" cy="990600"/>
          </a:xfrm>
          <a:prstGeom prst="foldedCorner">
            <a:avLst>
              <a:gd name="adj" fmla="val 28204"/>
            </a:avLst>
          </a:prstGeom>
          <a:solidFill>
            <a:schemeClr val="folHlink"/>
          </a:solidFill>
          <a:ln w="12700">
            <a:noFill/>
            <a:round/>
            <a:headEnd/>
            <a:tailEnd/>
          </a:ln>
          <a:effectLst/>
        </p:spPr>
        <p:txBody>
          <a:bodyPr wrap="none" lIns="90000" tIns="46800" rIns="90000" bIns="46800" anchor="ctr"/>
          <a:lstStyle/>
          <a:p>
            <a:pPr algn="ctr"/>
            <a:r>
              <a:rPr lang="fi-FI" sz="1400" b="1">
                <a:solidFill>
                  <a:schemeClr val="bg1"/>
                </a:solidFill>
              </a:rPr>
              <a:t>Grade:</a:t>
            </a:r>
          </a:p>
          <a:p>
            <a:pPr algn="ctr"/>
            <a:r>
              <a:rPr lang="fi-FI" sz="3200" b="1">
                <a:solidFill>
                  <a:schemeClr val="bg1"/>
                </a:solidFill>
              </a:rPr>
              <a:t>8</a:t>
            </a:r>
            <a:endParaRPr lang="en-GB" sz="3200" b="1" dirty="0">
              <a:solidFill>
                <a:schemeClr val="bg1"/>
              </a:solidFill>
            </a:endParaRPr>
          </a:p>
        </p:txBody>
      </p:sp>
      <p:grpSp>
        <p:nvGrpSpPr>
          <p:cNvPr id="3" name="Group 17"/>
          <p:cNvGrpSpPr>
            <a:grpSpLocks/>
          </p:cNvGrpSpPr>
          <p:nvPr/>
        </p:nvGrpSpPr>
        <p:grpSpPr bwMode="auto">
          <a:xfrm>
            <a:off x="76200" y="1219200"/>
            <a:ext cx="4343400" cy="609600"/>
            <a:chOff x="48" y="768"/>
            <a:chExt cx="2736" cy="384"/>
          </a:xfrm>
        </p:grpSpPr>
        <p:sp>
          <p:nvSpPr>
            <p:cNvPr id="1493010" name="AutoShape 18"/>
            <p:cNvSpPr>
              <a:spLocks noChangeArrowheads="1"/>
            </p:cNvSpPr>
            <p:nvPr/>
          </p:nvSpPr>
          <p:spPr bwMode="auto">
            <a:xfrm>
              <a:off x="336" y="768"/>
              <a:ext cx="2448" cy="384"/>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folHlink"/>
                  </a:solidFill>
                </a:rPr>
                <a:t>Monthly QE resourcing to teams with implicit planning. QE Weekly not self-organized. Risks on quality not escalated. </a:t>
              </a:r>
              <a:endParaRPr lang="en-GB" sz="1400" b="1" dirty="0">
                <a:solidFill>
                  <a:schemeClr val="folHlink"/>
                </a:solidFill>
              </a:endParaRPr>
            </a:p>
          </p:txBody>
        </p:sp>
        <p:sp>
          <p:nvSpPr>
            <p:cNvPr id="1493011" name="AutoShape 19"/>
            <p:cNvSpPr>
              <a:spLocks noChangeArrowheads="1"/>
            </p:cNvSpPr>
            <p:nvPr/>
          </p:nvSpPr>
          <p:spPr bwMode="auto">
            <a:xfrm>
              <a:off x="48" y="768"/>
              <a:ext cx="336" cy="384"/>
            </a:xfrm>
            <a:prstGeom prst="foldedCorner">
              <a:avLst>
                <a:gd name="adj" fmla="val 28204"/>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7</a:t>
              </a:r>
              <a:endParaRPr lang="en-GB" sz="2400" b="1" dirty="0">
                <a:solidFill>
                  <a:schemeClr val="bg1"/>
                </a:solidFill>
              </a:endParaRPr>
            </a:p>
          </p:txBody>
        </p:sp>
      </p:grpSp>
      <p:grpSp>
        <p:nvGrpSpPr>
          <p:cNvPr id="4" name="Group 20"/>
          <p:cNvGrpSpPr>
            <a:grpSpLocks/>
          </p:cNvGrpSpPr>
          <p:nvPr/>
        </p:nvGrpSpPr>
        <p:grpSpPr bwMode="auto">
          <a:xfrm>
            <a:off x="76200" y="2057400"/>
            <a:ext cx="4343400" cy="609600"/>
            <a:chOff x="48" y="1296"/>
            <a:chExt cx="2736" cy="384"/>
          </a:xfrm>
        </p:grpSpPr>
        <p:sp>
          <p:nvSpPr>
            <p:cNvPr id="1493013" name="AutoShape 21"/>
            <p:cNvSpPr>
              <a:spLocks noChangeArrowheads="1"/>
            </p:cNvSpPr>
            <p:nvPr/>
          </p:nvSpPr>
          <p:spPr bwMode="auto">
            <a:xfrm>
              <a:off x="336" y="1296"/>
              <a:ext cx="2448" cy="384"/>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folHlink"/>
                  </a:solidFill>
                </a:rPr>
                <a:t>Strategies implicit and based too much on individuals in team. Various forms of test specs.  Loc test and CI-goals unclear. </a:t>
              </a:r>
              <a:endParaRPr lang="en-GB" sz="1400" b="1" dirty="0">
                <a:solidFill>
                  <a:schemeClr val="folHlink"/>
                </a:solidFill>
              </a:endParaRPr>
            </a:p>
          </p:txBody>
        </p:sp>
        <p:sp>
          <p:nvSpPr>
            <p:cNvPr id="1493014" name="AutoShape 22"/>
            <p:cNvSpPr>
              <a:spLocks noChangeArrowheads="1"/>
            </p:cNvSpPr>
            <p:nvPr/>
          </p:nvSpPr>
          <p:spPr bwMode="auto">
            <a:xfrm>
              <a:off x="48" y="1296"/>
              <a:ext cx="336" cy="384"/>
            </a:xfrm>
            <a:prstGeom prst="foldedCorner">
              <a:avLst>
                <a:gd name="adj" fmla="val 28204"/>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7</a:t>
              </a:r>
              <a:endParaRPr lang="en-GB" sz="2400" b="1" dirty="0">
                <a:solidFill>
                  <a:schemeClr val="bg1"/>
                </a:solidFill>
              </a:endParaRPr>
            </a:p>
          </p:txBody>
        </p:sp>
      </p:grpSp>
      <p:grpSp>
        <p:nvGrpSpPr>
          <p:cNvPr id="5" name="Group 23"/>
          <p:cNvGrpSpPr>
            <a:grpSpLocks/>
          </p:cNvGrpSpPr>
          <p:nvPr/>
        </p:nvGrpSpPr>
        <p:grpSpPr bwMode="auto">
          <a:xfrm>
            <a:off x="76200" y="2895600"/>
            <a:ext cx="4343400" cy="609600"/>
            <a:chOff x="48" y="1824"/>
            <a:chExt cx="2736" cy="384"/>
          </a:xfrm>
        </p:grpSpPr>
        <p:sp>
          <p:nvSpPr>
            <p:cNvPr id="1493016" name="AutoShape 24"/>
            <p:cNvSpPr>
              <a:spLocks noChangeArrowheads="1"/>
            </p:cNvSpPr>
            <p:nvPr/>
          </p:nvSpPr>
          <p:spPr bwMode="auto">
            <a:xfrm>
              <a:off x="336" y="1824"/>
              <a:ext cx="2448" cy="384"/>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folHlink"/>
                  </a:solidFill>
                </a:rPr>
                <a:t>Qualitative report, not scheduled, role unclear: internal vs. external. Done items review weekly. Too little quantification.</a:t>
              </a:r>
              <a:endParaRPr lang="en-GB" sz="1400" b="1" dirty="0">
                <a:solidFill>
                  <a:schemeClr val="accent2"/>
                </a:solidFill>
              </a:endParaRPr>
            </a:p>
          </p:txBody>
        </p:sp>
        <p:sp>
          <p:nvSpPr>
            <p:cNvPr id="1493017" name="AutoShape 25"/>
            <p:cNvSpPr>
              <a:spLocks noChangeArrowheads="1"/>
            </p:cNvSpPr>
            <p:nvPr/>
          </p:nvSpPr>
          <p:spPr bwMode="auto">
            <a:xfrm>
              <a:off x="48" y="1824"/>
              <a:ext cx="336" cy="384"/>
            </a:xfrm>
            <a:prstGeom prst="foldedCorner">
              <a:avLst>
                <a:gd name="adj" fmla="val 28204"/>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grpSp>
      <p:grpSp>
        <p:nvGrpSpPr>
          <p:cNvPr id="6" name="Group 26"/>
          <p:cNvGrpSpPr>
            <a:grpSpLocks/>
          </p:cNvGrpSpPr>
          <p:nvPr/>
        </p:nvGrpSpPr>
        <p:grpSpPr bwMode="auto">
          <a:xfrm>
            <a:off x="76200" y="3733800"/>
            <a:ext cx="4343400" cy="609600"/>
            <a:chOff x="48" y="2352"/>
            <a:chExt cx="2736" cy="384"/>
          </a:xfrm>
        </p:grpSpPr>
        <p:sp>
          <p:nvSpPr>
            <p:cNvPr id="1493019" name="AutoShape 27"/>
            <p:cNvSpPr>
              <a:spLocks noChangeArrowheads="1"/>
            </p:cNvSpPr>
            <p:nvPr/>
          </p:nvSpPr>
          <p:spPr bwMode="auto">
            <a:xfrm>
              <a:off x="336" y="2352"/>
              <a:ext cx="2448" cy="384"/>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folHlink"/>
                  </a:solidFill>
                </a:rPr>
                <a:t>Exploratory testing with too little explaining what is done. Last week formal log missing. Some private logs.  </a:t>
              </a:r>
              <a:endParaRPr lang="en-GB" sz="1400" b="1" dirty="0">
                <a:solidFill>
                  <a:schemeClr val="folHlink"/>
                </a:solidFill>
              </a:endParaRPr>
            </a:p>
          </p:txBody>
        </p:sp>
        <p:sp>
          <p:nvSpPr>
            <p:cNvPr id="1493020" name="AutoShape 28"/>
            <p:cNvSpPr>
              <a:spLocks noChangeArrowheads="1"/>
            </p:cNvSpPr>
            <p:nvPr/>
          </p:nvSpPr>
          <p:spPr bwMode="auto">
            <a:xfrm>
              <a:off x="48" y="2352"/>
              <a:ext cx="336" cy="384"/>
            </a:xfrm>
            <a:prstGeom prst="foldedCorner">
              <a:avLst>
                <a:gd name="adj" fmla="val 28204"/>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grpSp>
      <p:grpSp>
        <p:nvGrpSpPr>
          <p:cNvPr id="7" name="Group 29"/>
          <p:cNvGrpSpPr>
            <a:grpSpLocks/>
          </p:cNvGrpSpPr>
          <p:nvPr/>
        </p:nvGrpSpPr>
        <p:grpSpPr bwMode="auto">
          <a:xfrm>
            <a:off x="76200" y="4572000"/>
            <a:ext cx="4343400" cy="609600"/>
            <a:chOff x="48" y="2880"/>
            <a:chExt cx="2736" cy="384"/>
          </a:xfrm>
        </p:grpSpPr>
        <p:sp>
          <p:nvSpPr>
            <p:cNvPr id="1493022" name="AutoShape 30"/>
            <p:cNvSpPr>
              <a:spLocks noChangeArrowheads="1"/>
            </p:cNvSpPr>
            <p:nvPr/>
          </p:nvSpPr>
          <p:spPr bwMode="auto">
            <a:xfrm>
              <a:off x="336" y="2880"/>
              <a:ext cx="2448" cy="384"/>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folHlink"/>
                  </a:solidFill>
                </a:rPr>
                <a:t>Per-team CCB drives quality. Big picture not summarized. Unsystematic follow-up. Tooling under consideration.</a:t>
              </a:r>
              <a:endParaRPr lang="en-GB" sz="1400" b="1" dirty="0">
                <a:solidFill>
                  <a:schemeClr val="folHlink"/>
                </a:solidFill>
              </a:endParaRPr>
            </a:p>
          </p:txBody>
        </p:sp>
        <p:sp>
          <p:nvSpPr>
            <p:cNvPr id="1493023" name="AutoShape 31"/>
            <p:cNvSpPr>
              <a:spLocks noChangeArrowheads="1"/>
            </p:cNvSpPr>
            <p:nvPr/>
          </p:nvSpPr>
          <p:spPr bwMode="auto">
            <a:xfrm>
              <a:off x="48" y="2880"/>
              <a:ext cx="336" cy="384"/>
            </a:xfrm>
            <a:prstGeom prst="foldedCorner">
              <a:avLst>
                <a:gd name="adj" fmla="val 28204"/>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grpSp>
      <p:grpSp>
        <p:nvGrpSpPr>
          <p:cNvPr id="8" name="Group 32"/>
          <p:cNvGrpSpPr>
            <a:grpSpLocks/>
          </p:cNvGrpSpPr>
          <p:nvPr/>
        </p:nvGrpSpPr>
        <p:grpSpPr bwMode="auto">
          <a:xfrm>
            <a:off x="76200" y="5410200"/>
            <a:ext cx="4343400" cy="609600"/>
            <a:chOff x="48" y="3408"/>
            <a:chExt cx="2736" cy="384"/>
          </a:xfrm>
        </p:grpSpPr>
        <p:sp>
          <p:nvSpPr>
            <p:cNvPr id="1493025" name="AutoShape 33"/>
            <p:cNvSpPr>
              <a:spLocks noChangeArrowheads="1"/>
            </p:cNvSpPr>
            <p:nvPr/>
          </p:nvSpPr>
          <p:spPr bwMode="auto">
            <a:xfrm>
              <a:off x="336" y="3408"/>
              <a:ext cx="2448" cy="384"/>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folHlink"/>
                  </a:solidFill>
                </a:rPr>
                <a:t>Basic services, image library. New hardware acquired as needed. Trainings for consistency missing. </a:t>
              </a:r>
              <a:endParaRPr lang="en-GB" sz="1400" b="1" dirty="0">
                <a:solidFill>
                  <a:schemeClr val="accent2"/>
                </a:solidFill>
              </a:endParaRPr>
            </a:p>
          </p:txBody>
        </p:sp>
        <p:sp>
          <p:nvSpPr>
            <p:cNvPr id="1493026" name="AutoShape 34"/>
            <p:cNvSpPr>
              <a:spLocks noChangeArrowheads="1"/>
            </p:cNvSpPr>
            <p:nvPr/>
          </p:nvSpPr>
          <p:spPr bwMode="auto">
            <a:xfrm>
              <a:off x="48" y="3408"/>
              <a:ext cx="336" cy="384"/>
            </a:xfrm>
            <a:prstGeom prst="foldedCorner">
              <a:avLst>
                <a:gd name="adj" fmla="val 28204"/>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grpSp>
      <p:grpSp>
        <p:nvGrpSpPr>
          <p:cNvPr id="9" name="Group 35"/>
          <p:cNvGrpSpPr>
            <a:grpSpLocks/>
          </p:cNvGrpSpPr>
          <p:nvPr/>
        </p:nvGrpSpPr>
        <p:grpSpPr bwMode="auto">
          <a:xfrm>
            <a:off x="4800600" y="5410200"/>
            <a:ext cx="4267200" cy="609600"/>
            <a:chOff x="3024" y="3408"/>
            <a:chExt cx="2688" cy="384"/>
          </a:xfrm>
        </p:grpSpPr>
        <p:sp>
          <p:nvSpPr>
            <p:cNvPr id="1493028" name="AutoShape 36"/>
            <p:cNvSpPr>
              <a:spLocks noChangeArrowheads="1"/>
            </p:cNvSpPr>
            <p:nvPr/>
          </p:nvSpPr>
          <p:spPr bwMode="auto">
            <a:xfrm>
              <a:off x="3024" y="3408"/>
              <a:ext cx="2448" cy="384"/>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folHlink"/>
                  </a:solidFill>
                </a:rPr>
                <a:t>QE weekly and QE forum exist. Workshops on pressing issues. Teams independent. Peer feedback. </a:t>
              </a:r>
              <a:endParaRPr lang="en-GB" sz="1400" b="1" dirty="0">
                <a:solidFill>
                  <a:schemeClr val="folHlink"/>
                </a:solidFill>
              </a:endParaRPr>
            </a:p>
          </p:txBody>
        </p:sp>
        <p:sp>
          <p:nvSpPr>
            <p:cNvPr id="1493029" name="AutoShape 37"/>
            <p:cNvSpPr>
              <a:spLocks noChangeArrowheads="1"/>
            </p:cNvSpPr>
            <p:nvPr/>
          </p:nvSpPr>
          <p:spPr bwMode="auto">
            <a:xfrm>
              <a:off x="5376" y="3408"/>
              <a:ext cx="336" cy="384"/>
            </a:xfrm>
            <a:prstGeom prst="foldedCorner">
              <a:avLst>
                <a:gd name="adj" fmla="val 28204"/>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grpSp>
      <p:grpSp>
        <p:nvGrpSpPr>
          <p:cNvPr id="10" name="Group 38"/>
          <p:cNvGrpSpPr>
            <a:grpSpLocks/>
          </p:cNvGrpSpPr>
          <p:nvPr/>
        </p:nvGrpSpPr>
        <p:grpSpPr bwMode="auto">
          <a:xfrm>
            <a:off x="4800600" y="4572000"/>
            <a:ext cx="4267200" cy="609600"/>
            <a:chOff x="3024" y="2880"/>
            <a:chExt cx="2688" cy="384"/>
          </a:xfrm>
        </p:grpSpPr>
        <p:sp>
          <p:nvSpPr>
            <p:cNvPr id="1493031" name="AutoShape 39"/>
            <p:cNvSpPr>
              <a:spLocks noChangeArrowheads="1"/>
            </p:cNvSpPr>
            <p:nvPr/>
          </p:nvSpPr>
          <p:spPr bwMode="auto">
            <a:xfrm>
              <a:off x="3024" y="2880"/>
              <a:ext cx="2448" cy="384"/>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folHlink"/>
                  </a:solidFill>
                </a:rPr>
                <a:t>More developers have tried, QE support halted, interest in developer side exists. </a:t>
              </a:r>
              <a:endParaRPr lang="en-GB" sz="1400" b="1" dirty="0">
                <a:solidFill>
                  <a:schemeClr val="folHlink"/>
                </a:solidFill>
              </a:endParaRPr>
            </a:p>
          </p:txBody>
        </p:sp>
        <p:sp>
          <p:nvSpPr>
            <p:cNvPr id="1493032" name="AutoShape 40"/>
            <p:cNvSpPr>
              <a:spLocks noChangeArrowheads="1"/>
            </p:cNvSpPr>
            <p:nvPr/>
          </p:nvSpPr>
          <p:spPr bwMode="auto">
            <a:xfrm>
              <a:off x="5376" y="2880"/>
              <a:ext cx="336" cy="384"/>
            </a:xfrm>
            <a:prstGeom prst="foldedCorner">
              <a:avLst>
                <a:gd name="adj" fmla="val 28204"/>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grpSp>
      <p:grpSp>
        <p:nvGrpSpPr>
          <p:cNvPr id="11" name="Group 41"/>
          <p:cNvGrpSpPr>
            <a:grpSpLocks/>
          </p:cNvGrpSpPr>
          <p:nvPr/>
        </p:nvGrpSpPr>
        <p:grpSpPr bwMode="auto">
          <a:xfrm>
            <a:off x="4800600" y="3733800"/>
            <a:ext cx="4267200" cy="609600"/>
            <a:chOff x="3024" y="2352"/>
            <a:chExt cx="2688" cy="384"/>
          </a:xfrm>
        </p:grpSpPr>
        <p:sp>
          <p:nvSpPr>
            <p:cNvPr id="1493034" name="AutoShape 42"/>
            <p:cNvSpPr>
              <a:spLocks noChangeArrowheads="1"/>
            </p:cNvSpPr>
            <p:nvPr/>
          </p:nvSpPr>
          <p:spPr bwMode="auto">
            <a:xfrm>
              <a:off x="3024" y="2352"/>
              <a:ext cx="2448" cy="384"/>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folHlink"/>
                  </a:solidFill>
                </a:rPr>
                <a:t>Workshops to define goals, requirements. No official reviews nor documents. Role of documentation under dispute.</a:t>
              </a:r>
              <a:endParaRPr lang="en-GB" sz="1400" b="1" dirty="0">
                <a:solidFill>
                  <a:schemeClr val="folHlink"/>
                </a:solidFill>
              </a:endParaRPr>
            </a:p>
          </p:txBody>
        </p:sp>
        <p:sp>
          <p:nvSpPr>
            <p:cNvPr id="1493035" name="AutoShape 43"/>
            <p:cNvSpPr>
              <a:spLocks noChangeArrowheads="1"/>
            </p:cNvSpPr>
            <p:nvPr/>
          </p:nvSpPr>
          <p:spPr bwMode="auto">
            <a:xfrm>
              <a:off x="5376" y="2352"/>
              <a:ext cx="336" cy="384"/>
            </a:xfrm>
            <a:prstGeom prst="foldedCorner">
              <a:avLst>
                <a:gd name="adj" fmla="val 28204"/>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grpSp>
      <p:grpSp>
        <p:nvGrpSpPr>
          <p:cNvPr id="12" name="Group 44"/>
          <p:cNvGrpSpPr>
            <a:grpSpLocks/>
          </p:cNvGrpSpPr>
          <p:nvPr/>
        </p:nvGrpSpPr>
        <p:grpSpPr bwMode="auto">
          <a:xfrm>
            <a:off x="4800600" y="2895600"/>
            <a:ext cx="4267200" cy="609600"/>
            <a:chOff x="3024" y="1824"/>
            <a:chExt cx="2688" cy="384"/>
          </a:xfrm>
        </p:grpSpPr>
        <p:sp>
          <p:nvSpPr>
            <p:cNvPr id="1493037" name="AutoShape 45"/>
            <p:cNvSpPr>
              <a:spLocks noChangeArrowheads="1"/>
            </p:cNvSpPr>
            <p:nvPr/>
          </p:nvSpPr>
          <p:spPr bwMode="auto">
            <a:xfrm>
              <a:off x="3024" y="1824"/>
              <a:ext cx="2448" cy="384"/>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folHlink"/>
                  </a:solidFill>
                </a:rPr>
                <a:t>Specialized maintenance QE, tried recycling. Maintenance cases fixed in new releases. Fuzzy resourcing for teams. </a:t>
              </a:r>
              <a:endParaRPr lang="en-GB" sz="1400" b="1" dirty="0">
                <a:solidFill>
                  <a:schemeClr val="folHlink"/>
                </a:solidFill>
              </a:endParaRPr>
            </a:p>
          </p:txBody>
        </p:sp>
        <p:sp>
          <p:nvSpPr>
            <p:cNvPr id="1493038" name="AutoShape 46"/>
            <p:cNvSpPr>
              <a:spLocks noChangeArrowheads="1"/>
            </p:cNvSpPr>
            <p:nvPr/>
          </p:nvSpPr>
          <p:spPr bwMode="auto">
            <a:xfrm>
              <a:off x="5376" y="1824"/>
              <a:ext cx="336" cy="384"/>
            </a:xfrm>
            <a:prstGeom prst="foldedCorner">
              <a:avLst>
                <a:gd name="adj" fmla="val 28204"/>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grpSp>
      <p:grpSp>
        <p:nvGrpSpPr>
          <p:cNvPr id="13" name="Group 47"/>
          <p:cNvGrpSpPr>
            <a:grpSpLocks/>
          </p:cNvGrpSpPr>
          <p:nvPr/>
        </p:nvGrpSpPr>
        <p:grpSpPr bwMode="auto">
          <a:xfrm>
            <a:off x="4800600" y="1219200"/>
            <a:ext cx="4267200" cy="609600"/>
            <a:chOff x="3024" y="768"/>
            <a:chExt cx="2688" cy="384"/>
          </a:xfrm>
        </p:grpSpPr>
        <p:sp>
          <p:nvSpPr>
            <p:cNvPr id="1493040" name="AutoShape 48"/>
            <p:cNvSpPr>
              <a:spLocks noChangeArrowheads="1"/>
            </p:cNvSpPr>
            <p:nvPr/>
          </p:nvSpPr>
          <p:spPr bwMode="auto">
            <a:xfrm>
              <a:off x="3024" y="768"/>
              <a:ext cx="2448" cy="384"/>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GB" sz="1400" b="1" dirty="0">
                  <a:solidFill>
                    <a:schemeClr val="folHlink"/>
                  </a:solidFill>
                </a:rPr>
                <a:t>Developer automation, more technical as direction. System smoke automation missing. Nice little tools, no consistency.</a:t>
              </a:r>
            </a:p>
          </p:txBody>
        </p:sp>
        <p:sp>
          <p:nvSpPr>
            <p:cNvPr id="1493041" name="AutoShape 49"/>
            <p:cNvSpPr>
              <a:spLocks noChangeArrowheads="1"/>
            </p:cNvSpPr>
            <p:nvPr/>
          </p:nvSpPr>
          <p:spPr bwMode="auto">
            <a:xfrm>
              <a:off x="5376" y="768"/>
              <a:ext cx="336" cy="384"/>
            </a:xfrm>
            <a:prstGeom prst="foldedCorner">
              <a:avLst>
                <a:gd name="adj" fmla="val 28204"/>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7</a:t>
              </a:r>
              <a:endParaRPr lang="en-GB" sz="2400" b="1" dirty="0">
                <a:solidFill>
                  <a:schemeClr val="bg1"/>
                </a:solidFill>
              </a:endParaRPr>
            </a:p>
          </p:txBody>
        </p:sp>
      </p:grpSp>
      <p:grpSp>
        <p:nvGrpSpPr>
          <p:cNvPr id="14" name="Group 50"/>
          <p:cNvGrpSpPr>
            <a:grpSpLocks/>
          </p:cNvGrpSpPr>
          <p:nvPr/>
        </p:nvGrpSpPr>
        <p:grpSpPr bwMode="auto">
          <a:xfrm>
            <a:off x="4800600" y="2057400"/>
            <a:ext cx="4267200" cy="609600"/>
            <a:chOff x="3024" y="1296"/>
            <a:chExt cx="2688" cy="384"/>
          </a:xfrm>
        </p:grpSpPr>
        <p:sp>
          <p:nvSpPr>
            <p:cNvPr id="1493043" name="AutoShape 51"/>
            <p:cNvSpPr>
              <a:spLocks noChangeArrowheads="1"/>
            </p:cNvSpPr>
            <p:nvPr/>
          </p:nvSpPr>
          <p:spPr bwMode="auto">
            <a:xfrm>
              <a:off x="3024" y="1296"/>
              <a:ext cx="2448" cy="384"/>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folHlink"/>
                  </a:solidFill>
                </a:rPr>
                <a:t>Avoiding change, not embracing it. Unclear practices. Go with risk of team. Acquisition expectations changed.</a:t>
              </a:r>
              <a:endParaRPr lang="en-GB" sz="1400" b="1" dirty="0">
                <a:solidFill>
                  <a:schemeClr val="folHlink"/>
                </a:solidFill>
              </a:endParaRPr>
            </a:p>
          </p:txBody>
        </p:sp>
        <p:sp>
          <p:nvSpPr>
            <p:cNvPr id="1493044" name="AutoShape 52"/>
            <p:cNvSpPr>
              <a:spLocks noChangeArrowheads="1"/>
            </p:cNvSpPr>
            <p:nvPr/>
          </p:nvSpPr>
          <p:spPr bwMode="auto">
            <a:xfrm>
              <a:off x="5376" y="1296"/>
              <a:ext cx="336" cy="384"/>
            </a:xfrm>
            <a:prstGeom prst="foldedCorner">
              <a:avLst>
                <a:gd name="adj" fmla="val 28204"/>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grpSp>
      <p:sp>
        <p:nvSpPr>
          <p:cNvPr id="1493045" name="Rectangle 53"/>
          <p:cNvSpPr>
            <a:spLocks noChangeArrowheads="1"/>
          </p:cNvSpPr>
          <p:nvPr/>
        </p:nvSpPr>
        <p:spPr bwMode="auto">
          <a:xfrm>
            <a:off x="2514600" y="6096000"/>
            <a:ext cx="4114800" cy="609600"/>
          </a:xfrm>
          <a:prstGeom prst="rect">
            <a:avLst/>
          </a:prstGeom>
          <a:solidFill>
            <a:schemeClr val="accent1"/>
          </a:solidFill>
          <a:ln w="12700">
            <a:noFill/>
            <a:miter lim="800000"/>
            <a:headEnd/>
            <a:tailEnd/>
          </a:ln>
          <a:effectLst/>
        </p:spPr>
        <p:txBody>
          <a:bodyPr wrap="none" lIns="90000" tIns="46800" rIns="90000" bIns="46800" anchor="ctr"/>
          <a:lstStyle/>
          <a:p>
            <a:pPr algn="ctr"/>
            <a:r>
              <a:rPr lang="en-US" sz="1600" b="1" dirty="0">
                <a:solidFill>
                  <a:schemeClr val="bg1"/>
                </a:solidFill>
              </a:rPr>
              <a:t>Build mastering</a:t>
            </a:r>
            <a:endParaRPr lang="en-GB" sz="1600" b="1" dirty="0">
              <a:solidFill>
                <a:schemeClr val="bg1"/>
              </a:solidFill>
            </a:endParaRPr>
          </a:p>
        </p:txBody>
      </p:sp>
      <p:grpSp>
        <p:nvGrpSpPr>
          <p:cNvPr id="15" name="Group 54"/>
          <p:cNvGrpSpPr>
            <a:grpSpLocks/>
          </p:cNvGrpSpPr>
          <p:nvPr/>
        </p:nvGrpSpPr>
        <p:grpSpPr bwMode="auto">
          <a:xfrm>
            <a:off x="2590800" y="6172200"/>
            <a:ext cx="4419600" cy="609600"/>
            <a:chOff x="1632" y="3888"/>
            <a:chExt cx="2784" cy="384"/>
          </a:xfrm>
        </p:grpSpPr>
        <p:sp>
          <p:nvSpPr>
            <p:cNvPr id="1493047" name="AutoShape 55"/>
            <p:cNvSpPr>
              <a:spLocks noChangeArrowheads="1"/>
            </p:cNvSpPr>
            <p:nvPr/>
          </p:nvSpPr>
          <p:spPr bwMode="auto">
            <a:xfrm rot="10971">
              <a:off x="1632" y="3888"/>
              <a:ext cx="2496" cy="288"/>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folHlink"/>
                  </a:solidFill>
                </a:rPr>
                <a:t>Fast builds, basic practices good. View to changes difficult.</a:t>
              </a:r>
              <a:endParaRPr lang="en-GB" sz="1400" b="1" dirty="0">
                <a:solidFill>
                  <a:schemeClr val="folHlink"/>
                </a:solidFill>
              </a:endParaRPr>
            </a:p>
          </p:txBody>
        </p:sp>
        <p:sp>
          <p:nvSpPr>
            <p:cNvPr id="1493048" name="AutoShape 56"/>
            <p:cNvSpPr>
              <a:spLocks noChangeArrowheads="1"/>
            </p:cNvSpPr>
            <p:nvPr/>
          </p:nvSpPr>
          <p:spPr bwMode="auto">
            <a:xfrm>
              <a:off x="4080" y="3888"/>
              <a:ext cx="336" cy="384"/>
            </a:xfrm>
            <a:prstGeom prst="foldedCorner">
              <a:avLst>
                <a:gd name="adj" fmla="val 28204"/>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grpSp>
      <p:sp>
        <p:nvSpPr>
          <p:cNvPr id="57" name="Slide Number Placeholder 56"/>
          <p:cNvSpPr>
            <a:spLocks noGrp="1"/>
          </p:cNvSpPr>
          <p:nvPr>
            <p:ph type="sldNum" sz="quarter" idx="12"/>
          </p:nvPr>
        </p:nvSpPr>
        <p:spPr/>
        <p:txBody>
          <a:bodyPr/>
          <a:lstStyle/>
          <a:p>
            <a:fld id="{227F0B53-9592-4779-891F-997228E46E01}" type="slidenum">
              <a:rPr lang="sv-SE" smtClean="0"/>
              <a:pPr/>
              <a:t>26</a:t>
            </a:fld>
            <a:endParaRPr lang="sv-SE"/>
          </a:p>
        </p:txBody>
      </p:sp>
      <p:sp>
        <p:nvSpPr>
          <p:cNvPr id="58" name="Footer Placeholder 57"/>
          <p:cNvSpPr>
            <a:spLocks noGrp="1"/>
          </p:cNvSpPr>
          <p:nvPr>
            <p:ph type="ftr" sz="quarter" idx="11"/>
          </p:nvPr>
        </p:nvSpPr>
        <p:spPr/>
        <p:txBody>
          <a:bodyPr/>
          <a:lstStyle/>
          <a:p>
            <a:r>
              <a:rPr lang="en-US" smtClean="0"/>
              <a:t>DAY 2</a:t>
            </a:r>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0-#ppt_w/2"/>
                                          </p:val>
                                        </p:tav>
                                        <p:tav tm="100000">
                                          <p:val>
                                            <p:strVal val="#ppt_x"/>
                                          </p:val>
                                        </p:tav>
                                      </p:tavLst>
                                    </p:anim>
                                    <p:anim calcmode="lin" valueType="num">
                                      <p:cBhvr additive="base">
                                        <p:cTn id="26"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0-#ppt_w/2"/>
                                          </p:val>
                                        </p:tav>
                                        <p:tav tm="100000">
                                          <p:val>
                                            <p:strVal val="#ppt_x"/>
                                          </p:val>
                                        </p:tav>
                                      </p:tavLst>
                                    </p:anim>
                                    <p:anim calcmode="lin" valueType="num">
                                      <p:cBhvr additive="base">
                                        <p:cTn id="3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0-#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0-#ppt_w/2"/>
                                          </p:val>
                                        </p:tav>
                                        <p:tav tm="100000">
                                          <p:val>
                                            <p:strVal val="#ppt_x"/>
                                          </p:val>
                                        </p:tav>
                                      </p:tavLst>
                                    </p:anim>
                                    <p:anim calcmode="lin" valueType="num">
                                      <p:cBhvr additive="base">
                                        <p:cTn id="44"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0-#ppt_w/2"/>
                                          </p:val>
                                        </p:tav>
                                        <p:tav tm="100000">
                                          <p:val>
                                            <p:strVal val="#ppt_x"/>
                                          </p:val>
                                        </p:tav>
                                      </p:tavLst>
                                    </p:anim>
                                    <p:anim calcmode="lin" valueType="num">
                                      <p:cBhvr additive="base">
                                        <p:cTn id="50"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11"/>
                                        </p:tgtEl>
                                        <p:attrNameLst>
                                          <p:attrName>style.visibility</p:attrName>
                                        </p:attrNameLst>
                                      </p:cBhvr>
                                      <p:to>
                                        <p:strVal val="visible"/>
                                      </p:to>
                                    </p:set>
                                    <p:anim calcmode="lin" valueType="num">
                                      <p:cBhvr additive="base">
                                        <p:cTn id="55" dur="500" fill="hold"/>
                                        <p:tgtEl>
                                          <p:spTgt spid="11"/>
                                        </p:tgtEl>
                                        <p:attrNameLst>
                                          <p:attrName>ppt_x</p:attrName>
                                        </p:attrNameLst>
                                      </p:cBhvr>
                                      <p:tavLst>
                                        <p:tav tm="0">
                                          <p:val>
                                            <p:strVal val="0-#ppt_w/2"/>
                                          </p:val>
                                        </p:tav>
                                        <p:tav tm="100000">
                                          <p:val>
                                            <p:strVal val="#ppt_x"/>
                                          </p:val>
                                        </p:tav>
                                      </p:tavLst>
                                    </p:anim>
                                    <p:anim calcmode="lin" valueType="num">
                                      <p:cBhvr additive="base">
                                        <p:cTn id="56"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10"/>
                                        </p:tgtEl>
                                        <p:attrNameLst>
                                          <p:attrName>style.visibility</p:attrName>
                                        </p:attrNameLst>
                                      </p:cBhvr>
                                      <p:to>
                                        <p:strVal val="visible"/>
                                      </p:to>
                                    </p:set>
                                    <p:anim calcmode="lin" valueType="num">
                                      <p:cBhvr additive="base">
                                        <p:cTn id="61" dur="500" fill="hold"/>
                                        <p:tgtEl>
                                          <p:spTgt spid="10"/>
                                        </p:tgtEl>
                                        <p:attrNameLst>
                                          <p:attrName>ppt_x</p:attrName>
                                        </p:attrNameLst>
                                      </p:cBhvr>
                                      <p:tavLst>
                                        <p:tav tm="0">
                                          <p:val>
                                            <p:strVal val="0-#ppt_w/2"/>
                                          </p:val>
                                        </p:tav>
                                        <p:tav tm="100000">
                                          <p:val>
                                            <p:strVal val="#ppt_x"/>
                                          </p:val>
                                        </p:tav>
                                      </p:tavLst>
                                    </p:anim>
                                    <p:anim calcmode="lin" valueType="num">
                                      <p:cBhvr additive="base">
                                        <p:cTn id="6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9"/>
                                        </p:tgtEl>
                                        <p:attrNameLst>
                                          <p:attrName>style.visibility</p:attrName>
                                        </p:attrNameLst>
                                      </p:cBhvr>
                                      <p:to>
                                        <p:strVal val="visible"/>
                                      </p:to>
                                    </p:set>
                                    <p:anim calcmode="lin" valueType="num">
                                      <p:cBhvr additive="base">
                                        <p:cTn id="67" dur="500" fill="hold"/>
                                        <p:tgtEl>
                                          <p:spTgt spid="9"/>
                                        </p:tgtEl>
                                        <p:attrNameLst>
                                          <p:attrName>ppt_x</p:attrName>
                                        </p:attrNameLst>
                                      </p:cBhvr>
                                      <p:tavLst>
                                        <p:tav tm="0">
                                          <p:val>
                                            <p:strVal val="0-#ppt_w/2"/>
                                          </p:val>
                                        </p:tav>
                                        <p:tav tm="100000">
                                          <p:val>
                                            <p:strVal val="#ppt_x"/>
                                          </p:val>
                                        </p:tav>
                                      </p:tavLst>
                                    </p:anim>
                                    <p:anim calcmode="lin" valueType="num">
                                      <p:cBhvr additive="base">
                                        <p:cTn id="6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nodeType="clickEffect">
                                  <p:stCondLst>
                                    <p:cond delay="0"/>
                                  </p:stCondLst>
                                  <p:childTnLst>
                                    <p:set>
                                      <p:cBhvr>
                                        <p:cTn id="72" dur="1" fill="hold">
                                          <p:stCondLst>
                                            <p:cond delay="0"/>
                                          </p:stCondLst>
                                        </p:cTn>
                                        <p:tgtEl>
                                          <p:spTgt spid="15"/>
                                        </p:tgtEl>
                                        <p:attrNameLst>
                                          <p:attrName>style.visibility</p:attrName>
                                        </p:attrNameLst>
                                      </p:cBhvr>
                                      <p:to>
                                        <p:strVal val="visible"/>
                                      </p:to>
                                    </p:set>
                                    <p:anim calcmode="lin" valueType="num">
                                      <p:cBhvr additive="base">
                                        <p:cTn id="73" dur="500" fill="hold"/>
                                        <p:tgtEl>
                                          <p:spTgt spid="15"/>
                                        </p:tgtEl>
                                        <p:attrNameLst>
                                          <p:attrName>ppt_x</p:attrName>
                                        </p:attrNameLst>
                                      </p:cBhvr>
                                      <p:tavLst>
                                        <p:tav tm="0">
                                          <p:val>
                                            <p:strVal val="0-#ppt_w/2"/>
                                          </p:val>
                                        </p:tav>
                                        <p:tav tm="100000">
                                          <p:val>
                                            <p:strVal val="#ppt_x"/>
                                          </p:val>
                                        </p:tav>
                                      </p:tavLst>
                                    </p:anim>
                                    <p:anim calcmode="lin" valueType="num">
                                      <p:cBhvr additive="base">
                                        <p:cTn id="7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493008"/>
                                        </p:tgtEl>
                                        <p:attrNameLst>
                                          <p:attrName>style.visibility</p:attrName>
                                        </p:attrNameLst>
                                      </p:cBhvr>
                                      <p:to>
                                        <p:strVal val="visible"/>
                                      </p:to>
                                    </p:set>
                                    <p:anim calcmode="lin" valueType="num">
                                      <p:cBhvr additive="base">
                                        <p:cTn id="79" dur="500" fill="hold"/>
                                        <p:tgtEl>
                                          <p:spTgt spid="1493008"/>
                                        </p:tgtEl>
                                        <p:attrNameLst>
                                          <p:attrName>ppt_x</p:attrName>
                                        </p:attrNameLst>
                                      </p:cBhvr>
                                      <p:tavLst>
                                        <p:tav tm="0">
                                          <p:val>
                                            <p:strVal val="0-#ppt_w/2"/>
                                          </p:val>
                                        </p:tav>
                                        <p:tav tm="100000">
                                          <p:val>
                                            <p:strVal val="#ppt_x"/>
                                          </p:val>
                                        </p:tav>
                                      </p:tavLst>
                                    </p:anim>
                                    <p:anim calcmode="lin" valueType="num">
                                      <p:cBhvr additive="base">
                                        <p:cTn id="80" dur="500" fill="hold"/>
                                        <p:tgtEl>
                                          <p:spTgt spid="14930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3008"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4018" name="Rectangle 2"/>
          <p:cNvSpPr>
            <a:spLocks noGrp="1" noChangeArrowheads="1"/>
          </p:cNvSpPr>
          <p:nvPr>
            <p:ph type="title"/>
          </p:nvPr>
        </p:nvSpPr>
        <p:spPr>
          <a:xfrm>
            <a:off x="457200" y="214290"/>
            <a:ext cx="8305800" cy="1143000"/>
          </a:xfrm>
        </p:spPr>
        <p:txBody>
          <a:bodyPr>
            <a:normAutofit fontScale="90000"/>
          </a:bodyPr>
          <a:lstStyle/>
          <a:p>
            <a:r>
              <a:rPr lang="en-US" dirty="0" smtClean="0"/>
              <a:t>Other Groups of Teams Are Different</a:t>
            </a:r>
            <a:endParaRPr lang="en-GB" dirty="0"/>
          </a:p>
        </p:txBody>
      </p:sp>
      <p:sp>
        <p:nvSpPr>
          <p:cNvPr id="1494019" name="Rectangle 3"/>
          <p:cNvSpPr>
            <a:spLocks noChangeArrowheads="1"/>
          </p:cNvSpPr>
          <p:nvPr/>
        </p:nvSpPr>
        <p:spPr bwMode="auto">
          <a:xfrm>
            <a:off x="457200" y="1371600"/>
            <a:ext cx="4038600" cy="723900"/>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Product-level Test Planning and Control </a:t>
            </a:r>
          </a:p>
          <a:p>
            <a:pPr algn="ctr"/>
            <a:r>
              <a:rPr lang="en-US" sz="1200" b="1" dirty="0">
                <a:solidFill>
                  <a:schemeClr val="bg1"/>
                </a:solidFill>
              </a:rPr>
              <a:t>“Master Test Planning”</a:t>
            </a:r>
            <a:endParaRPr lang="en-GB" sz="1200" b="1" dirty="0">
              <a:solidFill>
                <a:schemeClr val="bg1"/>
              </a:solidFill>
            </a:endParaRPr>
          </a:p>
        </p:txBody>
      </p:sp>
      <p:sp>
        <p:nvSpPr>
          <p:cNvPr id="1494020" name="Rectangle 4"/>
          <p:cNvSpPr>
            <a:spLocks noChangeArrowheads="1"/>
          </p:cNvSpPr>
          <p:nvPr/>
        </p:nvSpPr>
        <p:spPr bwMode="auto">
          <a:xfrm>
            <a:off x="457200" y="2209800"/>
            <a:ext cx="4038600" cy="725488"/>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Area-level Test Planning and Design </a:t>
            </a:r>
          </a:p>
          <a:p>
            <a:pPr algn="ctr"/>
            <a:r>
              <a:rPr lang="en-US" sz="1200" b="1" dirty="0">
                <a:solidFill>
                  <a:schemeClr val="bg1"/>
                </a:solidFill>
              </a:rPr>
              <a:t>“Test strategies, test specification”</a:t>
            </a:r>
            <a:endParaRPr lang="en-GB" sz="1200" b="1" dirty="0">
              <a:solidFill>
                <a:schemeClr val="bg1"/>
              </a:solidFill>
            </a:endParaRPr>
          </a:p>
        </p:txBody>
      </p:sp>
      <p:sp>
        <p:nvSpPr>
          <p:cNvPr id="1494021" name="Rectangle 5"/>
          <p:cNvSpPr>
            <a:spLocks noChangeArrowheads="1"/>
          </p:cNvSpPr>
          <p:nvPr/>
        </p:nvSpPr>
        <p:spPr bwMode="auto">
          <a:xfrm>
            <a:off x="457200" y="3048000"/>
            <a:ext cx="4038600" cy="725488"/>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Reporting</a:t>
            </a:r>
            <a:endParaRPr lang="en-GB" sz="1600" b="1" dirty="0">
              <a:solidFill>
                <a:schemeClr val="bg1"/>
              </a:solidFill>
            </a:endParaRPr>
          </a:p>
        </p:txBody>
      </p:sp>
      <p:sp>
        <p:nvSpPr>
          <p:cNvPr id="1494022" name="Rectangle 6"/>
          <p:cNvSpPr>
            <a:spLocks noChangeArrowheads="1"/>
          </p:cNvSpPr>
          <p:nvPr/>
        </p:nvSpPr>
        <p:spPr bwMode="auto">
          <a:xfrm>
            <a:off x="4724400" y="3048000"/>
            <a:ext cx="4038600" cy="723900"/>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Maintenance Testing</a:t>
            </a:r>
            <a:endParaRPr lang="en-GB" sz="1600" b="1" dirty="0">
              <a:solidFill>
                <a:schemeClr val="bg1"/>
              </a:solidFill>
            </a:endParaRPr>
          </a:p>
        </p:txBody>
      </p:sp>
      <p:sp>
        <p:nvSpPr>
          <p:cNvPr id="1494023" name="Rectangle 7"/>
          <p:cNvSpPr>
            <a:spLocks noChangeArrowheads="1"/>
          </p:cNvSpPr>
          <p:nvPr/>
        </p:nvSpPr>
        <p:spPr bwMode="auto">
          <a:xfrm>
            <a:off x="457200" y="3886200"/>
            <a:ext cx="4038600" cy="725488"/>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Execution and Logging</a:t>
            </a:r>
            <a:endParaRPr lang="en-GB" sz="1600" b="1" dirty="0">
              <a:solidFill>
                <a:schemeClr val="bg1"/>
              </a:solidFill>
            </a:endParaRPr>
          </a:p>
        </p:txBody>
      </p:sp>
      <p:sp>
        <p:nvSpPr>
          <p:cNvPr id="1494024" name="Rectangle 8"/>
          <p:cNvSpPr>
            <a:spLocks noChangeArrowheads="1"/>
          </p:cNvSpPr>
          <p:nvPr/>
        </p:nvSpPr>
        <p:spPr bwMode="auto">
          <a:xfrm>
            <a:off x="4724400" y="1371600"/>
            <a:ext cx="4038600" cy="725488"/>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Automation</a:t>
            </a:r>
          </a:p>
        </p:txBody>
      </p:sp>
      <p:sp>
        <p:nvSpPr>
          <p:cNvPr id="1494025" name="Rectangle 9"/>
          <p:cNvSpPr>
            <a:spLocks noChangeArrowheads="1"/>
          </p:cNvSpPr>
          <p:nvPr/>
        </p:nvSpPr>
        <p:spPr bwMode="auto">
          <a:xfrm>
            <a:off x="4724400" y="4724400"/>
            <a:ext cx="4038600" cy="725488"/>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Developer testing</a:t>
            </a:r>
            <a:endParaRPr lang="en-GB" sz="1600" b="1" dirty="0">
              <a:solidFill>
                <a:schemeClr val="bg1"/>
              </a:solidFill>
            </a:endParaRPr>
          </a:p>
        </p:txBody>
      </p:sp>
      <p:sp>
        <p:nvSpPr>
          <p:cNvPr id="1494026" name="Rectangle 10"/>
          <p:cNvSpPr>
            <a:spLocks noChangeArrowheads="1"/>
          </p:cNvSpPr>
          <p:nvPr/>
        </p:nvSpPr>
        <p:spPr bwMode="auto">
          <a:xfrm>
            <a:off x="4724400" y="3886200"/>
            <a:ext cx="4038600" cy="723900"/>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Development Documentation testing</a:t>
            </a:r>
          </a:p>
          <a:p>
            <a:pPr algn="ctr"/>
            <a:r>
              <a:rPr lang="en-US" sz="1200" b="1" dirty="0">
                <a:solidFill>
                  <a:schemeClr val="bg1"/>
                </a:solidFill>
              </a:rPr>
              <a:t>“Reviews and inspections of requirements, designs, plans”</a:t>
            </a:r>
            <a:endParaRPr lang="en-GB" sz="1200" b="1" dirty="0">
              <a:solidFill>
                <a:schemeClr val="bg1"/>
              </a:solidFill>
            </a:endParaRPr>
          </a:p>
        </p:txBody>
      </p:sp>
      <p:sp>
        <p:nvSpPr>
          <p:cNvPr id="1494027" name="Rectangle 11"/>
          <p:cNvSpPr>
            <a:spLocks noChangeArrowheads="1"/>
          </p:cNvSpPr>
          <p:nvPr/>
        </p:nvSpPr>
        <p:spPr bwMode="auto">
          <a:xfrm>
            <a:off x="457200" y="4724400"/>
            <a:ext cx="4038600" cy="725488"/>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Bug reporting</a:t>
            </a:r>
          </a:p>
        </p:txBody>
      </p:sp>
      <p:sp>
        <p:nvSpPr>
          <p:cNvPr id="1494028" name="Rectangle 12"/>
          <p:cNvSpPr>
            <a:spLocks noChangeArrowheads="1"/>
          </p:cNvSpPr>
          <p:nvPr/>
        </p:nvSpPr>
        <p:spPr bwMode="auto">
          <a:xfrm>
            <a:off x="457200" y="5562600"/>
            <a:ext cx="4038600" cy="725488"/>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Environments and Infrastructure</a:t>
            </a:r>
          </a:p>
        </p:txBody>
      </p:sp>
      <p:sp>
        <p:nvSpPr>
          <p:cNvPr id="1494029" name="Rectangle 13"/>
          <p:cNvSpPr>
            <a:spLocks noChangeArrowheads="1"/>
          </p:cNvSpPr>
          <p:nvPr/>
        </p:nvSpPr>
        <p:spPr bwMode="auto">
          <a:xfrm>
            <a:off x="4724400" y="2209800"/>
            <a:ext cx="4038600" cy="723900"/>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Acceptance testing of external components</a:t>
            </a:r>
          </a:p>
        </p:txBody>
      </p:sp>
      <p:sp>
        <p:nvSpPr>
          <p:cNvPr id="1494030" name="Rectangle 14"/>
          <p:cNvSpPr>
            <a:spLocks noChangeArrowheads="1"/>
          </p:cNvSpPr>
          <p:nvPr/>
        </p:nvSpPr>
        <p:spPr bwMode="auto">
          <a:xfrm>
            <a:off x="4724400" y="5562600"/>
            <a:ext cx="4038600" cy="725488"/>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QE Process Improvement</a:t>
            </a:r>
          </a:p>
        </p:txBody>
      </p:sp>
      <p:sp>
        <p:nvSpPr>
          <p:cNvPr id="1494031" name="Rectangle 15"/>
          <p:cNvSpPr>
            <a:spLocks noChangeArrowheads="1"/>
          </p:cNvSpPr>
          <p:nvPr/>
        </p:nvSpPr>
        <p:spPr bwMode="auto">
          <a:xfrm rot="-5400000">
            <a:off x="2590800" y="3581400"/>
            <a:ext cx="4114800" cy="457200"/>
          </a:xfrm>
          <a:prstGeom prst="rect">
            <a:avLst/>
          </a:prstGeom>
          <a:solidFill>
            <a:schemeClr val="accent2"/>
          </a:solidFill>
          <a:ln w="12700">
            <a:noFill/>
            <a:miter lim="800000"/>
            <a:headEnd/>
            <a:tailEnd/>
          </a:ln>
          <a:effectLst/>
        </p:spPr>
        <p:txBody>
          <a:bodyPr wrap="none" lIns="90000" tIns="46800" rIns="90000" bIns="46800" anchor="ctr"/>
          <a:lstStyle/>
          <a:p>
            <a:pPr algn="ctr"/>
            <a:r>
              <a:rPr lang="en-US" sz="1600" b="1" dirty="0">
                <a:solidFill>
                  <a:schemeClr val="bg1"/>
                </a:solidFill>
              </a:rPr>
              <a:t>Build mastering</a:t>
            </a:r>
            <a:endParaRPr lang="en-GB" sz="1600" b="1" dirty="0">
              <a:solidFill>
                <a:schemeClr val="bg1"/>
              </a:solidFill>
            </a:endParaRPr>
          </a:p>
        </p:txBody>
      </p:sp>
      <p:sp>
        <p:nvSpPr>
          <p:cNvPr id="1494032" name="Oval 16"/>
          <p:cNvSpPr>
            <a:spLocks noChangeArrowheads="1"/>
          </p:cNvSpPr>
          <p:nvPr/>
        </p:nvSpPr>
        <p:spPr bwMode="auto">
          <a:xfrm>
            <a:off x="228600" y="5867400"/>
            <a:ext cx="228600" cy="228600"/>
          </a:xfrm>
          <a:prstGeom prst="ellipse">
            <a:avLst/>
          </a:prstGeom>
          <a:solidFill>
            <a:schemeClr val="accent2"/>
          </a:solidFill>
          <a:ln w="12700">
            <a:noFill/>
            <a:round/>
            <a:headEnd/>
            <a:tailEnd/>
          </a:ln>
          <a:effectLst/>
        </p:spPr>
        <p:txBody>
          <a:bodyPr wrap="none" lIns="90000" tIns="46800" rIns="90000" bIns="46800" anchor="ctr"/>
          <a:lstStyle/>
          <a:p>
            <a:pPr algn="ctr"/>
            <a:r>
              <a:rPr lang="en-GB" sz="1600" dirty="0">
                <a:solidFill>
                  <a:schemeClr val="bg1"/>
                </a:solidFill>
              </a:rPr>
              <a:t>+</a:t>
            </a:r>
          </a:p>
        </p:txBody>
      </p:sp>
      <p:sp>
        <p:nvSpPr>
          <p:cNvPr id="1494033" name="Oval 17"/>
          <p:cNvSpPr>
            <a:spLocks noChangeArrowheads="1"/>
          </p:cNvSpPr>
          <p:nvPr/>
        </p:nvSpPr>
        <p:spPr bwMode="auto">
          <a:xfrm>
            <a:off x="8763000" y="5029200"/>
            <a:ext cx="228600" cy="228600"/>
          </a:xfrm>
          <a:prstGeom prst="ellipse">
            <a:avLst/>
          </a:prstGeom>
          <a:solidFill>
            <a:schemeClr val="accent2"/>
          </a:solidFill>
          <a:ln w="12700">
            <a:noFill/>
            <a:round/>
            <a:headEnd/>
            <a:tailEnd/>
          </a:ln>
          <a:effectLst/>
        </p:spPr>
        <p:txBody>
          <a:bodyPr wrap="none" lIns="90000" tIns="46800" rIns="90000" bIns="46800" anchor="ctr"/>
          <a:lstStyle/>
          <a:p>
            <a:pPr algn="ctr"/>
            <a:r>
              <a:rPr lang="en-GB" sz="1600" dirty="0">
                <a:solidFill>
                  <a:schemeClr val="bg1"/>
                </a:solidFill>
              </a:rPr>
              <a:t>+</a:t>
            </a:r>
          </a:p>
        </p:txBody>
      </p:sp>
      <p:sp>
        <p:nvSpPr>
          <p:cNvPr id="1494034" name="Oval 18"/>
          <p:cNvSpPr>
            <a:spLocks noChangeArrowheads="1"/>
          </p:cNvSpPr>
          <p:nvPr/>
        </p:nvSpPr>
        <p:spPr bwMode="auto">
          <a:xfrm>
            <a:off x="8763000" y="4191000"/>
            <a:ext cx="228600" cy="228600"/>
          </a:xfrm>
          <a:prstGeom prst="ellipse">
            <a:avLst/>
          </a:prstGeom>
          <a:solidFill>
            <a:schemeClr val="accent2"/>
          </a:solidFill>
          <a:ln w="12700">
            <a:noFill/>
            <a:round/>
            <a:headEnd/>
            <a:tailEnd/>
          </a:ln>
          <a:effectLst/>
        </p:spPr>
        <p:txBody>
          <a:bodyPr wrap="none" lIns="90000" tIns="46800" rIns="90000" bIns="46800" anchor="ctr"/>
          <a:lstStyle/>
          <a:p>
            <a:pPr algn="ctr"/>
            <a:r>
              <a:rPr lang="en-GB" sz="1600" dirty="0">
                <a:solidFill>
                  <a:schemeClr val="bg1"/>
                </a:solidFill>
              </a:rPr>
              <a:t>+</a:t>
            </a:r>
          </a:p>
        </p:txBody>
      </p:sp>
      <p:sp>
        <p:nvSpPr>
          <p:cNvPr id="1494035" name="Oval 19"/>
          <p:cNvSpPr>
            <a:spLocks noChangeArrowheads="1"/>
          </p:cNvSpPr>
          <p:nvPr/>
        </p:nvSpPr>
        <p:spPr bwMode="auto">
          <a:xfrm>
            <a:off x="228600" y="2438400"/>
            <a:ext cx="228600" cy="228600"/>
          </a:xfrm>
          <a:prstGeom prst="ellipse">
            <a:avLst/>
          </a:prstGeom>
          <a:solidFill>
            <a:schemeClr val="accent2"/>
          </a:solidFill>
          <a:ln w="12700">
            <a:noFill/>
            <a:round/>
            <a:headEnd/>
            <a:tailEnd/>
          </a:ln>
          <a:effectLst/>
        </p:spPr>
        <p:txBody>
          <a:bodyPr wrap="none" lIns="90000" tIns="46800" rIns="90000" bIns="46800" anchor="ctr"/>
          <a:lstStyle/>
          <a:p>
            <a:pPr algn="ctr"/>
            <a:r>
              <a:rPr lang="en-GB" sz="1600" dirty="0">
                <a:solidFill>
                  <a:schemeClr val="bg1"/>
                </a:solidFill>
              </a:rPr>
              <a:t>+</a:t>
            </a:r>
          </a:p>
        </p:txBody>
      </p:sp>
      <p:sp>
        <p:nvSpPr>
          <p:cNvPr id="1494036" name="Oval 20"/>
          <p:cNvSpPr>
            <a:spLocks noChangeArrowheads="1"/>
          </p:cNvSpPr>
          <p:nvPr/>
        </p:nvSpPr>
        <p:spPr bwMode="auto">
          <a:xfrm>
            <a:off x="8763000" y="1676400"/>
            <a:ext cx="228600" cy="228600"/>
          </a:xfrm>
          <a:prstGeom prst="ellipse">
            <a:avLst/>
          </a:prstGeom>
          <a:solidFill>
            <a:schemeClr val="accent2"/>
          </a:solidFill>
          <a:ln w="12700">
            <a:noFill/>
            <a:round/>
            <a:headEnd/>
            <a:tailEnd/>
          </a:ln>
          <a:effectLst/>
        </p:spPr>
        <p:txBody>
          <a:bodyPr wrap="none" lIns="90000" tIns="46800" rIns="90000" bIns="46800" anchor="ctr"/>
          <a:lstStyle/>
          <a:p>
            <a:pPr algn="ctr"/>
            <a:r>
              <a:rPr lang="en-GB" sz="1600" dirty="0">
                <a:solidFill>
                  <a:schemeClr val="bg1"/>
                </a:solidFill>
              </a:rPr>
              <a:t>+</a:t>
            </a:r>
          </a:p>
        </p:txBody>
      </p:sp>
      <p:sp>
        <p:nvSpPr>
          <p:cNvPr id="1494037" name="Oval 21"/>
          <p:cNvSpPr>
            <a:spLocks noChangeArrowheads="1"/>
          </p:cNvSpPr>
          <p:nvPr/>
        </p:nvSpPr>
        <p:spPr bwMode="auto">
          <a:xfrm>
            <a:off x="4550228" y="5562600"/>
            <a:ext cx="228600" cy="228600"/>
          </a:xfrm>
          <a:prstGeom prst="ellipse">
            <a:avLst/>
          </a:prstGeom>
          <a:solidFill>
            <a:schemeClr val="hlink"/>
          </a:solidFill>
          <a:ln w="12700">
            <a:noFill/>
            <a:round/>
            <a:headEnd/>
            <a:tailEnd/>
          </a:ln>
          <a:effectLst/>
        </p:spPr>
        <p:txBody>
          <a:bodyPr wrap="none" lIns="90000" tIns="46800" rIns="90000" bIns="46800" anchor="ctr"/>
          <a:lstStyle/>
          <a:p>
            <a:pPr algn="ctr"/>
            <a:r>
              <a:rPr lang="en-GB" sz="1600" dirty="0">
                <a:solidFill>
                  <a:schemeClr val="bg1"/>
                </a:solidFill>
              </a:rPr>
              <a:t>-</a:t>
            </a:r>
          </a:p>
        </p:txBody>
      </p:sp>
      <p:sp>
        <p:nvSpPr>
          <p:cNvPr id="1494038" name="Oval 22"/>
          <p:cNvSpPr>
            <a:spLocks noChangeArrowheads="1"/>
          </p:cNvSpPr>
          <p:nvPr/>
        </p:nvSpPr>
        <p:spPr bwMode="auto">
          <a:xfrm>
            <a:off x="228600" y="3276600"/>
            <a:ext cx="228600" cy="228600"/>
          </a:xfrm>
          <a:prstGeom prst="ellipse">
            <a:avLst/>
          </a:prstGeom>
          <a:solidFill>
            <a:schemeClr val="hlink"/>
          </a:solidFill>
          <a:ln w="12700">
            <a:noFill/>
            <a:round/>
            <a:headEnd/>
            <a:tailEnd/>
          </a:ln>
          <a:effectLst/>
        </p:spPr>
        <p:txBody>
          <a:bodyPr wrap="none" lIns="90000" tIns="46800" rIns="90000" bIns="46800" anchor="ctr"/>
          <a:lstStyle/>
          <a:p>
            <a:pPr algn="ctr"/>
            <a:r>
              <a:rPr lang="en-GB" sz="1600" dirty="0">
                <a:solidFill>
                  <a:schemeClr val="bg1"/>
                </a:solidFill>
              </a:rPr>
              <a:t>-</a:t>
            </a:r>
          </a:p>
        </p:txBody>
      </p:sp>
      <p:sp>
        <p:nvSpPr>
          <p:cNvPr id="23" name="Slide Number Placeholder 22"/>
          <p:cNvSpPr>
            <a:spLocks noGrp="1"/>
          </p:cNvSpPr>
          <p:nvPr>
            <p:ph type="sldNum" sz="quarter" idx="12"/>
          </p:nvPr>
        </p:nvSpPr>
        <p:spPr/>
        <p:txBody>
          <a:bodyPr/>
          <a:lstStyle/>
          <a:p>
            <a:fld id="{227F0B53-9592-4779-891F-997228E46E01}" type="slidenum">
              <a:rPr lang="sv-SE" smtClean="0"/>
              <a:pPr/>
              <a:t>27</a:t>
            </a:fld>
            <a:endParaRPr lang="sv-SE"/>
          </a:p>
        </p:txBody>
      </p:sp>
      <p:sp>
        <p:nvSpPr>
          <p:cNvPr id="24" name="Footer Placeholder 23"/>
          <p:cNvSpPr>
            <a:spLocks noGrp="1"/>
          </p:cNvSpPr>
          <p:nvPr>
            <p:ph type="ftr" sz="quarter" idx="11"/>
          </p:nvPr>
        </p:nvSpPr>
        <p:spPr/>
        <p:txBody>
          <a:bodyPr/>
          <a:lstStyle/>
          <a:p>
            <a:r>
              <a:rPr lang="en-US" smtClean="0"/>
              <a:t>DAY 2</a:t>
            </a:r>
            <a:endParaRPr lang="en-US" dirty="0"/>
          </a:p>
        </p:txBody>
      </p:sp>
    </p:spTree>
  </p:cSld>
  <p:clrMapOvr>
    <a:masterClrMapping/>
  </p:clrMapOvr>
  <p:transition xmlns:p14="http://schemas.microsoft.com/office/powerpoint/2010/mai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42" name="Rectangle 2"/>
          <p:cNvSpPr>
            <a:spLocks noGrp="1" noChangeArrowheads="1"/>
          </p:cNvSpPr>
          <p:nvPr>
            <p:ph type="title"/>
          </p:nvPr>
        </p:nvSpPr>
        <p:spPr>
          <a:xfrm>
            <a:off x="457200" y="71414"/>
            <a:ext cx="8305800" cy="1143000"/>
          </a:xfrm>
        </p:spPr>
        <p:txBody>
          <a:bodyPr>
            <a:normAutofit/>
          </a:bodyPr>
          <a:lstStyle/>
          <a:p>
            <a:r>
              <a:rPr lang="en-US" dirty="0"/>
              <a:t>What Changes to Expect in 2007?</a:t>
            </a:r>
            <a:endParaRPr lang="en-GB" dirty="0"/>
          </a:p>
        </p:txBody>
      </p:sp>
      <p:grpSp>
        <p:nvGrpSpPr>
          <p:cNvPr id="2" name="Group 3"/>
          <p:cNvGrpSpPr>
            <a:grpSpLocks/>
          </p:cNvGrpSpPr>
          <p:nvPr/>
        </p:nvGrpSpPr>
        <p:grpSpPr bwMode="auto">
          <a:xfrm>
            <a:off x="457200" y="1143000"/>
            <a:ext cx="8305800" cy="4916488"/>
            <a:chOff x="288" y="864"/>
            <a:chExt cx="5232" cy="3097"/>
          </a:xfrm>
        </p:grpSpPr>
        <p:sp>
          <p:nvSpPr>
            <p:cNvPr id="1495044" name="Rectangle 4"/>
            <p:cNvSpPr>
              <a:spLocks noChangeArrowheads="1"/>
            </p:cNvSpPr>
            <p:nvPr/>
          </p:nvSpPr>
          <p:spPr bwMode="auto">
            <a:xfrm>
              <a:off x="288" y="864"/>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Product-level Test Planning and Control </a:t>
              </a:r>
            </a:p>
            <a:p>
              <a:pPr algn="ctr"/>
              <a:r>
                <a:rPr lang="en-US" sz="1200" b="1" dirty="0">
                  <a:solidFill>
                    <a:schemeClr val="bg1"/>
                  </a:solidFill>
                </a:rPr>
                <a:t>“Master Test Planning”</a:t>
              </a:r>
              <a:endParaRPr lang="en-GB" sz="1200" b="1" dirty="0">
                <a:solidFill>
                  <a:schemeClr val="bg1"/>
                </a:solidFill>
              </a:endParaRPr>
            </a:p>
          </p:txBody>
        </p:sp>
        <p:sp>
          <p:nvSpPr>
            <p:cNvPr id="1495045" name="Rectangle 5"/>
            <p:cNvSpPr>
              <a:spLocks noChangeArrowheads="1"/>
            </p:cNvSpPr>
            <p:nvPr/>
          </p:nvSpPr>
          <p:spPr bwMode="auto">
            <a:xfrm>
              <a:off x="288" y="1392"/>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Area-level Test Planning and Design </a:t>
              </a:r>
            </a:p>
            <a:p>
              <a:pPr algn="ctr"/>
              <a:r>
                <a:rPr lang="en-US" sz="1200" b="1" dirty="0">
                  <a:solidFill>
                    <a:schemeClr val="bg1"/>
                  </a:solidFill>
                </a:rPr>
                <a:t>“Test strategies, test specification”</a:t>
              </a:r>
              <a:endParaRPr lang="en-GB" sz="1200" b="1" dirty="0">
                <a:solidFill>
                  <a:schemeClr val="bg1"/>
                </a:solidFill>
              </a:endParaRPr>
            </a:p>
          </p:txBody>
        </p:sp>
        <p:sp>
          <p:nvSpPr>
            <p:cNvPr id="1495046" name="Rectangle 6"/>
            <p:cNvSpPr>
              <a:spLocks noChangeArrowheads="1"/>
            </p:cNvSpPr>
            <p:nvPr/>
          </p:nvSpPr>
          <p:spPr bwMode="auto">
            <a:xfrm>
              <a:off x="288" y="1920"/>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Reporting</a:t>
              </a:r>
              <a:endParaRPr lang="en-GB" sz="1600" b="1" dirty="0">
                <a:solidFill>
                  <a:schemeClr val="bg1"/>
                </a:solidFill>
              </a:endParaRPr>
            </a:p>
          </p:txBody>
        </p:sp>
        <p:sp>
          <p:nvSpPr>
            <p:cNvPr id="1495047" name="Rectangle 7"/>
            <p:cNvSpPr>
              <a:spLocks noChangeArrowheads="1"/>
            </p:cNvSpPr>
            <p:nvPr/>
          </p:nvSpPr>
          <p:spPr bwMode="auto">
            <a:xfrm>
              <a:off x="2976" y="1920"/>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Maintenance Testing</a:t>
              </a:r>
              <a:endParaRPr lang="en-GB" sz="1600" b="1" dirty="0">
                <a:solidFill>
                  <a:schemeClr val="bg1"/>
                </a:solidFill>
              </a:endParaRPr>
            </a:p>
          </p:txBody>
        </p:sp>
        <p:sp>
          <p:nvSpPr>
            <p:cNvPr id="1495048" name="Rectangle 8"/>
            <p:cNvSpPr>
              <a:spLocks noChangeArrowheads="1"/>
            </p:cNvSpPr>
            <p:nvPr/>
          </p:nvSpPr>
          <p:spPr bwMode="auto">
            <a:xfrm>
              <a:off x="288" y="2448"/>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Execution and Logging</a:t>
              </a:r>
              <a:endParaRPr lang="en-GB" sz="1600" b="1" dirty="0">
                <a:solidFill>
                  <a:schemeClr val="bg1"/>
                </a:solidFill>
              </a:endParaRPr>
            </a:p>
          </p:txBody>
        </p:sp>
        <p:sp>
          <p:nvSpPr>
            <p:cNvPr id="1495049" name="Rectangle 9"/>
            <p:cNvSpPr>
              <a:spLocks noChangeArrowheads="1"/>
            </p:cNvSpPr>
            <p:nvPr/>
          </p:nvSpPr>
          <p:spPr bwMode="auto">
            <a:xfrm>
              <a:off x="2976" y="864"/>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Automation</a:t>
              </a:r>
            </a:p>
          </p:txBody>
        </p:sp>
        <p:sp>
          <p:nvSpPr>
            <p:cNvPr id="1495050" name="Rectangle 10"/>
            <p:cNvSpPr>
              <a:spLocks noChangeArrowheads="1"/>
            </p:cNvSpPr>
            <p:nvPr/>
          </p:nvSpPr>
          <p:spPr bwMode="auto">
            <a:xfrm>
              <a:off x="2976" y="2976"/>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Developer testing</a:t>
              </a:r>
              <a:endParaRPr lang="en-GB" sz="1600" b="1" dirty="0">
                <a:solidFill>
                  <a:schemeClr val="bg1"/>
                </a:solidFill>
              </a:endParaRPr>
            </a:p>
          </p:txBody>
        </p:sp>
        <p:sp>
          <p:nvSpPr>
            <p:cNvPr id="1495051" name="Rectangle 11"/>
            <p:cNvSpPr>
              <a:spLocks noChangeArrowheads="1"/>
            </p:cNvSpPr>
            <p:nvPr/>
          </p:nvSpPr>
          <p:spPr bwMode="auto">
            <a:xfrm>
              <a:off x="2976" y="2448"/>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Development Documentation testing</a:t>
              </a:r>
            </a:p>
            <a:p>
              <a:pPr algn="ctr"/>
              <a:r>
                <a:rPr lang="en-US" sz="1200" b="1" dirty="0">
                  <a:solidFill>
                    <a:schemeClr val="bg1"/>
                  </a:solidFill>
                </a:rPr>
                <a:t>“Reviews and inspections of requirements, designs, plans”</a:t>
              </a:r>
              <a:endParaRPr lang="en-GB" sz="1200" b="1" dirty="0">
                <a:solidFill>
                  <a:schemeClr val="bg1"/>
                </a:solidFill>
              </a:endParaRPr>
            </a:p>
          </p:txBody>
        </p:sp>
        <p:sp>
          <p:nvSpPr>
            <p:cNvPr id="1495052" name="Rectangle 12"/>
            <p:cNvSpPr>
              <a:spLocks noChangeArrowheads="1"/>
            </p:cNvSpPr>
            <p:nvPr/>
          </p:nvSpPr>
          <p:spPr bwMode="auto">
            <a:xfrm>
              <a:off x="288" y="2976"/>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Bug reporting</a:t>
              </a:r>
            </a:p>
          </p:txBody>
        </p:sp>
        <p:sp>
          <p:nvSpPr>
            <p:cNvPr id="1495053" name="Rectangle 13"/>
            <p:cNvSpPr>
              <a:spLocks noChangeArrowheads="1"/>
            </p:cNvSpPr>
            <p:nvPr/>
          </p:nvSpPr>
          <p:spPr bwMode="auto">
            <a:xfrm>
              <a:off x="288" y="3504"/>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Test Environments and Infrastructure</a:t>
              </a:r>
            </a:p>
          </p:txBody>
        </p:sp>
        <p:sp>
          <p:nvSpPr>
            <p:cNvPr id="1495054" name="Rectangle 14"/>
            <p:cNvSpPr>
              <a:spLocks noChangeArrowheads="1"/>
            </p:cNvSpPr>
            <p:nvPr/>
          </p:nvSpPr>
          <p:spPr bwMode="auto">
            <a:xfrm>
              <a:off x="2976" y="1392"/>
              <a:ext cx="2544" cy="456"/>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Acceptance testing of external components</a:t>
              </a:r>
            </a:p>
          </p:txBody>
        </p:sp>
        <p:sp>
          <p:nvSpPr>
            <p:cNvPr id="1495055" name="Rectangle 15"/>
            <p:cNvSpPr>
              <a:spLocks noChangeArrowheads="1"/>
            </p:cNvSpPr>
            <p:nvPr/>
          </p:nvSpPr>
          <p:spPr bwMode="auto">
            <a:xfrm>
              <a:off x="2976" y="3504"/>
              <a:ext cx="2544" cy="457"/>
            </a:xfrm>
            <a:prstGeom prst="rect">
              <a:avLst/>
            </a:prstGeom>
            <a:solidFill>
              <a:schemeClr val="accent1"/>
            </a:solidFill>
            <a:ln w="12700">
              <a:noFill/>
              <a:miter lim="800000"/>
              <a:headEnd/>
              <a:tailEnd/>
            </a:ln>
            <a:effectLst/>
          </p:spPr>
          <p:txBody>
            <a:bodyPr lIns="90000" tIns="46800" rIns="90000" bIns="46800" anchor="ctr"/>
            <a:lstStyle/>
            <a:p>
              <a:pPr algn="ctr"/>
              <a:r>
                <a:rPr lang="en-US" sz="1600" b="1" dirty="0">
                  <a:solidFill>
                    <a:schemeClr val="bg1"/>
                  </a:solidFill>
                </a:rPr>
                <a:t>QE Process Improvement</a:t>
              </a:r>
            </a:p>
          </p:txBody>
        </p:sp>
      </p:grpSp>
      <p:sp>
        <p:nvSpPr>
          <p:cNvPr id="1495056" name="AutoShape 16"/>
          <p:cNvSpPr>
            <a:spLocks noChangeArrowheads="1"/>
          </p:cNvSpPr>
          <p:nvPr/>
        </p:nvSpPr>
        <p:spPr bwMode="auto">
          <a:xfrm>
            <a:off x="533400" y="1219200"/>
            <a:ext cx="38100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Implicit planning made more explicit with workshops. Responsibilities communicated. Routes to discuss risk.</a:t>
            </a:r>
            <a:endParaRPr lang="en-GB" sz="1400" b="1" dirty="0">
              <a:solidFill>
                <a:schemeClr val="accent2"/>
              </a:solidFill>
            </a:endParaRPr>
          </a:p>
        </p:txBody>
      </p:sp>
      <p:sp>
        <p:nvSpPr>
          <p:cNvPr id="1495057" name="AutoShape 17"/>
          <p:cNvSpPr>
            <a:spLocks noChangeArrowheads="1"/>
          </p:cNvSpPr>
          <p:nvPr/>
        </p:nvSpPr>
        <p:spPr bwMode="auto">
          <a:xfrm>
            <a:off x="533400" y="20574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Test strategies outlined with investment levels: rules of thumb of minimal time before delivery. Test specs back.</a:t>
            </a:r>
            <a:endParaRPr lang="en-GB" sz="1400" b="1" dirty="0">
              <a:solidFill>
                <a:schemeClr val="accent2"/>
              </a:solidFill>
            </a:endParaRPr>
          </a:p>
        </p:txBody>
      </p:sp>
      <p:sp>
        <p:nvSpPr>
          <p:cNvPr id="1495058" name="AutoShape 18"/>
          <p:cNvSpPr>
            <a:spLocks noChangeArrowheads="1"/>
          </p:cNvSpPr>
          <p:nvPr/>
        </p:nvSpPr>
        <p:spPr bwMode="auto">
          <a:xfrm>
            <a:off x="533400" y="37338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Exploratory testing, explaining more to peers what and why has been tested. ISP test documentation served.</a:t>
            </a:r>
            <a:endParaRPr lang="en-GB" sz="1400" b="1" dirty="0">
              <a:solidFill>
                <a:schemeClr val="accent2"/>
              </a:solidFill>
            </a:endParaRPr>
          </a:p>
        </p:txBody>
      </p:sp>
      <p:sp>
        <p:nvSpPr>
          <p:cNvPr id="1495059" name="AutoShape 19"/>
          <p:cNvSpPr>
            <a:spLocks noChangeArrowheads="1"/>
          </p:cNvSpPr>
          <p:nvPr/>
        </p:nvSpPr>
        <p:spPr bwMode="auto">
          <a:xfrm>
            <a:off x="533400" y="28956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Add quantitative data to qualitative. Find proper audiences to remove waste. </a:t>
            </a:r>
            <a:endParaRPr lang="en-GB" sz="1400" b="1" dirty="0">
              <a:solidFill>
                <a:schemeClr val="accent2"/>
              </a:solidFill>
            </a:endParaRPr>
          </a:p>
        </p:txBody>
      </p:sp>
      <p:sp>
        <p:nvSpPr>
          <p:cNvPr id="1495060" name="AutoShape 20"/>
          <p:cNvSpPr>
            <a:spLocks noChangeArrowheads="1"/>
          </p:cNvSpPr>
          <p:nvPr/>
        </p:nvSpPr>
        <p:spPr bwMode="auto">
          <a:xfrm>
            <a:off x="533400" y="45720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Bug-based quality summary, change PVCS and restructure. </a:t>
            </a:r>
            <a:endParaRPr lang="en-GB" sz="1400" b="1" dirty="0">
              <a:solidFill>
                <a:schemeClr val="accent2"/>
              </a:solidFill>
            </a:endParaRPr>
          </a:p>
        </p:txBody>
      </p:sp>
      <p:sp>
        <p:nvSpPr>
          <p:cNvPr id="1495061" name="AutoShape 21"/>
          <p:cNvSpPr>
            <a:spLocks noChangeArrowheads="1"/>
          </p:cNvSpPr>
          <p:nvPr/>
        </p:nvSpPr>
        <p:spPr bwMode="auto">
          <a:xfrm>
            <a:off x="533400" y="54102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Training on handling malware. Training on shared services. </a:t>
            </a:r>
            <a:endParaRPr lang="en-GB" sz="1400" b="1" dirty="0">
              <a:solidFill>
                <a:schemeClr val="accent2"/>
              </a:solidFill>
            </a:endParaRPr>
          </a:p>
        </p:txBody>
      </p:sp>
      <p:sp>
        <p:nvSpPr>
          <p:cNvPr id="1495062" name="AutoShape 22"/>
          <p:cNvSpPr>
            <a:spLocks noChangeArrowheads="1"/>
          </p:cNvSpPr>
          <p:nvPr/>
        </p:nvSpPr>
        <p:spPr bwMode="auto">
          <a:xfrm>
            <a:off x="4800600" y="12192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API-automation driven forward with teams. Visibility of automation improved.</a:t>
            </a:r>
            <a:endParaRPr lang="en-GB" sz="1400" b="1" dirty="0">
              <a:solidFill>
                <a:schemeClr val="accent2"/>
              </a:solidFill>
            </a:endParaRPr>
          </a:p>
        </p:txBody>
      </p:sp>
      <p:sp>
        <p:nvSpPr>
          <p:cNvPr id="1495063" name="AutoShape 23"/>
          <p:cNvSpPr>
            <a:spLocks noChangeArrowheads="1"/>
          </p:cNvSpPr>
          <p:nvPr/>
        </p:nvSpPr>
        <p:spPr bwMode="auto">
          <a:xfrm>
            <a:off x="4800600" y="20574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Minimal time-boxes and goals for 3</a:t>
            </a:r>
            <a:r>
              <a:rPr lang="en-US" sz="1400" b="1" baseline="30000" dirty="0">
                <a:solidFill>
                  <a:schemeClr val="accent2"/>
                </a:solidFill>
              </a:rPr>
              <a:t>rd</a:t>
            </a:r>
            <a:r>
              <a:rPr lang="en-US" sz="1400" b="1" dirty="0">
                <a:solidFill>
                  <a:schemeClr val="accent2"/>
                </a:solidFill>
              </a:rPr>
              <a:t> party component changes. </a:t>
            </a:r>
            <a:endParaRPr lang="en-GB" sz="1400" b="1" dirty="0">
              <a:solidFill>
                <a:schemeClr val="accent2"/>
              </a:solidFill>
            </a:endParaRPr>
          </a:p>
        </p:txBody>
      </p:sp>
      <p:sp>
        <p:nvSpPr>
          <p:cNvPr id="1495064" name="AutoShape 24"/>
          <p:cNvSpPr>
            <a:spLocks noChangeArrowheads="1"/>
          </p:cNvSpPr>
          <p:nvPr/>
        </p:nvSpPr>
        <p:spPr bwMode="auto">
          <a:xfrm>
            <a:off x="4800600" y="28956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Redefining organizing for maintenance. More power to the teams in deciding, role of maintenance manager changing.</a:t>
            </a:r>
            <a:endParaRPr lang="en-GB" sz="1400" b="1" dirty="0">
              <a:solidFill>
                <a:schemeClr val="accent2"/>
              </a:solidFill>
            </a:endParaRPr>
          </a:p>
        </p:txBody>
      </p:sp>
      <p:sp>
        <p:nvSpPr>
          <p:cNvPr id="1495065" name="AutoShape 25"/>
          <p:cNvSpPr>
            <a:spLocks noChangeArrowheads="1"/>
          </p:cNvSpPr>
          <p:nvPr/>
        </p:nvSpPr>
        <p:spPr bwMode="auto">
          <a:xfrm>
            <a:off x="4800600" y="37338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Refine need of documents, not assuming certain documents must be in. Continue workshops. </a:t>
            </a:r>
            <a:endParaRPr lang="en-GB" sz="1400" b="1" dirty="0">
              <a:solidFill>
                <a:schemeClr val="accent2"/>
              </a:solidFill>
            </a:endParaRPr>
          </a:p>
        </p:txBody>
      </p:sp>
      <p:sp>
        <p:nvSpPr>
          <p:cNvPr id="1495066" name="AutoShape 26"/>
          <p:cNvSpPr>
            <a:spLocks noChangeArrowheads="1"/>
          </p:cNvSpPr>
          <p:nvPr/>
        </p:nvSpPr>
        <p:spPr bwMode="auto">
          <a:xfrm>
            <a:off x="4800600" y="45720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Developer testing on areas where it is still missing. </a:t>
            </a:r>
            <a:endParaRPr lang="en-GB" sz="1400" b="1" dirty="0">
              <a:solidFill>
                <a:schemeClr val="accent2"/>
              </a:solidFill>
            </a:endParaRPr>
          </a:p>
        </p:txBody>
      </p:sp>
      <p:sp>
        <p:nvSpPr>
          <p:cNvPr id="1495067" name="AutoShape 27"/>
          <p:cNvSpPr>
            <a:spLocks noChangeArrowheads="1"/>
          </p:cNvSpPr>
          <p:nvPr/>
        </p:nvSpPr>
        <p:spPr bwMode="auto">
          <a:xfrm>
            <a:off x="4800600" y="5410200"/>
            <a:ext cx="3886200" cy="6096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QE weekly &amp; QE forum continues, everyone more proactive in improvement. </a:t>
            </a:r>
            <a:endParaRPr lang="en-GB" sz="1400" b="1" dirty="0">
              <a:solidFill>
                <a:schemeClr val="accent2"/>
              </a:solidFill>
            </a:endParaRPr>
          </a:p>
        </p:txBody>
      </p:sp>
      <p:sp>
        <p:nvSpPr>
          <p:cNvPr id="1495068" name="AutoShape 28"/>
          <p:cNvSpPr>
            <a:spLocks noChangeArrowheads="1"/>
          </p:cNvSpPr>
          <p:nvPr/>
        </p:nvSpPr>
        <p:spPr bwMode="auto">
          <a:xfrm>
            <a:off x="8072462" y="76200"/>
            <a:ext cx="990600" cy="990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400" b="1">
                <a:solidFill>
                  <a:schemeClr val="bg1"/>
                </a:solidFill>
              </a:rPr>
              <a:t>Grade:</a:t>
            </a:r>
          </a:p>
          <a:p>
            <a:pPr algn="ctr"/>
            <a:r>
              <a:rPr lang="fi-FI" sz="3200" b="1">
                <a:solidFill>
                  <a:schemeClr val="bg1"/>
                </a:solidFill>
              </a:rPr>
              <a:t>9</a:t>
            </a:r>
            <a:endParaRPr lang="en-GB" sz="3200" b="1" dirty="0">
              <a:solidFill>
                <a:schemeClr val="bg1"/>
              </a:solidFill>
            </a:endParaRPr>
          </a:p>
        </p:txBody>
      </p:sp>
      <p:sp>
        <p:nvSpPr>
          <p:cNvPr id="1495069" name="AutoShape 29"/>
          <p:cNvSpPr>
            <a:spLocks noChangeArrowheads="1"/>
          </p:cNvSpPr>
          <p:nvPr/>
        </p:nvSpPr>
        <p:spPr bwMode="auto">
          <a:xfrm>
            <a:off x="76200" y="12192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0" name="AutoShape 30"/>
          <p:cNvSpPr>
            <a:spLocks noChangeArrowheads="1"/>
          </p:cNvSpPr>
          <p:nvPr/>
        </p:nvSpPr>
        <p:spPr bwMode="auto">
          <a:xfrm>
            <a:off x="76200" y="20574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1" name="AutoShape 31"/>
          <p:cNvSpPr>
            <a:spLocks noChangeArrowheads="1"/>
          </p:cNvSpPr>
          <p:nvPr/>
        </p:nvSpPr>
        <p:spPr bwMode="auto">
          <a:xfrm>
            <a:off x="76200" y="28956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2" name="AutoShape 32"/>
          <p:cNvSpPr>
            <a:spLocks noChangeArrowheads="1"/>
          </p:cNvSpPr>
          <p:nvPr/>
        </p:nvSpPr>
        <p:spPr bwMode="auto">
          <a:xfrm>
            <a:off x="76200" y="37338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3" name="AutoShape 33"/>
          <p:cNvSpPr>
            <a:spLocks noChangeArrowheads="1"/>
          </p:cNvSpPr>
          <p:nvPr/>
        </p:nvSpPr>
        <p:spPr bwMode="auto">
          <a:xfrm>
            <a:off x="76200" y="45720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4" name="AutoShape 34"/>
          <p:cNvSpPr>
            <a:spLocks noChangeArrowheads="1"/>
          </p:cNvSpPr>
          <p:nvPr/>
        </p:nvSpPr>
        <p:spPr bwMode="auto">
          <a:xfrm>
            <a:off x="76200" y="54102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5" name="AutoShape 35"/>
          <p:cNvSpPr>
            <a:spLocks noChangeArrowheads="1"/>
          </p:cNvSpPr>
          <p:nvPr/>
        </p:nvSpPr>
        <p:spPr bwMode="auto">
          <a:xfrm>
            <a:off x="8534400" y="54102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6" name="AutoShape 36"/>
          <p:cNvSpPr>
            <a:spLocks noChangeArrowheads="1"/>
          </p:cNvSpPr>
          <p:nvPr/>
        </p:nvSpPr>
        <p:spPr bwMode="auto">
          <a:xfrm>
            <a:off x="8534400" y="45720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7" name="AutoShape 37"/>
          <p:cNvSpPr>
            <a:spLocks noChangeArrowheads="1"/>
          </p:cNvSpPr>
          <p:nvPr/>
        </p:nvSpPr>
        <p:spPr bwMode="auto">
          <a:xfrm>
            <a:off x="8534400" y="37338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1495078" name="AutoShape 38"/>
          <p:cNvSpPr>
            <a:spLocks noChangeArrowheads="1"/>
          </p:cNvSpPr>
          <p:nvPr/>
        </p:nvSpPr>
        <p:spPr bwMode="auto">
          <a:xfrm>
            <a:off x="8534400" y="28956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sp>
        <p:nvSpPr>
          <p:cNvPr id="1495079" name="AutoShape 39"/>
          <p:cNvSpPr>
            <a:spLocks noChangeArrowheads="1"/>
          </p:cNvSpPr>
          <p:nvPr/>
        </p:nvSpPr>
        <p:spPr bwMode="auto">
          <a:xfrm>
            <a:off x="8534400" y="12192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sp>
        <p:nvSpPr>
          <p:cNvPr id="1495080" name="AutoShape 40"/>
          <p:cNvSpPr>
            <a:spLocks noChangeArrowheads="1"/>
          </p:cNvSpPr>
          <p:nvPr/>
        </p:nvSpPr>
        <p:spPr bwMode="auto">
          <a:xfrm>
            <a:off x="8534400" y="20574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8</a:t>
            </a:r>
            <a:endParaRPr lang="en-GB" sz="2400" b="1" dirty="0">
              <a:solidFill>
                <a:schemeClr val="bg1"/>
              </a:solidFill>
            </a:endParaRPr>
          </a:p>
        </p:txBody>
      </p:sp>
      <p:sp>
        <p:nvSpPr>
          <p:cNvPr id="1495081" name="Rectangle 41"/>
          <p:cNvSpPr>
            <a:spLocks noChangeArrowheads="1"/>
          </p:cNvSpPr>
          <p:nvPr/>
        </p:nvSpPr>
        <p:spPr bwMode="auto">
          <a:xfrm>
            <a:off x="2514600" y="6096000"/>
            <a:ext cx="4114800" cy="609600"/>
          </a:xfrm>
          <a:prstGeom prst="rect">
            <a:avLst/>
          </a:prstGeom>
          <a:solidFill>
            <a:schemeClr val="accent1"/>
          </a:solidFill>
          <a:ln w="12700">
            <a:noFill/>
            <a:miter lim="800000"/>
            <a:headEnd/>
            <a:tailEnd/>
          </a:ln>
          <a:effectLst/>
        </p:spPr>
        <p:txBody>
          <a:bodyPr wrap="none" lIns="90000" tIns="46800" rIns="90000" bIns="46800" anchor="ctr"/>
          <a:lstStyle/>
          <a:p>
            <a:pPr algn="ctr"/>
            <a:r>
              <a:rPr lang="en-US" sz="1600" b="1" dirty="0">
                <a:solidFill>
                  <a:schemeClr val="bg1"/>
                </a:solidFill>
              </a:rPr>
              <a:t>Build mastering</a:t>
            </a:r>
            <a:endParaRPr lang="en-GB" sz="1600" b="1" dirty="0">
              <a:solidFill>
                <a:schemeClr val="bg1"/>
              </a:solidFill>
            </a:endParaRPr>
          </a:p>
        </p:txBody>
      </p:sp>
      <p:sp>
        <p:nvSpPr>
          <p:cNvPr id="1495082" name="AutoShape 42"/>
          <p:cNvSpPr>
            <a:spLocks noChangeArrowheads="1"/>
          </p:cNvSpPr>
          <p:nvPr/>
        </p:nvSpPr>
        <p:spPr bwMode="auto">
          <a:xfrm rot="10971">
            <a:off x="2590800" y="6172200"/>
            <a:ext cx="3962400" cy="457200"/>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nchor="ctr"/>
          <a:lstStyle/>
          <a:p>
            <a:pPr algn="ctr"/>
            <a:r>
              <a:rPr lang="en-US" sz="1400" b="1" dirty="0">
                <a:solidFill>
                  <a:schemeClr val="accent2"/>
                </a:solidFill>
              </a:rPr>
              <a:t>Quality of change logs from teams improved. Comparison between builds.</a:t>
            </a:r>
            <a:endParaRPr lang="en-GB" sz="1400" b="1" dirty="0">
              <a:solidFill>
                <a:schemeClr val="accent2"/>
              </a:solidFill>
            </a:endParaRPr>
          </a:p>
        </p:txBody>
      </p:sp>
      <p:sp>
        <p:nvSpPr>
          <p:cNvPr id="1495083" name="AutoShape 43"/>
          <p:cNvSpPr>
            <a:spLocks noChangeArrowheads="1"/>
          </p:cNvSpPr>
          <p:nvPr/>
        </p:nvSpPr>
        <p:spPr bwMode="auto">
          <a:xfrm>
            <a:off x="6477000" y="6172200"/>
            <a:ext cx="533400" cy="609600"/>
          </a:xfrm>
          <a:prstGeom prst="foldedCorner">
            <a:avLst>
              <a:gd name="adj" fmla="val 28204"/>
            </a:avLst>
          </a:prstGeom>
          <a:solidFill>
            <a:schemeClr val="accent2"/>
          </a:solidFill>
          <a:ln w="12700">
            <a:noFill/>
            <a:round/>
            <a:headEnd/>
            <a:tailEnd/>
          </a:ln>
          <a:effectLst/>
        </p:spPr>
        <p:txBody>
          <a:bodyPr wrap="none" lIns="90000" tIns="46800" rIns="90000" bIns="46800" anchor="ctr"/>
          <a:lstStyle/>
          <a:p>
            <a:pPr algn="ctr"/>
            <a:r>
              <a:rPr lang="fi-FI" sz="1000" b="1">
                <a:solidFill>
                  <a:schemeClr val="bg1"/>
                </a:solidFill>
              </a:rPr>
              <a:t>Grade:</a:t>
            </a:r>
          </a:p>
          <a:p>
            <a:pPr algn="ctr"/>
            <a:r>
              <a:rPr lang="fi-FI" sz="2400" b="1">
                <a:solidFill>
                  <a:schemeClr val="bg1"/>
                </a:solidFill>
              </a:rPr>
              <a:t>9</a:t>
            </a:r>
            <a:endParaRPr lang="en-GB" sz="2400" b="1" dirty="0">
              <a:solidFill>
                <a:schemeClr val="bg1"/>
              </a:solidFill>
            </a:endParaRPr>
          </a:p>
        </p:txBody>
      </p:sp>
      <p:sp>
        <p:nvSpPr>
          <p:cNvPr id="44" name="Slide Number Placeholder 43"/>
          <p:cNvSpPr>
            <a:spLocks noGrp="1"/>
          </p:cNvSpPr>
          <p:nvPr>
            <p:ph type="sldNum" sz="quarter" idx="12"/>
          </p:nvPr>
        </p:nvSpPr>
        <p:spPr/>
        <p:txBody>
          <a:bodyPr/>
          <a:lstStyle/>
          <a:p>
            <a:fld id="{227F0B53-9592-4779-891F-997228E46E01}" type="slidenum">
              <a:rPr lang="sv-SE" smtClean="0"/>
              <a:pPr/>
              <a:t>28</a:t>
            </a:fld>
            <a:endParaRPr lang="sv-SE"/>
          </a:p>
        </p:txBody>
      </p:sp>
      <p:sp>
        <p:nvSpPr>
          <p:cNvPr id="45" name="Footer Placeholder 44"/>
          <p:cNvSpPr>
            <a:spLocks noGrp="1"/>
          </p:cNvSpPr>
          <p:nvPr>
            <p:ph type="ftr" sz="quarter" idx="11"/>
          </p:nvPr>
        </p:nvSpPr>
        <p:spPr/>
        <p:txBody>
          <a:bodyPr/>
          <a:lstStyle/>
          <a:p>
            <a:r>
              <a:rPr lang="en-US" smtClean="0"/>
              <a:t>DAY 2</a:t>
            </a:r>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95056"/>
                                        </p:tgtEl>
                                        <p:attrNameLst>
                                          <p:attrName>style.visibility</p:attrName>
                                        </p:attrNameLst>
                                      </p:cBhvr>
                                      <p:to>
                                        <p:strVal val="visible"/>
                                      </p:to>
                                    </p:set>
                                    <p:anim calcmode="lin" valueType="num">
                                      <p:cBhvr additive="base">
                                        <p:cTn id="7" dur="500" fill="hold"/>
                                        <p:tgtEl>
                                          <p:spTgt spid="1495056"/>
                                        </p:tgtEl>
                                        <p:attrNameLst>
                                          <p:attrName>ppt_x</p:attrName>
                                        </p:attrNameLst>
                                      </p:cBhvr>
                                      <p:tavLst>
                                        <p:tav tm="0">
                                          <p:val>
                                            <p:strVal val="0-#ppt_w/2"/>
                                          </p:val>
                                        </p:tav>
                                        <p:tav tm="100000">
                                          <p:val>
                                            <p:strVal val="#ppt_x"/>
                                          </p:val>
                                        </p:tav>
                                      </p:tavLst>
                                    </p:anim>
                                    <p:anim calcmode="lin" valueType="num">
                                      <p:cBhvr additive="base">
                                        <p:cTn id="8" dur="500" fill="hold"/>
                                        <p:tgtEl>
                                          <p:spTgt spid="149505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95057"/>
                                        </p:tgtEl>
                                        <p:attrNameLst>
                                          <p:attrName>style.visibility</p:attrName>
                                        </p:attrNameLst>
                                      </p:cBhvr>
                                      <p:to>
                                        <p:strVal val="visible"/>
                                      </p:to>
                                    </p:set>
                                    <p:anim calcmode="lin" valueType="num">
                                      <p:cBhvr additive="base">
                                        <p:cTn id="13" dur="500" fill="hold"/>
                                        <p:tgtEl>
                                          <p:spTgt spid="1495057"/>
                                        </p:tgtEl>
                                        <p:attrNameLst>
                                          <p:attrName>ppt_x</p:attrName>
                                        </p:attrNameLst>
                                      </p:cBhvr>
                                      <p:tavLst>
                                        <p:tav tm="0">
                                          <p:val>
                                            <p:strVal val="0-#ppt_w/2"/>
                                          </p:val>
                                        </p:tav>
                                        <p:tav tm="100000">
                                          <p:val>
                                            <p:strVal val="#ppt_x"/>
                                          </p:val>
                                        </p:tav>
                                      </p:tavLst>
                                    </p:anim>
                                    <p:anim calcmode="lin" valueType="num">
                                      <p:cBhvr additive="base">
                                        <p:cTn id="14" dur="500" fill="hold"/>
                                        <p:tgtEl>
                                          <p:spTgt spid="149505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95059"/>
                                        </p:tgtEl>
                                        <p:attrNameLst>
                                          <p:attrName>style.visibility</p:attrName>
                                        </p:attrNameLst>
                                      </p:cBhvr>
                                      <p:to>
                                        <p:strVal val="visible"/>
                                      </p:to>
                                    </p:set>
                                    <p:anim calcmode="lin" valueType="num">
                                      <p:cBhvr additive="base">
                                        <p:cTn id="19" dur="500" fill="hold"/>
                                        <p:tgtEl>
                                          <p:spTgt spid="1495059"/>
                                        </p:tgtEl>
                                        <p:attrNameLst>
                                          <p:attrName>ppt_x</p:attrName>
                                        </p:attrNameLst>
                                      </p:cBhvr>
                                      <p:tavLst>
                                        <p:tav tm="0">
                                          <p:val>
                                            <p:strVal val="0-#ppt_w/2"/>
                                          </p:val>
                                        </p:tav>
                                        <p:tav tm="100000">
                                          <p:val>
                                            <p:strVal val="#ppt_x"/>
                                          </p:val>
                                        </p:tav>
                                      </p:tavLst>
                                    </p:anim>
                                    <p:anim calcmode="lin" valueType="num">
                                      <p:cBhvr additive="base">
                                        <p:cTn id="20" dur="500" fill="hold"/>
                                        <p:tgtEl>
                                          <p:spTgt spid="149505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95058"/>
                                        </p:tgtEl>
                                        <p:attrNameLst>
                                          <p:attrName>style.visibility</p:attrName>
                                        </p:attrNameLst>
                                      </p:cBhvr>
                                      <p:to>
                                        <p:strVal val="visible"/>
                                      </p:to>
                                    </p:set>
                                    <p:anim calcmode="lin" valueType="num">
                                      <p:cBhvr additive="base">
                                        <p:cTn id="25" dur="500" fill="hold"/>
                                        <p:tgtEl>
                                          <p:spTgt spid="1495058"/>
                                        </p:tgtEl>
                                        <p:attrNameLst>
                                          <p:attrName>ppt_x</p:attrName>
                                        </p:attrNameLst>
                                      </p:cBhvr>
                                      <p:tavLst>
                                        <p:tav tm="0">
                                          <p:val>
                                            <p:strVal val="0-#ppt_w/2"/>
                                          </p:val>
                                        </p:tav>
                                        <p:tav tm="100000">
                                          <p:val>
                                            <p:strVal val="#ppt_x"/>
                                          </p:val>
                                        </p:tav>
                                      </p:tavLst>
                                    </p:anim>
                                    <p:anim calcmode="lin" valueType="num">
                                      <p:cBhvr additive="base">
                                        <p:cTn id="26" dur="500" fill="hold"/>
                                        <p:tgtEl>
                                          <p:spTgt spid="149505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495060"/>
                                        </p:tgtEl>
                                        <p:attrNameLst>
                                          <p:attrName>style.visibility</p:attrName>
                                        </p:attrNameLst>
                                      </p:cBhvr>
                                      <p:to>
                                        <p:strVal val="visible"/>
                                      </p:to>
                                    </p:set>
                                    <p:anim calcmode="lin" valueType="num">
                                      <p:cBhvr additive="base">
                                        <p:cTn id="31" dur="500" fill="hold"/>
                                        <p:tgtEl>
                                          <p:spTgt spid="1495060"/>
                                        </p:tgtEl>
                                        <p:attrNameLst>
                                          <p:attrName>ppt_x</p:attrName>
                                        </p:attrNameLst>
                                      </p:cBhvr>
                                      <p:tavLst>
                                        <p:tav tm="0">
                                          <p:val>
                                            <p:strVal val="0-#ppt_w/2"/>
                                          </p:val>
                                        </p:tav>
                                        <p:tav tm="100000">
                                          <p:val>
                                            <p:strVal val="#ppt_x"/>
                                          </p:val>
                                        </p:tav>
                                      </p:tavLst>
                                    </p:anim>
                                    <p:anim calcmode="lin" valueType="num">
                                      <p:cBhvr additive="base">
                                        <p:cTn id="32" dur="500" fill="hold"/>
                                        <p:tgtEl>
                                          <p:spTgt spid="149506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495082"/>
                                        </p:tgtEl>
                                        <p:attrNameLst>
                                          <p:attrName>style.visibility</p:attrName>
                                        </p:attrNameLst>
                                      </p:cBhvr>
                                      <p:to>
                                        <p:strVal val="visible"/>
                                      </p:to>
                                    </p:set>
                                    <p:anim calcmode="lin" valueType="num">
                                      <p:cBhvr additive="base">
                                        <p:cTn id="37" dur="500" fill="hold"/>
                                        <p:tgtEl>
                                          <p:spTgt spid="1495082"/>
                                        </p:tgtEl>
                                        <p:attrNameLst>
                                          <p:attrName>ppt_x</p:attrName>
                                        </p:attrNameLst>
                                      </p:cBhvr>
                                      <p:tavLst>
                                        <p:tav tm="0">
                                          <p:val>
                                            <p:strVal val="0-#ppt_w/2"/>
                                          </p:val>
                                        </p:tav>
                                        <p:tav tm="100000">
                                          <p:val>
                                            <p:strVal val="#ppt_x"/>
                                          </p:val>
                                        </p:tav>
                                      </p:tavLst>
                                    </p:anim>
                                    <p:anim calcmode="lin" valueType="num">
                                      <p:cBhvr additive="base">
                                        <p:cTn id="38" dur="500" fill="hold"/>
                                        <p:tgtEl>
                                          <p:spTgt spid="149508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495061"/>
                                        </p:tgtEl>
                                        <p:attrNameLst>
                                          <p:attrName>style.visibility</p:attrName>
                                        </p:attrNameLst>
                                      </p:cBhvr>
                                      <p:to>
                                        <p:strVal val="visible"/>
                                      </p:to>
                                    </p:set>
                                    <p:anim calcmode="lin" valueType="num">
                                      <p:cBhvr additive="base">
                                        <p:cTn id="43" dur="500" fill="hold"/>
                                        <p:tgtEl>
                                          <p:spTgt spid="1495061"/>
                                        </p:tgtEl>
                                        <p:attrNameLst>
                                          <p:attrName>ppt_x</p:attrName>
                                        </p:attrNameLst>
                                      </p:cBhvr>
                                      <p:tavLst>
                                        <p:tav tm="0">
                                          <p:val>
                                            <p:strVal val="0-#ppt_w/2"/>
                                          </p:val>
                                        </p:tav>
                                        <p:tav tm="100000">
                                          <p:val>
                                            <p:strVal val="#ppt_x"/>
                                          </p:val>
                                        </p:tav>
                                      </p:tavLst>
                                    </p:anim>
                                    <p:anim calcmode="lin" valueType="num">
                                      <p:cBhvr additive="base">
                                        <p:cTn id="44" dur="500" fill="hold"/>
                                        <p:tgtEl>
                                          <p:spTgt spid="149506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495062"/>
                                        </p:tgtEl>
                                        <p:attrNameLst>
                                          <p:attrName>style.visibility</p:attrName>
                                        </p:attrNameLst>
                                      </p:cBhvr>
                                      <p:to>
                                        <p:strVal val="visible"/>
                                      </p:to>
                                    </p:set>
                                    <p:anim calcmode="lin" valueType="num">
                                      <p:cBhvr additive="base">
                                        <p:cTn id="49" dur="500" fill="hold"/>
                                        <p:tgtEl>
                                          <p:spTgt spid="1495062"/>
                                        </p:tgtEl>
                                        <p:attrNameLst>
                                          <p:attrName>ppt_x</p:attrName>
                                        </p:attrNameLst>
                                      </p:cBhvr>
                                      <p:tavLst>
                                        <p:tav tm="0">
                                          <p:val>
                                            <p:strVal val="0-#ppt_w/2"/>
                                          </p:val>
                                        </p:tav>
                                        <p:tav tm="100000">
                                          <p:val>
                                            <p:strVal val="#ppt_x"/>
                                          </p:val>
                                        </p:tav>
                                      </p:tavLst>
                                    </p:anim>
                                    <p:anim calcmode="lin" valueType="num">
                                      <p:cBhvr additive="base">
                                        <p:cTn id="50" dur="500" fill="hold"/>
                                        <p:tgtEl>
                                          <p:spTgt spid="1495062"/>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495063"/>
                                        </p:tgtEl>
                                        <p:attrNameLst>
                                          <p:attrName>style.visibility</p:attrName>
                                        </p:attrNameLst>
                                      </p:cBhvr>
                                      <p:to>
                                        <p:strVal val="visible"/>
                                      </p:to>
                                    </p:set>
                                    <p:anim calcmode="lin" valueType="num">
                                      <p:cBhvr additive="base">
                                        <p:cTn id="55" dur="500" fill="hold"/>
                                        <p:tgtEl>
                                          <p:spTgt spid="1495063"/>
                                        </p:tgtEl>
                                        <p:attrNameLst>
                                          <p:attrName>ppt_x</p:attrName>
                                        </p:attrNameLst>
                                      </p:cBhvr>
                                      <p:tavLst>
                                        <p:tav tm="0">
                                          <p:val>
                                            <p:strVal val="0-#ppt_w/2"/>
                                          </p:val>
                                        </p:tav>
                                        <p:tav tm="100000">
                                          <p:val>
                                            <p:strVal val="#ppt_x"/>
                                          </p:val>
                                        </p:tav>
                                      </p:tavLst>
                                    </p:anim>
                                    <p:anim calcmode="lin" valueType="num">
                                      <p:cBhvr additive="base">
                                        <p:cTn id="56" dur="500" fill="hold"/>
                                        <p:tgtEl>
                                          <p:spTgt spid="1495063"/>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495064"/>
                                        </p:tgtEl>
                                        <p:attrNameLst>
                                          <p:attrName>style.visibility</p:attrName>
                                        </p:attrNameLst>
                                      </p:cBhvr>
                                      <p:to>
                                        <p:strVal val="visible"/>
                                      </p:to>
                                    </p:set>
                                    <p:anim calcmode="lin" valueType="num">
                                      <p:cBhvr additive="base">
                                        <p:cTn id="61" dur="500" fill="hold"/>
                                        <p:tgtEl>
                                          <p:spTgt spid="1495064"/>
                                        </p:tgtEl>
                                        <p:attrNameLst>
                                          <p:attrName>ppt_x</p:attrName>
                                        </p:attrNameLst>
                                      </p:cBhvr>
                                      <p:tavLst>
                                        <p:tav tm="0">
                                          <p:val>
                                            <p:strVal val="0-#ppt_w/2"/>
                                          </p:val>
                                        </p:tav>
                                        <p:tav tm="100000">
                                          <p:val>
                                            <p:strVal val="#ppt_x"/>
                                          </p:val>
                                        </p:tav>
                                      </p:tavLst>
                                    </p:anim>
                                    <p:anim calcmode="lin" valueType="num">
                                      <p:cBhvr additive="base">
                                        <p:cTn id="62" dur="500" fill="hold"/>
                                        <p:tgtEl>
                                          <p:spTgt spid="1495064"/>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495065"/>
                                        </p:tgtEl>
                                        <p:attrNameLst>
                                          <p:attrName>style.visibility</p:attrName>
                                        </p:attrNameLst>
                                      </p:cBhvr>
                                      <p:to>
                                        <p:strVal val="visible"/>
                                      </p:to>
                                    </p:set>
                                    <p:anim calcmode="lin" valueType="num">
                                      <p:cBhvr additive="base">
                                        <p:cTn id="67" dur="500" fill="hold"/>
                                        <p:tgtEl>
                                          <p:spTgt spid="1495065"/>
                                        </p:tgtEl>
                                        <p:attrNameLst>
                                          <p:attrName>ppt_x</p:attrName>
                                        </p:attrNameLst>
                                      </p:cBhvr>
                                      <p:tavLst>
                                        <p:tav tm="0">
                                          <p:val>
                                            <p:strVal val="0-#ppt_w/2"/>
                                          </p:val>
                                        </p:tav>
                                        <p:tav tm="100000">
                                          <p:val>
                                            <p:strVal val="#ppt_x"/>
                                          </p:val>
                                        </p:tav>
                                      </p:tavLst>
                                    </p:anim>
                                    <p:anim calcmode="lin" valueType="num">
                                      <p:cBhvr additive="base">
                                        <p:cTn id="68" dur="500" fill="hold"/>
                                        <p:tgtEl>
                                          <p:spTgt spid="149506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495066"/>
                                        </p:tgtEl>
                                        <p:attrNameLst>
                                          <p:attrName>style.visibility</p:attrName>
                                        </p:attrNameLst>
                                      </p:cBhvr>
                                      <p:to>
                                        <p:strVal val="visible"/>
                                      </p:to>
                                    </p:set>
                                    <p:anim calcmode="lin" valueType="num">
                                      <p:cBhvr additive="base">
                                        <p:cTn id="73" dur="500" fill="hold"/>
                                        <p:tgtEl>
                                          <p:spTgt spid="1495066"/>
                                        </p:tgtEl>
                                        <p:attrNameLst>
                                          <p:attrName>ppt_x</p:attrName>
                                        </p:attrNameLst>
                                      </p:cBhvr>
                                      <p:tavLst>
                                        <p:tav tm="0">
                                          <p:val>
                                            <p:strVal val="0-#ppt_w/2"/>
                                          </p:val>
                                        </p:tav>
                                        <p:tav tm="100000">
                                          <p:val>
                                            <p:strVal val="#ppt_x"/>
                                          </p:val>
                                        </p:tav>
                                      </p:tavLst>
                                    </p:anim>
                                    <p:anim calcmode="lin" valueType="num">
                                      <p:cBhvr additive="base">
                                        <p:cTn id="74" dur="500" fill="hold"/>
                                        <p:tgtEl>
                                          <p:spTgt spid="1495066"/>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495067"/>
                                        </p:tgtEl>
                                        <p:attrNameLst>
                                          <p:attrName>style.visibility</p:attrName>
                                        </p:attrNameLst>
                                      </p:cBhvr>
                                      <p:to>
                                        <p:strVal val="visible"/>
                                      </p:to>
                                    </p:set>
                                    <p:anim calcmode="lin" valueType="num">
                                      <p:cBhvr additive="base">
                                        <p:cTn id="79" dur="500" fill="hold"/>
                                        <p:tgtEl>
                                          <p:spTgt spid="1495067"/>
                                        </p:tgtEl>
                                        <p:attrNameLst>
                                          <p:attrName>ppt_x</p:attrName>
                                        </p:attrNameLst>
                                      </p:cBhvr>
                                      <p:tavLst>
                                        <p:tav tm="0">
                                          <p:val>
                                            <p:strVal val="0-#ppt_w/2"/>
                                          </p:val>
                                        </p:tav>
                                        <p:tav tm="100000">
                                          <p:val>
                                            <p:strVal val="#ppt_x"/>
                                          </p:val>
                                        </p:tav>
                                      </p:tavLst>
                                    </p:anim>
                                    <p:anim calcmode="lin" valueType="num">
                                      <p:cBhvr additive="base">
                                        <p:cTn id="80" dur="500" fill="hold"/>
                                        <p:tgtEl>
                                          <p:spTgt spid="14950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56" grpId="0" animBg="1" autoUpdateAnimBg="0"/>
      <p:bldP spid="1495057" grpId="0" animBg="1" autoUpdateAnimBg="0"/>
      <p:bldP spid="1495058" grpId="0" animBg="1" autoUpdateAnimBg="0"/>
      <p:bldP spid="1495059" grpId="0" animBg="1" autoUpdateAnimBg="0"/>
      <p:bldP spid="1495060" grpId="0" animBg="1" autoUpdateAnimBg="0"/>
      <p:bldP spid="1495061" grpId="0" animBg="1" autoUpdateAnimBg="0"/>
      <p:bldP spid="1495062" grpId="0" animBg="1" autoUpdateAnimBg="0"/>
      <p:bldP spid="1495063" grpId="0" animBg="1" autoUpdateAnimBg="0"/>
      <p:bldP spid="1495064" grpId="0" animBg="1" autoUpdateAnimBg="0"/>
      <p:bldP spid="1495065" grpId="0" animBg="1" autoUpdateAnimBg="0"/>
      <p:bldP spid="1495066" grpId="0" animBg="1" autoUpdateAnimBg="0"/>
      <p:bldP spid="1495067" grpId="0" animBg="1" autoUpdateAnimBg="0"/>
      <p:bldP spid="1495082"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Make Your Own Concepts Visible</a:t>
            </a:r>
            <a:endParaRPr lang="fi-FI" dirty="0"/>
          </a:p>
        </p:txBody>
      </p:sp>
      <p:sp>
        <p:nvSpPr>
          <p:cNvPr id="5" name="Content Placeholder 4"/>
          <p:cNvSpPr>
            <a:spLocks noGrp="1"/>
          </p:cNvSpPr>
          <p:nvPr>
            <p:ph idx="1"/>
          </p:nvPr>
        </p:nvSpPr>
        <p:spPr/>
        <p:txBody>
          <a:bodyPr/>
          <a:lstStyle/>
          <a:p>
            <a:r>
              <a:rPr lang="fi-FI" dirty="0" smtClean="0"/>
              <a:t>The essential is to focus on communicating improvement and lack-of-thereof with your organization’s terminology</a:t>
            </a:r>
          </a:p>
          <a:p>
            <a:r>
              <a:rPr lang="fi-FI" dirty="0" smtClean="0"/>
              <a:t>Start with honesty in representation and enable learning</a:t>
            </a:r>
          </a:p>
          <a:p>
            <a:pPr lvl="1"/>
            <a:r>
              <a:rPr lang="fi-FI" dirty="0" smtClean="0"/>
              <a:t>Standard to compare against is supposed to go forward as you learn</a:t>
            </a:r>
          </a:p>
          <a:p>
            <a:endParaRPr lang="fi-FI"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29</a:t>
            </a:fld>
            <a:endParaRPr lang="en-US" dirty="0"/>
          </a:p>
        </p:txBody>
      </p:sp>
      <p:sp>
        <p:nvSpPr>
          <p:cNvPr id="6" name="Footer Placeholder 5"/>
          <p:cNvSpPr>
            <a:spLocks noGrp="1"/>
          </p:cNvSpPr>
          <p:nvPr>
            <p:ph type="ftr" sz="quarter" idx="11"/>
          </p:nvPr>
        </p:nvSpPr>
        <p:spPr/>
        <p:txBody>
          <a:bodyPr/>
          <a:lstStyle/>
          <a:p>
            <a:r>
              <a:rPr lang="en-US" smtClean="0"/>
              <a:t>DAY 2</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HOW Agile Are We?</a:t>
            </a:r>
            <a:endParaRPr lang="fi-FI" dirty="0"/>
          </a:p>
        </p:txBody>
      </p:sp>
      <p:sp>
        <p:nvSpPr>
          <p:cNvPr id="3" name="Text Placeholder 2"/>
          <p:cNvSpPr>
            <a:spLocks noGrp="1"/>
          </p:cNvSpPr>
          <p:nvPr>
            <p:ph type="body" idx="1"/>
          </p:nvPr>
        </p:nvSpPr>
        <p:spPr/>
        <p:txBody>
          <a:bodyPr/>
          <a:lstStyle/>
          <a:p>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30</a:t>
            </a:fld>
            <a:endParaRPr lang="en-US" dirty="0"/>
          </a:p>
        </p:txBody>
      </p:sp>
      <p:grpSp>
        <p:nvGrpSpPr>
          <p:cNvPr id="4" name="Group 12"/>
          <p:cNvGrpSpPr/>
          <p:nvPr/>
        </p:nvGrpSpPr>
        <p:grpSpPr>
          <a:xfrm>
            <a:off x="4876800" y="5943600"/>
            <a:ext cx="4114800" cy="685800"/>
            <a:chOff x="838200" y="5486400"/>
            <a:chExt cx="4114800" cy="685800"/>
          </a:xfrm>
        </p:grpSpPr>
        <p:sp>
          <p:nvSpPr>
            <p:cNvPr id="12" name="Rectangle 11"/>
            <p:cNvSpPr/>
            <p:nvPr/>
          </p:nvSpPr>
          <p:spPr>
            <a:xfrm>
              <a:off x="838200" y="5486400"/>
              <a:ext cx="4114800" cy="685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i-FI"/>
            </a:p>
          </p:txBody>
        </p:sp>
        <p:pic>
          <p:nvPicPr>
            <p:cNvPr id="13" name="Picture 12" descr="88x31.png"/>
            <p:cNvPicPr>
              <a:picLocks noChangeAspect="1"/>
            </p:cNvPicPr>
            <p:nvPr/>
          </p:nvPicPr>
          <p:blipFill>
            <a:blip r:embed="rId3" cstate="print"/>
            <a:stretch>
              <a:fillRect/>
            </a:stretch>
          </p:blipFill>
          <p:spPr>
            <a:xfrm>
              <a:off x="939940" y="5638800"/>
              <a:ext cx="1117460" cy="393651"/>
            </a:xfrm>
            <a:prstGeom prst="rect">
              <a:avLst/>
            </a:prstGeom>
          </p:spPr>
        </p:pic>
        <p:sp>
          <p:nvSpPr>
            <p:cNvPr id="14" name="TextBox 13"/>
            <p:cNvSpPr txBox="1"/>
            <p:nvPr/>
          </p:nvSpPr>
          <p:spPr>
            <a:xfrm>
              <a:off x="2057400" y="5511225"/>
              <a:ext cx="2819400" cy="646331"/>
            </a:xfrm>
            <a:prstGeom prst="rect">
              <a:avLst/>
            </a:prstGeom>
            <a:noFill/>
          </p:spPr>
          <p:txBody>
            <a:bodyPr wrap="square" rtlCol="0">
              <a:spAutoFit/>
            </a:bodyPr>
            <a:lstStyle/>
            <a:p>
              <a:r>
                <a:rPr lang="fi-FI" sz="900" b="1" dirty="0" smtClean="0"/>
                <a:t>Erkki Pöyhönen &amp; Maaret Pyhäjärvi</a:t>
              </a:r>
            </a:p>
            <a:p>
              <a:r>
                <a:rPr lang="fi-FI" sz="900" dirty="0" smtClean="0"/>
                <a:t>Nimeä |  Attribution (Finland)</a:t>
              </a:r>
            </a:p>
            <a:p>
              <a:pPr marL="0" lvl="1"/>
              <a:r>
                <a:rPr lang="fi-FI" sz="900" dirty="0" smtClean="0">
                  <a:hlinkClick r:id="rId4"/>
                </a:rPr>
                <a:t>http://creativecommons.org/licenses/by/1.0/fi/</a:t>
              </a:r>
              <a:endParaRPr lang="fi-FI" sz="900" dirty="0" smtClean="0"/>
            </a:p>
            <a:p>
              <a:pPr marL="0" lvl="1"/>
              <a:r>
                <a:rPr lang="fi-FI" sz="900" dirty="0" smtClean="0">
                  <a:hlinkClick r:id="rId5"/>
                </a:rPr>
                <a:t>http://creativecommons.org/licenses/by/1.0/fi/deed.en</a:t>
              </a:r>
              <a:endParaRPr lang="fi-FI" sz="900" dirty="0" smtClean="0"/>
            </a:p>
          </p:txBody>
        </p:sp>
      </p:grpSp>
      <p:pic>
        <p:nvPicPr>
          <p:cNvPr id="11" name="Picture 2" descr="C:\Documents and Settings\Maaret\My Documents\My Pictures\Microsoft Clip Organizer\j0078753.wmf"/>
          <p:cNvPicPr>
            <a:picLocks noChangeAspect="1" noChangeArrowheads="1"/>
          </p:cNvPicPr>
          <p:nvPr/>
        </p:nvPicPr>
        <p:blipFill>
          <a:blip r:embed="rId6" cstate="print"/>
          <a:srcRect/>
          <a:stretch>
            <a:fillRect/>
          </a:stretch>
        </p:blipFill>
        <p:spPr bwMode="auto">
          <a:xfrm>
            <a:off x="6096000" y="1066800"/>
            <a:ext cx="2409825" cy="2562225"/>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smtClean="0"/>
              <a:t>Agility Test: </a:t>
            </a:r>
            <a:br>
              <a:rPr lang="fi-FI" smtClean="0"/>
            </a:br>
            <a:r>
              <a:rPr lang="fi-FI" smtClean="0"/>
              <a:t>”The Nokia Test”</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Are iterations time-boxed to less than four weeks?</a:t>
            </a:r>
          </a:p>
          <a:p>
            <a:r>
              <a:rPr lang="en-US" dirty="0" smtClean="0"/>
              <a:t>Is the software tested and working at the end of an iteration?</a:t>
            </a:r>
          </a:p>
          <a:p>
            <a:r>
              <a:rPr lang="en-US" dirty="0" smtClean="0"/>
              <a:t>Do iterations start before specifications are complete?</a:t>
            </a:r>
          </a:p>
          <a:p>
            <a:r>
              <a:rPr lang="en-US" dirty="0" smtClean="0"/>
              <a:t>Does the team know who the product owner is?</a:t>
            </a:r>
          </a:p>
          <a:p>
            <a:r>
              <a:rPr lang="en-US" dirty="0" smtClean="0"/>
              <a:t>Is there a product backlog prioritized by business value?</a:t>
            </a:r>
          </a:p>
          <a:p>
            <a:r>
              <a:rPr lang="en-US" dirty="0" smtClean="0"/>
              <a:t>Does the product backlog have estimates created by the team?</a:t>
            </a:r>
          </a:p>
          <a:p>
            <a:r>
              <a:rPr lang="en-US" dirty="0" smtClean="0"/>
              <a:t>Does the team generate its </a:t>
            </a:r>
            <a:r>
              <a:rPr lang="en-US" dirty="0" err="1" smtClean="0"/>
              <a:t>burndown</a:t>
            </a:r>
            <a:r>
              <a:rPr lang="en-US" dirty="0" smtClean="0"/>
              <a:t> charts and knows its velocity?</a:t>
            </a:r>
          </a:p>
          <a:p>
            <a:r>
              <a:rPr lang="en-US" dirty="0" smtClean="0"/>
              <a:t>Is the team protected from project </a:t>
            </a:r>
            <a:br>
              <a:rPr lang="en-US" dirty="0" smtClean="0"/>
            </a:br>
            <a:r>
              <a:rPr lang="en-US" dirty="0" smtClean="0"/>
              <a:t>managers (or other people) </a:t>
            </a:r>
            <a:br>
              <a:rPr lang="en-US" dirty="0" smtClean="0"/>
            </a:br>
            <a:r>
              <a:rPr lang="en-US" dirty="0" smtClean="0"/>
              <a:t>disrupting its work?</a:t>
            </a:r>
          </a:p>
        </p:txBody>
      </p:sp>
      <p:sp>
        <p:nvSpPr>
          <p:cNvPr id="6" name="Footer Placeholder 5"/>
          <p:cNvSpPr>
            <a:spLocks noGrp="1"/>
          </p:cNvSpPr>
          <p:nvPr>
            <p:ph type="ftr" sz="quarter" idx="11"/>
          </p:nvPr>
        </p:nvSpPr>
        <p:spPr/>
        <p:txBody>
          <a:bodyPr/>
          <a:lstStyle/>
          <a:p>
            <a:r>
              <a:rPr lang="en-US" smtClean="0"/>
              <a:t>DAY 1</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pic>
        <p:nvPicPr>
          <p:cNvPr id="3074" name="Picture 2" descr="C:\New+Organized08\Sekalaista kalvomateriaalia\KetteräTestaus\3rdparty\NokiaTestPractices.png"/>
          <p:cNvPicPr>
            <a:picLocks noChangeAspect="1" noChangeArrowheads="1"/>
          </p:cNvPicPr>
          <p:nvPr/>
        </p:nvPicPr>
        <p:blipFill>
          <a:blip r:embed="rId3" cstate="print"/>
          <a:srcRect/>
          <a:stretch>
            <a:fillRect/>
          </a:stretch>
        </p:blipFill>
        <p:spPr bwMode="auto">
          <a:xfrm>
            <a:off x="5410200" y="4343400"/>
            <a:ext cx="3429000" cy="2346722"/>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fi-FI" dirty="0" smtClean="0"/>
              <a:t>Seven Pillars of a Good Agile Team</a:t>
            </a:r>
            <a:br>
              <a:rPr lang="fi-FI" dirty="0" smtClean="0"/>
            </a:br>
            <a:r>
              <a:rPr lang="fi-FI" sz="1200" dirty="0" smtClean="0"/>
              <a:t>Source: Brian Marick´s blog, www.exampler.com</a:t>
            </a:r>
            <a:endParaRPr lang="fi-FI" dirty="0"/>
          </a:p>
        </p:txBody>
      </p:sp>
      <p:sp>
        <p:nvSpPr>
          <p:cNvPr id="4" name="Footer Placeholder 3"/>
          <p:cNvSpPr>
            <a:spLocks noGrp="1"/>
          </p:cNvSpPr>
          <p:nvPr>
            <p:ph type="ftr" sz="quarter" idx="11"/>
          </p:nvPr>
        </p:nvSpPr>
        <p:spPr/>
        <p:txBody>
          <a:bodyPr/>
          <a:lstStyle/>
          <a:p>
            <a:r>
              <a:rPr lang="en-US" smtClean="0"/>
              <a:t>DAY 1</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32</a:t>
            </a:fld>
            <a:endParaRPr lang="en-US" dirty="0"/>
          </a:p>
        </p:txBody>
      </p:sp>
      <p:grpSp>
        <p:nvGrpSpPr>
          <p:cNvPr id="2" name="Group 20"/>
          <p:cNvGrpSpPr/>
          <p:nvPr/>
        </p:nvGrpSpPr>
        <p:grpSpPr>
          <a:xfrm>
            <a:off x="1447800" y="1524000"/>
            <a:ext cx="5181600" cy="4648200"/>
            <a:chOff x="2407920" y="1920240"/>
            <a:chExt cx="3718560" cy="3101902"/>
          </a:xfrm>
        </p:grpSpPr>
        <p:sp>
          <p:nvSpPr>
            <p:cNvPr id="13" name="Freeform 12"/>
            <p:cNvSpPr/>
            <p:nvPr/>
          </p:nvSpPr>
          <p:spPr>
            <a:xfrm>
              <a:off x="4343400" y="3352800"/>
              <a:ext cx="1709698" cy="1356360"/>
            </a:xfrm>
            <a:custGeom>
              <a:avLst/>
              <a:gdLst>
                <a:gd name="connsiteX0" fmla="*/ 0 w 1709698"/>
                <a:gd name="connsiteY0" fmla="*/ 0 h 1356360"/>
                <a:gd name="connsiteX1" fmla="*/ 60960 w 1709698"/>
                <a:gd name="connsiteY1" fmla="*/ 45720 h 1356360"/>
                <a:gd name="connsiteX2" fmla="*/ 152400 w 1709698"/>
                <a:gd name="connsiteY2" fmla="*/ 137160 h 1356360"/>
                <a:gd name="connsiteX3" fmla="*/ 289560 w 1709698"/>
                <a:gd name="connsiteY3" fmla="*/ 213360 h 1356360"/>
                <a:gd name="connsiteX4" fmla="*/ 381000 w 1709698"/>
                <a:gd name="connsiteY4" fmla="*/ 274320 h 1356360"/>
                <a:gd name="connsiteX5" fmla="*/ 426720 w 1709698"/>
                <a:gd name="connsiteY5" fmla="*/ 320040 h 1356360"/>
                <a:gd name="connsiteX6" fmla="*/ 472440 w 1709698"/>
                <a:gd name="connsiteY6" fmla="*/ 335280 h 1356360"/>
                <a:gd name="connsiteX7" fmla="*/ 563880 w 1709698"/>
                <a:gd name="connsiteY7" fmla="*/ 396240 h 1356360"/>
                <a:gd name="connsiteX8" fmla="*/ 609600 w 1709698"/>
                <a:gd name="connsiteY8" fmla="*/ 411480 h 1356360"/>
                <a:gd name="connsiteX9" fmla="*/ 701040 w 1709698"/>
                <a:gd name="connsiteY9" fmla="*/ 472440 h 1356360"/>
                <a:gd name="connsiteX10" fmla="*/ 762000 w 1709698"/>
                <a:gd name="connsiteY10" fmla="*/ 502920 h 1356360"/>
                <a:gd name="connsiteX11" fmla="*/ 807720 w 1709698"/>
                <a:gd name="connsiteY11" fmla="*/ 533400 h 1356360"/>
                <a:gd name="connsiteX12" fmla="*/ 853440 w 1709698"/>
                <a:gd name="connsiteY12" fmla="*/ 548640 h 1356360"/>
                <a:gd name="connsiteX13" fmla="*/ 883920 w 1709698"/>
                <a:gd name="connsiteY13" fmla="*/ 594360 h 1356360"/>
                <a:gd name="connsiteX14" fmla="*/ 975360 w 1709698"/>
                <a:gd name="connsiteY14" fmla="*/ 670560 h 1356360"/>
                <a:gd name="connsiteX15" fmla="*/ 1021080 w 1709698"/>
                <a:gd name="connsiteY15" fmla="*/ 731520 h 1356360"/>
                <a:gd name="connsiteX16" fmla="*/ 1112520 w 1709698"/>
                <a:gd name="connsiteY16" fmla="*/ 822960 h 1356360"/>
                <a:gd name="connsiteX17" fmla="*/ 1158240 w 1709698"/>
                <a:gd name="connsiteY17" fmla="*/ 868680 h 1356360"/>
                <a:gd name="connsiteX18" fmla="*/ 1203960 w 1709698"/>
                <a:gd name="connsiteY18" fmla="*/ 899160 h 1356360"/>
                <a:gd name="connsiteX19" fmla="*/ 1234440 w 1709698"/>
                <a:gd name="connsiteY19" fmla="*/ 944880 h 1356360"/>
                <a:gd name="connsiteX20" fmla="*/ 1325880 w 1709698"/>
                <a:gd name="connsiteY20" fmla="*/ 1005840 h 1356360"/>
                <a:gd name="connsiteX21" fmla="*/ 1417320 w 1709698"/>
                <a:gd name="connsiteY21" fmla="*/ 1066800 h 1356360"/>
                <a:gd name="connsiteX22" fmla="*/ 1463040 w 1709698"/>
                <a:gd name="connsiteY22" fmla="*/ 1097280 h 1356360"/>
                <a:gd name="connsiteX23" fmla="*/ 1508760 w 1709698"/>
                <a:gd name="connsiteY23" fmla="*/ 1127760 h 1356360"/>
                <a:gd name="connsiteX24" fmla="*/ 1539240 w 1709698"/>
                <a:gd name="connsiteY24" fmla="*/ 1173480 h 1356360"/>
                <a:gd name="connsiteX25" fmla="*/ 1676400 w 1709698"/>
                <a:gd name="connsiteY25" fmla="*/ 1295400 h 1356360"/>
                <a:gd name="connsiteX26" fmla="*/ 1706880 w 1709698"/>
                <a:gd name="connsiteY26" fmla="*/ 1356360 h 135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09698" h="1356360">
                  <a:moveTo>
                    <a:pt x="0" y="0"/>
                  </a:moveTo>
                  <a:cubicBezTo>
                    <a:pt x="20320" y="15240"/>
                    <a:pt x="42080" y="28728"/>
                    <a:pt x="60960" y="45720"/>
                  </a:cubicBezTo>
                  <a:cubicBezTo>
                    <a:pt x="93000" y="74556"/>
                    <a:pt x="116534" y="113250"/>
                    <a:pt x="152400" y="137160"/>
                  </a:cubicBezTo>
                  <a:cubicBezTo>
                    <a:pt x="257206" y="207031"/>
                    <a:pt x="209087" y="186536"/>
                    <a:pt x="289560" y="213360"/>
                  </a:cubicBezTo>
                  <a:cubicBezTo>
                    <a:pt x="435411" y="359211"/>
                    <a:pt x="248667" y="186098"/>
                    <a:pt x="381000" y="274320"/>
                  </a:cubicBezTo>
                  <a:cubicBezTo>
                    <a:pt x="398933" y="286275"/>
                    <a:pt x="408787" y="308085"/>
                    <a:pt x="426720" y="320040"/>
                  </a:cubicBezTo>
                  <a:cubicBezTo>
                    <a:pt x="440086" y="328951"/>
                    <a:pt x="458397" y="327478"/>
                    <a:pt x="472440" y="335280"/>
                  </a:cubicBezTo>
                  <a:cubicBezTo>
                    <a:pt x="504462" y="353070"/>
                    <a:pt x="529127" y="384656"/>
                    <a:pt x="563880" y="396240"/>
                  </a:cubicBezTo>
                  <a:cubicBezTo>
                    <a:pt x="579120" y="401320"/>
                    <a:pt x="595557" y="403678"/>
                    <a:pt x="609600" y="411480"/>
                  </a:cubicBezTo>
                  <a:cubicBezTo>
                    <a:pt x="641622" y="429270"/>
                    <a:pt x="668275" y="456057"/>
                    <a:pt x="701040" y="472440"/>
                  </a:cubicBezTo>
                  <a:cubicBezTo>
                    <a:pt x="721360" y="482600"/>
                    <a:pt x="742275" y="491648"/>
                    <a:pt x="762000" y="502920"/>
                  </a:cubicBezTo>
                  <a:cubicBezTo>
                    <a:pt x="777903" y="512007"/>
                    <a:pt x="791337" y="525209"/>
                    <a:pt x="807720" y="533400"/>
                  </a:cubicBezTo>
                  <a:cubicBezTo>
                    <a:pt x="822088" y="540584"/>
                    <a:pt x="838200" y="543560"/>
                    <a:pt x="853440" y="548640"/>
                  </a:cubicBezTo>
                  <a:cubicBezTo>
                    <a:pt x="863600" y="563880"/>
                    <a:pt x="870968" y="581408"/>
                    <a:pt x="883920" y="594360"/>
                  </a:cubicBezTo>
                  <a:cubicBezTo>
                    <a:pt x="1025017" y="735457"/>
                    <a:pt x="825560" y="495793"/>
                    <a:pt x="975360" y="670560"/>
                  </a:cubicBezTo>
                  <a:cubicBezTo>
                    <a:pt x="991890" y="689845"/>
                    <a:pt x="1004088" y="712640"/>
                    <a:pt x="1021080" y="731520"/>
                  </a:cubicBezTo>
                  <a:cubicBezTo>
                    <a:pt x="1049916" y="763560"/>
                    <a:pt x="1082040" y="792480"/>
                    <a:pt x="1112520" y="822960"/>
                  </a:cubicBezTo>
                  <a:cubicBezTo>
                    <a:pt x="1127760" y="838200"/>
                    <a:pt x="1140307" y="856725"/>
                    <a:pt x="1158240" y="868680"/>
                  </a:cubicBezTo>
                  <a:lnTo>
                    <a:pt x="1203960" y="899160"/>
                  </a:lnTo>
                  <a:cubicBezTo>
                    <a:pt x="1214120" y="914400"/>
                    <a:pt x="1220656" y="932819"/>
                    <a:pt x="1234440" y="944880"/>
                  </a:cubicBezTo>
                  <a:cubicBezTo>
                    <a:pt x="1262009" y="969003"/>
                    <a:pt x="1295400" y="985520"/>
                    <a:pt x="1325880" y="1005840"/>
                  </a:cubicBezTo>
                  <a:lnTo>
                    <a:pt x="1417320" y="1066800"/>
                  </a:lnTo>
                  <a:lnTo>
                    <a:pt x="1463040" y="1097280"/>
                  </a:lnTo>
                  <a:lnTo>
                    <a:pt x="1508760" y="1127760"/>
                  </a:lnTo>
                  <a:cubicBezTo>
                    <a:pt x="1518920" y="1143000"/>
                    <a:pt x="1527071" y="1159790"/>
                    <a:pt x="1539240" y="1173480"/>
                  </a:cubicBezTo>
                  <a:cubicBezTo>
                    <a:pt x="1615161" y="1258891"/>
                    <a:pt x="1606912" y="1249075"/>
                    <a:pt x="1676400" y="1295400"/>
                  </a:cubicBezTo>
                  <a:cubicBezTo>
                    <a:pt x="1709698" y="1345347"/>
                    <a:pt x="1706880" y="1322804"/>
                    <a:pt x="1706880" y="135636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14" name="Freeform 13"/>
            <p:cNvSpPr/>
            <p:nvPr/>
          </p:nvSpPr>
          <p:spPr>
            <a:xfrm>
              <a:off x="4099037" y="3352800"/>
              <a:ext cx="277533" cy="1669342"/>
            </a:xfrm>
            <a:custGeom>
              <a:avLst/>
              <a:gdLst>
                <a:gd name="connsiteX0" fmla="*/ 277533 w 277533"/>
                <a:gd name="connsiteY0" fmla="*/ 0 h 1974447"/>
                <a:gd name="connsiteX1" fmla="*/ 262293 w 277533"/>
                <a:gd name="connsiteY1" fmla="*/ 289560 h 1974447"/>
                <a:gd name="connsiteX2" fmla="*/ 247053 w 277533"/>
                <a:gd name="connsiteY2" fmla="*/ 396240 h 1974447"/>
                <a:gd name="connsiteX3" fmla="*/ 231813 w 277533"/>
                <a:gd name="connsiteY3" fmla="*/ 533400 h 1974447"/>
                <a:gd name="connsiteX4" fmla="*/ 216573 w 277533"/>
                <a:gd name="connsiteY4" fmla="*/ 579120 h 1974447"/>
                <a:gd name="connsiteX5" fmla="*/ 201333 w 277533"/>
                <a:gd name="connsiteY5" fmla="*/ 655320 h 1974447"/>
                <a:gd name="connsiteX6" fmla="*/ 186093 w 277533"/>
                <a:gd name="connsiteY6" fmla="*/ 777240 h 1974447"/>
                <a:gd name="connsiteX7" fmla="*/ 155613 w 277533"/>
                <a:gd name="connsiteY7" fmla="*/ 883920 h 1974447"/>
                <a:gd name="connsiteX8" fmla="*/ 140373 w 277533"/>
                <a:gd name="connsiteY8" fmla="*/ 960120 h 1974447"/>
                <a:gd name="connsiteX9" fmla="*/ 125133 w 277533"/>
                <a:gd name="connsiteY9" fmla="*/ 1005840 h 1974447"/>
                <a:gd name="connsiteX10" fmla="*/ 109893 w 277533"/>
                <a:gd name="connsiteY10" fmla="*/ 1066800 h 1974447"/>
                <a:gd name="connsiteX11" fmla="*/ 79413 w 277533"/>
                <a:gd name="connsiteY11" fmla="*/ 1158240 h 1974447"/>
                <a:gd name="connsiteX12" fmla="*/ 64173 w 277533"/>
                <a:gd name="connsiteY12" fmla="*/ 1203960 h 1974447"/>
                <a:gd name="connsiteX13" fmla="*/ 48933 w 277533"/>
                <a:gd name="connsiteY13" fmla="*/ 1249680 h 1974447"/>
                <a:gd name="connsiteX14" fmla="*/ 33693 w 277533"/>
                <a:gd name="connsiteY14" fmla="*/ 1310640 h 1974447"/>
                <a:gd name="connsiteX15" fmla="*/ 18453 w 277533"/>
                <a:gd name="connsiteY15" fmla="*/ 1706880 h 1974447"/>
                <a:gd name="connsiteX16" fmla="*/ 3213 w 277533"/>
                <a:gd name="connsiteY16" fmla="*/ 1783080 h 1974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7533" h="1974447">
                  <a:moveTo>
                    <a:pt x="277533" y="0"/>
                  </a:moveTo>
                  <a:cubicBezTo>
                    <a:pt x="272453" y="96520"/>
                    <a:pt x="269706" y="193191"/>
                    <a:pt x="262293" y="289560"/>
                  </a:cubicBezTo>
                  <a:cubicBezTo>
                    <a:pt x="259538" y="325375"/>
                    <a:pt x="251508" y="360596"/>
                    <a:pt x="247053" y="396240"/>
                  </a:cubicBezTo>
                  <a:cubicBezTo>
                    <a:pt x="241347" y="441886"/>
                    <a:pt x="239376" y="488025"/>
                    <a:pt x="231813" y="533400"/>
                  </a:cubicBezTo>
                  <a:cubicBezTo>
                    <a:pt x="229172" y="549246"/>
                    <a:pt x="220469" y="563535"/>
                    <a:pt x="216573" y="579120"/>
                  </a:cubicBezTo>
                  <a:cubicBezTo>
                    <a:pt x="210291" y="604250"/>
                    <a:pt x="205272" y="629718"/>
                    <a:pt x="201333" y="655320"/>
                  </a:cubicBezTo>
                  <a:cubicBezTo>
                    <a:pt x="195105" y="695800"/>
                    <a:pt x="192826" y="736841"/>
                    <a:pt x="186093" y="777240"/>
                  </a:cubicBezTo>
                  <a:cubicBezTo>
                    <a:pt x="171840" y="862760"/>
                    <a:pt x="173731" y="811446"/>
                    <a:pt x="155613" y="883920"/>
                  </a:cubicBezTo>
                  <a:cubicBezTo>
                    <a:pt x="149331" y="909050"/>
                    <a:pt x="146655" y="934990"/>
                    <a:pt x="140373" y="960120"/>
                  </a:cubicBezTo>
                  <a:cubicBezTo>
                    <a:pt x="136477" y="975705"/>
                    <a:pt x="129546" y="990394"/>
                    <a:pt x="125133" y="1005840"/>
                  </a:cubicBezTo>
                  <a:cubicBezTo>
                    <a:pt x="119379" y="1025979"/>
                    <a:pt x="115912" y="1046738"/>
                    <a:pt x="109893" y="1066800"/>
                  </a:cubicBezTo>
                  <a:cubicBezTo>
                    <a:pt x="100661" y="1097574"/>
                    <a:pt x="89573" y="1127760"/>
                    <a:pt x="79413" y="1158240"/>
                  </a:cubicBezTo>
                  <a:lnTo>
                    <a:pt x="64173" y="1203960"/>
                  </a:lnTo>
                  <a:cubicBezTo>
                    <a:pt x="59093" y="1219200"/>
                    <a:pt x="52829" y="1234095"/>
                    <a:pt x="48933" y="1249680"/>
                  </a:cubicBezTo>
                  <a:lnTo>
                    <a:pt x="33693" y="1310640"/>
                  </a:lnTo>
                  <a:cubicBezTo>
                    <a:pt x="28613" y="1442720"/>
                    <a:pt x="27547" y="1575016"/>
                    <a:pt x="18453" y="1706880"/>
                  </a:cubicBezTo>
                  <a:cubicBezTo>
                    <a:pt x="0" y="1974447"/>
                    <a:pt x="3213" y="1602323"/>
                    <a:pt x="3213" y="178308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16" name="Freeform 15"/>
            <p:cNvSpPr/>
            <p:nvPr/>
          </p:nvSpPr>
          <p:spPr>
            <a:xfrm>
              <a:off x="2407920" y="3337560"/>
              <a:ext cx="1981200" cy="1082040"/>
            </a:xfrm>
            <a:custGeom>
              <a:avLst/>
              <a:gdLst>
                <a:gd name="connsiteX0" fmla="*/ 1981200 w 1981200"/>
                <a:gd name="connsiteY0" fmla="*/ 0 h 1082040"/>
                <a:gd name="connsiteX1" fmla="*/ 1935480 w 1981200"/>
                <a:gd name="connsiteY1" fmla="*/ 30480 h 1082040"/>
                <a:gd name="connsiteX2" fmla="*/ 1813560 w 1981200"/>
                <a:gd name="connsiteY2" fmla="*/ 76200 h 1082040"/>
                <a:gd name="connsiteX3" fmla="*/ 1676400 w 1981200"/>
                <a:gd name="connsiteY3" fmla="*/ 167640 h 1082040"/>
                <a:gd name="connsiteX4" fmla="*/ 1630680 w 1981200"/>
                <a:gd name="connsiteY4" fmla="*/ 198120 h 1082040"/>
                <a:gd name="connsiteX5" fmla="*/ 1584960 w 1981200"/>
                <a:gd name="connsiteY5" fmla="*/ 213360 h 1082040"/>
                <a:gd name="connsiteX6" fmla="*/ 1493520 w 1981200"/>
                <a:gd name="connsiteY6" fmla="*/ 274320 h 1082040"/>
                <a:gd name="connsiteX7" fmla="*/ 1402080 w 1981200"/>
                <a:gd name="connsiteY7" fmla="*/ 304800 h 1082040"/>
                <a:gd name="connsiteX8" fmla="*/ 1280160 w 1981200"/>
                <a:gd name="connsiteY8" fmla="*/ 396240 h 1082040"/>
                <a:gd name="connsiteX9" fmla="*/ 1188720 w 1981200"/>
                <a:gd name="connsiteY9" fmla="*/ 472440 h 1082040"/>
                <a:gd name="connsiteX10" fmla="*/ 1158240 w 1981200"/>
                <a:gd name="connsiteY10" fmla="*/ 518160 h 1082040"/>
                <a:gd name="connsiteX11" fmla="*/ 1021080 w 1981200"/>
                <a:gd name="connsiteY11" fmla="*/ 594360 h 1082040"/>
                <a:gd name="connsiteX12" fmla="*/ 960120 w 1981200"/>
                <a:gd name="connsiteY12" fmla="*/ 624840 h 1082040"/>
                <a:gd name="connsiteX13" fmla="*/ 914400 w 1981200"/>
                <a:gd name="connsiteY13" fmla="*/ 640080 h 1082040"/>
                <a:gd name="connsiteX14" fmla="*/ 746760 w 1981200"/>
                <a:gd name="connsiteY14" fmla="*/ 670560 h 1082040"/>
                <a:gd name="connsiteX15" fmla="*/ 594360 w 1981200"/>
                <a:gd name="connsiteY15" fmla="*/ 716280 h 1082040"/>
                <a:gd name="connsiteX16" fmla="*/ 457200 w 1981200"/>
                <a:gd name="connsiteY16" fmla="*/ 807720 h 1082040"/>
                <a:gd name="connsiteX17" fmla="*/ 411480 w 1981200"/>
                <a:gd name="connsiteY17" fmla="*/ 838200 h 1082040"/>
                <a:gd name="connsiteX18" fmla="*/ 365760 w 1981200"/>
                <a:gd name="connsiteY18" fmla="*/ 853440 h 1082040"/>
                <a:gd name="connsiteX19" fmla="*/ 274320 w 1981200"/>
                <a:gd name="connsiteY19" fmla="*/ 914400 h 1082040"/>
                <a:gd name="connsiteX20" fmla="*/ 213360 w 1981200"/>
                <a:gd name="connsiteY20" fmla="*/ 944880 h 1082040"/>
                <a:gd name="connsiteX21" fmla="*/ 167640 w 1981200"/>
                <a:gd name="connsiteY21" fmla="*/ 975360 h 1082040"/>
                <a:gd name="connsiteX22" fmla="*/ 121920 w 1981200"/>
                <a:gd name="connsiteY22" fmla="*/ 990600 h 1082040"/>
                <a:gd name="connsiteX23" fmla="*/ 76200 w 1981200"/>
                <a:gd name="connsiteY23" fmla="*/ 1036320 h 1082040"/>
                <a:gd name="connsiteX24" fmla="*/ 0 w 1981200"/>
                <a:gd name="connsiteY24" fmla="*/ 1082040 h 1082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81200" h="1082040">
                  <a:moveTo>
                    <a:pt x="1981200" y="0"/>
                  </a:moveTo>
                  <a:cubicBezTo>
                    <a:pt x="1965960" y="10160"/>
                    <a:pt x="1952315" y="23265"/>
                    <a:pt x="1935480" y="30480"/>
                  </a:cubicBezTo>
                  <a:cubicBezTo>
                    <a:pt x="1808881" y="84737"/>
                    <a:pt x="1940543" y="10"/>
                    <a:pt x="1813560" y="76200"/>
                  </a:cubicBezTo>
                  <a:lnTo>
                    <a:pt x="1676400" y="167640"/>
                  </a:lnTo>
                  <a:cubicBezTo>
                    <a:pt x="1661160" y="177800"/>
                    <a:pt x="1648056" y="192328"/>
                    <a:pt x="1630680" y="198120"/>
                  </a:cubicBezTo>
                  <a:cubicBezTo>
                    <a:pt x="1615440" y="203200"/>
                    <a:pt x="1599003" y="205558"/>
                    <a:pt x="1584960" y="213360"/>
                  </a:cubicBezTo>
                  <a:cubicBezTo>
                    <a:pt x="1552938" y="231150"/>
                    <a:pt x="1528273" y="262736"/>
                    <a:pt x="1493520" y="274320"/>
                  </a:cubicBezTo>
                  <a:lnTo>
                    <a:pt x="1402080" y="304800"/>
                  </a:lnTo>
                  <a:cubicBezTo>
                    <a:pt x="1361440" y="335280"/>
                    <a:pt x="1308339" y="353972"/>
                    <a:pt x="1280160" y="396240"/>
                  </a:cubicBezTo>
                  <a:cubicBezTo>
                    <a:pt x="1237078" y="460863"/>
                    <a:pt x="1266063" y="433769"/>
                    <a:pt x="1188720" y="472440"/>
                  </a:cubicBezTo>
                  <a:cubicBezTo>
                    <a:pt x="1178560" y="487680"/>
                    <a:pt x="1172024" y="506099"/>
                    <a:pt x="1158240" y="518160"/>
                  </a:cubicBezTo>
                  <a:cubicBezTo>
                    <a:pt x="1063195" y="601324"/>
                    <a:pt x="1097272" y="561706"/>
                    <a:pt x="1021080" y="594360"/>
                  </a:cubicBezTo>
                  <a:cubicBezTo>
                    <a:pt x="1000198" y="603309"/>
                    <a:pt x="981002" y="615891"/>
                    <a:pt x="960120" y="624840"/>
                  </a:cubicBezTo>
                  <a:cubicBezTo>
                    <a:pt x="945355" y="631168"/>
                    <a:pt x="929846" y="635667"/>
                    <a:pt x="914400" y="640080"/>
                  </a:cubicBezTo>
                  <a:cubicBezTo>
                    <a:pt x="842544" y="660610"/>
                    <a:pt x="833097" y="658226"/>
                    <a:pt x="746760" y="670560"/>
                  </a:cubicBezTo>
                  <a:cubicBezTo>
                    <a:pt x="635449" y="707664"/>
                    <a:pt x="686489" y="693248"/>
                    <a:pt x="594360" y="716280"/>
                  </a:cubicBezTo>
                  <a:lnTo>
                    <a:pt x="457200" y="807720"/>
                  </a:lnTo>
                  <a:cubicBezTo>
                    <a:pt x="441960" y="817880"/>
                    <a:pt x="428856" y="832408"/>
                    <a:pt x="411480" y="838200"/>
                  </a:cubicBezTo>
                  <a:cubicBezTo>
                    <a:pt x="396240" y="843280"/>
                    <a:pt x="379803" y="845638"/>
                    <a:pt x="365760" y="853440"/>
                  </a:cubicBezTo>
                  <a:cubicBezTo>
                    <a:pt x="333738" y="871230"/>
                    <a:pt x="307085" y="898017"/>
                    <a:pt x="274320" y="914400"/>
                  </a:cubicBezTo>
                  <a:cubicBezTo>
                    <a:pt x="254000" y="924560"/>
                    <a:pt x="233085" y="933608"/>
                    <a:pt x="213360" y="944880"/>
                  </a:cubicBezTo>
                  <a:cubicBezTo>
                    <a:pt x="197457" y="953967"/>
                    <a:pt x="184023" y="967169"/>
                    <a:pt x="167640" y="975360"/>
                  </a:cubicBezTo>
                  <a:cubicBezTo>
                    <a:pt x="153272" y="982544"/>
                    <a:pt x="137160" y="985520"/>
                    <a:pt x="121920" y="990600"/>
                  </a:cubicBezTo>
                  <a:cubicBezTo>
                    <a:pt x="106680" y="1005840"/>
                    <a:pt x="92757" y="1022522"/>
                    <a:pt x="76200" y="1036320"/>
                  </a:cubicBezTo>
                  <a:cubicBezTo>
                    <a:pt x="48614" y="1059308"/>
                    <a:pt x="29755" y="1067163"/>
                    <a:pt x="0" y="108204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17" name="Freeform 16"/>
            <p:cNvSpPr/>
            <p:nvPr/>
          </p:nvSpPr>
          <p:spPr>
            <a:xfrm>
              <a:off x="2423160" y="3088901"/>
              <a:ext cx="1950720" cy="294379"/>
            </a:xfrm>
            <a:custGeom>
              <a:avLst/>
              <a:gdLst>
                <a:gd name="connsiteX0" fmla="*/ 1950720 w 1950720"/>
                <a:gd name="connsiteY0" fmla="*/ 294379 h 294379"/>
                <a:gd name="connsiteX1" fmla="*/ 975360 w 1950720"/>
                <a:gd name="connsiteY1" fmla="*/ 263899 h 294379"/>
                <a:gd name="connsiteX2" fmla="*/ 868680 w 1950720"/>
                <a:gd name="connsiteY2" fmla="*/ 248659 h 294379"/>
                <a:gd name="connsiteX3" fmla="*/ 746760 w 1950720"/>
                <a:gd name="connsiteY3" fmla="*/ 218179 h 294379"/>
                <a:gd name="connsiteX4" fmla="*/ 563880 w 1950720"/>
                <a:gd name="connsiteY4" fmla="*/ 187699 h 294379"/>
                <a:gd name="connsiteX5" fmla="*/ 457200 w 1950720"/>
                <a:gd name="connsiteY5" fmla="*/ 126739 h 294379"/>
                <a:gd name="connsiteX6" fmla="*/ 350520 w 1950720"/>
                <a:gd name="connsiteY6" fmla="*/ 96259 h 294379"/>
                <a:gd name="connsiteX7" fmla="*/ 304800 w 1950720"/>
                <a:gd name="connsiteY7" fmla="*/ 65779 h 294379"/>
                <a:gd name="connsiteX8" fmla="*/ 91440 w 1950720"/>
                <a:gd name="connsiteY8" fmla="*/ 20059 h 294379"/>
                <a:gd name="connsiteX9" fmla="*/ 0 w 1950720"/>
                <a:gd name="connsiteY9" fmla="*/ 4819 h 294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0720" h="294379">
                  <a:moveTo>
                    <a:pt x="1950720" y="294379"/>
                  </a:moveTo>
                  <a:lnTo>
                    <a:pt x="975360" y="263899"/>
                  </a:lnTo>
                  <a:cubicBezTo>
                    <a:pt x="939800" y="258819"/>
                    <a:pt x="903903" y="255704"/>
                    <a:pt x="868680" y="248659"/>
                  </a:cubicBezTo>
                  <a:cubicBezTo>
                    <a:pt x="827603" y="240444"/>
                    <a:pt x="788327" y="223375"/>
                    <a:pt x="746760" y="218179"/>
                  </a:cubicBezTo>
                  <a:cubicBezTo>
                    <a:pt x="604056" y="200341"/>
                    <a:pt x="664573" y="212872"/>
                    <a:pt x="563880" y="187699"/>
                  </a:cubicBezTo>
                  <a:cubicBezTo>
                    <a:pt x="517964" y="157088"/>
                    <a:pt x="511340" y="149942"/>
                    <a:pt x="457200" y="126739"/>
                  </a:cubicBezTo>
                  <a:cubicBezTo>
                    <a:pt x="426591" y="113621"/>
                    <a:pt x="381454" y="103993"/>
                    <a:pt x="350520" y="96259"/>
                  </a:cubicBezTo>
                  <a:cubicBezTo>
                    <a:pt x="335280" y="86099"/>
                    <a:pt x="322013" y="72038"/>
                    <a:pt x="304800" y="65779"/>
                  </a:cubicBezTo>
                  <a:cubicBezTo>
                    <a:pt x="204257" y="29218"/>
                    <a:pt x="186320" y="41143"/>
                    <a:pt x="91440" y="20059"/>
                  </a:cubicBezTo>
                  <a:cubicBezTo>
                    <a:pt x="1173" y="0"/>
                    <a:pt x="90329" y="4819"/>
                    <a:pt x="0" y="4819"/>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18" name="Freeform 17"/>
            <p:cNvSpPr/>
            <p:nvPr/>
          </p:nvSpPr>
          <p:spPr>
            <a:xfrm>
              <a:off x="3230880" y="2103120"/>
              <a:ext cx="1127760" cy="1310640"/>
            </a:xfrm>
            <a:custGeom>
              <a:avLst/>
              <a:gdLst>
                <a:gd name="connsiteX0" fmla="*/ 1127760 w 1127760"/>
                <a:gd name="connsiteY0" fmla="*/ 1310640 h 1310640"/>
                <a:gd name="connsiteX1" fmla="*/ 1082040 w 1127760"/>
                <a:gd name="connsiteY1" fmla="*/ 1249680 h 1310640"/>
                <a:gd name="connsiteX2" fmla="*/ 1066800 w 1127760"/>
                <a:gd name="connsiteY2" fmla="*/ 1203960 h 1310640"/>
                <a:gd name="connsiteX3" fmla="*/ 1021080 w 1127760"/>
                <a:gd name="connsiteY3" fmla="*/ 1173480 h 1310640"/>
                <a:gd name="connsiteX4" fmla="*/ 975360 w 1127760"/>
                <a:gd name="connsiteY4" fmla="*/ 1112520 h 1310640"/>
                <a:gd name="connsiteX5" fmla="*/ 838200 w 1127760"/>
                <a:gd name="connsiteY5" fmla="*/ 990600 h 1310640"/>
                <a:gd name="connsiteX6" fmla="*/ 822960 w 1127760"/>
                <a:gd name="connsiteY6" fmla="*/ 944880 h 1310640"/>
                <a:gd name="connsiteX7" fmla="*/ 731520 w 1127760"/>
                <a:gd name="connsiteY7" fmla="*/ 883920 h 1310640"/>
                <a:gd name="connsiteX8" fmla="*/ 685800 w 1127760"/>
                <a:gd name="connsiteY8" fmla="*/ 792480 h 1310640"/>
                <a:gd name="connsiteX9" fmla="*/ 655320 w 1127760"/>
                <a:gd name="connsiteY9" fmla="*/ 731520 h 1310640"/>
                <a:gd name="connsiteX10" fmla="*/ 594360 w 1127760"/>
                <a:gd name="connsiteY10" fmla="*/ 640080 h 1310640"/>
                <a:gd name="connsiteX11" fmla="*/ 533400 w 1127760"/>
                <a:gd name="connsiteY11" fmla="*/ 487680 h 1310640"/>
                <a:gd name="connsiteX12" fmla="*/ 487680 w 1127760"/>
                <a:gd name="connsiteY12" fmla="*/ 441960 h 1310640"/>
                <a:gd name="connsiteX13" fmla="*/ 472440 w 1127760"/>
                <a:gd name="connsiteY13" fmla="*/ 396240 h 1310640"/>
                <a:gd name="connsiteX14" fmla="*/ 320040 w 1127760"/>
                <a:gd name="connsiteY14" fmla="*/ 213360 h 1310640"/>
                <a:gd name="connsiteX15" fmla="*/ 274320 w 1127760"/>
                <a:gd name="connsiteY15" fmla="*/ 167640 h 1310640"/>
                <a:gd name="connsiteX16" fmla="*/ 228600 w 1127760"/>
                <a:gd name="connsiteY16" fmla="*/ 121920 h 1310640"/>
                <a:gd name="connsiteX17" fmla="*/ 137160 w 1127760"/>
                <a:gd name="connsiteY17" fmla="*/ 60960 h 1310640"/>
                <a:gd name="connsiteX18" fmla="*/ 91440 w 1127760"/>
                <a:gd name="connsiteY18" fmla="*/ 30480 h 1310640"/>
                <a:gd name="connsiteX19" fmla="*/ 0 w 1127760"/>
                <a:gd name="connsiteY19" fmla="*/ 0 h 1310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27760" h="1310640">
                  <a:moveTo>
                    <a:pt x="1127760" y="1310640"/>
                  </a:moveTo>
                  <a:cubicBezTo>
                    <a:pt x="1112520" y="1290320"/>
                    <a:pt x="1094642" y="1271733"/>
                    <a:pt x="1082040" y="1249680"/>
                  </a:cubicBezTo>
                  <a:cubicBezTo>
                    <a:pt x="1074070" y="1235732"/>
                    <a:pt x="1076835" y="1216504"/>
                    <a:pt x="1066800" y="1203960"/>
                  </a:cubicBezTo>
                  <a:cubicBezTo>
                    <a:pt x="1055358" y="1189657"/>
                    <a:pt x="1034032" y="1186432"/>
                    <a:pt x="1021080" y="1173480"/>
                  </a:cubicBezTo>
                  <a:cubicBezTo>
                    <a:pt x="1003119" y="1155519"/>
                    <a:pt x="992352" y="1131400"/>
                    <a:pt x="975360" y="1112520"/>
                  </a:cubicBezTo>
                  <a:cubicBezTo>
                    <a:pt x="897066" y="1025527"/>
                    <a:pt x="908696" y="1037598"/>
                    <a:pt x="838200" y="990600"/>
                  </a:cubicBezTo>
                  <a:cubicBezTo>
                    <a:pt x="833120" y="975360"/>
                    <a:pt x="834319" y="956239"/>
                    <a:pt x="822960" y="944880"/>
                  </a:cubicBezTo>
                  <a:cubicBezTo>
                    <a:pt x="797057" y="918977"/>
                    <a:pt x="731520" y="883920"/>
                    <a:pt x="731520" y="883920"/>
                  </a:cubicBezTo>
                  <a:cubicBezTo>
                    <a:pt x="703578" y="800095"/>
                    <a:pt x="733069" y="875201"/>
                    <a:pt x="685800" y="792480"/>
                  </a:cubicBezTo>
                  <a:cubicBezTo>
                    <a:pt x="674528" y="772755"/>
                    <a:pt x="667009" y="751001"/>
                    <a:pt x="655320" y="731520"/>
                  </a:cubicBezTo>
                  <a:cubicBezTo>
                    <a:pt x="636473" y="700108"/>
                    <a:pt x="605944" y="674833"/>
                    <a:pt x="594360" y="640080"/>
                  </a:cubicBezTo>
                  <a:cubicBezTo>
                    <a:pt x="580480" y="598441"/>
                    <a:pt x="561430" y="526922"/>
                    <a:pt x="533400" y="487680"/>
                  </a:cubicBezTo>
                  <a:cubicBezTo>
                    <a:pt x="520873" y="470142"/>
                    <a:pt x="502920" y="457200"/>
                    <a:pt x="487680" y="441960"/>
                  </a:cubicBezTo>
                  <a:cubicBezTo>
                    <a:pt x="482600" y="426720"/>
                    <a:pt x="480242" y="410283"/>
                    <a:pt x="472440" y="396240"/>
                  </a:cubicBezTo>
                  <a:cubicBezTo>
                    <a:pt x="419396" y="300761"/>
                    <a:pt x="399933" y="293253"/>
                    <a:pt x="320040" y="213360"/>
                  </a:cubicBezTo>
                  <a:lnTo>
                    <a:pt x="274320" y="167640"/>
                  </a:lnTo>
                  <a:cubicBezTo>
                    <a:pt x="259080" y="152400"/>
                    <a:pt x="246533" y="133875"/>
                    <a:pt x="228600" y="121920"/>
                  </a:cubicBezTo>
                  <a:lnTo>
                    <a:pt x="137160" y="60960"/>
                  </a:lnTo>
                  <a:cubicBezTo>
                    <a:pt x="121920" y="50800"/>
                    <a:pt x="108816" y="36272"/>
                    <a:pt x="91440" y="30480"/>
                  </a:cubicBezTo>
                  <a:lnTo>
                    <a:pt x="0" y="0"/>
                  </a:ln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19" name="Freeform 18"/>
            <p:cNvSpPr/>
            <p:nvPr/>
          </p:nvSpPr>
          <p:spPr>
            <a:xfrm>
              <a:off x="4389120" y="1920240"/>
              <a:ext cx="582658" cy="1478280"/>
            </a:xfrm>
            <a:custGeom>
              <a:avLst/>
              <a:gdLst>
                <a:gd name="connsiteX0" fmla="*/ 0 w 582658"/>
                <a:gd name="connsiteY0" fmla="*/ 1478280 h 1478280"/>
                <a:gd name="connsiteX1" fmla="*/ 15240 w 582658"/>
                <a:gd name="connsiteY1" fmla="*/ 1371600 h 1478280"/>
                <a:gd name="connsiteX2" fmla="*/ 45720 w 582658"/>
                <a:gd name="connsiteY2" fmla="*/ 1325880 h 1478280"/>
                <a:gd name="connsiteX3" fmla="*/ 76200 w 582658"/>
                <a:gd name="connsiteY3" fmla="*/ 1264920 h 1478280"/>
                <a:gd name="connsiteX4" fmla="*/ 121920 w 582658"/>
                <a:gd name="connsiteY4" fmla="*/ 1203960 h 1478280"/>
                <a:gd name="connsiteX5" fmla="*/ 152400 w 582658"/>
                <a:gd name="connsiteY5" fmla="*/ 1158240 h 1478280"/>
                <a:gd name="connsiteX6" fmla="*/ 198120 w 582658"/>
                <a:gd name="connsiteY6" fmla="*/ 1112520 h 1478280"/>
                <a:gd name="connsiteX7" fmla="*/ 274320 w 582658"/>
                <a:gd name="connsiteY7" fmla="*/ 1005840 h 1478280"/>
                <a:gd name="connsiteX8" fmla="*/ 335280 w 582658"/>
                <a:gd name="connsiteY8" fmla="*/ 914400 h 1478280"/>
                <a:gd name="connsiteX9" fmla="*/ 365760 w 582658"/>
                <a:gd name="connsiteY9" fmla="*/ 822960 h 1478280"/>
                <a:gd name="connsiteX10" fmla="*/ 381000 w 582658"/>
                <a:gd name="connsiteY10" fmla="*/ 777240 h 1478280"/>
                <a:gd name="connsiteX11" fmla="*/ 396240 w 582658"/>
                <a:gd name="connsiteY11" fmla="*/ 701040 h 1478280"/>
                <a:gd name="connsiteX12" fmla="*/ 441960 w 582658"/>
                <a:gd name="connsiteY12" fmla="*/ 426720 h 1478280"/>
                <a:gd name="connsiteX13" fmla="*/ 472440 w 582658"/>
                <a:gd name="connsiteY13" fmla="*/ 335280 h 1478280"/>
                <a:gd name="connsiteX14" fmla="*/ 502920 w 582658"/>
                <a:gd name="connsiteY14" fmla="*/ 289560 h 1478280"/>
                <a:gd name="connsiteX15" fmla="*/ 533400 w 582658"/>
                <a:gd name="connsiteY15" fmla="*/ 198120 h 1478280"/>
                <a:gd name="connsiteX16" fmla="*/ 579120 w 582658"/>
                <a:gd name="connsiteY16" fmla="*/ 106680 h 1478280"/>
                <a:gd name="connsiteX17" fmla="*/ 579120 w 582658"/>
                <a:gd name="connsiteY17" fmla="*/ 0 h 1478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2658" h="1478280">
                  <a:moveTo>
                    <a:pt x="0" y="1478280"/>
                  </a:moveTo>
                  <a:cubicBezTo>
                    <a:pt x="5080" y="1442720"/>
                    <a:pt x="4918" y="1406006"/>
                    <a:pt x="15240" y="1371600"/>
                  </a:cubicBezTo>
                  <a:cubicBezTo>
                    <a:pt x="20503" y="1354056"/>
                    <a:pt x="36633" y="1341783"/>
                    <a:pt x="45720" y="1325880"/>
                  </a:cubicBezTo>
                  <a:cubicBezTo>
                    <a:pt x="56992" y="1306155"/>
                    <a:pt x="64159" y="1284185"/>
                    <a:pt x="76200" y="1264920"/>
                  </a:cubicBezTo>
                  <a:cubicBezTo>
                    <a:pt x="89662" y="1243381"/>
                    <a:pt x="107157" y="1224629"/>
                    <a:pt x="121920" y="1203960"/>
                  </a:cubicBezTo>
                  <a:cubicBezTo>
                    <a:pt x="132566" y="1189055"/>
                    <a:pt x="140674" y="1172311"/>
                    <a:pt x="152400" y="1158240"/>
                  </a:cubicBezTo>
                  <a:cubicBezTo>
                    <a:pt x="166198" y="1141683"/>
                    <a:pt x="185593" y="1130058"/>
                    <a:pt x="198120" y="1112520"/>
                  </a:cubicBezTo>
                  <a:cubicBezTo>
                    <a:pt x="298417" y="972105"/>
                    <a:pt x="155446" y="1124714"/>
                    <a:pt x="274320" y="1005840"/>
                  </a:cubicBezTo>
                  <a:cubicBezTo>
                    <a:pt x="324738" y="854585"/>
                    <a:pt x="240148" y="1085638"/>
                    <a:pt x="335280" y="914400"/>
                  </a:cubicBezTo>
                  <a:cubicBezTo>
                    <a:pt x="350883" y="886314"/>
                    <a:pt x="355600" y="853440"/>
                    <a:pt x="365760" y="822960"/>
                  </a:cubicBezTo>
                  <a:cubicBezTo>
                    <a:pt x="370840" y="807720"/>
                    <a:pt x="377850" y="792992"/>
                    <a:pt x="381000" y="777240"/>
                  </a:cubicBezTo>
                  <a:cubicBezTo>
                    <a:pt x="386080" y="751840"/>
                    <a:pt x="392817" y="726716"/>
                    <a:pt x="396240" y="701040"/>
                  </a:cubicBezTo>
                  <a:cubicBezTo>
                    <a:pt x="414822" y="561672"/>
                    <a:pt x="399775" y="553274"/>
                    <a:pt x="441960" y="426720"/>
                  </a:cubicBezTo>
                  <a:cubicBezTo>
                    <a:pt x="452120" y="396240"/>
                    <a:pt x="454618" y="362013"/>
                    <a:pt x="472440" y="335280"/>
                  </a:cubicBezTo>
                  <a:cubicBezTo>
                    <a:pt x="482600" y="320040"/>
                    <a:pt x="495481" y="306298"/>
                    <a:pt x="502920" y="289560"/>
                  </a:cubicBezTo>
                  <a:cubicBezTo>
                    <a:pt x="515969" y="260200"/>
                    <a:pt x="515578" y="224853"/>
                    <a:pt x="533400" y="198120"/>
                  </a:cubicBezTo>
                  <a:cubicBezTo>
                    <a:pt x="553042" y="168656"/>
                    <a:pt x="575408" y="143795"/>
                    <a:pt x="579120" y="106680"/>
                  </a:cubicBezTo>
                  <a:cubicBezTo>
                    <a:pt x="582658" y="71296"/>
                    <a:pt x="579120" y="35560"/>
                    <a:pt x="579120" y="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20" name="Freeform 19"/>
            <p:cNvSpPr/>
            <p:nvPr/>
          </p:nvSpPr>
          <p:spPr>
            <a:xfrm>
              <a:off x="4419600" y="3002280"/>
              <a:ext cx="1706880" cy="426720"/>
            </a:xfrm>
            <a:custGeom>
              <a:avLst/>
              <a:gdLst>
                <a:gd name="connsiteX0" fmla="*/ 0 w 1706880"/>
                <a:gd name="connsiteY0" fmla="*/ 426720 h 426720"/>
                <a:gd name="connsiteX1" fmla="*/ 182880 w 1706880"/>
                <a:gd name="connsiteY1" fmla="*/ 350520 h 426720"/>
                <a:gd name="connsiteX2" fmla="*/ 243840 w 1706880"/>
                <a:gd name="connsiteY2" fmla="*/ 320040 h 426720"/>
                <a:gd name="connsiteX3" fmla="*/ 365760 w 1706880"/>
                <a:gd name="connsiteY3" fmla="*/ 289560 h 426720"/>
                <a:gd name="connsiteX4" fmla="*/ 426720 w 1706880"/>
                <a:gd name="connsiteY4" fmla="*/ 259080 h 426720"/>
                <a:gd name="connsiteX5" fmla="*/ 563880 w 1706880"/>
                <a:gd name="connsiteY5" fmla="*/ 228600 h 426720"/>
                <a:gd name="connsiteX6" fmla="*/ 609600 w 1706880"/>
                <a:gd name="connsiteY6" fmla="*/ 198120 h 426720"/>
                <a:gd name="connsiteX7" fmla="*/ 746760 w 1706880"/>
                <a:gd name="connsiteY7" fmla="*/ 167640 h 426720"/>
                <a:gd name="connsiteX8" fmla="*/ 838200 w 1706880"/>
                <a:gd name="connsiteY8" fmla="*/ 137160 h 426720"/>
                <a:gd name="connsiteX9" fmla="*/ 883920 w 1706880"/>
                <a:gd name="connsiteY9" fmla="*/ 121920 h 426720"/>
                <a:gd name="connsiteX10" fmla="*/ 929640 w 1706880"/>
                <a:gd name="connsiteY10" fmla="*/ 91440 h 426720"/>
                <a:gd name="connsiteX11" fmla="*/ 1021080 w 1706880"/>
                <a:gd name="connsiteY11" fmla="*/ 45720 h 426720"/>
                <a:gd name="connsiteX12" fmla="*/ 1554480 w 1706880"/>
                <a:gd name="connsiteY12" fmla="*/ 45720 h 426720"/>
                <a:gd name="connsiteX13" fmla="*/ 1600200 w 1706880"/>
                <a:gd name="connsiteY13" fmla="*/ 30480 h 426720"/>
                <a:gd name="connsiteX14" fmla="*/ 1706880 w 1706880"/>
                <a:gd name="connsiteY14"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6880" h="426720">
                  <a:moveTo>
                    <a:pt x="0" y="426720"/>
                  </a:moveTo>
                  <a:cubicBezTo>
                    <a:pt x="60960" y="401320"/>
                    <a:pt x="122377" y="376990"/>
                    <a:pt x="182880" y="350520"/>
                  </a:cubicBezTo>
                  <a:cubicBezTo>
                    <a:pt x="203694" y="341414"/>
                    <a:pt x="222287" y="327224"/>
                    <a:pt x="243840" y="320040"/>
                  </a:cubicBezTo>
                  <a:cubicBezTo>
                    <a:pt x="283581" y="306793"/>
                    <a:pt x="326019" y="302807"/>
                    <a:pt x="365760" y="289560"/>
                  </a:cubicBezTo>
                  <a:cubicBezTo>
                    <a:pt x="387313" y="282376"/>
                    <a:pt x="404960" y="265608"/>
                    <a:pt x="426720" y="259080"/>
                  </a:cubicBezTo>
                  <a:cubicBezTo>
                    <a:pt x="485253" y="241520"/>
                    <a:pt x="514191" y="253445"/>
                    <a:pt x="563880" y="228600"/>
                  </a:cubicBezTo>
                  <a:cubicBezTo>
                    <a:pt x="580263" y="220409"/>
                    <a:pt x="593217" y="206311"/>
                    <a:pt x="609600" y="198120"/>
                  </a:cubicBezTo>
                  <a:cubicBezTo>
                    <a:pt x="653203" y="176318"/>
                    <a:pt x="699934" y="179347"/>
                    <a:pt x="746760" y="167640"/>
                  </a:cubicBezTo>
                  <a:cubicBezTo>
                    <a:pt x="777929" y="159848"/>
                    <a:pt x="807720" y="147320"/>
                    <a:pt x="838200" y="137160"/>
                  </a:cubicBezTo>
                  <a:cubicBezTo>
                    <a:pt x="853440" y="132080"/>
                    <a:pt x="870554" y="130831"/>
                    <a:pt x="883920" y="121920"/>
                  </a:cubicBezTo>
                  <a:cubicBezTo>
                    <a:pt x="899160" y="111760"/>
                    <a:pt x="913257" y="99631"/>
                    <a:pt x="929640" y="91440"/>
                  </a:cubicBezTo>
                  <a:cubicBezTo>
                    <a:pt x="1055833" y="28344"/>
                    <a:pt x="890053" y="133071"/>
                    <a:pt x="1021080" y="45720"/>
                  </a:cubicBezTo>
                  <a:cubicBezTo>
                    <a:pt x="1260239" y="55286"/>
                    <a:pt x="1353073" y="76706"/>
                    <a:pt x="1554480" y="45720"/>
                  </a:cubicBezTo>
                  <a:cubicBezTo>
                    <a:pt x="1570358" y="43277"/>
                    <a:pt x="1584615" y="34376"/>
                    <a:pt x="1600200" y="30480"/>
                  </a:cubicBezTo>
                  <a:cubicBezTo>
                    <a:pt x="1705006" y="4278"/>
                    <a:pt x="1645572" y="30654"/>
                    <a:pt x="1706880" y="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grpSp>
      <p:sp>
        <p:nvSpPr>
          <p:cNvPr id="22" name="TextBox 21"/>
          <p:cNvSpPr txBox="1"/>
          <p:nvPr/>
        </p:nvSpPr>
        <p:spPr>
          <a:xfrm>
            <a:off x="457200" y="5257800"/>
            <a:ext cx="1447800" cy="646331"/>
          </a:xfrm>
          <a:prstGeom prst="rect">
            <a:avLst/>
          </a:prstGeom>
          <a:noFill/>
        </p:spPr>
        <p:txBody>
          <a:bodyPr wrap="square" rtlCol="0">
            <a:spAutoFit/>
          </a:bodyPr>
          <a:lstStyle/>
          <a:p>
            <a:pPr algn="ctr"/>
            <a:r>
              <a:rPr lang="fi-FI" dirty="0" smtClean="0">
                <a:latin typeface="Comic Sans MS" pitchFamily="66" charset="0"/>
              </a:rPr>
              <a:t>Technical Excellence</a:t>
            </a:r>
            <a:endParaRPr lang="fi-FI" dirty="0">
              <a:latin typeface="Comic Sans MS" pitchFamily="66" charset="0"/>
            </a:endParaRPr>
          </a:p>
        </p:txBody>
      </p:sp>
      <p:sp>
        <p:nvSpPr>
          <p:cNvPr id="23" name="TextBox 22"/>
          <p:cNvSpPr txBox="1"/>
          <p:nvPr/>
        </p:nvSpPr>
        <p:spPr>
          <a:xfrm>
            <a:off x="3352800" y="6019800"/>
            <a:ext cx="1447800" cy="369332"/>
          </a:xfrm>
          <a:prstGeom prst="rect">
            <a:avLst/>
          </a:prstGeom>
          <a:noFill/>
        </p:spPr>
        <p:txBody>
          <a:bodyPr wrap="square" rtlCol="0">
            <a:spAutoFit/>
          </a:bodyPr>
          <a:lstStyle/>
          <a:p>
            <a:pPr algn="ctr"/>
            <a:r>
              <a:rPr lang="fi-FI" dirty="0" smtClean="0">
                <a:latin typeface="Comic Sans MS" pitchFamily="66" charset="0"/>
              </a:rPr>
              <a:t>Confidence</a:t>
            </a:r>
            <a:endParaRPr lang="fi-FI" dirty="0">
              <a:latin typeface="Comic Sans MS" pitchFamily="66" charset="0"/>
            </a:endParaRPr>
          </a:p>
        </p:txBody>
      </p:sp>
      <p:sp>
        <p:nvSpPr>
          <p:cNvPr id="24" name="TextBox 23"/>
          <p:cNvSpPr txBox="1"/>
          <p:nvPr/>
        </p:nvSpPr>
        <p:spPr>
          <a:xfrm>
            <a:off x="228600" y="2630269"/>
            <a:ext cx="1981200" cy="646331"/>
          </a:xfrm>
          <a:prstGeom prst="rect">
            <a:avLst/>
          </a:prstGeom>
          <a:noFill/>
        </p:spPr>
        <p:txBody>
          <a:bodyPr wrap="square" rtlCol="0">
            <a:spAutoFit/>
          </a:bodyPr>
          <a:lstStyle/>
          <a:p>
            <a:pPr algn="ctr"/>
            <a:r>
              <a:rPr lang="fi-FI" dirty="0" smtClean="0">
                <a:latin typeface="Comic Sans MS" pitchFamily="66" charset="0"/>
              </a:rPr>
              <a:t>Self-improvement</a:t>
            </a:r>
            <a:endParaRPr lang="fi-FI" dirty="0">
              <a:latin typeface="Comic Sans MS" pitchFamily="66" charset="0"/>
            </a:endParaRPr>
          </a:p>
        </p:txBody>
      </p:sp>
      <p:sp>
        <p:nvSpPr>
          <p:cNvPr id="25" name="TextBox 24"/>
          <p:cNvSpPr txBox="1"/>
          <p:nvPr/>
        </p:nvSpPr>
        <p:spPr>
          <a:xfrm>
            <a:off x="1371600" y="1371600"/>
            <a:ext cx="1524000" cy="646331"/>
          </a:xfrm>
          <a:prstGeom prst="rect">
            <a:avLst/>
          </a:prstGeom>
          <a:noFill/>
        </p:spPr>
        <p:txBody>
          <a:bodyPr wrap="square" rtlCol="0">
            <a:spAutoFit/>
          </a:bodyPr>
          <a:lstStyle/>
          <a:p>
            <a:pPr algn="ctr"/>
            <a:r>
              <a:rPr lang="fi-FI" dirty="0" smtClean="0">
                <a:latin typeface="Comic Sans MS" pitchFamily="66" charset="0"/>
              </a:rPr>
              <a:t>Product Sense</a:t>
            </a:r>
            <a:endParaRPr lang="fi-FI" dirty="0">
              <a:latin typeface="Comic Sans MS" pitchFamily="66" charset="0"/>
            </a:endParaRPr>
          </a:p>
        </p:txBody>
      </p:sp>
      <p:sp>
        <p:nvSpPr>
          <p:cNvPr id="26" name="TextBox 25"/>
          <p:cNvSpPr txBox="1"/>
          <p:nvPr/>
        </p:nvSpPr>
        <p:spPr>
          <a:xfrm>
            <a:off x="4800600" y="1371600"/>
            <a:ext cx="1524000" cy="646331"/>
          </a:xfrm>
          <a:prstGeom prst="rect">
            <a:avLst/>
          </a:prstGeom>
          <a:noFill/>
        </p:spPr>
        <p:txBody>
          <a:bodyPr wrap="square" rtlCol="0">
            <a:spAutoFit/>
          </a:bodyPr>
          <a:lstStyle/>
          <a:p>
            <a:pPr algn="ctr"/>
            <a:r>
              <a:rPr lang="fi-FI" dirty="0" smtClean="0">
                <a:latin typeface="Comic Sans MS" pitchFamily="66" charset="0"/>
              </a:rPr>
              <a:t>Business Value</a:t>
            </a:r>
            <a:endParaRPr lang="fi-FI" dirty="0">
              <a:latin typeface="Comic Sans MS" pitchFamily="66" charset="0"/>
            </a:endParaRPr>
          </a:p>
        </p:txBody>
      </p:sp>
      <p:sp>
        <p:nvSpPr>
          <p:cNvPr id="27" name="TextBox 26"/>
          <p:cNvSpPr txBox="1"/>
          <p:nvPr/>
        </p:nvSpPr>
        <p:spPr>
          <a:xfrm>
            <a:off x="6172200" y="2819400"/>
            <a:ext cx="1676400" cy="369332"/>
          </a:xfrm>
          <a:prstGeom prst="rect">
            <a:avLst/>
          </a:prstGeom>
          <a:noFill/>
        </p:spPr>
        <p:txBody>
          <a:bodyPr wrap="square" rtlCol="0">
            <a:spAutoFit/>
          </a:bodyPr>
          <a:lstStyle/>
          <a:p>
            <a:pPr algn="ctr"/>
            <a:r>
              <a:rPr lang="fi-FI" dirty="0" smtClean="0">
                <a:latin typeface="Comic Sans MS" pitchFamily="66" charset="0"/>
              </a:rPr>
              <a:t>Collaboration</a:t>
            </a:r>
            <a:endParaRPr lang="fi-FI" dirty="0">
              <a:latin typeface="Comic Sans MS" pitchFamily="66" charset="0"/>
            </a:endParaRPr>
          </a:p>
        </p:txBody>
      </p:sp>
      <p:sp>
        <p:nvSpPr>
          <p:cNvPr id="28" name="TextBox 27"/>
          <p:cNvSpPr txBox="1"/>
          <p:nvPr/>
        </p:nvSpPr>
        <p:spPr>
          <a:xfrm>
            <a:off x="5638800" y="5943600"/>
            <a:ext cx="1676400" cy="646331"/>
          </a:xfrm>
          <a:prstGeom prst="rect">
            <a:avLst/>
          </a:prstGeom>
          <a:noFill/>
        </p:spPr>
        <p:txBody>
          <a:bodyPr wrap="square" rtlCol="0">
            <a:spAutoFit/>
          </a:bodyPr>
          <a:lstStyle/>
          <a:p>
            <a:pPr algn="ctr"/>
            <a:r>
              <a:rPr lang="fi-FI" dirty="0" smtClean="0">
                <a:latin typeface="Comic Sans MS" pitchFamily="66" charset="0"/>
              </a:rPr>
              <a:t>Supportive Culture</a:t>
            </a:r>
            <a:endParaRPr lang="fi-FI" dirty="0">
              <a:latin typeface="Comic Sans MS" pitchFamily="66" charset="0"/>
            </a:endParaRPr>
          </a:p>
        </p:txBody>
      </p:sp>
      <p:sp>
        <p:nvSpPr>
          <p:cNvPr id="30" name="Freeform 29"/>
          <p:cNvSpPr/>
          <p:nvPr/>
        </p:nvSpPr>
        <p:spPr>
          <a:xfrm>
            <a:off x="3947160" y="4267200"/>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1" name="Freeform 30"/>
          <p:cNvSpPr/>
          <p:nvPr/>
        </p:nvSpPr>
        <p:spPr>
          <a:xfrm>
            <a:off x="4526280" y="388620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2" name="Freeform 31"/>
          <p:cNvSpPr/>
          <p:nvPr/>
        </p:nvSpPr>
        <p:spPr>
          <a:xfrm>
            <a:off x="4709160" y="344424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3" name="Freeform 32"/>
          <p:cNvSpPr/>
          <p:nvPr/>
        </p:nvSpPr>
        <p:spPr>
          <a:xfrm>
            <a:off x="4267200" y="320040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4" name="Freeform 33"/>
          <p:cNvSpPr/>
          <p:nvPr/>
        </p:nvSpPr>
        <p:spPr>
          <a:xfrm>
            <a:off x="3655994" y="321564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5" name="Freeform 34"/>
          <p:cNvSpPr/>
          <p:nvPr/>
        </p:nvSpPr>
        <p:spPr>
          <a:xfrm>
            <a:off x="3490413" y="356616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6" name="Freeform 35"/>
          <p:cNvSpPr/>
          <p:nvPr/>
        </p:nvSpPr>
        <p:spPr>
          <a:xfrm>
            <a:off x="3572951" y="391668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7" name="Freeform 36"/>
          <p:cNvSpPr/>
          <p:nvPr/>
        </p:nvSpPr>
        <p:spPr>
          <a:xfrm>
            <a:off x="3886200" y="4572000"/>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8" name="Freeform 37"/>
          <p:cNvSpPr/>
          <p:nvPr/>
        </p:nvSpPr>
        <p:spPr>
          <a:xfrm>
            <a:off x="3810000" y="4953000"/>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9" name="Freeform 38"/>
          <p:cNvSpPr/>
          <p:nvPr/>
        </p:nvSpPr>
        <p:spPr>
          <a:xfrm>
            <a:off x="3733800" y="5282948"/>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0" name="Freeform 39"/>
          <p:cNvSpPr/>
          <p:nvPr/>
        </p:nvSpPr>
        <p:spPr>
          <a:xfrm>
            <a:off x="3657600" y="5638800"/>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1" name="Freeform 40"/>
          <p:cNvSpPr/>
          <p:nvPr/>
        </p:nvSpPr>
        <p:spPr>
          <a:xfrm>
            <a:off x="4876800" y="413004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2" name="Freeform 41"/>
          <p:cNvSpPr/>
          <p:nvPr/>
        </p:nvSpPr>
        <p:spPr>
          <a:xfrm>
            <a:off x="5257800" y="435864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3" name="Freeform 42"/>
          <p:cNvSpPr/>
          <p:nvPr/>
        </p:nvSpPr>
        <p:spPr>
          <a:xfrm>
            <a:off x="5562600" y="466344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4" name="Freeform 43"/>
          <p:cNvSpPr/>
          <p:nvPr/>
        </p:nvSpPr>
        <p:spPr>
          <a:xfrm>
            <a:off x="5867400" y="495300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5" name="Freeform 44"/>
          <p:cNvSpPr/>
          <p:nvPr/>
        </p:nvSpPr>
        <p:spPr>
          <a:xfrm>
            <a:off x="5029200" y="335280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6" name="Freeform 45"/>
          <p:cNvSpPr/>
          <p:nvPr/>
        </p:nvSpPr>
        <p:spPr>
          <a:xfrm>
            <a:off x="5410200" y="320040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7" name="Freeform 46"/>
          <p:cNvSpPr/>
          <p:nvPr/>
        </p:nvSpPr>
        <p:spPr>
          <a:xfrm>
            <a:off x="5791200" y="312420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8" name="Freeform 47"/>
          <p:cNvSpPr/>
          <p:nvPr/>
        </p:nvSpPr>
        <p:spPr>
          <a:xfrm>
            <a:off x="6096000" y="312420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9" name="Freeform 48"/>
          <p:cNvSpPr/>
          <p:nvPr/>
        </p:nvSpPr>
        <p:spPr>
          <a:xfrm>
            <a:off x="4419600" y="289560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0" name="Freeform 49"/>
          <p:cNvSpPr/>
          <p:nvPr/>
        </p:nvSpPr>
        <p:spPr>
          <a:xfrm>
            <a:off x="4572000" y="256032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1" name="Freeform 50"/>
          <p:cNvSpPr/>
          <p:nvPr/>
        </p:nvSpPr>
        <p:spPr>
          <a:xfrm>
            <a:off x="4648200" y="220980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2" name="Freeform 51"/>
          <p:cNvSpPr/>
          <p:nvPr/>
        </p:nvSpPr>
        <p:spPr>
          <a:xfrm>
            <a:off x="4724400" y="190500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3" name="Freeform 52"/>
          <p:cNvSpPr/>
          <p:nvPr/>
        </p:nvSpPr>
        <p:spPr>
          <a:xfrm>
            <a:off x="3429000" y="289560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4" name="Freeform 53"/>
          <p:cNvSpPr/>
          <p:nvPr/>
        </p:nvSpPr>
        <p:spPr>
          <a:xfrm>
            <a:off x="3276600" y="257556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5" name="Freeform 54"/>
          <p:cNvSpPr/>
          <p:nvPr/>
        </p:nvSpPr>
        <p:spPr>
          <a:xfrm>
            <a:off x="3124200" y="227076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6" name="Freeform 55"/>
          <p:cNvSpPr/>
          <p:nvPr/>
        </p:nvSpPr>
        <p:spPr>
          <a:xfrm>
            <a:off x="2895600" y="198120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7" name="Freeform 56"/>
          <p:cNvSpPr/>
          <p:nvPr/>
        </p:nvSpPr>
        <p:spPr>
          <a:xfrm>
            <a:off x="3155133" y="350520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8" name="Freeform 57"/>
          <p:cNvSpPr/>
          <p:nvPr/>
        </p:nvSpPr>
        <p:spPr>
          <a:xfrm>
            <a:off x="2774133" y="350520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9" name="Freeform 58"/>
          <p:cNvSpPr/>
          <p:nvPr/>
        </p:nvSpPr>
        <p:spPr>
          <a:xfrm>
            <a:off x="2438400" y="342900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60" name="Freeform 59"/>
          <p:cNvSpPr/>
          <p:nvPr/>
        </p:nvSpPr>
        <p:spPr>
          <a:xfrm>
            <a:off x="2088333" y="335280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62" name="Freeform 61"/>
          <p:cNvSpPr/>
          <p:nvPr/>
        </p:nvSpPr>
        <p:spPr>
          <a:xfrm>
            <a:off x="3200400" y="406908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63" name="Freeform 62"/>
          <p:cNvSpPr/>
          <p:nvPr/>
        </p:nvSpPr>
        <p:spPr>
          <a:xfrm>
            <a:off x="2887151" y="435864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dirty="0"/>
          </a:p>
        </p:txBody>
      </p:sp>
      <p:sp>
        <p:nvSpPr>
          <p:cNvPr id="64" name="Freeform 63"/>
          <p:cNvSpPr/>
          <p:nvPr/>
        </p:nvSpPr>
        <p:spPr>
          <a:xfrm>
            <a:off x="2506151" y="451104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65" name="Freeform 64"/>
          <p:cNvSpPr/>
          <p:nvPr/>
        </p:nvSpPr>
        <p:spPr>
          <a:xfrm>
            <a:off x="2048951" y="473964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i-FI" dirty="0" smtClean="0"/>
              <a:t>Exercise: What Your Testing Knowledge Can Give an Agile Team</a:t>
            </a:r>
            <a:endParaRPr lang="fi-FI" dirty="0"/>
          </a:p>
        </p:txBody>
      </p:sp>
      <p:sp>
        <p:nvSpPr>
          <p:cNvPr id="6" name="Content Placeholder 5"/>
          <p:cNvSpPr>
            <a:spLocks noGrp="1"/>
          </p:cNvSpPr>
          <p:nvPr>
            <p:ph idx="1"/>
          </p:nvPr>
        </p:nvSpPr>
        <p:spPr/>
        <p:txBody>
          <a:bodyPr>
            <a:normAutofit lnSpcReduction="10000"/>
          </a:bodyPr>
          <a:lstStyle/>
          <a:p>
            <a:r>
              <a:rPr lang="fi-FI" dirty="0" smtClean="0"/>
              <a:t>Consider the Seven Pillars of a Good Agile Team </a:t>
            </a:r>
          </a:p>
          <a:p>
            <a:r>
              <a:rPr lang="fi-FI" dirty="0" smtClean="0"/>
              <a:t>Identify what could you </a:t>
            </a:r>
            <a:br>
              <a:rPr lang="fi-FI" dirty="0" smtClean="0"/>
            </a:br>
            <a:r>
              <a:rPr lang="fi-FI" dirty="0" smtClean="0"/>
              <a:t>bring with your testing </a:t>
            </a:r>
            <a:br>
              <a:rPr lang="fi-FI" dirty="0" smtClean="0"/>
            </a:br>
            <a:r>
              <a:rPr lang="fi-FI" dirty="0" smtClean="0"/>
              <a:t>knowledge to an </a:t>
            </a:r>
            <a:br>
              <a:rPr lang="fi-FI" dirty="0" smtClean="0"/>
            </a:br>
            <a:r>
              <a:rPr lang="fi-FI" dirty="0" smtClean="0"/>
              <a:t>agile team</a:t>
            </a:r>
          </a:p>
          <a:p>
            <a:r>
              <a:rPr lang="fi-FI" dirty="0" smtClean="0"/>
              <a:t>Are some axes more </a:t>
            </a:r>
            <a:br>
              <a:rPr lang="fi-FI" dirty="0" smtClean="0"/>
            </a:br>
            <a:r>
              <a:rPr lang="fi-FI" dirty="0" smtClean="0"/>
              <a:t>heavily testing-related?</a:t>
            </a:r>
          </a:p>
          <a:p>
            <a:r>
              <a:rPr lang="fi-FI" dirty="0" smtClean="0"/>
              <a:t>Discuss in groups</a:t>
            </a:r>
          </a:p>
        </p:txBody>
      </p:sp>
      <p:sp>
        <p:nvSpPr>
          <p:cNvPr id="3" name="Footer Placeholder 2"/>
          <p:cNvSpPr>
            <a:spLocks noGrp="1"/>
          </p:cNvSpPr>
          <p:nvPr>
            <p:ph type="ftr" sz="quarter" idx="11"/>
          </p:nvPr>
        </p:nvSpPr>
        <p:spPr/>
        <p:txBody>
          <a:bodyPr/>
          <a:lstStyle/>
          <a:p>
            <a:r>
              <a:rPr lang="en-US" smtClean="0"/>
              <a:t>DAY 1</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grpSp>
        <p:nvGrpSpPr>
          <p:cNvPr id="2" name="Group 14"/>
          <p:cNvGrpSpPr/>
          <p:nvPr/>
        </p:nvGrpSpPr>
        <p:grpSpPr>
          <a:xfrm>
            <a:off x="4267200" y="2849531"/>
            <a:ext cx="4953000" cy="3703669"/>
            <a:chOff x="228600" y="1371600"/>
            <a:chExt cx="7620000" cy="5359545"/>
          </a:xfrm>
        </p:grpSpPr>
        <p:grpSp>
          <p:nvGrpSpPr>
            <p:cNvPr id="7" name="Group 20"/>
            <p:cNvGrpSpPr/>
            <p:nvPr/>
          </p:nvGrpSpPr>
          <p:grpSpPr>
            <a:xfrm>
              <a:off x="1447801" y="1523999"/>
              <a:ext cx="5181602" cy="4648198"/>
              <a:chOff x="2407920" y="1920240"/>
              <a:chExt cx="3718560" cy="3101902"/>
            </a:xfrm>
          </p:grpSpPr>
          <p:sp>
            <p:nvSpPr>
              <p:cNvPr id="59" name="Freeform 58"/>
              <p:cNvSpPr/>
              <p:nvPr/>
            </p:nvSpPr>
            <p:spPr>
              <a:xfrm>
                <a:off x="4343400" y="3352800"/>
                <a:ext cx="1709698" cy="1356360"/>
              </a:xfrm>
              <a:custGeom>
                <a:avLst/>
                <a:gdLst>
                  <a:gd name="connsiteX0" fmla="*/ 0 w 1709698"/>
                  <a:gd name="connsiteY0" fmla="*/ 0 h 1356360"/>
                  <a:gd name="connsiteX1" fmla="*/ 60960 w 1709698"/>
                  <a:gd name="connsiteY1" fmla="*/ 45720 h 1356360"/>
                  <a:gd name="connsiteX2" fmla="*/ 152400 w 1709698"/>
                  <a:gd name="connsiteY2" fmla="*/ 137160 h 1356360"/>
                  <a:gd name="connsiteX3" fmla="*/ 289560 w 1709698"/>
                  <a:gd name="connsiteY3" fmla="*/ 213360 h 1356360"/>
                  <a:gd name="connsiteX4" fmla="*/ 381000 w 1709698"/>
                  <a:gd name="connsiteY4" fmla="*/ 274320 h 1356360"/>
                  <a:gd name="connsiteX5" fmla="*/ 426720 w 1709698"/>
                  <a:gd name="connsiteY5" fmla="*/ 320040 h 1356360"/>
                  <a:gd name="connsiteX6" fmla="*/ 472440 w 1709698"/>
                  <a:gd name="connsiteY6" fmla="*/ 335280 h 1356360"/>
                  <a:gd name="connsiteX7" fmla="*/ 563880 w 1709698"/>
                  <a:gd name="connsiteY7" fmla="*/ 396240 h 1356360"/>
                  <a:gd name="connsiteX8" fmla="*/ 609600 w 1709698"/>
                  <a:gd name="connsiteY8" fmla="*/ 411480 h 1356360"/>
                  <a:gd name="connsiteX9" fmla="*/ 701040 w 1709698"/>
                  <a:gd name="connsiteY9" fmla="*/ 472440 h 1356360"/>
                  <a:gd name="connsiteX10" fmla="*/ 762000 w 1709698"/>
                  <a:gd name="connsiteY10" fmla="*/ 502920 h 1356360"/>
                  <a:gd name="connsiteX11" fmla="*/ 807720 w 1709698"/>
                  <a:gd name="connsiteY11" fmla="*/ 533400 h 1356360"/>
                  <a:gd name="connsiteX12" fmla="*/ 853440 w 1709698"/>
                  <a:gd name="connsiteY12" fmla="*/ 548640 h 1356360"/>
                  <a:gd name="connsiteX13" fmla="*/ 883920 w 1709698"/>
                  <a:gd name="connsiteY13" fmla="*/ 594360 h 1356360"/>
                  <a:gd name="connsiteX14" fmla="*/ 975360 w 1709698"/>
                  <a:gd name="connsiteY14" fmla="*/ 670560 h 1356360"/>
                  <a:gd name="connsiteX15" fmla="*/ 1021080 w 1709698"/>
                  <a:gd name="connsiteY15" fmla="*/ 731520 h 1356360"/>
                  <a:gd name="connsiteX16" fmla="*/ 1112520 w 1709698"/>
                  <a:gd name="connsiteY16" fmla="*/ 822960 h 1356360"/>
                  <a:gd name="connsiteX17" fmla="*/ 1158240 w 1709698"/>
                  <a:gd name="connsiteY17" fmla="*/ 868680 h 1356360"/>
                  <a:gd name="connsiteX18" fmla="*/ 1203960 w 1709698"/>
                  <a:gd name="connsiteY18" fmla="*/ 899160 h 1356360"/>
                  <a:gd name="connsiteX19" fmla="*/ 1234440 w 1709698"/>
                  <a:gd name="connsiteY19" fmla="*/ 944880 h 1356360"/>
                  <a:gd name="connsiteX20" fmla="*/ 1325880 w 1709698"/>
                  <a:gd name="connsiteY20" fmla="*/ 1005840 h 1356360"/>
                  <a:gd name="connsiteX21" fmla="*/ 1417320 w 1709698"/>
                  <a:gd name="connsiteY21" fmla="*/ 1066800 h 1356360"/>
                  <a:gd name="connsiteX22" fmla="*/ 1463040 w 1709698"/>
                  <a:gd name="connsiteY22" fmla="*/ 1097280 h 1356360"/>
                  <a:gd name="connsiteX23" fmla="*/ 1508760 w 1709698"/>
                  <a:gd name="connsiteY23" fmla="*/ 1127760 h 1356360"/>
                  <a:gd name="connsiteX24" fmla="*/ 1539240 w 1709698"/>
                  <a:gd name="connsiteY24" fmla="*/ 1173480 h 1356360"/>
                  <a:gd name="connsiteX25" fmla="*/ 1676400 w 1709698"/>
                  <a:gd name="connsiteY25" fmla="*/ 1295400 h 1356360"/>
                  <a:gd name="connsiteX26" fmla="*/ 1706880 w 1709698"/>
                  <a:gd name="connsiteY26" fmla="*/ 1356360 h 135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09698" h="1356360">
                    <a:moveTo>
                      <a:pt x="0" y="0"/>
                    </a:moveTo>
                    <a:cubicBezTo>
                      <a:pt x="20320" y="15240"/>
                      <a:pt x="42080" y="28728"/>
                      <a:pt x="60960" y="45720"/>
                    </a:cubicBezTo>
                    <a:cubicBezTo>
                      <a:pt x="93000" y="74556"/>
                      <a:pt x="116534" y="113250"/>
                      <a:pt x="152400" y="137160"/>
                    </a:cubicBezTo>
                    <a:cubicBezTo>
                      <a:pt x="257206" y="207031"/>
                      <a:pt x="209087" y="186536"/>
                      <a:pt x="289560" y="213360"/>
                    </a:cubicBezTo>
                    <a:cubicBezTo>
                      <a:pt x="435411" y="359211"/>
                      <a:pt x="248667" y="186098"/>
                      <a:pt x="381000" y="274320"/>
                    </a:cubicBezTo>
                    <a:cubicBezTo>
                      <a:pt x="398933" y="286275"/>
                      <a:pt x="408787" y="308085"/>
                      <a:pt x="426720" y="320040"/>
                    </a:cubicBezTo>
                    <a:cubicBezTo>
                      <a:pt x="440086" y="328951"/>
                      <a:pt x="458397" y="327478"/>
                      <a:pt x="472440" y="335280"/>
                    </a:cubicBezTo>
                    <a:cubicBezTo>
                      <a:pt x="504462" y="353070"/>
                      <a:pt x="529127" y="384656"/>
                      <a:pt x="563880" y="396240"/>
                    </a:cubicBezTo>
                    <a:cubicBezTo>
                      <a:pt x="579120" y="401320"/>
                      <a:pt x="595557" y="403678"/>
                      <a:pt x="609600" y="411480"/>
                    </a:cubicBezTo>
                    <a:cubicBezTo>
                      <a:pt x="641622" y="429270"/>
                      <a:pt x="668275" y="456057"/>
                      <a:pt x="701040" y="472440"/>
                    </a:cubicBezTo>
                    <a:cubicBezTo>
                      <a:pt x="721360" y="482600"/>
                      <a:pt x="742275" y="491648"/>
                      <a:pt x="762000" y="502920"/>
                    </a:cubicBezTo>
                    <a:cubicBezTo>
                      <a:pt x="777903" y="512007"/>
                      <a:pt x="791337" y="525209"/>
                      <a:pt x="807720" y="533400"/>
                    </a:cubicBezTo>
                    <a:cubicBezTo>
                      <a:pt x="822088" y="540584"/>
                      <a:pt x="838200" y="543560"/>
                      <a:pt x="853440" y="548640"/>
                    </a:cubicBezTo>
                    <a:cubicBezTo>
                      <a:pt x="863600" y="563880"/>
                      <a:pt x="870968" y="581408"/>
                      <a:pt x="883920" y="594360"/>
                    </a:cubicBezTo>
                    <a:cubicBezTo>
                      <a:pt x="1025017" y="735457"/>
                      <a:pt x="825560" y="495793"/>
                      <a:pt x="975360" y="670560"/>
                    </a:cubicBezTo>
                    <a:cubicBezTo>
                      <a:pt x="991890" y="689845"/>
                      <a:pt x="1004088" y="712640"/>
                      <a:pt x="1021080" y="731520"/>
                    </a:cubicBezTo>
                    <a:cubicBezTo>
                      <a:pt x="1049916" y="763560"/>
                      <a:pt x="1082040" y="792480"/>
                      <a:pt x="1112520" y="822960"/>
                    </a:cubicBezTo>
                    <a:cubicBezTo>
                      <a:pt x="1127760" y="838200"/>
                      <a:pt x="1140307" y="856725"/>
                      <a:pt x="1158240" y="868680"/>
                    </a:cubicBezTo>
                    <a:lnTo>
                      <a:pt x="1203960" y="899160"/>
                    </a:lnTo>
                    <a:cubicBezTo>
                      <a:pt x="1214120" y="914400"/>
                      <a:pt x="1220656" y="932819"/>
                      <a:pt x="1234440" y="944880"/>
                    </a:cubicBezTo>
                    <a:cubicBezTo>
                      <a:pt x="1262009" y="969003"/>
                      <a:pt x="1295400" y="985520"/>
                      <a:pt x="1325880" y="1005840"/>
                    </a:cubicBezTo>
                    <a:lnTo>
                      <a:pt x="1417320" y="1066800"/>
                    </a:lnTo>
                    <a:lnTo>
                      <a:pt x="1463040" y="1097280"/>
                    </a:lnTo>
                    <a:lnTo>
                      <a:pt x="1508760" y="1127760"/>
                    </a:lnTo>
                    <a:cubicBezTo>
                      <a:pt x="1518920" y="1143000"/>
                      <a:pt x="1527071" y="1159790"/>
                      <a:pt x="1539240" y="1173480"/>
                    </a:cubicBezTo>
                    <a:cubicBezTo>
                      <a:pt x="1615161" y="1258891"/>
                      <a:pt x="1606912" y="1249075"/>
                      <a:pt x="1676400" y="1295400"/>
                    </a:cubicBezTo>
                    <a:cubicBezTo>
                      <a:pt x="1709698" y="1345347"/>
                      <a:pt x="1706880" y="1322804"/>
                      <a:pt x="1706880" y="135636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60" name="Freeform 59"/>
              <p:cNvSpPr/>
              <p:nvPr/>
            </p:nvSpPr>
            <p:spPr>
              <a:xfrm>
                <a:off x="4099037" y="3352800"/>
                <a:ext cx="277533" cy="1669342"/>
              </a:xfrm>
              <a:custGeom>
                <a:avLst/>
                <a:gdLst>
                  <a:gd name="connsiteX0" fmla="*/ 277533 w 277533"/>
                  <a:gd name="connsiteY0" fmla="*/ 0 h 1974447"/>
                  <a:gd name="connsiteX1" fmla="*/ 262293 w 277533"/>
                  <a:gd name="connsiteY1" fmla="*/ 289560 h 1974447"/>
                  <a:gd name="connsiteX2" fmla="*/ 247053 w 277533"/>
                  <a:gd name="connsiteY2" fmla="*/ 396240 h 1974447"/>
                  <a:gd name="connsiteX3" fmla="*/ 231813 w 277533"/>
                  <a:gd name="connsiteY3" fmla="*/ 533400 h 1974447"/>
                  <a:gd name="connsiteX4" fmla="*/ 216573 w 277533"/>
                  <a:gd name="connsiteY4" fmla="*/ 579120 h 1974447"/>
                  <a:gd name="connsiteX5" fmla="*/ 201333 w 277533"/>
                  <a:gd name="connsiteY5" fmla="*/ 655320 h 1974447"/>
                  <a:gd name="connsiteX6" fmla="*/ 186093 w 277533"/>
                  <a:gd name="connsiteY6" fmla="*/ 777240 h 1974447"/>
                  <a:gd name="connsiteX7" fmla="*/ 155613 w 277533"/>
                  <a:gd name="connsiteY7" fmla="*/ 883920 h 1974447"/>
                  <a:gd name="connsiteX8" fmla="*/ 140373 w 277533"/>
                  <a:gd name="connsiteY8" fmla="*/ 960120 h 1974447"/>
                  <a:gd name="connsiteX9" fmla="*/ 125133 w 277533"/>
                  <a:gd name="connsiteY9" fmla="*/ 1005840 h 1974447"/>
                  <a:gd name="connsiteX10" fmla="*/ 109893 w 277533"/>
                  <a:gd name="connsiteY10" fmla="*/ 1066800 h 1974447"/>
                  <a:gd name="connsiteX11" fmla="*/ 79413 w 277533"/>
                  <a:gd name="connsiteY11" fmla="*/ 1158240 h 1974447"/>
                  <a:gd name="connsiteX12" fmla="*/ 64173 w 277533"/>
                  <a:gd name="connsiteY12" fmla="*/ 1203960 h 1974447"/>
                  <a:gd name="connsiteX13" fmla="*/ 48933 w 277533"/>
                  <a:gd name="connsiteY13" fmla="*/ 1249680 h 1974447"/>
                  <a:gd name="connsiteX14" fmla="*/ 33693 w 277533"/>
                  <a:gd name="connsiteY14" fmla="*/ 1310640 h 1974447"/>
                  <a:gd name="connsiteX15" fmla="*/ 18453 w 277533"/>
                  <a:gd name="connsiteY15" fmla="*/ 1706880 h 1974447"/>
                  <a:gd name="connsiteX16" fmla="*/ 3213 w 277533"/>
                  <a:gd name="connsiteY16" fmla="*/ 1783080 h 1974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7533" h="1974447">
                    <a:moveTo>
                      <a:pt x="277533" y="0"/>
                    </a:moveTo>
                    <a:cubicBezTo>
                      <a:pt x="272453" y="96520"/>
                      <a:pt x="269706" y="193191"/>
                      <a:pt x="262293" y="289560"/>
                    </a:cubicBezTo>
                    <a:cubicBezTo>
                      <a:pt x="259538" y="325375"/>
                      <a:pt x="251508" y="360596"/>
                      <a:pt x="247053" y="396240"/>
                    </a:cubicBezTo>
                    <a:cubicBezTo>
                      <a:pt x="241347" y="441886"/>
                      <a:pt x="239376" y="488025"/>
                      <a:pt x="231813" y="533400"/>
                    </a:cubicBezTo>
                    <a:cubicBezTo>
                      <a:pt x="229172" y="549246"/>
                      <a:pt x="220469" y="563535"/>
                      <a:pt x="216573" y="579120"/>
                    </a:cubicBezTo>
                    <a:cubicBezTo>
                      <a:pt x="210291" y="604250"/>
                      <a:pt x="205272" y="629718"/>
                      <a:pt x="201333" y="655320"/>
                    </a:cubicBezTo>
                    <a:cubicBezTo>
                      <a:pt x="195105" y="695800"/>
                      <a:pt x="192826" y="736841"/>
                      <a:pt x="186093" y="777240"/>
                    </a:cubicBezTo>
                    <a:cubicBezTo>
                      <a:pt x="171840" y="862760"/>
                      <a:pt x="173731" y="811446"/>
                      <a:pt x="155613" y="883920"/>
                    </a:cubicBezTo>
                    <a:cubicBezTo>
                      <a:pt x="149331" y="909050"/>
                      <a:pt x="146655" y="934990"/>
                      <a:pt x="140373" y="960120"/>
                    </a:cubicBezTo>
                    <a:cubicBezTo>
                      <a:pt x="136477" y="975705"/>
                      <a:pt x="129546" y="990394"/>
                      <a:pt x="125133" y="1005840"/>
                    </a:cubicBezTo>
                    <a:cubicBezTo>
                      <a:pt x="119379" y="1025979"/>
                      <a:pt x="115912" y="1046738"/>
                      <a:pt x="109893" y="1066800"/>
                    </a:cubicBezTo>
                    <a:cubicBezTo>
                      <a:pt x="100661" y="1097574"/>
                      <a:pt x="89573" y="1127760"/>
                      <a:pt x="79413" y="1158240"/>
                    </a:cubicBezTo>
                    <a:lnTo>
                      <a:pt x="64173" y="1203960"/>
                    </a:lnTo>
                    <a:cubicBezTo>
                      <a:pt x="59093" y="1219200"/>
                      <a:pt x="52829" y="1234095"/>
                      <a:pt x="48933" y="1249680"/>
                    </a:cubicBezTo>
                    <a:lnTo>
                      <a:pt x="33693" y="1310640"/>
                    </a:lnTo>
                    <a:cubicBezTo>
                      <a:pt x="28613" y="1442720"/>
                      <a:pt x="27547" y="1575016"/>
                      <a:pt x="18453" y="1706880"/>
                    </a:cubicBezTo>
                    <a:cubicBezTo>
                      <a:pt x="0" y="1974447"/>
                      <a:pt x="3213" y="1602323"/>
                      <a:pt x="3213" y="178308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61" name="Freeform 60"/>
              <p:cNvSpPr/>
              <p:nvPr/>
            </p:nvSpPr>
            <p:spPr>
              <a:xfrm>
                <a:off x="2407920" y="3337560"/>
                <a:ext cx="1981200" cy="1082040"/>
              </a:xfrm>
              <a:custGeom>
                <a:avLst/>
                <a:gdLst>
                  <a:gd name="connsiteX0" fmla="*/ 1981200 w 1981200"/>
                  <a:gd name="connsiteY0" fmla="*/ 0 h 1082040"/>
                  <a:gd name="connsiteX1" fmla="*/ 1935480 w 1981200"/>
                  <a:gd name="connsiteY1" fmla="*/ 30480 h 1082040"/>
                  <a:gd name="connsiteX2" fmla="*/ 1813560 w 1981200"/>
                  <a:gd name="connsiteY2" fmla="*/ 76200 h 1082040"/>
                  <a:gd name="connsiteX3" fmla="*/ 1676400 w 1981200"/>
                  <a:gd name="connsiteY3" fmla="*/ 167640 h 1082040"/>
                  <a:gd name="connsiteX4" fmla="*/ 1630680 w 1981200"/>
                  <a:gd name="connsiteY4" fmla="*/ 198120 h 1082040"/>
                  <a:gd name="connsiteX5" fmla="*/ 1584960 w 1981200"/>
                  <a:gd name="connsiteY5" fmla="*/ 213360 h 1082040"/>
                  <a:gd name="connsiteX6" fmla="*/ 1493520 w 1981200"/>
                  <a:gd name="connsiteY6" fmla="*/ 274320 h 1082040"/>
                  <a:gd name="connsiteX7" fmla="*/ 1402080 w 1981200"/>
                  <a:gd name="connsiteY7" fmla="*/ 304800 h 1082040"/>
                  <a:gd name="connsiteX8" fmla="*/ 1280160 w 1981200"/>
                  <a:gd name="connsiteY8" fmla="*/ 396240 h 1082040"/>
                  <a:gd name="connsiteX9" fmla="*/ 1188720 w 1981200"/>
                  <a:gd name="connsiteY9" fmla="*/ 472440 h 1082040"/>
                  <a:gd name="connsiteX10" fmla="*/ 1158240 w 1981200"/>
                  <a:gd name="connsiteY10" fmla="*/ 518160 h 1082040"/>
                  <a:gd name="connsiteX11" fmla="*/ 1021080 w 1981200"/>
                  <a:gd name="connsiteY11" fmla="*/ 594360 h 1082040"/>
                  <a:gd name="connsiteX12" fmla="*/ 960120 w 1981200"/>
                  <a:gd name="connsiteY12" fmla="*/ 624840 h 1082040"/>
                  <a:gd name="connsiteX13" fmla="*/ 914400 w 1981200"/>
                  <a:gd name="connsiteY13" fmla="*/ 640080 h 1082040"/>
                  <a:gd name="connsiteX14" fmla="*/ 746760 w 1981200"/>
                  <a:gd name="connsiteY14" fmla="*/ 670560 h 1082040"/>
                  <a:gd name="connsiteX15" fmla="*/ 594360 w 1981200"/>
                  <a:gd name="connsiteY15" fmla="*/ 716280 h 1082040"/>
                  <a:gd name="connsiteX16" fmla="*/ 457200 w 1981200"/>
                  <a:gd name="connsiteY16" fmla="*/ 807720 h 1082040"/>
                  <a:gd name="connsiteX17" fmla="*/ 411480 w 1981200"/>
                  <a:gd name="connsiteY17" fmla="*/ 838200 h 1082040"/>
                  <a:gd name="connsiteX18" fmla="*/ 365760 w 1981200"/>
                  <a:gd name="connsiteY18" fmla="*/ 853440 h 1082040"/>
                  <a:gd name="connsiteX19" fmla="*/ 274320 w 1981200"/>
                  <a:gd name="connsiteY19" fmla="*/ 914400 h 1082040"/>
                  <a:gd name="connsiteX20" fmla="*/ 213360 w 1981200"/>
                  <a:gd name="connsiteY20" fmla="*/ 944880 h 1082040"/>
                  <a:gd name="connsiteX21" fmla="*/ 167640 w 1981200"/>
                  <a:gd name="connsiteY21" fmla="*/ 975360 h 1082040"/>
                  <a:gd name="connsiteX22" fmla="*/ 121920 w 1981200"/>
                  <a:gd name="connsiteY22" fmla="*/ 990600 h 1082040"/>
                  <a:gd name="connsiteX23" fmla="*/ 76200 w 1981200"/>
                  <a:gd name="connsiteY23" fmla="*/ 1036320 h 1082040"/>
                  <a:gd name="connsiteX24" fmla="*/ 0 w 1981200"/>
                  <a:gd name="connsiteY24" fmla="*/ 1082040 h 1082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81200" h="1082040">
                    <a:moveTo>
                      <a:pt x="1981200" y="0"/>
                    </a:moveTo>
                    <a:cubicBezTo>
                      <a:pt x="1965960" y="10160"/>
                      <a:pt x="1952315" y="23265"/>
                      <a:pt x="1935480" y="30480"/>
                    </a:cubicBezTo>
                    <a:cubicBezTo>
                      <a:pt x="1808881" y="84737"/>
                      <a:pt x="1940543" y="10"/>
                      <a:pt x="1813560" y="76200"/>
                    </a:cubicBezTo>
                    <a:lnTo>
                      <a:pt x="1676400" y="167640"/>
                    </a:lnTo>
                    <a:cubicBezTo>
                      <a:pt x="1661160" y="177800"/>
                      <a:pt x="1648056" y="192328"/>
                      <a:pt x="1630680" y="198120"/>
                    </a:cubicBezTo>
                    <a:cubicBezTo>
                      <a:pt x="1615440" y="203200"/>
                      <a:pt x="1599003" y="205558"/>
                      <a:pt x="1584960" y="213360"/>
                    </a:cubicBezTo>
                    <a:cubicBezTo>
                      <a:pt x="1552938" y="231150"/>
                      <a:pt x="1528273" y="262736"/>
                      <a:pt x="1493520" y="274320"/>
                    </a:cubicBezTo>
                    <a:lnTo>
                      <a:pt x="1402080" y="304800"/>
                    </a:lnTo>
                    <a:cubicBezTo>
                      <a:pt x="1361440" y="335280"/>
                      <a:pt x="1308339" y="353972"/>
                      <a:pt x="1280160" y="396240"/>
                    </a:cubicBezTo>
                    <a:cubicBezTo>
                      <a:pt x="1237078" y="460863"/>
                      <a:pt x="1266063" y="433769"/>
                      <a:pt x="1188720" y="472440"/>
                    </a:cubicBezTo>
                    <a:cubicBezTo>
                      <a:pt x="1178560" y="487680"/>
                      <a:pt x="1172024" y="506099"/>
                      <a:pt x="1158240" y="518160"/>
                    </a:cubicBezTo>
                    <a:cubicBezTo>
                      <a:pt x="1063195" y="601324"/>
                      <a:pt x="1097272" y="561706"/>
                      <a:pt x="1021080" y="594360"/>
                    </a:cubicBezTo>
                    <a:cubicBezTo>
                      <a:pt x="1000198" y="603309"/>
                      <a:pt x="981002" y="615891"/>
                      <a:pt x="960120" y="624840"/>
                    </a:cubicBezTo>
                    <a:cubicBezTo>
                      <a:pt x="945355" y="631168"/>
                      <a:pt x="929846" y="635667"/>
                      <a:pt x="914400" y="640080"/>
                    </a:cubicBezTo>
                    <a:cubicBezTo>
                      <a:pt x="842544" y="660610"/>
                      <a:pt x="833097" y="658226"/>
                      <a:pt x="746760" y="670560"/>
                    </a:cubicBezTo>
                    <a:cubicBezTo>
                      <a:pt x="635449" y="707664"/>
                      <a:pt x="686489" y="693248"/>
                      <a:pt x="594360" y="716280"/>
                    </a:cubicBezTo>
                    <a:lnTo>
                      <a:pt x="457200" y="807720"/>
                    </a:lnTo>
                    <a:cubicBezTo>
                      <a:pt x="441960" y="817880"/>
                      <a:pt x="428856" y="832408"/>
                      <a:pt x="411480" y="838200"/>
                    </a:cubicBezTo>
                    <a:cubicBezTo>
                      <a:pt x="396240" y="843280"/>
                      <a:pt x="379803" y="845638"/>
                      <a:pt x="365760" y="853440"/>
                    </a:cubicBezTo>
                    <a:cubicBezTo>
                      <a:pt x="333738" y="871230"/>
                      <a:pt x="307085" y="898017"/>
                      <a:pt x="274320" y="914400"/>
                    </a:cubicBezTo>
                    <a:cubicBezTo>
                      <a:pt x="254000" y="924560"/>
                      <a:pt x="233085" y="933608"/>
                      <a:pt x="213360" y="944880"/>
                    </a:cubicBezTo>
                    <a:cubicBezTo>
                      <a:pt x="197457" y="953967"/>
                      <a:pt x="184023" y="967169"/>
                      <a:pt x="167640" y="975360"/>
                    </a:cubicBezTo>
                    <a:cubicBezTo>
                      <a:pt x="153272" y="982544"/>
                      <a:pt x="137160" y="985520"/>
                      <a:pt x="121920" y="990600"/>
                    </a:cubicBezTo>
                    <a:cubicBezTo>
                      <a:pt x="106680" y="1005840"/>
                      <a:pt x="92757" y="1022522"/>
                      <a:pt x="76200" y="1036320"/>
                    </a:cubicBezTo>
                    <a:cubicBezTo>
                      <a:pt x="48614" y="1059308"/>
                      <a:pt x="29755" y="1067163"/>
                      <a:pt x="0" y="108204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62" name="Freeform 61"/>
              <p:cNvSpPr/>
              <p:nvPr/>
            </p:nvSpPr>
            <p:spPr>
              <a:xfrm>
                <a:off x="2423160" y="3088901"/>
                <a:ext cx="1950720" cy="294379"/>
              </a:xfrm>
              <a:custGeom>
                <a:avLst/>
                <a:gdLst>
                  <a:gd name="connsiteX0" fmla="*/ 1950720 w 1950720"/>
                  <a:gd name="connsiteY0" fmla="*/ 294379 h 294379"/>
                  <a:gd name="connsiteX1" fmla="*/ 975360 w 1950720"/>
                  <a:gd name="connsiteY1" fmla="*/ 263899 h 294379"/>
                  <a:gd name="connsiteX2" fmla="*/ 868680 w 1950720"/>
                  <a:gd name="connsiteY2" fmla="*/ 248659 h 294379"/>
                  <a:gd name="connsiteX3" fmla="*/ 746760 w 1950720"/>
                  <a:gd name="connsiteY3" fmla="*/ 218179 h 294379"/>
                  <a:gd name="connsiteX4" fmla="*/ 563880 w 1950720"/>
                  <a:gd name="connsiteY4" fmla="*/ 187699 h 294379"/>
                  <a:gd name="connsiteX5" fmla="*/ 457200 w 1950720"/>
                  <a:gd name="connsiteY5" fmla="*/ 126739 h 294379"/>
                  <a:gd name="connsiteX6" fmla="*/ 350520 w 1950720"/>
                  <a:gd name="connsiteY6" fmla="*/ 96259 h 294379"/>
                  <a:gd name="connsiteX7" fmla="*/ 304800 w 1950720"/>
                  <a:gd name="connsiteY7" fmla="*/ 65779 h 294379"/>
                  <a:gd name="connsiteX8" fmla="*/ 91440 w 1950720"/>
                  <a:gd name="connsiteY8" fmla="*/ 20059 h 294379"/>
                  <a:gd name="connsiteX9" fmla="*/ 0 w 1950720"/>
                  <a:gd name="connsiteY9" fmla="*/ 4819 h 294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0720" h="294379">
                    <a:moveTo>
                      <a:pt x="1950720" y="294379"/>
                    </a:moveTo>
                    <a:lnTo>
                      <a:pt x="975360" y="263899"/>
                    </a:lnTo>
                    <a:cubicBezTo>
                      <a:pt x="939800" y="258819"/>
                      <a:pt x="903903" y="255704"/>
                      <a:pt x="868680" y="248659"/>
                    </a:cubicBezTo>
                    <a:cubicBezTo>
                      <a:pt x="827603" y="240444"/>
                      <a:pt x="788327" y="223375"/>
                      <a:pt x="746760" y="218179"/>
                    </a:cubicBezTo>
                    <a:cubicBezTo>
                      <a:pt x="604056" y="200341"/>
                      <a:pt x="664573" y="212872"/>
                      <a:pt x="563880" y="187699"/>
                    </a:cubicBezTo>
                    <a:cubicBezTo>
                      <a:pt x="517964" y="157088"/>
                      <a:pt x="511340" y="149942"/>
                      <a:pt x="457200" y="126739"/>
                    </a:cubicBezTo>
                    <a:cubicBezTo>
                      <a:pt x="426591" y="113621"/>
                      <a:pt x="381454" y="103993"/>
                      <a:pt x="350520" y="96259"/>
                    </a:cubicBezTo>
                    <a:cubicBezTo>
                      <a:pt x="335280" y="86099"/>
                      <a:pt x="322013" y="72038"/>
                      <a:pt x="304800" y="65779"/>
                    </a:cubicBezTo>
                    <a:cubicBezTo>
                      <a:pt x="204257" y="29218"/>
                      <a:pt x="186320" y="41143"/>
                      <a:pt x="91440" y="20059"/>
                    </a:cubicBezTo>
                    <a:cubicBezTo>
                      <a:pt x="1173" y="0"/>
                      <a:pt x="90329" y="4819"/>
                      <a:pt x="0" y="4819"/>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63" name="Freeform 62"/>
              <p:cNvSpPr/>
              <p:nvPr/>
            </p:nvSpPr>
            <p:spPr>
              <a:xfrm>
                <a:off x="3230880" y="2103120"/>
                <a:ext cx="1127760" cy="1310640"/>
              </a:xfrm>
              <a:custGeom>
                <a:avLst/>
                <a:gdLst>
                  <a:gd name="connsiteX0" fmla="*/ 1127760 w 1127760"/>
                  <a:gd name="connsiteY0" fmla="*/ 1310640 h 1310640"/>
                  <a:gd name="connsiteX1" fmla="*/ 1082040 w 1127760"/>
                  <a:gd name="connsiteY1" fmla="*/ 1249680 h 1310640"/>
                  <a:gd name="connsiteX2" fmla="*/ 1066800 w 1127760"/>
                  <a:gd name="connsiteY2" fmla="*/ 1203960 h 1310640"/>
                  <a:gd name="connsiteX3" fmla="*/ 1021080 w 1127760"/>
                  <a:gd name="connsiteY3" fmla="*/ 1173480 h 1310640"/>
                  <a:gd name="connsiteX4" fmla="*/ 975360 w 1127760"/>
                  <a:gd name="connsiteY4" fmla="*/ 1112520 h 1310640"/>
                  <a:gd name="connsiteX5" fmla="*/ 838200 w 1127760"/>
                  <a:gd name="connsiteY5" fmla="*/ 990600 h 1310640"/>
                  <a:gd name="connsiteX6" fmla="*/ 822960 w 1127760"/>
                  <a:gd name="connsiteY6" fmla="*/ 944880 h 1310640"/>
                  <a:gd name="connsiteX7" fmla="*/ 731520 w 1127760"/>
                  <a:gd name="connsiteY7" fmla="*/ 883920 h 1310640"/>
                  <a:gd name="connsiteX8" fmla="*/ 685800 w 1127760"/>
                  <a:gd name="connsiteY8" fmla="*/ 792480 h 1310640"/>
                  <a:gd name="connsiteX9" fmla="*/ 655320 w 1127760"/>
                  <a:gd name="connsiteY9" fmla="*/ 731520 h 1310640"/>
                  <a:gd name="connsiteX10" fmla="*/ 594360 w 1127760"/>
                  <a:gd name="connsiteY10" fmla="*/ 640080 h 1310640"/>
                  <a:gd name="connsiteX11" fmla="*/ 533400 w 1127760"/>
                  <a:gd name="connsiteY11" fmla="*/ 487680 h 1310640"/>
                  <a:gd name="connsiteX12" fmla="*/ 487680 w 1127760"/>
                  <a:gd name="connsiteY12" fmla="*/ 441960 h 1310640"/>
                  <a:gd name="connsiteX13" fmla="*/ 472440 w 1127760"/>
                  <a:gd name="connsiteY13" fmla="*/ 396240 h 1310640"/>
                  <a:gd name="connsiteX14" fmla="*/ 320040 w 1127760"/>
                  <a:gd name="connsiteY14" fmla="*/ 213360 h 1310640"/>
                  <a:gd name="connsiteX15" fmla="*/ 274320 w 1127760"/>
                  <a:gd name="connsiteY15" fmla="*/ 167640 h 1310640"/>
                  <a:gd name="connsiteX16" fmla="*/ 228600 w 1127760"/>
                  <a:gd name="connsiteY16" fmla="*/ 121920 h 1310640"/>
                  <a:gd name="connsiteX17" fmla="*/ 137160 w 1127760"/>
                  <a:gd name="connsiteY17" fmla="*/ 60960 h 1310640"/>
                  <a:gd name="connsiteX18" fmla="*/ 91440 w 1127760"/>
                  <a:gd name="connsiteY18" fmla="*/ 30480 h 1310640"/>
                  <a:gd name="connsiteX19" fmla="*/ 0 w 1127760"/>
                  <a:gd name="connsiteY19" fmla="*/ 0 h 1310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27760" h="1310640">
                    <a:moveTo>
                      <a:pt x="1127760" y="1310640"/>
                    </a:moveTo>
                    <a:cubicBezTo>
                      <a:pt x="1112520" y="1290320"/>
                      <a:pt x="1094642" y="1271733"/>
                      <a:pt x="1082040" y="1249680"/>
                    </a:cubicBezTo>
                    <a:cubicBezTo>
                      <a:pt x="1074070" y="1235732"/>
                      <a:pt x="1076835" y="1216504"/>
                      <a:pt x="1066800" y="1203960"/>
                    </a:cubicBezTo>
                    <a:cubicBezTo>
                      <a:pt x="1055358" y="1189657"/>
                      <a:pt x="1034032" y="1186432"/>
                      <a:pt x="1021080" y="1173480"/>
                    </a:cubicBezTo>
                    <a:cubicBezTo>
                      <a:pt x="1003119" y="1155519"/>
                      <a:pt x="992352" y="1131400"/>
                      <a:pt x="975360" y="1112520"/>
                    </a:cubicBezTo>
                    <a:cubicBezTo>
                      <a:pt x="897066" y="1025527"/>
                      <a:pt x="908696" y="1037598"/>
                      <a:pt x="838200" y="990600"/>
                    </a:cubicBezTo>
                    <a:cubicBezTo>
                      <a:pt x="833120" y="975360"/>
                      <a:pt x="834319" y="956239"/>
                      <a:pt x="822960" y="944880"/>
                    </a:cubicBezTo>
                    <a:cubicBezTo>
                      <a:pt x="797057" y="918977"/>
                      <a:pt x="731520" y="883920"/>
                      <a:pt x="731520" y="883920"/>
                    </a:cubicBezTo>
                    <a:cubicBezTo>
                      <a:pt x="703578" y="800095"/>
                      <a:pt x="733069" y="875201"/>
                      <a:pt x="685800" y="792480"/>
                    </a:cubicBezTo>
                    <a:cubicBezTo>
                      <a:pt x="674528" y="772755"/>
                      <a:pt x="667009" y="751001"/>
                      <a:pt x="655320" y="731520"/>
                    </a:cubicBezTo>
                    <a:cubicBezTo>
                      <a:pt x="636473" y="700108"/>
                      <a:pt x="605944" y="674833"/>
                      <a:pt x="594360" y="640080"/>
                    </a:cubicBezTo>
                    <a:cubicBezTo>
                      <a:pt x="580480" y="598441"/>
                      <a:pt x="561430" y="526922"/>
                      <a:pt x="533400" y="487680"/>
                    </a:cubicBezTo>
                    <a:cubicBezTo>
                      <a:pt x="520873" y="470142"/>
                      <a:pt x="502920" y="457200"/>
                      <a:pt x="487680" y="441960"/>
                    </a:cubicBezTo>
                    <a:cubicBezTo>
                      <a:pt x="482600" y="426720"/>
                      <a:pt x="480242" y="410283"/>
                      <a:pt x="472440" y="396240"/>
                    </a:cubicBezTo>
                    <a:cubicBezTo>
                      <a:pt x="419396" y="300761"/>
                      <a:pt x="399933" y="293253"/>
                      <a:pt x="320040" y="213360"/>
                    </a:cubicBezTo>
                    <a:lnTo>
                      <a:pt x="274320" y="167640"/>
                    </a:lnTo>
                    <a:cubicBezTo>
                      <a:pt x="259080" y="152400"/>
                      <a:pt x="246533" y="133875"/>
                      <a:pt x="228600" y="121920"/>
                    </a:cubicBezTo>
                    <a:lnTo>
                      <a:pt x="137160" y="60960"/>
                    </a:lnTo>
                    <a:cubicBezTo>
                      <a:pt x="121920" y="50800"/>
                      <a:pt x="108816" y="36272"/>
                      <a:pt x="91440" y="30480"/>
                    </a:cubicBezTo>
                    <a:lnTo>
                      <a:pt x="0" y="0"/>
                    </a:ln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64" name="Freeform 63"/>
              <p:cNvSpPr/>
              <p:nvPr/>
            </p:nvSpPr>
            <p:spPr>
              <a:xfrm>
                <a:off x="4389120" y="1920240"/>
                <a:ext cx="582658" cy="1478280"/>
              </a:xfrm>
              <a:custGeom>
                <a:avLst/>
                <a:gdLst>
                  <a:gd name="connsiteX0" fmla="*/ 0 w 582658"/>
                  <a:gd name="connsiteY0" fmla="*/ 1478280 h 1478280"/>
                  <a:gd name="connsiteX1" fmla="*/ 15240 w 582658"/>
                  <a:gd name="connsiteY1" fmla="*/ 1371600 h 1478280"/>
                  <a:gd name="connsiteX2" fmla="*/ 45720 w 582658"/>
                  <a:gd name="connsiteY2" fmla="*/ 1325880 h 1478280"/>
                  <a:gd name="connsiteX3" fmla="*/ 76200 w 582658"/>
                  <a:gd name="connsiteY3" fmla="*/ 1264920 h 1478280"/>
                  <a:gd name="connsiteX4" fmla="*/ 121920 w 582658"/>
                  <a:gd name="connsiteY4" fmla="*/ 1203960 h 1478280"/>
                  <a:gd name="connsiteX5" fmla="*/ 152400 w 582658"/>
                  <a:gd name="connsiteY5" fmla="*/ 1158240 h 1478280"/>
                  <a:gd name="connsiteX6" fmla="*/ 198120 w 582658"/>
                  <a:gd name="connsiteY6" fmla="*/ 1112520 h 1478280"/>
                  <a:gd name="connsiteX7" fmla="*/ 274320 w 582658"/>
                  <a:gd name="connsiteY7" fmla="*/ 1005840 h 1478280"/>
                  <a:gd name="connsiteX8" fmla="*/ 335280 w 582658"/>
                  <a:gd name="connsiteY8" fmla="*/ 914400 h 1478280"/>
                  <a:gd name="connsiteX9" fmla="*/ 365760 w 582658"/>
                  <a:gd name="connsiteY9" fmla="*/ 822960 h 1478280"/>
                  <a:gd name="connsiteX10" fmla="*/ 381000 w 582658"/>
                  <a:gd name="connsiteY10" fmla="*/ 777240 h 1478280"/>
                  <a:gd name="connsiteX11" fmla="*/ 396240 w 582658"/>
                  <a:gd name="connsiteY11" fmla="*/ 701040 h 1478280"/>
                  <a:gd name="connsiteX12" fmla="*/ 441960 w 582658"/>
                  <a:gd name="connsiteY12" fmla="*/ 426720 h 1478280"/>
                  <a:gd name="connsiteX13" fmla="*/ 472440 w 582658"/>
                  <a:gd name="connsiteY13" fmla="*/ 335280 h 1478280"/>
                  <a:gd name="connsiteX14" fmla="*/ 502920 w 582658"/>
                  <a:gd name="connsiteY14" fmla="*/ 289560 h 1478280"/>
                  <a:gd name="connsiteX15" fmla="*/ 533400 w 582658"/>
                  <a:gd name="connsiteY15" fmla="*/ 198120 h 1478280"/>
                  <a:gd name="connsiteX16" fmla="*/ 579120 w 582658"/>
                  <a:gd name="connsiteY16" fmla="*/ 106680 h 1478280"/>
                  <a:gd name="connsiteX17" fmla="*/ 579120 w 582658"/>
                  <a:gd name="connsiteY17" fmla="*/ 0 h 1478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2658" h="1478280">
                    <a:moveTo>
                      <a:pt x="0" y="1478280"/>
                    </a:moveTo>
                    <a:cubicBezTo>
                      <a:pt x="5080" y="1442720"/>
                      <a:pt x="4918" y="1406006"/>
                      <a:pt x="15240" y="1371600"/>
                    </a:cubicBezTo>
                    <a:cubicBezTo>
                      <a:pt x="20503" y="1354056"/>
                      <a:pt x="36633" y="1341783"/>
                      <a:pt x="45720" y="1325880"/>
                    </a:cubicBezTo>
                    <a:cubicBezTo>
                      <a:pt x="56992" y="1306155"/>
                      <a:pt x="64159" y="1284185"/>
                      <a:pt x="76200" y="1264920"/>
                    </a:cubicBezTo>
                    <a:cubicBezTo>
                      <a:pt x="89662" y="1243381"/>
                      <a:pt x="107157" y="1224629"/>
                      <a:pt x="121920" y="1203960"/>
                    </a:cubicBezTo>
                    <a:cubicBezTo>
                      <a:pt x="132566" y="1189055"/>
                      <a:pt x="140674" y="1172311"/>
                      <a:pt x="152400" y="1158240"/>
                    </a:cubicBezTo>
                    <a:cubicBezTo>
                      <a:pt x="166198" y="1141683"/>
                      <a:pt x="185593" y="1130058"/>
                      <a:pt x="198120" y="1112520"/>
                    </a:cubicBezTo>
                    <a:cubicBezTo>
                      <a:pt x="298417" y="972105"/>
                      <a:pt x="155446" y="1124714"/>
                      <a:pt x="274320" y="1005840"/>
                    </a:cubicBezTo>
                    <a:cubicBezTo>
                      <a:pt x="324738" y="854585"/>
                      <a:pt x="240148" y="1085638"/>
                      <a:pt x="335280" y="914400"/>
                    </a:cubicBezTo>
                    <a:cubicBezTo>
                      <a:pt x="350883" y="886314"/>
                      <a:pt x="355600" y="853440"/>
                      <a:pt x="365760" y="822960"/>
                    </a:cubicBezTo>
                    <a:cubicBezTo>
                      <a:pt x="370840" y="807720"/>
                      <a:pt x="377850" y="792992"/>
                      <a:pt x="381000" y="777240"/>
                    </a:cubicBezTo>
                    <a:cubicBezTo>
                      <a:pt x="386080" y="751840"/>
                      <a:pt x="392817" y="726716"/>
                      <a:pt x="396240" y="701040"/>
                    </a:cubicBezTo>
                    <a:cubicBezTo>
                      <a:pt x="414822" y="561672"/>
                      <a:pt x="399775" y="553274"/>
                      <a:pt x="441960" y="426720"/>
                    </a:cubicBezTo>
                    <a:cubicBezTo>
                      <a:pt x="452120" y="396240"/>
                      <a:pt x="454618" y="362013"/>
                      <a:pt x="472440" y="335280"/>
                    </a:cubicBezTo>
                    <a:cubicBezTo>
                      <a:pt x="482600" y="320040"/>
                      <a:pt x="495481" y="306298"/>
                      <a:pt x="502920" y="289560"/>
                    </a:cubicBezTo>
                    <a:cubicBezTo>
                      <a:pt x="515969" y="260200"/>
                      <a:pt x="515578" y="224853"/>
                      <a:pt x="533400" y="198120"/>
                    </a:cubicBezTo>
                    <a:cubicBezTo>
                      <a:pt x="553042" y="168656"/>
                      <a:pt x="575408" y="143795"/>
                      <a:pt x="579120" y="106680"/>
                    </a:cubicBezTo>
                    <a:cubicBezTo>
                      <a:pt x="582658" y="71296"/>
                      <a:pt x="579120" y="35560"/>
                      <a:pt x="579120" y="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65" name="Freeform 64"/>
              <p:cNvSpPr/>
              <p:nvPr/>
            </p:nvSpPr>
            <p:spPr>
              <a:xfrm>
                <a:off x="4419600" y="3002280"/>
                <a:ext cx="1706880" cy="426720"/>
              </a:xfrm>
              <a:custGeom>
                <a:avLst/>
                <a:gdLst>
                  <a:gd name="connsiteX0" fmla="*/ 0 w 1706880"/>
                  <a:gd name="connsiteY0" fmla="*/ 426720 h 426720"/>
                  <a:gd name="connsiteX1" fmla="*/ 182880 w 1706880"/>
                  <a:gd name="connsiteY1" fmla="*/ 350520 h 426720"/>
                  <a:gd name="connsiteX2" fmla="*/ 243840 w 1706880"/>
                  <a:gd name="connsiteY2" fmla="*/ 320040 h 426720"/>
                  <a:gd name="connsiteX3" fmla="*/ 365760 w 1706880"/>
                  <a:gd name="connsiteY3" fmla="*/ 289560 h 426720"/>
                  <a:gd name="connsiteX4" fmla="*/ 426720 w 1706880"/>
                  <a:gd name="connsiteY4" fmla="*/ 259080 h 426720"/>
                  <a:gd name="connsiteX5" fmla="*/ 563880 w 1706880"/>
                  <a:gd name="connsiteY5" fmla="*/ 228600 h 426720"/>
                  <a:gd name="connsiteX6" fmla="*/ 609600 w 1706880"/>
                  <a:gd name="connsiteY6" fmla="*/ 198120 h 426720"/>
                  <a:gd name="connsiteX7" fmla="*/ 746760 w 1706880"/>
                  <a:gd name="connsiteY7" fmla="*/ 167640 h 426720"/>
                  <a:gd name="connsiteX8" fmla="*/ 838200 w 1706880"/>
                  <a:gd name="connsiteY8" fmla="*/ 137160 h 426720"/>
                  <a:gd name="connsiteX9" fmla="*/ 883920 w 1706880"/>
                  <a:gd name="connsiteY9" fmla="*/ 121920 h 426720"/>
                  <a:gd name="connsiteX10" fmla="*/ 929640 w 1706880"/>
                  <a:gd name="connsiteY10" fmla="*/ 91440 h 426720"/>
                  <a:gd name="connsiteX11" fmla="*/ 1021080 w 1706880"/>
                  <a:gd name="connsiteY11" fmla="*/ 45720 h 426720"/>
                  <a:gd name="connsiteX12" fmla="*/ 1554480 w 1706880"/>
                  <a:gd name="connsiteY12" fmla="*/ 45720 h 426720"/>
                  <a:gd name="connsiteX13" fmla="*/ 1600200 w 1706880"/>
                  <a:gd name="connsiteY13" fmla="*/ 30480 h 426720"/>
                  <a:gd name="connsiteX14" fmla="*/ 1706880 w 1706880"/>
                  <a:gd name="connsiteY14"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6880" h="426720">
                    <a:moveTo>
                      <a:pt x="0" y="426720"/>
                    </a:moveTo>
                    <a:cubicBezTo>
                      <a:pt x="60960" y="401320"/>
                      <a:pt x="122377" y="376990"/>
                      <a:pt x="182880" y="350520"/>
                    </a:cubicBezTo>
                    <a:cubicBezTo>
                      <a:pt x="203694" y="341414"/>
                      <a:pt x="222287" y="327224"/>
                      <a:pt x="243840" y="320040"/>
                    </a:cubicBezTo>
                    <a:cubicBezTo>
                      <a:pt x="283581" y="306793"/>
                      <a:pt x="326019" y="302807"/>
                      <a:pt x="365760" y="289560"/>
                    </a:cubicBezTo>
                    <a:cubicBezTo>
                      <a:pt x="387313" y="282376"/>
                      <a:pt x="404960" y="265608"/>
                      <a:pt x="426720" y="259080"/>
                    </a:cubicBezTo>
                    <a:cubicBezTo>
                      <a:pt x="485253" y="241520"/>
                      <a:pt x="514191" y="253445"/>
                      <a:pt x="563880" y="228600"/>
                    </a:cubicBezTo>
                    <a:cubicBezTo>
                      <a:pt x="580263" y="220409"/>
                      <a:pt x="593217" y="206311"/>
                      <a:pt x="609600" y="198120"/>
                    </a:cubicBezTo>
                    <a:cubicBezTo>
                      <a:pt x="653203" y="176318"/>
                      <a:pt x="699934" y="179347"/>
                      <a:pt x="746760" y="167640"/>
                    </a:cubicBezTo>
                    <a:cubicBezTo>
                      <a:pt x="777929" y="159848"/>
                      <a:pt x="807720" y="147320"/>
                      <a:pt x="838200" y="137160"/>
                    </a:cubicBezTo>
                    <a:cubicBezTo>
                      <a:pt x="853440" y="132080"/>
                      <a:pt x="870554" y="130831"/>
                      <a:pt x="883920" y="121920"/>
                    </a:cubicBezTo>
                    <a:cubicBezTo>
                      <a:pt x="899160" y="111760"/>
                      <a:pt x="913257" y="99631"/>
                      <a:pt x="929640" y="91440"/>
                    </a:cubicBezTo>
                    <a:cubicBezTo>
                      <a:pt x="1055833" y="28344"/>
                      <a:pt x="890053" y="133071"/>
                      <a:pt x="1021080" y="45720"/>
                    </a:cubicBezTo>
                    <a:cubicBezTo>
                      <a:pt x="1260239" y="55286"/>
                      <a:pt x="1353073" y="76706"/>
                      <a:pt x="1554480" y="45720"/>
                    </a:cubicBezTo>
                    <a:cubicBezTo>
                      <a:pt x="1570358" y="43277"/>
                      <a:pt x="1584615" y="34376"/>
                      <a:pt x="1600200" y="30480"/>
                    </a:cubicBezTo>
                    <a:cubicBezTo>
                      <a:pt x="1705006" y="4278"/>
                      <a:pt x="1645572" y="30654"/>
                      <a:pt x="1706880" y="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grpSp>
        <p:sp>
          <p:nvSpPr>
            <p:cNvPr id="17" name="TextBox 16"/>
            <p:cNvSpPr txBox="1"/>
            <p:nvPr/>
          </p:nvSpPr>
          <p:spPr>
            <a:xfrm>
              <a:off x="457200" y="5257800"/>
              <a:ext cx="1447800" cy="1219449"/>
            </a:xfrm>
            <a:prstGeom prst="rect">
              <a:avLst/>
            </a:prstGeom>
            <a:noFill/>
          </p:spPr>
          <p:txBody>
            <a:bodyPr wrap="square" rtlCol="0">
              <a:spAutoFit/>
            </a:bodyPr>
            <a:lstStyle/>
            <a:p>
              <a:pPr algn="ctr"/>
              <a:r>
                <a:rPr lang="fi-FI" sz="1050" dirty="0" smtClean="0">
                  <a:latin typeface="Comic Sans MS" pitchFamily="66" charset="0"/>
                </a:rPr>
                <a:t>Technical Excellence</a:t>
              </a:r>
              <a:endParaRPr lang="fi-FI" sz="1050" dirty="0">
                <a:latin typeface="Comic Sans MS" pitchFamily="66" charset="0"/>
              </a:endParaRPr>
            </a:p>
          </p:txBody>
        </p:sp>
        <p:sp>
          <p:nvSpPr>
            <p:cNvPr id="18" name="TextBox 17"/>
            <p:cNvSpPr txBox="1"/>
            <p:nvPr/>
          </p:nvSpPr>
          <p:spPr>
            <a:xfrm>
              <a:off x="3352800" y="6019800"/>
              <a:ext cx="1447800" cy="711345"/>
            </a:xfrm>
            <a:prstGeom prst="rect">
              <a:avLst/>
            </a:prstGeom>
            <a:noFill/>
          </p:spPr>
          <p:txBody>
            <a:bodyPr wrap="square" rtlCol="0">
              <a:spAutoFit/>
            </a:bodyPr>
            <a:lstStyle/>
            <a:p>
              <a:pPr algn="ctr"/>
              <a:r>
                <a:rPr lang="fi-FI" sz="1050" dirty="0" smtClean="0">
                  <a:latin typeface="Comic Sans MS" pitchFamily="66" charset="0"/>
                </a:rPr>
                <a:t>Confidence</a:t>
              </a:r>
              <a:endParaRPr lang="fi-FI" sz="1050" dirty="0">
                <a:latin typeface="Comic Sans MS" pitchFamily="66" charset="0"/>
              </a:endParaRPr>
            </a:p>
          </p:txBody>
        </p:sp>
        <p:sp>
          <p:nvSpPr>
            <p:cNvPr id="19" name="TextBox 18"/>
            <p:cNvSpPr txBox="1"/>
            <p:nvPr/>
          </p:nvSpPr>
          <p:spPr>
            <a:xfrm>
              <a:off x="228600" y="2630269"/>
              <a:ext cx="1981200" cy="711345"/>
            </a:xfrm>
            <a:prstGeom prst="rect">
              <a:avLst/>
            </a:prstGeom>
            <a:noFill/>
          </p:spPr>
          <p:txBody>
            <a:bodyPr wrap="square" rtlCol="0">
              <a:spAutoFit/>
            </a:bodyPr>
            <a:lstStyle/>
            <a:p>
              <a:pPr algn="ctr"/>
              <a:r>
                <a:rPr lang="fi-FI" sz="1050" dirty="0" smtClean="0">
                  <a:latin typeface="Comic Sans MS" pitchFamily="66" charset="0"/>
                </a:rPr>
                <a:t>Self-improvement</a:t>
              </a:r>
              <a:endParaRPr lang="fi-FI" sz="1050" dirty="0">
                <a:latin typeface="Comic Sans MS" pitchFamily="66" charset="0"/>
              </a:endParaRPr>
            </a:p>
          </p:txBody>
        </p:sp>
        <p:sp>
          <p:nvSpPr>
            <p:cNvPr id="20" name="TextBox 19"/>
            <p:cNvSpPr txBox="1"/>
            <p:nvPr/>
          </p:nvSpPr>
          <p:spPr>
            <a:xfrm>
              <a:off x="1371600" y="1371600"/>
              <a:ext cx="1524000" cy="711345"/>
            </a:xfrm>
            <a:prstGeom prst="rect">
              <a:avLst/>
            </a:prstGeom>
            <a:noFill/>
          </p:spPr>
          <p:txBody>
            <a:bodyPr wrap="square" rtlCol="0">
              <a:spAutoFit/>
            </a:bodyPr>
            <a:lstStyle/>
            <a:p>
              <a:pPr algn="ctr"/>
              <a:r>
                <a:rPr lang="fi-FI" sz="1050" dirty="0" smtClean="0">
                  <a:latin typeface="Comic Sans MS" pitchFamily="66" charset="0"/>
                </a:rPr>
                <a:t>Product Sense</a:t>
              </a:r>
              <a:endParaRPr lang="fi-FI" sz="1050" dirty="0">
                <a:latin typeface="Comic Sans MS" pitchFamily="66" charset="0"/>
              </a:endParaRPr>
            </a:p>
          </p:txBody>
        </p:sp>
        <p:sp>
          <p:nvSpPr>
            <p:cNvPr id="21" name="TextBox 20"/>
            <p:cNvSpPr txBox="1"/>
            <p:nvPr/>
          </p:nvSpPr>
          <p:spPr>
            <a:xfrm>
              <a:off x="4800600" y="1371600"/>
              <a:ext cx="1524000" cy="711345"/>
            </a:xfrm>
            <a:prstGeom prst="rect">
              <a:avLst/>
            </a:prstGeom>
            <a:noFill/>
          </p:spPr>
          <p:txBody>
            <a:bodyPr wrap="square" rtlCol="0">
              <a:spAutoFit/>
            </a:bodyPr>
            <a:lstStyle/>
            <a:p>
              <a:pPr algn="ctr"/>
              <a:r>
                <a:rPr lang="fi-FI" sz="1050" dirty="0" smtClean="0">
                  <a:latin typeface="Comic Sans MS" pitchFamily="66" charset="0"/>
                </a:rPr>
                <a:t>Business Value</a:t>
              </a:r>
              <a:endParaRPr lang="fi-FI" sz="1050" dirty="0">
                <a:latin typeface="Comic Sans MS" pitchFamily="66" charset="0"/>
              </a:endParaRPr>
            </a:p>
          </p:txBody>
        </p:sp>
        <p:sp>
          <p:nvSpPr>
            <p:cNvPr id="22" name="TextBox 21"/>
            <p:cNvSpPr txBox="1"/>
            <p:nvPr/>
          </p:nvSpPr>
          <p:spPr>
            <a:xfrm>
              <a:off x="6172200" y="2819401"/>
              <a:ext cx="1676400" cy="711345"/>
            </a:xfrm>
            <a:prstGeom prst="rect">
              <a:avLst/>
            </a:prstGeom>
            <a:noFill/>
          </p:spPr>
          <p:txBody>
            <a:bodyPr wrap="square" rtlCol="0">
              <a:spAutoFit/>
            </a:bodyPr>
            <a:lstStyle/>
            <a:p>
              <a:pPr algn="ctr"/>
              <a:r>
                <a:rPr lang="fi-FI" sz="1050" dirty="0" smtClean="0">
                  <a:latin typeface="Comic Sans MS" pitchFamily="66" charset="0"/>
                </a:rPr>
                <a:t>Collaboration</a:t>
              </a:r>
              <a:endParaRPr lang="fi-FI" sz="1050" dirty="0">
                <a:latin typeface="Comic Sans MS" pitchFamily="66" charset="0"/>
              </a:endParaRPr>
            </a:p>
          </p:txBody>
        </p:sp>
        <p:sp>
          <p:nvSpPr>
            <p:cNvPr id="23" name="TextBox 22"/>
            <p:cNvSpPr txBox="1"/>
            <p:nvPr/>
          </p:nvSpPr>
          <p:spPr>
            <a:xfrm>
              <a:off x="5638800" y="5943600"/>
              <a:ext cx="1676400" cy="711345"/>
            </a:xfrm>
            <a:prstGeom prst="rect">
              <a:avLst/>
            </a:prstGeom>
            <a:noFill/>
          </p:spPr>
          <p:txBody>
            <a:bodyPr wrap="square" rtlCol="0">
              <a:spAutoFit/>
            </a:bodyPr>
            <a:lstStyle/>
            <a:p>
              <a:pPr algn="ctr"/>
              <a:r>
                <a:rPr lang="fi-FI" sz="1050" dirty="0" smtClean="0">
                  <a:latin typeface="Comic Sans MS" pitchFamily="66" charset="0"/>
                </a:rPr>
                <a:t>Supportive Culture</a:t>
              </a:r>
              <a:endParaRPr lang="fi-FI" sz="1050" dirty="0">
                <a:latin typeface="Comic Sans MS" pitchFamily="66" charset="0"/>
              </a:endParaRPr>
            </a:p>
          </p:txBody>
        </p:sp>
        <p:sp>
          <p:nvSpPr>
            <p:cNvPr id="24" name="Freeform 23"/>
            <p:cNvSpPr/>
            <p:nvPr/>
          </p:nvSpPr>
          <p:spPr>
            <a:xfrm>
              <a:off x="3947160" y="4267200"/>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25" name="Freeform 24"/>
            <p:cNvSpPr/>
            <p:nvPr/>
          </p:nvSpPr>
          <p:spPr>
            <a:xfrm>
              <a:off x="4526280" y="388620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26" name="Freeform 25"/>
            <p:cNvSpPr/>
            <p:nvPr/>
          </p:nvSpPr>
          <p:spPr>
            <a:xfrm>
              <a:off x="4709160" y="344424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27" name="Freeform 26"/>
            <p:cNvSpPr/>
            <p:nvPr/>
          </p:nvSpPr>
          <p:spPr>
            <a:xfrm>
              <a:off x="4267200" y="320040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28" name="Freeform 27"/>
            <p:cNvSpPr/>
            <p:nvPr/>
          </p:nvSpPr>
          <p:spPr>
            <a:xfrm>
              <a:off x="3655994" y="321564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29" name="Freeform 28"/>
            <p:cNvSpPr/>
            <p:nvPr/>
          </p:nvSpPr>
          <p:spPr>
            <a:xfrm>
              <a:off x="3490413" y="356616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0" name="Freeform 29"/>
            <p:cNvSpPr/>
            <p:nvPr/>
          </p:nvSpPr>
          <p:spPr>
            <a:xfrm>
              <a:off x="3572951" y="391668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1" name="Freeform 30"/>
            <p:cNvSpPr/>
            <p:nvPr/>
          </p:nvSpPr>
          <p:spPr>
            <a:xfrm>
              <a:off x="3886200" y="4572000"/>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2" name="Freeform 31"/>
            <p:cNvSpPr/>
            <p:nvPr/>
          </p:nvSpPr>
          <p:spPr>
            <a:xfrm>
              <a:off x="3810000" y="4953000"/>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3" name="Freeform 32"/>
            <p:cNvSpPr/>
            <p:nvPr/>
          </p:nvSpPr>
          <p:spPr>
            <a:xfrm>
              <a:off x="3733800" y="5282948"/>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4" name="Freeform 33"/>
            <p:cNvSpPr/>
            <p:nvPr/>
          </p:nvSpPr>
          <p:spPr>
            <a:xfrm>
              <a:off x="3657600" y="5638800"/>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5" name="Freeform 34"/>
            <p:cNvSpPr/>
            <p:nvPr/>
          </p:nvSpPr>
          <p:spPr>
            <a:xfrm>
              <a:off x="4876800" y="413004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6" name="Freeform 35"/>
            <p:cNvSpPr/>
            <p:nvPr/>
          </p:nvSpPr>
          <p:spPr>
            <a:xfrm>
              <a:off x="5257800" y="435864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7" name="Freeform 36"/>
            <p:cNvSpPr/>
            <p:nvPr/>
          </p:nvSpPr>
          <p:spPr>
            <a:xfrm>
              <a:off x="5562600" y="466344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8" name="Freeform 37"/>
            <p:cNvSpPr/>
            <p:nvPr/>
          </p:nvSpPr>
          <p:spPr>
            <a:xfrm>
              <a:off x="5867400" y="495300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9" name="Freeform 38"/>
            <p:cNvSpPr/>
            <p:nvPr/>
          </p:nvSpPr>
          <p:spPr>
            <a:xfrm>
              <a:off x="5029200" y="335280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0" name="Freeform 39"/>
            <p:cNvSpPr/>
            <p:nvPr/>
          </p:nvSpPr>
          <p:spPr>
            <a:xfrm>
              <a:off x="5410200" y="320040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1" name="Freeform 40"/>
            <p:cNvSpPr/>
            <p:nvPr/>
          </p:nvSpPr>
          <p:spPr>
            <a:xfrm>
              <a:off x="5791200" y="312420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2" name="Freeform 41"/>
            <p:cNvSpPr/>
            <p:nvPr/>
          </p:nvSpPr>
          <p:spPr>
            <a:xfrm>
              <a:off x="6096000" y="312420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3" name="Freeform 42"/>
            <p:cNvSpPr/>
            <p:nvPr/>
          </p:nvSpPr>
          <p:spPr>
            <a:xfrm>
              <a:off x="4419600" y="289560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4" name="Freeform 43"/>
            <p:cNvSpPr/>
            <p:nvPr/>
          </p:nvSpPr>
          <p:spPr>
            <a:xfrm>
              <a:off x="4572000" y="256032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5" name="Freeform 44"/>
            <p:cNvSpPr/>
            <p:nvPr/>
          </p:nvSpPr>
          <p:spPr>
            <a:xfrm>
              <a:off x="4648200" y="220980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6" name="Freeform 45"/>
            <p:cNvSpPr/>
            <p:nvPr/>
          </p:nvSpPr>
          <p:spPr>
            <a:xfrm>
              <a:off x="4724400" y="190500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7" name="Freeform 46"/>
            <p:cNvSpPr/>
            <p:nvPr/>
          </p:nvSpPr>
          <p:spPr>
            <a:xfrm>
              <a:off x="3429000" y="289560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8" name="Freeform 47"/>
            <p:cNvSpPr/>
            <p:nvPr/>
          </p:nvSpPr>
          <p:spPr>
            <a:xfrm>
              <a:off x="3276600" y="257556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9" name="Freeform 48"/>
            <p:cNvSpPr/>
            <p:nvPr/>
          </p:nvSpPr>
          <p:spPr>
            <a:xfrm>
              <a:off x="3124200" y="227076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50" name="Freeform 49"/>
            <p:cNvSpPr/>
            <p:nvPr/>
          </p:nvSpPr>
          <p:spPr>
            <a:xfrm>
              <a:off x="2895600" y="198120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51" name="Freeform 50"/>
            <p:cNvSpPr/>
            <p:nvPr/>
          </p:nvSpPr>
          <p:spPr>
            <a:xfrm>
              <a:off x="3155133" y="350520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52" name="Freeform 51"/>
            <p:cNvSpPr/>
            <p:nvPr/>
          </p:nvSpPr>
          <p:spPr>
            <a:xfrm>
              <a:off x="2774133" y="350520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53" name="Freeform 52"/>
            <p:cNvSpPr/>
            <p:nvPr/>
          </p:nvSpPr>
          <p:spPr>
            <a:xfrm>
              <a:off x="2438400" y="342900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54" name="Freeform 53"/>
            <p:cNvSpPr/>
            <p:nvPr/>
          </p:nvSpPr>
          <p:spPr>
            <a:xfrm>
              <a:off x="2088333" y="335280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55" name="Freeform 54"/>
            <p:cNvSpPr/>
            <p:nvPr/>
          </p:nvSpPr>
          <p:spPr>
            <a:xfrm>
              <a:off x="3200400" y="406908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56" name="Freeform 55"/>
            <p:cNvSpPr/>
            <p:nvPr/>
          </p:nvSpPr>
          <p:spPr>
            <a:xfrm>
              <a:off x="2887151" y="435864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dirty="0"/>
            </a:p>
          </p:txBody>
        </p:sp>
        <p:sp>
          <p:nvSpPr>
            <p:cNvPr id="57" name="Freeform 56"/>
            <p:cNvSpPr/>
            <p:nvPr/>
          </p:nvSpPr>
          <p:spPr>
            <a:xfrm>
              <a:off x="2506151" y="451104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58" name="Freeform 57"/>
            <p:cNvSpPr/>
            <p:nvPr/>
          </p:nvSpPr>
          <p:spPr>
            <a:xfrm>
              <a:off x="2048951" y="473964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Ideoita, ajatuksia, </a:t>
            </a:r>
            <a:br>
              <a:rPr lang="fi-FI" dirty="0" smtClean="0"/>
            </a:br>
            <a:r>
              <a:rPr lang="fi-FI" dirty="0" smtClean="0"/>
              <a:t>kysymyksiä?</a:t>
            </a:r>
            <a:endParaRPr lang="fi-FI" dirty="0"/>
          </a:p>
        </p:txBody>
      </p:sp>
      <p:sp>
        <p:nvSpPr>
          <p:cNvPr id="3" name="Text Placeholder 2"/>
          <p:cNvSpPr>
            <a:spLocks noGrp="1"/>
          </p:cNvSpPr>
          <p:nvPr>
            <p:ph type="body" idx="1"/>
          </p:nvPr>
        </p:nvSpPr>
        <p:spPr/>
        <p:txBody>
          <a:bodyPr/>
          <a:lstStyle/>
          <a:p>
            <a:endParaRPr lang="fi-FI" dirty="0"/>
          </a:p>
        </p:txBody>
      </p:sp>
      <p:pic>
        <p:nvPicPr>
          <p:cNvPr id="4" name="Picture 3" descr="C:\Documents and Settings\mpyhajar.CONFORMIQ\Application Data\Microsoft\Media Catalog\Downloaded Clips\cl1f\j0078711.wmf"/>
          <p:cNvPicPr>
            <a:picLocks noChangeAspect="1" noChangeArrowheads="1"/>
          </p:cNvPicPr>
          <p:nvPr/>
        </p:nvPicPr>
        <p:blipFill>
          <a:blip r:embed="rId3" cstate="print"/>
          <a:srcRect/>
          <a:stretch>
            <a:fillRect/>
          </a:stretch>
        </p:blipFill>
        <p:spPr bwMode="auto">
          <a:xfrm>
            <a:off x="2571736" y="285728"/>
            <a:ext cx="1622425" cy="3933825"/>
          </a:xfrm>
          <a:prstGeom prst="rect">
            <a:avLst/>
          </a:prstGeom>
          <a:noFill/>
        </p:spPr>
      </p:pic>
      <p:pic>
        <p:nvPicPr>
          <p:cNvPr id="5" name="Picture 4" descr="C:\Documents and Settings\mpyhajar.CONFORMIQ\Application Data\Microsoft\Media Catalog\Downloaded Clips\cl1f\j0078625.wmf"/>
          <p:cNvPicPr>
            <a:picLocks noChangeAspect="1" noChangeArrowheads="1"/>
          </p:cNvPicPr>
          <p:nvPr/>
        </p:nvPicPr>
        <p:blipFill>
          <a:blip r:embed="rId4" cstate="print"/>
          <a:srcRect/>
          <a:stretch>
            <a:fillRect/>
          </a:stretch>
        </p:blipFill>
        <p:spPr bwMode="auto">
          <a:xfrm>
            <a:off x="6715140" y="2357430"/>
            <a:ext cx="1295400" cy="3933825"/>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1814</TotalTime>
  <Words>3296</Words>
  <Application>Microsoft Macintosh PowerPoint</Application>
  <PresentationFormat>On-screen Show (4:3)</PresentationFormat>
  <Paragraphs>802</Paragraphs>
  <Slides>34</Slides>
  <Notes>34</Notes>
  <HiddenSlides>2</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Testauksen parantaminen</vt:lpstr>
      <vt:lpstr>Self-Organized Team Also Organizes for Improvement</vt:lpstr>
      <vt:lpstr>Concept of Kaizen and Retrospectives</vt:lpstr>
      <vt:lpstr>Agile Focuses on People</vt:lpstr>
      <vt:lpstr>Improvement Starting Point and Organizing</vt:lpstr>
      <vt:lpstr>Elements of Process Change Source: Tim Kasse, 1999. Managing complex change processes.</vt:lpstr>
      <vt:lpstr>Test Process Improvement – Choosing the Right Medication</vt:lpstr>
      <vt:lpstr>Basic Principles of Lean Development</vt:lpstr>
      <vt:lpstr>The Seven Wastes of Software Development</vt:lpstr>
      <vt:lpstr>Hints on Evolving and Improving Testing Practices</vt:lpstr>
      <vt:lpstr>Retrospectives: Improvement from Bottom-Up</vt:lpstr>
      <vt:lpstr>Retrospectives: One  Typical Formula</vt:lpstr>
      <vt:lpstr>Different Retrospectives</vt:lpstr>
      <vt:lpstr>Multi-team Setting for Improvement</vt:lpstr>
      <vt:lpstr>Retrospective Is an  In-team Mechanism</vt:lpstr>
      <vt:lpstr>Bringing Visibility to  the Improvement Efforts</vt:lpstr>
      <vt:lpstr>Comparing Pre-Agile and Post-Agile is Larger Scale Improvement</vt:lpstr>
      <vt:lpstr>Test Process Improvement Model</vt:lpstr>
      <vt:lpstr>PowerPoint Presentation</vt:lpstr>
      <vt:lpstr>Example: Status and Improvements as Themes</vt:lpstr>
      <vt:lpstr>TPI-benchmark ’04 –  Conformiq (fi) &amp; Sogeti (nl)</vt:lpstr>
      <vt:lpstr>Agile and TPI</vt:lpstr>
      <vt:lpstr>Areas of Practices in Testing</vt:lpstr>
      <vt:lpstr>So, What We Had at End of 2004</vt:lpstr>
      <vt:lpstr>So, What We Had in Beginning of  2005</vt:lpstr>
      <vt:lpstr>Where were we (WinCore) (Spring  2007)</vt:lpstr>
      <vt:lpstr>Other Groups of Teams Are Different</vt:lpstr>
      <vt:lpstr>What Changes to Expect in 2007?</vt:lpstr>
      <vt:lpstr>Make Your Own Concepts Visible</vt:lpstr>
      <vt:lpstr>HOW Agile Are We?</vt:lpstr>
      <vt:lpstr>Agility Test:  ”The Nokia Test”</vt:lpstr>
      <vt:lpstr>Seven Pillars of a Good Agile Team Source: Brian Marick´s blog, www.exampler.com</vt:lpstr>
      <vt:lpstr>Exercise: What Your Testing Knowledge Can Give an Agile Team</vt:lpstr>
      <vt:lpstr>Ideoita, ajatuksia,  kysymyksiä?</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Havaintojen kirjaaminen ja Virheiden korjaaminen</dc:title>
  <dc:creator>Maaret Pyhäjärvi</dc:creator>
  <cp:lastModifiedBy>Maaret Pyhäjärvi</cp:lastModifiedBy>
  <cp:revision>16</cp:revision>
  <dcterms:created xsi:type="dcterms:W3CDTF">2006-08-16T00:00:00Z</dcterms:created>
  <dcterms:modified xsi:type="dcterms:W3CDTF">2017-05-30T09:21:32Z</dcterms:modified>
</cp:coreProperties>
</file>