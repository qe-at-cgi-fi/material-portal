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09" r:id="rId3"/>
    <p:sldId id="313" r:id="rId4"/>
    <p:sldId id="314" r:id="rId5"/>
    <p:sldId id="310" r:id="rId6"/>
    <p:sldId id="311" r:id="rId7"/>
    <p:sldId id="312" r:id="rId8"/>
    <p:sldId id="292" r:id="rId9"/>
    <p:sldId id="293" r:id="rId10"/>
    <p:sldId id="294" r:id="rId11"/>
    <p:sldId id="295" r:id="rId12"/>
    <p:sldId id="296" r:id="rId13"/>
    <p:sldId id="297" r:id="rId14"/>
    <p:sldId id="298" r:id="rId15"/>
    <p:sldId id="302" r:id="rId16"/>
    <p:sldId id="303" r:id="rId17"/>
    <p:sldId id="284" r:id="rId18"/>
    <p:sldId id="285" r:id="rId19"/>
    <p:sldId id="286" r:id="rId20"/>
    <p:sldId id="287" r:id="rId21"/>
    <p:sldId id="288" r:id="rId22"/>
    <p:sldId id="257" r:id="rId23"/>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09" autoAdjust="0"/>
  </p:normalViewPr>
  <p:slideViewPr>
    <p:cSldViewPr>
      <p:cViewPr varScale="1">
        <p:scale>
          <a:sx n="56" d="100"/>
          <a:sy n="56" d="100"/>
        </p:scale>
        <p:origin x="-1752" y="-11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440"/>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29/05/17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367267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Roles for Agile Testers</a:t>
            </a:r>
          </a:p>
          <a:p>
            <a:endParaRPr lang="en-US" dirty="0" smtClean="0"/>
          </a:p>
          <a:p>
            <a:r>
              <a:rPr lang="en-US" dirty="0" smtClean="0"/>
              <a:t>Testers can help the whole team work in a test-driven way by:</a:t>
            </a:r>
          </a:p>
          <a:p>
            <a:r>
              <a:rPr lang="en-US" dirty="0" smtClean="0"/>
              <a:t> 1. Assisting with defining requirements in the form of user stories and generating system-level tests from those requirements. Think of this as a questioning, test-driven approach to development.</a:t>
            </a:r>
          </a:p>
          <a:p>
            <a:r>
              <a:rPr lang="en-US" dirty="0" smtClean="0"/>
              <a:t> 2. Assisting with modeling the requirements (user stories)--by asking questions--and generating system-level tests from these stories.</a:t>
            </a:r>
          </a:p>
          <a:p>
            <a:r>
              <a:rPr lang="en-US" dirty="0" smtClean="0"/>
              <a:t> 2. Testers provide information about each chunk, as the developer delivers it. Sometimes that information is confirmation that the code does what the user story says, does not have side effects, and is release-able at the end of each iteration. Sometimes</a:t>
            </a:r>
            <a:r>
              <a:rPr lang="en-US" baseline="0" dirty="0" smtClean="0"/>
              <a:t> </a:t>
            </a:r>
            <a:r>
              <a:rPr lang="en-US" dirty="0" smtClean="0"/>
              <a:t>that information is extra information about the product and other paths the testing could take.</a:t>
            </a:r>
          </a:p>
          <a:p>
            <a:r>
              <a:rPr lang="en-US" dirty="0" smtClean="0"/>
              <a:t>3. Finally, testers can perform system-level regression testing during an iteration. (To be honest, on well-established agile teams, the developers typically run the low-level regression tests, allowing the testers to do what they do best: explore, question, and learn.) If the organization is new to agile, the testers might run regression system-level testing at the end of the project.</a:t>
            </a:r>
            <a:endParaRPr lang="fi-FI" dirty="0"/>
          </a:p>
        </p:txBody>
      </p:sp>
      <p:sp>
        <p:nvSpPr>
          <p:cNvPr id="4" name="Slide Number Placeholder 3"/>
          <p:cNvSpPr>
            <a:spLocks noGrp="1"/>
          </p:cNvSpPr>
          <p:nvPr>
            <p:ph type="sldNum" sz="quarter" idx="10"/>
          </p:nvPr>
        </p:nvSpPr>
        <p:spPr/>
        <p:txBody>
          <a:bodyPr/>
          <a:lstStyle/>
          <a:p>
            <a:fld id="{0DACF068-AF77-436E-9D70-4C9BB722695D}"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Winning</a:t>
            </a:r>
            <a:r>
              <a:rPr lang="en-GB" baseline="0" dirty="0" smtClean="0"/>
              <a:t> shape: would enable human vs. human earlier</a:t>
            </a:r>
            <a:endParaRPr lang="en-US" dirty="0"/>
          </a:p>
        </p:txBody>
      </p:sp>
      <p:sp>
        <p:nvSpPr>
          <p:cNvPr id="4" name="Slide Number Placeholder 3"/>
          <p:cNvSpPr>
            <a:spLocks noGrp="1"/>
          </p:cNvSpPr>
          <p:nvPr>
            <p:ph type="sldNum" sz="quarter" idx="10"/>
          </p:nvPr>
        </p:nvSpPr>
        <p:spPr/>
        <p:txBody>
          <a:bodyPr/>
          <a:lstStyle/>
          <a:p>
            <a:fld id="{5E793C7C-79A0-45B6-8634-F415CDFFBE56}"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Risk-Based Test Management for Definition of Done is more about working with the things expected of the product owner</a:t>
            </a:r>
          </a:p>
          <a:p>
            <a:r>
              <a:rPr lang="fi-FI" dirty="0" smtClean="0"/>
              <a:t>Not defining the specific tests, but defining the depth of how far to go with the specific test design for acceptance criteria</a:t>
            </a:r>
          </a:p>
          <a:p>
            <a:r>
              <a:rPr lang="fi-FI" dirty="0" smtClean="0"/>
              <a:t>This practice is about setting idea of limits to efforts used in testing for a backlog item as testing is endless task</a:t>
            </a:r>
          </a:p>
          <a:p>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99EEA7F-D113-42FA-B0B0-F9C651E32B1A}"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22</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C58997-1971-4079-99F7-A5680FE00421}"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8B014B-D423-4C1C-A9F5-78A58E814F13}"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0EE7FA-0330-46A1-A11B-53F20E3FCC61}"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3B67151-6724-4AD3-9FEB-D7B121AD0C27}"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FA105D4-3638-4F30-A004-FE4549A7DCC6}" type="datetime1">
              <a:rPr lang="en-US" smtClean="0"/>
              <a:pPr/>
              <a:t>29/05/17</a:t>
            </a:fld>
            <a:endParaRPr lang="en-US"/>
          </a:p>
        </p:txBody>
      </p:sp>
      <p:sp>
        <p:nvSpPr>
          <p:cNvPr id="8" name="Footer Placeholder 7"/>
          <p:cNvSpPr>
            <a:spLocks noGrp="1"/>
          </p:cNvSpPr>
          <p:nvPr>
            <p:ph type="ftr" sz="quarter" idx="11"/>
          </p:nvPr>
        </p:nvSpPr>
        <p:spPr/>
        <p:txBody>
          <a:bodyPr/>
          <a:lstStyle/>
          <a:p>
            <a:r>
              <a:rPr lang="en-US" smtClean="0"/>
              <a:t>Testauksen suunnittelu ja hallinta</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CE7D9B-DA52-4FA5-A92B-D85DCC7327A7}" type="datetime1">
              <a:rPr lang="en-US" smtClean="0"/>
              <a:pPr/>
              <a:t>29/05/17</a:t>
            </a:fld>
            <a:endParaRPr lang="en-US"/>
          </a:p>
        </p:txBody>
      </p:sp>
      <p:sp>
        <p:nvSpPr>
          <p:cNvPr id="4" name="Footer Placeholder 3"/>
          <p:cNvSpPr>
            <a:spLocks noGrp="1"/>
          </p:cNvSpPr>
          <p:nvPr>
            <p:ph type="ftr" sz="quarter" idx="11"/>
          </p:nvPr>
        </p:nvSpPr>
        <p:spPr/>
        <p:txBody>
          <a:bodyPr/>
          <a:lstStyle/>
          <a:p>
            <a:r>
              <a:rPr lang="en-US" smtClean="0"/>
              <a:t>Testauksen suunnittelu ja hallinta</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E2CEE7-5320-4EF7-AF7A-2600874EBF1B}" type="datetime1">
              <a:rPr lang="en-US" smtClean="0"/>
              <a:pPr/>
              <a:t>29/05/17</a:t>
            </a:fld>
            <a:endParaRPr lang="en-US"/>
          </a:p>
        </p:txBody>
      </p:sp>
      <p:sp>
        <p:nvSpPr>
          <p:cNvPr id="3" name="Footer Placeholder 2"/>
          <p:cNvSpPr>
            <a:spLocks noGrp="1"/>
          </p:cNvSpPr>
          <p:nvPr>
            <p:ph type="ftr" sz="quarter" idx="11"/>
          </p:nvPr>
        </p:nvSpPr>
        <p:spPr/>
        <p:txBody>
          <a:bodyPr/>
          <a:lstStyle/>
          <a:p>
            <a:r>
              <a:rPr lang="en-US" smtClean="0"/>
              <a:t>Testauksen suunnittelu ja hallinta</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70683B-8756-4501-A50A-0E827DC5E999}"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DCE7CF-C550-46DB-9727-3B17F3584AF5}"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Testauksen suunnittelu ja hallinta</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2BB1FD-FB69-4329-A2C6-70C7DAF70515}"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31D55C-7169-4918-9EB0-A13CA0BE3518}"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Testauksen suunnittelu ja hallinta</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9949DD-8A21-4B6F-B30F-95EBB53C1EB6}" type="datetime1">
              <a:rPr lang="en-US" smtClean="0"/>
              <a:pPr/>
              <a:t>29/05/17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Testauksen suunnittelu ja hallinta</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3.wmf"/><Relationship Id="rId4" Type="http://schemas.openxmlformats.org/officeDocument/2006/relationships/image" Target="../media/image4.wmf"/><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Iteraatiosuunnittelu</a:t>
            </a:r>
            <a:endParaRPr lang="fi-FI" dirty="0"/>
          </a:p>
        </p:txBody>
      </p:sp>
      <p:sp>
        <p:nvSpPr>
          <p:cNvPr id="3" name="Text Placeholder 2"/>
          <p:cNvSpPr>
            <a:spLocks noGrp="1"/>
          </p:cNvSpPr>
          <p:nvPr>
            <p:ph type="body" idx="1"/>
          </p:nvPr>
        </p:nvSpPr>
        <p:spPr/>
        <p:txBody>
          <a:bodyPr/>
          <a:lstStyle/>
          <a:p>
            <a:r>
              <a:rPr lang="fi-FI" dirty="0" smtClean="0"/>
              <a:t>Suunnittelumekanismit lyhyen aikavälin sisällä</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5" name="Picture 3" descr="C:\Documents and Settings\Maaret\My Documents\My Pictures\Microsoft Clip Organizer\j0288989.wmf"/>
          <p:cNvPicPr>
            <a:picLocks noChangeAspect="1" noChangeArrowheads="1"/>
          </p:cNvPicPr>
          <p:nvPr/>
        </p:nvPicPr>
        <p:blipFill>
          <a:blip r:embed="rId6" cstate="print"/>
          <a:srcRect/>
          <a:stretch>
            <a:fillRect/>
          </a:stretch>
        </p:blipFill>
        <p:spPr bwMode="auto">
          <a:xfrm>
            <a:off x="4128791" y="1023938"/>
            <a:ext cx="4658051" cy="2190748"/>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fi-FI" dirty="0" smtClean="0"/>
              <a:t>Iteraatiosuunnittelu</a:t>
            </a:r>
            <a:endParaRPr lang="fi-FI" dirty="0"/>
          </a:p>
        </p:txBody>
      </p:sp>
      <p:sp>
        <p:nvSpPr>
          <p:cNvPr id="6" name="Content Placeholder 5"/>
          <p:cNvSpPr>
            <a:spLocks noGrp="1"/>
          </p:cNvSpPr>
          <p:nvPr>
            <p:ph idx="1"/>
          </p:nvPr>
        </p:nvSpPr>
        <p:spPr/>
        <p:txBody>
          <a:bodyPr>
            <a:normAutofit fontScale="92500" lnSpcReduction="20000"/>
          </a:bodyPr>
          <a:lstStyle/>
          <a:p>
            <a:r>
              <a:rPr lang="fi-FI" dirty="0" smtClean="0"/>
              <a:t>Iteraatio = inkrementti = sprintti </a:t>
            </a:r>
          </a:p>
          <a:p>
            <a:pPr lvl="1"/>
            <a:r>
              <a:rPr lang="fi-FI" dirty="0" smtClean="0"/>
              <a:t>Rakkaalla lapsella on monta nimeä</a:t>
            </a:r>
          </a:p>
          <a:p>
            <a:r>
              <a:rPr lang="fi-FI" dirty="0" smtClean="0"/>
              <a:t>Keskeinen idea on lyhyehkö aikaväli jolle voidaan tehdä tarkempaa suunnittelua</a:t>
            </a:r>
          </a:p>
          <a:p>
            <a:pPr lvl="1"/>
            <a:r>
              <a:rPr lang="fi-FI" dirty="0" smtClean="0"/>
              <a:t>Kyky suunnitella ja sitoutua suunnitelmaan</a:t>
            </a:r>
          </a:p>
          <a:p>
            <a:pPr lvl="1"/>
            <a:r>
              <a:rPr lang="fi-FI" dirty="0" smtClean="0"/>
              <a:t>”Cone of uncertainty” – epävarmuuden suppilo</a:t>
            </a:r>
          </a:p>
          <a:p>
            <a:r>
              <a:rPr lang="fi-FI" dirty="0" smtClean="0"/>
              <a:t>Kaikki, mukaanlukien testaus, suunnitellaan samoin mekanismein</a:t>
            </a:r>
          </a:p>
          <a:p>
            <a:pPr lvl="1"/>
            <a:r>
              <a:rPr lang="fi-FI" dirty="0" smtClean="0"/>
              <a:t>suunnittelupäivä, suunnittelupeli / suunnittelupokeri, tarinapistearviointi, toteutusvaiheen työlista, tehtävätaulu ...</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Ketterän tiimin testauskäytäntöjen nelikenttä</a:t>
            </a:r>
            <a:br>
              <a:rPr lang="fi-FI" dirty="0" smtClean="0"/>
            </a:br>
            <a:r>
              <a:rPr lang="fi-FI" sz="1200" dirty="0" smtClean="0"/>
              <a:t>Mukautettu: Brian Marick</a:t>
            </a:r>
            <a:endParaRPr lang="fi-FI" dirty="0"/>
          </a:p>
        </p:txBody>
      </p:sp>
      <p:grpSp>
        <p:nvGrpSpPr>
          <p:cNvPr id="2" name="Group 16"/>
          <p:cNvGrpSpPr/>
          <p:nvPr/>
        </p:nvGrpSpPr>
        <p:grpSpPr>
          <a:xfrm>
            <a:off x="500034" y="2291356"/>
            <a:ext cx="8429684" cy="4357718"/>
            <a:chOff x="500034" y="1785926"/>
            <a:chExt cx="8429684" cy="5072098"/>
          </a:xfrm>
        </p:grpSpPr>
        <p:sp>
          <p:nvSpPr>
            <p:cNvPr id="5" name="Down Arrow 4"/>
            <p:cNvSpPr/>
            <p:nvPr/>
          </p:nvSpPr>
          <p:spPr>
            <a:xfrm>
              <a:off x="2428860" y="4429132"/>
              <a:ext cx="4572032" cy="2428892"/>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i-FI"/>
            </a:p>
          </p:txBody>
        </p:sp>
        <p:sp>
          <p:nvSpPr>
            <p:cNvPr id="6" name="Down Arrow 5"/>
            <p:cNvSpPr/>
            <p:nvPr/>
          </p:nvSpPr>
          <p:spPr>
            <a:xfrm flipV="1">
              <a:off x="2428860" y="1785926"/>
              <a:ext cx="4572032" cy="2143140"/>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fi-FI"/>
            </a:p>
          </p:txBody>
        </p:sp>
        <p:sp>
          <p:nvSpPr>
            <p:cNvPr id="7" name="TextBox 6"/>
            <p:cNvSpPr txBox="1"/>
            <p:nvPr/>
          </p:nvSpPr>
          <p:spPr>
            <a:xfrm>
              <a:off x="3786182" y="3198761"/>
              <a:ext cx="1857388" cy="752287"/>
            </a:xfrm>
            <a:prstGeom prst="rect">
              <a:avLst/>
            </a:prstGeom>
            <a:noFill/>
          </p:spPr>
          <p:txBody>
            <a:bodyPr wrap="square" rtlCol="0">
              <a:spAutoFit/>
            </a:bodyPr>
            <a:lstStyle/>
            <a:p>
              <a:pPr algn="ctr"/>
              <a:r>
                <a:rPr lang="fi-FI" dirty="0" smtClean="0"/>
                <a:t>Liiketoiminta-suuntautunut</a:t>
              </a:r>
              <a:endParaRPr lang="fi-FI" dirty="0"/>
            </a:p>
          </p:txBody>
        </p:sp>
        <p:sp>
          <p:nvSpPr>
            <p:cNvPr id="8" name="TextBox 7"/>
            <p:cNvSpPr txBox="1"/>
            <p:nvPr/>
          </p:nvSpPr>
          <p:spPr>
            <a:xfrm>
              <a:off x="3786182" y="4488428"/>
              <a:ext cx="1857388" cy="752287"/>
            </a:xfrm>
            <a:prstGeom prst="rect">
              <a:avLst/>
            </a:prstGeom>
            <a:noFill/>
          </p:spPr>
          <p:txBody>
            <a:bodyPr wrap="square" rtlCol="0">
              <a:spAutoFit/>
            </a:bodyPr>
            <a:lstStyle/>
            <a:p>
              <a:pPr algn="ctr"/>
              <a:r>
                <a:rPr lang="fi-FI" dirty="0" smtClean="0"/>
                <a:t>Teknologia-suuntautunut</a:t>
              </a:r>
              <a:endParaRPr lang="fi-FI" dirty="0"/>
            </a:p>
          </p:txBody>
        </p:sp>
        <p:sp>
          <p:nvSpPr>
            <p:cNvPr id="9" name="Right Arrow 8"/>
            <p:cNvSpPr/>
            <p:nvPr/>
          </p:nvSpPr>
          <p:spPr>
            <a:xfrm>
              <a:off x="6072198" y="2928934"/>
              <a:ext cx="2857520" cy="2500330"/>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fi-FI"/>
            </a:p>
          </p:txBody>
        </p:sp>
        <p:sp>
          <p:nvSpPr>
            <p:cNvPr id="10" name="Right Arrow 9"/>
            <p:cNvSpPr/>
            <p:nvPr/>
          </p:nvSpPr>
          <p:spPr>
            <a:xfrm rot="10800000">
              <a:off x="500034" y="2928934"/>
              <a:ext cx="2857520" cy="2500330"/>
            </a:xfrm>
            <a:prstGeom prst="right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fi-FI"/>
            </a:p>
          </p:txBody>
        </p:sp>
        <p:sp>
          <p:nvSpPr>
            <p:cNvPr id="11" name="TextBox 10"/>
            <p:cNvSpPr txBox="1"/>
            <p:nvPr/>
          </p:nvSpPr>
          <p:spPr>
            <a:xfrm>
              <a:off x="6072198" y="3854239"/>
              <a:ext cx="1857388" cy="429878"/>
            </a:xfrm>
            <a:prstGeom prst="rect">
              <a:avLst/>
            </a:prstGeom>
            <a:noFill/>
          </p:spPr>
          <p:txBody>
            <a:bodyPr wrap="square" rtlCol="0">
              <a:spAutoFit/>
            </a:bodyPr>
            <a:lstStyle/>
            <a:p>
              <a:pPr algn="ctr"/>
              <a:r>
                <a:rPr lang="fi-FI" dirty="0" smtClean="0"/>
                <a:t>Tuotteen kritiikki</a:t>
              </a:r>
              <a:endParaRPr lang="fi-FI" dirty="0"/>
            </a:p>
          </p:txBody>
        </p:sp>
        <p:sp>
          <p:nvSpPr>
            <p:cNvPr id="12" name="TextBox 11"/>
            <p:cNvSpPr txBox="1"/>
            <p:nvPr/>
          </p:nvSpPr>
          <p:spPr>
            <a:xfrm>
              <a:off x="1857356" y="3857628"/>
              <a:ext cx="1500198" cy="752287"/>
            </a:xfrm>
            <a:prstGeom prst="rect">
              <a:avLst/>
            </a:prstGeom>
            <a:noFill/>
          </p:spPr>
          <p:txBody>
            <a:bodyPr wrap="square" rtlCol="0">
              <a:spAutoFit/>
            </a:bodyPr>
            <a:lstStyle/>
            <a:p>
              <a:pPr algn="ctr"/>
              <a:r>
                <a:rPr lang="fi-FI" dirty="0" smtClean="0"/>
                <a:t>Tiimin tukeminen</a:t>
              </a:r>
              <a:endParaRPr lang="fi-FI" dirty="0"/>
            </a:p>
          </p:txBody>
        </p:sp>
      </p:grpSp>
      <p:sp>
        <p:nvSpPr>
          <p:cNvPr id="18" name="TextBox 17"/>
          <p:cNvSpPr txBox="1"/>
          <p:nvPr/>
        </p:nvSpPr>
        <p:spPr>
          <a:xfrm>
            <a:off x="71406" y="5720380"/>
            <a:ext cx="3071834" cy="830997"/>
          </a:xfrm>
          <a:prstGeom prst="rect">
            <a:avLst/>
          </a:prstGeom>
          <a:noFill/>
        </p:spPr>
        <p:txBody>
          <a:bodyPr wrap="square" rtlCol="0">
            <a:spAutoFit/>
          </a:bodyPr>
          <a:lstStyle/>
          <a:p>
            <a:pPr algn="ctr"/>
            <a:r>
              <a:rPr lang="fi-FI" sz="1600" dirty="0" smtClean="0"/>
              <a:t>Testit teknisenä suunnitelmana</a:t>
            </a:r>
          </a:p>
          <a:p>
            <a:pPr algn="ctr"/>
            <a:r>
              <a:rPr lang="fi-FI" sz="1600" dirty="0" smtClean="0"/>
              <a:t>Testiohjattu kehitystapa yksikkötasolla (TDD)</a:t>
            </a:r>
          </a:p>
        </p:txBody>
      </p:sp>
      <p:sp>
        <p:nvSpPr>
          <p:cNvPr id="19" name="TextBox 18"/>
          <p:cNvSpPr txBox="1"/>
          <p:nvPr/>
        </p:nvSpPr>
        <p:spPr>
          <a:xfrm>
            <a:off x="6572264" y="5786454"/>
            <a:ext cx="2500330" cy="830997"/>
          </a:xfrm>
          <a:prstGeom prst="rect">
            <a:avLst/>
          </a:prstGeom>
          <a:noFill/>
        </p:spPr>
        <p:txBody>
          <a:bodyPr wrap="square" rtlCol="0">
            <a:spAutoFit/>
          </a:bodyPr>
          <a:lstStyle/>
          <a:p>
            <a:pPr algn="ctr"/>
            <a:r>
              <a:rPr lang="fi-FI" sz="1600" dirty="0" smtClean="0"/>
              <a:t>Ei-toiminnalliset testauskohteet</a:t>
            </a:r>
          </a:p>
          <a:p>
            <a:pPr algn="ctr"/>
            <a:endParaRPr lang="fi-FI" sz="1600" dirty="0" smtClean="0"/>
          </a:p>
        </p:txBody>
      </p:sp>
      <p:sp>
        <p:nvSpPr>
          <p:cNvPr id="20" name="TextBox 19"/>
          <p:cNvSpPr txBox="1"/>
          <p:nvPr/>
        </p:nvSpPr>
        <p:spPr>
          <a:xfrm>
            <a:off x="142844" y="1828562"/>
            <a:ext cx="2714644" cy="1569660"/>
          </a:xfrm>
          <a:prstGeom prst="rect">
            <a:avLst/>
          </a:prstGeom>
          <a:noFill/>
        </p:spPr>
        <p:txBody>
          <a:bodyPr wrap="square" rtlCol="0">
            <a:spAutoFit/>
          </a:bodyPr>
          <a:lstStyle/>
          <a:p>
            <a:pPr algn="ctr"/>
            <a:r>
              <a:rPr lang="fi-FI" sz="1600" dirty="0" smtClean="0"/>
              <a:t>Työskentely vaatimusten kanssa</a:t>
            </a:r>
          </a:p>
          <a:p>
            <a:pPr algn="ctr"/>
            <a:r>
              <a:rPr lang="fi-FI" sz="1600" dirty="0" smtClean="0"/>
              <a:t>Valmiin määritelmä</a:t>
            </a:r>
          </a:p>
          <a:p>
            <a:pPr algn="ctr"/>
            <a:r>
              <a:rPr lang="fi-FI" sz="1600" dirty="0" smtClean="0"/>
              <a:t>Hyväksymistestiohjattu kehitystapa (ATDD)</a:t>
            </a:r>
          </a:p>
          <a:p>
            <a:pPr algn="ctr"/>
            <a:endParaRPr lang="fi-FI" sz="1600" dirty="0" smtClean="0"/>
          </a:p>
        </p:txBody>
      </p:sp>
      <p:sp>
        <p:nvSpPr>
          <p:cNvPr id="21" name="TextBox 20"/>
          <p:cNvSpPr txBox="1"/>
          <p:nvPr/>
        </p:nvSpPr>
        <p:spPr>
          <a:xfrm>
            <a:off x="6572264" y="2146221"/>
            <a:ext cx="2500330" cy="1323439"/>
          </a:xfrm>
          <a:prstGeom prst="rect">
            <a:avLst/>
          </a:prstGeom>
          <a:noFill/>
        </p:spPr>
        <p:txBody>
          <a:bodyPr wrap="square" rtlCol="0">
            <a:spAutoFit/>
          </a:bodyPr>
          <a:lstStyle/>
          <a:p>
            <a:pPr algn="ctr"/>
            <a:r>
              <a:rPr lang="fi-FI" sz="1600" dirty="0" smtClean="0"/>
              <a:t>Tutkiva testaus</a:t>
            </a:r>
          </a:p>
          <a:p>
            <a:pPr algn="ctr"/>
            <a:r>
              <a:rPr lang="fi-FI" sz="1600" dirty="0" smtClean="0"/>
              <a:t>Puuttuvien tuotteen tehtävälistan alkioiden tunnistaminen</a:t>
            </a:r>
          </a:p>
          <a:p>
            <a:pPr algn="ctr"/>
            <a:endParaRPr lang="fi-FI" sz="1600" dirty="0" smtClean="0"/>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2354" name="Rectangle 2"/>
          <p:cNvSpPr>
            <a:spLocks noGrp="1" noChangeArrowheads="1"/>
          </p:cNvSpPr>
          <p:nvPr>
            <p:ph type="title"/>
          </p:nvPr>
        </p:nvSpPr>
        <p:spPr/>
        <p:txBody>
          <a:bodyPr>
            <a:normAutofit fontScale="90000"/>
          </a:bodyPr>
          <a:lstStyle/>
          <a:p>
            <a:pPr fontAlgn="auto">
              <a:spcAft>
                <a:spcPts val="0"/>
              </a:spcAft>
              <a:defRPr/>
            </a:pPr>
            <a:r>
              <a:rPr lang="en-GB" dirty="0" err="1" smtClean="0"/>
              <a:t>Testaajan</a:t>
            </a:r>
            <a:r>
              <a:rPr lang="en-GB" dirty="0" smtClean="0"/>
              <a:t> </a:t>
            </a:r>
            <a:r>
              <a:rPr lang="en-GB" dirty="0" err="1" smtClean="0"/>
              <a:t>rooli</a:t>
            </a:r>
            <a:r>
              <a:rPr lang="en-GB" dirty="0" smtClean="0"/>
              <a:t> </a:t>
            </a:r>
            <a:r>
              <a:rPr lang="en-GB" dirty="0" err="1" smtClean="0"/>
              <a:t>ketterissä</a:t>
            </a:r>
            <a:r>
              <a:rPr lang="en-GB" dirty="0" smtClean="0"/>
              <a:t> </a:t>
            </a:r>
            <a:r>
              <a:rPr lang="en-GB" dirty="0" err="1" smtClean="0"/>
              <a:t>menetelmissä</a:t>
            </a:r>
            <a:endParaRPr lang="en-GB" dirty="0"/>
          </a:p>
        </p:txBody>
      </p:sp>
      <p:grpSp>
        <p:nvGrpSpPr>
          <p:cNvPr id="2" name="Group 3"/>
          <p:cNvGrpSpPr>
            <a:grpSpLocks/>
          </p:cNvGrpSpPr>
          <p:nvPr/>
        </p:nvGrpSpPr>
        <p:grpSpPr bwMode="auto">
          <a:xfrm>
            <a:off x="214313" y="1785938"/>
            <a:ext cx="8763000" cy="5000625"/>
            <a:chOff x="480" y="1248"/>
            <a:chExt cx="4608" cy="2016"/>
          </a:xfrm>
        </p:grpSpPr>
        <p:sp>
          <p:nvSpPr>
            <p:cNvPr id="48143" name="Rectangle 4"/>
            <p:cNvSpPr>
              <a:spLocks noChangeArrowheads="1"/>
            </p:cNvSpPr>
            <p:nvPr/>
          </p:nvSpPr>
          <p:spPr bwMode="auto">
            <a:xfrm>
              <a:off x="480" y="2256"/>
              <a:ext cx="4608" cy="1008"/>
            </a:xfrm>
            <a:prstGeom prst="rect">
              <a:avLst/>
            </a:prstGeom>
            <a:solidFill>
              <a:schemeClr val="tx2">
                <a:alpha val="50195"/>
              </a:schemeClr>
            </a:solidFill>
            <a:ln w="12700">
              <a:noFill/>
              <a:miter lim="800000"/>
              <a:headEnd/>
              <a:tailEnd/>
            </a:ln>
          </p:spPr>
          <p:txBody>
            <a:bodyPr wrap="none" lIns="90000" tIns="46800" rIns="90000" bIns="46800" anchor="ctr"/>
            <a:lstStyle/>
            <a:p>
              <a:endParaRPr lang="en-US"/>
            </a:p>
          </p:txBody>
        </p:sp>
        <p:sp>
          <p:nvSpPr>
            <p:cNvPr id="48144" name="Rectangle 5"/>
            <p:cNvSpPr>
              <a:spLocks noChangeArrowheads="1"/>
            </p:cNvSpPr>
            <p:nvPr/>
          </p:nvSpPr>
          <p:spPr bwMode="auto">
            <a:xfrm>
              <a:off x="480" y="1248"/>
              <a:ext cx="4608" cy="1008"/>
            </a:xfrm>
            <a:prstGeom prst="rect">
              <a:avLst/>
            </a:prstGeom>
            <a:solidFill>
              <a:schemeClr val="bg2">
                <a:alpha val="50195"/>
              </a:schemeClr>
            </a:solidFill>
            <a:ln w="12700">
              <a:noFill/>
              <a:miter lim="800000"/>
              <a:headEnd/>
              <a:tailEnd/>
            </a:ln>
          </p:spPr>
          <p:txBody>
            <a:bodyPr wrap="none" lIns="90000" tIns="46800" rIns="90000" bIns="46800" anchor="ctr"/>
            <a:lstStyle/>
            <a:p>
              <a:endParaRPr lang="en-US"/>
            </a:p>
          </p:txBody>
        </p:sp>
        <p:sp>
          <p:nvSpPr>
            <p:cNvPr id="48145" name="Line 6"/>
            <p:cNvSpPr>
              <a:spLocks noChangeShapeType="1"/>
            </p:cNvSpPr>
            <p:nvPr/>
          </p:nvSpPr>
          <p:spPr bwMode="auto">
            <a:xfrm>
              <a:off x="528" y="2256"/>
              <a:ext cx="4560" cy="0"/>
            </a:xfrm>
            <a:prstGeom prst="line">
              <a:avLst/>
            </a:prstGeom>
            <a:noFill/>
            <a:ln w="76200" cap="rnd">
              <a:solidFill>
                <a:schemeClr val="hlink"/>
              </a:solidFill>
              <a:prstDash val="sysDot"/>
              <a:round/>
              <a:headEnd/>
              <a:tailEnd/>
            </a:ln>
          </p:spPr>
          <p:txBody>
            <a:bodyPr lIns="90000" tIns="46800" rIns="90000" bIns="46800"/>
            <a:lstStyle/>
            <a:p>
              <a:endParaRPr lang="fi-FI"/>
            </a:p>
          </p:txBody>
        </p:sp>
      </p:grpSp>
      <p:sp>
        <p:nvSpPr>
          <p:cNvPr id="48131" name="Text Box 7"/>
          <p:cNvSpPr txBox="1">
            <a:spLocks noChangeArrowheads="1"/>
          </p:cNvSpPr>
          <p:nvPr/>
        </p:nvSpPr>
        <p:spPr bwMode="auto">
          <a:xfrm>
            <a:off x="381000" y="2216150"/>
            <a:ext cx="3124200" cy="341313"/>
          </a:xfrm>
          <a:prstGeom prst="rect">
            <a:avLst/>
          </a:prstGeom>
          <a:noFill/>
          <a:ln w="12700">
            <a:noFill/>
            <a:miter lim="800000"/>
            <a:headEnd/>
            <a:tailEnd/>
          </a:ln>
        </p:spPr>
        <p:txBody>
          <a:bodyPr lIns="90000" tIns="46800" rIns="90000" bIns="46800">
            <a:spAutoFit/>
          </a:bodyPr>
          <a:lstStyle/>
          <a:p>
            <a:pPr>
              <a:spcBef>
                <a:spcPct val="50000"/>
              </a:spcBef>
            </a:pPr>
            <a:r>
              <a:rPr lang="en-GB" sz="1600" b="1"/>
              <a:t>LIIKETOIMINTA</a:t>
            </a:r>
          </a:p>
        </p:txBody>
      </p:sp>
      <p:sp>
        <p:nvSpPr>
          <p:cNvPr id="48132" name="Text Box 8"/>
          <p:cNvSpPr txBox="1">
            <a:spLocks noChangeArrowheads="1"/>
          </p:cNvSpPr>
          <p:nvPr/>
        </p:nvSpPr>
        <p:spPr bwMode="auto">
          <a:xfrm>
            <a:off x="381000" y="4318000"/>
            <a:ext cx="3124200" cy="341313"/>
          </a:xfrm>
          <a:prstGeom prst="rect">
            <a:avLst/>
          </a:prstGeom>
          <a:noFill/>
          <a:ln w="12700">
            <a:noFill/>
            <a:miter lim="800000"/>
            <a:headEnd/>
            <a:tailEnd/>
          </a:ln>
        </p:spPr>
        <p:txBody>
          <a:bodyPr lIns="90000" tIns="46800" rIns="90000" bIns="46800">
            <a:spAutoFit/>
          </a:bodyPr>
          <a:lstStyle/>
          <a:p>
            <a:pPr>
              <a:spcBef>
                <a:spcPct val="50000"/>
              </a:spcBef>
            </a:pPr>
            <a:r>
              <a:rPr lang="en-GB" sz="1600" b="1"/>
              <a:t>OHJELMISTOKEHITYS</a:t>
            </a:r>
          </a:p>
        </p:txBody>
      </p:sp>
      <p:sp>
        <p:nvSpPr>
          <p:cNvPr id="48133" name="Text Box 9"/>
          <p:cNvSpPr txBox="1">
            <a:spLocks noChangeArrowheads="1"/>
          </p:cNvSpPr>
          <p:nvPr/>
        </p:nvSpPr>
        <p:spPr bwMode="auto">
          <a:xfrm>
            <a:off x="762000" y="2520950"/>
            <a:ext cx="3581400" cy="1325563"/>
          </a:xfrm>
          <a:prstGeom prst="rect">
            <a:avLst/>
          </a:prstGeom>
          <a:noFill/>
          <a:ln w="12700">
            <a:noFill/>
            <a:miter lim="800000"/>
            <a:headEnd/>
            <a:tailEnd/>
          </a:ln>
        </p:spPr>
        <p:txBody>
          <a:bodyPr lIns="90000" tIns="46800" rIns="90000" bIns="46800">
            <a:spAutoFit/>
          </a:bodyPr>
          <a:lstStyle/>
          <a:p>
            <a:pPr>
              <a:spcBef>
                <a:spcPct val="50000"/>
              </a:spcBef>
              <a:buFontTx/>
              <a:buChar char="•"/>
            </a:pPr>
            <a:r>
              <a:rPr lang="en-GB" sz="1600"/>
              <a:t> Omistaa sijoituksen tuoton ja tärkeysjärjestyksen</a:t>
            </a:r>
          </a:p>
          <a:p>
            <a:pPr>
              <a:spcBef>
                <a:spcPct val="50000"/>
              </a:spcBef>
              <a:buFontTx/>
              <a:buChar char="•"/>
            </a:pPr>
            <a:r>
              <a:rPr lang="en-GB" sz="1600"/>
              <a:t> Pitkän tähtäimen suunnittelu</a:t>
            </a:r>
          </a:p>
          <a:p>
            <a:pPr>
              <a:spcBef>
                <a:spcPct val="50000"/>
              </a:spcBef>
              <a:buFontTx/>
              <a:buChar char="•"/>
            </a:pPr>
            <a:r>
              <a:rPr lang="en-GB" sz="1600"/>
              <a:t> Päätökset riskin ottamisesta</a:t>
            </a:r>
          </a:p>
        </p:txBody>
      </p:sp>
      <p:sp>
        <p:nvSpPr>
          <p:cNvPr id="48134" name="Text Box 10"/>
          <p:cNvSpPr txBox="1">
            <a:spLocks noChangeArrowheads="1"/>
          </p:cNvSpPr>
          <p:nvPr/>
        </p:nvSpPr>
        <p:spPr bwMode="auto">
          <a:xfrm>
            <a:off x="762000" y="4575175"/>
            <a:ext cx="3581400" cy="1694952"/>
          </a:xfrm>
          <a:prstGeom prst="rect">
            <a:avLst/>
          </a:prstGeom>
          <a:noFill/>
          <a:ln w="12700">
            <a:noFill/>
            <a:miter lim="800000"/>
            <a:headEnd/>
            <a:tailEnd/>
          </a:ln>
        </p:spPr>
        <p:txBody>
          <a:bodyPr lIns="90000" tIns="46800" rIns="90000" bIns="46800">
            <a:spAutoFit/>
          </a:bodyPr>
          <a:lstStyle/>
          <a:p>
            <a:pPr>
              <a:spcBef>
                <a:spcPct val="50000"/>
              </a:spcBef>
              <a:buFontTx/>
              <a:buChar char="•"/>
            </a:pPr>
            <a:r>
              <a:rPr lang="en-GB" sz="1600"/>
              <a:t> Vastaa toteutuksesta ja toimituksesta </a:t>
            </a:r>
          </a:p>
          <a:p>
            <a:pPr>
              <a:spcBef>
                <a:spcPct val="50000"/>
              </a:spcBef>
              <a:buFontTx/>
              <a:buChar char="•"/>
            </a:pPr>
            <a:r>
              <a:rPr lang="en-GB" sz="1600"/>
              <a:t> Lyhyen aikavälin sitoumuksia</a:t>
            </a:r>
          </a:p>
          <a:p>
            <a:pPr>
              <a:spcBef>
                <a:spcPct val="50000"/>
              </a:spcBef>
              <a:buFontTx/>
              <a:buChar char="•"/>
            </a:pPr>
            <a:r>
              <a:rPr lang="en-GB" sz="1600"/>
              <a:t> Realismia odotuksiin näkyvyyden kautta </a:t>
            </a:r>
          </a:p>
          <a:p>
            <a:pPr>
              <a:spcBef>
                <a:spcPct val="50000"/>
              </a:spcBef>
              <a:buFontTx/>
              <a:buChar char="•"/>
            </a:pPr>
            <a:r>
              <a:rPr lang="en-GB" sz="1600"/>
              <a:t>Tekemisen optimointi ja parantaminen</a:t>
            </a:r>
          </a:p>
        </p:txBody>
      </p:sp>
      <p:sp>
        <p:nvSpPr>
          <p:cNvPr id="48135" name="Rectangle 11"/>
          <p:cNvSpPr>
            <a:spLocks noChangeArrowheads="1"/>
          </p:cNvSpPr>
          <p:nvPr/>
        </p:nvSpPr>
        <p:spPr bwMode="auto">
          <a:xfrm>
            <a:off x="4343400" y="2368550"/>
            <a:ext cx="2743200" cy="3917950"/>
          </a:xfrm>
          <a:prstGeom prst="rect">
            <a:avLst/>
          </a:prstGeom>
          <a:noFill/>
          <a:ln w="12700">
            <a:solidFill>
              <a:schemeClr val="folHlink"/>
            </a:solidFill>
            <a:miter lim="800000"/>
            <a:headEnd/>
            <a:tailEnd/>
          </a:ln>
        </p:spPr>
        <p:txBody>
          <a:bodyPr wrap="none" lIns="90000" tIns="46800" rIns="90000" bIns="46800" anchor="ctr"/>
          <a:lstStyle/>
          <a:p>
            <a:endParaRPr lang="en-US"/>
          </a:p>
        </p:txBody>
      </p:sp>
      <p:sp>
        <p:nvSpPr>
          <p:cNvPr id="48136" name="Text Box 12"/>
          <p:cNvSpPr txBox="1">
            <a:spLocks noChangeArrowheads="1"/>
          </p:cNvSpPr>
          <p:nvPr/>
        </p:nvSpPr>
        <p:spPr bwMode="auto">
          <a:xfrm>
            <a:off x="4343400" y="2368550"/>
            <a:ext cx="2800350" cy="341313"/>
          </a:xfrm>
          <a:prstGeom prst="rect">
            <a:avLst/>
          </a:prstGeom>
          <a:noFill/>
          <a:ln w="12700">
            <a:noFill/>
            <a:miter lim="800000"/>
            <a:headEnd/>
            <a:tailEnd/>
          </a:ln>
        </p:spPr>
        <p:txBody>
          <a:bodyPr lIns="90000" tIns="46800" rIns="90000" bIns="46800">
            <a:spAutoFit/>
          </a:bodyPr>
          <a:lstStyle/>
          <a:p>
            <a:pPr>
              <a:spcBef>
                <a:spcPct val="50000"/>
              </a:spcBef>
            </a:pPr>
            <a:r>
              <a:rPr lang="en-GB" sz="1600" b="1" i="1"/>
              <a:t>NYKYAIKAINEN TESTAUS</a:t>
            </a:r>
          </a:p>
        </p:txBody>
      </p:sp>
      <p:sp>
        <p:nvSpPr>
          <p:cNvPr id="48137" name="Text Box 13"/>
          <p:cNvSpPr txBox="1">
            <a:spLocks noChangeArrowheads="1"/>
          </p:cNvSpPr>
          <p:nvPr/>
        </p:nvSpPr>
        <p:spPr bwMode="auto">
          <a:xfrm>
            <a:off x="4419600" y="2749550"/>
            <a:ext cx="2795588" cy="1449388"/>
          </a:xfrm>
          <a:prstGeom prst="rect">
            <a:avLst/>
          </a:prstGeom>
          <a:noFill/>
          <a:ln w="12700">
            <a:noFill/>
            <a:miter lim="800000"/>
            <a:headEnd/>
            <a:tailEnd/>
          </a:ln>
        </p:spPr>
        <p:txBody>
          <a:bodyPr lIns="90000" tIns="46800" rIns="90000" bIns="46800">
            <a:spAutoFit/>
          </a:bodyPr>
          <a:lstStyle/>
          <a:p>
            <a:pPr>
              <a:spcBef>
                <a:spcPct val="50000"/>
              </a:spcBef>
              <a:buFontTx/>
              <a:buChar char="•"/>
            </a:pPr>
            <a:r>
              <a:rPr lang="en-GB" sz="1600"/>
              <a:t> Laatutiedon varmuustason optimointi suhteessa kustannukseen </a:t>
            </a:r>
          </a:p>
          <a:p>
            <a:pPr>
              <a:spcBef>
                <a:spcPct val="50000"/>
              </a:spcBef>
              <a:buFontTx/>
              <a:buChar char="•"/>
            </a:pPr>
            <a:r>
              <a:rPr lang="en-GB" sz="1600"/>
              <a:t>Tärkeysjärjestyksen muutta-minen tuoteriskitiedolla</a:t>
            </a:r>
          </a:p>
        </p:txBody>
      </p:sp>
      <p:sp>
        <p:nvSpPr>
          <p:cNvPr id="48138" name="Text Box 14"/>
          <p:cNvSpPr txBox="1">
            <a:spLocks noChangeArrowheads="1"/>
          </p:cNvSpPr>
          <p:nvPr/>
        </p:nvSpPr>
        <p:spPr bwMode="auto">
          <a:xfrm>
            <a:off x="4419600" y="4418669"/>
            <a:ext cx="2590800" cy="1448731"/>
          </a:xfrm>
          <a:prstGeom prst="rect">
            <a:avLst/>
          </a:prstGeom>
          <a:noFill/>
          <a:ln w="12700">
            <a:noFill/>
            <a:miter lim="800000"/>
            <a:headEnd/>
            <a:tailEnd/>
          </a:ln>
        </p:spPr>
        <p:txBody>
          <a:bodyPr lIns="90000" tIns="46800" rIns="90000" bIns="46800">
            <a:spAutoFit/>
          </a:bodyPr>
          <a:lstStyle/>
          <a:p>
            <a:pPr>
              <a:spcBef>
                <a:spcPct val="50000"/>
              </a:spcBef>
              <a:buFontTx/>
              <a:buChar char="•"/>
            </a:pPr>
            <a:r>
              <a:rPr lang="en-GB" sz="1600"/>
              <a:t> Toimituserien sisällön sekä kokonaistoimitusten osalta laatutiedon yhteenveto</a:t>
            </a:r>
          </a:p>
          <a:p>
            <a:pPr>
              <a:spcBef>
                <a:spcPct val="50000"/>
              </a:spcBef>
              <a:buFontTx/>
              <a:buChar char="•"/>
            </a:pPr>
            <a:r>
              <a:rPr lang="en-GB" sz="1600"/>
              <a:t> Hyväksyntään vaikuttavien riskien tuominen esiin</a:t>
            </a:r>
          </a:p>
        </p:txBody>
      </p:sp>
      <p:sp>
        <p:nvSpPr>
          <p:cNvPr id="48139" name="AutoShape 15"/>
          <p:cNvSpPr>
            <a:spLocks noChangeArrowheads="1"/>
          </p:cNvSpPr>
          <p:nvPr/>
        </p:nvSpPr>
        <p:spPr bwMode="auto">
          <a:xfrm>
            <a:off x="7391400" y="2673350"/>
            <a:ext cx="1447800" cy="1447800"/>
          </a:xfrm>
          <a:prstGeom prst="roundRect">
            <a:avLst>
              <a:gd name="adj" fmla="val 16667"/>
            </a:avLst>
          </a:prstGeom>
          <a:solidFill>
            <a:schemeClr val="bg1"/>
          </a:solidFill>
          <a:ln w="12700">
            <a:solidFill>
              <a:schemeClr val="accent2"/>
            </a:solidFill>
            <a:round/>
            <a:headEnd/>
            <a:tailEnd/>
          </a:ln>
        </p:spPr>
        <p:txBody>
          <a:bodyPr lIns="90000" tIns="46800" rIns="90000" bIns="46800" anchor="ctr"/>
          <a:lstStyle/>
          <a:p>
            <a:pPr algn="ctr"/>
            <a:r>
              <a:rPr lang="en-GB" sz="1400" dirty="0"/>
              <a:t>Aidan </a:t>
            </a:r>
            <a:r>
              <a:rPr lang="en-GB" sz="1400" dirty="0" err="1"/>
              <a:t>toisen</a:t>
            </a:r>
            <a:r>
              <a:rPr lang="en-GB" sz="1400" dirty="0"/>
              <a:t> </a:t>
            </a:r>
            <a:r>
              <a:rPr lang="en-GB" sz="1400" dirty="0" err="1"/>
              <a:t>puolen</a:t>
            </a:r>
            <a:r>
              <a:rPr lang="en-GB" sz="1400" dirty="0"/>
              <a:t> </a:t>
            </a:r>
            <a:r>
              <a:rPr lang="en-GB" sz="1400" dirty="0" err="1"/>
              <a:t>aktiviteettia</a:t>
            </a:r>
            <a:r>
              <a:rPr lang="en-GB" sz="1400" dirty="0"/>
              <a:t>, </a:t>
            </a:r>
            <a:r>
              <a:rPr lang="en-GB" sz="1400" dirty="0" err="1"/>
              <a:t>yhteystyö-kumppani</a:t>
            </a:r>
            <a:endParaRPr lang="en-GB" sz="1400" dirty="0"/>
          </a:p>
        </p:txBody>
      </p:sp>
      <p:sp>
        <p:nvSpPr>
          <p:cNvPr id="48140" name="AutoShape 16"/>
          <p:cNvSpPr>
            <a:spLocks noChangeArrowheads="1"/>
          </p:cNvSpPr>
          <p:nvPr/>
        </p:nvSpPr>
        <p:spPr bwMode="auto">
          <a:xfrm>
            <a:off x="7391400" y="4730750"/>
            <a:ext cx="1447800" cy="1447800"/>
          </a:xfrm>
          <a:prstGeom prst="roundRect">
            <a:avLst>
              <a:gd name="adj" fmla="val 16667"/>
            </a:avLst>
          </a:prstGeom>
          <a:solidFill>
            <a:schemeClr val="bg1"/>
          </a:solidFill>
          <a:ln w="12700">
            <a:solidFill>
              <a:schemeClr val="accent2"/>
            </a:solidFill>
            <a:round/>
            <a:headEnd/>
            <a:tailEnd/>
          </a:ln>
        </p:spPr>
        <p:txBody>
          <a:bodyPr lIns="90000" tIns="46800" rIns="90000" bIns="46800" anchor="ctr"/>
          <a:lstStyle/>
          <a:p>
            <a:pPr algn="ctr"/>
            <a:r>
              <a:rPr lang="en-GB" sz="1400" dirty="0" err="1"/>
              <a:t>Kehitysorga-nisaation</a:t>
            </a:r>
            <a:r>
              <a:rPr lang="en-GB" sz="1400" dirty="0"/>
              <a:t> </a:t>
            </a:r>
            <a:r>
              <a:rPr lang="en-GB" sz="1400" dirty="0" err="1"/>
              <a:t>tonttia</a:t>
            </a:r>
            <a:endParaRPr lang="en-GB" sz="1400" dirty="0"/>
          </a:p>
        </p:txBody>
      </p:sp>
      <p:sp>
        <p:nvSpPr>
          <p:cNvPr id="48141" name="Text Box 17"/>
          <p:cNvSpPr txBox="1">
            <a:spLocks noChangeArrowheads="1"/>
          </p:cNvSpPr>
          <p:nvPr/>
        </p:nvSpPr>
        <p:spPr bwMode="auto">
          <a:xfrm>
            <a:off x="7086600" y="2216150"/>
            <a:ext cx="2057400" cy="279180"/>
          </a:xfrm>
          <a:prstGeom prst="rect">
            <a:avLst/>
          </a:prstGeom>
          <a:noFill/>
          <a:ln w="12700">
            <a:noFill/>
            <a:miter lim="800000"/>
            <a:headEnd/>
            <a:tailEnd/>
          </a:ln>
        </p:spPr>
        <p:txBody>
          <a:bodyPr lIns="90000" tIns="46800" rIns="90000" bIns="46800">
            <a:spAutoFit/>
          </a:bodyPr>
          <a:lstStyle/>
          <a:p>
            <a:pPr algn="ctr">
              <a:spcBef>
                <a:spcPct val="50000"/>
              </a:spcBef>
            </a:pPr>
            <a:r>
              <a:rPr lang="en-GB" sz="1200" b="1" dirty="0" err="1" smtClean="0"/>
              <a:t>Ketterän</a:t>
            </a:r>
            <a:r>
              <a:rPr lang="en-GB" sz="1200" b="1" dirty="0" smtClean="0"/>
              <a:t> </a:t>
            </a:r>
            <a:r>
              <a:rPr lang="en-GB" sz="1200" b="1" dirty="0" err="1" smtClean="0"/>
              <a:t>kehityksen</a:t>
            </a:r>
            <a:r>
              <a:rPr lang="en-GB" sz="1200" b="1" dirty="0" smtClean="0"/>
              <a:t> </a:t>
            </a:r>
            <a:r>
              <a:rPr lang="en-GB" sz="1200" b="1" dirty="0" err="1" smtClean="0"/>
              <a:t>kirjoissa</a:t>
            </a:r>
            <a:endParaRPr lang="en-GB" sz="1200" b="1" dirty="0"/>
          </a:p>
        </p:txBody>
      </p:sp>
      <p:sp>
        <p:nvSpPr>
          <p:cNvPr id="18" name="Slide Number Placeholder 17"/>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Harjoitus: Iteraation testauksen suunnittelu</a:t>
            </a:r>
            <a:endParaRPr lang="fi-FI" dirty="0"/>
          </a:p>
        </p:txBody>
      </p:sp>
      <p:sp>
        <p:nvSpPr>
          <p:cNvPr id="4" name="Content Placeholder 3"/>
          <p:cNvSpPr>
            <a:spLocks noGrp="1"/>
          </p:cNvSpPr>
          <p:nvPr>
            <p:ph idx="1"/>
          </p:nvPr>
        </p:nvSpPr>
        <p:spPr/>
        <p:txBody>
          <a:bodyPr/>
          <a:lstStyle/>
          <a:p>
            <a:r>
              <a:rPr lang="fi-FI" dirty="0" smtClean="0"/>
              <a:t>Vaihe 1: Projektin alku</a:t>
            </a:r>
          </a:p>
          <a:p>
            <a:r>
              <a:rPr lang="fi-FI" dirty="0" smtClean="0"/>
              <a:t>Vaihe 2: Projektin loppu, lopullinen asiakastoimitus</a:t>
            </a:r>
          </a:p>
          <a:p>
            <a:endParaRPr lang="fi-FI" dirty="0" smtClean="0"/>
          </a:p>
          <a:p>
            <a:r>
              <a:rPr lang="fi-FI" i="1" dirty="0" smtClean="0"/>
              <a:t>Käytämme Scrumin kaltaista suunnittelua esimerkkinä</a:t>
            </a:r>
          </a:p>
          <a:p>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exagon 4"/>
          <p:cNvSpPr/>
          <p:nvPr/>
        </p:nvSpPr>
        <p:spPr>
          <a:xfrm rot="16200000">
            <a:off x="304940"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 name="Hexagon 10"/>
          <p:cNvSpPr/>
          <p:nvPr/>
        </p:nvSpPr>
        <p:spPr>
          <a:xfrm rot="16200000">
            <a:off x="457340"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 name="Hexagon 11"/>
          <p:cNvSpPr/>
          <p:nvPr/>
        </p:nvSpPr>
        <p:spPr>
          <a:xfrm rot="16200000">
            <a:off x="590683" y="436708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 name="Hexagon 12"/>
          <p:cNvSpPr/>
          <p:nvPr/>
        </p:nvSpPr>
        <p:spPr>
          <a:xfrm rot="16200000">
            <a:off x="733558" y="458140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 name="Hexagon 13"/>
          <p:cNvSpPr/>
          <p:nvPr/>
        </p:nvSpPr>
        <p:spPr>
          <a:xfrm rot="16200000">
            <a:off x="876435" y="479571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 name="Hexagon 14"/>
          <p:cNvSpPr/>
          <p:nvPr/>
        </p:nvSpPr>
        <p:spPr>
          <a:xfrm rot="16200000">
            <a:off x="1019311" y="501003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 name="Hexagon 15"/>
          <p:cNvSpPr/>
          <p:nvPr/>
        </p:nvSpPr>
        <p:spPr>
          <a:xfrm rot="16200000">
            <a:off x="1162187" y="522434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 name="Hexagon 16"/>
          <p:cNvSpPr/>
          <p:nvPr/>
        </p:nvSpPr>
        <p:spPr>
          <a:xfrm rot="16200000">
            <a:off x="1305063" y="543893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 name="Hexagon 17"/>
          <p:cNvSpPr/>
          <p:nvPr/>
        </p:nvSpPr>
        <p:spPr>
          <a:xfrm rot="16200000">
            <a:off x="447806"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9" name="Hexagon 18"/>
          <p:cNvSpPr/>
          <p:nvPr/>
        </p:nvSpPr>
        <p:spPr>
          <a:xfrm rot="16200000">
            <a:off x="590683" y="350983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 name="Hexagon 19"/>
          <p:cNvSpPr/>
          <p:nvPr/>
        </p:nvSpPr>
        <p:spPr>
          <a:xfrm rot="16200000">
            <a:off x="733559"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 name="Hexagon 20"/>
          <p:cNvSpPr/>
          <p:nvPr/>
        </p:nvSpPr>
        <p:spPr>
          <a:xfrm rot="16200000">
            <a:off x="876435"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 name="Hexagon 21"/>
          <p:cNvSpPr/>
          <p:nvPr/>
        </p:nvSpPr>
        <p:spPr>
          <a:xfrm rot="16200000">
            <a:off x="1019311" y="28668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 name="Hexagon 22"/>
          <p:cNvSpPr/>
          <p:nvPr/>
        </p:nvSpPr>
        <p:spPr>
          <a:xfrm rot="16200000">
            <a:off x="1162187" y="265285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 name="Hexagon 23"/>
          <p:cNvSpPr/>
          <p:nvPr/>
        </p:nvSpPr>
        <p:spPr>
          <a:xfrm rot="16200000">
            <a:off x="1305063" y="24382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 name="Hexagon 24"/>
          <p:cNvSpPr/>
          <p:nvPr/>
        </p:nvSpPr>
        <p:spPr>
          <a:xfrm rot="16200000">
            <a:off x="1590815" y="243854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 name="Hexagon 25"/>
          <p:cNvSpPr/>
          <p:nvPr/>
        </p:nvSpPr>
        <p:spPr>
          <a:xfrm rot="16200000">
            <a:off x="1876567" y="24382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 name="Hexagon 26"/>
          <p:cNvSpPr/>
          <p:nvPr/>
        </p:nvSpPr>
        <p:spPr>
          <a:xfrm rot="16200000">
            <a:off x="2162319" y="24382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 name="Hexagon 27"/>
          <p:cNvSpPr/>
          <p:nvPr/>
        </p:nvSpPr>
        <p:spPr>
          <a:xfrm rot="16200000">
            <a:off x="2448071" y="243826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 name="Hexagon 28"/>
          <p:cNvSpPr/>
          <p:nvPr/>
        </p:nvSpPr>
        <p:spPr>
          <a:xfrm rot="16200000">
            <a:off x="2733823" y="243826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 name="Hexagon 29"/>
          <p:cNvSpPr/>
          <p:nvPr/>
        </p:nvSpPr>
        <p:spPr>
          <a:xfrm rot="16200000">
            <a:off x="3019575" y="243826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 name="Hexagon 30"/>
          <p:cNvSpPr/>
          <p:nvPr/>
        </p:nvSpPr>
        <p:spPr>
          <a:xfrm rot="16200000">
            <a:off x="3305327" y="24382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 name="Hexagon 31"/>
          <p:cNvSpPr/>
          <p:nvPr/>
        </p:nvSpPr>
        <p:spPr>
          <a:xfrm rot="16200000">
            <a:off x="3448203" y="26525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 name="Hexagon 32"/>
          <p:cNvSpPr/>
          <p:nvPr/>
        </p:nvSpPr>
        <p:spPr>
          <a:xfrm rot="16200000">
            <a:off x="1590815" y="543893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 name="Hexagon 33"/>
          <p:cNvSpPr/>
          <p:nvPr/>
        </p:nvSpPr>
        <p:spPr>
          <a:xfrm rot="16200000">
            <a:off x="1876567" y="543865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Hexagon 34"/>
          <p:cNvSpPr/>
          <p:nvPr/>
        </p:nvSpPr>
        <p:spPr>
          <a:xfrm rot="16200000">
            <a:off x="2162319" y="543893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6" name="Hexagon 35"/>
          <p:cNvSpPr/>
          <p:nvPr/>
        </p:nvSpPr>
        <p:spPr>
          <a:xfrm rot="16200000">
            <a:off x="2448071" y="543865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 name="Hexagon 36"/>
          <p:cNvSpPr/>
          <p:nvPr/>
        </p:nvSpPr>
        <p:spPr>
          <a:xfrm rot="16200000">
            <a:off x="2733823" y="543893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8" name="Hexagon 37"/>
          <p:cNvSpPr/>
          <p:nvPr/>
        </p:nvSpPr>
        <p:spPr>
          <a:xfrm rot="16200000">
            <a:off x="3019575" y="543865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 name="Hexagon 38"/>
          <p:cNvSpPr/>
          <p:nvPr/>
        </p:nvSpPr>
        <p:spPr>
          <a:xfrm rot="16200000">
            <a:off x="3305327" y="543865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0" name="Hexagon 39"/>
          <p:cNvSpPr/>
          <p:nvPr/>
        </p:nvSpPr>
        <p:spPr>
          <a:xfrm rot="16200000">
            <a:off x="3591079" y="28668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 name="Hexagon 40"/>
          <p:cNvSpPr/>
          <p:nvPr/>
        </p:nvSpPr>
        <p:spPr>
          <a:xfrm rot="16200000">
            <a:off x="3743479"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 name="Hexagon 41"/>
          <p:cNvSpPr/>
          <p:nvPr/>
        </p:nvSpPr>
        <p:spPr>
          <a:xfrm rot="16200000">
            <a:off x="3876831"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 name="Hexagon 42"/>
          <p:cNvSpPr/>
          <p:nvPr/>
        </p:nvSpPr>
        <p:spPr>
          <a:xfrm rot="16200000">
            <a:off x="4019707" y="350983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 name="Hexagon 43"/>
          <p:cNvSpPr/>
          <p:nvPr/>
        </p:nvSpPr>
        <p:spPr>
          <a:xfrm rot="16200000">
            <a:off x="4162583" y="372414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 name="Hexagon 44"/>
          <p:cNvSpPr/>
          <p:nvPr/>
        </p:nvSpPr>
        <p:spPr>
          <a:xfrm rot="16200000">
            <a:off x="4305459" y="393846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6" name="Hexagon 45"/>
          <p:cNvSpPr/>
          <p:nvPr/>
        </p:nvSpPr>
        <p:spPr>
          <a:xfrm rot="16200000">
            <a:off x="4162583"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 name="Hexagon 46"/>
          <p:cNvSpPr/>
          <p:nvPr/>
        </p:nvSpPr>
        <p:spPr>
          <a:xfrm rot="16200000">
            <a:off x="4019707"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 name="Hexagon 47"/>
          <p:cNvSpPr/>
          <p:nvPr/>
        </p:nvSpPr>
        <p:spPr>
          <a:xfrm rot="16200000">
            <a:off x="3448203" y="522462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 name="Hexagon 48"/>
          <p:cNvSpPr/>
          <p:nvPr/>
        </p:nvSpPr>
        <p:spPr>
          <a:xfrm rot="16200000">
            <a:off x="3876831" y="458140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 name="Hexagon 49"/>
          <p:cNvSpPr/>
          <p:nvPr/>
        </p:nvSpPr>
        <p:spPr>
          <a:xfrm rot="16200000">
            <a:off x="3733955"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1" name="Hexagon 50"/>
          <p:cNvSpPr/>
          <p:nvPr/>
        </p:nvSpPr>
        <p:spPr>
          <a:xfrm rot="16200000">
            <a:off x="3591079"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 name="Hexagon 51"/>
          <p:cNvSpPr/>
          <p:nvPr/>
        </p:nvSpPr>
        <p:spPr>
          <a:xfrm rot="16200000">
            <a:off x="3162451" y="522462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3" name="Hexagon 52"/>
          <p:cNvSpPr/>
          <p:nvPr/>
        </p:nvSpPr>
        <p:spPr>
          <a:xfrm rot="16200000">
            <a:off x="2876699" y="522434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 name="Hexagon 53"/>
          <p:cNvSpPr/>
          <p:nvPr/>
        </p:nvSpPr>
        <p:spPr>
          <a:xfrm rot="16200000">
            <a:off x="2590947" y="522434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 name="Hexagon 54"/>
          <p:cNvSpPr/>
          <p:nvPr/>
        </p:nvSpPr>
        <p:spPr>
          <a:xfrm rot="16200000">
            <a:off x="2305195" y="522462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 name="Hexagon 55"/>
          <p:cNvSpPr/>
          <p:nvPr/>
        </p:nvSpPr>
        <p:spPr>
          <a:xfrm rot="16200000">
            <a:off x="2019443" y="522462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 name="Hexagon 56"/>
          <p:cNvSpPr/>
          <p:nvPr/>
        </p:nvSpPr>
        <p:spPr>
          <a:xfrm rot="16200000">
            <a:off x="1733691" y="522462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8" name="Hexagon 57"/>
          <p:cNvSpPr/>
          <p:nvPr/>
        </p:nvSpPr>
        <p:spPr>
          <a:xfrm rot="16200000">
            <a:off x="1447939" y="522434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 name="Hexagon 58"/>
          <p:cNvSpPr/>
          <p:nvPr/>
        </p:nvSpPr>
        <p:spPr>
          <a:xfrm rot="16200000">
            <a:off x="1876567"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0" name="Hexagon 59"/>
          <p:cNvSpPr/>
          <p:nvPr/>
        </p:nvSpPr>
        <p:spPr>
          <a:xfrm rot="16200000">
            <a:off x="1590815"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1" name="Hexagon 60"/>
          <p:cNvSpPr/>
          <p:nvPr/>
        </p:nvSpPr>
        <p:spPr>
          <a:xfrm rot="16200000">
            <a:off x="1305063" y="501003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2" name="Hexagon 61"/>
          <p:cNvSpPr/>
          <p:nvPr/>
        </p:nvSpPr>
        <p:spPr>
          <a:xfrm rot="16200000">
            <a:off x="1733691"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 name="Hexagon 62"/>
          <p:cNvSpPr/>
          <p:nvPr/>
        </p:nvSpPr>
        <p:spPr>
          <a:xfrm rot="16200000">
            <a:off x="1447939"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 name="Hexagon 63"/>
          <p:cNvSpPr/>
          <p:nvPr/>
        </p:nvSpPr>
        <p:spPr>
          <a:xfrm rot="16200000">
            <a:off x="1162187" y="479571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5" name="Hexagon 64"/>
          <p:cNvSpPr/>
          <p:nvPr/>
        </p:nvSpPr>
        <p:spPr>
          <a:xfrm rot="16200000">
            <a:off x="1590815"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 name="Hexagon 65"/>
          <p:cNvSpPr/>
          <p:nvPr/>
        </p:nvSpPr>
        <p:spPr>
          <a:xfrm rot="16200000">
            <a:off x="1305063"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7" name="Hexagon 66"/>
          <p:cNvSpPr/>
          <p:nvPr/>
        </p:nvSpPr>
        <p:spPr>
          <a:xfrm rot="16200000">
            <a:off x="1019311" y="458140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8" name="Hexagon 67"/>
          <p:cNvSpPr/>
          <p:nvPr/>
        </p:nvSpPr>
        <p:spPr>
          <a:xfrm rot="16200000">
            <a:off x="1447939"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 name="Hexagon 68"/>
          <p:cNvSpPr/>
          <p:nvPr/>
        </p:nvSpPr>
        <p:spPr>
          <a:xfrm rot="16200000">
            <a:off x="1162187"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 name="Hexagon 69"/>
          <p:cNvSpPr/>
          <p:nvPr/>
        </p:nvSpPr>
        <p:spPr>
          <a:xfrm rot="16200000">
            <a:off x="876435" y="436708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1" name="Hexagon 70"/>
          <p:cNvSpPr/>
          <p:nvPr/>
        </p:nvSpPr>
        <p:spPr>
          <a:xfrm rot="16200000">
            <a:off x="1305063"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 name="Hexagon 71"/>
          <p:cNvSpPr/>
          <p:nvPr/>
        </p:nvSpPr>
        <p:spPr>
          <a:xfrm rot="16200000">
            <a:off x="1019311"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3" name="Hexagon 72"/>
          <p:cNvSpPr/>
          <p:nvPr/>
        </p:nvSpPr>
        <p:spPr>
          <a:xfrm rot="16200000">
            <a:off x="733559" y="415277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4" name="Hexagon 73"/>
          <p:cNvSpPr/>
          <p:nvPr/>
        </p:nvSpPr>
        <p:spPr>
          <a:xfrm rot="16200000">
            <a:off x="1162187"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 name="Hexagon 74"/>
          <p:cNvSpPr/>
          <p:nvPr/>
        </p:nvSpPr>
        <p:spPr>
          <a:xfrm rot="16200000">
            <a:off x="876435"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 name="Hexagon 75"/>
          <p:cNvSpPr/>
          <p:nvPr/>
        </p:nvSpPr>
        <p:spPr>
          <a:xfrm rot="16200000">
            <a:off x="590683" y="393846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7" name="Hexagon 76"/>
          <p:cNvSpPr/>
          <p:nvPr/>
        </p:nvSpPr>
        <p:spPr>
          <a:xfrm rot="16200000">
            <a:off x="1314587"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 name="Hexagon 77"/>
          <p:cNvSpPr/>
          <p:nvPr/>
        </p:nvSpPr>
        <p:spPr>
          <a:xfrm rot="16200000">
            <a:off x="1028835"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 name="Hexagon 78"/>
          <p:cNvSpPr/>
          <p:nvPr/>
        </p:nvSpPr>
        <p:spPr>
          <a:xfrm rot="16200000">
            <a:off x="743083" y="372414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0" name="Hexagon 79"/>
          <p:cNvSpPr/>
          <p:nvPr/>
        </p:nvSpPr>
        <p:spPr>
          <a:xfrm rot="16200000">
            <a:off x="1447939" y="35101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 name="Hexagon 80"/>
          <p:cNvSpPr/>
          <p:nvPr/>
        </p:nvSpPr>
        <p:spPr>
          <a:xfrm rot="16200000">
            <a:off x="1162187" y="35101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2" name="Hexagon 81"/>
          <p:cNvSpPr/>
          <p:nvPr/>
        </p:nvSpPr>
        <p:spPr>
          <a:xfrm rot="16200000">
            <a:off x="876435" y="350983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 name="Hexagon 82"/>
          <p:cNvSpPr/>
          <p:nvPr/>
        </p:nvSpPr>
        <p:spPr>
          <a:xfrm rot="16200000">
            <a:off x="1600339"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 name="Hexagon 83"/>
          <p:cNvSpPr/>
          <p:nvPr/>
        </p:nvSpPr>
        <p:spPr>
          <a:xfrm rot="16200000">
            <a:off x="1314587"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 name="Hexagon 84"/>
          <p:cNvSpPr/>
          <p:nvPr/>
        </p:nvSpPr>
        <p:spPr>
          <a:xfrm rot="16200000">
            <a:off x="1028835" y="32955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6" name="Hexagon 85"/>
          <p:cNvSpPr/>
          <p:nvPr/>
        </p:nvSpPr>
        <p:spPr>
          <a:xfrm rot="16200000">
            <a:off x="1752739"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 name="Hexagon 86"/>
          <p:cNvSpPr/>
          <p:nvPr/>
        </p:nvSpPr>
        <p:spPr>
          <a:xfrm rot="16200000">
            <a:off x="1466987"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 name="Hexagon 87"/>
          <p:cNvSpPr/>
          <p:nvPr/>
        </p:nvSpPr>
        <p:spPr>
          <a:xfrm rot="16200000">
            <a:off x="1181235" y="308120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9" name="Hexagon 88"/>
          <p:cNvSpPr/>
          <p:nvPr/>
        </p:nvSpPr>
        <p:spPr>
          <a:xfrm rot="16200000">
            <a:off x="1876567" y="28671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 name="Hexagon 89"/>
          <p:cNvSpPr/>
          <p:nvPr/>
        </p:nvSpPr>
        <p:spPr>
          <a:xfrm rot="16200000">
            <a:off x="1590815" y="28671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 name="Hexagon 90"/>
          <p:cNvSpPr/>
          <p:nvPr/>
        </p:nvSpPr>
        <p:spPr>
          <a:xfrm rot="16200000">
            <a:off x="1305063" y="28668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 name="Hexagon 91"/>
          <p:cNvSpPr/>
          <p:nvPr/>
        </p:nvSpPr>
        <p:spPr>
          <a:xfrm rot="16200000">
            <a:off x="2028967" y="265285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 name="Hexagon 92"/>
          <p:cNvSpPr/>
          <p:nvPr/>
        </p:nvSpPr>
        <p:spPr>
          <a:xfrm rot="16200000">
            <a:off x="1743215" y="265285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4" name="Hexagon 93"/>
          <p:cNvSpPr/>
          <p:nvPr/>
        </p:nvSpPr>
        <p:spPr>
          <a:xfrm rot="16200000">
            <a:off x="1457463" y="26525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5" name="Hexagon 94"/>
          <p:cNvSpPr/>
          <p:nvPr/>
        </p:nvSpPr>
        <p:spPr>
          <a:xfrm rot="16200000">
            <a:off x="3162451" y="265285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6" name="Hexagon 95"/>
          <p:cNvSpPr/>
          <p:nvPr/>
        </p:nvSpPr>
        <p:spPr>
          <a:xfrm rot="16200000">
            <a:off x="2876699" y="265285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7" name="Hexagon 96"/>
          <p:cNvSpPr/>
          <p:nvPr/>
        </p:nvSpPr>
        <p:spPr>
          <a:xfrm rot="16200000">
            <a:off x="2590947" y="265257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8" name="Hexagon 97"/>
          <p:cNvSpPr/>
          <p:nvPr/>
        </p:nvSpPr>
        <p:spPr>
          <a:xfrm rot="16200000">
            <a:off x="3314851" y="286716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 name="Hexagon 98"/>
          <p:cNvSpPr/>
          <p:nvPr/>
        </p:nvSpPr>
        <p:spPr>
          <a:xfrm rot="16200000">
            <a:off x="3029099" y="286716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 name="Hexagon 99"/>
          <p:cNvSpPr/>
          <p:nvPr/>
        </p:nvSpPr>
        <p:spPr>
          <a:xfrm rot="16200000">
            <a:off x="2743347" y="286688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 name="Hexagon 100"/>
          <p:cNvSpPr/>
          <p:nvPr/>
        </p:nvSpPr>
        <p:spPr>
          <a:xfrm rot="16200000">
            <a:off x="3467251" y="308148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2" name="Hexagon 101"/>
          <p:cNvSpPr/>
          <p:nvPr/>
        </p:nvSpPr>
        <p:spPr>
          <a:xfrm rot="16200000">
            <a:off x="3181499" y="308148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3" name="Hexagon 102"/>
          <p:cNvSpPr/>
          <p:nvPr/>
        </p:nvSpPr>
        <p:spPr>
          <a:xfrm rot="16200000">
            <a:off x="2895747" y="308120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4" name="Hexagon 103"/>
          <p:cNvSpPr/>
          <p:nvPr/>
        </p:nvSpPr>
        <p:spPr>
          <a:xfrm rot="16200000">
            <a:off x="3619651"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5" name="Hexagon 104"/>
          <p:cNvSpPr/>
          <p:nvPr/>
        </p:nvSpPr>
        <p:spPr>
          <a:xfrm rot="16200000">
            <a:off x="3333899"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6" name="Hexagon 105"/>
          <p:cNvSpPr/>
          <p:nvPr/>
        </p:nvSpPr>
        <p:spPr>
          <a:xfrm rot="16200000">
            <a:off x="3048147" y="32955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7" name="Hexagon 106"/>
          <p:cNvSpPr/>
          <p:nvPr/>
        </p:nvSpPr>
        <p:spPr>
          <a:xfrm rot="16200000">
            <a:off x="3733955" y="35101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 name="Hexagon 107"/>
          <p:cNvSpPr/>
          <p:nvPr/>
        </p:nvSpPr>
        <p:spPr>
          <a:xfrm rot="16200000">
            <a:off x="3448203" y="35101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 name="Hexagon 108"/>
          <p:cNvSpPr/>
          <p:nvPr/>
        </p:nvSpPr>
        <p:spPr>
          <a:xfrm rot="16200000">
            <a:off x="3162451" y="350983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 name="Hexagon 109"/>
          <p:cNvSpPr/>
          <p:nvPr/>
        </p:nvSpPr>
        <p:spPr>
          <a:xfrm rot="16200000">
            <a:off x="3876831"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 name="Hexagon 110"/>
          <p:cNvSpPr/>
          <p:nvPr/>
        </p:nvSpPr>
        <p:spPr>
          <a:xfrm rot="16200000">
            <a:off x="3591079"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112" name="Hexagon 111"/>
          <p:cNvSpPr/>
          <p:nvPr/>
        </p:nvSpPr>
        <p:spPr>
          <a:xfrm rot="16200000">
            <a:off x="3305327" y="372414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3" name="Hexagon 112"/>
          <p:cNvSpPr/>
          <p:nvPr/>
        </p:nvSpPr>
        <p:spPr>
          <a:xfrm rot="16200000">
            <a:off x="4019707"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4" name="Hexagon 113"/>
          <p:cNvSpPr/>
          <p:nvPr/>
        </p:nvSpPr>
        <p:spPr>
          <a:xfrm rot="16200000">
            <a:off x="3733955"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5" name="Hexagon 114"/>
          <p:cNvSpPr/>
          <p:nvPr/>
        </p:nvSpPr>
        <p:spPr>
          <a:xfrm rot="16200000">
            <a:off x="3448203" y="393846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6" name="Hexagon 115"/>
          <p:cNvSpPr/>
          <p:nvPr/>
        </p:nvSpPr>
        <p:spPr>
          <a:xfrm rot="16200000">
            <a:off x="3876831"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7" name="Hexagon 116"/>
          <p:cNvSpPr/>
          <p:nvPr/>
        </p:nvSpPr>
        <p:spPr>
          <a:xfrm rot="16200000">
            <a:off x="3591079"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8" name="Hexagon 117"/>
          <p:cNvSpPr/>
          <p:nvPr/>
        </p:nvSpPr>
        <p:spPr>
          <a:xfrm rot="16200000">
            <a:off x="3305327" y="415277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9" name="Hexagon 118"/>
          <p:cNvSpPr/>
          <p:nvPr/>
        </p:nvSpPr>
        <p:spPr>
          <a:xfrm rot="16200000">
            <a:off x="3733955"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0" name="Hexagon 119"/>
          <p:cNvSpPr/>
          <p:nvPr/>
        </p:nvSpPr>
        <p:spPr>
          <a:xfrm rot="16200000">
            <a:off x="3448203"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1" name="Hexagon 120"/>
          <p:cNvSpPr/>
          <p:nvPr/>
        </p:nvSpPr>
        <p:spPr>
          <a:xfrm rot="16200000">
            <a:off x="3162451" y="436708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2" name="Hexagon 121"/>
          <p:cNvSpPr/>
          <p:nvPr/>
        </p:nvSpPr>
        <p:spPr>
          <a:xfrm rot="16200000">
            <a:off x="3591079"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3" name="Hexagon 122"/>
          <p:cNvSpPr/>
          <p:nvPr/>
        </p:nvSpPr>
        <p:spPr>
          <a:xfrm rot="16200000">
            <a:off x="3305327"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4" name="Hexagon 123"/>
          <p:cNvSpPr/>
          <p:nvPr/>
        </p:nvSpPr>
        <p:spPr>
          <a:xfrm rot="16200000">
            <a:off x="3019575" y="458140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5" name="Hexagon 124"/>
          <p:cNvSpPr/>
          <p:nvPr/>
        </p:nvSpPr>
        <p:spPr>
          <a:xfrm rot="16200000">
            <a:off x="3448203"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6" name="Hexagon 125"/>
          <p:cNvSpPr/>
          <p:nvPr/>
        </p:nvSpPr>
        <p:spPr>
          <a:xfrm rot="16200000">
            <a:off x="3162451"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7" name="Hexagon 126"/>
          <p:cNvSpPr/>
          <p:nvPr/>
        </p:nvSpPr>
        <p:spPr>
          <a:xfrm rot="16200000">
            <a:off x="2876699" y="479571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8" name="Hexagon 127"/>
          <p:cNvSpPr/>
          <p:nvPr/>
        </p:nvSpPr>
        <p:spPr>
          <a:xfrm rot="16200000">
            <a:off x="3305327"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9" name="Hexagon 128"/>
          <p:cNvSpPr/>
          <p:nvPr/>
        </p:nvSpPr>
        <p:spPr>
          <a:xfrm rot="16200000">
            <a:off x="3019575"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0" name="Hexagon 129"/>
          <p:cNvSpPr/>
          <p:nvPr/>
        </p:nvSpPr>
        <p:spPr>
          <a:xfrm rot="16200000">
            <a:off x="2733823" y="501003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1" name="Hexagon 130"/>
          <p:cNvSpPr/>
          <p:nvPr/>
        </p:nvSpPr>
        <p:spPr>
          <a:xfrm rot="16200000">
            <a:off x="2590947"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2" name="Hexagon 131"/>
          <p:cNvSpPr/>
          <p:nvPr/>
        </p:nvSpPr>
        <p:spPr>
          <a:xfrm rot="16200000">
            <a:off x="2305195" y="479599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3" name="Hexagon 132"/>
          <p:cNvSpPr/>
          <p:nvPr/>
        </p:nvSpPr>
        <p:spPr>
          <a:xfrm rot="16200000">
            <a:off x="2019443" y="479571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4" name="Hexagon 133"/>
          <p:cNvSpPr/>
          <p:nvPr/>
        </p:nvSpPr>
        <p:spPr>
          <a:xfrm rot="16200000">
            <a:off x="2590947"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5" name="Hexagon 134"/>
          <p:cNvSpPr/>
          <p:nvPr/>
        </p:nvSpPr>
        <p:spPr>
          <a:xfrm rot="16200000">
            <a:off x="2305195" y="30814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6" name="Hexagon 135"/>
          <p:cNvSpPr/>
          <p:nvPr/>
        </p:nvSpPr>
        <p:spPr>
          <a:xfrm rot="16200000">
            <a:off x="2019443" y="308120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7" name="Hexagon 136"/>
          <p:cNvSpPr/>
          <p:nvPr/>
        </p:nvSpPr>
        <p:spPr>
          <a:xfrm rot="16200000">
            <a:off x="3162451"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8" name="Hexagon 137"/>
          <p:cNvSpPr/>
          <p:nvPr/>
        </p:nvSpPr>
        <p:spPr>
          <a:xfrm rot="16200000">
            <a:off x="2876699" y="39387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9" name="Hexagon 138"/>
          <p:cNvSpPr/>
          <p:nvPr/>
        </p:nvSpPr>
        <p:spPr>
          <a:xfrm rot="16200000">
            <a:off x="2590947" y="393846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0" name="Hexagon 139"/>
          <p:cNvSpPr/>
          <p:nvPr/>
        </p:nvSpPr>
        <p:spPr>
          <a:xfrm rot="16200000">
            <a:off x="2019443" y="393873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1" name="Hexagon 140"/>
          <p:cNvSpPr/>
          <p:nvPr/>
        </p:nvSpPr>
        <p:spPr>
          <a:xfrm rot="16200000">
            <a:off x="1733691" y="393873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2" name="Hexagon 141"/>
          <p:cNvSpPr/>
          <p:nvPr/>
        </p:nvSpPr>
        <p:spPr>
          <a:xfrm rot="16200000">
            <a:off x="1447939" y="393845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3" name="Hexagon 142"/>
          <p:cNvSpPr/>
          <p:nvPr/>
        </p:nvSpPr>
        <p:spPr>
          <a:xfrm rot="16200000">
            <a:off x="2171843"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4" name="Hexagon 143"/>
          <p:cNvSpPr/>
          <p:nvPr/>
        </p:nvSpPr>
        <p:spPr>
          <a:xfrm rot="16200000">
            <a:off x="1886091"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5" name="Hexagon 144"/>
          <p:cNvSpPr/>
          <p:nvPr/>
        </p:nvSpPr>
        <p:spPr>
          <a:xfrm rot="16200000">
            <a:off x="1600339" y="372414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6" name="Hexagon 145"/>
          <p:cNvSpPr/>
          <p:nvPr/>
        </p:nvSpPr>
        <p:spPr>
          <a:xfrm rot="16200000">
            <a:off x="2305196" y="351011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7" name="Hexagon 146"/>
          <p:cNvSpPr/>
          <p:nvPr/>
        </p:nvSpPr>
        <p:spPr>
          <a:xfrm rot="16200000">
            <a:off x="2019444" y="351011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8" name="Hexagon 147"/>
          <p:cNvSpPr/>
          <p:nvPr/>
        </p:nvSpPr>
        <p:spPr>
          <a:xfrm rot="16200000">
            <a:off x="1733692" y="350983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9" name="Hexagon 148"/>
          <p:cNvSpPr/>
          <p:nvPr/>
        </p:nvSpPr>
        <p:spPr>
          <a:xfrm rot="16200000">
            <a:off x="2448071"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0" name="Hexagon 149"/>
          <p:cNvSpPr/>
          <p:nvPr/>
        </p:nvSpPr>
        <p:spPr>
          <a:xfrm rot="16200000">
            <a:off x="2162319" y="32957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1" name="Hexagon 150"/>
          <p:cNvSpPr/>
          <p:nvPr/>
        </p:nvSpPr>
        <p:spPr>
          <a:xfrm rot="16200000">
            <a:off x="1876567" y="32955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2" name="Hexagon 151"/>
          <p:cNvSpPr/>
          <p:nvPr/>
        </p:nvSpPr>
        <p:spPr>
          <a:xfrm rot="16200000">
            <a:off x="3019575"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3" name="Hexagon 152"/>
          <p:cNvSpPr/>
          <p:nvPr/>
        </p:nvSpPr>
        <p:spPr>
          <a:xfrm rot="16200000">
            <a:off x="2733823" y="37244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4" name="Hexagon 153"/>
          <p:cNvSpPr/>
          <p:nvPr/>
        </p:nvSpPr>
        <p:spPr>
          <a:xfrm rot="16200000">
            <a:off x="2448071" y="372414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5" name="Hexagon 154"/>
          <p:cNvSpPr/>
          <p:nvPr/>
        </p:nvSpPr>
        <p:spPr>
          <a:xfrm rot="16200000">
            <a:off x="3019575"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6" name="Hexagon 155"/>
          <p:cNvSpPr/>
          <p:nvPr/>
        </p:nvSpPr>
        <p:spPr>
          <a:xfrm rot="16200000">
            <a:off x="2733823" y="415305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7" name="Hexagon 156"/>
          <p:cNvSpPr/>
          <p:nvPr/>
        </p:nvSpPr>
        <p:spPr>
          <a:xfrm rot="16200000">
            <a:off x="2448071" y="415277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8" name="Hexagon 157"/>
          <p:cNvSpPr/>
          <p:nvPr/>
        </p:nvSpPr>
        <p:spPr>
          <a:xfrm rot="16200000">
            <a:off x="2876699"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9" name="Hexagon 158"/>
          <p:cNvSpPr/>
          <p:nvPr/>
        </p:nvSpPr>
        <p:spPr>
          <a:xfrm rot="16200000">
            <a:off x="2590947" y="436736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0" name="Hexagon 159"/>
          <p:cNvSpPr/>
          <p:nvPr/>
        </p:nvSpPr>
        <p:spPr>
          <a:xfrm rot="16200000">
            <a:off x="2305195" y="436708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normAutofit/>
          </a:bodyPr>
          <a:lstStyle/>
          <a:p>
            <a:r>
              <a:rPr lang="en-GB" dirty="0" err="1" smtClean="0"/>
              <a:t>Havannah-pelilauta</a:t>
            </a:r>
            <a:r>
              <a:rPr lang="en-GB" dirty="0" smtClean="0"/>
              <a:t> </a:t>
            </a:r>
            <a:r>
              <a:rPr lang="en-GB" dirty="0" err="1" smtClean="0"/>
              <a:t>ja</a:t>
            </a:r>
            <a:r>
              <a:rPr lang="en-GB" dirty="0" smtClean="0"/>
              <a:t> </a:t>
            </a:r>
            <a:r>
              <a:rPr lang="en-GB" dirty="0" err="1" smtClean="0"/>
              <a:t>perusidea</a:t>
            </a:r>
            <a:endParaRPr lang="en-US" dirty="0"/>
          </a:p>
        </p:txBody>
      </p:sp>
      <p:sp>
        <p:nvSpPr>
          <p:cNvPr id="181" name="Content Placeholder 180"/>
          <p:cNvSpPr>
            <a:spLocks noGrp="1"/>
          </p:cNvSpPr>
          <p:nvPr>
            <p:ph sz="half" idx="2"/>
          </p:nvPr>
        </p:nvSpPr>
        <p:spPr/>
        <p:txBody>
          <a:bodyPr/>
          <a:lstStyle/>
          <a:p>
            <a:r>
              <a:rPr lang="fi-FI" dirty="0" smtClean="0"/>
              <a:t>Kahden pelaajan peli</a:t>
            </a:r>
          </a:p>
          <a:p>
            <a:r>
              <a:rPr lang="fi-FI" dirty="0" smtClean="0"/>
              <a:t>Vuorotellen sijoitetaan oman värisiä pelinappuloita pelilaudalle</a:t>
            </a:r>
          </a:p>
          <a:p>
            <a:r>
              <a:rPr lang="fi-FI" dirty="0" smtClean="0"/>
              <a:t>Voittaminen saamalla aikaan yksi kolmesta voittokuviosta</a:t>
            </a:r>
          </a:p>
          <a:p>
            <a:endParaRPr lang="en-US" dirty="0"/>
          </a:p>
        </p:txBody>
      </p:sp>
      <p:sp>
        <p:nvSpPr>
          <p:cNvPr id="179" name="Slide Number Placeholder 178"/>
          <p:cNvSpPr>
            <a:spLocks noGrp="1"/>
          </p:cNvSpPr>
          <p:nvPr>
            <p:ph type="sldNum" sz="quarter" idx="12"/>
          </p:nvPr>
        </p:nvSpPr>
        <p:spPr/>
        <p:txBody>
          <a:bodyPr/>
          <a:lstStyle/>
          <a:p>
            <a:fld id="{B28A1AC6-5EDB-4713-9F85-D5B398570835}" type="slidenum">
              <a:rPr lang="en-US" smtClean="0"/>
              <a:pPr/>
              <a:t>6</a:t>
            </a:fld>
            <a:endParaRPr lang="en-US"/>
          </a:p>
        </p:txBody>
      </p:sp>
      <p:sp>
        <p:nvSpPr>
          <p:cNvPr id="161" name="Hexagon 160"/>
          <p:cNvSpPr/>
          <p:nvPr/>
        </p:nvSpPr>
        <p:spPr>
          <a:xfrm rot="16200000">
            <a:off x="2162319" y="415305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2" name="Hexagon 161"/>
          <p:cNvSpPr/>
          <p:nvPr/>
        </p:nvSpPr>
        <p:spPr>
          <a:xfrm rot="16200000">
            <a:off x="1876567" y="415305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3" name="Hexagon 162"/>
          <p:cNvSpPr/>
          <p:nvPr/>
        </p:nvSpPr>
        <p:spPr>
          <a:xfrm rot="16200000">
            <a:off x="1590815" y="415277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4" name="Hexagon 163"/>
          <p:cNvSpPr/>
          <p:nvPr/>
        </p:nvSpPr>
        <p:spPr>
          <a:xfrm rot="16200000">
            <a:off x="2733823"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5" name="Hexagon 164"/>
          <p:cNvSpPr/>
          <p:nvPr/>
        </p:nvSpPr>
        <p:spPr>
          <a:xfrm rot="16200000">
            <a:off x="2448071"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6" name="Hexagon 165"/>
          <p:cNvSpPr/>
          <p:nvPr/>
        </p:nvSpPr>
        <p:spPr>
          <a:xfrm rot="16200000">
            <a:off x="2162319" y="458140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7" name="Hexagon 166"/>
          <p:cNvSpPr/>
          <p:nvPr/>
        </p:nvSpPr>
        <p:spPr>
          <a:xfrm rot="16200000">
            <a:off x="2028967" y="436708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8" name="Hexagon 167"/>
          <p:cNvSpPr/>
          <p:nvPr/>
        </p:nvSpPr>
        <p:spPr>
          <a:xfrm rot="16200000">
            <a:off x="1733691" y="436708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9" name="Hexagon 168"/>
          <p:cNvSpPr/>
          <p:nvPr/>
        </p:nvSpPr>
        <p:spPr>
          <a:xfrm rot="16200000">
            <a:off x="1876567" y="458168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0" name="Hexagon 169"/>
          <p:cNvSpPr/>
          <p:nvPr/>
        </p:nvSpPr>
        <p:spPr>
          <a:xfrm rot="16200000">
            <a:off x="2181367" y="501003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1" name="Hexagon 170"/>
          <p:cNvSpPr/>
          <p:nvPr/>
        </p:nvSpPr>
        <p:spPr>
          <a:xfrm rot="16200000">
            <a:off x="2448071" y="501030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2" name="Hexagon 171"/>
          <p:cNvSpPr/>
          <p:nvPr/>
        </p:nvSpPr>
        <p:spPr>
          <a:xfrm rot="16200000">
            <a:off x="2305195" y="393846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3" name="Hexagon 172"/>
          <p:cNvSpPr/>
          <p:nvPr/>
        </p:nvSpPr>
        <p:spPr>
          <a:xfrm rot="16200000">
            <a:off x="2733823" y="32955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4" name="Hexagon 173"/>
          <p:cNvSpPr/>
          <p:nvPr/>
        </p:nvSpPr>
        <p:spPr>
          <a:xfrm rot="16200000">
            <a:off x="2590947" y="350983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5" name="Hexagon 174"/>
          <p:cNvSpPr/>
          <p:nvPr/>
        </p:nvSpPr>
        <p:spPr>
          <a:xfrm rot="16200000">
            <a:off x="2876699" y="35101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6" name="Hexagon 175"/>
          <p:cNvSpPr/>
          <p:nvPr/>
        </p:nvSpPr>
        <p:spPr>
          <a:xfrm rot="16200000">
            <a:off x="2305195" y="265285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7" name="Hexagon 176"/>
          <p:cNvSpPr/>
          <p:nvPr/>
        </p:nvSpPr>
        <p:spPr>
          <a:xfrm rot="16200000">
            <a:off x="2181367" y="28668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8" name="Hexagon 177"/>
          <p:cNvSpPr/>
          <p:nvPr/>
        </p:nvSpPr>
        <p:spPr>
          <a:xfrm rot="16200000">
            <a:off x="2448071" y="286688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exagon 4"/>
          <p:cNvSpPr/>
          <p:nvPr/>
        </p:nvSpPr>
        <p:spPr>
          <a:xfrm rot="16200000">
            <a:off x="2143257"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 name="Hexagon 10"/>
          <p:cNvSpPr/>
          <p:nvPr/>
        </p:nvSpPr>
        <p:spPr>
          <a:xfrm rot="16200000">
            <a:off x="2295657"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 name="Hexagon 11"/>
          <p:cNvSpPr/>
          <p:nvPr/>
        </p:nvSpPr>
        <p:spPr>
          <a:xfrm rot="16200000">
            <a:off x="2429000" y="457186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 name="Hexagon 12"/>
          <p:cNvSpPr/>
          <p:nvPr/>
        </p:nvSpPr>
        <p:spPr>
          <a:xfrm rot="16200000">
            <a:off x="2571875" y="478618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 name="Hexagon 13"/>
          <p:cNvSpPr/>
          <p:nvPr/>
        </p:nvSpPr>
        <p:spPr>
          <a:xfrm rot="16200000">
            <a:off x="2714752" y="500049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 name="Hexagon 14"/>
          <p:cNvSpPr/>
          <p:nvPr/>
        </p:nvSpPr>
        <p:spPr>
          <a:xfrm rot="16200000">
            <a:off x="2857628" y="52148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 name="Hexagon 15"/>
          <p:cNvSpPr/>
          <p:nvPr/>
        </p:nvSpPr>
        <p:spPr>
          <a:xfrm rot="16200000">
            <a:off x="3000504" y="5429125"/>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7" name="Hexagon 16"/>
          <p:cNvSpPr/>
          <p:nvPr/>
        </p:nvSpPr>
        <p:spPr>
          <a:xfrm rot="16200000">
            <a:off x="3143380" y="56437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8" name="Hexagon 17"/>
          <p:cNvSpPr/>
          <p:nvPr/>
        </p:nvSpPr>
        <p:spPr>
          <a:xfrm rot="16200000">
            <a:off x="2286123" y="3929206"/>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9" name="Hexagon 18"/>
          <p:cNvSpPr/>
          <p:nvPr/>
        </p:nvSpPr>
        <p:spPr>
          <a:xfrm rot="16200000">
            <a:off x="2429000" y="371461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0" name="Hexagon 19"/>
          <p:cNvSpPr/>
          <p:nvPr/>
        </p:nvSpPr>
        <p:spPr>
          <a:xfrm rot="16200000">
            <a:off x="2571876"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1" name="Hexagon 20"/>
          <p:cNvSpPr/>
          <p:nvPr/>
        </p:nvSpPr>
        <p:spPr>
          <a:xfrm rot="16200000">
            <a:off x="2714752"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2" name="Hexagon 21"/>
          <p:cNvSpPr/>
          <p:nvPr/>
        </p:nvSpPr>
        <p:spPr>
          <a:xfrm rot="16200000">
            <a:off x="2857628" y="307167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3" name="Hexagon 22"/>
          <p:cNvSpPr/>
          <p:nvPr/>
        </p:nvSpPr>
        <p:spPr>
          <a:xfrm rot="16200000">
            <a:off x="3000504" y="285763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4" name="Hexagon 23"/>
          <p:cNvSpPr/>
          <p:nvPr/>
        </p:nvSpPr>
        <p:spPr>
          <a:xfrm rot="16200000">
            <a:off x="3143380" y="264304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5" name="Hexagon 24"/>
          <p:cNvSpPr/>
          <p:nvPr/>
        </p:nvSpPr>
        <p:spPr>
          <a:xfrm rot="16200000">
            <a:off x="3429132" y="264332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 name="Hexagon 25"/>
          <p:cNvSpPr/>
          <p:nvPr/>
        </p:nvSpPr>
        <p:spPr>
          <a:xfrm rot="16200000">
            <a:off x="3714884" y="264304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7" name="Hexagon 26"/>
          <p:cNvSpPr/>
          <p:nvPr/>
        </p:nvSpPr>
        <p:spPr>
          <a:xfrm rot="16200000">
            <a:off x="4000636" y="264304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8" name="Hexagon 27"/>
          <p:cNvSpPr/>
          <p:nvPr/>
        </p:nvSpPr>
        <p:spPr>
          <a:xfrm rot="16200000">
            <a:off x="4286388" y="264304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9" name="Hexagon 28"/>
          <p:cNvSpPr/>
          <p:nvPr/>
        </p:nvSpPr>
        <p:spPr>
          <a:xfrm rot="16200000">
            <a:off x="4572140" y="264304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0" name="Hexagon 29"/>
          <p:cNvSpPr/>
          <p:nvPr/>
        </p:nvSpPr>
        <p:spPr>
          <a:xfrm rot="16200000">
            <a:off x="4857892" y="264304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1" name="Hexagon 30"/>
          <p:cNvSpPr/>
          <p:nvPr/>
        </p:nvSpPr>
        <p:spPr>
          <a:xfrm rot="16200000">
            <a:off x="5143644" y="264304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2" name="Hexagon 31"/>
          <p:cNvSpPr/>
          <p:nvPr/>
        </p:nvSpPr>
        <p:spPr>
          <a:xfrm rot="16200000">
            <a:off x="5286520" y="285735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3" name="Hexagon 32"/>
          <p:cNvSpPr/>
          <p:nvPr/>
        </p:nvSpPr>
        <p:spPr>
          <a:xfrm rot="16200000">
            <a:off x="3429132" y="56437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4" name="Hexagon 33"/>
          <p:cNvSpPr/>
          <p:nvPr/>
        </p:nvSpPr>
        <p:spPr>
          <a:xfrm rot="16200000">
            <a:off x="3714884" y="5643439"/>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35" name="Hexagon 34"/>
          <p:cNvSpPr/>
          <p:nvPr/>
        </p:nvSpPr>
        <p:spPr>
          <a:xfrm rot="16200000">
            <a:off x="4000636" y="56437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6" name="Hexagon 35"/>
          <p:cNvSpPr/>
          <p:nvPr/>
        </p:nvSpPr>
        <p:spPr>
          <a:xfrm rot="16200000">
            <a:off x="4286388" y="56434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7" name="Hexagon 36"/>
          <p:cNvSpPr/>
          <p:nvPr/>
        </p:nvSpPr>
        <p:spPr>
          <a:xfrm rot="16200000">
            <a:off x="4572140" y="564371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8" name="Hexagon 37"/>
          <p:cNvSpPr/>
          <p:nvPr/>
        </p:nvSpPr>
        <p:spPr>
          <a:xfrm rot="16200000">
            <a:off x="4857892" y="564343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9" name="Hexagon 38"/>
          <p:cNvSpPr/>
          <p:nvPr/>
        </p:nvSpPr>
        <p:spPr>
          <a:xfrm rot="16200000">
            <a:off x="5143644" y="5643439"/>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40" name="Hexagon 39"/>
          <p:cNvSpPr/>
          <p:nvPr/>
        </p:nvSpPr>
        <p:spPr>
          <a:xfrm rot="16200000">
            <a:off x="5429396" y="307167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1" name="Hexagon 40"/>
          <p:cNvSpPr/>
          <p:nvPr/>
        </p:nvSpPr>
        <p:spPr>
          <a:xfrm rot="16200000">
            <a:off x="5581796"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2" name="Hexagon 41"/>
          <p:cNvSpPr/>
          <p:nvPr/>
        </p:nvSpPr>
        <p:spPr>
          <a:xfrm rot="16200000">
            <a:off x="5715148"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3" name="Hexagon 42"/>
          <p:cNvSpPr/>
          <p:nvPr/>
        </p:nvSpPr>
        <p:spPr>
          <a:xfrm rot="16200000">
            <a:off x="5858024" y="371461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4" name="Hexagon 43"/>
          <p:cNvSpPr/>
          <p:nvPr/>
        </p:nvSpPr>
        <p:spPr>
          <a:xfrm rot="16200000">
            <a:off x="6000900" y="392892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5" name="Hexagon 44"/>
          <p:cNvSpPr/>
          <p:nvPr/>
        </p:nvSpPr>
        <p:spPr>
          <a:xfrm rot="16200000">
            <a:off x="6143776" y="4143241"/>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46" name="Hexagon 45"/>
          <p:cNvSpPr/>
          <p:nvPr/>
        </p:nvSpPr>
        <p:spPr>
          <a:xfrm rot="16200000">
            <a:off x="6000900"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7" name="Hexagon 46"/>
          <p:cNvSpPr/>
          <p:nvPr/>
        </p:nvSpPr>
        <p:spPr>
          <a:xfrm rot="16200000">
            <a:off x="5858024"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8" name="Hexagon 47"/>
          <p:cNvSpPr/>
          <p:nvPr/>
        </p:nvSpPr>
        <p:spPr>
          <a:xfrm rot="16200000">
            <a:off x="5286520" y="542940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9" name="Hexagon 48"/>
          <p:cNvSpPr/>
          <p:nvPr/>
        </p:nvSpPr>
        <p:spPr>
          <a:xfrm rot="16200000">
            <a:off x="5715148" y="47861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0" name="Hexagon 49"/>
          <p:cNvSpPr/>
          <p:nvPr/>
        </p:nvSpPr>
        <p:spPr>
          <a:xfrm rot="16200000">
            <a:off x="5572272"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1" name="Hexagon 50"/>
          <p:cNvSpPr/>
          <p:nvPr/>
        </p:nvSpPr>
        <p:spPr>
          <a:xfrm rot="16200000">
            <a:off x="5429396" y="52150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2" name="Hexagon 51"/>
          <p:cNvSpPr/>
          <p:nvPr/>
        </p:nvSpPr>
        <p:spPr>
          <a:xfrm rot="16200000">
            <a:off x="5000768" y="5429404"/>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53" name="Hexagon 52"/>
          <p:cNvSpPr/>
          <p:nvPr/>
        </p:nvSpPr>
        <p:spPr>
          <a:xfrm rot="16200000">
            <a:off x="4715016" y="54291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4" name="Hexagon 53"/>
          <p:cNvSpPr/>
          <p:nvPr/>
        </p:nvSpPr>
        <p:spPr>
          <a:xfrm rot="16200000">
            <a:off x="4429264" y="54291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5" name="Hexagon 54"/>
          <p:cNvSpPr/>
          <p:nvPr/>
        </p:nvSpPr>
        <p:spPr>
          <a:xfrm rot="16200000">
            <a:off x="4143512" y="542940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6" name="Hexagon 55"/>
          <p:cNvSpPr/>
          <p:nvPr/>
        </p:nvSpPr>
        <p:spPr>
          <a:xfrm rot="16200000">
            <a:off x="3857760" y="542940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7" name="Hexagon 56"/>
          <p:cNvSpPr/>
          <p:nvPr/>
        </p:nvSpPr>
        <p:spPr>
          <a:xfrm rot="16200000">
            <a:off x="3572008" y="5429404"/>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58" name="Hexagon 57"/>
          <p:cNvSpPr/>
          <p:nvPr/>
        </p:nvSpPr>
        <p:spPr>
          <a:xfrm rot="16200000">
            <a:off x="3286256" y="542912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59" name="Hexagon 58"/>
          <p:cNvSpPr/>
          <p:nvPr/>
        </p:nvSpPr>
        <p:spPr>
          <a:xfrm rot="16200000">
            <a:off x="3714884" y="52150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0" name="Hexagon 59"/>
          <p:cNvSpPr/>
          <p:nvPr/>
        </p:nvSpPr>
        <p:spPr>
          <a:xfrm rot="16200000">
            <a:off x="3429132" y="5215090"/>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61" name="Hexagon 60"/>
          <p:cNvSpPr/>
          <p:nvPr/>
        </p:nvSpPr>
        <p:spPr>
          <a:xfrm rot="16200000">
            <a:off x="3143380" y="5214811"/>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62" name="Hexagon 61"/>
          <p:cNvSpPr/>
          <p:nvPr/>
        </p:nvSpPr>
        <p:spPr>
          <a:xfrm rot="16200000">
            <a:off x="3572008"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3" name="Hexagon 62"/>
          <p:cNvSpPr/>
          <p:nvPr/>
        </p:nvSpPr>
        <p:spPr>
          <a:xfrm rot="16200000">
            <a:off x="3286256"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4" name="Hexagon 63"/>
          <p:cNvSpPr/>
          <p:nvPr/>
        </p:nvSpPr>
        <p:spPr>
          <a:xfrm rot="16200000">
            <a:off x="3000504" y="5000497"/>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65" name="Hexagon 64"/>
          <p:cNvSpPr/>
          <p:nvPr/>
        </p:nvSpPr>
        <p:spPr>
          <a:xfrm rot="16200000">
            <a:off x="3429132" y="47864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6" name="Hexagon 65"/>
          <p:cNvSpPr/>
          <p:nvPr/>
        </p:nvSpPr>
        <p:spPr>
          <a:xfrm rot="16200000">
            <a:off x="3143380" y="47864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7" name="Hexagon 66"/>
          <p:cNvSpPr/>
          <p:nvPr/>
        </p:nvSpPr>
        <p:spPr>
          <a:xfrm rot="16200000">
            <a:off x="2857628" y="4786183"/>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68" name="Hexagon 67"/>
          <p:cNvSpPr/>
          <p:nvPr/>
        </p:nvSpPr>
        <p:spPr>
          <a:xfrm rot="16200000">
            <a:off x="3286256"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69" name="Hexagon 68"/>
          <p:cNvSpPr/>
          <p:nvPr/>
        </p:nvSpPr>
        <p:spPr>
          <a:xfrm rot="16200000">
            <a:off x="3000504"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0" name="Hexagon 69"/>
          <p:cNvSpPr/>
          <p:nvPr/>
        </p:nvSpPr>
        <p:spPr>
          <a:xfrm rot="16200000">
            <a:off x="2714752" y="4571869"/>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71" name="Hexagon 70"/>
          <p:cNvSpPr/>
          <p:nvPr/>
        </p:nvSpPr>
        <p:spPr>
          <a:xfrm rot="16200000">
            <a:off x="3143380"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2" name="Hexagon 71"/>
          <p:cNvSpPr/>
          <p:nvPr/>
        </p:nvSpPr>
        <p:spPr>
          <a:xfrm rot="16200000">
            <a:off x="2857628"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3" name="Hexagon 72"/>
          <p:cNvSpPr/>
          <p:nvPr/>
        </p:nvSpPr>
        <p:spPr>
          <a:xfrm rot="16200000">
            <a:off x="2571876" y="4357555"/>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74" name="Hexagon 73"/>
          <p:cNvSpPr/>
          <p:nvPr/>
        </p:nvSpPr>
        <p:spPr>
          <a:xfrm rot="16200000">
            <a:off x="3000504"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5" name="Hexagon 74"/>
          <p:cNvSpPr/>
          <p:nvPr/>
        </p:nvSpPr>
        <p:spPr>
          <a:xfrm rot="16200000">
            <a:off x="2714752"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6" name="Hexagon 75"/>
          <p:cNvSpPr/>
          <p:nvPr/>
        </p:nvSpPr>
        <p:spPr>
          <a:xfrm rot="16200000">
            <a:off x="2429000" y="4143241"/>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77" name="Hexagon 76"/>
          <p:cNvSpPr/>
          <p:nvPr/>
        </p:nvSpPr>
        <p:spPr>
          <a:xfrm rot="16200000">
            <a:off x="3152904"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8" name="Hexagon 77"/>
          <p:cNvSpPr/>
          <p:nvPr/>
        </p:nvSpPr>
        <p:spPr>
          <a:xfrm rot="16200000">
            <a:off x="2867152"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79" name="Hexagon 78"/>
          <p:cNvSpPr/>
          <p:nvPr/>
        </p:nvSpPr>
        <p:spPr>
          <a:xfrm rot="16200000">
            <a:off x="2581400" y="392892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0" name="Hexagon 79"/>
          <p:cNvSpPr/>
          <p:nvPr/>
        </p:nvSpPr>
        <p:spPr>
          <a:xfrm rot="16200000">
            <a:off x="3286256" y="371489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1" name="Hexagon 80"/>
          <p:cNvSpPr/>
          <p:nvPr/>
        </p:nvSpPr>
        <p:spPr>
          <a:xfrm rot="16200000">
            <a:off x="3000504" y="371489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2" name="Hexagon 81"/>
          <p:cNvSpPr/>
          <p:nvPr/>
        </p:nvSpPr>
        <p:spPr>
          <a:xfrm rot="16200000">
            <a:off x="2714752" y="371461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3" name="Hexagon 82"/>
          <p:cNvSpPr/>
          <p:nvPr/>
        </p:nvSpPr>
        <p:spPr>
          <a:xfrm rot="16200000">
            <a:off x="3438656"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4" name="Hexagon 83"/>
          <p:cNvSpPr/>
          <p:nvPr/>
        </p:nvSpPr>
        <p:spPr>
          <a:xfrm rot="16200000">
            <a:off x="3152904"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5" name="Hexagon 84"/>
          <p:cNvSpPr/>
          <p:nvPr/>
        </p:nvSpPr>
        <p:spPr>
          <a:xfrm rot="16200000">
            <a:off x="2867152" y="350029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6" name="Hexagon 85"/>
          <p:cNvSpPr/>
          <p:nvPr/>
        </p:nvSpPr>
        <p:spPr>
          <a:xfrm rot="16200000">
            <a:off x="3591056"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7" name="Hexagon 86"/>
          <p:cNvSpPr/>
          <p:nvPr/>
        </p:nvSpPr>
        <p:spPr>
          <a:xfrm rot="16200000">
            <a:off x="3305304"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8" name="Hexagon 87"/>
          <p:cNvSpPr/>
          <p:nvPr/>
        </p:nvSpPr>
        <p:spPr>
          <a:xfrm rot="16200000">
            <a:off x="3019552" y="328598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89" name="Hexagon 88"/>
          <p:cNvSpPr/>
          <p:nvPr/>
        </p:nvSpPr>
        <p:spPr>
          <a:xfrm rot="16200000">
            <a:off x="3714884" y="307195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0" name="Hexagon 89"/>
          <p:cNvSpPr/>
          <p:nvPr/>
        </p:nvSpPr>
        <p:spPr>
          <a:xfrm rot="16200000">
            <a:off x="3429132" y="307195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1" name="Hexagon 90"/>
          <p:cNvSpPr/>
          <p:nvPr/>
        </p:nvSpPr>
        <p:spPr>
          <a:xfrm rot="16200000">
            <a:off x="3143380" y="307167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2" name="Hexagon 91"/>
          <p:cNvSpPr/>
          <p:nvPr/>
        </p:nvSpPr>
        <p:spPr>
          <a:xfrm rot="16200000">
            <a:off x="3867284" y="285763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3" name="Hexagon 92"/>
          <p:cNvSpPr/>
          <p:nvPr/>
        </p:nvSpPr>
        <p:spPr>
          <a:xfrm rot="16200000">
            <a:off x="3581532" y="285763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4" name="Hexagon 93"/>
          <p:cNvSpPr/>
          <p:nvPr/>
        </p:nvSpPr>
        <p:spPr>
          <a:xfrm rot="16200000">
            <a:off x="3295780" y="285735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5" name="Hexagon 94"/>
          <p:cNvSpPr/>
          <p:nvPr/>
        </p:nvSpPr>
        <p:spPr>
          <a:xfrm rot="16200000">
            <a:off x="5000768" y="285763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6" name="Hexagon 95"/>
          <p:cNvSpPr/>
          <p:nvPr/>
        </p:nvSpPr>
        <p:spPr>
          <a:xfrm rot="16200000">
            <a:off x="4715016" y="285763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7" name="Hexagon 96"/>
          <p:cNvSpPr/>
          <p:nvPr/>
        </p:nvSpPr>
        <p:spPr>
          <a:xfrm rot="16200000">
            <a:off x="4429264" y="285735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8" name="Hexagon 97"/>
          <p:cNvSpPr/>
          <p:nvPr/>
        </p:nvSpPr>
        <p:spPr>
          <a:xfrm rot="16200000">
            <a:off x="5153168" y="307194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99" name="Hexagon 98"/>
          <p:cNvSpPr/>
          <p:nvPr/>
        </p:nvSpPr>
        <p:spPr>
          <a:xfrm rot="16200000">
            <a:off x="4867416" y="307194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0" name="Hexagon 99"/>
          <p:cNvSpPr/>
          <p:nvPr/>
        </p:nvSpPr>
        <p:spPr>
          <a:xfrm rot="16200000">
            <a:off x="4581664" y="307167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1" name="Hexagon 100"/>
          <p:cNvSpPr/>
          <p:nvPr/>
        </p:nvSpPr>
        <p:spPr>
          <a:xfrm rot="16200000">
            <a:off x="5305568" y="328626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2" name="Hexagon 101"/>
          <p:cNvSpPr/>
          <p:nvPr/>
        </p:nvSpPr>
        <p:spPr>
          <a:xfrm rot="16200000">
            <a:off x="5019816" y="328626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3" name="Hexagon 102"/>
          <p:cNvSpPr/>
          <p:nvPr/>
        </p:nvSpPr>
        <p:spPr>
          <a:xfrm rot="16200000">
            <a:off x="4734064" y="328598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4" name="Hexagon 103"/>
          <p:cNvSpPr/>
          <p:nvPr/>
        </p:nvSpPr>
        <p:spPr>
          <a:xfrm rot="16200000">
            <a:off x="5457968"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5" name="Hexagon 104"/>
          <p:cNvSpPr/>
          <p:nvPr/>
        </p:nvSpPr>
        <p:spPr>
          <a:xfrm rot="16200000">
            <a:off x="5172216"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6" name="Hexagon 105"/>
          <p:cNvSpPr/>
          <p:nvPr/>
        </p:nvSpPr>
        <p:spPr>
          <a:xfrm rot="16200000">
            <a:off x="4886464" y="350029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7" name="Hexagon 106"/>
          <p:cNvSpPr/>
          <p:nvPr/>
        </p:nvSpPr>
        <p:spPr>
          <a:xfrm rot="16200000">
            <a:off x="5572272" y="371489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8" name="Hexagon 107"/>
          <p:cNvSpPr/>
          <p:nvPr/>
        </p:nvSpPr>
        <p:spPr>
          <a:xfrm rot="16200000">
            <a:off x="5286520" y="371489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9" name="Hexagon 108"/>
          <p:cNvSpPr/>
          <p:nvPr/>
        </p:nvSpPr>
        <p:spPr>
          <a:xfrm rot="16200000">
            <a:off x="5000768" y="371461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0" name="Hexagon 109"/>
          <p:cNvSpPr/>
          <p:nvPr/>
        </p:nvSpPr>
        <p:spPr>
          <a:xfrm rot="16200000">
            <a:off x="5715148"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1" name="Hexagon 110"/>
          <p:cNvSpPr/>
          <p:nvPr/>
        </p:nvSpPr>
        <p:spPr>
          <a:xfrm rot="16200000">
            <a:off x="5429396"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
        <p:nvSpPr>
          <p:cNvPr id="112" name="Hexagon 111"/>
          <p:cNvSpPr/>
          <p:nvPr/>
        </p:nvSpPr>
        <p:spPr>
          <a:xfrm rot="16200000">
            <a:off x="5143644" y="392892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3" name="Hexagon 112"/>
          <p:cNvSpPr/>
          <p:nvPr/>
        </p:nvSpPr>
        <p:spPr>
          <a:xfrm rot="16200000">
            <a:off x="5858024" y="4143520"/>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14" name="Hexagon 113"/>
          <p:cNvSpPr/>
          <p:nvPr/>
        </p:nvSpPr>
        <p:spPr>
          <a:xfrm rot="16200000">
            <a:off x="5572272"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5" name="Hexagon 114"/>
          <p:cNvSpPr/>
          <p:nvPr/>
        </p:nvSpPr>
        <p:spPr>
          <a:xfrm rot="16200000">
            <a:off x="5286520" y="414324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6" name="Hexagon 115"/>
          <p:cNvSpPr/>
          <p:nvPr/>
        </p:nvSpPr>
        <p:spPr>
          <a:xfrm rot="16200000">
            <a:off x="5715148" y="4357834"/>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17" name="Hexagon 116"/>
          <p:cNvSpPr/>
          <p:nvPr/>
        </p:nvSpPr>
        <p:spPr>
          <a:xfrm rot="16200000">
            <a:off x="5429396"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8" name="Hexagon 117"/>
          <p:cNvSpPr/>
          <p:nvPr/>
        </p:nvSpPr>
        <p:spPr>
          <a:xfrm rot="16200000">
            <a:off x="5143644" y="435755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19" name="Hexagon 118"/>
          <p:cNvSpPr/>
          <p:nvPr/>
        </p:nvSpPr>
        <p:spPr>
          <a:xfrm rot="16200000">
            <a:off x="5572272" y="4572148"/>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20" name="Hexagon 119"/>
          <p:cNvSpPr/>
          <p:nvPr/>
        </p:nvSpPr>
        <p:spPr>
          <a:xfrm rot="16200000">
            <a:off x="5286520"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1" name="Hexagon 120"/>
          <p:cNvSpPr/>
          <p:nvPr/>
        </p:nvSpPr>
        <p:spPr>
          <a:xfrm rot="16200000">
            <a:off x="5000768" y="45718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2" name="Hexagon 121"/>
          <p:cNvSpPr/>
          <p:nvPr/>
        </p:nvSpPr>
        <p:spPr>
          <a:xfrm rot="16200000">
            <a:off x="5429396" y="4786462"/>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23" name="Hexagon 122"/>
          <p:cNvSpPr/>
          <p:nvPr/>
        </p:nvSpPr>
        <p:spPr>
          <a:xfrm rot="16200000">
            <a:off x="5143644" y="4786462"/>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24" name="Hexagon 123"/>
          <p:cNvSpPr/>
          <p:nvPr/>
        </p:nvSpPr>
        <p:spPr>
          <a:xfrm rot="16200000">
            <a:off x="4857892" y="47861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5" name="Hexagon 124"/>
          <p:cNvSpPr/>
          <p:nvPr/>
        </p:nvSpPr>
        <p:spPr>
          <a:xfrm rot="16200000">
            <a:off x="5286520"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6" name="Hexagon 125"/>
          <p:cNvSpPr/>
          <p:nvPr/>
        </p:nvSpPr>
        <p:spPr>
          <a:xfrm rot="16200000">
            <a:off x="5000768" y="5000776"/>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27" name="Hexagon 126"/>
          <p:cNvSpPr/>
          <p:nvPr/>
        </p:nvSpPr>
        <p:spPr>
          <a:xfrm rot="16200000">
            <a:off x="4715016" y="50004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28" name="Hexagon 127"/>
          <p:cNvSpPr/>
          <p:nvPr/>
        </p:nvSpPr>
        <p:spPr>
          <a:xfrm rot="16200000">
            <a:off x="5143644" y="5215090"/>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29" name="Hexagon 128"/>
          <p:cNvSpPr/>
          <p:nvPr/>
        </p:nvSpPr>
        <p:spPr>
          <a:xfrm rot="16200000">
            <a:off x="4857892" y="52150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0" name="Hexagon 129"/>
          <p:cNvSpPr/>
          <p:nvPr/>
        </p:nvSpPr>
        <p:spPr>
          <a:xfrm rot="16200000">
            <a:off x="4572140" y="52148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1" name="Hexagon 130"/>
          <p:cNvSpPr/>
          <p:nvPr/>
        </p:nvSpPr>
        <p:spPr>
          <a:xfrm rot="16200000">
            <a:off x="4429264"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2" name="Hexagon 131"/>
          <p:cNvSpPr/>
          <p:nvPr/>
        </p:nvSpPr>
        <p:spPr>
          <a:xfrm rot="16200000">
            <a:off x="4143512" y="500077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3" name="Hexagon 132"/>
          <p:cNvSpPr/>
          <p:nvPr/>
        </p:nvSpPr>
        <p:spPr>
          <a:xfrm rot="16200000">
            <a:off x="3857760" y="500049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4" name="Hexagon 133"/>
          <p:cNvSpPr/>
          <p:nvPr/>
        </p:nvSpPr>
        <p:spPr>
          <a:xfrm rot="16200000">
            <a:off x="4429264"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5" name="Hexagon 134"/>
          <p:cNvSpPr/>
          <p:nvPr/>
        </p:nvSpPr>
        <p:spPr>
          <a:xfrm rot="16200000">
            <a:off x="4143512" y="328626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6" name="Hexagon 135"/>
          <p:cNvSpPr/>
          <p:nvPr/>
        </p:nvSpPr>
        <p:spPr>
          <a:xfrm rot="16200000">
            <a:off x="3857760" y="328598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7" name="Hexagon 136"/>
          <p:cNvSpPr/>
          <p:nvPr/>
        </p:nvSpPr>
        <p:spPr>
          <a:xfrm rot="16200000">
            <a:off x="5000768"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8" name="Hexagon 137"/>
          <p:cNvSpPr/>
          <p:nvPr/>
        </p:nvSpPr>
        <p:spPr>
          <a:xfrm rot="16200000">
            <a:off x="4715016" y="414352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39" name="Hexagon 138"/>
          <p:cNvSpPr/>
          <p:nvPr/>
        </p:nvSpPr>
        <p:spPr>
          <a:xfrm rot="16200000">
            <a:off x="4429264" y="414324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0" name="Hexagon 139"/>
          <p:cNvSpPr/>
          <p:nvPr/>
        </p:nvSpPr>
        <p:spPr>
          <a:xfrm rot="16200000">
            <a:off x="3857760" y="414351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1" name="Hexagon 140"/>
          <p:cNvSpPr/>
          <p:nvPr/>
        </p:nvSpPr>
        <p:spPr>
          <a:xfrm rot="16200000">
            <a:off x="3572008" y="4143519"/>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2" name="Hexagon 141"/>
          <p:cNvSpPr/>
          <p:nvPr/>
        </p:nvSpPr>
        <p:spPr>
          <a:xfrm rot="16200000">
            <a:off x="3286256" y="414324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3" name="Hexagon 142"/>
          <p:cNvSpPr/>
          <p:nvPr/>
        </p:nvSpPr>
        <p:spPr>
          <a:xfrm rot="16200000">
            <a:off x="4010160" y="3929206"/>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4" name="Hexagon 143"/>
          <p:cNvSpPr/>
          <p:nvPr/>
        </p:nvSpPr>
        <p:spPr>
          <a:xfrm rot="16200000">
            <a:off x="3724408"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5" name="Hexagon 144"/>
          <p:cNvSpPr/>
          <p:nvPr/>
        </p:nvSpPr>
        <p:spPr>
          <a:xfrm rot="16200000">
            <a:off x="3438656" y="3928927"/>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6" name="Hexagon 145"/>
          <p:cNvSpPr/>
          <p:nvPr/>
        </p:nvSpPr>
        <p:spPr>
          <a:xfrm rot="16200000">
            <a:off x="4143513" y="371489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47" name="Hexagon 146"/>
          <p:cNvSpPr/>
          <p:nvPr/>
        </p:nvSpPr>
        <p:spPr>
          <a:xfrm rot="16200000">
            <a:off x="3857761" y="3714891"/>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8" name="Hexagon 147"/>
          <p:cNvSpPr/>
          <p:nvPr/>
        </p:nvSpPr>
        <p:spPr>
          <a:xfrm rot="16200000">
            <a:off x="3572009" y="3714612"/>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49" name="Hexagon 148"/>
          <p:cNvSpPr/>
          <p:nvPr/>
        </p:nvSpPr>
        <p:spPr>
          <a:xfrm rot="16200000">
            <a:off x="4286388"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0" name="Hexagon 149"/>
          <p:cNvSpPr/>
          <p:nvPr/>
        </p:nvSpPr>
        <p:spPr>
          <a:xfrm rot="16200000">
            <a:off x="4000636" y="350057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1" name="Hexagon 150"/>
          <p:cNvSpPr/>
          <p:nvPr/>
        </p:nvSpPr>
        <p:spPr>
          <a:xfrm rot="16200000">
            <a:off x="3714884" y="350029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2" name="Hexagon 151"/>
          <p:cNvSpPr/>
          <p:nvPr/>
        </p:nvSpPr>
        <p:spPr>
          <a:xfrm rot="16200000">
            <a:off x="4857892"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3" name="Hexagon 152"/>
          <p:cNvSpPr/>
          <p:nvPr/>
        </p:nvSpPr>
        <p:spPr>
          <a:xfrm rot="16200000">
            <a:off x="4572140" y="3929206"/>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4" name="Hexagon 153"/>
          <p:cNvSpPr/>
          <p:nvPr/>
        </p:nvSpPr>
        <p:spPr>
          <a:xfrm rot="16200000">
            <a:off x="4286388" y="3928927"/>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5" name="Hexagon 154"/>
          <p:cNvSpPr/>
          <p:nvPr/>
        </p:nvSpPr>
        <p:spPr>
          <a:xfrm rot="16200000">
            <a:off x="4857892"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6" name="Hexagon 155"/>
          <p:cNvSpPr/>
          <p:nvPr/>
        </p:nvSpPr>
        <p:spPr>
          <a:xfrm rot="16200000">
            <a:off x="4572140" y="435783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7" name="Hexagon 156"/>
          <p:cNvSpPr/>
          <p:nvPr/>
        </p:nvSpPr>
        <p:spPr>
          <a:xfrm rot="16200000">
            <a:off x="4286388" y="435755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8" name="Hexagon 157"/>
          <p:cNvSpPr/>
          <p:nvPr/>
        </p:nvSpPr>
        <p:spPr>
          <a:xfrm rot="16200000">
            <a:off x="4715016"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59" name="Hexagon 158"/>
          <p:cNvSpPr/>
          <p:nvPr/>
        </p:nvSpPr>
        <p:spPr>
          <a:xfrm rot="16200000">
            <a:off x="4429264" y="4572148"/>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0" name="Hexagon 159"/>
          <p:cNvSpPr/>
          <p:nvPr/>
        </p:nvSpPr>
        <p:spPr>
          <a:xfrm rot="16200000">
            <a:off x="4143512" y="45718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normAutofit fontScale="90000"/>
          </a:bodyPr>
          <a:lstStyle/>
          <a:p>
            <a:r>
              <a:rPr lang="en-GB" dirty="0" smtClean="0"/>
              <a:t/>
            </a:r>
            <a:br>
              <a:rPr lang="en-GB" dirty="0" smtClean="0"/>
            </a:br>
            <a:r>
              <a:rPr lang="en-GB" dirty="0" err="1" smtClean="0"/>
              <a:t>Voittokuviot</a:t>
            </a:r>
            <a:r>
              <a:rPr lang="en-GB" dirty="0" smtClean="0"/>
              <a:t>: </a:t>
            </a:r>
            <a:r>
              <a:rPr lang="en-GB" dirty="0" err="1" smtClean="0"/>
              <a:t>haarukka</a:t>
            </a:r>
            <a:r>
              <a:rPr lang="en-GB" dirty="0" smtClean="0"/>
              <a:t> (fork), </a:t>
            </a:r>
            <a:r>
              <a:rPr lang="en-GB" dirty="0" err="1" smtClean="0"/>
              <a:t>rengas</a:t>
            </a:r>
            <a:r>
              <a:rPr lang="en-GB" dirty="0" smtClean="0"/>
              <a:t> (ring) </a:t>
            </a:r>
            <a:r>
              <a:rPr lang="en-GB" dirty="0" err="1" smtClean="0"/>
              <a:t>ja</a:t>
            </a:r>
            <a:r>
              <a:rPr lang="en-GB" dirty="0" smtClean="0"/>
              <a:t> </a:t>
            </a:r>
            <a:r>
              <a:rPr lang="en-GB" dirty="0" err="1" smtClean="0"/>
              <a:t>silta</a:t>
            </a:r>
            <a:r>
              <a:rPr lang="en-GB" dirty="0" smtClean="0"/>
              <a:t> (bridge)</a:t>
            </a:r>
            <a:endParaRPr lang="en-US" dirty="0"/>
          </a:p>
        </p:txBody>
      </p:sp>
      <p:sp>
        <p:nvSpPr>
          <p:cNvPr id="161" name="Hexagon 160"/>
          <p:cNvSpPr/>
          <p:nvPr/>
        </p:nvSpPr>
        <p:spPr>
          <a:xfrm rot="16200000">
            <a:off x="4000636" y="4357833"/>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62" name="Hexagon 161"/>
          <p:cNvSpPr/>
          <p:nvPr/>
        </p:nvSpPr>
        <p:spPr>
          <a:xfrm rot="16200000">
            <a:off x="3714884" y="4357833"/>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63" name="Hexagon 162"/>
          <p:cNvSpPr/>
          <p:nvPr/>
        </p:nvSpPr>
        <p:spPr>
          <a:xfrm rot="16200000">
            <a:off x="3429132" y="4357554"/>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4" name="Hexagon 163"/>
          <p:cNvSpPr/>
          <p:nvPr/>
        </p:nvSpPr>
        <p:spPr>
          <a:xfrm rot="16200000">
            <a:off x="4572140" y="47864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5" name="Hexagon 164"/>
          <p:cNvSpPr/>
          <p:nvPr/>
        </p:nvSpPr>
        <p:spPr>
          <a:xfrm rot="16200000">
            <a:off x="4286388" y="47864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6" name="Hexagon 165"/>
          <p:cNvSpPr/>
          <p:nvPr/>
        </p:nvSpPr>
        <p:spPr>
          <a:xfrm rot="16200000">
            <a:off x="4000636" y="478618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7" name="Hexagon 166"/>
          <p:cNvSpPr/>
          <p:nvPr/>
        </p:nvSpPr>
        <p:spPr>
          <a:xfrm rot="16200000">
            <a:off x="3867284" y="45718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8" name="Hexagon 167"/>
          <p:cNvSpPr/>
          <p:nvPr/>
        </p:nvSpPr>
        <p:spPr>
          <a:xfrm rot="16200000">
            <a:off x="3572008" y="457186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69" name="Hexagon 168"/>
          <p:cNvSpPr/>
          <p:nvPr/>
        </p:nvSpPr>
        <p:spPr>
          <a:xfrm rot="16200000">
            <a:off x="3714884" y="478646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0" name="Hexagon 169"/>
          <p:cNvSpPr/>
          <p:nvPr/>
        </p:nvSpPr>
        <p:spPr>
          <a:xfrm rot="16200000">
            <a:off x="4019684" y="521481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1" name="Hexagon 170"/>
          <p:cNvSpPr/>
          <p:nvPr/>
        </p:nvSpPr>
        <p:spPr>
          <a:xfrm rot="16200000">
            <a:off x="4286388" y="521509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2" name="Hexagon 171"/>
          <p:cNvSpPr/>
          <p:nvPr/>
        </p:nvSpPr>
        <p:spPr>
          <a:xfrm rot="16200000">
            <a:off x="4143512" y="4143241"/>
            <a:ext cx="285472" cy="285752"/>
          </a:xfrm>
          <a:prstGeom prst="hexag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173" name="Hexagon 172"/>
          <p:cNvSpPr/>
          <p:nvPr/>
        </p:nvSpPr>
        <p:spPr>
          <a:xfrm rot="16200000">
            <a:off x="4572140" y="3500299"/>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4" name="Hexagon 173"/>
          <p:cNvSpPr/>
          <p:nvPr/>
        </p:nvSpPr>
        <p:spPr>
          <a:xfrm rot="16200000">
            <a:off x="4429264" y="3714613"/>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5" name="Hexagon 174"/>
          <p:cNvSpPr/>
          <p:nvPr/>
        </p:nvSpPr>
        <p:spPr>
          <a:xfrm rot="16200000">
            <a:off x="4715016" y="3714892"/>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6" name="Hexagon 175"/>
          <p:cNvSpPr/>
          <p:nvPr/>
        </p:nvSpPr>
        <p:spPr>
          <a:xfrm rot="16200000">
            <a:off x="4143512" y="2857635"/>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7" name="Hexagon 176"/>
          <p:cNvSpPr/>
          <p:nvPr/>
        </p:nvSpPr>
        <p:spPr>
          <a:xfrm rot="16200000">
            <a:off x="4019684" y="3071671"/>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8" name="Hexagon 177"/>
          <p:cNvSpPr/>
          <p:nvPr/>
        </p:nvSpPr>
        <p:spPr>
          <a:xfrm rot="16200000">
            <a:off x="4286388" y="3071670"/>
            <a:ext cx="285472" cy="285752"/>
          </a:xfrm>
          <a:prstGeom prst="hexagon">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79" name="Slide Number Placeholder 178"/>
          <p:cNvSpPr>
            <a:spLocks noGrp="1"/>
          </p:cNvSpPr>
          <p:nvPr>
            <p:ph type="sldNum" sz="quarter" idx="12"/>
          </p:nvPr>
        </p:nvSpPr>
        <p:spPr/>
        <p:txBody>
          <a:bodyPr/>
          <a:lstStyle/>
          <a:p>
            <a:fld id="{B28A1AC6-5EDB-4713-9F85-D5B398570835}" type="slidenum">
              <a:rPr lang="en-US" smtClean="0"/>
              <a:pPr/>
              <a:t>7</a:t>
            </a:fld>
            <a:endParaRPr lang="en-US"/>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Before Game Begins</a:t>
            </a:r>
            <a:endParaRPr lang="en-US" dirty="0"/>
          </a:p>
        </p:txBody>
      </p:sp>
      <p:graphicFrame>
        <p:nvGraphicFramePr>
          <p:cNvPr id="5" name="Content Placeholder 4"/>
          <p:cNvGraphicFramePr>
            <a:graphicFrameLocks noGrp="1"/>
          </p:cNvGraphicFramePr>
          <p:nvPr>
            <p:ph idx="1"/>
          </p:nvPr>
        </p:nvGraphicFramePr>
        <p:xfrm>
          <a:off x="457200" y="1676400"/>
          <a:ext cx="8229600" cy="4785360"/>
        </p:xfrm>
        <a:graphic>
          <a:graphicData uri="http://schemas.openxmlformats.org/drawingml/2006/table">
            <a:tbl>
              <a:tblPr firstRow="1" bandRow="1">
                <a:tableStyleId>{5C22544A-7EE6-4342-B048-85BDC9FD1C3A}</a:tableStyleId>
              </a:tblPr>
              <a:tblGrid>
                <a:gridCol w="6900882"/>
                <a:gridCol w="1328718"/>
              </a:tblGrid>
              <a:tr h="370840">
                <a:tc>
                  <a:txBody>
                    <a:bodyPr/>
                    <a:lstStyle/>
                    <a:p>
                      <a:r>
                        <a:rPr lang="en-GB" dirty="0" smtClean="0"/>
                        <a:t>Story text</a:t>
                      </a:r>
                      <a:endParaRPr lang="en-US" dirty="0"/>
                    </a:p>
                  </a:txBody>
                  <a:tcPr/>
                </a:tc>
                <a:tc>
                  <a:txBody>
                    <a:bodyPr/>
                    <a:lstStyle/>
                    <a:p>
                      <a:endParaRPr lang="en-US"/>
                    </a:p>
                  </a:txBody>
                  <a:tcPr/>
                </a:tc>
              </a:tr>
              <a:tr h="370840">
                <a:tc>
                  <a:txBody>
                    <a:bodyPr/>
                    <a:lstStyle/>
                    <a:p>
                      <a:r>
                        <a:rPr lang="en-GB" dirty="0" smtClean="0"/>
                        <a:t>As a player, I can start a new game</a:t>
                      </a:r>
                      <a:endParaRPr lang="en-US" dirty="0"/>
                    </a:p>
                  </a:txBody>
                  <a:tcPr/>
                </a:tc>
                <a:tc>
                  <a:txBody>
                    <a:bodyPr/>
                    <a:lstStyle/>
                    <a:p>
                      <a:endParaRPr lang="en-US"/>
                    </a:p>
                  </a:txBody>
                  <a:tcPr/>
                </a:tc>
              </a:tr>
              <a:tr h="370840">
                <a:tc>
                  <a:txBody>
                    <a:bodyPr/>
                    <a:lstStyle/>
                    <a:p>
                      <a:r>
                        <a:rPr lang="en-GB" dirty="0" smtClean="0"/>
                        <a:t>As a player, I can restore</a:t>
                      </a:r>
                      <a:r>
                        <a:rPr lang="en-GB" baseline="0" dirty="0" smtClean="0"/>
                        <a:t> a saved game</a:t>
                      </a:r>
                    </a:p>
                  </a:txBody>
                  <a:tcPr/>
                </a:tc>
                <a:tc>
                  <a:txBody>
                    <a:bodyPr/>
                    <a:lstStyle/>
                    <a:p>
                      <a:endParaRPr lang="en-US"/>
                    </a:p>
                  </a:txBody>
                  <a:tcPr/>
                </a:tc>
              </a:tr>
              <a:tr h="370840">
                <a:tc>
                  <a:txBody>
                    <a:bodyPr/>
                    <a:lstStyle/>
                    <a:p>
                      <a:r>
                        <a:rPr lang="en-GB" dirty="0" smtClean="0"/>
                        <a:t>As a player, I can select the</a:t>
                      </a:r>
                      <a:r>
                        <a:rPr lang="en-GB" baseline="0" dirty="0" smtClean="0"/>
                        <a:t> computer’s playing strength</a:t>
                      </a:r>
                      <a:endParaRPr lang="en-US" dirty="0"/>
                    </a:p>
                  </a:txBody>
                  <a:tcPr/>
                </a:tc>
                <a:tc>
                  <a:txBody>
                    <a:bodyPr/>
                    <a:lstStyle/>
                    <a:p>
                      <a:endParaRPr lang="en-US"/>
                    </a:p>
                  </a:txBody>
                  <a:tcPr/>
                </a:tc>
              </a:tr>
              <a:tr h="370840">
                <a:tc>
                  <a:txBody>
                    <a:bodyPr/>
                    <a:lstStyle/>
                    <a:p>
                      <a:r>
                        <a:rPr lang="en-GB" dirty="0" smtClean="0"/>
                        <a:t>As a player,</a:t>
                      </a:r>
                      <a:r>
                        <a:rPr lang="en-GB" baseline="0" dirty="0" smtClean="0"/>
                        <a:t> I’d like to be able to use the system to play against another human on my computer</a:t>
                      </a:r>
                      <a:endParaRPr lang="en-US" dirty="0"/>
                    </a:p>
                  </a:txBody>
                  <a:tcPr/>
                </a:tc>
                <a:tc>
                  <a:txBody>
                    <a:bodyPr/>
                    <a:lstStyle/>
                    <a:p>
                      <a:endParaRPr lang="en-US"/>
                    </a:p>
                  </a:txBody>
                  <a:tcPr/>
                </a:tc>
              </a:tr>
              <a:tr h="370840">
                <a:tc>
                  <a:txBody>
                    <a:bodyPr/>
                    <a:lstStyle/>
                    <a:p>
                      <a:r>
                        <a:rPr lang="en-GB" dirty="0" smtClean="0"/>
                        <a:t>As a player, I’d like the appearance of the game to</a:t>
                      </a:r>
                      <a:r>
                        <a:rPr lang="en-GB" baseline="0" dirty="0" smtClean="0"/>
                        <a:t> be aesthetically pleasing</a:t>
                      </a:r>
                      <a:endParaRPr lang="en-US" dirty="0"/>
                    </a:p>
                  </a:txBody>
                  <a:tcPr/>
                </a:tc>
                <a:tc>
                  <a:txBody>
                    <a:bodyPr/>
                    <a:lstStyle/>
                    <a:p>
                      <a:endParaRPr lang="en-US"/>
                    </a:p>
                  </a:txBody>
                  <a:tcPr/>
                </a:tc>
              </a:tr>
              <a:tr h="370840">
                <a:tc>
                  <a:txBody>
                    <a:bodyPr/>
                    <a:lstStyle/>
                    <a:p>
                      <a:r>
                        <a:rPr lang="en-GB" dirty="0" smtClean="0"/>
                        <a:t>As a player, I’d like to be able to choose between</a:t>
                      </a:r>
                      <a:r>
                        <a:rPr lang="en-GB" baseline="0" dirty="0" smtClean="0"/>
                        <a:t> a wooden board and pieces and a metal board and pieces</a:t>
                      </a:r>
                      <a:endParaRPr lang="en-US" dirty="0"/>
                    </a:p>
                  </a:txBody>
                  <a:tcPr/>
                </a:tc>
                <a:tc>
                  <a:txBody>
                    <a:bodyPr/>
                    <a:lstStyle/>
                    <a:p>
                      <a:endParaRPr lang="en-US"/>
                    </a:p>
                  </a:txBody>
                  <a:tcPr/>
                </a:tc>
              </a:tr>
              <a:tr h="370840">
                <a:tc>
                  <a:txBody>
                    <a:bodyPr/>
                    <a:lstStyle/>
                    <a:p>
                      <a:r>
                        <a:rPr lang="en-GB" dirty="0" smtClean="0"/>
                        <a:t>As a</a:t>
                      </a:r>
                      <a:r>
                        <a:rPr lang="en-GB" baseline="0" dirty="0" smtClean="0"/>
                        <a:t> new player, I want to be able to view an interactive tutorial for the game</a:t>
                      </a:r>
                      <a:endParaRPr lang="en-US" dirty="0"/>
                    </a:p>
                  </a:txBody>
                  <a:tcPr/>
                </a:tc>
                <a:tc>
                  <a:txBody>
                    <a:bodyPr/>
                    <a:lstStyle/>
                    <a:p>
                      <a:endParaRPr lang="en-US"/>
                    </a:p>
                  </a:txBody>
                  <a:tcPr/>
                </a:tc>
              </a:tr>
              <a:tr h="370840">
                <a:tc>
                  <a:txBody>
                    <a:bodyPr/>
                    <a:lstStyle/>
                    <a:p>
                      <a:r>
                        <a:rPr lang="en-GB" dirty="0" smtClean="0"/>
                        <a:t>As a player, I want</a:t>
                      </a:r>
                      <a:r>
                        <a:rPr lang="en-GB" baseline="0" dirty="0" smtClean="0"/>
                        <a:t> the system to play background music</a:t>
                      </a:r>
                      <a:endParaRPr lang="en-US" dirty="0"/>
                    </a:p>
                  </a:txBody>
                  <a:tcPr/>
                </a:tc>
                <a:tc>
                  <a:txBody>
                    <a:bodyPr/>
                    <a:lstStyle/>
                    <a:p>
                      <a:endParaRPr lang="en-US"/>
                    </a:p>
                  </a:txBody>
                  <a:tcPr/>
                </a:tc>
              </a:tr>
              <a:tr h="370840">
                <a:tc>
                  <a:txBody>
                    <a:bodyPr/>
                    <a:lstStyle/>
                    <a:p>
                      <a:r>
                        <a:rPr lang="en-GB" dirty="0" smtClean="0"/>
                        <a:t>As a player, I can select the</a:t>
                      </a:r>
                      <a:r>
                        <a:rPr lang="en-GB" baseline="0" dirty="0" smtClean="0"/>
                        <a:t> background music played by the system</a:t>
                      </a:r>
                      <a:endParaRPr lang="en-US" dirty="0"/>
                    </a:p>
                  </a:txBody>
                  <a:tcPr/>
                </a:tc>
                <a:tc>
                  <a:txBody>
                    <a:bodyPr/>
                    <a:lstStyle/>
                    <a:p>
                      <a:endParaRPr lang="en-US" dirty="0"/>
                    </a:p>
                  </a:txBody>
                  <a:tcPr/>
                </a:tc>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During the Game (1/2)</a:t>
            </a:r>
            <a:endParaRPr lang="en-US" dirty="0"/>
          </a:p>
        </p:txBody>
      </p:sp>
      <p:graphicFrame>
        <p:nvGraphicFramePr>
          <p:cNvPr id="5" name="Content Placeholder 4"/>
          <p:cNvGraphicFramePr>
            <a:graphicFrameLocks noGrp="1"/>
          </p:cNvGraphicFramePr>
          <p:nvPr>
            <p:ph idx="1"/>
          </p:nvPr>
        </p:nvGraphicFramePr>
        <p:xfrm>
          <a:off x="457200" y="1935163"/>
          <a:ext cx="8229600" cy="4246880"/>
        </p:xfrm>
        <a:graphic>
          <a:graphicData uri="http://schemas.openxmlformats.org/drawingml/2006/table">
            <a:tbl>
              <a:tblPr firstRow="1" bandRow="1">
                <a:tableStyleId>{5C22544A-7EE6-4342-B048-85BDC9FD1C3A}</a:tableStyleId>
              </a:tblPr>
              <a:tblGrid>
                <a:gridCol w="6900882"/>
                <a:gridCol w="1328718"/>
              </a:tblGrid>
              <a:tr h="370840">
                <a:tc>
                  <a:txBody>
                    <a:bodyPr/>
                    <a:lstStyle/>
                    <a:p>
                      <a:r>
                        <a:rPr lang="en-GB" dirty="0" smtClean="0"/>
                        <a:t>Story text</a:t>
                      </a:r>
                      <a:endParaRPr lang="en-US" dirty="0"/>
                    </a:p>
                  </a:txBody>
                  <a:tcPr/>
                </a:tc>
                <a:tc>
                  <a:txBody>
                    <a:bodyPr/>
                    <a:lstStyle/>
                    <a:p>
                      <a:endParaRPr lang="en-US"/>
                    </a:p>
                  </a:txBody>
                  <a:tcPr/>
                </a:tc>
              </a:tr>
              <a:tr h="370840">
                <a:tc>
                  <a:txBody>
                    <a:bodyPr/>
                    <a:lstStyle/>
                    <a:p>
                      <a:r>
                        <a:rPr lang="en-GB" dirty="0" smtClean="0"/>
                        <a:t>As a player, I want to place a piece</a:t>
                      </a:r>
                      <a:r>
                        <a:rPr lang="en-GB" baseline="0" dirty="0" smtClean="0"/>
                        <a:t> on the board using either my keyboard or mouse</a:t>
                      </a:r>
                      <a:endParaRPr lang="en-US" dirty="0"/>
                    </a:p>
                  </a:txBody>
                  <a:tcPr/>
                </a:tc>
                <a:tc>
                  <a:txBody>
                    <a:bodyPr/>
                    <a:lstStyle/>
                    <a:p>
                      <a:endParaRPr lang="en-US"/>
                    </a:p>
                  </a:txBody>
                  <a:tcPr/>
                </a:tc>
              </a:tr>
              <a:tr h="370840">
                <a:tc>
                  <a:txBody>
                    <a:bodyPr/>
                    <a:lstStyle/>
                    <a:p>
                      <a:r>
                        <a:rPr lang="en-GB" baseline="0" dirty="0" smtClean="0"/>
                        <a:t>As a player, I want to see a visual indicator whose turn it is</a:t>
                      </a:r>
                    </a:p>
                  </a:txBody>
                  <a:tcPr/>
                </a:tc>
                <a:tc>
                  <a:txBody>
                    <a:bodyPr/>
                    <a:lstStyle/>
                    <a:p>
                      <a:endParaRPr lang="en-US"/>
                    </a:p>
                  </a:txBody>
                  <a:tcPr/>
                </a:tc>
              </a:tr>
              <a:tr h="370840">
                <a:tc>
                  <a:txBody>
                    <a:bodyPr/>
                    <a:lstStyle/>
                    <a:p>
                      <a:r>
                        <a:rPr lang="en-GB" dirty="0" smtClean="0"/>
                        <a:t>As a player,</a:t>
                      </a:r>
                      <a:r>
                        <a:rPr lang="en-GB" baseline="0" dirty="0" smtClean="0"/>
                        <a:t> I’d like a visual indicator of the last piece played</a:t>
                      </a:r>
                      <a:endParaRPr lang="en-US" dirty="0"/>
                    </a:p>
                  </a:txBody>
                  <a:tcPr/>
                </a:tc>
                <a:tc>
                  <a:txBody>
                    <a:bodyPr/>
                    <a:lstStyle/>
                    <a:p>
                      <a:endParaRPr lang="en-US"/>
                    </a:p>
                  </a:txBody>
                  <a:tcPr/>
                </a:tc>
              </a:tr>
              <a:tr h="370840">
                <a:tc>
                  <a:txBody>
                    <a:bodyPr/>
                    <a:lstStyle/>
                    <a:p>
                      <a:r>
                        <a:rPr lang="en-GB" dirty="0" smtClean="0"/>
                        <a:t>As a player, I’d like to undo and redo moves</a:t>
                      </a:r>
                      <a:endParaRPr lang="en-US" dirty="0"/>
                    </a:p>
                  </a:txBody>
                  <a:tcPr/>
                </a:tc>
                <a:tc>
                  <a:txBody>
                    <a:bodyPr/>
                    <a:lstStyle/>
                    <a:p>
                      <a:endParaRPr lang="en-US"/>
                    </a:p>
                  </a:txBody>
                  <a:tcPr/>
                </a:tc>
              </a:tr>
              <a:tr h="370840">
                <a:tc>
                  <a:txBody>
                    <a:bodyPr/>
                    <a:lstStyle/>
                    <a:p>
                      <a:r>
                        <a:rPr lang="en-GB" dirty="0" smtClean="0"/>
                        <a:t>As a player, I’d like to ask for a hint sometimes</a:t>
                      </a:r>
                      <a:endParaRPr lang="en-US" dirty="0"/>
                    </a:p>
                  </a:txBody>
                  <a:tcPr/>
                </a:tc>
                <a:tc>
                  <a:txBody>
                    <a:bodyPr/>
                    <a:lstStyle/>
                    <a:p>
                      <a:endParaRPr lang="en-US"/>
                    </a:p>
                  </a:txBody>
                  <a:tcPr/>
                </a:tc>
              </a:tr>
              <a:tr h="370840">
                <a:tc>
                  <a:txBody>
                    <a:bodyPr/>
                    <a:lstStyle/>
                    <a:p>
                      <a:r>
                        <a:rPr lang="en-GB" dirty="0" smtClean="0"/>
                        <a:t>As a player, I’d like to be</a:t>
                      </a:r>
                      <a:r>
                        <a:rPr lang="en-GB" baseline="0" dirty="0" smtClean="0"/>
                        <a:t> able to save games</a:t>
                      </a:r>
                      <a:endParaRPr lang="en-US" dirty="0"/>
                    </a:p>
                  </a:txBody>
                  <a:tcPr/>
                </a:tc>
                <a:tc>
                  <a:txBody>
                    <a:bodyPr/>
                    <a:lstStyle/>
                    <a:p>
                      <a:endParaRPr lang="en-US"/>
                    </a:p>
                  </a:txBody>
                  <a:tcPr/>
                </a:tc>
              </a:tr>
              <a:tr h="370840">
                <a:tc>
                  <a:txBody>
                    <a:bodyPr/>
                    <a:lstStyle/>
                    <a:p>
                      <a:r>
                        <a:rPr lang="en-GB" dirty="0" smtClean="0"/>
                        <a:t>As a player,</a:t>
                      </a:r>
                      <a:r>
                        <a:rPr lang="en-GB" baseline="0" dirty="0" smtClean="0"/>
                        <a:t> I want to be able to quit the game</a:t>
                      </a:r>
                      <a:endParaRPr lang="en-US" dirty="0"/>
                    </a:p>
                  </a:txBody>
                  <a:tcPr/>
                </a:tc>
                <a:tc>
                  <a:txBody>
                    <a:bodyPr/>
                    <a:lstStyle/>
                    <a:p>
                      <a:endParaRPr lang="en-US"/>
                    </a:p>
                  </a:txBody>
                  <a:tcPr/>
                </a:tc>
              </a:tr>
              <a:tr h="370840">
                <a:tc>
                  <a:txBody>
                    <a:bodyPr/>
                    <a:lstStyle/>
                    <a:p>
                      <a:r>
                        <a:rPr lang="en-GB" dirty="0" smtClean="0"/>
                        <a:t>As a player, I want to restart</a:t>
                      </a:r>
                      <a:r>
                        <a:rPr lang="en-GB" baseline="0" dirty="0" smtClean="0"/>
                        <a:t> the game so that I can give up and start over</a:t>
                      </a:r>
                      <a:endParaRPr lang="en-US" dirty="0"/>
                    </a:p>
                  </a:txBody>
                  <a:tcPr/>
                </a:tc>
                <a:tc>
                  <a:txBody>
                    <a:bodyPr/>
                    <a:lstStyle/>
                    <a:p>
                      <a:endParaRPr lang="en-US"/>
                    </a:p>
                  </a:txBody>
                  <a:tcPr/>
                </a:tc>
              </a:tr>
              <a:tr h="370840">
                <a:tc>
                  <a:txBody>
                    <a:bodyPr/>
                    <a:lstStyle/>
                    <a:p>
                      <a:r>
                        <a:rPr lang="en-GB" dirty="0" smtClean="0"/>
                        <a:t>As a new player, I want access to an online help system</a:t>
                      </a:r>
                      <a:endParaRPr lang="en-US" dirty="0"/>
                    </a:p>
                  </a:txBody>
                  <a:tcPr/>
                </a:tc>
                <a:tc>
                  <a:txBody>
                    <a:bodyPr/>
                    <a:lstStyle/>
                    <a:p>
                      <a:endParaRPr lang="en-US" dirty="0"/>
                    </a:p>
                  </a:txBody>
                  <a:tcPr/>
                </a:tc>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During the Game (2/2)</a:t>
            </a:r>
            <a:endParaRPr lang="en-US" dirty="0"/>
          </a:p>
        </p:txBody>
      </p:sp>
      <p:graphicFrame>
        <p:nvGraphicFramePr>
          <p:cNvPr id="5" name="Content Placeholder 4"/>
          <p:cNvGraphicFramePr>
            <a:graphicFrameLocks noGrp="1"/>
          </p:cNvGraphicFramePr>
          <p:nvPr>
            <p:ph idx="1"/>
          </p:nvPr>
        </p:nvGraphicFramePr>
        <p:xfrm>
          <a:off x="457200" y="1935163"/>
          <a:ext cx="8229600" cy="3205479"/>
        </p:xfrm>
        <a:graphic>
          <a:graphicData uri="http://schemas.openxmlformats.org/drawingml/2006/table">
            <a:tbl>
              <a:tblPr firstRow="1" bandRow="1">
                <a:tableStyleId>{5C22544A-7EE6-4342-B048-85BDC9FD1C3A}</a:tableStyleId>
              </a:tblPr>
              <a:tblGrid>
                <a:gridCol w="6900882"/>
                <a:gridCol w="1328718"/>
              </a:tblGrid>
              <a:tr h="370840">
                <a:tc>
                  <a:txBody>
                    <a:bodyPr/>
                    <a:lstStyle/>
                    <a:p>
                      <a:r>
                        <a:rPr lang="en-GB" dirty="0" smtClean="0"/>
                        <a:t>Story text</a:t>
                      </a:r>
                      <a:endParaRPr lang="en-US" dirty="0"/>
                    </a:p>
                  </a:txBody>
                  <a:tcPr/>
                </a:tc>
                <a:tc>
                  <a:txBody>
                    <a:bodyPr/>
                    <a:lstStyle/>
                    <a:p>
                      <a:endParaRPr lang="en-US"/>
                    </a:p>
                  </a:txBody>
                  <a:tcPr/>
                </a:tc>
              </a:tr>
              <a:tr h="370840">
                <a:tc>
                  <a:txBody>
                    <a:bodyPr/>
                    <a:lstStyle/>
                    <a:p>
                      <a:r>
                        <a:rPr lang="en-GB" dirty="0" smtClean="0"/>
                        <a:t>As</a:t>
                      </a:r>
                      <a:r>
                        <a:rPr lang="en-GB" baseline="0" dirty="0" smtClean="0"/>
                        <a:t> a player, I want all the pieces of the willing shape to blink or glow so that I can see the winning shape</a:t>
                      </a:r>
                      <a:endParaRPr lang="en-US" dirty="0"/>
                    </a:p>
                  </a:txBody>
                  <a:tcPr/>
                </a:tc>
                <a:tc>
                  <a:txBody>
                    <a:bodyPr/>
                    <a:lstStyle/>
                    <a:p>
                      <a:endParaRPr lang="en-US"/>
                    </a:p>
                  </a:txBody>
                  <a:tcPr/>
                </a:tc>
              </a:tr>
              <a:tr h="370840">
                <a:tc>
                  <a:txBody>
                    <a:bodyPr/>
                    <a:lstStyle/>
                    <a:p>
                      <a:r>
                        <a:rPr lang="en-GB" dirty="0" smtClean="0"/>
                        <a:t>As a new player, I’d like to get warned</a:t>
                      </a:r>
                      <a:r>
                        <a:rPr lang="en-GB" baseline="0" dirty="0" smtClean="0"/>
                        <a:t> after making a horrible move and be given the chance to take it back</a:t>
                      </a:r>
                      <a:endParaRPr lang="en-US" dirty="0"/>
                    </a:p>
                  </a:txBody>
                  <a:tcPr/>
                </a:tc>
                <a:tc>
                  <a:txBody>
                    <a:bodyPr/>
                    <a:lstStyle/>
                    <a:p>
                      <a:endParaRPr lang="en-US"/>
                    </a:p>
                  </a:txBody>
                  <a:tcPr/>
                </a:tc>
              </a:tr>
              <a:tr h="370840">
                <a:tc>
                  <a:txBody>
                    <a:bodyPr/>
                    <a:lstStyle/>
                    <a:p>
                      <a:r>
                        <a:rPr lang="en-GB" dirty="0" smtClean="0"/>
                        <a:t>As a new</a:t>
                      </a:r>
                      <a:r>
                        <a:rPr lang="en-GB" baseline="0" dirty="0" smtClean="0"/>
                        <a:t> player, when it’s my turn to play I’d like to be shown any hex I should play in, because if I don’t, the computer will play there next and win</a:t>
                      </a:r>
                      <a:endParaRPr lang="en-US" dirty="0"/>
                    </a:p>
                  </a:txBody>
                  <a:tcPr/>
                </a:tc>
                <a:tc>
                  <a:txBody>
                    <a:bodyPr/>
                    <a:lstStyle/>
                    <a:p>
                      <a:endParaRPr lang="en-US"/>
                    </a:p>
                  </a:txBody>
                  <a:tcPr/>
                </a:tc>
              </a:tr>
              <a:tr h="370840">
                <a:tc>
                  <a:txBody>
                    <a:bodyPr/>
                    <a:lstStyle/>
                    <a:p>
                      <a:r>
                        <a:rPr lang="en-GB" dirty="0" smtClean="0"/>
                        <a:t>As a player, I’d like the computer</a:t>
                      </a:r>
                      <a:r>
                        <a:rPr lang="en-GB" baseline="0" dirty="0" smtClean="0"/>
                        <a:t> to play a move in no more than 2 seconds on a 2.0GHz PC</a:t>
                      </a:r>
                      <a:endParaRPr lang="en-US" dirty="0"/>
                    </a:p>
                  </a:txBody>
                  <a:tcPr/>
                </a:tc>
                <a:tc>
                  <a:txBody>
                    <a:bodyPr/>
                    <a:lstStyle/>
                    <a:p>
                      <a:endParaRPr lang="en-US" dirty="0"/>
                    </a:p>
                  </a:txBody>
                  <a:tcPr/>
                </a:tc>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After the Game</a:t>
            </a:r>
            <a:endParaRPr lang="en-US" dirty="0"/>
          </a:p>
        </p:txBody>
      </p:sp>
      <p:graphicFrame>
        <p:nvGraphicFramePr>
          <p:cNvPr id="5" name="Content Placeholder 4"/>
          <p:cNvGraphicFramePr>
            <a:graphicFrameLocks noGrp="1"/>
          </p:cNvGraphicFramePr>
          <p:nvPr>
            <p:ph idx="1"/>
          </p:nvPr>
        </p:nvGraphicFramePr>
        <p:xfrm>
          <a:off x="457200" y="1935163"/>
          <a:ext cx="8229600" cy="2763520"/>
        </p:xfrm>
        <a:graphic>
          <a:graphicData uri="http://schemas.openxmlformats.org/drawingml/2006/table">
            <a:tbl>
              <a:tblPr firstRow="1" bandRow="1">
                <a:tableStyleId>{5C22544A-7EE6-4342-B048-85BDC9FD1C3A}</a:tableStyleId>
              </a:tblPr>
              <a:tblGrid>
                <a:gridCol w="6900882"/>
                <a:gridCol w="1328718"/>
              </a:tblGrid>
              <a:tr h="370840">
                <a:tc>
                  <a:txBody>
                    <a:bodyPr/>
                    <a:lstStyle/>
                    <a:p>
                      <a:r>
                        <a:rPr lang="en-GB" dirty="0" smtClean="0"/>
                        <a:t>Story text</a:t>
                      </a:r>
                      <a:endParaRPr lang="en-US" dirty="0"/>
                    </a:p>
                  </a:txBody>
                  <a:tcPr/>
                </a:tc>
                <a:tc>
                  <a:txBody>
                    <a:bodyPr/>
                    <a:lstStyle/>
                    <a:p>
                      <a:endParaRPr lang="en-US"/>
                    </a:p>
                  </a:txBody>
                  <a:tcPr/>
                </a:tc>
              </a:tr>
              <a:tr h="370840">
                <a:tc>
                  <a:txBody>
                    <a:bodyPr/>
                    <a:lstStyle/>
                    <a:p>
                      <a:r>
                        <a:rPr lang="en-GB" dirty="0" smtClean="0"/>
                        <a:t>As a player, I want the system to keep track</a:t>
                      </a:r>
                      <a:r>
                        <a:rPr lang="en-GB" baseline="0" dirty="0" smtClean="0"/>
                        <a:t> of how many games I win and lose (by the playing strength of the computer?)</a:t>
                      </a:r>
                      <a:endParaRPr lang="en-US" dirty="0"/>
                    </a:p>
                  </a:txBody>
                  <a:tcPr/>
                </a:tc>
                <a:tc>
                  <a:txBody>
                    <a:bodyPr/>
                    <a:lstStyle/>
                    <a:p>
                      <a:endParaRPr lang="en-US" dirty="0"/>
                    </a:p>
                  </a:txBody>
                  <a:tcPr/>
                </a:tc>
              </a:tr>
              <a:tr h="370840">
                <a:tc>
                  <a:txBody>
                    <a:bodyPr/>
                    <a:lstStyle/>
                    <a:p>
                      <a:r>
                        <a:rPr lang="en-GB" baseline="0" dirty="0" smtClean="0"/>
                        <a:t>As a player, I’d like to add annotations to saved games</a:t>
                      </a:r>
                    </a:p>
                  </a:txBody>
                  <a:tcPr/>
                </a:tc>
                <a:tc>
                  <a:txBody>
                    <a:bodyPr/>
                    <a:lstStyle/>
                    <a:p>
                      <a:endParaRPr lang="en-US"/>
                    </a:p>
                  </a:txBody>
                  <a:tcPr/>
                </a:tc>
              </a:tr>
              <a:tr h="370840">
                <a:tc>
                  <a:txBody>
                    <a:bodyPr/>
                    <a:lstStyle/>
                    <a:p>
                      <a:r>
                        <a:rPr lang="en-GB" dirty="0" smtClean="0"/>
                        <a:t>As a player,</a:t>
                      </a:r>
                      <a:r>
                        <a:rPr lang="en-GB" baseline="0" dirty="0" smtClean="0"/>
                        <a:t> I’d like to step forward through moves so that I can review a game I’ve already played</a:t>
                      </a:r>
                      <a:endParaRPr lang="en-US" dirty="0"/>
                    </a:p>
                  </a:txBody>
                  <a:tcPr/>
                </a:tc>
                <a:tc>
                  <a:txBody>
                    <a:bodyPr/>
                    <a:lstStyle/>
                    <a:p>
                      <a:endParaRPr lang="en-US"/>
                    </a:p>
                  </a:txBody>
                  <a:tcPr/>
                </a:tc>
              </a:tr>
              <a:tr h="370840">
                <a:tc>
                  <a:txBody>
                    <a:bodyPr/>
                    <a:lstStyle/>
                    <a:p>
                      <a:r>
                        <a:rPr lang="en-GB" baseline="0" dirty="0" smtClean="0"/>
                        <a:t>As a player, I want the computer to recognize a winning shape</a:t>
                      </a:r>
                    </a:p>
                  </a:txBody>
                  <a:tcPr/>
                </a:tc>
                <a:tc>
                  <a:txBody>
                    <a:bodyPr/>
                    <a:lstStyle/>
                    <a:p>
                      <a:endParaRPr lang="en-US" dirty="0"/>
                    </a:p>
                  </a:txBody>
                  <a:tcPr/>
                </a:tc>
              </a:tr>
              <a:tr h="370840">
                <a:tc>
                  <a:txBody>
                    <a:bodyPr/>
                    <a:lstStyle/>
                    <a:p>
                      <a:r>
                        <a:rPr lang="en-GB" dirty="0" smtClean="0"/>
                        <a:t>As I player,</a:t>
                      </a:r>
                      <a:r>
                        <a:rPr lang="en-GB" baseline="0" dirty="0" smtClean="0"/>
                        <a:t> I can save a game</a:t>
                      </a:r>
                    </a:p>
                  </a:txBody>
                  <a:tcPr/>
                </a:tc>
                <a:tc>
                  <a:txBody>
                    <a:bodyPr/>
                    <a:lstStyle/>
                    <a:p>
                      <a:endParaRPr lang="en-US" dirty="0"/>
                    </a:p>
                  </a:txBody>
                  <a:tcPr/>
                </a:tc>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GB" dirty="0" smtClean="0"/>
              <a:t>Before Game Begins – Game Engine</a:t>
            </a:r>
            <a:endParaRPr lang="en-US" dirty="0"/>
          </a:p>
        </p:txBody>
      </p:sp>
      <p:graphicFrame>
        <p:nvGraphicFramePr>
          <p:cNvPr id="5" name="Content Placeholder 4"/>
          <p:cNvGraphicFramePr>
            <a:graphicFrameLocks noGrp="1"/>
          </p:cNvGraphicFramePr>
          <p:nvPr>
            <p:ph idx="1"/>
          </p:nvPr>
        </p:nvGraphicFramePr>
        <p:xfrm>
          <a:off x="457200" y="1935163"/>
          <a:ext cx="8229600" cy="2225040"/>
        </p:xfrm>
        <a:graphic>
          <a:graphicData uri="http://schemas.openxmlformats.org/drawingml/2006/table">
            <a:tbl>
              <a:tblPr firstRow="1" bandRow="1">
                <a:tableStyleId>{5C22544A-7EE6-4342-B048-85BDC9FD1C3A}</a:tableStyleId>
              </a:tblPr>
              <a:tblGrid>
                <a:gridCol w="6900882"/>
                <a:gridCol w="1328718"/>
              </a:tblGrid>
              <a:tr h="370840">
                <a:tc>
                  <a:txBody>
                    <a:bodyPr/>
                    <a:lstStyle/>
                    <a:p>
                      <a:r>
                        <a:rPr lang="en-GB" dirty="0" smtClean="0"/>
                        <a:t>Story text</a:t>
                      </a:r>
                      <a:endParaRPr lang="en-US" dirty="0"/>
                    </a:p>
                  </a:txBody>
                  <a:tcPr/>
                </a:tc>
                <a:tc>
                  <a:txBody>
                    <a:bodyPr/>
                    <a:lstStyle/>
                    <a:p>
                      <a:endParaRPr 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As a player, I can play against a weak</a:t>
                      </a:r>
                      <a:r>
                        <a:rPr lang="en-GB" baseline="0" dirty="0" smtClean="0"/>
                        <a:t> engine that recognizes rings</a:t>
                      </a:r>
                      <a:endParaRPr lang="en-US" dirty="0" smtClean="0"/>
                    </a:p>
                  </a:txBody>
                  <a:tcPr/>
                </a:tc>
                <a:tc>
                  <a:txBody>
                    <a:bodyPr/>
                    <a:lstStyle/>
                    <a:p>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As a player, I can play against a weak</a:t>
                      </a:r>
                      <a:r>
                        <a:rPr lang="en-GB" baseline="0" dirty="0" smtClean="0"/>
                        <a:t> engine that recognizes bridges</a:t>
                      </a:r>
                      <a:endParaRPr lang="en-US" dirty="0" smtClean="0"/>
                    </a:p>
                  </a:txBody>
                  <a:tcPr/>
                </a:tc>
                <a:tc>
                  <a:txBody>
                    <a:bodyPr/>
                    <a:lstStyle/>
                    <a:p>
                      <a:endParaRPr lang="en-US"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As a player, I can play against a weak</a:t>
                      </a:r>
                      <a:r>
                        <a:rPr lang="en-GB" baseline="0" dirty="0" smtClean="0"/>
                        <a:t> engine that recognizes forks</a:t>
                      </a:r>
                      <a:endParaRPr lang="en-US" dirty="0" smtClean="0"/>
                    </a:p>
                  </a:txBody>
                  <a:tcPr/>
                </a:tc>
                <a:tc>
                  <a:txBody>
                    <a:bodyPr/>
                    <a:lstStyle/>
                    <a:p>
                      <a:endParaRPr lang="en-US" dirty="0"/>
                    </a:p>
                  </a:txBody>
                  <a:tcPr/>
                </a:tc>
              </a:tr>
              <a:tr h="370840">
                <a:tc>
                  <a:txBody>
                    <a:bodyPr/>
                    <a:lstStyle/>
                    <a:p>
                      <a:r>
                        <a:rPr lang="en-GB" dirty="0" smtClean="0"/>
                        <a:t>As a player, I can play against a medium-strength</a:t>
                      </a:r>
                      <a:r>
                        <a:rPr lang="en-GB" baseline="0" dirty="0" smtClean="0"/>
                        <a:t> engine</a:t>
                      </a:r>
                      <a:endParaRPr lang="en-US" dirty="0"/>
                    </a:p>
                  </a:txBody>
                  <a:tcPr/>
                </a:tc>
                <a:tc>
                  <a:txBody>
                    <a:bodyPr/>
                    <a:lstStyle/>
                    <a:p>
                      <a:endParaRPr lang="en-US" dirty="0"/>
                    </a:p>
                  </a:txBody>
                  <a:tcPr/>
                </a:tc>
              </a:tr>
              <a:tr h="370840">
                <a:tc>
                  <a:txBody>
                    <a:bodyPr/>
                    <a:lstStyle/>
                    <a:p>
                      <a:r>
                        <a:rPr lang="en-GB" dirty="0" smtClean="0"/>
                        <a:t>As a</a:t>
                      </a:r>
                      <a:r>
                        <a:rPr lang="en-GB" baseline="0" dirty="0" smtClean="0"/>
                        <a:t> player, I can play against a strong engine</a:t>
                      </a:r>
                      <a:endParaRPr lang="en-US" dirty="0"/>
                    </a:p>
                  </a:txBody>
                  <a:tcPr/>
                </a:tc>
                <a:tc>
                  <a:txBody>
                    <a:bodyPr/>
                    <a:lstStyle/>
                    <a:p>
                      <a:endParaRPr lang="en-US" dirty="0"/>
                    </a:p>
                  </a:txBody>
                  <a:tcPr/>
                </a:tc>
              </a:tr>
            </a:tbl>
          </a:graphicData>
        </a:graphic>
      </p:graphicFrame>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Refining “Aesthetically Pleasing”</a:t>
            </a:r>
            <a:endParaRPr lang="en-US" dirty="0"/>
          </a:p>
        </p:txBody>
      </p:sp>
      <p:graphicFrame>
        <p:nvGraphicFramePr>
          <p:cNvPr id="4" name="Content Placeholder 3"/>
          <p:cNvGraphicFramePr>
            <a:graphicFrameLocks noGrp="1"/>
          </p:cNvGraphicFramePr>
          <p:nvPr>
            <p:ph idx="1"/>
          </p:nvPr>
        </p:nvGraphicFramePr>
        <p:xfrm>
          <a:off x="457200" y="1935163"/>
          <a:ext cx="8229600" cy="1299844"/>
        </p:xfrm>
        <a:graphic>
          <a:graphicData uri="http://schemas.openxmlformats.org/drawingml/2006/table">
            <a:tbl>
              <a:tblPr firstRow="1" bandRow="1">
                <a:tableStyleId>{5C22544A-7EE6-4342-B048-85BDC9FD1C3A}</a:tableStyleId>
              </a:tblPr>
              <a:tblGrid>
                <a:gridCol w="6758006"/>
                <a:gridCol w="1471594"/>
              </a:tblGrid>
              <a:tr h="370840">
                <a:tc>
                  <a:txBody>
                    <a:bodyPr/>
                    <a:lstStyle/>
                    <a:p>
                      <a:r>
                        <a:rPr lang="en-GB" dirty="0" smtClean="0">
                          <a:latin typeface="+mn-lt"/>
                        </a:rPr>
                        <a:t>Story text</a:t>
                      </a:r>
                      <a:endParaRPr lang="en-US" dirty="0">
                        <a:latin typeface="+mn-lt"/>
                      </a:endParaRPr>
                    </a:p>
                  </a:txBody>
                  <a:tcPr/>
                </a:tc>
                <a:tc>
                  <a:txBody>
                    <a:bodyPr/>
                    <a:lstStyle/>
                    <a:p>
                      <a:endParaRPr lang="en-US" dirty="0"/>
                    </a:p>
                  </a:txBody>
                  <a:tcPr/>
                </a:tc>
              </a:tr>
              <a:tr h="370840">
                <a:tc>
                  <a:txBody>
                    <a:bodyPr/>
                    <a:lstStyle/>
                    <a:p>
                      <a:pPr algn="l" rtl="0" fontAlgn="t"/>
                      <a:r>
                        <a:rPr lang="en-US" sz="1800" b="0" i="0" u="none" strike="noStrike" dirty="0">
                          <a:solidFill>
                            <a:srgbClr val="000000"/>
                          </a:solidFill>
                          <a:latin typeface="+mn-lt"/>
                        </a:rPr>
                        <a:t>As a player, I want a nice-looking splash screen when program starts</a:t>
                      </a:r>
                    </a:p>
                  </a:txBody>
                  <a:tcPr marL="9525" marR="9525" marT="9525" marB="0"/>
                </a:tc>
                <a:tc>
                  <a:txBody>
                    <a:bodyPr/>
                    <a:lstStyle/>
                    <a:p>
                      <a:endParaRPr lang="en-US" dirty="0"/>
                    </a:p>
                  </a:txBody>
                  <a:tcPr/>
                </a:tc>
              </a:tr>
              <a:tr h="370840">
                <a:tc>
                  <a:txBody>
                    <a:bodyPr/>
                    <a:lstStyle/>
                    <a:p>
                      <a:pPr algn="l" rtl="0" fontAlgn="t"/>
                      <a:r>
                        <a:rPr lang="en-US" sz="1800" b="0" i="0" u="none" strike="noStrike" dirty="0">
                          <a:solidFill>
                            <a:srgbClr val="000000"/>
                          </a:solidFill>
                          <a:latin typeface="+mn-lt"/>
                        </a:rPr>
                        <a:t>As a player, I want nice-looking background art that integrates with the game boards</a:t>
                      </a:r>
                    </a:p>
                  </a:txBody>
                  <a:tcPr marL="9525" marR="9525" marT="9525" marB="0"/>
                </a:tc>
                <a:tc>
                  <a:txBody>
                    <a:bodyPr/>
                    <a:lstStyle/>
                    <a:p>
                      <a:endParaRPr lang="en-US" dirty="0"/>
                    </a:p>
                  </a:txBody>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The Testing Tasks from the Book Example</a:t>
            </a:r>
            <a:endParaRPr lang="en-US" dirty="0"/>
          </a:p>
        </p:txBody>
      </p:sp>
      <p:sp>
        <p:nvSpPr>
          <p:cNvPr id="3" name="Content Placeholder 2"/>
          <p:cNvSpPr>
            <a:spLocks noGrp="1"/>
          </p:cNvSpPr>
          <p:nvPr>
            <p:ph idx="1"/>
          </p:nvPr>
        </p:nvSpPr>
        <p:spPr/>
        <p:txBody>
          <a:bodyPr/>
          <a:lstStyle/>
          <a:p>
            <a:r>
              <a:rPr lang="en-GB" dirty="0" smtClean="0"/>
              <a:t>Two kinds of tasks:</a:t>
            </a:r>
          </a:p>
          <a:p>
            <a:pPr lvl="1"/>
            <a:r>
              <a:rPr lang="en-GB" dirty="0" smtClean="0"/>
              <a:t>Design tests</a:t>
            </a:r>
          </a:p>
          <a:p>
            <a:pPr lvl="1"/>
            <a:r>
              <a:rPr lang="en-GB" smtClean="0"/>
              <a:t>Automate tests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6" name="TextBox 5"/>
          <p:cNvSpPr txBox="1"/>
          <p:nvPr/>
        </p:nvSpPr>
        <p:spPr>
          <a:xfrm>
            <a:off x="5562600" y="3276600"/>
            <a:ext cx="2895600" cy="2677656"/>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fi-FI" sz="2400" dirty="0" smtClean="0"/>
              <a:t>Use testing skills with good communication to show the many facets of testing – there´s surely more in tasks for every project?</a:t>
            </a:r>
            <a:endParaRPr lang="fi-FI" sz="2400" dirty="0"/>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0178" name="Rectangle 1026"/>
          <p:cNvSpPr>
            <a:spLocks noGrp="1" noChangeArrowheads="1"/>
          </p:cNvSpPr>
          <p:nvPr>
            <p:ph type="title"/>
          </p:nvPr>
        </p:nvSpPr>
        <p:spPr/>
        <p:txBody>
          <a:bodyPr>
            <a:noAutofit/>
          </a:bodyPr>
          <a:lstStyle/>
          <a:p>
            <a:r>
              <a:rPr lang="fi-FI" sz="4400" dirty="0" smtClean="0"/>
              <a:t>Ketterän suunnittelun vaikutus testaukseen</a:t>
            </a:r>
            <a:endParaRPr lang="en-GB" sz="4400" dirty="0"/>
          </a:p>
        </p:txBody>
      </p:sp>
      <p:sp>
        <p:nvSpPr>
          <p:cNvPr id="1330179" name="Rectangle 1027"/>
          <p:cNvSpPr>
            <a:spLocks noGrp="1" noChangeArrowheads="1"/>
          </p:cNvSpPr>
          <p:nvPr>
            <p:ph idx="1"/>
          </p:nvPr>
        </p:nvSpPr>
        <p:spPr/>
        <p:txBody>
          <a:bodyPr>
            <a:noAutofit/>
          </a:bodyPr>
          <a:lstStyle/>
          <a:p>
            <a:pPr>
              <a:lnSpc>
                <a:spcPct val="110000"/>
              </a:lnSpc>
            </a:pPr>
            <a:r>
              <a:rPr lang="fi-FI" sz="2000" dirty="0" smtClean="0"/>
              <a:t>Kaikki testaus tehdään päivä kerrallaan</a:t>
            </a:r>
          </a:p>
          <a:p>
            <a:pPr lvl="1">
              <a:lnSpc>
                <a:spcPct val="110000"/>
              </a:lnSpc>
            </a:pPr>
            <a:r>
              <a:rPr lang="fi-FI" sz="1600" dirty="0" smtClean="0"/>
              <a:t>Pääasiallinen haaste: jos testaajat eivät osaa selittää mitä ja miksi, miksi tehtävät tulisivat tehdyiksi?</a:t>
            </a:r>
          </a:p>
          <a:p>
            <a:pPr>
              <a:lnSpc>
                <a:spcPct val="110000"/>
              </a:lnSpc>
            </a:pPr>
            <a:r>
              <a:rPr lang="fi-FI" sz="2000" dirty="0" smtClean="0"/>
              <a:t>Osa työstä sopii hyvin jatkuvaan kehitykseen: </a:t>
            </a:r>
            <a:r>
              <a:rPr lang="fi-FI" sz="2000" b="1" dirty="0" smtClean="0"/>
              <a:t>in-synch</a:t>
            </a:r>
            <a:r>
              <a:rPr lang="fi-FI" sz="2000" dirty="0" smtClean="0"/>
              <a:t> testaus</a:t>
            </a:r>
          </a:p>
          <a:p>
            <a:pPr lvl="1">
              <a:lnSpc>
                <a:spcPct val="110000"/>
              </a:lnSpc>
            </a:pPr>
            <a:r>
              <a:rPr lang="fi-FI" sz="1600" dirty="0" smtClean="0"/>
              <a:t>Suurin osa toiminnallisesta testauksesta</a:t>
            </a:r>
          </a:p>
          <a:p>
            <a:pPr lvl="1">
              <a:lnSpc>
                <a:spcPct val="110000"/>
              </a:lnSpc>
            </a:pPr>
            <a:r>
              <a:rPr lang="fi-FI" sz="1600" dirty="0" smtClean="0"/>
              <a:t>Muukin testaus automatisoituna</a:t>
            </a:r>
          </a:p>
          <a:p>
            <a:pPr>
              <a:lnSpc>
                <a:spcPct val="110000"/>
              </a:lnSpc>
            </a:pPr>
            <a:r>
              <a:rPr lang="fi-FI" sz="2000" dirty="0" smtClean="0"/>
              <a:t>Osa työstä vaatii pidemmän aikavälin: </a:t>
            </a:r>
            <a:r>
              <a:rPr lang="fi-FI" sz="2000" b="1" dirty="0" smtClean="0"/>
              <a:t>off-synch</a:t>
            </a:r>
            <a:r>
              <a:rPr lang="fi-FI" sz="2000" b="1" i="1" dirty="0" smtClean="0"/>
              <a:t> </a:t>
            </a:r>
            <a:r>
              <a:rPr lang="fi-FI" sz="2000" dirty="0" smtClean="0"/>
              <a:t>testaus</a:t>
            </a:r>
          </a:p>
          <a:p>
            <a:pPr lvl="1">
              <a:lnSpc>
                <a:spcPct val="110000"/>
              </a:lnSpc>
            </a:pPr>
            <a:r>
              <a:rPr lang="fi-FI" sz="1600" dirty="0" smtClean="0"/>
              <a:t>Enemmän suunnittelu- ja valmisteluaikaa</a:t>
            </a:r>
          </a:p>
          <a:p>
            <a:pPr lvl="1">
              <a:lnSpc>
                <a:spcPct val="110000"/>
              </a:lnSpc>
            </a:pPr>
            <a:r>
              <a:rPr lang="fi-FI" sz="1600" dirty="0" smtClean="0"/>
              <a:t>Erityisesti jotkin ei-toiminnalliset testit, esim. suorituskyky</a:t>
            </a:r>
          </a:p>
          <a:p>
            <a:pPr lvl="1">
              <a:lnSpc>
                <a:spcPct val="110000"/>
              </a:lnSpc>
            </a:pPr>
            <a:r>
              <a:rPr lang="fi-FI" sz="1600" dirty="0" smtClean="0"/>
              <a:t>Julkaisuun liittyvä regressiotestaus automaation ulkopuolella</a:t>
            </a:r>
          </a:p>
          <a:p>
            <a:pPr>
              <a:lnSpc>
                <a:spcPct val="110000"/>
              </a:lnSpc>
            </a:pPr>
            <a:r>
              <a:rPr lang="fi-FI" sz="2000" dirty="0" smtClean="0"/>
              <a:t>Ketterissä menetelmissä minimoidaan off-synch testauksen määrää</a:t>
            </a:r>
          </a:p>
          <a:p>
            <a:pPr lvl="1">
              <a:lnSpc>
                <a:spcPct val="110000"/>
              </a:lnSpc>
            </a:pPr>
            <a:r>
              <a:rPr lang="fi-FI" sz="1600" dirty="0" smtClean="0"/>
              <a:t>Testiautomaatio</a:t>
            </a:r>
          </a:p>
          <a:p>
            <a:pPr lvl="1">
              <a:lnSpc>
                <a:spcPct val="110000"/>
              </a:lnSpc>
            </a:pPr>
            <a:r>
              <a:rPr lang="fi-FI" sz="1600" dirty="0" smtClean="0"/>
              <a:t>Tiimin osallistuminen testauksen tavoitteisiin</a:t>
            </a:r>
          </a:p>
          <a:p>
            <a:pPr lvl="1">
              <a:lnSpc>
                <a:spcPct val="110000"/>
              </a:lnSpc>
            </a:pPr>
            <a:r>
              <a:rPr lang="fi-FI" sz="1600" dirty="0" smtClean="0"/>
              <a:t>Joustavat tuotearkkitehtuurit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err="1" smtClean="0"/>
              <a:t>Tavoitteen</a:t>
            </a:r>
            <a:r>
              <a:rPr lang="en-GB" dirty="0" smtClean="0"/>
              <a:t> </a:t>
            </a:r>
            <a:r>
              <a:rPr lang="en-GB" dirty="0" err="1" smtClean="0"/>
              <a:t>asettaminen</a:t>
            </a:r>
            <a:r>
              <a:rPr lang="en-GB" dirty="0" smtClean="0"/>
              <a:t> </a:t>
            </a:r>
            <a:r>
              <a:rPr lang="en-GB" dirty="0" err="1" smtClean="0"/>
              <a:t>ja</a:t>
            </a:r>
            <a:r>
              <a:rPr lang="en-GB" dirty="0" smtClean="0"/>
              <a:t> </a:t>
            </a:r>
            <a:r>
              <a:rPr lang="en-GB" dirty="0" err="1" smtClean="0"/>
              <a:t>viestintä</a:t>
            </a:r>
            <a:endParaRPr lang="en-US" dirty="0"/>
          </a:p>
        </p:txBody>
      </p:sp>
      <p:sp>
        <p:nvSpPr>
          <p:cNvPr id="3" name="Content Placeholder 2"/>
          <p:cNvSpPr>
            <a:spLocks noGrp="1"/>
          </p:cNvSpPr>
          <p:nvPr>
            <p:ph idx="1"/>
          </p:nvPr>
        </p:nvSpPr>
        <p:spPr/>
        <p:txBody>
          <a:bodyPr>
            <a:noAutofit/>
          </a:bodyPr>
          <a:lstStyle/>
          <a:p>
            <a:r>
              <a:rPr lang="en-GB" sz="2400" dirty="0" err="1" smtClean="0"/>
              <a:t>Kerrotaan</a:t>
            </a:r>
            <a:r>
              <a:rPr lang="en-GB" sz="2400" dirty="0" smtClean="0"/>
              <a:t> </a:t>
            </a:r>
            <a:r>
              <a:rPr lang="en-GB" sz="2400" dirty="0" err="1" smtClean="0"/>
              <a:t>mitä</a:t>
            </a:r>
            <a:r>
              <a:rPr lang="en-GB" sz="2400" dirty="0" smtClean="0"/>
              <a:t> </a:t>
            </a:r>
            <a:r>
              <a:rPr lang="en-GB" sz="2400" dirty="0" err="1" smtClean="0"/>
              <a:t>uskomme</a:t>
            </a:r>
            <a:r>
              <a:rPr lang="en-GB" sz="2400" dirty="0" smtClean="0"/>
              <a:t> </a:t>
            </a:r>
            <a:r>
              <a:rPr lang="en-GB" sz="2400" dirty="0" err="1" smtClean="0"/>
              <a:t>voivamme</a:t>
            </a:r>
            <a:r>
              <a:rPr lang="en-GB" sz="2400" dirty="0" smtClean="0"/>
              <a:t> </a:t>
            </a:r>
            <a:r>
              <a:rPr lang="en-GB" sz="2400" dirty="0" err="1" smtClean="0"/>
              <a:t>tehdä</a:t>
            </a:r>
            <a:r>
              <a:rPr lang="en-GB" sz="2400" dirty="0" smtClean="0"/>
              <a:t>: </a:t>
            </a:r>
            <a:r>
              <a:rPr lang="en-GB" sz="2400" dirty="0" err="1" smtClean="0"/>
              <a:t>sitoumus</a:t>
            </a:r>
            <a:r>
              <a:rPr lang="en-GB" sz="2400" dirty="0" smtClean="0"/>
              <a:t> </a:t>
            </a:r>
            <a:r>
              <a:rPr lang="en-GB" sz="2400" dirty="0" err="1" smtClean="0"/>
              <a:t>yrittää</a:t>
            </a:r>
            <a:r>
              <a:rPr lang="en-GB" sz="2400" dirty="0" smtClean="0"/>
              <a:t> </a:t>
            </a:r>
            <a:r>
              <a:rPr lang="en-GB" sz="2400" dirty="0" err="1" smtClean="0"/>
              <a:t>parhaansa</a:t>
            </a:r>
            <a:endParaRPr lang="en-GB" sz="2400" dirty="0" smtClean="0"/>
          </a:p>
          <a:p>
            <a:r>
              <a:rPr lang="en-GB" sz="2400" dirty="0" err="1" smtClean="0"/>
              <a:t>Tarvittavien</a:t>
            </a:r>
            <a:r>
              <a:rPr lang="en-GB" sz="2400" dirty="0" smtClean="0"/>
              <a:t> </a:t>
            </a:r>
            <a:r>
              <a:rPr lang="en-GB" sz="2400" dirty="0" err="1" smtClean="0"/>
              <a:t>tehtävien</a:t>
            </a:r>
            <a:r>
              <a:rPr lang="en-GB" sz="2400" dirty="0" smtClean="0"/>
              <a:t> </a:t>
            </a:r>
            <a:r>
              <a:rPr lang="en-GB" sz="2400" dirty="0" err="1" smtClean="0"/>
              <a:t>listaaminen</a:t>
            </a:r>
            <a:r>
              <a:rPr lang="en-GB" sz="2400" dirty="0" smtClean="0"/>
              <a:t> </a:t>
            </a:r>
            <a:r>
              <a:rPr lang="en-GB" sz="2400" dirty="0" err="1" smtClean="0"/>
              <a:t>myös</a:t>
            </a:r>
            <a:r>
              <a:rPr lang="en-GB" sz="2400" dirty="0" smtClean="0"/>
              <a:t> </a:t>
            </a:r>
            <a:r>
              <a:rPr lang="en-GB" sz="2400" dirty="0" err="1" smtClean="0"/>
              <a:t>niiltä</a:t>
            </a:r>
            <a:r>
              <a:rPr lang="en-GB" sz="2400" dirty="0" smtClean="0"/>
              <a:t> </a:t>
            </a:r>
            <a:r>
              <a:rPr lang="en-GB" sz="2400" dirty="0" err="1" smtClean="0"/>
              <a:t>osin</a:t>
            </a:r>
            <a:r>
              <a:rPr lang="en-GB" sz="2400" dirty="0" smtClean="0"/>
              <a:t> </a:t>
            </a:r>
            <a:r>
              <a:rPr lang="en-GB" sz="2400" dirty="0" err="1" smtClean="0"/>
              <a:t>kuin</a:t>
            </a:r>
            <a:r>
              <a:rPr lang="en-GB" sz="2400" dirty="0" smtClean="0"/>
              <a:t> </a:t>
            </a:r>
            <a:r>
              <a:rPr lang="en-GB" sz="2400" dirty="0" err="1" smtClean="0"/>
              <a:t>emme</a:t>
            </a:r>
            <a:r>
              <a:rPr lang="en-GB" sz="2400" dirty="0" smtClean="0"/>
              <a:t> </a:t>
            </a:r>
            <a:r>
              <a:rPr lang="en-GB" sz="2400" dirty="0" err="1" smtClean="0"/>
              <a:t>aio</a:t>
            </a:r>
            <a:r>
              <a:rPr lang="en-GB" sz="2400" dirty="0" smtClean="0"/>
              <a:t> </a:t>
            </a:r>
            <a:r>
              <a:rPr lang="en-GB" sz="2400" dirty="0" err="1" smtClean="0"/>
              <a:t>niitä</a:t>
            </a:r>
            <a:r>
              <a:rPr lang="en-GB" sz="2400" dirty="0" smtClean="0"/>
              <a:t> </a:t>
            </a:r>
            <a:r>
              <a:rPr lang="en-GB" sz="2400" dirty="0" err="1" smtClean="0"/>
              <a:t>nyt</a:t>
            </a:r>
            <a:r>
              <a:rPr lang="en-GB" sz="2400" dirty="0" smtClean="0"/>
              <a:t> </a:t>
            </a:r>
            <a:r>
              <a:rPr lang="en-GB" sz="2400" dirty="0" err="1" smtClean="0"/>
              <a:t>tehdä</a:t>
            </a:r>
            <a:r>
              <a:rPr lang="en-GB" sz="2400" dirty="0" smtClean="0"/>
              <a:t>: </a:t>
            </a:r>
            <a:r>
              <a:rPr lang="en-GB" sz="2400" dirty="0" err="1" smtClean="0"/>
              <a:t>lisätään</a:t>
            </a:r>
            <a:r>
              <a:rPr lang="en-GB" sz="2400" dirty="0" smtClean="0"/>
              <a:t> </a:t>
            </a:r>
            <a:r>
              <a:rPr lang="en-GB" sz="2400" dirty="0" err="1" smtClean="0"/>
              <a:t>tuotteen</a:t>
            </a:r>
            <a:r>
              <a:rPr lang="en-GB" sz="2400" dirty="0" smtClean="0"/>
              <a:t> </a:t>
            </a:r>
            <a:r>
              <a:rPr lang="en-GB" sz="2400" dirty="0" err="1" smtClean="0"/>
              <a:t>työlistaan</a:t>
            </a:r>
            <a:r>
              <a:rPr lang="en-GB" sz="2400" dirty="0" smtClean="0"/>
              <a:t> </a:t>
            </a:r>
            <a:r>
              <a:rPr lang="en-GB" sz="2400" dirty="0" err="1" smtClean="0"/>
              <a:t>alkioita</a:t>
            </a:r>
            <a:r>
              <a:rPr lang="en-GB" sz="2400" dirty="0" smtClean="0"/>
              <a:t> </a:t>
            </a:r>
            <a:r>
              <a:rPr lang="en-GB" sz="2400" dirty="0" err="1" smtClean="0"/>
              <a:t>että</a:t>
            </a:r>
            <a:r>
              <a:rPr lang="en-GB" sz="2400" dirty="0" smtClean="0"/>
              <a:t> </a:t>
            </a:r>
            <a:r>
              <a:rPr lang="en-GB" sz="2400" dirty="0" err="1" smtClean="0"/>
              <a:t>ymmärretään</a:t>
            </a:r>
            <a:r>
              <a:rPr lang="en-GB" sz="2400" dirty="0" smtClean="0"/>
              <a:t> </a:t>
            </a:r>
            <a:r>
              <a:rPr lang="en-GB" sz="2400" dirty="0" err="1" smtClean="0"/>
              <a:t>mitä</a:t>
            </a:r>
            <a:r>
              <a:rPr lang="en-GB" sz="2400" dirty="0" smtClean="0"/>
              <a:t> </a:t>
            </a:r>
            <a:r>
              <a:rPr lang="en-GB" sz="2400" dirty="0" err="1" smtClean="0"/>
              <a:t>tulee</a:t>
            </a:r>
            <a:r>
              <a:rPr lang="en-GB" sz="2400" dirty="0" smtClean="0"/>
              <a:t> </a:t>
            </a:r>
            <a:r>
              <a:rPr lang="en-GB" sz="2400" dirty="0" err="1" smtClean="0"/>
              <a:t>puuttumaan</a:t>
            </a:r>
            <a:endParaRPr lang="en-GB" sz="2400" dirty="0" smtClean="0"/>
          </a:p>
          <a:p>
            <a:r>
              <a:rPr lang="en-GB" sz="2400" dirty="0" err="1" smtClean="0"/>
              <a:t>Älä</a:t>
            </a:r>
            <a:r>
              <a:rPr lang="en-GB" sz="2400" dirty="0" smtClean="0"/>
              <a:t> </a:t>
            </a:r>
            <a:r>
              <a:rPr lang="en-GB" sz="2400" dirty="0" err="1" smtClean="0"/>
              <a:t>anna</a:t>
            </a:r>
            <a:r>
              <a:rPr lang="en-GB" sz="2400" dirty="0" smtClean="0"/>
              <a:t> </a:t>
            </a:r>
            <a:r>
              <a:rPr lang="en-GB" sz="2400" dirty="0" err="1" smtClean="0"/>
              <a:t>tärkeiden</a:t>
            </a:r>
            <a:r>
              <a:rPr lang="en-GB" sz="2400" dirty="0" smtClean="0"/>
              <a:t> </a:t>
            </a:r>
            <a:r>
              <a:rPr lang="en-GB" sz="2400" dirty="0" err="1" smtClean="0"/>
              <a:t>tavoitteiden</a:t>
            </a:r>
            <a:r>
              <a:rPr lang="en-GB" sz="2400" dirty="0" smtClean="0"/>
              <a:t> </a:t>
            </a:r>
            <a:r>
              <a:rPr lang="en-GB" sz="2400" dirty="0" err="1" smtClean="0"/>
              <a:t>mennä</a:t>
            </a:r>
            <a:r>
              <a:rPr lang="en-GB" sz="2400" dirty="0" smtClean="0"/>
              <a:t> </a:t>
            </a:r>
            <a:r>
              <a:rPr lang="en-GB" sz="2400" dirty="0" err="1" smtClean="0"/>
              <a:t>ohi</a:t>
            </a:r>
            <a:r>
              <a:rPr lang="en-GB" sz="2400" dirty="0" smtClean="0"/>
              <a:t> vain </a:t>
            </a:r>
            <a:r>
              <a:rPr lang="en-GB" sz="2400" dirty="0" err="1" smtClean="0"/>
              <a:t>koska</a:t>
            </a:r>
            <a:r>
              <a:rPr lang="en-GB" sz="2400" dirty="0" smtClean="0"/>
              <a:t> </a:t>
            </a:r>
            <a:r>
              <a:rPr lang="en-GB" sz="2400" dirty="0" err="1" smtClean="0"/>
              <a:t>koet</a:t>
            </a:r>
            <a:r>
              <a:rPr lang="en-GB" sz="2400" dirty="0" smtClean="0"/>
              <a:t> </a:t>
            </a:r>
            <a:r>
              <a:rPr lang="en-GB" sz="2400" dirty="0" err="1" smtClean="0"/>
              <a:t>että</a:t>
            </a:r>
            <a:r>
              <a:rPr lang="en-GB" sz="2400" dirty="0" smtClean="0"/>
              <a:t> ne </a:t>
            </a:r>
            <a:r>
              <a:rPr lang="en-GB" sz="2400" dirty="0" err="1" smtClean="0"/>
              <a:t>eivät</a:t>
            </a:r>
            <a:r>
              <a:rPr lang="en-GB" sz="2400" dirty="0" smtClean="0"/>
              <a:t> ole </a:t>
            </a:r>
            <a:r>
              <a:rPr lang="en-GB" sz="2400" dirty="0" err="1" smtClean="0"/>
              <a:t>sinun</a:t>
            </a:r>
            <a:r>
              <a:rPr lang="en-GB" sz="2400" dirty="0" smtClean="0"/>
              <a:t> </a:t>
            </a:r>
            <a:r>
              <a:rPr lang="en-GB" sz="2400" dirty="0" err="1" smtClean="0"/>
              <a:t>tiimisi</a:t>
            </a:r>
            <a:r>
              <a:rPr lang="en-GB" sz="2400" dirty="0" smtClean="0"/>
              <a:t> </a:t>
            </a:r>
            <a:r>
              <a:rPr lang="en-GB" sz="2400" dirty="0" err="1" smtClean="0"/>
              <a:t>tehtäviä</a:t>
            </a:r>
            <a:r>
              <a:rPr lang="en-GB" sz="2400" dirty="0" smtClean="0"/>
              <a:t> </a:t>
            </a:r>
            <a:r>
              <a:rPr lang="en-GB" sz="2400" dirty="0" err="1" smtClean="0"/>
              <a:t>vaan</a:t>
            </a:r>
            <a:r>
              <a:rPr lang="en-GB" sz="2400" dirty="0" smtClean="0"/>
              <a:t> </a:t>
            </a:r>
            <a:r>
              <a:rPr lang="en-GB" sz="2400" dirty="0" err="1" smtClean="0"/>
              <a:t>kuuluvat</a:t>
            </a:r>
            <a:r>
              <a:rPr lang="en-GB" sz="2400" dirty="0" smtClean="0"/>
              <a:t> </a:t>
            </a:r>
            <a:r>
              <a:rPr lang="en-GB" sz="2400" dirty="0" err="1" smtClean="0"/>
              <a:t>naapurille</a:t>
            </a:r>
            <a:endParaRPr lang="en-GB" sz="2400" dirty="0" smtClean="0"/>
          </a:p>
          <a:p>
            <a:r>
              <a:rPr lang="en-GB" sz="2400" dirty="0" err="1" smtClean="0"/>
              <a:t>Muista</a:t>
            </a:r>
            <a:r>
              <a:rPr lang="en-GB" sz="2400" dirty="0" smtClean="0"/>
              <a:t>: </a:t>
            </a:r>
            <a:r>
              <a:rPr lang="en-GB" sz="2400" dirty="0" err="1" smtClean="0"/>
              <a:t>tavoitteen</a:t>
            </a:r>
            <a:r>
              <a:rPr lang="en-GB" sz="2400" dirty="0" smtClean="0"/>
              <a:t> </a:t>
            </a:r>
            <a:r>
              <a:rPr lang="en-GB" sz="2400" dirty="0" err="1" smtClean="0"/>
              <a:t>saavuttamiseksi</a:t>
            </a:r>
            <a:r>
              <a:rPr lang="en-GB" sz="2400" dirty="0" smtClean="0"/>
              <a:t> </a:t>
            </a:r>
            <a:r>
              <a:rPr lang="en-GB" sz="2400" dirty="0" err="1" smtClean="0"/>
              <a:t>kaikkea</a:t>
            </a:r>
            <a:r>
              <a:rPr lang="en-GB" sz="2400" dirty="0" smtClean="0"/>
              <a:t> </a:t>
            </a:r>
            <a:r>
              <a:rPr lang="en-GB" sz="2400" dirty="0" err="1" smtClean="0"/>
              <a:t>työtä</a:t>
            </a:r>
            <a:r>
              <a:rPr lang="en-GB" sz="2400" dirty="0" smtClean="0"/>
              <a:t> </a:t>
            </a:r>
            <a:r>
              <a:rPr lang="en-GB" sz="2400" dirty="0" err="1" smtClean="0"/>
              <a:t>ei</a:t>
            </a:r>
            <a:r>
              <a:rPr lang="en-GB" sz="2400" dirty="0" smtClean="0"/>
              <a:t> </a:t>
            </a:r>
            <a:r>
              <a:rPr lang="en-GB" sz="2400" dirty="0" err="1" smtClean="0"/>
              <a:t>tarvitse</a:t>
            </a:r>
            <a:r>
              <a:rPr lang="en-GB" sz="2400" dirty="0" smtClean="0"/>
              <a:t> </a:t>
            </a:r>
            <a:r>
              <a:rPr lang="en-GB" sz="2400" dirty="0" err="1" smtClean="0"/>
              <a:t>tehdä</a:t>
            </a:r>
            <a:r>
              <a:rPr lang="en-GB" sz="2400" dirty="0" smtClean="0"/>
              <a:t> </a:t>
            </a:r>
            <a:r>
              <a:rPr lang="en-GB" sz="2400" dirty="0" err="1" smtClean="0"/>
              <a:t>henkilökohtaisesti</a:t>
            </a:r>
            <a:endParaRPr lang="en-GB" sz="2400" dirty="0" smtClean="0"/>
          </a:p>
          <a:p>
            <a:pPr lvl="1"/>
            <a:r>
              <a:rPr lang="en-GB" sz="2000" dirty="0" smtClean="0"/>
              <a:t>Et ole </a:t>
            </a:r>
            <a:r>
              <a:rPr lang="en-GB" sz="2000" dirty="0" err="1" smtClean="0"/>
              <a:t>yksin</a:t>
            </a:r>
            <a:r>
              <a:rPr lang="en-GB" sz="2000" dirty="0" smtClean="0"/>
              <a:t>: </a:t>
            </a:r>
            <a:r>
              <a:rPr lang="en-GB" sz="2000" dirty="0" err="1" smtClean="0"/>
              <a:t>oma</a:t>
            </a:r>
            <a:r>
              <a:rPr lang="en-GB" sz="2000" dirty="0" smtClean="0"/>
              <a:t> </a:t>
            </a:r>
            <a:r>
              <a:rPr lang="en-GB" sz="2000" dirty="0" err="1" smtClean="0"/>
              <a:t>tiimisi</a:t>
            </a:r>
            <a:r>
              <a:rPr lang="en-GB" sz="2000" dirty="0" smtClean="0"/>
              <a:t>, </a:t>
            </a:r>
            <a:r>
              <a:rPr lang="en-GB" sz="2000" dirty="0" err="1" smtClean="0"/>
              <a:t>muut</a:t>
            </a:r>
            <a:r>
              <a:rPr lang="en-GB" sz="2000" dirty="0" smtClean="0"/>
              <a:t> </a:t>
            </a:r>
            <a:r>
              <a:rPr lang="en-GB" sz="2000" dirty="0" err="1" smtClean="0"/>
              <a:t>tiimit</a:t>
            </a:r>
            <a:r>
              <a:rPr lang="en-GB" sz="2000" dirty="0" smtClean="0"/>
              <a:t>,  </a:t>
            </a:r>
            <a:r>
              <a:rPr lang="en-GB" sz="2000" dirty="0" err="1" smtClean="0"/>
              <a:t>alihankkijat</a:t>
            </a:r>
            <a:r>
              <a:rPr lang="en-GB" sz="2000" dirty="0" smtClean="0"/>
              <a:t>, </a:t>
            </a:r>
            <a:r>
              <a:rPr lang="en-GB" sz="2000" dirty="0" err="1" smtClean="0"/>
              <a:t>asiakkaat</a:t>
            </a:r>
            <a:r>
              <a:rPr lang="en-GB" sz="2000" dirty="0" smtClean="0"/>
              <a:t> </a:t>
            </a:r>
            <a:r>
              <a:rPr lang="en-GB" sz="2000" dirty="0" err="1" smtClean="0"/>
              <a:t>testaamassa</a:t>
            </a:r>
            <a:endParaRPr lang="en-GB" sz="2000" dirty="0" smtClean="0"/>
          </a:p>
          <a:p>
            <a:pPr lvl="1"/>
            <a:r>
              <a:rPr lang="en-GB" sz="2000" dirty="0" smtClean="0"/>
              <a:t>Ole </a:t>
            </a:r>
            <a:r>
              <a:rPr lang="en-GB" sz="2000" dirty="0" err="1" smtClean="0"/>
              <a:t>luova</a:t>
            </a:r>
            <a:r>
              <a:rPr lang="en-GB" sz="2000" dirty="0" smtClean="0"/>
              <a:t> </a:t>
            </a:r>
            <a:r>
              <a:rPr lang="en-GB" sz="2000" dirty="0" err="1" smtClean="0"/>
              <a:t>organisoinnin</a:t>
            </a:r>
            <a:r>
              <a:rPr lang="en-GB" sz="2000" dirty="0" smtClean="0"/>
              <a:t> </a:t>
            </a:r>
            <a:r>
              <a:rPr lang="en-GB" sz="2000" dirty="0" err="1" smtClean="0"/>
              <a:t>osalta</a:t>
            </a:r>
            <a:r>
              <a:rPr lang="en-GB" sz="2000" dirty="0" smtClean="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Testauksen lähestymistavan luominen</a:t>
            </a:r>
            <a:endParaRPr lang="fi-FI" dirty="0"/>
          </a:p>
        </p:txBody>
      </p:sp>
      <p:sp>
        <p:nvSpPr>
          <p:cNvPr id="3" name="Content Placeholder 2"/>
          <p:cNvSpPr>
            <a:spLocks noGrp="1"/>
          </p:cNvSpPr>
          <p:nvPr>
            <p:ph idx="1"/>
          </p:nvPr>
        </p:nvSpPr>
        <p:spPr/>
        <p:txBody>
          <a:bodyPr>
            <a:normAutofit fontScale="85000" lnSpcReduction="10000"/>
          </a:bodyPr>
          <a:lstStyle/>
          <a:p>
            <a:r>
              <a:rPr lang="fi-FI" dirty="0" smtClean="0"/>
              <a:t>Ketterässä kehityksessä ei ole merkittävää etukäteissuunnittelua kokonaisuuden laajuudessa</a:t>
            </a:r>
          </a:p>
          <a:p>
            <a:r>
              <a:rPr lang="fi-FI" dirty="0" smtClean="0"/>
              <a:t>Testauksen lähestymistapa (”strategia”) on myös luotavissa inkrementaalisesti kehityksen edetessä</a:t>
            </a:r>
          </a:p>
          <a:p>
            <a:r>
              <a:rPr lang="fi-FI" dirty="0" smtClean="0"/>
              <a:t>Riskiperusteinen lähestymistapa testaukseen korostuu</a:t>
            </a:r>
          </a:p>
          <a:p>
            <a:pPr lvl="1"/>
            <a:r>
              <a:rPr lang="fi-FI" dirty="0" smtClean="0"/>
              <a:t>Mitä automatisoit (ensin)</a:t>
            </a:r>
          </a:p>
          <a:p>
            <a:pPr lvl="1"/>
            <a:r>
              <a:rPr lang="fi-FI" dirty="0" smtClean="0"/>
              <a:t>Mitä pitää testata vähän (perustiedot)</a:t>
            </a:r>
          </a:p>
          <a:p>
            <a:pPr lvl="1"/>
            <a:r>
              <a:rPr lang="fi-FI" dirty="0" smtClean="0"/>
              <a:t>Mitä pitää testata perusteellisesti (pääasiallinen riskintorjunta)</a:t>
            </a:r>
          </a:p>
          <a:p>
            <a:r>
              <a:rPr lang="fi-FI" dirty="0" smtClean="0"/>
              <a:t>Ketteryys on jatkuvaa oppimista: sinä saat, jopa pitää, muuttaa lähestymistapaa oppiessa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Riskiperusteinen testauksen hallinta Valmiin määritelmälle</a:t>
            </a:r>
            <a:endParaRPr lang="fi-FI" dirty="0"/>
          </a:p>
        </p:txBody>
      </p:sp>
      <p:sp>
        <p:nvSpPr>
          <p:cNvPr id="3" name="Content Placeholder 2"/>
          <p:cNvSpPr>
            <a:spLocks noGrp="1"/>
          </p:cNvSpPr>
          <p:nvPr>
            <p:ph idx="1"/>
          </p:nvPr>
        </p:nvSpPr>
        <p:spPr>
          <a:xfrm>
            <a:off x="457200" y="1600200"/>
            <a:ext cx="5757874" cy="4525963"/>
          </a:xfrm>
        </p:spPr>
        <p:txBody>
          <a:bodyPr>
            <a:noAutofit/>
          </a:bodyPr>
          <a:lstStyle/>
          <a:p>
            <a:r>
              <a:rPr lang="fi-FI" sz="2000" dirty="0" smtClean="0"/>
              <a:t>”Testaus” ei ole vain yksi</a:t>
            </a:r>
          </a:p>
          <a:p>
            <a:pPr lvl="1"/>
            <a:r>
              <a:rPr lang="fi-FI" sz="1800" dirty="0" smtClean="0"/>
              <a:t>Jotkin muutokset voidaan melko turvallisesti testata yksikkötasolla</a:t>
            </a:r>
          </a:p>
          <a:p>
            <a:pPr lvl="1"/>
            <a:r>
              <a:rPr lang="fi-FI" sz="1800" dirty="0" smtClean="0"/>
              <a:t>Jotkin muutokset voidaan melko turvallisesti testata vain automaatiolla</a:t>
            </a:r>
          </a:p>
          <a:p>
            <a:pPr lvl="1"/>
            <a:r>
              <a:rPr lang="fi-FI" sz="1800" dirty="0" smtClean="0"/>
              <a:t>Jotkin muutokset vaativat perusteellista tutkivaa testausta käsin sivuvaikutusten ja liittymien tunnistamiseksi</a:t>
            </a:r>
          </a:p>
          <a:p>
            <a:r>
              <a:rPr lang="fi-FI" sz="2000" dirty="0" smtClean="0"/>
              <a:t>Hyväksyttävä riski ei ole sama kaikille työlistan alkioille</a:t>
            </a:r>
          </a:p>
          <a:p>
            <a:pPr lvl="1"/>
            <a:r>
              <a:rPr lang="fi-FI" sz="1800" dirty="0" smtClean="0"/>
              <a:t>Jotkin alkiot ovat hyvin näkyviä ja käytettyjä</a:t>
            </a:r>
          </a:p>
          <a:p>
            <a:pPr lvl="1"/>
            <a:r>
              <a:rPr lang="fi-FI" sz="1800" dirty="0" smtClean="0"/>
              <a:t>Jotkin alkiot ovat tärkeimmille käyttäjäryhmille</a:t>
            </a:r>
          </a:p>
          <a:p>
            <a:pPr lvl="1"/>
            <a:r>
              <a:rPr lang="fi-FI" sz="1800" dirty="0" smtClean="0"/>
              <a:t>Jotkin alkiot ovat myynninedistämiseen eikä niitä oikeasti juurikaan käytetä</a:t>
            </a:r>
          </a:p>
          <a:p>
            <a:pPr lvl="1"/>
            <a:r>
              <a:rPr lang="fi-FI" sz="1800" dirty="0" smtClean="0"/>
              <a:t>Riskin välttämisen taso vaikuttaa kustannuksiin</a:t>
            </a:r>
          </a:p>
        </p:txBody>
      </p:sp>
      <p:sp>
        <p:nvSpPr>
          <p:cNvPr id="4" name="TextBox 3"/>
          <p:cNvSpPr txBox="1"/>
          <p:nvPr/>
        </p:nvSpPr>
        <p:spPr>
          <a:xfrm>
            <a:off x="6572264" y="2071678"/>
            <a:ext cx="2143140" cy="378565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fi-FI" sz="2000" b="1" dirty="0" smtClean="0"/>
              <a:t>Riskiperusteinen testauksen hallinta valmiin määritelmälle:</a:t>
            </a:r>
          </a:p>
          <a:p>
            <a:pPr algn="ctr"/>
            <a:r>
              <a:rPr lang="fi-FI" sz="2000" dirty="0" smtClean="0"/>
              <a:t>Kullekin tuotteen työlistan alkiolle on tunnistettavissa hyväksytävä riskitaso jolla mukautetaan valmiin määritelmää. </a:t>
            </a:r>
            <a:endParaRPr lang="fi-FI" sz="2000"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ransition xmlns:p14="http://schemas.microsoft.com/office/powerpoint/2010/mai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Työmääräsuunnittelu ilman liiallisia yksityiskohtia</a:t>
            </a:r>
            <a:endParaRPr lang="fi-FI" dirty="0"/>
          </a:p>
        </p:txBody>
      </p:sp>
      <p:sp>
        <p:nvSpPr>
          <p:cNvPr id="3" name="Content Placeholder 2"/>
          <p:cNvSpPr>
            <a:spLocks noGrp="1"/>
          </p:cNvSpPr>
          <p:nvPr>
            <p:ph idx="1"/>
          </p:nvPr>
        </p:nvSpPr>
        <p:spPr/>
        <p:txBody>
          <a:bodyPr>
            <a:normAutofit fontScale="70000" lnSpcReduction="20000"/>
          </a:bodyPr>
          <a:lstStyle/>
          <a:p>
            <a:r>
              <a:rPr lang="fi-FI" dirty="0" smtClean="0"/>
              <a:t>Iteraation suunnittelu on kestoltaan vain muutamia tunteja iteraation alussa</a:t>
            </a:r>
          </a:p>
          <a:p>
            <a:r>
              <a:rPr lang="fi-FI" dirty="0" smtClean="0"/>
              <a:t>Iteraatiosuunnittelussa ei yritetä kiinnittää kaikkia yksityiskohtia testaukselle iteraation aikana</a:t>
            </a:r>
          </a:p>
          <a:p>
            <a:pPr lvl="1"/>
            <a:r>
              <a:rPr lang="fi-FI" dirty="0" smtClean="0"/>
              <a:t>Ei testitapausten suunnittelua!</a:t>
            </a:r>
          </a:p>
          <a:p>
            <a:r>
              <a:rPr lang="fi-FI" dirty="0" smtClean="0"/>
              <a:t>Odotukset tapahtumille:</a:t>
            </a:r>
          </a:p>
          <a:p>
            <a:pPr lvl="1"/>
            <a:r>
              <a:rPr lang="fi-FI" dirty="0" smtClean="0"/>
              <a:t>Tunnista testaukseen sijoitettava työmäärä pyydettävälle muutokselle</a:t>
            </a:r>
          </a:p>
          <a:p>
            <a:pPr lvl="1"/>
            <a:r>
              <a:rPr lang="fi-FI" dirty="0" smtClean="0"/>
              <a:t>Jaa työmäärä alle kahden päivän paloihin ymmärryksen lisäämiseksi ja viestintämielessä anna palasille tiimin kanssa kuvaavat nimet jotta voitte olla yhtä mieltä testausaktiviteettien tarpeellisuudesta</a:t>
            </a:r>
          </a:p>
          <a:p>
            <a:pPr lvl="1"/>
            <a:r>
              <a:rPr lang="fi-FI" dirty="0" smtClean="0"/>
              <a:t>Päätä mitkä tehtävät ovat työmääräarvioita (töitä tehdään kunnes valmis) ja mitkä aikarajauksia (töitä tehdään kunnes aika käytetty)</a:t>
            </a:r>
          </a:p>
          <a:p>
            <a:pPr lvl="1"/>
            <a:r>
              <a:rPr lang="fi-FI" dirty="0" smtClean="0"/>
              <a:t>Muista lisätä, poistaa ja muuttaa tehtäviä iteraation aikana suhteessa tavoitteeseen. Sitoudutte tavoitteeseen, ette tehtäviin.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Testauskokeilut (spikes)</a:t>
            </a:r>
            <a:endParaRPr lang="fi-FI" dirty="0"/>
          </a:p>
        </p:txBody>
      </p:sp>
      <p:sp>
        <p:nvSpPr>
          <p:cNvPr id="3" name="Content Placeholder 2"/>
          <p:cNvSpPr>
            <a:spLocks noGrp="1"/>
          </p:cNvSpPr>
          <p:nvPr>
            <p:ph idx="1"/>
          </p:nvPr>
        </p:nvSpPr>
        <p:spPr/>
        <p:txBody>
          <a:bodyPr>
            <a:normAutofit lnSpcReduction="10000"/>
          </a:bodyPr>
          <a:lstStyle/>
          <a:p>
            <a:r>
              <a:rPr lang="fi-FI" dirty="0" smtClean="0"/>
              <a:t>Kokeilu (spike) on mekanismi jolla kokeillaan mahdollisen ratkaisun kelvollisuutta</a:t>
            </a:r>
          </a:p>
          <a:p>
            <a:r>
              <a:rPr lang="fi-FI" dirty="0" smtClean="0"/>
              <a:t>Kokeiluja käytetään tyypillisimmin selvittämään toteutustavan soveltuvuutta ja arvioimaan realistisemmin työmäärää epävarmuuden vallitessa</a:t>
            </a:r>
          </a:p>
          <a:p>
            <a:r>
              <a:rPr lang="fi-FI" dirty="0" smtClean="0"/>
              <a:t>Vastaavasti, testauskokeiluja voidaan hyödyntää ennen kuin sitoudutaan testauksen </a:t>
            </a:r>
            <a:r>
              <a:rPr lang="fi-FI" smtClean="0"/>
              <a:t>työmäärään </a:t>
            </a:r>
            <a:r>
              <a:rPr lang="fi-FI" smtClean="0"/>
              <a:t>suuren </a:t>
            </a:r>
            <a:r>
              <a:rPr lang="fi-FI" dirty="0" smtClean="0"/>
              <a:t>epävarmuuden vallitessa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Ylläpidettävissä oleva tahti testauksessa</a:t>
            </a:r>
            <a:endParaRPr lang="fi-FI" dirty="0"/>
          </a:p>
        </p:txBody>
      </p:sp>
      <p:sp>
        <p:nvSpPr>
          <p:cNvPr id="3" name="Content Placeholder 2"/>
          <p:cNvSpPr>
            <a:spLocks noGrp="1"/>
          </p:cNvSpPr>
          <p:nvPr>
            <p:ph idx="1"/>
          </p:nvPr>
        </p:nvSpPr>
        <p:spPr/>
        <p:txBody>
          <a:bodyPr>
            <a:normAutofit fontScale="85000" lnSpcReduction="20000"/>
          </a:bodyPr>
          <a:lstStyle/>
          <a:p>
            <a:r>
              <a:rPr lang="fi-FI" dirty="0" smtClean="0">
                <a:solidFill>
                  <a:schemeClr val="tx2"/>
                </a:solidFill>
              </a:rPr>
              <a:t>Mikä ei ole ylläpidettävissä olevaa tahtia?</a:t>
            </a:r>
          </a:p>
          <a:p>
            <a:pPr lvl="1"/>
            <a:r>
              <a:rPr lang="fi-FI" dirty="0" smtClean="0">
                <a:solidFill>
                  <a:schemeClr val="tx2"/>
                </a:solidFill>
              </a:rPr>
              <a:t>Laatuvelan kerääminen sprinttien välisillä scrummerfall-toteutuksilla: ”Tee kaikki testaus viimeisessä iteraatiossa”. </a:t>
            </a:r>
          </a:p>
          <a:p>
            <a:pPr lvl="1"/>
            <a:r>
              <a:rPr lang="fi-FI" dirty="0" smtClean="0">
                <a:solidFill>
                  <a:schemeClr val="tx2"/>
                </a:solidFill>
              </a:rPr>
              <a:t>Laatuvelan kerääminen sprinttien sisäisillä scrummerfall-toteutuksilla: ”Tee kaikki testaus viimeisellä viikolla”</a:t>
            </a:r>
          </a:p>
          <a:p>
            <a:r>
              <a:rPr lang="fi-FI" dirty="0" smtClean="0"/>
              <a:t>Jatkuvaan testaamiseen pääseminen</a:t>
            </a:r>
          </a:p>
          <a:p>
            <a:pPr lvl="1"/>
            <a:r>
              <a:rPr lang="fi-FI" dirty="0" smtClean="0"/>
              <a:t>Hyväksymistestiohjattu kehitystapa (ATDD) eli ajettavissa olevien vaatimusten lähestymistapa</a:t>
            </a:r>
          </a:p>
          <a:p>
            <a:pPr lvl="1"/>
            <a:r>
              <a:rPr lang="fi-FI" dirty="0" smtClean="0"/>
              <a:t>Jatkuva </a:t>
            </a:r>
            <a:r>
              <a:rPr lang="fi-FI" i="1" dirty="0" smtClean="0"/>
              <a:t>järjestelmä</a:t>
            </a:r>
            <a:r>
              <a:rPr lang="fi-FI" dirty="0" smtClean="0"/>
              <a:t>integraatio läpi iteraation</a:t>
            </a:r>
          </a:p>
          <a:p>
            <a:pPr lvl="1"/>
            <a:r>
              <a:rPr lang="fi-FI" dirty="0" smtClean="0"/>
              <a:t>Riskiperusteinen testauksen hallinta</a:t>
            </a:r>
          </a:p>
          <a:p>
            <a:pPr lvl="1"/>
            <a:r>
              <a:rPr lang="fi-FI" dirty="0" smtClean="0"/>
              <a:t>Testauksen automatisointi</a:t>
            </a:r>
          </a:p>
          <a:p>
            <a:pPr lvl="1"/>
            <a:r>
              <a:rPr lang="fi-FI" dirty="0" smtClean="0"/>
              <a:t>Testiohjattu kehitystapa yksikkötestauksessa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ransition xmlns:p14="http://schemas.microsoft.com/office/powerpoint/2010/mai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1905</TotalTime>
  <Words>1791</Words>
  <Application>Microsoft Macintosh PowerPoint</Application>
  <PresentationFormat>On-screen Show (4:3)</PresentationFormat>
  <Paragraphs>226</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Iteraatiosuunnittelu</vt:lpstr>
      <vt:lpstr>Iteraatiosuunnittelu</vt:lpstr>
      <vt:lpstr>Ketterän tiimin testauskäytäntöjen nelikenttä Mukautettu: Brian Marick</vt:lpstr>
      <vt:lpstr>Testaajan rooli ketterissä menetelmissä</vt:lpstr>
      <vt:lpstr>Harjoitus: Iteraation testauksen suunnittelu</vt:lpstr>
      <vt:lpstr>Havannah-pelilauta ja perusidea</vt:lpstr>
      <vt:lpstr> Voittokuviot: haarukka (fork), rengas (ring) ja silta (bridge)</vt:lpstr>
      <vt:lpstr>Before Game Begins</vt:lpstr>
      <vt:lpstr>During the Game (1/2)</vt:lpstr>
      <vt:lpstr>During the Game (2/2)</vt:lpstr>
      <vt:lpstr>After the Game</vt:lpstr>
      <vt:lpstr>Before Game Begins – Game Engine</vt:lpstr>
      <vt:lpstr>Refining “Aesthetically Pleasing”</vt:lpstr>
      <vt:lpstr>The Testing Tasks from the Book Example</vt:lpstr>
      <vt:lpstr>Ketterän suunnittelun vaikutus testaukseen</vt:lpstr>
      <vt:lpstr>Tavoitteen asettaminen ja viestintä</vt:lpstr>
      <vt:lpstr>Testauksen lähestymistavan luominen</vt:lpstr>
      <vt:lpstr>Riskiperusteinen testauksen hallinta Valmiin määritelmälle</vt:lpstr>
      <vt:lpstr>Työmääräsuunnittelu ilman liiallisia yksityiskohtia</vt:lpstr>
      <vt:lpstr>Testauskokeilut (spikes)</vt:lpstr>
      <vt:lpstr>Ylläpidettävissä oleva tahti testauksessa</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65</cp:revision>
  <dcterms:created xsi:type="dcterms:W3CDTF">2006-08-16T00:00:00Z</dcterms:created>
  <dcterms:modified xsi:type="dcterms:W3CDTF">2017-05-29T09:05:33Z</dcterms:modified>
</cp:coreProperties>
</file>