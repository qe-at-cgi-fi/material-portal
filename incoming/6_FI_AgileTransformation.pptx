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3" r:id="rId3"/>
    <p:sldId id="278" r:id="rId4"/>
    <p:sldId id="259" r:id="rId5"/>
    <p:sldId id="264" r:id="rId6"/>
    <p:sldId id="258" r:id="rId7"/>
    <p:sldId id="291" r:id="rId8"/>
    <p:sldId id="292" r:id="rId9"/>
    <p:sldId id="260" r:id="rId10"/>
    <p:sldId id="267" r:id="rId11"/>
    <p:sldId id="265" r:id="rId12"/>
    <p:sldId id="266" r:id="rId13"/>
    <p:sldId id="272" r:id="rId14"/>
    <p:sldId id="273" r:id="rId15"/>
    <p:sldId id="274" r:id="rId16"/>
    <p:sldId id="289" r:id="rId17"/>
    <p:sldId id="275" r:id="rId18"/>
    <p:sldId id="277" r:id="rId19"/>
    <p:sldId id="276" r:id="rId20"/>
    <p:sldId id="269" r:id="rId21"/>
    <p:sldId id="290" r:id="rId22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309" autoAdjust="0"/>
  </p:normalViewPr>
  <p:slideViewPr>
    <p:cSldViewPr>
      <p:cViewPr varScale="1">
        <p:scale>
          <a:sx n="62" d="100"/>
          <a:sy n="62" d="100"/>
        </p:scale>
        <p:origin x="-82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36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30/05/17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1793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answer to HOW is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01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2411-6CCB-4FC4-B1AE-18004BCCF375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Skillset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Testing is not one skill but a combination of various, with essential focal point in skills of fast and structured learning!</a:t>
            </a:r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FC6FC-4970-4A06-A11D-8003F3F71E1F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2411-6CCB-4FC4-B1AE-18004BCCF375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F9B353-392B-46F2-9B1B-C1643CD15ECE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41AC6-7FD4-43C5-8C12-563E356A961F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CFD434-A6D3-45D1-8809-B7AC7E1096C4}" type="slidenum">
              <a:rPr lang="fi-FI" smtClean="0"/>
              <a:pPr/>
              <a:t>11</a:t>
            </a:fld>
            <a:endParaRPr lang="fi-FI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Separate</a:t>
            </a:r>
            <a:r>
              <a:rPr lang="fi-FI" baseline="0" dirty="0" smtClean="0"/>
              <a:t> change testing and system testing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CFD434-A6D3-45D1-8809-B7AC7E1096C4}" type="slidenum">
              <a:rPr lang="fi-FI" smtClean="0"/>
              <a:pPr/>
              <a:t>12</a:t>
            </a:fld>
            <a:endParaRPr lang="fi-FI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13</a:t>
            </a:fld>
            <a:endParaRPr lang="fi-FI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14</a:t>
            </a:fld>
            <a:endParaRPr lang="fi-FI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92411-6CCB-4FC4-B1AE-18004BCCF375}" type="slidenum">
              <a:rPr lang="fi-FI" smtClean="0"/>
              <a:pPr/>
              <a:t>15</a:t>
            </a:fld>
            <a:endParaRPr lang="fi-FI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16</a:t>
            </a:fld>
            <a:endParaRPr lang="fi-FI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17</a:t>
            </a:fld>
            <a:endParaRPr lang="fi-FI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18</a:t>
            </a:fld>
            <a:endParaRPr lang="fi-FI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F9B353-392B-46F2-9B1B-C1643CD15ECE}" type="slidenum">
              <a:rPr lang="fi-FI" smtClean="0"/>
              <a:pPr/>
              <a:t>19</a:t>
            </a:fld>
            <a:endParaRPr lang="fi-FI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20</a:t>
            </a:fld>
            <a:endParaRPr lang="fi-FI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21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ECA1B-ADFE-465A-9801-216A363D7A43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DA11D-E43F-4970-958E-8CB43DE4E8F9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3A26-6E12-46FD-852C-B7C45C8136D6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90CAF-FED6-450F-AC7F-F6B75EF9C32F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BCFF6-3CD1-4C13-9C6A-AA5B5B5BFA81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BD652-29E9-4D87-914C-C6919F14ADD0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8ABBA-3263-43C7-AD0B-65F88FE32AC8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C14C-2E2B-4E03-AF15-5FA9421C512C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D490-F4AB-4803-A2D8-D1D643705243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16010-B43A-4AFB-B9B3-CC3B61192033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6C695-0DBC-4AF1-A80A-5C4B2A7CCBE0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1827081"/>
            <a:ext cx="7772400" cy="1362075"/>
          </a:xfrm>
        </p:spPr>
        <p:txBody>
          <a:bodyPr anchor="t">
            <a:noAutofit/>
          </a:bodyPr>
          <a:lstStyle>
            <a:lvl1pPr algn="ctr">
              <a:defRPr sz="5400" b="1" cap="none">
                <a:latin typeface="Snell Roundhand"/>
                <a:cs typeface="Snell Roundhand"/>
              </a:defRPr>
            </a:lvl1pPr>
          </a:lstStyle>
          <a:p>
            <a:r>
              <a:rPr lang="fi-FI" dirty="0" err="1" smtClean="0"/>
              <a:t>Click</a:t>
            </a:r>
            <a:r>
              <a:rPr lang="fi-FI" dirty="0" smtClean="0"/>
              <a:t> To </a:t>
            </a:r>
            <a:r>
              <a:rPr lang="fi-FI" dirty="0" err="1" smtClean="0"/>
              <a:t>Edit</a:t>
            </a:r>
            <a:r>
              <a:rPr lang="fi-FI" dirty="0" smtClean="0"/>
              <a:t> </a:t>
            </a:r>
            <a:r>
              <a:rPr lang="fi-FI" dirty="0" err="1" smtClean="0"/>
              <a:t>Master</a:t>
            </a:r>
            <a:r>
              <a:rPr lang="fi-FI" dirty="0" smtClean="0"/>
              <a:t> </a:t>
            </a:r>
            <a:r>
              <a:rPr lang="fi-FI" dirty="0" err="1" smtClean="0"/>
              <a:t>Title</a:t>
            </a:r>
            <a:r>
              <a:rPr lang="fi-FI" dirty="0" smtClean="0"/>
              <a:t>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5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90AD2-26F5-4F89-B85D-CE6A25E869FA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Siirtyminen ketteriin menetelmiin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Perinteisestä uuteen ja jotain sille välille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1602029"/>
            <a:ext cx="7772400" cy="3444031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accent1"/>
                </a:solidFill>
                <a:latin typeface="KG Manhattan Script" charset="0"/>
                <a:ea typeface="KG Manhattan Script" charset="0"/>
                <a:cs typeface="KG Manhattan Script" charset="0"/>
              </a:rPr>
              <a:t>The value of another’s experience is to give us hope, not to tell us how or whether to proceed   </a:t>
            </a:r>
            <a:endParaRPr lang="en-US" dirty="0">
              <a:solidFill>
                <a:schemeClr val="accent1"/>
              </a:solidFill>
              <a:latin typeface="KG Manhattan Script" charset="0"/>
              <a:ea typeface="KG Manhattan Script" charset="0"/>
              <a:cs typeface="KG Manhattan Script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49173" y="5046060"/>
            <a:ext cx="2095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</a:t>
            </a:r>
            <a:r>
              <a:rPr lang="en-US" sz="28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Peter Block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1699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Ketteryyden käytäntökeskustelun haasteena erilaiset tilanteet</a:t>
            </a:r>
            <a:endParaRPr lang="fi-FI" dirty="0"/>
          </a:p>
        </p:txBody>
      </p:sp>
      <p:sp>
        <p:nvSpPr>
          <p:cNvPr id="6" name="Right Triangle 5"/>
          <p:cNvSpPr/>
          <p:nvPr/>
        </p:nvSpPr>
        <p:spPr>
          <a:xfrm>
            <a:off x="642910" y="2783464"/>
            <a:ext cx="7715271" cy="19314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" name="Right Triangle 6"/>
          <p:cNvSpPr/>
          <p:nvPr/>
        </p:nvSpPr>
        <p:spPr>
          <a:xfrm rot="10800000">
            <a:off x="642911" y="2783463"/>
            <a:ext cx="7715271" cy="1931420"/>
          </a:xfrm>
          <a:prstGeom prst="rt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TextBox 9"/>
          <p:cNvSpPr txBox="1"/>
          <p:nvPr/>
        </p:nvSpPr>
        <p:spPr>
          <a:xfrm>
            <a:off x="428596" y="5214156"/>
            <a:ext cx="307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Suunnitelmaohjatut ”perinteiset” menetelmät</a:t>
            </a:r>
            <a:endParaRPr lang="fi-FI" dirty="0"/>
          </a:p>
        </p:txBody>
      </p:sp>
      <p:cxnSp>
        <p:nvCxnSpPr>
          <p:cNvPr id="12" name="Straight Arrow Connector 11"/>
          <p:cNvCxnSpPr/>
          <p:nvPr/>
        </p:nvCxnSpPr>
        <p:spPr>
          <a:xfrm rot="5400000" flipH="1" flipV="1">
            <a:off x="465109" y="4964123"/>
            <a:ext cx="356396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8" y="1925413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i-FI" dirty="0" smtClean="0"/>
              <a:t>Ketterät menetelmät</a:t>
            </a:r>
            <a:endParaRPr lang="fi-FI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8112546" y="2599709"/>
            <a:ext cx="357984" cy="95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2998670" y="3641619"/>
            <a:ext cx="300378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4414" y="1782537"/>
            <a:ext cx="3286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i-FI" dirty="0" smtClean="0"/>
              <a:t>”Siirtymävaihe” jossa saadaan jo ketteryyden hyötyjä eikä vain lisääntynyttä tuskaa</a:t>
            </a:r>
            <a:endParaRPr lang="fi-FI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43438" y="3429000"/>
            <a:ext cx="41910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>
            <a:off x="3857620" y="3429000"/>
            <a:ext cx="447676" cy="95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14876" y="5143512"/>
            <a:ext cx="4357718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i-FI" sz="1600" dirty="0" smtClean="0"/>
              <a:t>Paljon vaikuttavia tekijöitä:</a:t>
            </a:r>
          </a:p>
          <a:p>
            <a:r>
              <a:rPr lang="fi-FI" sz="1600" dirty="0" smtClean="0"/>
              <a:t>Skaala – monenko tiimin työstä puhutaan järjestelmän aikaansaamiseksi? </a:t>
            </a:r>
          </a:p>
          <a:p>
            <a:r>
              <a:rPr lang="fi-FI" sz="1600" dirty="0" smtClean="0"/>
              <a:t>Organisaatiokulttuuri – mikä koetaan mahdolliseksi ja järkeväksi suunnaksi tekemisen muutoksessa? </a:t>
            </a:r>
            <a:endParaRPr lang="fi-FI" sz="160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Siirtyminen ketteriin menetelmiin</a:t>
            </a:r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/>
              <a:t>Usein</a:t>
            </a:r>
            <a:r>
              <a:rPr lang="en-US" dirty="0" smtClean="0"/>
              <a:t> </a:t>
            </a:r>
            <a:r>
              <a:rPr lang="en-US" dirty="0" err="1" smtClean="0"/>
              <a:t>siirtyminen</a:t>
            </a:r>
            <a:r>
              <a:rPr lang="en-US" dirty="0" smtClean="0"/>
              <a:t> </a:t>
            </a:r>
            <a:r>
              <a:rPr lang="en-US" dirty="0" err="1" smtClean="0"/>
              <a:t>ketteriin</a:t>
            </a:r>
            <a:r>
              <a:rPr lang="en-US" dirty="0" smtClean="0"/>
              <a:t> </a:t>
            </a:r>
            <a:r>
              <a:rPr lang="en-US" dirty="0" err="1" smtClean="0"/>
              <a:t>menetelmiin</a:t>
            </a:r>
            <a:r>
              <a:rPr lang="en-US" dirty="0" smtClean="0"/>
              <a:t> </a:t>
            </a:r>
            <a:r>
              <a:rPr lang="en-US" dirty="0" err="1" smtClean="0"/>
              <a:t>korostaa</a:t>
            </a:r>
            <a:r>
              <a:rPr lang="en-US" dirty="0" smtClean="0"/>
              <a:t> </a:t>
            </a:r>
            <a:r>
              <a:rPr lang="en-US" dirty="0" err="1" smtClean="0"/>
              <a:t>ohjelmoinnin</a:t>
            </a:r>
            <a:r>
              <a:rPr lang="en-US" dirty="0" smtClean="0"/>
              <a:t> </a:t>
            </a:r>
            <a:r>
              <a:rPr lang="en-US" dirty="0" err="1" smtClean="0"/>
              <a:t>ja</a:t>
            </a:r>
            <a:r>
              <a:rPr lang="en-US" dirty="0" smtClean="0"/>
              <a:t>/tai </a:t>
            </a:r>
            <a:r>
              <a:rPr lang="en-US" dirty="0" err="1" smtClean="0"/>
              <a:t>hallinnon</a:t>
            </a:r>
            <a:r>
              <a:rPr lang="en-US" dirty="0" smtClean="0"/>
              <a:t> </a:t>
            </a:r>
            <a:r>
              <a:rPr lang="en-US" dirty="0" err="1" smtClean="0"/>
              <a:t>menetelmiä</a:t>
            </a:r>
            <a:r>
              <a:rPr lang="en-US" dirty="0" smtClean="0"/>
              <a:t> (XP &amp; Scrum)</a:t>
            </a:r>
          </a:p>
          <a:p>
            <a:r>
              <a:rPr lang="en-US" dirty="0" err="1" smtClean="0"/>
              <a:t>Saatavilla</a:t>
            </a:r>
            <a:r>
              <a:rPr lang="en-US" dirty="0" smtClean="0"/>
              <a:t> on </a:t>
            </a:r>
            <a:r>
              <a:rPr lang="en-US" dirty="0" err="1" smtClean="0"/>
              <a:t>varsin</a:t>
            </a:r>
            <a:r>
              <a:rPr lang="en-US" dirty="0" smtClean="0"/>
              <a:t> </a:t>
            </a:r>
            <a:r>
              <a:rPr lang="en-US" dirty="0" err="1" smtClean="0"/>
              <a:t>vähän</a:t>
            </a:r>
            <a:r>
              <a:rPr lang="en-US" dirty="0" smtClean="0"/>
              <a:t> </a:t>
            </a:r>
            <a:r>
              <a:rPr lang="en-US" dirty="0" err="1" smtClean="0"/>
              <a:t>ohjeita</a:t>
            </a:r>
            <a:r>
              <a:rPr lang="en-US" dirty="0" smtClean="0"/>
              <a:t> </a:t>
            </a:r>
            <a:r>
              <a:rPr lang="en-US" dirty="0" err="1" smtClean="0"/>
              <a:t>siitä</a:t>
            </a:r>
            <a:r>
              <a:rPr lang="en-US" dirty="0" smtClean="0"/>
              <a:t> </a:t>
            </a:r>
            <a:r>
              <a:rPr lang="en-US" dirty="0" err="1" smtClean="0"/>
              <a:t>miten</a:t>
            </a:r>
            <a:r>
              <a:rPr lang="en-US" dirty="0" smtClean="0"/>
              <a:t> </a:t>
            </a:r>
            <a:r>
              <a:rPr lang="en-US" dirty="0" err="1" smtClean="0"/>
              <a:t>testaus</a:t>
            </a:r>
            <a:r>
              <a:rPr lang="en-US" dirty="0" smtClean="0"/>
              <a:t> </a:t>
            </a:r>
            <a:r>
              <a:rPr lang="en-US" dirty="0" err="1" smtClean="0"/>
              <a:t>sopii</a:t>
            </a:r>
            <a:r>
              <a:rPr lang="en-US" dirty="0" smtClean="0"/>
              <a:t> </a:t>
            </a:r>
            <a:r>
              <a:rPr lang="en-US" dirty="0" err="1" smtClean="0"/>
              <a:t>kuvioon</a:t>
            </a:r>
            <a:r>
              <a:rPr lang="en-US" dirty="0" smtClean="0"/>
              <a:t> </a:t>
            </a:r>
            <a:r>
              <a:rPr lang="en-US" dirty="0" err="1" smtClean="0"/>
              <a:t>siirtymävaiheessa</a:t>
            </a:r>
            <a:r>
              <a:rPr lang="en-US" dirty="0" smtClean="0"/>
              <a:t> tai </a:t>
            </a:r>
            <a:r>
              <a:rPr lang="en-US" dirty="0" err="1" smtClean="0"/>
              <a:t>sen</a:t>
            </a:r>
            <a:r>
              <a:rPr lang="en-US" dirty="0" smtClean="0"/>
              <a:t> </a:t>
            </a:r>
            <a:r>
              <a:rPr lang="en-US" dirty="0" err="1" smtClean="0"/>
              <a:t>jälkeen</a:t>
            </a:r>
            <a:endParaRPr lang="en-US" dirty="0" smtClean="0"/>
          </a:p>
          <a:p>
            <a:r>
              <a:rPr lang="en-US" dirty="0" err="1" smtClean="0"/>
              <a:t>Yleinen</a:t>
            </a:r>
            <a:r>
              <a:rPr lang="en-US" dirty="0" smtClean="0"/>
              <a:t> </a:t>
            </a:r>
            <a:r>
              <a:rPr lang="en-US" dirty="0" err="1" smtClean="0"/>
              <a:t>oletus</a:t>
            </a:r>
            <a:r>
              <a:rPr lang="en-US" dirty="0" smtClean="0"/>
              <a:t> on </a:t>
            </a:r>
            <a:r>
              <a:rPr lang="en-US" dirty="0" err="1" smtClean="0"/>
              <a:t>että</a:t>
            </a:r>
            <a:r>
              <a:rPr lang="en-US" dirty="0" smtClean="0"/>
              <a:t> </a:t>
            </a:r>
            <a:r>
              <a:rPr lang="en-US" dirty="0" err="1" smtClean="0"/>
              <a:t>testaus</a:t>
            </a:r>
            <a:r>
              <a:rPr lang="en-US" dirty="0" smtClean="0"/>
              <a:t> </a:t>
            </a:r>
            <a:r>
              <a:rPr lang="en-US" dirty="0" err="1" smtClean="0"/>
              <a:t>tulee</a:t>
            </a:r>
            <a:r>
              <a:rPr lang="en-US" dirty="0" smtClean="0"/>
              <a:t> </a:t>
            </a:r>
            <a:r>
              <a:rPr lang="en-US" dirty="0" err="1" smtClean="0"/>
              <a:t>tiimiin</a:t>
            </a:r>
            <a:r>
              <a:rPr lang="en-US" dirty="0" smtClean="0"/>
              <a:t> </a:t>
            </a:r>
            <a:r>
              <a:rPr lang="en-US" dirty="0" err="1" smtClean="0"/>
              <a:t>luonnostaan</a:t>
            </a:r>
            <a:r>
              <a:rPr lang="en-US" dirty="0" smtClean="0"/>
              <a:t> </a:t>
            </a:r>
            <a:r>
              <a:rPr lang="en-US" dirty="0" err="1" smtClean="0"/>
              <a:t>ilman</a:t>
            </a:r>
            <a:r>
              <a:rPr lang="en-US" dirty="0" smtClean="0"/>
              <a:t> </a:t>
            </a:r>
            <a:r>
              <a:rPr lang="en-US" dirty="0" err="1" smtClean="0"/>
              <a:t>keskittymistä</a:t>
            </a:r>
            <a:r>
              <a:rPr lang="en-US" dirty="0" smtClean="0"/>
              <a:t> </a:t>
            </a:r>
            <a:r>
              <a:rPr lang="en-US" dirty="0" err="1" smtClean="0"/>
              <a:t>taitojen</a:t>
            </a:r>
            <a:r>
              <a:rPr lang="en-US" dirty="0" smtClean="0"/>
              <a:t> </a:t>
            </a:r>
            <a:r>
              <a:rPr lang="en-US" dirty="0" err="1" smtClean="0"/>
              <a:t>ylläpitämiseen</a:t>
            </a:r>
            <a:r>
              <a:rPr lang="en-US" dirty="0" smtClean="0"/>
              <a:t> tai </a:t>
            </a:r>
            <a:r>
              <a:rPr lang="en-US" dirty="0" err="1" smtClean="0"/>
              <a:t>hankintaan</a:t>
            </a:r>
            <a:endParaRPr lang="en-US" dirty="0" smtClean="0"/>
          </a:p>
          <a:p>
            <a:r>
              <a:rPr lang="en-US" dirty="0" err="1" smtClean="0"/>
              <a:t>Henkiläkohtaisesti</a:t>
            </a:r>
            <a:r>
              <a:rPr lang="en-US" dirty="0" smtClean="0"/>
              <a:t> </a:t>
            </a:r>
            <a:r>
              <a:rPr lang="en-US" dirty="0" err="1" smtClean="0"/>
              <a:t>koen</a:t>
            </a:r>
            <a:r>
              <a:rPr lang="en-US" dirty="0" smtClean="0"/>
              <a:t> </a:t>
            </a:r>
            <a:r>
              <a:rPr lang="en-US" dirty="0" err="1" smtClean="0"/>
              <a:t>edelleen</a:t>
            </a:r>
            <a:r>
              <a:rPr lang="en-US" dirty="0" smtClean="0"/>
              <a:t> </a:t>
            </a:r>
            <a:r>
              <a:rPr lang="en-US" dirty="0" err="1" smtClean="0"/>
              <a:t>että</a:t>
            </a:r>
            <a:r>
              <a:rPr lang="en-US" dirty="0" smtClean="0"/>
              <a:t> </a:t>
            </a:r>
            <a:r>
              <a:rPr lang="en-US" dirty="0" err="1" smtClean="0"/>
              <a:t>testauksen</a:t>
            </a:r>
            <a:r>
              <a:rPr lang="en-US" dirty="0" smtClean="0"/>
              <a:t> </a:t>
            </a:r>
            <a:r>
              <a:rPr lang="en-US" dirty="0" err="1" smtClean="0"/>
              <a:t>laajuus</a:t>
            </a:r>
            <a:r>
              <a:rPr lang="en-US" dirty="0" smtClean="0"/>
              <a:t> </a:t>
            </a:r>
            <a:r>
              <a:rPr lang="en-US" dirty="0" err="1" smtClean="0"/>
              <a:t>ja</a:t>
            </a:r>
            <a:r>
              <a:rPr lang="en-US" dirty="0" smtClean="0"/>
              <a:t> </a:t>
            </a:r>
            <a:r>
              <a:rPr lang="en-US" dirty="0" err="1" smtClean="0"/>
              <a:t>käytännöt</a:t>
            </a:r>
            <a:r>
              <a:rPr lang="en-US" dirty="0" smtClean="0"/>
              <a:t> </a:t>
            </a:r>
            <a:r>
              <a:rPr lang="en-US" dirty="0" err="1" smtClean="0"/>
              <a:t>ovat</a:t>
            </a:r>
            <a:r>
              <a:rPr lang="en-US" dirty="0" smtClean="0"/>
              <a:t> </a:t>
            </a:r>
            <a:r>
              <a:rPr lang="en-US" dirty="0" err="1" smtClean="0"/>
              <a:t>todellinen</a:t>
            </a:r>
            <a:r>
              <a:rPr lang="en-US" dirty="0" smtClean="0"/>
              <a:t> </a:t>
            </a:r>
            <a:r>
              <a:rPr lang="en-US" dirty="0" err="1" smtClean="0"/>
              <a:t>haaste</a:t>
            </a:r>
            <a:r>
              <a:rPr lang="en-US" dirty="0" smtClean="0"/>
              <a:t> kun </a:t>
            </a:r>
            <a:r>
              <a:rPr lang="en-US" dirty="0" err="1" smtClean="0"/>
              <a:t>siirtytään</a:t>
            </a:r>
            <a:r>
              <a:rPr lang="en-US" dirty="0" smtClean="0"/>
              <a:t> </a:t>
            </a:r>
            <a:r>
              <a:rPr lang="en-US" dirty="0" err="1" smtClean="0"/>
              <a:t>monitoimintotiimeihin</a:t>
            </a:r>
            <a:r>
              <a:rPr lang="en-US" dirty="0" smtClean="0"/>
              <a:t> </a:t>
            </a:r>
            <a:r>
              <a:rPr lang="en-US" dirty="0" err="1" smtClean="0"/>
              <a:t>monitiimiä</a:t>
            </a:r>
            <a:r>
              <a:rPr lang="en-US" dirty="0" smtClean="0"/>
              <a:t> </a:t>
            </a:r>
            <a:r>
              <a:rPr lang="en-US" dirty="0" err="1" smtClean="0"/>
              <a:t>tarvitsevan</a:t>
            </a:r>
            <a:r>
              <a:rPr lang="en-US" dirty="0" smtClean="0"/>
              <a:t> </a:t>
            </a:r>
            <a:r>
              <a:rPr lang="en-US" dirty="0" err="1" smtClean="0"/>
              <a:t>kokoisella</a:t>
            </a:r>
            <a:r>
              <a:rPr lang="en-US" dirty="0" smtClean="0"/>
              <a:t> </a:t>
            </a:r>
            <a:r>
              <a:rPr lang="en-US" dirty="0" err="1" smtClean="0"/>
              <a:t>tuotteella</a:t>
            </a:r>
            <a:r>
              <a:rPr lang="en-US" dirty="0" smtClean="0"/>
              <a:t> / </a:t>
            </a:r>
            <a:r>
              <a:rPr lang="en-US" dirty="0" err="1" smtClean="0"/>
              <a:t>järjestelmällä</a:t>
            </a:r>
            <a:endParaRPr lang="en-US" dirty="0" smtClean="0"/>
          </a:p>
          <a:p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6248400" cy="1143000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What Was “Traditional </a:t>
            </a:r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4000" dirty="0" smtClean="0"/>
              <a:t>Testing</a:t>
            </a:r>
            <a:r>
              <a:rPr lang="en-GB" sz="4000" dirty="0"/>
              <a:t>” Again?</a:t>
            </a:r>
          </a:p>
        </p:txBody>
      </p:sp>
      <p:sp>
        <p:nvSpPr>
          <p:cNvPr id="12472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3857627"/>
            <a:ext cx="4038600" cy="2497297"/>
          </a:xfrm>
        </p:spPr>
        <p:txBody>
          <a:bodyPr>
            <a:noAutofit/>
          </a:bodyPr>
          <a:lstStyle/>
          <a:p>
            <a:r>
              <a:rPr lang="en-GB" sz="2000" dirty="0"/>
              <a:t>Testing is not about </a:t>
            </a:r>
            <a:r>
              <a:rPr lang="en-GB" sz="2000" dirty="0" smtClean="0"/>
              <a:t>blaming programmer </a:t>
            </a:r>
            <a:r>
              <a:rPr lang="en-GB" sz="2000" dirty="0"/>
              <a:t>and being failsafe mechanism for their lack of skill. </a:t>
            </a:r>
          </a:p>
          <a:p>
            <a:r>
              <a:rPr lang="fi-FI" sz="2000" b="1" dirty="0">
                <a:solidFill>
                  <a:schemeClr val="tx2"/>
                </a:solidFill>
              </a:rPr>
              <a:t>The business opportunity of testing is facilitation of the development of an acceptable product in the face of rapid change</a:t>
            </a:r>
            <a:endParaRPr lang="en-GB" sz="2000" dirty="0">
              <a:solidFill>
                <a:schemeClr val="tx2"/>
              </a:solidFill>
            </a:endParaRPr>
          </a:p>
        </p:txBody>
      </p:sp>
      <p:sp>
        <p:nvSpPr>
          <p:cNvPr id="1247237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648200" y="1722437"/>
            <a:ext cx="4267200" cy="45259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Is it this: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Separate testers, unskilled labor to test based on detailed instructions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Strict processes delivering documents to keep the herd of testers up-to-date on what should be verified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Developers don’t test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Testing is scheduled to be “two weeks in the end”, with long preparation without touching the software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Or this: 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Trained professionals with a different perspective than the developers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Continuous collaboration with the whole development team and various perspectives to learn what to test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Developers test and there’s still work for separate tester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Testing is continuous and how it is organized and resourced can vary a lot</a:t>
            </a:r>
          </a:p>
          <a:p>
            <a:pPr lvl="1">
              <a:lnSpc>
                <a:spcPct val="90000"/>
              </a:lnSpc>
            </a:pPr>
            <a:endParaRPr lang="en-GB" sz="1050" dirty="0"/>
          </a:p>
        </p:txBody>
      </p:sp>
      <p:sp>
        <p:nvSpPr>
          <p:cNvPr id="1247236" name="Rectangle 4"/>
          <p:cNvSpPr>
            <a:spLocks noChangeArrowheads="1"/>
          </p:cNvSpPr>
          <p:nvPr/>
        </p:nvSpPr>
        <p:spPr bwMode="auto">
          <a:xfrm>
            <a:off x="428596" y="1828800"/>
            <a:ext cx="3810000" cy="18034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hangingPunct="1"/>
            <a:r>
              <a:rPr lang="fi-FI" sz="1600" b="1" dirty="0">
                <a:solidFill>
                  <a:schemeClr val="bg1"/>
                </a:solidFill>
                <a:latin typeface="Courier New" pitchFamily="49" charset="0"/>
              </a:rPr>
              <a:t>You don’t believe this, right?</a:t>
            </a:r>
            <a:br>
              <a:rPr lang="fi-FI" sz="1600" b="1" dirty="0">
                <a:solidFill>
                  <a:schemeClr val="bg1"/>
                </a:solidFill>
                <a:latin typeface="Courier New" pitchFamily="49" charset="0"/>
              </a:rPr>
            </a:br>
            <a:endParaRPr lang="fi-FI" sz="1600" b="1" dirty="0">
              <a:solidFill>
                <a:schemeClr val="bg1"/>
              </a:solidFill>
              <a:latin typeface="Courier New" pitchFamily="49" charset="0"/>
            </a:endParaRPr>
          </a:p>
          <a:p>
            <a:pPr algn="ctr" eaLnBrk="1" hangingPunct="1"/>
            <a:r>
              <a:rPr lang="fi-FI" sz="1600" b="1" dirty="0">
                <a:solidFill>
                  <a:schemeClr val="bg1"/>
                </a:solidFill>
                <a:latin typeface="Courier New" pitchFamily="49" charset="0"/>
              </a:rPr>
              <a:t>IF DEVELOPERS DO WHAT THEY ARE SUPPOSED TO DO PROPERLY THEN THERE WOULD BE NO NEED FOR TESTING AT ALL.</a:t>
            </a:r>
            <a:endParaRPr lang="en-GB" sz="1600" b="1" dirty="0">
              <a:solidFill>
                <a:schemeClr val="bg1"/>
              </a:solidFill>
              <a:latin typeface="Courier New" pitchFamily="49" charset="0"/>
            </a:endParaRPr>
          </a:p>
        </p:txBody>
      </p:sp>
      <p:sp>
        <p:nvSpPr>
          <p:cNvPr id="1247238" name="Rectangle 6"/>
          <p:cNvSpPr>
            <a:spLocks noChangeArrowheads="1"/>
          </p:cNvSpPr>
          <p:nvPr/>
        </p:nvSpPr>
        <p:spPr bwMode="auto">
          <a:xfrm>
            <a:off x="6096000" y="471502"/>
            <a:ext cx="3000396" cy="135729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/>
            <a:r>
              <a:rPr lang="en-GB" dirty="0"/>
              <a:t>The closer your testing is to what traditional testing </a:t>
            </a:r>
            <a:r>
              <a:rPr lang="en-GB" i="1" dirty="0"/>
              <a:t>could </a:t>
            </a:r>
            <a:r>
              <a:rPr lang="en-GB" dirty="0"/>
              <a:t>be, the easier the transition to agile.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Testauksen huolenaiheita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Laatu laskee ketterien menetelmien myötä</a:t>
            </a:r>
          </a:p>
          <a:p>
            <a:pPr lvl="1"/>
            <a:r>
              <a:rPr lang="fi-FI" dirty="0" smtClean="0"/>
              <a:t>Mahdollisuudet valmistella perinteistä testausta heikommat dokumentaation puutteen vuoksi</a:t>
            </a:r>
          </a:p>
          <a:p>
            <a:pPr lvl="1"/>
            <a:r>
              <a:rPr lang="fi-FI" dirty="0" smtClean="0"/>
              <a:t>Tiimin kyky löytää vastaavat virheet ei riittävällä tasolla</a:t>
            </a:r>
          </a:p>
          <a:p>
            <a:pPr lvl="1"/>
            <a:r>
              <a:rPr lang="fi-FI" dirty="0" smtClean="0"/>
              <a:t>Jatkuva muutos on hallitsematonta ja seurauksista ei välitetä</a:t>
            </a:r>
          </a:p>
          <a:p>
            <a:pPr lvl="1"/>
            <a:r>
              <a:rPr lang="fi-FI" dirty="0" smtClean="0"/>
              <a:t>Järjestelmänäkökulmasta testattavaa on niin paljon että jokaisen asian testaaminen erikseen on tehotonta jos / kun automaatio ei ole korkealla tasolla</a:t>
            </a:r>
          </a:p>
          <a:p>
            <a:r>
              <a:rPr lang="fi-FI" dirty="0" smtClean="0"/>
              <a:t>Omalla osaamisella ei olekaan enää vastaavaa arvoa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Paremman laadun lupauksen saavuttaminen</a:t>
            </a:r>
            <a:endParaRPr lang="fi-FI" dirty="0"/>
          </a:p>
        </p:txBody>
      </p:sp>
      <p:sp>
        <p:nvSpPr>
          <p:cNvPr id="5" name="TextBox 4"/>
          <p:cNvSpPr txBox="1"/>
          <p:nvPr/>
        </p:nvSpPr>
        <p:spPr>
          <a:xfrm>
            <a:off x="3071802" y="1467137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b="1" dirty="0" smtClean="0">
                <a:solidFill>
                  <a:schemeClr val="accent4"/>
                </a:solidFill>
              </a:rPr>
              <a:t>Parempi laatu</a:t>
            </a:r>
            <a:endParaRPr lang="fi-FI" sz="2400" b="1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85762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2"/>
                </a:solidFill>
              </a:rPr>
              <a:t>Pysähdy-ja-korjaa</a:t>
            </a:r>
            <a:endParaRPr lang="fi-FI" sz="2400" dirty="0">
              <a:solidFill>
                <a:schemeClr val="accent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472" y="4500570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2"/>
                </a:solidFill>
              </a:rPr>
              <a:t>Tekninen erinomaisuus</a:t>
            </a:r>
            <a:endParaRPr lang="fi-FI" sz="2400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15140" y="3500438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3"/>
                </a:solidFill>
              </a:rPr>
              <a:t>Laatuvelan kerääminen</a:t>
            </a:r>
            <a:endParaRPr lang="fi-FI" sz="2400" dirty="0">
              <a:solidFill>
                <a:schemeClr val="accent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282" y="5500702"/>
            <a:ext cx="1857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2"/>
                </a:solidFill>
              </a:rPr>
              <a:t>Valmiin määritelmä</a:t>
            </a:r>
            <a:endParaRPr lang="fi-FI" sz="2400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5786" y="2643182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b="1" dirty="0" smtClean="0">
                <a:solidFill>
                  <a:schemeClr val="accent2"/>
                </a:solidFill>
              </a:rPr>
              <a:t>Onnistumisen tekijöitä</a:t>
            </a:r>
            <a:endParaRPr lang="fi-FI" sz="2400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57818" y="2643182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b="1" dirty="0" smtClean="0">
                <a:solidFill>
                  <a:schemeClr val="accent3"/>
                </a:solidFill>
              </a:rPr>
              <a:t>Epäonnistumisen tekijöitä</a:t>
            </a:r>
            <a:endParaRPr lang="fi-FI" sz="2400" b="1" dirty="0">
              <a:solidFill>
                <a:schemeClr val="accent3"/>
              </a:solidFill>
            </a:endParaRPr>
          </a:p>
        </p:txBody>
      </p:sp>
      <p:cxnSp>
        <p:nvCxnSpPr>
          <p:cNvPr id="13" name="Straight Arrow Connector 12"/>
          <p:cNvCxnSpPr>
            <a:stCxn id="5" idx="2"/>
            <a:endCxn id="10" idx="0"/>
          </p:cNvCxnSpPr>
          <p:nvPr/>
        </p:nvCxnSpPr>
        <p:spPr>
          <a:xfrm rot="5400000">
            <a:off x="2821769" y="1142984"/>
            <a:ext cx="714380" cy="2286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11" idx="0"/>
          </p:cNvCxnSpPr>
          <p:nvPr/>
        </p:nvCxnSpPr>
        <p:spPr>
          <a:xfrm rot="16200000" flipH="1">
            <a:off x="5107785" y="1142984"/>
            <a:ext cx="714380" cy="2286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5984" y="3714752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2"/>
                </a:solidFill>
              </a:rPr>
              <a:t>Laatuvelan ymmärrys</a:t>
            </a:r>
            <a:endParaRPr lang="fi-FI" sz="2400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3500438"/>
            <a:ext cx="2000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3"/>
                </a:solidFill>
              </a:rPr>
              <a:t>Siiloutuneet scrumtiimit</a:t>
            </a:r>
            <a:endParaRPr lang="fi-FI" sz="2400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3670" y="5214950"/>
            <a:ext cx="2500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3"/>
                </a:solidFill>
              </a:rPr>
              <a:t>Scrumtiimi ilman keskeisiä palautetaitoja (testaus)</a:t>
            </a:r>
            <a:endParaRPr lang="fi-FI" sz="2400" dirty="0">
              <a:solidFill>
                <a:schemeClr val="accent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3000" y="4357694"/>
            <a:ext cx="3571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3"/>
                </a:solidFill>
              </a:rPr>
              <a:t>Myöhästetyn palautteen hyväksyminen</a:t>
            </a:r>
            <a:endParaRPr lang="fi-FI" sz="2400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14612" y="4643446"/>
            <a:ext cx="1857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2"/>
                </a:solidFill>
              </a:rPr>
              <a:t>Tiimin laatuvastuu</a:t>
            </a:r>
            <a:endParaRPr lang="fi-FI" sz="2400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43080" y="5562600"/>
            <a:ext cx="28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2"/>
                </a:solidFill>
              </a:rPr>
              <a:t>Monenlaisia palautemekanismeja (testaus)</a:t>
            </a:r>
            <a:endParaRPr lang="fi-FI" sz="2400" dirty="0">
              <a:solidFill>
                <a:schemeClr val="accent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5074" y="928670"/>
            <a:ext cx="2776526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i-FI" dirty="0" smtClean="0"/>
              <a:t>RAKENNA = TAHTO JA TAIDOT TEKEMISEEN</a:t>
            </a:r>
          </a:p>
          <a:p>
            <a:pPr marL="342900" indent="-342900">
              <a:buAutoNum type="arabicPeriod"/>
            </a:pPr>
            <a:r>
              <a:rPr lang="fi-FI" dirty="0" smtClean="0"/>
              <a:t>TIEDÄ = TESTAA</a:t>
            </a:r>
          </a:p>
          <a:p>
            <a:pPr marL="342900" indent="-342900">
              <a:buAutoNum type="arabicPeriod"/>
            </a:pPr>
            <a:r>
              <a:rPr lang="fi-FI" dirty="0" smtClean="0"/>
              <a:t>REAGOI = KORJAA</a:t>
            </a:r>
            <a:endParaRPr lang="fi-FI" dirty="0"/>
          </a:p>
        </p:txBody>
      </p:sp>
      <p:sp>
        <p:nvSpPr>
          <p:cNvPr id="25" name="TextBox 24"/>
          <p:cNvSpPr txBox="1"/>
          <p:nvPr/>
        </p:nvSpPr>
        <p:spPr>
          <a:xfrm>
            <a:off x="4495800" y="5429071"/>
            <a:ext cx="250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solidFill>
                  <a:schemeClr val="accent3"/>
                </a:solidFill>
              </a:rPr>
              <a:t>Rajoittamaton, hallitsematon muutos</a:t>
            </a:r>
            <a:endParaRPr lang="fi-FI" sz="2400" dirty="0">
              <a:solidFill>
                <a:schemeClr val="accent3"/>
              </a:solidFill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Viivästynyt palaute ja seuraukset</a:t>
            </a:r>
            <a:endParaRPr lang="fi-FI" dirty="0"/>
          </a:p>
        </p:txBody>
      </p:sp>
      <p:sp>
        <p:nvSpPr>
          <p:cNvPr id="5" name="TextBox 4"/>
          <p:cNvSpPr txBox="1"/>
          <p:nvPr/>
        </p:nvSpPr>
        <p:spPr>
          <a:xfrm>
            <a:off x="3886200" y="2057400"/>
            <a:ext cx="137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9600" b="1" dirty="0" smtClean="0"/>
              <a:t>?</a:t>
            </a:r>
            <a:endParaRPr lang="fi-FI" sz="9600" b="1" dirty="0"/>
          </a:p>
        </p:txBody>
      </p:sp>
      <p:sp>
        <p:nvSpPr>
          <p:cNvPr id="6" name="Right Arrow 5"/>
          <p:cNvSpPr/>
          <p:nvPr/>
        </p:nvSpPr>
        <p:spPr>
          <a:xfrm>
            <a:off x="4953000" y="2590800"/>
            <a:ext cx="6858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" name="Right Arrow 6"/>
          <p:cNvSpPr/>
          <p:nvPr/>
        </p:nvSpPr>
        <p:spPr>
          <a:xfrm rot="10800000">
            <a:off x="3517380" y="2590800"/>
            <a:ext cx="6858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Rounded Rectangle 7"/>
          <p:cNvSpPr/>
          <p:nvPr/>
        </p:nvSpPr>
        <p:spPr>
          <a:xfrm>
            <a:off x="6248400" y="1981200"/>
            <a:ext cx="2362200" cy="381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	</a:t>
            </a:r>
            <a:endParaRPr lang="fi-FI"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0574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i-FI" sz="2400" b="1" dirty="0" smtClean="0"/>
              <a:t>TUOTTEEN TEHTÄVÄLISTA</a:t>
            </a:r>
            <a:endParaRPr lang="fi-FI" sz="2400" b="1" dirty="0"/>
          </a:p>
        </p:txBody>
      </p:sp>
      <p:sp>
        <p:nvSpPr>
          <p:cNvPr id="10" name="Cloud 9"/>
          <p:cNvSpPr/>
          <p:nvPr/>
        </p:nvSpPr>
        <p:spPr>
          <a:xfrm>
            <a:off x="6629400" y="4800600"/>
            <a:ext cx="1752600" cy="838200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Tarina</a:t>
            </a:r>
            <a:endParaRPr lang="fi-FI" dirty="0"/>
          </a:p>
        </p:txBody>
      </p:sp>
      <p:sp>
        <p:nvSpPr>
          <p:cNvPr id="11" name="Cloud 10"/>
          <p:cNvSpPr/>
          <p:nvPr/>
        </p:nvSpPr>
        <p:spPr>
          <a:xfrm>
            <a:off x="6629400" y="4343400"/>
            <a:ext cx="1752600" cy="838200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Tarina</a:t>
            </a:r>
            <a:endParaRPr lang="fi-FI" dirty="0"/>
          </a:p>
        </p:txBody>
      </p:sp>
      <p:sp>
        <p:nvSpPr>
          <p:cNvPr id="12" name="Cloud 11"/>
          <p:cNvSpPr/>
          <p:nvPr/>
        </p:nvSpPr>
        <p:spPr>
          <a:xfrm>
            <a:off x="6629400" y="3886200"/>
            <a:ext cx="1752600" cy="838200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Tarina</a:t>
            </a:r>
            <a:endParaRPr lang="fi-FI" dirty="0"/>
          </a:p>
        </p:txBody>
      </p:sp>
      <p:sp>
        <p:nvSpPr>
          <p:cNvPr id="13" name="Cloud 12"/>
          <p:cNvSpPr/>
          <p:nvPr/>
        </p:nvSpPr>
        <p:spPr>
          <a:xfrm>
            <a:off x="6629400" y="3429000"/>
            <a:ext cx="1752600" cy="838200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Tarina</a:t>
            </a:r>
            <a:endParaRPr lang="fi-FI" dirty="0"/>
          </a:p>
        </p:txBody>
      </p:sp>
      <p:sp>
        <p:nvSpPr>
          <p:cNvPr id="14" name="Cloud 13"/>
          <p:cNvSpPr/>
          <p:nvPr/>
        </p:nvSpPr>
        <p:spPr>
          <a:xfrm>
            <a:off x="6629400" y="2971800"/>
            <a:ext cx="1752600" cy="838200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Tarina</a:t>
            </a:r>
            <a:endParaRPr lang="fi-FI" dirty="0"/>
          </a:p>
        </p:txBody>
      </p:sp>
      <p:sp>
        <p:nvSpPr>
          <p:cNvPr id="15" name="Cloud 14"/>
          <p:cNvSpPr/>
          <p:nvPr/>
        </p:nvSpPr>
        <p:spPr>
          <a:xfrm>
            <a:off x="6629400" y="2514600"/>
            <a:ext cx="1752600" cy="838200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Tarina</a:t>
            </a:r>
            <a:endParaRPr lang="fi-FI" dirty="0"/>
          </a:p>
        </p:txBody>
      </p:sp>
      <p:sp>
        <p:nvSpPr>
          <p:cNvPr id="16" name="Rounded Rectangle 15"/>
          <p:cNvSpPr/>
          <p:nvPr/>
        </p:nvSpPr>
        <p:spPr>
          <a:xfrm>
            <a:off x="609600" y="1905000"/>
            <a:ext cx="2362200" cy="38100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	</a:t>
            </a:r>
            <a:endParaRPr lang="fi-FI" dirty="0"/>
          </a:p>
        </p:txBody>
      </p:sp>
      <p:sp>
        <p:nvSpPr>
          <p:cNvPr id="17" name="TextBox 16"/>
          <p:cNvSpPr txBox="1"/>
          <p:nvPr/>
        </p:nvSpPr>
        <p:spPr>
          <a:xfrm>
            <a:off x="838200" y="1524000"/>
            <a:ext cx="1905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i-FI" sz="2400" b="1" dirty="0" smtClean="0"/>
              <a:t>LAATUVELKA</a:t>
            </a:r>
            <a:endParaRPr lang="fi-FI" sz="2400" b="1" dirty="0"/>
          </a:p>
        </p:txBody>
      </p:sp>
      <p:cxnSp>
        <p:nvCxnSpPr>
          <p:cNvPr id="19" name="Straight Connector 18"/>
          <p:cNvCxnSpPr/>
          <p:nvPr/>
        </p:nvCxnSpPr>
        <p:spPr>
          <a:xfrm rot="5400000">
            <a:off x="304800" y="3962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16200000">
            <a:off x="-147934" y="3486834"/>
            <a:ext cx="2743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b="1" dirty="0" smtClean="0"/>
              <a:t>TUNNETTU</a:t>
            </a:r>
            <a:r>
              <a:rPr lang="fi-FI" dirty="0" smtClean="0"/>
              <a:t>: raportoidut, korjaamattomat ongelmat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972233" y="3563036"/>
            <a:ext cx="2743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b="1" dirty="0" smtClean="0"/>
              <a:t>TUNTEMATON</a:t>
            </a:r>
            <a:r>
              <a:rPr lang="fi-FI" dirty="0" smtClean="0"/>
              <a:t>: bugit joita ei vielä ole raportoitu</a:t>
            </a:r>
          </a:p>
        </p:txBody>
      </p:sp>
      <p:pic>
        <p:nvPicPr>
          <p:cNvPr id="1026" name="Picture 2" descr="C:\Documents and Settings\Maaret\My Documents\My Pictures\Microsoft Clip Organizer\j0287567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800600"/>
            <a:ext cx="1049338" cy="849719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3200400" y="3886200"/>
            <a:ext cx="2667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b="1" dirty="0" smtClean="0"/>
              <a:t>Pysähdy-ja-korjaa</a:t>
            </a:r>
            <a:r>
              <a:rPr lang="fi-FI" sz="2400" dirty="0" smtClean="0"/>
              <a:t>: </a:t>
            </a:r>
            <a:br>
              <a:rPr lang="fi-FI" sz="2400" dirty="0" smtClean="0"/>
            </a:br>
            <a:r>
              <a:rPr lang="fi-FI" sz="2400" dirty="0" smtClean="0"/>
              <a:t>Hankkiudu eroon laatuvelasta. Tee ongelmista näkyviä (testaa) ja korjaa ne. </a:t>
            </a:r>
            <a:endParaRPr lang="fi-FI" sz="24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Testausmokia</a:t>
            </a:r>
            <a:r>
              <a:rPr lang="en-GB" dirty="0" smtClean="0"/>
              <a:t> </a:t>
            </a:r>
            <a:r>
              <a:rPr lang="en-GB" dirty="0" err="1" smtClean="0"/>
              <a:t>vältettäväksi</a:t>
            </a:r>
            <a:r>
              <a:rPr lang="en-GB" dirty="0" smtClean="0"/>
              <a:t> </a:t>
            </a:r>
            <a:r>
              <a:rPr lang="en-GB" dirty="0" err="1" smtClean="0"/>
              <a:t>reitillä</a:t>
            </a:r>
            <a:r>
              <a:rPr lang="en-GB" dirty="0" smtClean="0"/>
              <a:t> </a:t>
            </a:r>
            <a:r>
              <a:rPr lang="en-GB" dirty="0" err="1" smtClean="0"/>
              <a:t>kohti</a:t>
            </a:r>
            <a:r>
              <a:rPr lang="en-GB" dirty="0" smtClean="0"/>
              <a:t> </a:t>
            </a:r>
            <a:r>
              <a:rPr lang="en-GB" dirty="0" err="1" smtClean="0"/>
              <a:t>ketteryyttä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err="1" smtClean="0"/>
              <a:t>Kuvitelma</a:t>
            </a:r>
            <a:r>
              <a:rPr lang="en-GB" dirty="0" smtClean="0"/>
              <a:t> </a:t>
            </a:r>
            <a:r>
              <a:rPr lang="en-GB" dirty="0" err="1" smtClean="0"/>
              <a:t>että</a:t>
            </a:r>
            <a:r>
              <a:rPr lang="en-GB" dirty="0" smtClean="0"/>
              <a:t> </a:t>
            </a:r>
            <a:r>
              <a:rPr lang="en-GB" dirty="0" err="1" smtClean="0"/>
              <a:t>yksikkötestit</a:t>
            </a:r>
            <a:r>
              <a:rPr lang="en-GB" dirty="0" smtClean="0"/>
              <a:t> </a:t>
            </a:r>
            <a:r>
              <a:rPr lang="en-GB" dirty="0" err="1" smtClean="0"/>
              <a:t>saadaan</a:t>
            </a:r>
            <a:r>
              <a:rPr lang="en-GB" dirty="0" smtClean="0"/>
              <a:t> </a:t>
            </a:r>
            <a:r>
              <a:rPr lang="en-GB" dirty="0" err="1" smtClean="0"/>
              <a:t>vastaamaan</a:t>
            </a:r>
            <a:r>
              <a:rPr lang="en-GB" dirty="0" smtClean="0"/>
              <a:t> </a:t>
            </a:r>
            <a:r>
              <a:rPr lang="en-GB" dirty="0" err="1" smtClean="0"/>
              <a:t>hyväksymistestejä</a:t>
            </a:r>
            <a:endParaRPr lang="en-GB" dirty="0" smtClean="0"/>
          </a:p>
          <a:p>
            <a:r>
              <a:rPr lang="en-GB" dirty="0" err="1" smtClean="0"/>
              <a:t>Tuotteen</a:t>
            </a:r>
            <a:r>
              <a:rPr lang="en-GB" dirty="0" smtClean="0"/>
              <a:t> </a:t>
            </a:r>
            <a:r>
              <a:rPr lang="en-GB" dirty="0" err="1" smtClean="0"/>
              <a:t>tehtävälistan</a:t>
            </a:r>
            <a:r>
              <a:rPr lang="en-GB" dirty="0" smtClean="0"/>
              <a:t> </a:t>
            </a:r>
            <a:r>
              <a:rPr lang="en-GB" dirty="0" err="1" smtClean="0"/>
              <a:t>alkion</a:t>
            </a:r>
            <a:r>
              <a:rPr lang="en-GB" dirty="0" smtClean="0"/>
              <a:t> </a:t>
            </a:r>
            <a:r>
              <a:rPr lang="en-GB" dirty="0" err="1" smtClean="0"/>
              <a:t>julistaminen</a:t>
            </a:r>
            <a:r>
              <a:rPr lang="en-GB" dirty="0" smtClean="0"/>
              <a:t> </a:t>
            </a:r>
            <a:r>
              <a:rPr lang="en-GB" dirty="0" err="1" smtClean="0"/>
              <a:t>valmiiksi</a:t>
            </a:r>
            <a:r>
              <a:rPr lang="en-GB" dirty="0" smtClean="0"/>
              <a:t> </a:t>
            </a:r>
            <a:r>
              <a:rPr lang="en-GB" dirty="0" err="1" smtClean="0"/>
              <a:t>ennen</a:t>
            </a:r>
            <a:r>
              <a:rPr lang="en-GB" dirty="0" smtClean="0"/>
              <a:t> </a:t>
            </a:r>
            <a:r>
              <a:rPr lang="en-GB" dirty="0" err="1" smtClean="0"/>
              <a:t>testausta</a:t>
            </a:r>
            <a:endParaRPr lang="en-GB" dirty="0" smtClean="0"/>
          </a:p>
          <a:p>
            <a:r>
              <a:rPr lang="en-GB" dirty="0" err="1" smtClean="0"/>
              <a:t>Dokumentoimattomuus</a:t>
            </a:r>
            <a:endParaRPr lang="en-GB" dirty="0" smtClean="0"/>
          </a:p>
          <a:p>
            <a:r>
              <a:rPr lang="en-GB" dirty="0" err="1" smtClean="0"/>
              <a:t>Korjausten</a:t>
            </a:r>
            <a:r>
              <a:rPr lang="en-GB" dirty="0" smtClean="0"/>
              <a:t> </a:t>
            </a:r>
            <a:r>
              <a:rPr lang="en-GB" dirty="0" err="1" smtClean="0"/>
              <a:t>varastoiminen</a:t>
            </a:r>
            <a:r>
              <a:rPr lang="en-GB" dirty="0" smtClean="0"/>
              <a:t> </a:t>
            </a:r>
            <a:r>
              <a:rPr lang="en-GB" dirty="0" err="1" smtClean="0"/>
              <a:t>myöhemmälle</a:t>
            </a:r>
            <a:r>
              <a:rPr lang="en-GB" dirty="0" smtClean="0"/>
              <a:t> </a:t>
            </a:r>
            <a:r>
              <a:rPr lang="en-GB" dirty="0" err="1" smtClean="0"/>
              <a:t>ajalle</a:t>
            </a:r>
            <a:endParaRPr lang="en-GB" dirty="0" smtClean="0"/>
          </a:p>
          <a:p>
            <a:r>
              <a:rPr lang="en-GB" dirty="0" err="1" smtClean="0"/>
              <a:t>Palautteen</a:t>
            </a:r>
            <a:r>
              <a:rPr lang="en-GB" dirty="0" smtClean="0"/>
              <a:t> </a:t>
            </a:r>
            <a:r>
              <a:rPr lang="en-GB" dirty="0" err="1" smtClean="0"/>
              <a:t>viiveen</a:t>
            </a:r>
            <a:r>
              <a:rPr lang="en-GB" dirty="0" smtClean="0"/>
              <a:t> </a:t>
            </a:r>
            <a:r>
              <a:rPr lang="en-GB" dirty="0" err="1" smtClean="0"/>
              <a:t>hyväksyminen</a:t>
            </a:r>
            <a:r>
              <a:rPr lang="en-GB" dirty="0" smtClean="0"/>
              <a:t> </a:t>
            </a:r>
            <a:r>
              <a:rPr lang="en-GB" dirty="0" err="1" smtClean="0"/>
              <a:t>suhteessa</a:t>
            </a:r>
            <a:r>
              <a:rPr lang="en-GB" dirty="0" smtClean="0"/>
              <a:t> </a:t>
            </a:r>
            <a:r>
              <a:rPr lang="en-GB" dirty="0" err="1" smtClean="0"/>
              <a:t>muutokseen</a:t>
            </a:r>
            <a:endParaRPr lang="en-GB" dirty="0" smtClean="0"/>
          </a:p>
          <a:p>
            <a:r>
              <a:rPr lang="en-GB" dirty="0" err="1" smtClean="0"/>
              <a:t>Käsin</a:t>
            </a:r>
            <a:r>
              <a:rPr lang="en-GB" dirty="0" smtClean="0"/>
              <a:t> </a:t>
            </a:r>
            <a:r>
              <a:rPr lang="en-GB" dirty="0" err="1" smtClean="0"/>
              <a:t>tehtävä</a:t>
            </a:r>
            <a:r>
              <a:rPr lang="en-GB" dirty="0" smtClean="0"/>
              <a:t> </a:t>
            </a:r>
            <a:r>
              <a:rPr lang="en-GB" dirty="0" err="1" smtClean="0"/>
              <a:t>regressiotestaus</a:t>
            </a:r>
            <a:endParaRPr lang="en-GB" dirty="0" smtClean="0"/>
          </a:p>
          <a:p>
            <a:r>
              <a:rPr lang="en-GB" dirty="0" err="1" smtClean="0"/>
              <a:t>Liika</a:t>
            </a:r>
            <a:r>
              <a:rPr lang="en-GB" dirty="0" smtClean="0"/>
              <a:t> </a:t>
            </a:r>
            <a:r>
              <a:rPr lang="en-GB" dirty="0" err="1" smtClean="0"/>
              <a:t>painoarvo</a:t>
            </a:r>
            <a:r>
              <a:rPr lang="en-GB" dirty="0" smtClean="0"/>
              <a:t> </a:t>
            </a:r>
            <a:r>
              <a:rPr lang="en-GB" dirty="0" err="1" smtClean="0"/>
              <a:t>automaatiolla</a:t>
            </a:r>
            <a:r>
              <a:rPr lang="en-GB" dirty="0" smtClean="0"/>
              <a:t> </a:t>
            </a:r>
            <a:r>
              <a:rPr lang="en-GB" dirty="0" err="1" smtClean="0"/>
              <a:t>ja</a:t>
            </a:r>
            <a:r>
              <a:rPr lang="en-GB" dirty="0" smtClean="0"/>
              <a:t> </a:t>
            </a:r>
            <a:r>
              <a:rPr lang="en-GB" dirty="0" err="1" smtClean="0"/>
              <a:t>riskipohjaisen</a:t>
            </a:r>
            <a:r>
              <a:rPr lang="en-GB" dirty="0" smtClean="0"/>
              <a:t> </a:t>
            </a:r>
            <a:r>
              <a:rPr lang="en-GB" dirty="0" err="1" smtClean="0"/>
              <a:t>ajattelun</a:t>
            </a:r>
            <a:r>
              <a:rPr lang="en-GB" dirty="0" smtClean="0"/>
              <a:t> </a:t>
            </a:r>
            <a:r>
              <a:rPr lang="en-GB" dirty="0" err="1" smtClean="0"/>
              <a:t>unohtuminen</a:t>
            </a:r>
            <a:endParaRPr lang="en-GB" dirty="0" smtClean="0"/>
          </a:p>
          <a:p>
            <a:r>
              <a:rPr lang="en-GB" dirty="0" err="1" smtClean="0"/>
              <a:t>Testauksen</a:t>
            </a:r>
            <a:r>
              <a:rPr lang="en-GB" dirty="0" smtClean="0"/>
              <a:t> </a:t>
            </a:r>
            <a:r>
              <a:rPr lang="en-GB" dirty="0" err="1" smtClean="0"/>
              <a:t>tiputtaminen</a:t>
            </a:r>
            <a:r>
              <a:rPr lang="en-GB" dirty="0" smtClean="0"/>
              <a:t> </a:t>
            </a:r>
            <a:r>
              <a:rPr lang="en-GB" dirty="0" err="1" smtClean="0"/>
              <a:t>sprinttisuunnittelusta</a:t>
            </a:r>
            <a:endParaRPr lang="en-GB" dirty="0" smtClean="0"/>
          </a:p>
          <a:p>
            <a:r>
              <a:rPr lang="en-GB" dirty="0" err="1" smtClean="0"/>
              <a:t>Testausaktiviteettien</a:t>
            </a:r>
            <a:r>
              <a:rPr lang="en-GB" dirty="0" smtClean="0"/>
              <a:t> </a:t>
            </a:r>
            <a:r>
              <a:rPr lang="en-GB" dirty="0" err="1" smtClean="0"/>
              <a:t>ohjaaminen</a:t>
            </a:r>
            <a:r>
              <a:rPr lang="en-GB" dirty="0" smtClean="0"/>
              <a:t> vain </a:t>
            </a:r>
            <a:r>
              <a:rPr lang="en-GB" dirty="0" err="1" smtClean="0"/>
              <a:t>tiimin</a:t>
            </a:r>
            <a:r>
              <a:rPr lang="en-GB" dirty="0" smtClean="0"/>
              <a:t> </a:t>
            </a:r>
            <a:r>
              <a:rPr lang="en-GB" dirty="0" err="1" smtClean="0"/>
              <a:t>testaajille</a:t>
            </a:r>
            <a:endParaRPr lang="en-GB" dirty="0" smtClean="0"/>
          </a:p>
          <a:p>
            <a:r>
              <a:rPr lang="en-GB" dirty="0" err="1" smtClean="0"/>
              <a:t>Oletus</a:t>
            </a:r>
            <a:r>
              <a:rPr lang="en-GB" dirty="0" smtClean="0"/>
              <a:t> </a:t>
            </a:r>
            <a:r>
              <a:rPr lang="en-GB" dirty="0" err="1" smtClean="0"/>
              <a:t>ettei</a:t>
            </a:r>
            <a:r>
              <a:rPr lang="en-GB" dirty="0" smtClean="0"/>
              <a:t> </a:t>
            </a:r>
            <a:r>
              <a:rPr lang="en-GB" dirty="0" err="1" smtClean="0"/>
              <a:t>erityistä</a:t>
            </a:r>
            <a:r>
              <a:rPr lang="en-GB" dirty="0" smtClean="0"/>
              <a:t> </a:t>
            </a:r>
            <a:r>
              <a:rPr lang="en-GB" dirty="0" err="1" smtClean="0"/>
              <a:t>testaustietotaitoa</a:t>
            </a:r>
            <a:r>
              <a:rPr lang="en-GB" dirty="0" smtClean="0"/>
              <a:t> </a:t>
            </a:r>
            <a:r>
              <a:rPr lang="en-GB" dirty="0" err="1" smtClean="0"/>
              <a:t>tarvita</a:t>
            </a:r>
            <a:endParaRPr lang="en-GB" dirty="0" smtClean="0"/>
          </a:p>
          <a:p>
            <a:r>
              <a:rPr lang="en-GB" dirty="0" err="1" smtClean="0"/>
              <a:t>Testauksen</a:t>
            </a:r>
            <a:r>
              <a:rPr lang="en-GB" dirty="0" smtClean="0"/>
              <a:t> </a:t>
            </a:r>
            <a:r>
              <a:rPr lang="en-GB" dirty="0" err="1" smtClean="0"/>
              <a:t>laajuuden</a:t>
            </a:r>
            <a:r>
              <a:rPr lang="en-GB" dirty="0" smtClean="0"/>
              <a:t> </a:t>
            </a:r>
            <a:r>
              <a:rPr lang="en-GB" dirty="0" err="1" smtClean="0"/>
              <a:t>aliarviointi</a:t>
            </a:r>
            <a:r>
              <a:rPr lang="en-GB" dirty="0" smtClean="0"/>
              <a:t> </a:t>
            </a:r>
            <a:r>
              <a:rPr lang="en-GB" dirty="0" err="1" smtClean="0"/>
              <a:t>olettamalla</a:t>
            </a:r>
            <a:r>
              <a:rPr lang="en-GB" dirty="0" smtClean="0"/>
              <a:t> </a:t>
            </a:r>
            <a:r>
              <a:rPr lang="en-GB" dirty="0" err="1" smtClean="0"/>
              <a:t>että</a:t>
            </a:r>
            <a:r>
              <a:rPr lang="en-GB" dirty="0" smtClean="0"/>
              <a:t> </a:t>
            </a:r>
            <a:r>
              <a:rPr lang="en-GB" dirty="0" err="1" smtClean="0"/>
              <a:t>testaus</a:t>
            </a:r>
            <a:r>
              <a:rPr lang="en-GB" dirty="0" smtClean="0"/>
              <a:t> on vain </a:t>
            </a:r>
            <a:r>
              <a:rPr lang="en-GB" dirty="0" err="1" smtClean="0"/>
              <a:t>vahvistavaa</a:t>
            </a:r>
            <a:r>
              <a:rPr lang="en-GB" dirty="0" smtClean="0"/>
              <a:t> </a:t>
            </a:r>
            <a:r>
              <a:rPr lang="en-GB" dirty="0" err="1" smtClean="0"/>
              <a:t>ja</a:t>
            </a:r>
            <a:r>
              <a:rPr lang="en-GB" dirty="0" smtClean="0"/>
              <a:t> </a:t>
            </a:r>
            <a:r>
              <a:rPr lang="en-GB" dirty="0" err="1" smtClean="0"/>
              <a:t>toiminnallista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27FEF-D545-4365-B34B-7BCF1BC26D65}" type="slidenum">
              <a:rPr lang="sv-SE" smtClean="0"/>
              <a:pPr/>
              <a:t>9</a:t>
            </a:fld>
            <a:endParaRPr lang="sv-SE"/>
          </a:p>
        </p:txBody>
      </p:sp>
      <p:pic>
        <p:nvPicPr>
          <p:cNvPr id="76803" name="Picture 2" descr="C:\Documents and Settings\pyhama\My Documents\My Pictures\Microsoft Clip Organizer\j0078740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72400" y="2971800"/>
            <a:ext cx="1184275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Case: Timeline of Changes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81000" y="3313331"/>
            <a:ext cx="861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62000" y="3237131"/>
            <a:ext cx="228600" cy="2286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Oval 10"/>
          <p:cNvSpPr/>
          <p:nvPr/>
        </p:nvSpPr>
        <p:spPr>
          <a:xfrm>
            <a:off x="8382000" y="3237131"/>
            <a:ext cx="228600" cy="2286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TextBox 11"/>
          <p:cNvSpPr txBox="1"/>
          <p:nvPr/>
        </p:nvSpPr>
        <p:spPr>
          <a:xfrm>
            <a:off x="228600" y="361813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START</a:t>
            </a:r>
            <a:endParaRPr lang="fi-FI" dirty="0"/>
          </a:p>
        </p:txBody>
      </p:sp>
      <p:sp>
        <p:nvSpPr>
          <p:cNvPr id="13" name="TextBox 12"/>
          <p:cNvSpPr txBox="1"/>
          <p:nvPr/>
        </p:nvSpPr>
        <p:spPr>
          <a:xfrm>
            <a:off x="8077200" y="277993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STOP</a:t>
            </a:r>
            <a:endParaRPr lang="fi-FI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209413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No separate system testing team</a:t>
            </a:r>
            <a:endParaRPr lang="fi-FI" dirty="0"/>
          </a:p>
        </p:txBody>
      </p:sp>
      <p:sp>
        <p:nvSpPr>
          <p:cNvPr id="15" name="TextBox 14"/>
          <p:cNvSpPr txBox="1"/>
          <p:nvPr/>
        </p:nvSpPr>
        <p:spPr>
          <a:xfrm>
            <a:off x="304800" y="438013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30 sec effort planning for PBL</a:t>
            </a:r>
            <a:endParaRPr lang="fi-FI" dirty="0"/>
          </a:p>
        </p:txBody>
      </p:sp>
      <p:sp>
        <p:nvSpPr>
          <p:cNvPr id="16" name="TextBox 15"/>
          <p:cNvSpPr txBox="1"/>
          <p:nvPr/>
        </p:nvSpPr>
        <p:spPr>
          <a:xfrm>
            <a:off x="2057400" y="15607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PBL practices</a:t>
            </a:r>
            <a:endParaRPr lang="fi-FI" dirty="0"/>
          </a:p>
        </p:txBody>
      </p:sp>
      <p:sp>
        <p:nvSpPr>
          <p:cNvPr id="17" name="TextBox 16"/>
          <p:cNvSpPr txBox="1"/>
          <p:nvPr/>
        </p:nvSpPr>
        <p:spPr>
          <a:xfrm>
            <a:off x="3429000" y="3541931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Requirement workshops and use cases</a:t>
            </a:r>
            <a:endParaRPr lang="fi-FI" dirty="0"/>
          </a:p>
        </p:txBody>
      </p:sp>
      <p:sp>
        <p:nvSpPr>
          <p:cNvPr id="18" name="TextBox 17"/>
          <p:cNvSpPr txBox="1"/>
          <p:nvPr/>
        </p:nvSpPr>
        <p:spPr>
          <a:xfrm>
            <a:off x="7162800" y="39229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Feature teams</a:t>
            </a:r>
            <a:endParaRPr lang="fi-FI" dirty="0"/>
          </a:p>
        </p:txBody>
      </p:sp>
      <p:sp>
        <p:nvSpPr>
          <p:cNvPr id="19" name="TextBox 18"/>
          <p:cNvSpPr txBox="1"/>
          <p:nvPr/>
        </p:nvSpPr>
        <p:spPr>
          <a:xfrm>
            <a:off x="5410200" y="3694331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Test in SBL:</a:t>
            </a:r>
            <a:br>
              <a:rPr lang="fi-FI" dirty="0" smtClean="0"/>
            </a:br>
            <a:r>
              <a:rPr lang="fi-FI" dirty="0" smtClean="0"/>
              <a:t> time-box vs. estimate</a:t>
            </a:r>
            <a:endParaRPr lang="fi-FI" dirty="0"/>
          </a:p>
        </p:txBody>
      </p:sp>
      <p:sp>
        <p:nvSpPr>
          <p:cNvPr id="20" name="TextBox 19"/>
          <p:cNvSpPr txBox="1"/>
          <p:nvPr/>
        </p:nvSpPr>
        <p:spPr>
          <a:xfrm>
            <a:off x="4267200" y="15607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Commitment</a:t>
            </a:r>
            <a:endParaRPr lang="fi-FI" dirty="0"/>
          </a:p>
        </p:txBody>
      </p:sp>
      <p:sp>
        <p:nvSpPr>
          <p:cNvPr id="21" name="TextBox 20"/>
          <p:cNvSpPr txBox="1"/>
          <p:nvPr/>
        </p:nvSpPr>
        <p:spPr>
          <a:xfrm>
            <a:off x="4419600" y="46849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Risk-driven done</a:t>
            </a:r>
            <a:endParaRPr lang="fi-FI" dirty="0"/>
          </a:p>
        </p:txBody>
      </p:sp>
      <p:sp>
        <p:nvSpPr>
          <p:cNvPr id="22" name="TextBox 21"/>
          <p:cNvSpPr txBox="1"/>
          <p:nvPr/>
        </p:nvSpPr>
        <p:spPr>
          <a:xfrm>
            <a:off x="6477000" y="171313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System test automation</a:t>
            </a:r>
            <a:endParaRPr lang="fi-FI" dirty="0"/>
          </a:p>
        </p:txBody>
      </p:sp>
      <p:sp>
        <p:nvSpPr>
          <p:cNvPr id="23" name="TextBox 22"/>
          <p:cNvSpPr txBox="1"/>
          <p:nvPr/>
        </p:nvSpPr>
        <p:spPr>
          <a:xfrm>
            <a:off x="-152400" y="10668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Continuous integration system</a:t>
            </a:r>
            <a:endParaRPr lang="fi-FI" dirty="0"/>
          </a:p>
        </p:txBody>
      </p:sp>
      <p:sp>
        <p:nvSpPr>
          <p:cNvPr id="24" name="TextBox 23"/>
          <p:cNvSpPr txBox="1"/>
          <p:nvPr/>
        </p:nvSpPr>
        <p:spPr>
          <a:xfrm>
            <a:off x="3124200" y="20179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Quality debt</a:t>
            </a:r>
            <a:endParaRPr lang="fi-FI" dirty="0"/>
          </a:p>
        </p:txBody>
      </p:sp>
      <p:sp>
        <p:nvSpPr>
          <p:cNvPr id="25" name="TextBox 24"/>
          <p:cNvSpPr txBox="1"/>
          <p:nvPr/>
        </p:nvSpPr>
        <p:spPr>
          <a:xfrm>
            <a:off x="1371600" y="392293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No test manager</a:t>
            </a:r>
            <a:endParaRPr lang="fi-FI" dirty="0"/>
          </a:p>
        </p:txBody>
      </p:sp>
      <p:cxnSp>
        <p:nvCxnSpPr>
          <p:cNvPr id="27" name="Straight Arrow Connector 26"/>
          <p:cNvCxnSpPr>
            <a:endCxn id="10" idx="0"/>
          </p:cNvCxnSpPr>
          <p:nvPr/>
        </p:nvCxnSpPr>
        <p:spPr>
          <a:xfrm rot="16200000" flipH="1">
            <a:off x="150089" y="2510920"/>
            <a:ext cx="1447800" cy="46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5" idx="0"/>
          </p:cNvCxnSpPr>
          <p:nvPr/>
        </p:nvCxnSpPr>
        <p:spPr>
          <a:xfrm rot="5400000" flipH="1" flipV="1">
            <a:off x="838200" y="3846731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" idx="2"/>
          </p:cNvCxnSpPr>
          <p:nvPr/>
        </p:nvCxnSpPr>
        <p:spPr>
          <a:xfrm rot="5400000">
            <a:off x="1732866" y="2988796"/>
            <a:ext cx="496669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 flipH="1" flipV="1">
            <a:off x="2133600" y="3618131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6" idx="2"/>
          </p:cNvCxnSpPr>
          <p:nvPr/>
        </p:nvCxnSpPr>
        <p:spPr>
          <a:xfrm rot="5400000">
            <a:off x="2432566" y="2621697"/>
            <a:ext cx="138326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4" idx="2"/>
          </p:cNvCxnSpPr>
          <p:nvPr/>
        </p:nvCxnSpPr>
        <p:spPr>
          <a:xfrm rot="5400000">
            <a:off x="3727966" y="2850297"/>
            <a:ext cx="92606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8" idx="0"/>
          </p:cNvCxnSpPr>
          <p:nvPr/>
        </p:nvCxnSpPr>
        <p:spPr>
          <a:xfrm rot="5400000" flipH="1" flipV="1">
            <a:off x="7924800" y="3618131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2" idx="2"/>
          </p:cNvCxnSpPr>
          <p:nvPr/>
        </p:nvCxnSpPr>
        <p:spPr>
          <a:xfrm rot="5400000">
            <a:off x="7066866" y="2836396"/>
            <a:ext cx="953869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15000" y="232273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Career track planning</a:t>
            </a:r>
            <a:endParaRPr lang="fi-FI" dirty="0"/>
          </a:p>
        </p:txBody>
      </p:sp>
      <p:cxnSp>
        <p:nvCxnSpPr>
          <p:cNvPr id="46" name="Straight Arrow Connector 45"/>
          <p:cNvCxnSpPr>
            <a:stCxn id="44" idx="2"/>
          </p:cNvCxnSpPr>
          <p:nvPr/>
        </p:nvCxnSpPr>
        <p:spPr>
          <a:xfrm rot="5400000">
            <a:off x="6647766" y="3103096"/>
            <a:ext cx="268069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7" idx="0"/>
          </p:cNvCxnSpPr>
          <p:nvPr/>
        </p:nvCxnSpPr>
        <p:spPr>
          <a:xfrm rot="5400000" flipH="1" flipV="1">
            <a:off x="4381500" y="3427631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0" idx="2"/>
          </p:cNvCxnSpPr>
          <p:nvPr/>
        </p:nvCxnSpPr>
        <p:spPr>
          <a:xfrm rot="5400000">
            <a:off x="4642366" y="2621697"/>
            <a:ext cx="138326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1" idx="0"/>
          </p:cNvCxnSpPr>
          <p:nvPr/>
        </p:nvCxnSpPr>
        <p:spPr>
          <a:xfrm rot="5400000" flipH="1" flipV="1">
            <a:off x="4800600" y="3999131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9" idx="0"/>
          </p:cNvCxnSpPr>
          <p:nvPr/>
        </p:nvCxnSpPr>
        <p:spPr>
          <a:xfrm rot="5400000" flipH="1" flipV="1">
            <a:off x="6286500" y="3503831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209800" y="5029200"/>
            <a:ext cx="487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u="sng" dirty="0" smtClean="0"/>
              <a:t>Before START:</a:t>
            </a:r>
          </a:p>
          <a:p>
            <a:pPr>
              <a:buFont typeface="Arial" pitchFamily="34" charset="0"/>
              <a:buChar char="•"/>
            </a:pPr>
            <a:r>
              <a:rPr lang="fi-FI" dirty="0" smtClean="0"/>
              <a:t>Quality reporting</a:t>
            </a:r>
          </a:p>
          <a:p>
            <a:pPr>
              <a:buFont typeface="Arial" pitchFamily="34" charset="0"/>
              <a:buChar char="•"/>
            </a:pPr>
            <a:r>
              <a:rPr lang="fi-FI" dirty="0" smtClean="0"/>
              <a:t>Exploratory testing and high level test specs</a:t>
            </a:r>
          </a:p>
          <a:p>
            <a:pPr>
              <a:buFont typeface="Arial" pitchFamily="34" charset="0"/>
              <a:buChar char="•"/>
            </a:pPr>
            <a:r>
              <a:rPr lang="fi-FI" dirty="0" smtClean="0"/>
              <a:t>Testing as virtual team</a:t>
            </a:r>
          </a:p>
          <a:p>
            <a:pPr>
              <a:buFont typeface="Arial" pitchFamily="34" charset="0"/>
              <a:buChar char="•"/>
            </a:pPr>
            <a:r>
              <a:rPr lang="fi-FI" dirty="0" smtClean="0"/>
              <a:t>Removing specialization in test</a:t>
            </a:r>
          </a:p>
          <a:p>
            <a:pPr>
              <a:buFont typeface="Arial" pitchFamily="34" charset="0"/>
              <a:buChar char="•"/>
            </a:pPr>
            <a:r>
              <a:rPr lang="fi-FI" dirty="0" smtClean="0"/>
              <a:t>Unit testing as functional testing</a:t>
            </a:r>
            <a:endParaRPr lang="fi-FI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Experiences on Pre-Agile Methods Flexible Testing Practices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i-FI" sz="2000" dirty="0" smtClean="0"/>
              <a:t>From traditional projects, with flexible / agile testing:</a:t>
            </a:r>
          </a:p>
          <a:p>
            <a:pPr lvl="1"/>
            <a:r>
              <a:rPr lang="fi-FI" sz="1800" dirty="0" smtClean="0"/>
              <a:t>Testing controlled based on information value, not the list of test cases planned</a:t>
            </a:r>
          </a:p>
          <a:p>
            <a:pPr lvl="1"/>
            <a:r>
              <a:rPr lang="fi-FI" sz="1800" dirty="0" smtClean="0"/>
              <a:t>Attitude towards changes – can you fix bugs?</a:t>
            </a:r>
          </a:p>
          <a:p>
            <a:pPr lvl="1"/>
            <a:r>
              <a:rPr lang="fi-FI" sz="1800" dirty="0" smtClean="0"/>
              <a:t>Tight collaboration for developers and testers</a:t>
            </a:r>
          </a:p>
          <a:p>
            <a:pPr lvl="1"/>
            <a:r>
              <a:rPr lang="fi-FI" sz="1800" dirty="0" smtClean="0"/>
              <a:t>Consulting testing as a valuable source of information</a:t>
            </a:r>
          </a:p>
          <a:p>
            <a:pPr lvl="1"/>
            <a:r>
              <a:rPr lang="fi-FI" sz="1800" dirty="0" smtClean="0"/>
              <a:t>Lighten up the specialization within testing – from component testers to application testers</a:t>
            </a:r>
          </a:p>
          <a:p>
            <a:pPr lvl="1"/>
            <a:r>
              <a:rPr lang="fi-FI" sz="1800" dirty="0" smtClean="0"/>
              <a:t>Continuous software delivery to real customers for trial use to get feedback on quality of testing</a:t>
            </a:r>
          </a:p>
          <a:p>
            <a:pPr lvl="1"/>
            <a:r>
              <a:rPr lang="fi-FI" sz="1800" dirty="0" smtClean="0"/>
              <a:t>Regular integration that happens often</a:t>
            </a:r>
          </a:p>
          <a:p>
            <a:pPr lvl="1"/>
            <a:r>
              <a:rPr lang="fi-FI" sz="1800" dirty="0" smtClean="0"/>
              <a:t>Requirements are for support instead of ”right answers”</a:t>
            </a:r>
          </a:p>
          <a:p>
            <a:pPr lvl="1"/>
            <a:r>
              <a:rPr lang="fi-FI" sz="1800" dirty="0" smtClean="0"/>
              <a:t>From document before doing to document while doing</a:t>
            </a:r>
          </a:p>
          <a:p>
            <a:pPr lvl="1"/>
            <a:r>
              <a:rPr lang="fi-FI" sz="1800" dirty="0" smtClean="0"/>
              <a:t>Addressing quality reporting as a group experience</a:t>
            </a:r>
          </a:p>
          <a:p>
            <a:pPr lvl="1"/>
            <a:r>
              <a:rPr lang="fi-FI" sz="1800" dirty="0" smtClean="0"/>
              <a:t>Module test automation of the piece that causes weird system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More Flexible Testing Practices Post-Agile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From agile projects with agile testing:</a:t>
            </a:r>
          </a:p>
          <a:p>
            <a:pPr lvl="1"/>
            <a:r>
              <a:rPr lang="fi-FI" dirty="0" smtClean="0"/>
              <a:t>Communication of what has been changed and why in daily meetings</a:t>
            </a:r>
          </a:p>
          <a:p>
            <a:pPr lvl="1"/>
            <a:r>
              <a:rPr lang="fi-FI" dirty="0" smtClean="0"/>
              <a:t>Definition of done to include testing to an acceptable risk level</a:t>
            </a:r>
          </a:p>
          <a:p>
            <a:pPr lvl="1"/>
            <a:r>
              <a:rPr lang="fi-FI" dirty="0" smtClean="0"/>
              <a:t>In-team risk-based test management</a:t>
            </a:r>
          </a:p>
          <a:p>
            <a:pPr lvl="1"/>
            <a:r>
              <a:rPr lang="fi-FI" dirty="0" smtClean="0"/>
              <a:t>Product backlog includes a holistic view to value: all testing is included</a:t>
            </a:r>
          </a:p>
          <a:p>
            <a:pPr lvl="1"/>
            <a:r>
              <a:rPr lang="fi-FI" dirty="0" smtClean="0"/>
              <a:t>Quality and technical debt communication and negotiation</a:t>
            </a:r>
          </a:p>
          <a:p>
            <a:pPr lvl="1"/>
            <a:r>
              <a:rPr lang="fi-FI" dirty="0" smtClean="0"/>
              <a:t>Unit test automation</a:t>
            </a:r>
          </a:p>
          <a:p>
            <a:pPr lvl="1"/>
            <a:r>
              <a:rPr lang="fi-FI" dirty="0" smtClean="0"/>
              <a:t>Continuous integration with quality baselining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Ketterä testaus kun organisaatio on tarpeeksi iso</a:t>
            </a:r>
            <a:endParaRPr lang="fi-FI" dirty="0"/>
          </a:p>
        </p:txBody>
      </p:sp>
      <p:sp>
        <p:nvSpPr>
          <p:cNvPr id="5" name="Rectangle 4"/>
          <p:cNvSpPr/>
          <p:nvPr/>
        </p:nvSpPr>
        <p:spPr>
          <a:xfrm>
            <a:off x="11430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" name="Rectangle 5"/>
          <p:cNvSpPr/>
          <p:nvPr/>
        </p:nvSpPr>
        <p:spPr>
          <a:xfrm>
            <a:off x="22098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7" name="Rectangle 6"/>
          <p:cNvSpPr/>
          <p:nvPr/>
        </p:nvSpPr>
        <p:spPr>
          <a:xfrm>
            <a:off x="32766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8" name="Rectangle 7"/>
          <p:cNvSpPr/>
          <p:nvPr/>
        </p:nvSpPr>
        <p:spPr>
          <a:xfrm>
            <a:off x="43434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9" name="Rectangle 8"/>
          <p:cNvSpPr/>
          <p:nvPr/>
        </p:nvSpPr>
        <p:spPr>
          <a:xfrm>
            <a:off x="54102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0" name="Rectangle 9"/>
          <p:cNvSpPr/>
          <p:nvPr/>
        </p:nvSpPr>
        <p:spPr>
          <a:xfrm>
            <a:off x="64770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1" name="Rectangle 10"/>
          <p:cNvSpPr/>
          <p:nvPr/>
        </p:nvSpPr>
        <p:spPr>
          <a:xfrm>
            <a:off x="7543800" y="5410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2" name="Rectangle 11"/>
          <p:cNvSpPr/>
          <p:nvPr/>
        </p:nvSpPr>
        <p:spPr>
          <a:xfrm>
            <a:off x="11430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3" name="Rectangle 12"/>
          <p:cNvSpPr/>
          <p:nvPr/>
        </p:nvSpPr>
        <p:spPr>
          <a:xfrm>
            <a:off x="22098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4" name="Rectangle 13"/>
          <p:cNvSpPr/>
          <p:nvPr/>
        </p:nvSpPr>
        <p:spPr>
          <a:xfrm>
            <a:off x="32766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5" name="Rectangle 14"/>
          <p:cNvSpPr/>
          <p:nvPr/>
        </p:nvSpPr>
        <p:spPr>
          <a:xfrm>
            <a:off x="43434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6" name="Rectangle 15"/>
          <p:cNvSpPr/>
          <p:nvPr/>
        </p:nvSpPr>
        <p:spPr>
          <a:xfrm>
            <a:off x="54102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7" name="Rectangle 16"/>
          <p:cNvSpPr/>
          <p:nvPr/>
        </p:nvSpPr>
        <p:spPr>
          <a:xfrm>
            <a:off x="64770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8" name="Rectangle 17"/>
          <p:cNvSpPr/>
          <p:nvPr/>
        </p:nvSpPr>
        <p:spPr>
          <a:xfrm>
            <a:off x="7543800" y="4648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19" name="Rectangle 18"/>
          <p:cNvSpPr/>
          <p:nvPr/>
        </p:nvSpPr>
        <p:spPr>
          <a:xfrm>
            <a:off x="11430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0" name="Rectangle 19"/>
          <p:cNvSpPr/>
          <p:nvPr/>
        </p:nvSpPr>
        <p:spPr>
          <a:xfrm>
            <a:off x="22098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1" name="Rectangle 20"/>
          <p:cNvSpPr/>
          <p:nvPr/>
        </p:nvSpPr>
        <p:spPr>
          <a:xfrm>
            <a:off x="32766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2" name="Rectangle 21"/>
          <p:cNvSpPr/>
          <p:nvPr/>
        </p:nvSpPr>
        <p:spPr>
          <a:xfrm>
            <a:off x="43434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3" name="Rectangle 22"/>
          <p:cNvSpPr/>
          <p:nvPr/>
        </p:nvSpPr>
        <p:spPr>
          <a:xfrm>
            <a:off x="54102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4" name="Rectangle 23"/>
          <p:cNvSpPr/>
          <p:nvPr/>
        </p:nvSpPr>
        <p:spPr>
          <a:xfrm>
            <a:off x="64770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5" name="Rectangle 24"/>
          <p:cNvSpPr/>
          <p:nvPr/>
        </p:nvSpPr>
        <p:spPr>
          <a:xfrm>
            <a:off x="7543800" y="38862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6" name="Rectangle 25"/>
          <p:cNvSpPr/>
          <p:nvPr/>
        </p:nvSpPr>
        <p:spPr>
          <a:xfrm>
            <a:off x="9906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7" name="Rectangle 26"/>
          <p:cNvSpPr/>
          <p:nvPr/>
        </p:nvSpPr>
        <p:spPr>
          <a:xfrm>
            <a:off x="20574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8" name="Rectangle 27"/>
          <p:cNvSpPr/>
          <p:nvPr/>
        </p:nvSpPr>
        <p:spPr>
          <a:xfrm>
            <a:off x="31242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29" name="Rectangle 28"/>
          <p:cNvSpPr/>
          <p:nvPr/>
        </p:nvSpPr>
        <p:spPr>
          <a:xfrm>
            <a:off x="41910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0" name="Rectangle 29"/>
          <p:cNvSpPr/>
          <p:nvPr/>
        </p:nvSpPr>
        <p:spPr>
          <a:xfrm>
            <a:off x="52578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1" name="Rectangle 30"/>
          <p:cNvSpPr/>
          <p:nvPr/>
        </p:nvSpPr>
        <p:spPr>
          <a:xfrm>
            <a:off x="63246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2" name="Rectangle 31"/>
          <p:cNvSpPr/>
          <p:nvPr/>
        </p:nvSpPr>
        <p:spPr>
          <a:xfrm>
            <a:off x="7391400" y="5562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3" name="Rectangle 32"/>
          <p:cNvSpPr/>
          <p:nvPr/>
        </p:nvSpPr>
        <p:spPr>
          <a:xfrm>
            <a:off x="9906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4" name="Rectangle 33"/>
          <p:cNvSpPr/>
          <p:nvPr/>
        </p:nvSpPr>
        <p:spPr>
          <a:xfrm>
            <a:off x="20574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5" name="Rectangle 34"/>
          <p:cNvSpPr/>
          <p:nvPr/>
        </p:nvSpPr>
        <p:spPr>
          <a:xfrm>
            <a:off x="31242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6" name="Rectangle 35"/>
          <p:cNvSpPr/>
          <p:nvPr/>
        </p:nvSpPr>
        <p:spPr>
          <a:xfrm>
            <a:off x="41910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7" name="Rectangle 36"/>
          <p:cNvSpPr/>
          <p:nvPr/>
        </p:nvSpPr>
        <p:spPr>
          <a:xfrm>
            <a:off x="52578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8" name="Rectangle 37"/>
          <p:cNvSpPr/>
          <p:nvPr/>
        </p:nvSpPr>
        <p:spPr>
          <a:xfrm>
            <a:off x="63246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39" name="Rectangle 38"/>
          <p:cNvSpPr/>
          <p:nvPr/>
        </p:nvSpPr>
        <p:spPr>
          <a:xfrm>
            <a:off x="7391400" y="4800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0" name="Rectangle 39"/>
          <p:cNvSpPr/>
          <p:nvPr/>
        </p:nvSpPr>
        <p:spPr>
          <a:xfrm>
            <a:off x="9906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1" name="Rectangle 40"/>
          <p:cNvSpPr/>
          <p:nvPr/>
        </p:nvSpPr>
        <p:spPr>
          <a:xfrm>
            <a:off x="20574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2" name="Rectangle 41"/>
          <p:cNvSpPr/>
          <p:nvPr/>
        </p:nvSpPr>
        <p:spPr>
          <a:xfrm>
            <a:off x="31242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3" name="Rectangle 42"/>
          <p:cNvSpPr/>
          <p:nvPr/>
        </p:nvSpPr>
        <p:spPr>
          <a:xfrm>
            <a:off x="41910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4" name="Rectangle 43"/>
          <p:cNvSpPr/>
          <p:nvPr/>
        </p:nvSpPr>
        <p:spPr>
          <a:xfrm>
            <a:off x="52578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5" name="Rectangle 44"/>
          <p:cNvSpPr/>
          <p:nvPr/>
        </p:nvSpPr>
        <p:spPr>
          <a:xfrm>
            <a:off x="63246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6" name="Rectangle 45"/>
          <p:cNvSpPr/>
          <p:nvPr/>
        </p:nvSpPr>
        <p:spPr>
          <a:xfrm>
            <a:off x="7391400" y="40386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7" name="Rectangle 46"/>
          <p:cNvSpPr/>
          <p:nvPr/>
        </p:nvSpPr>
        <p:spPr>
          <a:xfrm>
            <a:off x="8382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8" name="Rectangle 47"/>
          <p:cNvSpPr/>
          <p:nvPr/>
        </p:nvSpPr>
        <p:spPr>
          <a:xfrm>
            <a:off x="19050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49" name="Rectangle 48"/>
          <p:cNvSpPr/>
          <p:nvPr/>
        </p:nvSpPr>
        <p:spPr>
          <a:xfrm>
            <a:off x="29718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0" name="Rectangle 49"/>
          <p:cNvSpPr/>
          <p:nvPr/>
        </p:nvSpPr>
        <p:spPr>
          <a:xfrm>
            <a:off x="40386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1" name="Rectangle 50"/>
          <p:cNvSpPr/>
          <p:nvPr/>
        </p:nvSpPr>
        <p:spPr>
          <a:xfrm>
            <a:off x="51054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2" name="Rectangle 51"/>
          <p:cNvSpPr/>
          <p:nvPr/>
        </p:nvSpPr>
        <p:spPr>
          <a:xfrm>
            <a:off x="61722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3" name="Rectangle 52"/>
          <p:cNvSpPr/>
          <p:nvPr/>
        </p:nvSpPr>
        <p:spPr>
          <a:xfrm>
            <a:off x="7239000" y="5715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4" name="Rectangle 53"/>
          <p:cNvSpPr/>
          <p:nvPr/>
        </p:nvSpPr>
        <p:spPr>
          <a:xfrm>
            <a:off x="8382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5" name="Rectangle 54"/>
          <p:cNvSpPr/>
          <p:nvPr/>
        </p:nvSpPr>
        <p:spPr>
          <a:xfrm>
            <a:off x="19050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6" name="Rectangle 55"/>
          <p:cNvSpPr/>
          <p:nvPr/>
        </p:nvSpPr>
        <p:spPr>
          <a:xfrm>
            <a:off x="29718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7" name="Rectangle 56"/>
          <p:cNvSpPr/>
          <p:nvPr/>
        </p:nvSpPr>
        <p:spPr>
          <a:xfrm>
            <a:off x="40386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8" name="Rectangle 57"/>
          <p:cNvSpPr/>
          <p:nvPr/>
        </p:nvSpPr>
        <p:spPr>
          <a:xfrm>
            <a:off x="51054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59" name="Rectangle 58"/>
          <p:cNvSpPr/>
          <p:nvPr/>
        </p:nvSpPr>
        <p:spPr>
          <a:xfrm>
            <a:off x="61722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0" name="Rectangle 59"/>
          <p:cNvSpPr/>
          <p:nvPr/>
        </p:nvSpPr>
        <p:spPr>
          <a:xfrm>
            <a:off x="7239000" y="4953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1" name="Rectangle 60"/>
          <p:cNvSpPr/>
          <p:nvPr/>
        </p:nvSpPr>
        <p:spPr>
          <a:xfrm>
            <a:off x="8382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2" name="Rectangle 61"/>
          <p:cNvSpPr/>
          <p:nvPr/>
        </p:nvSpPr>
        <p:spPr>
          <a:xfrm>
            <a:off x="19050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3" name="Rectangle 62"/>
          <p:cNvSpPr/>
          <p:nvPr/>
        </p:nvSpPr>
        <p:spPr>
          <a:xfrm>
            <a:off x="29718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4" name="Rectangle 63"/>
          <p:cNvSpPr/>
          <p:nvPr/>
        </p:nvSpPr>
        <p:spPr>
          <a:xfrm>
            <a:off x="40386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5" name="Rectangle 64"/>
          <p:cNvSpPr/>
          <p:nvPr/>
        </p:nvSpPr>
        <p:spPr>
          <a:xfrm>
            <a:off x="51054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6" name="Rectangle 65"/>
          <p:cNvSpPr/>
          <p:nvPr/>
        </p:nvSpPr>
        <p:spPr>
          <a:xfrm>
            <a:off x="61722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7" name="Rectangle 66"/>
          <p:cNvSpPr/>
          <p:nvPr/>
        </p:nvSpPr>
        <p:spPr>
          <a:xfrm>
            <a:off x="7239000" y="41910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team</a:t>
            </a:r>
            <a:endParaRPr lang="fi-FI" dirty="0"/>
          </a:p>
        </p:txBody>
      </p:sp>
      <p:sp>
        <p:nvSpPr>
          <p:cNvPr id="68" name="Rectangle 67"/>
          <p:cNvSpPr/>
          <p:nvPr/>
        </p:nvSpPr>
        <p:spPr>
          <a:xfrm>
            <a:off x="6858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69" name="Rectangle 68"/>
          <p:cNvSpPr/>
          <p:nvPr/>
        </p:nvSpPr>
        <p:spPr>
          <a:xfrm>
            <a:off x="17526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0" name="Rectangle 69"/>
          <p:cNvSpPr/>
          <p:nvPr/>
        </p:nvSpPr>
        <p:spPr>
          <a:xfrm>
            <a:off x="28194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1" name="Rectangle 70"/>
          <p:cNvSpPr/>
          <p:nvPr/>
        </p:nvSpPr>
        <p:spPr>
          <a:xfrm>
            <a:off x="38862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2" name="Rectangle 71"/>
          <p:cNvSpPr/>
          <p:nvPr/>
        </p:nvSpPr>
        <p:spPr>
          <a:xfrm>
            <a:off x="49530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3" name="Rectangle 72"/>
          <p:cNvSpPr/>
          <p:nvPr/>
        </p:nvSpPr>
        <p:spPr>
          <a:xfrm>
            <a:off x="60198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4" name="Rectangle 73"/>
          <p:cNvSpPr/>
          <p:nvPr/>
        </p:nvSpPr>
        <p:spPr>
          <a:xfrm>
            <a:off x="7086600" y="5867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5" name="Rectangle 74"/>
          <p:cNvSpPr/>
          <p:nvPr/>
        </p:nvSpPr>
        <p:spPr>
          <a:xfrm>
            <a:off x="6858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6" name="Rectangle 75"/>
          <p:cNvSpPr/>
          <p:nvPr/>
        </p:nvSpPr>
        <p:spPr>
          <a:xfrm>
            <a:off x="17526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7" name="Rectangle 76"/>
          <p:cNvSpPr/>
          <p:nvPr/>
        </p:nvSpPr>
        <p:spPr>
          <a:xfrm>
            <a:off x="28194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8" name="Rectangle 77"/>
          <p:cNvSpPr/>
          <p:nvPr/>
        </p:nvSpPr>
        <p:spPr>
          <a:xfrm>
            <a:off x="38862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79" name="Rectangle 78"/>
          <p:cNvSpPr/>
          <p:nvPr/>
        </p:nvSpPr>
        <p:spPr>
          <a:xfrm>
            <a:off x="49530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0" name="Rectangle 79"/>
          <p:cNvSpPr/>
          <p:nvPr/>
        </p:nvSpPr>
        <p:spPr>
          <a:xfrm>
            <a:off x="60198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1" name="Rectangle 80"/>
          <p:cNvSpPr/>
          <p:nvPr/>
        </p:nvSpPr>
        <p:spPr>
          <a:xfrm>
            <a:off x="7086600" y="5105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2" name="Rectangle 81"/>
          <p:cNvSpPr/>
          <p:nvPr/>
        </p:nvSpPr>
        <p:spPr>
          <a:xfrm>
            <a:off x="6858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3" name="Rectangle 82"/>
          <p:cNvSpPr/>
          <p:nvPr/>
        </p:nvSpPr>
        <p:spPr>
          <a:xfrm>
            <a:off x="17526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4" name="Rectangle 83"/>
          <p:cNvSpPr/>
          <p:nvPr/>
        </p:nvSpPr>
        <p:spPr>
          <a:xfrm>
            <a:off x="28194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5" name="Rectangle 84"/>
          <p:cNvSpPr/>
          <p:nvPr/>
        </p:nvSpPr>
        <p:spPr>
          <a:xfrm>
            <a:off x="38862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6" name="Rectangle 85"/>
          <p:cNvSpPr/>
          <p:nvPr/>
        </p:nvSpPr>
        <p:spPr>
          <a:xfrm>
            <a:off x="49530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7" name="Rectangle 86"/>
          <p:cNvSpPr/>
          <p:nvPr/>
        </p:nvSpPr>
        <p:spPr>
          <a:xfrm>
            <a:off x="60198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8" name="Rectangle 87"/>
          <p:cNvSpPr/>
          <p:nvPr/>
        </p:nvSpPr>
        <p:spPr>
          <a:xfrm>
            <a:off x="7086600" y="4343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Scrum tiimi</a:t>
            </a:r>
            <a:endParaRPr lang="fi-FI" dirty="0"/>
          </a:p>
        </p:txBody>
      </p:sp>
      <p:sp>
        <p:nvSpPr>
          <p:cNvPr id="89" name="Cloud 88"/>
          <p:cNvSpPr/>
          <p:nvPr/>
        </p:nvSpPr>
        <p:spPr>
          <a:xfrm>
            <a:off x="2286000" y="1752600"/>
            <a:ext cx="4343400" cy="12954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Järjestelmätestaus</a:t>
            </a:r>
            <a:endParaRPr lang="fi-FI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228600" y="18288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Eri käyttöjärjestelmät</a:t>
            </a:r>
            <a:endParaRPr lang="fi-FI" dirty="0"/>
          </a:p>
        </p:txBody>
      </p:sp>
      <p:sp>
        <p:nvSpPr>
          <p:cNvPr id="91" name="TextBox 90"/>
          <p:cNvSpPr txBox="1"/>
          <p:nvPr/>
        </p:nvSpPr>
        <p:spPr>
          <a:xfrm>
            <a:off x="152400" y="2362200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Yhteensopivuus kolmannen osapuolen kilkkeisiin</a:t>
            </a:r>
            <a:endParaRPr lang="fi-FI" dirty="0"/>
          </a:p>
        </p:txBody>
      </p:sp>
      <p:sp>
        <p:nvSpPr>
          <p:cNvPr id="92" name="TextBox 91"/>
          <p:cNvSpPr txBox="1"/>
          <p:nvPr/>
        </p:nvSpPr>
        <p:spPr>
          <a:xfrm>
            <a:off x="6858000" y="1371600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Järjestelmän ei-toiminnalliset ominaisuudet</a:t>
            </a:r>
            <a:endParaRPr lang="fi-FI" dirty="0"/>
          </a:p>
        </p:txBody>
      </p:sp>
      <p:sp>
        <p:nvSpPr>
          <p:cNvPr id="93" name="TextBox 92"/>
          <p:cNvSpPr txBox="1"/>
          <p:nvPr/>
        </p:nvSpPr>
        <p:spPr>
          <a:xfrm>
            <a:off x="6629400" y="242947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Lokalisoinnit</a:t>
            </a:r>
            <a:endParaRPr lang="fi-FI" dirty="0"/>
          </a:p>
        </p:txBody>
      </p:sp>
      <p:sp>
        <p:nvSpPr>
          <p:cNvPr id="94" name="TextBox 93"/>
          <p:cNvSpPr txBox="1"/>
          <p:nvPr/>
        </p:nvSpPr>
        <p:spPr>
          <a:xfrm>
            <a:off x="5410200" y="29718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Useiden tuotteiden paketointi</a:t>
            </a:r>
            <a:endParaRPr lang="fi-FI" dirty="0"/>
          </a:p>
        </p:txBody>
      </p:sp>
      <p:sp>
        <p:nvSpPr>
          <p:cNvPr id="95" name="TextBox 94"/>
          <p:cNvSpPr txBox="1"/>
          <p:nvPr/>
        </p:nvSpPr>
        <p:spPr>
          <a:xfrm>
            <a:off x="1447800" y="29718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Tuotteen sertifiointi</a:t>
            </a:r>
            <a:endParaRPr lang="fi-FI" dirty="0"/>
          </a:p>
        </p:txBody>
      </p:sp>
      <p:sp>
        <p:nvSpPr>
          <p:cNvPr id="96" name="TextBox 95"/>
          <p:cNvSpPr txBox="1"/>
          <p:nvPr/>
        </p:nvSpPr>
        <p:spPr>
          <a:xfrm>
            <a:off x="3200400" y="3087469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Monimutkaiset laitteistot testilabrassa</a:t>
            </a:r>
            <a:endParaRPr lang="fi-FI" dirty="0"/>
          </a:p>
        </p:txBody>
      </p:sp>
      <p:sp>
        <p:nvSpPr>
          <p:cNvPr id="97" name="TextBox 96"/>
          <p:cNvSpPr txBox="1"/>
          <p:nvPr/>
        </p:nvSpPr>
        <p:spPr>
          <a:xfrm>
            <a:off x="1524000" y="12192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Päästä päähän -toiminnallisuus</a:t>
            </a:r>
            <a:endParaRPr lang="fi-FI" dirty="0"/>
          </a:p>
        </p:txBody>
      </p:sp>
      <p:sp>
        <p:nvSpPr>
          <p:cNvPr id="98" name="Slide Number Placeholder 9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Ketterä testaus kun organisaatio on tarpeeksi iso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Liiankin usein tiimit tyytyvät siihen että ”emme voi olla vastuussa järjestelmästä”</a:t>
            </a:r>
          </a:p>
          <a:p>
            <a:pPr lvl="1"/>
            <a:r>
              <a:rPr lang="fi-FI" dirty="0" smtClean="0"/>
              <a:t>Suositaan ”komponentteja” jättäen laatuvelkaa: tuntematonta laatua kokonaisuuden näkökulmassa</a:t>
            </a:r>
          </a:p>
          <a:p>
            <a:r>
              <a:rPr lang="fi-FI" dirty="0" smtClean="0"/>
              <a:t>Ei ole mahdollista että kaikki tiimit tekevät kaikenlaista testausta</a:t>
            </a:r>
          </a:p>
          <a:p>
            <a:pPr lvl="1"/>
            <a:r>
              <a:rPr lang="fi-FI" dirty="0" smtClean="0"/>
              <a:t>Automaatio auttaa vain tiettyyn pisteeseen...</a:t>
            </a:r>
          </a:p>
          <a:p>
            <a:pPr lvl="1"/>
            <a:r>
              <a:rPr lang="fi-FI" dirty="0" smtClean="0"/>
              <a:t>Vähäisestä automaatiosta riittävään ei tapahtu hetkessä</a:t>
            </a:r>
          </a:p>
          <a:p>
            <a:pPr lvl="1"/>
            <a:r>
              <a:rPr lang="fi-FI" dirty="0" smtClean="0"/>
              <a:t>Fyysisiä rajoitteita, kuten laitteiston saatavuus tiimeille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0" y="5689937"/>
            <a:ext cx="5486400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sz="2000" dirty="0" smtClean="0"/>
              <a:t>Myös suuret asiat rakennetaan paloina. Paloittelustrategian osalta voidaan tehdä monenlaisia valintoja. </a:t>
            </a:r>
            <a:endParaRPr lang="fi-FI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i-FI" sz="3200" dirty="0" smtClean="0"/>
              <a:t>Miten ison järjestelmän testauksen näkökulmat voi saada scrum-tiimin vastuulle?</a:t>
            </a:r>
            <a:endParaRPr lang="fi-FI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Perinteisellä toteutusmallilla kahdeksan V-mallin testaustasoa eritasoisia integraatioita sisältäen</a:t>
            </a:r>
          </a:p>
          <a:p>
            <a:r>
              <a:rPr lang="fi-FI" dirty="0" smtClean="0"/>
              <a:t>Tiimien ominaisuuksia:</a:t>
            </a:r>
          </a:p>
          <a:p>
            <a:pPr lvl="1"/>
            <a:r>
              <a:rPr lang="fi-FI" dirty="0" smtClean="0"/>
              <a:t>Monitoimintotiimit (cross-functional): kaikenlainen tarvittava osaaminen tiimin sisällä tiimin olemassaolon laajuuteen. </a:t>
            </a:r>
          </a:p>
          <a:p>
            <a:pPr lvl="1"/>
            <a:r>
              <a:rPr lang="fi-FI" dirty="0" smtClean="0"/>
              <a:t>Ominaisuustiimit (feature): Tiimin  olemassaolon laajuuteen kuuluu järjestelmän asiakkaalle näkyvien kokonaisputkien toteuttaminen</a:t>
            </a:r>
          </a:p>
          <a:p>
            <a:pPr lvl="1"/>
            <a:r>
              <a:rPr lang="fi-FI" i="1" dirty="0" smtClean="0"/>
              <a:t>Voi olla cross-functional component team tai non-cross-functional feature team</a:t>
            </a:r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Odotukset</a:t>
            </a:r>
            <a:r>
              <a:rPr lang="en-GB" dirty="0" smtClean="0"/>
              <a:t> </a:t>
            </a:r>
            <a:r>
              <a:rPr lang="en-GB" dirty="0" err="1" smtClean="0"/>
              <a:t>kehittäjän</a:t>
            </a:r>
            <a:r>
              <a:rPr lang="en-GB" dirty="0" smtClean="0"/>
              <a:t> vs. </a:t>
            </a:r>
            <a:r>
              <a:rPr lang="en-GB" dirty="0" err="1" smtClean="0"/>
              <a:t>Testaajan</a:t>
            </a:r>
            <a:r>
              <a:rPr lang="en-GB" dirty="0" smtClean="0"/>
              <a:t> </a:t>
            </a:r>
            <a:r>
              <a:rPr lang="en-GB" dirty="0" err="1" smtClean="0"/>
              <a:t>laajuudelle</a:t>
            </a:r>
            <a:r>
              <a:rPr lang="en-GB" dirty="0" smtClean="0"/>
              <a:t> </a:t>
            </a:r>
            <a:r>
              <a:rPr lang="en-GB" dirty="0" err="1" smtClean="0"/>
              <a:t>vaihtelevat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>Kun </a:t>
            </a:r>
            <a:r>
              <a:rPr lang="en-GB" sz="2400" dirty="0" err="1" smtClean="0"/>
              <a:t>testaajat</a:t>
            </a:r>
            <a:r>
              <a:rPr lang="en-GB" sz="2400" dirty="0" smtClean="0"/>
              <a:t> </a:t>
            </a:r>
            <a:r>
              <a:rPr lang="en-GB" sz="2400" dirty="0" err="1" smtClean="0"/>
              <a:t>ajattelevat</a:t>
            </a:r>
            <a:r>
              <a:rPr lang="en-GB" sz="2400" dirty="0" smtClean="0"/>
              <a:t> </a:t>
            </a:r>
            <a:r>
              <a:rPr lang="en-GB" sz="2400" dirty="0" err="1" smtClean="0"/>
              <a:t>järjestelmän</a:t>
            </a:r>
            <a:r>
              <a:rPr lang="en-GB" sz="2400" dirty="0" smtClean="0"/>
              <a:t> </a:t>
            </a:r>
            <a:r>
              <a:rPr lang="en-GB" sz="2400" dirty="0" err="1" smtClean="0"/>
              <a:t>kautta</a:t>
            </a:r>
            <a:r>
              <a:rPr lang="en-GB" sz="2400" dirty="0" smtClean="0"/>
              <a:t> </a:t>
            </a:r>
            <a:r>
              <a:rPr lang="en-GB" sz="2400" dirty="0" err="1" smtClean="0"/>
              <a:t>ja</a:t>
            </a:r>
            <a:r>
              <a:rPr lang="en-GB" sz="2400" dirty="0" smtClean="0"/>
              <a:t> </a:t>
            </a:r>
            <a:r>
              <a:rPr lang="en-GB" sz="2400" dirty="0" err="1" smtClean="0"/>
              <a:t>kehittäjän</a:t>
            </a:r>
            <a:r>
              <a:rPr lang="en-GB" sz="2400" dirty="0" smtClean="0"/>
              <a:t> </a:t>
            </a:r>
            <a:r>
              <a:rPr lang="en-GB" sz="2400" dirty="0" err="1" smtClean="0"/>
              <a:t>komponenttiensa</a:t>
            </a:r>
            <a:r>
              <a:rPr lang="en-GB" sz="2400" dirty="0" smtClean="0"/>
              <a:t> </a:t>
            </a:r>
            <a:r>
              <a:rPr lang="en-GB" sz="2400" dirty="0" err="1" smtClean="0"/>
              <a:t>kautta</a:t>
            </a:r>
            <a:r>
              <a:rPr lang="en-GB" sz="2400" dirty="0" smtClean="0"/>
              <a:t>, </a:t>
            </a:r>
            <a:r>
              <a:rPr lang="en-GB" sz="2400" dirty="0" err="1" smtClean="0"/>
              <a:t>saadaan</a:t>
            </a:r>
            <a:r>
              <a:rPr lang="en-GB" sz="2400" dirty="0" smtClean="0"/>
              <a:t> </a:t>
            </a:r>
            <a:r>
              <a:rPr lang="en-GB" sz="2400" dirty="0" err="1" smtClean="0"/>
              <a:t>aikaan</a:t>
            </a:r>
            <a:r>
              <a:rPr lang="en-GB" sz="2400" dirty="0" smtClean="0"/>
              <a:t> </a:t>
            </a:r>
            <a:r>
              <a:rPr lang="en-GB" sz="2400" dirty="0" err="1" smtClean="0"/>
              <a:t>tavoitteiden</a:t>
            </a:r>
            <a:r>
              <a:rPr lang="en-GB" sz="2400" dirty="0" smtClean="0"/>
              <a:t> </a:t>
            </a:r>
            <a:r>
              <a:rPr lang="en-GB" sz="2400" dirty="0" err="1" smtClean="0"/>
              <a:t>eriytyminen</a:t>
            </a:r>
            <a:endParaRPr lang="en-GB" sz="2400" dirty="0" smtClean="0"/>
          </a:p>
          <a:p>
            <a:pPr lvl="1"/>
            <a:r>
              <a:rPr lang="en-GB" sz="2000" dirty="0" err="1" smtClean="0"/>
              <a:t>Kaksi</a:t>
            </a:r>
            <a:r>
              <a:rPr lang="en-GB" sz="2000" dirty="0" smtClean="0"/>
              <a:t> </a:t>
            </a:r>
            <a:r>
              <a:rPr lang="en-GB" sz="2000" dirty="0" err="1" smtClean="0"/>
              <a:t>ryhmää</a:t>
            </a:r>
            <a:r>
              <a:rPr lang="en-GB" sz="2000" dirty="0" smtClean="0"/>
              <a:t> </a:t>
            </a:r>
            <a:r>
              <a:rPr lang="en-GB" sz="2000" dirty="0" err="1" smtClean="0"/>
              <a:t>tiimin</a:t>
            </a:r>
            <a:r>
              <a:rPr lang="en-GB" sz="2000" dirty="0" smtClean="0"/>
              <a:t> </a:t>
            </a:r>
            <a:r>
              <a:rPr lang="en-GB" sz="2000" dirty="0" err="1" smtClean="0"/>
              <a:t>sisällä</a:t>
            </a:r>
            <a:endParaRPr lang="en-GB" sz="2000" dirty="0" smtClean="0"/>
          </a:p>
          <a:p>
            <a:r>
              <a:rPr lang="en-GB" sz="2400" dirty="0" err="1" smtClean="0"/>
              <a:t>Siirtymävaiheessa</a:t>
            </a:r>
            <a:r>
              <a:rPr lang="en-GB" sz="2400" dirty="0" smtClean="0"/>
              <a:t> </a:t>
            </a:r>
            <a:r>
              <a:rPr lang="en-GB" sz="2400" dirty="0" err="1" smtClean="0"/>
              <a:t>tunnistimme</a:t>
            </a:r>
            <a:r>
              <a:rPr lang="en-GB" sz="2400" dirty="0" smtClean="0"/>
              <a:t> </a:t>
            </a:r>
            <a:r>
              <a:rPr lang="en-GB" sz="2400" dirty="0" err="1" smtClean="0"/>
              <a:t>neljä</a:t>
            </a:r>
            <a:r>
              <a:rPr lang="en-GB" sz="2400" dirty="0" smtClean="0"/>
              <a:t> </a:t>
            </a:r>
            <a:r>
              <a:rPr lang="en-GB" sz="2400" dirty="0" err="1" smtClean="0"/>
              <a:t>aktiviteettiluokkaa</a:t>
            </a:r>
            <a:r>
              <a:rPr lang="en-GB" sz="2400" dirty="0" smtClean="0"/>
              <a:t> </a:t>
            </a:r>
            <a:r>
              <a:rPr lang="en-GB" sz="2400" dirty="0" err="1" smtClean="0"/>
              <a:t>joita</a:t>
            </a:r>
            <a:r>
              <a:rPr lang="en-GB" sz="2400" dirty="0" smtClean="0"/>
              <a:t> </a:t>
            </a:r>
            <a:r>
              <a:rPr lang="en-GB" sz="2400" dirty="0" err="1" smtClean="0"/>
              <a:t>testaajilta</a:t>
            </a:r>
            <a:r>
              <a:rPr lang="en-GB" sz="2400" dirty="0" smtClean="0"/>
              <a:t> </a:t>
            </a:r>
            <a:r>
              <a:rPr lang="en-GB" sz="2400" dirty="0" err="1" smtClean="0"/>
              <a:t>odotettiin</a:t>
            </a:r>
            <a:endParaRPr lang="en-GB" sz="2400" dirty="0" smtClean="0"/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smtClean="0"/>
              <a:t>Oman </a:t>
            </a:r>
            <a:r>
              <a:rPr lang="en-GB" sz="2000" dirty="0" err="1" smtClean="0"/>
              <a:t>tiimin</a:t>
            </a:r>
            <a:r>
              <a:rPr lang="en-GB" sz="2000" dirty="0" smtClean="0"/>
              <a:t> </a:t>
            </a:r>
            <a:r>
              <a:rPr lang="en-GB" sz="2000" dirty="0" err="1" smtClean="0"/>
              <a:t>kehittäjien</a:t>
            </a:r>
            <a:r>
              <a:rPr lang="en-GB" sz="2000" dirty="0" smtClean="0"/>
              <a:t> </a:t>
            </a:r>
            <a:r>
              <a:rPr lang="en-GB" sz="2000" dirty="0" err="1" smtClean="0"/>
              <a:t>komponenttien</a:t>
            </a:r>
            <a:r>
              <a:rPr lang="en-GB" sz="2000" dirty="0" smtClean="0"/>
              <a:t> </a:t>
            </a:r>
            <a:r>
              <a:rPr lang="en-GB" sz="2000" dirty="0" err="1" smtClean="0"/>
              <a:t>testaus</a:t>
            </a:r>
            <a:endParaRPr lang="en-GB" sz="2000" dirty="0" smtClean="0"/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err="1" smtClean="0"/>
              <a:t>Ulkoisten</a:t>
            </a:r>
            <a:r>
              <a:rPr lang="en-GB" sz="2000" dirty="0" smtClean="0"/>
              <a:t> </a:t>
            </a:r>
            <a:r>
              <a:rPr lang="en-GB" sz="2000" dirty="0" err="1" smtClean="0"/>
              <a:t>tiimien</a:t>
            </a:r>
            <a:r>
              <a:rPr lang="en-GB" sz="2000" dirty="0" smtClean="0"/>
              <a:t> </a:t>
            </a:r>
            <a:r>
              <a:rPr lang="en-GB" sz="2000" dirty="0" err="1" smtClean="0"/>
              <a:t>komponenttien</a:t>
            </a:r>
            <a:r>
              <a:rPr lang="en-GB" sz="2000" dirty="0" smtClean="0"/>
              <a:t> </a:t>
            </a:r>
            <a:r>
              <a:rPr lang="en-GB" sz="2000" dirty="0" err="1" smtClean="0"/>
              <a:t>vastaanottotestaus</a:t>
            </a:r>
            <a:endParaRPr lang="en-GB" sz="2000" dirty="0" smtClean="0"/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err="1" smtClean="0"/>
              <a:t>Uuden</a:t>
            </a:r>
            <a:r>
              <a:rPr lang="en-GB" sz="2000" dirty="0" smtClean="0"/>
              <a:t> </a:t>
            </a:r>
            <a:r>
              <a:rPr lang="en-GB" sz="2000" dirty="0" err="1" smtClean="0"/>
              <a:t>teknologian</a:t>
            </a:r>
            <a:r>
              <a:rPr lang="en-GB" sz="2000" dirty="0" smtClean="0"/>
              <a:t> </a:t>
            </a:r>
            <a:r>
              <a:rPr lang="en-GB" sz="2000" dirty="0" err="1" smtClean="0"/>
              <a:t>tuomisen</a:t>
            </a:r>
            <a:r>
              <a:rPr lang="en-GB" sz="2000" dirty="0" smtClean="0"/>
              <a:t> </a:t>
            </a:r>
            <a:r>
              <a:rPr lang="en-GB" sz="2000" dirty="0" err="1" smtClean="0"/>
              <a:t>testausvalmistelut</a:t>
            </a:r>
            <a:endParaRPr lang="en-GB" sz="2000" dirty="0" smtClean="0"/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err="1" smtClean="0"/>
              <a:t>Tuotelinjatestaus</a:t>
            </a:r>
            <a:r>
              <a:rPr lang="en-GB" sz="2000" dirty="0" smtClean="0"/>
              <a:t> </a:t>
            </a:r>
            <a:r>
              <a:rPr lang="en-GB" sz="2000" dirty="0" err="1" smtClean="0"/>
              <a:t>useille</a:t>
            </a:r>
            <a:r>
              <a:rPr lang="en-GB" sz="2000" dirty="0" smtClean="0"/>
              <a:t> </a:t>
            </a:r>
            <a:r>
              <a:rPr lang="en-GB" sz="2000" dirty="0" err="1" smtClean="0"/>
              <a:t>eri</a:t>
            </a:r>
            <a:r>
              <a:rPr lang="en-GB" sz="2000" dirty="0" smtClean="0"/>
              <a:t> </a:t>
            </a:r>
            <a:r>
              <a:rPr lang="en-GB" sz="2000" dirty="0" err="1" smtClean="0"/>
              <a:t>järjestelmille</a:t>
            </a:r>
            <a:r>
              <a:rPr lang="en-GB" sz="2000" dirty="0" smtClean="0"/>
              <a:t> </a:t>
            </a:r>
            <a:r>
              <a:rPr lang="en-GB" sz="2000" dirty="0" err="1" smtClean="0"/>
              <a:t>eri</a:t>
            </a:r>
            <a:r>
              <a:rPr lang="en-GB" sz="2000" dirty="0" smtClean="0"/>
              <a:t> </a:t>
            </a:r>
            <a:r>
              <a:rPr lang="en-GB" sz="2000" dirty="0" err="1" smtClean="0"/>
              <a:t>käyttöjärjestelmissä</a:t>
            </a:r>
            <a:endParaRPr lang="en-GB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14600" y="5715000"/>
            <a:ext cx="4648200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sz="2400" dirty="0" smtClean="0"/>
              <a:t>Odotetuista laajuuksista keskusteltava</a:t>
            </a:r>
            <a:endParaRPr lang="fi-FI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838200" y="2133600"/>
            <a:ext cx="3276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Stabilointisprintti</a:t>
            </a:r>
            <a:endParaRPr lang="fi-FI" dirty="0"/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-190500" y="2857500"/>
            <a:ext cx="2057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838200" y="3886200"/>
            <a:ext cx="3352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16200000">
            <a:off x="-375166" y="26728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Luottamus</a:t>
            </a:r>
            <a:endParaRPr lang="fi-FI" dirty="0"/>
          </a:p>
        </p:txBody>
      </p:sp>
      <p:sp>
        <p:nvSpPr>
          <p:cNvPr id="10" name="TextBox 9"/>
          <p:cNvSpPr txBox="1"/>
          <p:nvPr/>
        </p:nvSpPr>
        <p:spPr>
          <a:xfrm>
            <a:off x="2743200" y="176426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Ihanteellinen</a:t>
            </a:r>
            <a:endParaRPr lang="fi-FI" dirty="0"/>
          </a:p>
        </p:txBody>
      </p:sp>
      <p:sp>
        <p:nvSpPr>
          <p:cNvPr id="11" name="Freeform 10"/>
          <p:cNvSpPr/>
          <p:nvPr/>
        </p:nvSpPr>
        <p:spPr>
          <a:xfrm>
            <a:off x="859971" y="2852057"/>
            <a:ext cx="3265715" cy="1023257"/>
          </a:xfrm>
          <a:custGeom>
            <a:avLst/>
            <a:gdLst>
              <a:gd name="connsiteX0" fmla="*/ 0 w 3265715"/>
              <a:gd name="connsiteY0" fmla="*/ 1023257 h 1023257"/>
              <a:gd name="connsiteX1" fmla="*/ 1611086 w 3265715"/>
              <a:gd name="connsiteY1" fmla="*/ 566057 h 1023257"/>
              <a:gd name="connsiteX2" fmla="*/ 2656115 w 3265715"/>
              <a:gd name="connsiteY2" fmla="*/ 468086 h 1023257"/>
              <a:gd name="connsiteX3" fmla="*/ 3265715 w 3265715"/>
              <a:gd name="connsiteY3" fmla="*/ 0 h 1023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5715" h="1023257">
                <a:moveTo>
                  <a:pt x="0" y="1023257"/>
                </a:moveTo>
                <a:cubicBezTo>
                  <a:pt x="584200" y="840921"/>
                  <a:pt x="1168400" y="658585"/>
                  <a:pt x="1611086" y="566057"/>
                </a:cubicBezTo>
                <a:cubicBezTo>
                  <a:pt x="2053772" y="473529"/>
                  <a:pt x="2380343" y="562429"/>
                  <a:pt x="2656115" y="468086"/>
                </a:cubicBezTo>
                <a:cubicBezTo>
                  <a:pt x="2931887" y="373743"/>
                  <a:pt x="3160487" y="85271"/>
                  <a:pt x="3265715" y="0"/>
                </a:cubicBezTo>
              </a:path>
            </a:pathLst>
          </a:cu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3" name="Straight Arrow Connector 12"/>
          <p:cNvCxnSpPr/>
          <p:nvPr/>
        </p:nvCxnSpPr>
        <p:spPr>
          <a:xfrm rot="5400000">
            <a:off x="3810000" y="2514600"/>
            <a:ext cx="609600" cy="158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67200" y="2133600"/>
            <a:ext cx="182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Tekemättä jäänyttä testaustyötä, potentiaalia tuntemattomalle korjaustyölle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28956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Todellinen</a:t>
            </a:r>
            <a:endParaRPr lang="fi-FI" dirty="0"/>
          </a:p>
        </p:txBody>
      </p:sp>
      <p:sp>
        <p:nvSpPr>
          <p:cNvPr id="16" name="Rectangle 15"/>
          <p:cNvSpPr/>
          <p:nvPr/>
        </p:nvSpPr>
        <p:spPr>
          <a:xfrm>
            <a:off x="685800" y="4648200"/>
            <a:ext cx="2057400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Sprintti</a:t>
            </a:r>
            <a:endParaRPr lang="fi-FI" dirty="0"/>
          </a:p>
        </p:txBody>
      </p:sp>
      <p:sp>
        <p:nvSpPr>
          <p:cNvPr id="17" name="Rectangle 16"/>
          <p:cNvSpPr/>
          <p:nvPr/>
        </p:nvSpPr>
        <p:spPr>
          <a:xfrm>
            <a:off x="3200400" y="4648200"/>
            <a:ext cx="2057400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Sprintti</a:t>
            </a:r>
            <a:endParaRPr lang="fi-FI" dirty="0"/>
          </a:p>
        </p:txBody>
      </p:sp>
      <p:sp>
        <p:nvSpPr>
          <p:cNvPr id="18" name="Rectangle 17"/>
          <p:cNvSpPr/>
          <p:nvPr/>
        </p:nvSpPr>
        <p:spPr>
          <a:xfrm>
            <a:off x="5638800" y="4648200"/>
            <a:ext cx="2057400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Tekemättä jäänyt työ = Stabilointisprintti</a:t>
            </a:r>
            <a:endParaRPr lang="fi-FI" dirty="0"/>
          </a:p>
        </p:txBody>
      </p:sp>
      <p:sp>
        <p:nvSpPr>
          <p:cNvPr id="19" name="Cloud 18"/>
          <p:cNvSpPr/>
          <p:nvPr/>
        </p:nvSpPr>
        <p:spPr>
          <a:xfrm>
            <a:off x="1905000" y="5257800"/>
            <a:ext cx="1219200" cy="1066800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Ei valmis</a:t>
            </a:r>
            <a:endParaRPr lang="fi-FI" dirty="0"/>
          </a:p>
        </p:txBody>
      </p:sp>
      <p:sp>
        <p:nvSpPr>
          <p:cNvPr id="20" name="Cloud 19"/>
          <p:cNvSpPr/>
          <p:nvPr/>
        </p:nvSpPr>
        <p:spPr>
          <a:xfrm>
            <a:off x="4419600" y="5334000"/>
            <a:ext cx="1219200" cy="1066800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Ei valmis</a:t>
            </a:r>
            <a:endParaRPr lang="fi-FI" dirty="0"/>
          </a:p>
        </p:txBody>
      </p:sp>
      <p:sp>
        <p:nvSpPr>
          <p:cNvPr id="21" name="Right Arrow 20"/>
          <p:cNvSpPr/>
          <p:nvPr/>
        </p:nvSpPr>
        <p:spPr>
          <a:xfrm>
            <a:off x="2895600" y="4953000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2" name="Right Arrow 21"/>
          <p:cNvSpPr/>
          <p:nvPr/>
        </p:nvSpPr>
        <p:spPr>
          <a:xfrm>
            <a:off x="5334000" y="4953000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3" name="Content Placeholder 5"/>
          <p:cNvSpPr txBox="1">
            <a:spLocks/>
          </p:cNvSpPr>
          <p:nvPr/>
        </p:nvSpPr>
        <p:spPr>
          <a:xfrm>
            <a:off x="6324600" y="1524000"/>
            <a:ext cx="2667000" cy="2971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i-FI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 käytännöllistä</a:t>
            </a:r>
            <a:r>
              <a:rPr kumimoji="0" lang="fi-FI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kieltää olemassaoloa siirtymävaiheessa ketterämpään</a:t>
            </a:r>
            <a:endParaRPr kumimoji="0" lang="fi-FI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i-FI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Luovuus:</a:t>
            </a:r>
            <a:r>
              <a:rPr kumimoji="0" lang="fi-FI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voit siirtää testaustyötä arvoketjussa alkuunpäin. Suunnittele testausta aina kuin olisit juuri julkaisemassa. </a:t>
            </a:r>
            <a:endParaRPr kumimoji="0" lang="fi-FI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Valmiin määritelmä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 smtClean="0"/>
              <a:t>Ei valmis ennen kuin testattu</a:t>
            </a:r>
          </a:p>
          <a:p>
            <a:pPr lvl="1"/>
            <a:r>
              <a:rPr lang="fi-FI" dirty="0" smtClean="0"/>
              <a:t>Valmis sisältää toteutuksen JA testauksen. Testaus sisältää tarkistukset ja uuden tiedon aktiivisen haun. Kun julistamme keskeneräistä valmiiksi, lisäämme epäonnistumisen riskiä.</a:t>
            </a:r>
          </a:p>
          <a:p>
            <a:r>
              <a:rPr lang="fi-FI" dirty="0" smtClean="0"/>
              <a:t>Ei valmis ennen kuin julkaistu</a:t>
            </a:r>
          </a:p>
          <a:p>
            <a:pPr lvl="1"/>
            <a:r>
              <a:rPr lang="fi-FI" dirty="0" smtClean="0"/>
              <a:t> Valmis sisältää testatun ja rakennetun sille tasolle että se voidaan toimittaa loppukäyttäjille. Jos julkaisuvalmiudesta puuttuu jotain, se yleensä paljastaa puuttuvia palasia valmiin määritelmästä. 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Muista käytännöllisyys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Kaikki ei muutu ketterien menetelmien ideologiaan vain koska tavoite asetetaan</a:t>
            </a:r>
          </a:p>
          <a:p>
            <a:r>
              <a:rPr lang="fi-FI" dirty="0" smtClean="0"/>
              <a:t>Visio suuntana ei tarkoita että selviät välttämättä ilman välivaiheita matkalla kohti visiotilaa</a:t>
            </a:r>
          </a:p>
          <a:p>
            <a:r>
              <a:rPr lang="fi-FI" dirty="0" smtClean="0"/>
              <a:t>Tunnista </a:t>
            </a:r>
            <a:r>
              <a:rPr lang="fi-FI" i="1" dirty="0" smtClean="0"/>
              <a:t>siirtymävaiheen</a:t>
            </a:r>
            <a:r>
              <a:rPr lang="fi-FI" dirty="0" smtClean="0"/>
              <a:t> käytännöt ja varo ettet rakenna niihin liikaa riippuvuuksia</a:t>
            </a:r>
          </a:p>
          <a:p>
            <a:pPr lvl="1"/>
            <a:r>
              <a:rPr lang="fi-FI" dirty="0" smtClean="0"/>
              <a:t>Esimerkiksi erillinen testauksen tehtävälista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Lopuksi...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2800" dirty="0" smtClean="0"/>
              <a:t>Alkuun ketterillä menetelmillä ei vielä tee ketterää projektia</a:t>
            </a:r>
          </a:p>
          <a:p>
            <a:r>
              <a:rPr lang="fi-FI" sz="2800" dirty="0" smtClean="0"/>
              <a:t>Hienosäätöinen jako mitä käytäntöjä voi jättää ulos säilyttäen tarvittavat arvot</a:t>
            </a:r>
          </a:p>
          <a:p>
            <a:r>
              <a:rPr lang="fi-FI" sz="2800" dirty="0" smtClean="0"/>
              <a:t>Paljon toteutuksia Scrum / XP käytännöistä myös ilman ketteriä arvoja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81004" y="5105400"/>
            <a:ext cx="6267596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sz="2400" dirty="0" smtClean="0"/>
              <a:t>Sillä ei ole merkitystä oletko ketterä vaiko etkö. Merkitystä on arvolla jonka tuotat organisaatiollesi.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1845</TotalTime>
  <Words>1522</Words>
  <Application>Microsoft Macintosh PowerPoint</Application>
  <PresentationFormat>On-screen Show (4:3)</PresentationFormat>
  <Paragraphs>321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Siirtyminen ketteriin menetelmiin</vt:lpstr>
      <vt:lpstr>The value of another’s experience is to give us hope, not to tell us how or whether to proceed   </vt:lpstr>
      <vt:lpstr>Ketteryyden käytäntökeskustelun haasteena erilaiset tilanteet</vt:lpstr>
      <vt:lpstr>Siirtyminen ketteriin menetelmiin</vt:lpstr>
      <vt:lpstr>What Was “Traditional  Testing” Again?</vt:lpstr>
      <vt:lpstr>Testauksen huolenaiheita</vt:lpstr>
      <vt:lpstr>Paremman laadun lupauksen saavuttaminen</vt:lpstr>
      <vt:lpstr>Viivästynyt palaute ja seuraukset</vt:lpstr>
      <vt:lpstr>Testausmokia vältettäväksi reitillä kohti ketteryyttä</vt:lpstr>
      <vt:lpstr>Case: Timeline of Changes</vt:lpstr>
      <vt:lpstr>Experiences on Pre-Agile Methods Flexible Testing Practices</vt:lpstr>
      <vt:lpstr>More Flexible Testing Practices Post-Agile</vt:lpstr>
      <vt:lpstr>Ketterä testaus kun organisaatio on tarpeeksi iso</vt:lpstr>
      <vt:lpstr>Ketterä testaus kun organisaatio on tarpeeksi iso</vt:lpstr>
      <vt:lpstr>Miten ison järjestelmän testauksen näkökulmat voi saada scrum-tiimin vastuulle?</vt:lpstr>
      <vt:lpstr>Odotukset kehittäjän vs. Testaajan laajuudelle vaihtelevat</vt:lpstr>
      <vt:lpstr>Stabilointisprintti</vt:lpstr>
      <vt:lpstr>Valmiin määritelmä</vt:lpstr>
      <vt:lpstr>Muista käytännöllisyys</vt:lpstr>
      <vt:lpstr>Lopuksi...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Siirtyminen ketteriin menetelmiin</dc:title>
  <dc:creator>Maaret Pyhäjärvi</dc:creator>
  <cp:lastModifiedBy>Maaret Pyhäjärvi</cp:lastModifiedBy>
  <cp:revision>49</cp:revision>
  <dcterms:created xsi:type="dcterms:W3CDTF">2006-08-16T00:00:00Z</dcterms:created>
  <dcterms:modified xsi:type="dcterms:W3CDTF">2017-05-30T09:16:34Z</dcterms:modified>
</cp:coreProperties>
</file>