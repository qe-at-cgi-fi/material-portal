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2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57" r:id="rId14"/>
  </p:sldIdLst>
  <p:sldSz cx="9144000" cy="6858000" type="screen4x3"/>
  <p:notesSz cx="6734175" cy="98679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309" autoAdjust="0"/>
  </p:normalViewPr>
  <p:slideViewPr>
    <p:cSldViewPr>
      <p:cViewPr varScale="1">
        <p:scale>
          <a:sx n="68" d="100"/>
          <a:sy n="68" d="100"/>
        </p:scale>
        <p:origin x="-2064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490" y="-126"/>
      </p:cViewPr>
      <p:guideLst>
        <p:guide orient="horz" pos="3108"/>
        <p:guide pos="212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interSettings" Target="printerSettings/printerSettings1.bin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4474" y="0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5C55B-5751-4D85-896F-91204AA783C7}" type="datetimeFigureOut">
              <a:rPr lang="en-US" smtClean="0"/>
              <a:pPr/>
              <a:t>29/05/17</a:t>
            </a:fld>
            <a:endParaRPr lang="fi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739775"/>
            <a:ext cx="4933950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418" y="4687253"/>
            <a:ext cx="5387340" cy="4440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2792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4474" y="9372792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6C0F0-CF11-4FCF-A404-2F2FF520469E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501717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1</a:t>
            </a:fld>
            <a:endParaRPr lang="fi-FI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0F80B-00F3-431D-B31E-47D2F9301A1B}" type="slidenum">
              <a:rPr lang="fi-FI" smtClean="0"/>
              <a:pPr/>
              <a:t>2</a:t>
            </a:fld>
            <a:endParaRPr lang="fi-FI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0F80B-00F3-431D-B31E-47D2F9301A1B}" type="slidenum">
              <a:rPr lang="fi-FI" smtClean="0"/>
              <a:pPr/>
              <a:t>3</a:t>
            </a:fld>
            <a:endParaRPr lang="fi-FI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0F80B-00F3-431D-B31E-47D2F9301A1B}" type="slidenum">
              <a:rPr lang="fi-FI" smtClean="0"/>
              <a:pPr/>
              <a:t>4</a:t>
            </a:fld>
            <a:endParaRPr lang="fi-FI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0F80B-00F3-431D-B31E-47D2F9301A1B}" type="slidenum">
              <a:rPr lang="fi-FI" smtClean="0"/>
              <a:pPr/>
              <a:t>5</a:t>
            </a:fld>
            <a:endParaRPr lang="fi-FI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0F80B-00F3-431D-B31E-47D2F9301A1B}" type="slidenum">
              <a:rPr lang="fi-FI" smtClean="0"/>
              <a:pPr/>
              <a:t>6</a:t>
            </a:fld>
            <a:endParaRPr lang="fi-FI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0F80B-00F3-431D-B31E-47D2F9301A1B}" type="slidenum">
              <a:rPr lang="fi-FI" smtClean="0"/>
              <a:pPr/>
              <a:t>7</a:t>
            </a:fld>
            <a:endParaRPr lang="fi-FI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0F80B-00F3-431D-B31E-47D2F9301A1B}" type="slidenum">
              <a:rPr lang="fi-FI" smtClean="0"/>
              <a:pPr/>
              <a:t>8</a:t>
            </a:fld>
            <a:endParaRPr lang="fi-FI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0F80B-00F3-431D-B31E-47D2F9301A1B}" type="slidenum">
              <a:rPr lang="fi-FI" smtClean="0"/>
              <a:pPr/>
              <a:t>9</a:t>
            </a:fld>
            <a:endParaRPr lang="fi-FI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0F80B-00F3-431D-B31E-47D2F9301A1B}" type="slidenum">
              <a:rPr lang="fi-FI" smtClean="0"/>
              <a:pPr/>
              <a:t>10</a:t>
            </a:fld>
            <a:endParaRPr lang="fi-FI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24561-D61C-4778-8287-73D4559933B4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12</a:t>
            </a:fld>
            <a:endParaRPr lang="fi-FI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0F80B-00F3-431D-B31E-47D2F9301A1B}" type="slidenum">
              <a:rPr lang="fi-FI" smtClean="0"/>
              <a:pPr/>
              <a:t>13</a:t>
            </a:fld>
            <a:endParaRPr lang="fi-FI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6351B-F2F1-4664-B643-52F41D8C20DA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Omien testaustaipumusten tunteminen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BED5-9A7F-4EE7-89BC-2C5F41504DCC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Omien testaustaipumusten tunteminen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5A360-64E4-4624-A9EE-F37C7F8862AF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Omien testaustaipumusten tunteminen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4CD2D-EFB5-4726-AF57-86BED95FDD70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Omien testaustaipumusten tunteminen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210E1-54D1-40EA-98BE-AD703B53D646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Omien testaustaipumusten tunteminen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4502A-B629-469A-A2C3-C501D4EF2E41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Omien testaustaipumusten tunteminen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399AE-C15F-48CE-8FA0-093BB986AE0D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Omien testaustaipumusten tunteminen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C9382-3237-420A-965E-F32AD9E76902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Omien testaustaipumusten tunteminen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F4BA-F029-4FD4-9EA7-DA73A879CD32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Omien testaustaipumusten tunteminen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E282C-51AB-420D-AAB8-EE450646C923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Omien testaustaipumusten tunteminen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AA56-86BF-4F7E-BA92-5C6633D03E4F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Omien testaustaipumusten tunteminen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022AD-9090-4377-9DED-F512DEA8324C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Omien testaustaipumusten tunteminen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hyperlink" Target="http://creativecommons.org/licenses/by/1.0/fi/" TargetMode="External"/><Relationship Id="rId5" Type="http://schemas.openxmlformats.org/officeDocument/2006/relationships/hyperlink" Target="http://creativecommons.org/licenses/by/1.0/fi/deed.en" TargetMode="External"/><Relationship Id="rId6" Type="http://schemas.openxmlformats.org/officeDocument/2006/relationships/image" Target="../media/image2.wmf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4" Type="http://schemas.openxmlformats.org/officeDocument/2006/relationships/image" Target="../media/image5.wmf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Omien testaustaipumusten tunteminen</a:t>
            </a:r>
            <a:endParaRPr lang="fi-FI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-FI" dirty="0" smtClean="0"/>
              <a:t>Itsetuntemuksesta testaustaitojen kehittämiseen</a:t>
            </a:r>
            <a:endParaRPr lang="fi-FI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grpSp>
        <p:nvGrpSpPr>
          <p:cNvPr id="4" name="Group 12"/>
          <p:cNvGrpSpPr/>
          <p:nvPr/>
        </p:nvGrpSpPr>
        <p:grpSpPr>
          <a:xfrm>
            <a:off x="4876800" y="5943600"/>
            <a:ext cx="4114800" cy="685800"/>
            <a:chOff x="838200" y="5486400"/>
            <a:chExt cx="4114800" cy="685800"/>
          </a:xfrm>
        </p:grpSpPr>
        <p:sp>
          <p:nvSpPr>
            <p:cNvPr id="12" name="Rectangle 11"/>
            <p:cNvSpPr/>
            <p:nvPr/>
          </p:nvSpPr>
          <p:spPr>
            <a:xfrm>
              <a:off x="838200" y="5486400"/>
              <a:ext cx="4114800" cy="6858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pic>
          <p:nvPicPr>
            <p:cNvPr id="13" name="Picture 12" descr="88x3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9940" y="5638800"/>
              <a:ext cx="1117460" cy="393651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2057400" y="5511225"/>
              <a:ext cx="2819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i-FI" sz="900" b="1" dirty="0" smtClean="0"/>
                <a:t>Erkki Pöyhönen &amp; Maaret Pyhäjärvi</a:t>
              </a:r>
            </a:p>
            <a:p>
              <a:r>
                <a:rPr lang="fi-FI" sz="900" dirty="0" smtClean="0"/>
                <a:t>Nimeä |  Attribution (Finland)</a:t>
              </a:r>
            </a:p>
            <a:p>
              <a:pPr marL="0" lvl="1"/>
              <a:r>
                <a:rPr lang="fi-FI" sz="900" dirty="0" smtClean="0">
                  <a:hlinkClick r:id="rId4"/>
                </a:rPr>
                <a:t>http://creativecommons.org/licenses/by/1.0/fi/</a:t>
              </a:r>
              <a:endParaRPr lang="fi-FI" sz="900" dirty="0" smtClean="0"/>
            </a:p>
            <a:p>
              <a:pPr marL="0" lvl="1"/>
              <a:r>
                <a:rPr lang="fi-FI" sz="900" dirty="0" smtClean="0">
                  <a:hlinkClick r:id="rId5"/>
                </a:rPr>
                <a:t>http://creativecommons.org/licenses/by/1.0/fi/deed.en</a:t>
              </a:r>
              <a:endParaRPr lang="fi-FI" sz="900" dirty="0" smtClean="0"/>
            </a:p>
          </p:txBody>
        </p:sp>
      </p:grpSp>
      <p:pic>
        <p:nvPicPr>
          <p:cNvPr id="11" name="Picture 2" descr="C:\Documents and Settings\Maaret\My Documents\My Pictures\Microsoft Clip Organizer\j0078751.wm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500562" y="333376"/>
            <a:ext cx="3881438" cy="343017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Ketterissä menetelmissä toimitaan osana tiimiä</a:t>
            </a:r>
            <a:endParaRPr lang="fi-FI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5715000" cy="4525963"/>
          </a:xfrm>
        </p:spPr>
        <p:txBody>
          <a:bodyPr>
            <a:noAutofit/>
          </a:bodyPr>
          <a:lstStyle/>
          <a:p>
            <a:r>
              <a:rPr lang="fi-FI" sz="2000" dirty="0" smtClean="0"/>
              <a:t>Tiimi on yhdessä vahvempi kuin yksittäiset osaajat</a:t>
            </a:r>
          </a:p>
          <a:p>
            <a:pPr lvl="1"/>
            <a:r>
              <a:rPr lang="fi-FI" sz="1800" dirty="0" smtClean="0"/>
              <a:t>Täydentäviä osaamisia</a:t>
            </a:r>
          </a:p>
          <a:p>
            <a:pPr lvl="1"/>
            <a:r>
              <a:rPr lang="fi-FI" sz="1800" dirty="0" smtClean="0"/>
              <a:t>Täydentäviä persoonia</a:t>
            </a:r>
          </a:p>
          <a:p>
            <a:r>
              <a:rPr lang="fi-FI" sz="2000" dirty="0" smtClean="0"/>
              <a:t>Tiimin rakentamisessa haetaan monipuolisuutta jäsenten erilaisuuden kautta</a:t>
            </a:r>
          </a:p>
          <a:p>
            <a:r>
              <a:rPr lang="fi-FI" sz="2000" dirty="0" smtClean="0"/>
              <a:t>Ketterien menetelmien yleinen käytäntö:  </a:t>
            </a:r>
            <a:r>
              <a:rPr lang="fi-FI" sz="2000" i="1" dirty="0" smtClean="0"/>
              <a:t>monitoimintotiimi </a:t>
            </a:r>
            <a:r>
              <a:rPr lang="fi-FI" sz="2000" dirty="0" smtClean="0"/>
              <a:t> (cross-functional team)</a:t>
            </a:r>
          </a:p>
          <a:p>
            <a:pPr lvl="1"/>
            <a:r>
              <a:rPr lang="fi-FI" sz="1800" dirty="0" smtClean="0"/>
              <a:t>Laitetaan erilaiset osaamiset saman tiimin jäseniksi, jolloin tekemisen tulos ei ole välituotos seuraavalle porukalle</a:t>
            </a:r>
          </a:p>
          <a:p>
            <a:r>
              <a:rPr lang="fi-FI" sz="2000" dirty="0" smtClean="0"/>
              <a:t>Itsensä tunteminen parantamisen lähtökohtana</a:t>
            </a:r>
          </a:p>
          <a:p>
            <a:pPr lvl="1"/>
            <a:r>
              <a:rPr lang="fi-FI" sz="1800" dirty="0" smtClean="0"/>
              <a:t>Persoonallisuus: esim. Myers-Briggs Type Indicator</a:t>
            </a:r>
          </a:p>
          <a:p>
            <a:pPr lvl="1"/>
            <a:r>
              <a:rPr lang="fi-FI" sz="1800" dirty="0" smtClean="0"/>
              <a:t>Toiminta tiimissä: esim. Belbinin tiimimalli</a:t>
            </a:r>
          </a:p>
          <a:p>
            <a:pPr lvl="1"/>
            <a:r>
              <a:rPr lang="fi-FI" sz="1800" dirty="0" smtClean="0"/>
              <a:t>Oma osaaminen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705600" y="2438400"/>
            <a:ext cx="2209800" cy="34163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i-FI" sz="2400" dirty="0" smtClean="0"/>
              <a:t>Persoonallisuus vaikuttaa siihen mitä pidämme hyvänä ja millaisessa ympäristössä voimme tehokkaasti toimia.</a:t>
            </a:r>
            <a:endParaRPr lang="fi-FI" sz="24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Harjoitus: Testaustaipumusten selvittäminen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smtClean="0"/>
              <a:t>Tehdään kevyt versio persoonallisuus-analyysistä</a:t>
            </a:r>
          </a:p>
          <a:p>
            <a:pPr lvl="1"/>
            <a:r>
              <a:rPr lang="fi-FI" dirty="0" smtClean="0"/>
              <a:t>Piste vasemman laidan luonnehdinnasta</a:t>
            </a:r>
          </a:p>
          <a:p>
            <a:r>
              <a:rPr lang="fi-FI" dirty="0" smtClean="0"/>
              <a:t>Käydään läpi persoonastereotyyppien testausmieltymykset</a:t>
            </a:r>
          </a:p>
          <a:p>
            <a:endParaRPr lang="fi-FI" dirty="0"/>
          </a:p>
        </p:txBody>
      </p:sp>
      <p:pic>
        <p:nvPicPr>
          <p:cNvPr id="129026" name="Picture 2" descr="C:\Documents and Settings\Maaret\My Documents\My Pictures\Microsoft Clip Organizer\j0078806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0" y="3924300"/>
            <a:ext cx="2571750" cy="2628900"/>
          </a:xfrm>
          <a:prstGeom prst="rect">
            <a:avLst/>
          </a:prstGeom>
          <a:noFill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41325"/>
            <a:ext cx="7391400" cy="549275"/>
          </a:xfrm>
        </p:spPr>
        <p:txBody>
          <a:bodyPr>
            <a:normAutofit fontScale="90000"/>
          </a:bodyPr>
          <a:lstStyle/>
          <a:p>
            <a:r>
              <a:rPr lang="en-GB" dirty="0" err="1" smtClean="0"/>
              <a:t>Testaajan</a:t>
            </a:r>
            <a:r>
              <a:rPr lang="en-GB" dirty="0" smtClean="0"/>
              <a:t> </a:t>
            </a:r>
            <a:r>
              <a:rPr lang="en-GB" dirty="0" err="1" smtClean="0"/>
              <a:t>tyylianalyysi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sz="1200" dirty="0" err="1" smtClean="0"/>
              <a:t>Lähde</a:t>
            </a:r>
            <a:r>
              <a:rPr lang="en-GB" sz="1200" dirty="0" smtClean="0"/>
              <a:t>: </a:t>
            </a:r>
            <a:r>
              <a:rPr lang="en-GB" sz="1200" dirty="0"/>
              <a:t>Lloyd </a:t>
            </a:r>
            <a:r>
              <a:rPr lang="en-GB" sz="1200" dirty="0" err="1"/>
              <a:t>Roden</a:t>
            </a:r>
            <a:r>
              <a:rPr lang="en-GB" sz="1200" dirty="0"/>
              <a:t>. Choosing and Managing the Ideal Test Team. Stickyminds.com</a:t>
            </a:r>
          </a:p>
        </p:txBody>
      </p:sp>
      <p:sp>
        <p:nvSpPr>
          <p:cNvPr id="1547267" name="Rectangle 3"/>
          <p:cNvSpPr>
            <a:spLocks noChangeArrowheads="1"/>
          </p:cNvSpPr>
          <p:nvPr/>
        </p:nvSpPr>
        <p:spPr bwMode="auto">
          <a:xfrm>
            <a:off x="381000" y="1600200"/>
            <a:ext cx="3962400" cy="3810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1"/>
              </a:gs>
            </a:gsLst>
            <a:lin ang="0" scaled="1"/>
          </a:gradFill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547268" name="Rectangle 4"/>
          <p:cNvSpPr>
            <a:spLocks noChangeArrowheads="1"/>
          </p:cNvSpPr>
          <p:nvPr/>
        </p:nvSpPr>
        <p:spPr bwMode="auto">
          <a:xfrm>
            <a:off x="381000" y="2057400"/>
            <a:ext cx="3962400" cy="3810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1"/>
              </a:gs>
            </a:gsLst>
            <a:lin ang="0" scaled="1"/>
          </a:gradFill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547269" name="Rectangle 5"/>
          <p:cNvSpPr>
            <a:spLocks noChangeArrowheads="1"/>
          </p:cNvSpPr>
          <p:nvPr/>
        </p:nvSpPr>
        <p:spPr bwMode="auto">
          <a:xfrm>
            <a:off x="381000" y="2514600"/>
            <a:ext cx="3962400" cy="3810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1"/>
              </a:gs>
            </a:gsLst>
            <a:lin ang="0" scaled="1"/>
          </a:gradFill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547270" name="Rectangle 6"/>
          <p:cNvSpPr>
            <a:spLocks noChangeArrowheads="1"/>
          </p:cNvSpPr>
          <p:nvPr/>
        </p:nvSpPr>
        <p:spPr bwMode="auto">
          <a:xfrm>
            <a:off x="381000" y="2971800"/>
            <a:ext cx="3962400" cy="3810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1"/>
              </a:gs>
            </a:gsLst>
            <a:lin ang="0" scaled="1"/>
          </a:gradFill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547271" name="Rectangle 7"/>
          <p:cNvSpPr>
            <a:spLocks noChangeArrowheads="1"/>
          </p:cNvSpPr>
          <p:nvPr/>
        </p:nvSpPr>
        <p:spPr bwMode="auto">
          <a:xfrm>
            <a:off x="381000" y="3429000"/>
            <a:ext cx="3962400" cy="3810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1"/>
              </a:gs>
            </a:gsLst>
            <a:lin ang="0" scaled="1"/>
          </a:gradFill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547272" name="Rectangle 8"/>
          <p:cNvSpPr>
            <a:spLocks noChangeArrowheads="1"/>
          </p:cNvSpPr>
          <p:nvPr/>
        </p:nvSpPr>
        <p:spPr bwMode="auto">
          <a:xfrm>
            <a:off x="381000" y="3886200"/>
            <a:ext cx="3962400" cy="3810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1"/>
              </a:gs>
            </a:gsLst>
            <a:lin ang="0" scaled="1"/>
          </a:gradFill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547273" name="Rectangle 9"/>
          <p:cNvSpPr>
            <a:spLocks noChangeArrowheads="1"/>
          </p:cNvSpPr>
          <p:nvPr/>
        </p:nvSpPr>
        <p:spPr bwMode="auto">
          <a:xfrm>
            <a:off x="381000" y="4343400"/>
            <a:ext cx="3962400" cy="3810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1"/>
              </a:gs>
            </a:gsLst>
            <a:lin ang="0" scaled="1"/>
          </a:gradFill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547274" name="Rectangle 10"/>
          <p:cNvSpPr>
            <a:spLocks noChangeArrowheads="1"/>
          </p:cNvSpPr>
          <p:nvPr/>
        </p:nvSpPr>
        <p:spPr bwMode="auto">
          <a:xfrm>
            <a:off x="381000" y="4800600"/>
            <a:ext cx="3962400" cy="3810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1"/>
              </a:gs>
            </a:gsLst>
            <a:lin ang="0" scaled="1"/>
          </a:gradFill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547275" name="Rectangle 11"/>
          <p:cNvSpPr>
            <a:spLocks noChangeArrowheads="1"/>
          </p:cNvSpPr>
          <p:nvPr/>
        </p:nvSpPr>
        <p:spPr bwMode="auto">
          <a:xfrm>
            <a:off x="381000" y="5257800"/>
            <a:ext cx="3962400" cy="3810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1"/>
              </a:gs>
            </a:gsLst>
            <a:lin ang="0" scaled="1"/>
          </a:gradFill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547276" name="Rectangle 12"/>
          <p:cNvSpPr>
            <a:spLocks noChangeArrowheads="1"/>
          </p:cNvSpPr>
          <p:nvPr/>
        </p:nvSpPr>
        <p:spPr bwMode="auto">
          <a:xfrm>
            <a:off x="381000" y="5715000"/>
            <a:ext cx="3962400" cy="3810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1"/>
              </a:gs>
            </a:gsLst>
            <a:lin ang="0" scaled="1"/>
          </a:gradFill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547277" name="Text Box 13"/>
          <p:cNvSpPr txBox="1">
            <a:spLocks noChangeArrowheads="1"/>
          </p:cNvSpPr>
          <p:nvPr/>
        </p:nvSpPr>
        <p:spPr bwMode="auto">
          <a:xfrm>
            <a:off x="838200" y="1143000"/>
            <a:ext cx="3048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i-FI" sz="1600" b="1" dirty="0" smtClean="0"/>
              <a:t>Sijainti X-akselilla</a:t>
            </a:r>
            <a:endParaRPr lang="en-GB" sz="1600" b="1" dirty="0"/>
          </a:p>
        </p:txBody>
      </p:sp>
      <p:sp>
        <p:nvSpPr>
          <p:cNvPr id="1547278" name="Text Box 14"/>
          <p:cNvSpPr txBox="1">
            <a:spLocks noChangeArrowheads="1"/>
          </p:cNvSpPr>
          <p:nvPr/>
        </p:nvSpPr>
        <p:spPr bwMode="auto">
          <a:xfrm>
            <a:off x="5181600" y="1219200"/>
            <a:ext cx="3048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i-FI" sz="1600" b="1" dirty="0" smtClean="0"/>
              <a:t>Sijainti Y-akselilla</a:t>
            </a:r>
            <a:endParaRPr lang="en-GB" sz="1600" b="1" dirty="0"/>
          </a:p>
        </p:txBody>
      </p:sp>
      <p:sp>
        <p:nvSpPr>
          <p:cNvPr id="1547279" name="AutoShape 15"/>
          <p:cNvSpPr>
            <a:spLocks noChangeArrowheads="1"/>
          </p:cNvSpPr>
          <p:nvPr/>
        </p:nvSpPr>
        <p:spPr bwMode="auto">
          <a:xfrm>
            <a:off x="381000" y="6248400"/>
            <a:ext cx="838200" cy="381000"/>
          </a:xfrm>
          <a:prstGeom prst="roundRect">
            <a:avLst>
              <a:gd name="adj" fmla="val 16667"/>
            </a:avLst>
          </a:prstGeom>
          <a:solidFill>
            <a:schemeClr val="hlink"/>
          </a:solidFill>
          <a:ln w="5715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/>
            <a:r>
              <a:rPr lang="fi-FI" sz="1600" b="1">
                <a:solidFill>
                  <a:schemeClr val="bg1"/>
                </a:solidFill>
              </a:rPr>
              <a:t>    /10</a:t>
            </a:r>
            <a:endParaRPr lang="en-GB" sz="1600" b="1">
              <a:solidFill>
                <a:schemeClr val="bg1"/>
              </a:solidFill>
            </a:endParaRPr>
          </a:p>
        </p:txBody>
      </p:sp>
      <p:sp>
        <p:nvSpPr>
          <p:cNvPr id="1547280" name="AutoShape 16"/>
          <p:cNvSpPr>
            <a:spLocks noChangeArrowheads="1"/>
          </p:cNvSpPr>
          <p:nvPr/>
        </p:nvSpPr>
        <p:spPr bwMode="auto">
          <a:xfrm>
            <a:off x="4800600" y="6248400"/>
            <a:ext cx="838200" cy="381000"/>
          </a:xfrm>
          <a:prstGeom prst="roundRect">
            <a:avLst>
              <a:gd name="adj" fmla="val 16667"/>
            </a:avLst>
          </a:prstGeom>
          <a:solidFill>
            <a:schemeClr val="hlink"/>
          </a:solidFill>
          <a:ln w="5715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/>
            <a:r>
              <a:rPr lang="fi-FI" sz="1600" b="1">
                <a:solidFill>
                  <a:schemeClr val="bg1"/>
                </a:solidFill>
              </a:rPr>
              <a:t>    /10</a:t>
            </a:r>
            <a:endParaRPr lang="en-GB" sz="1600" b="1">
              <a:solidFill>
                <a:schemeClr val="bg1"/>
              </a:solidFill>
            </a:endParaRPr>
          </a:p>
        </p:txBody>
      </p:sp>
      <p:sp>
        <p:nvSpPr>
          <p:cNvPr id="1547281" name="Text Box 17"/>
          <p:cNvSpPr txBox="1">
            <a:spLocks noChangeArrowheads="1"/>
          </p:cNvSpPr>
          <p:nvPr/>
        </p:nvSpPr>
        <p:spPr bwMode="auto">
          <a:xfrm>
            <a:off x="381000" y="1600200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l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Ystävällinen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282" name="Text Box 18"/>
          <p:cNvSpPr txBox="1">
            <a:spLocks noChangeArrowheads="1"/>
          </p:cNvSpPr>
          <p:nvPr/>
        </p:nvSpPr>
        <p:spPr bwMode="auto">
          <a:xfrm>
            <a:off x="381000" y="2057400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l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Lähestyttävä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283" name="Text Box 19"/>
          <p:cNvSpPr txBox="1">
            <a:spLocks noChangeArrowheads="1"/>
          </p:cNvSpPr>
          <p:nvPr/>
        </p:nvSpPr>
        <p:spPr bwMode="auto">
          <a:xfrm>
            <a:off x="381000" y="2514600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l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Epämuodollinen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284" name="Text Box 20"/>
          <p:cNvSpPr txBox="1">
            <a:spLocks noChangeArrowheads="1"/>
          </p:cNvSpPr>
          <p:nvPr/>
        </p:nvSpPr>
        <p:spPr bwMode="auto">
          <a:xfrm>
            <a:off x="381000" y="2971800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l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Avoin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285" name="Text Box 21"/>
          <p:cNvSpPr txBox="1">
            <a:spLocks noChangeArrowheads="1"/>
          </p:cNvSpPr>
          <p:nvPr/>
        </p:nvSpPr>
        <p:spPr bwMode="auto">
          <a:xfrm>
            <a:off x="381000" y="3469265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l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Jäsentelemätön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286" name="Text Box 22"/>
          <p:cNvSpPr txBox="1">
            <a:spLocks noChangeArrowheads="1"/>
          </p:cNvSpPr>
          <p:nvPr/>
        </p:nvSpPr>
        <p:spPr bwMode="auto">
          <a:xfrm>
            <a:off x="381000" y="3886200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l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Sosiaalinen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287" name="Text Box 23"/>
          <p:cNvSpPr txBox="1">
            <a:spLocks noChangeArrowheads="1"/>
          </p:cNvSpPr>
          <p:nvPr/>
        </p:nvSpPr>
        <p:spPr bwMode="auto">
          <a:xfrm>
            <a:off x="381000" y="4343400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l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Intuitiivinen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288" name="Text Box 24"/>
          <p:cNvSpPr txBox="1">
            <a:spLocks noChangeArrowheads="1"/>
          </p:cNvSpPr>
          <p:nvPr/>
        </p:nvSpPr>
        <p:spPr bwMode="auto">
          <a:xfrm>
            <a:off x="381000" y="4845050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l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Satunnainen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289" name="Text Box 25"/>
          <p:cNvSpPr txBox="1">
            <a:spLocks noChangeArrowheads="1"/>
          </p:cNvSpPr>
          <p:nvPr/>
        </p:nvSpPr>
        <p:spPr bwMode="auto">
          <a:xfrm>
            <a:off x="381000" y="5298065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l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Lämmin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290" name="Text Box 26"/>
          <p:cNvSpPr txBox="1">
            <a:spLocks noChangeArrowheads="1"/>
          </p:cNvSpPr>
          <p:nvPr/>
        </p:nvSpPr>
        <p:spPr bwMode="auto">
          <a:xfrm>
            <a:off x="381000" y="5715000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l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Oivaltava </a:t>
            </a:r>
            <a:r>
              <a:rPr lang="fi-FI" sz="800" b="1" dirty="0" smtClean="0">
                <a:solidFill>
                  <a:schemeClr val="bg1"/>
                </a:solidFill>
              </a:rPr>
              <a:t>(perceptive)</a:t>
            </a:r>
            <a:endParaRPr lang="en-GB" sz="800" b="1" dirty="0">
              <a:solidFill>
                <a:schemeClr val="bg1"/>
              </a:solidFill>
            </a:endParaRPr>
          </a:p>
        </p:txBody>
      </p:sp>
      <p:sp>
        <p:nvSpPr>
          <p:cNvPr id="1547291" name="Text Box 27"/>
          <p:cNvSpPr txBox="1">
            <a:spLocks noChangeArrowheads="1"/>
          </p:cNvSpPr>
          <p:nvPr/>
        </p:nvSpPr>
        <p:spPr bwMode="auto">
          <a:xfrm>
            <a:off x="1828800" y="5715000"/>
            <a:ext cx="2419352" cy="46384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 algn="r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Välinpitämätön </a:t>
            </a:r>
            <a:br>
              <a:rPr lang="fi-FI" sz="1600" b="1" dirty="0" smtClean="0">
                <a:solidFill>
                  <a:schemeClr val="bg1"/>
                </a:solidFill>
              </a:rPr>
            </a:br>
            <a:endParaRPr lang="en-GB" sz="800" b="1" dirty="0">
              <a:solidFill>
                <a:schemeClr val="bg1"/>
              </a:solidFill>
            </a:endParaRPr>
          </a:p>
        </p:txBody>
      </p:sp>
      <p:sp>
        <p:nvSpPr>
          <p:cNvPr id="1547292" name="Text Box 28"/>
          <p:cNvSpPr txBox="1">
            <a:spLocks noChangeArrowheads="1"/>
          </p:cNvSpPr>
          <p:nvPr/>
        </p:nvSpPr>
        <p:spPr bwMode="auto">
          <a:xfrm>
            <a:off x="2285984" y="5298065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r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Viileä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293" name="Text Box 29"/>
          <p:cNvSpPr txBox="1">
            <a:spLocks noChangeArrowheads="1"/>
          </p:cNvSpPr>
          <p:nvPr/>
        </p:nvSpPr>
        <p:spPr bwMode="auto">
          <a:xfrm>
            <a:off x="2285984" y="4840865"/>
            <a:ext cx="2062162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 algn="r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Tavoitesuuntautunut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294" name="Text Box 30"/>
          <p:cNvSpPr txBox="1">
            <a:spLocks noChangeArrowheads="1"/>
          </p:cNvSpPr>
          <p:nvPr/>
        </p:nvSpPr>
        <p:spPr bwMode="auto">
          <a:xfrm>
            <a:off x="2285984" y="4343400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r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Looginen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295" name="Text Box 31"/>
          <p:cNvSpPr txBox="1">
            <a:spLocks noChangeArrowheads="1"/>
          </p:cNvSpPr>
          <p:nvPr/>
        </p:nvSpPr>
        <p:spPr bwMode="auto">
          <a:xfrm>
            <a:off x="2285984" y="3926465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r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Itsekseen viihtyvä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296" name="Text Box 32"/>
          <p:cNvSpPr txBox="1">
            <a:spLocks noChangeArrowheads="1"/>
          </p:cNvSpPr>
          <p:nvPr/>
        </p:nvSpPr>
        <p:spPr bwMode="auto">
          <a:xfrm>
            <a:off x="2285984" y="3469265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r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Organisoitu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297" name="Text Box 33"/>
          <p:cNvSpPr txBox="1">
            <a:spLocks noChangeArrowheads="1"/>
          </p:cNvSpPr>
          <p:nvPr/>
        </p:nvSpPr>
        <p:spPr bwMode="auto">
          <a:xfrm>
            <a:off x="2285984" y="2971800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r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Varautunut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298" name="Text Box 34"/>
          <p:cNvSpPr txBox="1">
            <a:spLocks noChangeArrowheads="1"/>
          </p:cNvSpPr>
          <p:nvPr/>
        </p:nvSpPr>
        <p:spPr bwMode="auto">
          <a:xfrm>
            <a:off x="2285984" y="2514600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r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Muodollinen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299" name="Text Box 35"/>
          <p:cNvSpPr txBox="1">
            <a:spLocks noChangeArrowheads="1"/>
          </p:cNvSpPr>
          <p:nvPr/>
        </p:nvSpPr>
        <p:spPr bwMode="auto">
          <a:xfrm>
            <a:off x="2285984" y="2057400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r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Syrjäänvetäytyvä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300" name="Text Box 36"/>
          <p:cNvSpPr txBox="1">
            <a:spLocks noChangeArrowheads="1"/>
          </p:cNvSpPr>
          <p:nvPr/>
        </p:nvSpPr>
        <p:spPr bwMode="auto">
          <a:xfrm>
            <a:off x="2285984" y="1600200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r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Muodollinen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301" name="Rectangle 37"/>
          <p:cNvSpPr>
            <a:spLocks noChangeArrowheads="1"/>
          </p:cNvSpPr>
          <p:nvPr/>
        </p:nvSpPr>
        <p:spPr bwMode="auto">
          <a:xfrm>
            <a:off x="4800600" y="1600200"/>
            <a:ext cx="3962400" cy="3810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1"/>
              </a:gs>
            </a:gsLst>
            <a:lin ang="0" scaled="1"/>
          </a:gradFill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547302" name="Rectangle 38"/>
          <p:cNvSpPr>
            <a:spLocks noChangeArrowheads="1"/>
          </p:cNvSpPr>
          <p:nvPr/>
        </p:nvSpPr>
        <p:spPr bwMode="auto">
          <a:xfrm>
            <a:off x="4800600" y="2057400"/>
            <a:ext cx="3962400" cy="3810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1"/>
              </a:gs>
            </a:gsLst>
            <a:lin ang="0" scaled="1"/>
          </a:gradFill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547303" name="Rectangle 39"/>
          <p:cNvSpPr>
            <a:spLocks noChangeArrowheads="1"/>
          </p:cNvSpPr>
          <p:nvPr/>
        </p:nvSpPr>
        <p:spPr bwMode="auto">
          <a:xfrm>
            <a:off x="4800600" y="2514600"/>
            <a:ext cx="3962400" cy="3810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1"/>
              </a:gs>
            </a:gsLst>
            <a:lin ang="0" scaled="1"/>
          </a:gradFill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547304" name="Rectangle 40"/>
          <p:cNvSpPr>
            <a:spLocks noChangeArrowheads="1"/>
          </p:cNvSpPr>
          <p:nvPr/>
        </p:nvSpPr>
        <p:spPr bwMode="auto">
          <a:xfrm>
            <a:off x="4800600" y="2971800"/>
            <a:ext cx="3962400" cy="3810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1"/>
              </a:gs>
            </a:gsLst>
            <a:lin ang="0" scaled="1"/>
          </a:gradFill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547305" name="Rectangle 41"/>
          <p:cNvSpPr>
            <a:spLocks noChangeArrowheads="1"/>
          </p:cNvSpPr>
          <p:nvPr/>
        </p:nvSpPr>
        <p:spPr bwMode="auto">
          <a:xfrm>
            <a:off x="4800600" y="3429000"/>
            <a:ext cx="3962400" cy="3810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1"/>
              </a:gs>
            </a:gsLst>
            <a:lin ang="0" scaled="1"/>
          </a:gradFill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547306" name="Rectangle 42"/>
          <p:cNvSpPr>
            <a:spLocks noChangeArrowheads="1"/>
          </p:cNvSpPr>
          <p:nvPr/>
        </p:nvSpPr>
        <p:spPr bwMode="auto">
          <a:xfrm>
            <a:off x="4800600" y="3886200"/>
            <a:ext cx="3962400" cy="3810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1"/>
              </a:gs>
            </a:gsLst>
            <a:lin ang="0" scaled="1"/>
          </a:gradFill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547307" name="Rectangle 43"/>
          <p:cNvSpPr>
            <a:spLocks noChangeArrowheads="1"/>
          </p:cNvSpPr>
          <p:nvPr/>
        </p:nvSpPr>
        <p:spPr bwMode="auto">
          <a:xfrm>
            <a:off x="4800600" y="4343400"/>
            <a:ext cx="3962400" cy="3810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1"/>
              </a:gs>
            </a:gsLst>
            <a:lin ang="0" scaled="1"/>
          </a:gradFill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547308" name="Rectangle 44"/>
          <p:cNvSpPr>
            <a:spLocks noChangeArrowheads="1"/>
          </p:cNvSpPr>
          <p:nvPr/>
        </p:nvSpPr>
        <p:spPr bwMode="auto">
          <a:xfrm>
            <a:off x="4800600" y="4800600"/>
            <a:ext cx="3962400" cy="3810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1"/>
              </a:gs>
            </a:gsLst>
            <a:lin ang="0" scaled="1"/>
          </a:gradFill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547309" name="Rectangle 45"/>
          <p:cNvSpPr>
            <a:spLocks noChangeArrowheads="1"/>
          </p:cNvSpPr>
          <p:nvPr/>
        </p:nvSpPr>
        <p:spPr bwMode="auto">
          <a:xfrm>
            <a:off x="4800600" y="5257800"/>
            <a:ext cx="3962400" cy="3810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1"/>
              </a:gs>
            </a:gsLst>
            <a:lin ang="0" scaled="1"/>
          </a:gradFill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547310" name="Rectangle 46"/>
          <p:cNvSpPr>
            <a:spLocks noChangeArrowheads="1"/>
          </p:cNvSpPr>
          <p:nvPr/>
        </p:nvSpPr>
        <p:spPr bwMode="auto">
          <a:xfrm>
            <a:off x="4800600" y="5715000"/>
            <a:ext cx="3962400" cy="3810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1"/>
              </a:gs>
            </a:gsLst>
            <a:lin ang="0" scaled="1"/>
          </a:gradFill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547311" name="Text Box 47"/>
          <p:cNvSpPr txBox="1">
            <a:spLocks noChangeArrowheads="1"/>
          </p:cNvSpPr>
          <p:nvPr/>
        </p:nvSpPr>
        <p:spPr bwMode="auto">
          <a:xfrm>
            <a:off x="4800600" y="1600200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l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Suoraan asiaan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312" name="Text Box 48"/>
          <p:cNvSpPr txBox="1">
            <a:spLocks noChangeArrowheads="1"/>
          </p:cNvSpPr>
          <p:nvPr/>
        </p:nvSpPr>
        <p:spPr bwMode="auto">
          <a:xfrm>
            <a:off x="4800600" y="2057400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l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Haastava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313" name="Text Box 49"/>
          <p:cNvSpPr txBox="1">
            <a:spLocks noChangeArrowheads="1"/>
          </p:cNvSpPr>
          <p:nvPr/>
        </p:nvSpPr>
        <p:spPr bwMode="auto">
          <a:xfrm>
            <a:off x="4800600" y="2514600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l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Nopea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314" name="Text Box 50"/>
          <p:cNvSpPr txBox="1">
            <a:spLocks noChangeArrowheads="1"/>
          </p:cNvSpPr>
          <p:nvPr/>
        </p:nvSpPr>
        <p:spPr bwMode="auto">
          <a:xfrm>
            <a:off x="4800600" y="3016250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l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Vaativa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315" name="Text Box 51"/>
          <p:cNvSpPr txBox="1">
            <a:spLocks noChangeArrowheads="1"/>
          </p:cNvSpPr>
          <p:nvPr/>
        </p:nvSpPr>
        <p:spPr bwMode="auto">
          <a:xfrm>
            <a:off x="4800600" y="3469265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l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Eloisa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316" name="Text Box 52"/>
          <p:cNvSpPr txBox="1">
            <a:spLocks noChangeArrowheads="1"/>
          </p:cNvSpPr>
          <p:nvPr/>
        </p:nvSpPr>
        <p:spPr bwMode="auto">
          <a:xfrm>
            <a:off x="4800600" y="3926465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l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Kärsimätön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317" name="Text Box 53"/>
          <p:cNvSpPr txBox="1">
            <a:spLocks noChangeArrowheads="1"/>
          </p:cNvSpPr>
          <p:nvPr/>
        </p:nvSpPr>
        <p:spPr bwMode="auto">
          <a:xfrm>
            <a:off x="4800600" y="4383665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l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Seikkailunhaluinen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318" name="Text Box 54"/>
          <p:cNvSpPr txBox="1">
            <a:spLocks noChangeArrowheads="1"/>
          </p:cNvSpPr>
          <p:nvPr/>
        </p:nvSpPr>
        <p:spPr bwMode="auto">
          <a:xfrm>
            <a:off x="4800600" y="4840865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l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Hyökkäävä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319" name="Text Box 55"/>
          <p:cNvSpPr txBox="1">
            <a:spLocks noChangeArrowheads="1"/>
          </p:cNvSpPr>
          <p:nvPr/>
        </p:nvSpPr>
        <p:spPr bwMode="auto">
          <a:xfrm>
            <a:off x="4800600" y="5257800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l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Kilpailuhenkinen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320" name="Text Box 56"/>
          <p:cNvSpPr txBox="1">
            <a:spLocks noChangeArrowheads="1"/>
          </p:cNvSpPr>
          <p:nvPr/>
        </p:nvSpPr>
        <p:spPr bwMode="auto">
          <a:xfrm>
            <a:off x="4800600" y="5759450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l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Vahvatahtoinen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321" name="Text Box 57"/>
          <p:cNvSpPr txBox="1">
            <a:spLocks noChangeArrowheads="1"/>
          </p:cNvSpPr>
          <p:nvPr/>
        </p:nvSpPr>
        <p:spPr bwMode="auto">
          <a:xfrm>
            <a:off x="6858000" y="5755265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r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Analyyttinen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322" name="Text Box 58"/>
          <p:cNvSpPr txBox="1">
            <a:spLocks noChangeArrowheads="1"/>
          </p:cNvSpPr>
          <p:nvPr/>
        </p:nvSpPr>
        <p:spPr bwMode="auto">
          <a:xfrm>
            <a:off x="6858000" y="5257800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r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Yhteistyöhenkinen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323" name="Text Box 59"/>
          <p:cNvSpPr txBox="1">
            <a:spLocks noChangeArrowheads="1"/>
          </p:cNvSpPr>
          <p:nvPr/>
        </p:nvSpPr>
        <p:spPr bwMode="auto">
          <a:xfrm>
            <a:off x="6858000" y="4840865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r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Vastaanottava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324" name="Text Box 60"/>
          <p:cNvSpPr txBox="1">
            <a:spLocks noChangeArrowheads="1"/>
          </p:cNvSpPr>
          <p:nvPr/>
        </p:nvSpPr>
        <p:spPr bwMode="auto">
          <a:xfrm>
            <a:off x="6858000" y="4383665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r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Varovainen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325" name="Text Box 61"/>
          <p:cNvSpPr txBox="1">
            <a:spLocks noChangeArrowheads="1"/>
          </p:cNvSpPr>
          <p:nvPr/>
        </p:nvSpPr>
        <p:spPr bwMode="auto">
          <a:xfrm>
            <a:off x="6858000" y="3926465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r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Kärsivällinen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326" name="Text Box 62"/>
          <p:cNvSpPr txBox="1">
            <a:spLocks noChangeArrowheads="1"/>
          </p:cNvSpPr>
          <p:nvPr/>
        </p:nvSpPr>
        <p:spPr bwMode="auto">
          <a:xfrm>
            <a:off x="6858000" y="3469265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r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Rento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327" name="Text Box 63"/>
          <p:cNvSpPr txBox="1">
            <a:spLocks noChangeArrowheads="1"/>
          </p:cNvSpPr>
          <p:nvPr/>
        </p:nvSpPr>
        <p:spPr bwMode="auto">
          <a:xfrm>
            <a:off x="6858000" y="3012065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r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Huomaavainen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328" name="Text Box 64"/>
          <p:cNvSpPr txBox="1">
            <a:spLocks noChangeArrowheads="1"/>
          </p:cNvSpPr>
          <p:nvPr/>
        </p:nvSpPr>
        <p:spPr bwMode="auto">
          <a:xfrm>
            <a:off x="6858000" y="2514600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r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Rauhallinen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329" name="Text Box 65"/>
          <p:cNvSpPr txBox="1">
            <a:spLocks noChangeArrowheads="1"/>
          </p:cNvSpPr>
          <p:nvPr/>
        </p:nvSpPr>
        <p:spPr bwMode="auto">
          <a:xfrm>
            <a:off x="6858000" y="2057400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r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Hyväksyvä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47330" name="Text Box 66"/>
          <p:cNvSpPr txBox="1">
            <a:spLocks noChangeArrowheads="1"/>
          </p:cNvSpPr>
          <p:nvPr/>
        </p:nvSpPr>
        <p:spPr bwMode="auto">
          <a:xfrm>
            <a:off x="6858000" y="1600200"/>
            <a:ext cx="1905000" cy="3407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r">
              <a:spcBef>
                <a:spcPct val="50000"/>
              </a:spcBef>
            </a:pPr>
            <a:r>
              <a:rPr lang="fi-FI" sz="1600" b="1" dirty="0" smtClean="0">
                <a:solidFill>
                  <a:schemeClr val="bg1"/>
                </a:solidFill>
              </a:rPr>
              <a:t>Epäsuora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69" name="Slide Number Placeholder 6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2191561" y="5804356"/>
            <a:ext cx="70403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50000"/>
              </a:spcBef>
            </a:pPr>
            <a:r>
              <a:rPr lang="fi-FI" sz="800" b="1" dirty="0" smtClean="0">
                <a:solidFill>
                  <a:schemeClr val="bg1"/>
                </a:solidFill>
              </a:rPr>
              <a:t>(insensitive)</a:t>
            </a:r>
            <a:endParaRPr lang="en-GB" sz="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41325"/>
            <a:ext cx="7391400" cy="549275"/>
          </a:xfrm>
        </p:spPr>
        <p:txBody>
          <a:bodyPr>
            <a:normAutofit fontScale="90000"/>
          </a:bodyPr>
          <a:lstStyle/>
          <a:p>
            <a:r>
              <a:rPr lang="en-GB" dirty="0" err="1" smtClean="0"/>
              <a:t>Testaajan</a:t>
            </a:r>
            <a:r>
              <a:rPr lang="en-GB" dirty="0" smtClean="0"/>
              <a:t> </a:t>
            </a:r>
            <a:r>
              <a:rPr lang="en-GB" dirty="0" err="1" smtClean="0"/>
              <a:t>tyylianalyysi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sz="1200" dirty="0" err="1" smtClean="0"/>
              <a:t>Lähde</a:t>
            </a:r>
            <a:r>
              <a:rPr lang="en-GB" sz="1200" dirty="0" smtClean="0"/>
              <a:t>: Lloyd </a:t>
            </a:r>
            <a:r>
              <a:rPr lang="en-GB" sz="1200" dirty="0" err="1" smtClean="0"/>
              <a:t>Roden</a:t>
            </a:r>
            <a:r>
              <a:rPr lang="en-GB" sz="1200" dirty="0" smtClean="0"/>
              <a:t>. Choosing and Managing the Ideal Test Team. Stickyminds.com</a:t>
            </a:r>
            <a:endParaRPr lang="en-GB" sz="3200" dirty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914400" y="1143000"/>
            <a:ext cx="6324600" cy="5594350"/>
            <a:chOff x="576" y="720"/>
            <a:chExt cx="3984" cy="3524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912" y="720"/>
              <a:ext cx="3648" cy="3312"/>
              <a:chOff x="1296" y="816"/>
              <a:chExt cx="3120" cy="3024"/>
            </a:xfrm>
          </p:grpSpPr>
          <p:grpSp>
            <p:nvGrpSpPr>
              <p:cNvPr id="4" name="Group 5"/>
              <p:cNvGrpSpPr>
                <a:grpSpLocks/>
              </p:cNvGrpSpPr>
              <p:nvPr/>
            </p:nvGrpSpPr>
            <p:grpSpPr bwMode="auto">
              <a:xfrm>
                <a:off x="1296" y="863"/>
                <a:ext cx="2976" cy="2976"/>
                <a:chOff x="1487" y="767"/>
                <a:chExt cx="2976" cy="2976"/>
              </a:xfrm>
            </p:grpSpPr>
            <p:sp>
              <p:nvSpPr>
                <p:cNvPr id="1548294" name="Rectangle 6"/>
                <p:cNvSpPr>
                  <a:spLocks noChangeArrowheads="1"/>
                </p:cNvSpPr>
                <p:nvPr/>
              </p:nvSpPr>
              <p:spPr bwMode="auto">
                <a:xfrm rot="5400000">
                  <a:off x="2826" y="-572"/>
                  <a:ext cx="298" cy="2976"/>
                </a:xfrm>
                <a:prstGeom prst="rect">
                  <a:avLst/>
                </a:prstGeom>
                <a:solidFill>
                  <a:schemeClr val="hlink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/>
                </a:p>
              </p:txBody>
            </p:sp>
            <p:sp>
              <p:nvSpPr>
                <p:cNvPr id="1548295" name="Rectangle 7"/>
                <p:cNvSpPr>
                  <a:spLocks noChangeArrowheads="1"/>
                </p:cNvSpPr>
                <p:nvPr/>
              </p:nvSpPr>
              <p:spPr bwMode="auto">
                <a:xfrm rot="5400000">
                  <a:off x="2826" y="-274"/>
                  <a:ext cx="297" cy="2976"/>
                </a:xfrm>
                <a:prstGeom prst="rect">
                  <a:avLst/>
                </a:prstGeom>
                <a:solidFill>
                  <a:schemeClr val="tx2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/>
                </a:p>
              </p:txBody>
            </p:sp>
            <p:sp>
              <p:nvSpPr>
                <p:cNvPr id="1548296" name="Rectangle 8"/>
                <p:cNvSpPr>
                  <a:spLocks noChangeArrowheads="1"/>
                </p:cNvSpPr>
                <p:nvPr/>
              </p:nvSpPr>
              <p:spPr bwMode="auto">
                <a:xfrm rot="5400000">
                  <a:off x="2826" y="23"/>
                  <a:ext cx="298" cy="2976"/>
                </a:xfrm>
                <a:prstGeom prst="rect">
                  <a:avLst/>
                </a:prstGeom>
                <a:solidFill>
                  <a:schemeClr val="hlink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/>
                </a:p>
              </p:txBody>
            </p:sp>
            <p:sp>
              <p:nvSpPr>
                <p:cNvPr id="1548297" name="Rectangle 9"/>
                <p:cNvSpPr>
                  <a:spLocks noChangeArrowheads="1"/>
                </p:cNvSpPr>
                <p:nvPr/>
              </p:nvSpPr>
              <p:spPr bwMode="auto">
                <a:xfrm rot="5400000">
                  <a:off x="2826" y="321"/>
                  <a:ext cx="297" cy="2976"/>
                </a:xfrm>
                <a:prstGeom prst="rect">
                  <a:avLst/>
                </a:prstGeom>
                <a:solidFill>
                  <a:schemeClr val="tx2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/>
                </a:p>
              </p:txBody>
            </p:sp>
            <p:sp>
              <p:nvSpPr>
                <p:cNvPr id="1548298" name="Rectangle 10"/>
                <p:cNvSpPr>
                  <a:spLocks noChangeArrowheads="1"/>
                </p:cNvSpPr>
                <p:nvPr/>
              </p:nvSpPr>
              <p:spPr bwMode="auto">
                <a:xfrm rot="5400000">
                  <a:off x="2826" y="618"/>
                  <a:ext cx="298" cy="2976"/>
                </a:xfrm>
                <a:prstGeom prst="rect">
                  <a:avLst/>
                </a:prstGeom>
                <a:solidFill>
                  <a:schemeClr val="hlink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/>
                </a:p>
              </p:txBody>
            </p:sp>
            <p:sp>
              <p:nvSpPr>
                <p:cNvPr id="1548299" name="Rectangle 11"/>
                <p:cNvSpPr>
                  <a:spLocks noChangeArrowheads="1"/>
                </p:cNvSpPr>
                <p:nvPr/>
              </p:nvSpPr>
              <p:spPr bwMode="auto">
                <a:xfrm rot="5400000">
                  <a:off x="2826" y="916"/>
                  <a:ext cx="298" cy="2976"/>
                </a:xfrm>
                <a:prstGeom prst="rect">
                  <a:avLst/>
                </a:prstGeom>
                <a:solidFill>
                  <a:schemeClr val="tx2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/>
                </a:p>
              </p:txBody>
            </p:sp>
            <p:sp>
              <p:nvSpPr>
                <p:cNvPr id="1548300" name="Rectangle 12"/>
                <p:cNvSpPr>
                  <a:spLocks noChangeArrowheads="1"/>
                </p:cNvSpPr>
                <p:nvPr/>
              </p:nvSpPr>
              <p:spPr bwMode="auto">
                <a:xfrm rot="5400000">
                  <a:off x="2826" y="1214"/>
                  <a:ext cx="297" cy="2976"/>
                </a:xfrm>
                <a:prstGeom prst="rect">
                  <a:avLst/>
                </a:prstGeom>
                <a:solidFill>
                  <a:schemeClr val="hlink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/>
                </a:p>
              </p:txBody>
            </p:sp>
            <p:sp>
              <p:nvSpPr>
                <p:cNvPr id="1548301" name="Rectangle 13"/>
                <p:cNvSpPr>
                  <a:spLocks noChangeArrowheads="1"/>
                </p:cNvSpPr>
                <p:nvPr/>
              </p:nvSpPr>
              <p:spPr bwMode="auto">
                <a:xfrm rot="5400000">
                  <a:off x="2826" y="1511"/>
                  <a:ext cx="298" cy="2976"/>
                </a:xfrm>
                <a:prstGeom prst="rect">
                  <a:avLst/>
                </a:prstGeom>
                <a:solidFill>
                  <a:schemeClr val="tx2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/>
                </a:p>
              </p:txBody>
            </p:sp>
            <p:sp>
              <p:nvSpPr>
                <p:cNvPr id="1548302" name="Rectangle 14"/>
                <p:cNvSpPr>
                  <a:spLocks noChangeArrowheads="1"/>
                </p:cNvSpPr>
                <p:nvPr/>
              </p:nvSpPr>
              <p:spPr bwMode="auto">
                <a:xfrm rot="5400000">
                  <a:off x="2826" y="1809"/>
                  <a:ext cx="297" cy="2976"/>
                </a:xfrm>
                <a:prstGeom prst="rect">
                  <a:avLst/>
                </a:prstGeom>
                <a:solidFill>
                  <a:schemeClr val="hlink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/>
                </a:p>
              </p:txBody>
            </p:sp>
            <p:sp>
              <p:nvSpPr>
                <p:cNvPr id="1548303" name="Rectangle 15"/>
                <p:cNvSpPr>
                  <a:spLocks noChangeArrowheads="1"/>
                </p:cNvSpPr>
                <p:nvPr/>
              </p:nvSpPr>
              <p:spPr bwMode="auto">
                <a:xfrm rot="5400000">
                  <a:off x="2826" y="2106"/>
                  <a:ext cx="298" cy="2976"/>
                </a:xfrm>
                <a:prstGeom prst="rect">
                  <a:avLst/>
                </a:prstGeom>
                <a:solidFill>
                  <a:schemeClr val="tx2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16"/>
              <p:cNvGrpSpPr>
                <a:grpSpLocks/>
              </p:cNvGrpSpPr>
              <p:nvPr/>
            </p:nvGrpSpPr>
            <p:grpSpPr bwMode="auto">
              <a:xfrm>
                <a:off x="1296" y="864"/>
                <a:ext cx="2976" cy="2976"/>
                <a:chOff x="576" y="816"/>
                <a:chExt cx="2400" cy="2976"/>
              </a:xfrm>
            </p:grpSpPr>
            <p:sp>
              <p:nvSpPr>
                <p:cNvPr id="1548305" name="Rectangle 17"/>
                <p:cNvSpPr>
                  <a:spLocks noChangeArrowheads="1"/>
                </p:cNvSpPr>
                <p:nvPr/>
              </p:nvSpPr>
              <p:spPr bwMode="auto">
                <a:xfrm>
                  <a:off x="576" y="816"/>
                  <a:ext cx="240" cy="2976"/>
                </a:xfrm>
                <a:prstGeom prst="rect">
                  <a:avLst/>
                </a:prstGeom>
                <a:solidFill>
                  <a:schemeClr val="hlink">
                    <a:alpha val="50000"/>
                  </a:schemeClr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/>
                </a:p>
              </p:txBody>
            </p:sp>
            <p:sp>
              <p:nvSpPr>
                <p:cNvPr id="1548306" name="Rectangle 18"/>
                <p:cNvSpPr>
                  <a:spLocks noChangeArrowheads="1"/>
                </p:cNvSpPr>
                <p:nvPr/>
              </p:nvSpPr>
              <p:spPr bwMode="auto">
                <a:xfrm>
                  <a:off x="816" y="816"/>
                  <a:ext cx="240" cy="2976"/>
                </a:xfrm>
                <a:prstGeom prst="rect">
                  <a:avLst/>
                </a:prstGeom>
                <a:solidFill>
                  <a:schemeClr val="tx2">
                    <a:alpha val="50000"/>
                  </a:schemeClr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/>
                </a:p>
              </p:txBody>
            </p:sp>
            <p:sp>
              <p:nvSpPr>
                <p:cNvPr id="1548307" name="Rectangle 19"/>
                <p:cNvSpPr>
                  <a:spLocks noChangeArrowheads="1"/>
                </p:cNvSpPr>
                <p:nvPr/>
              </p:nvSpPr>
              <p:spPr bwMode="auto">
                <a:xfrm>
                  <a:off x="1056" y="816"/>
                  <a:ext cx="240" cy="2976"/>
                </a:xfrm>
                <a:prstGeom prst="rect">
                  <a:avLst/>
                </a:prstGeom>
                <a:solidFill>
                  <a:schemeClr val="hlink">
                    <a:alpha val="50000"/>
                  </a:schemeClr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/>
                </a:p>
              </p:txBody>
            </p:sp>
            <p:sp>
              <p:nvSpPr>
                <p:cNvPr id="1548308" name="Rectangle 20"/>
                <p:cNvSpPr>
                  <a:spLocks noChangeArrowheads="1"/>
                </p:cNvSpPr>
                <p:nvPr/>
              </p:nvSpPr>
              <p:spPr bwMode="auto">
                <a:xfrm>
                  <a:off x="1296" y="816"/>
                  <a:ext cx="240" cy="2976"/>
                </a:xfrm>
                <a:prstGeom prst="rect">
                  <a:avLst/>
                </a:prstGeom>
                <a:solidFill>
                  <a:schemeClr val="tx2">
                    <a:alpha val="50000"/>
                  </a:schemeClr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/>
                </a:p>
              </p:txBody>
            </p:sp>
            <p:sp>
              <p:nvSpPr>
                <p:cNvPr id="1548309" name="Rectangle 21"/>
                <p:cNvSpPr>
                  <a:spLocks noChangeArrowheads="1"/>
                </p:cNvSpPr>
                <p:nvPr/>
              </p:nvSpPr>
              <p:spPr bwMode="auto">
                <a:xfrm>
                  <a:off x="1536" y="816"/>
                  <a:ext cx="240" cy="2976"/>
                </a:xfrm>
                <a:prstGeom prst="rect">
                  <a:avLst/>
                </a:prstGeom>
                <a:solidFill>
                  <a:schemeClr val="hlink">
                    <a:alpha val="50000"/>
                  </a:schemeClr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/>
                </a:p>
              </p:txBody>
            </p:sp>
            <p:sp>
              <p:nvSpPr>
                <p:cNvPr id="1548310" name="Rectangle 22"/>
                <p:cNvSpPr>
                  <a:spLocks noChangeArrowheads="1"/>
                </p:cNvSpPr>
                <p:nvPr/>
              </p:nvSpPr>
              <p:spPr bwMode="auto">
                <a:xfrm>
                  <a:off x="1776" y="816"/>
                  <a:ext cx="240" cy="2976"/>
                </a:xfrm>
                <a:prstGeom prst="rect">
                  <a:avLst/>
                </a:prstGeom>
                <a:solidFill>
                  <a:schemeClr val="tx2">
                    <a:alpha val="50000"/>
                  </a:schemeClr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/>
                </a:p>
              </p:txBody>
            </p:sp>
            <p:sp>
              <p:nvSpPr>
                <p:cNvPr id="1548311" name="Rectangle 23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40" cy="2976"/>
                </a:xfrm>
                <a:prstGeom prst="rect">
                  <a:avLst/>
                </a:prstGeom>
                <a:solidFill>
                  <a:schemeClr val="hlink">
                    <a:alpha val="50000"/>
                  </a:schemeClr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/>
                </a:p>
              </p:txBody>
            </p:sp>
            <p:sp>
              <p:nvSpPr>
                <p:cNvPr id="1548312" name="Rectangle 24"/>
                <p:cNvSpPr>
                  <a:spLocks noChangeArrowheads="1"/>
                </p:cNvSpPr>
                <p:nvPr/>
              </p:nvSpPr>
              <p:spPr bwMode="auto">
                <a:xfrm>
                  <a:off x="2256" y="816"/>
                  <a:ext cx="240" cy="2976"/>
                </a:xfrm>
                <a:prstGeom prst="rect">
                  <a:avLst/>
                </a:prstGeom>
                <a:solidFill>
                  <a:schemeClr val="tx2">
                    <a:alpha val="50000"/>
                  </a:schemeClr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/>
                </a:p>
              </p:txBody>
            </p:sp>
            <p:sp>
              <p:nvSpPr>
                <p:cNvPr id="1548313" name="Rectangle 25"/>
                <p:cNvSpPr>
                  <a:spLocks noChangeArrowheads="1"/>
                </p:cNvSpPr>
                <p:nvPr/>
              </p:nvSpPr>
              <p:spPr bwMode="auto">
                <a:xfrm>
                  <a:off x="2496" y="816"/>
                  <a:ext cx="240" cy="2976"/>
                </a:xfrm>
                <a:prstGeom prst="rect">
                  <a:avLst/>
                </a:prstGeom>
                <a:solidFill>
                  <a:schemeClr val="hlink">
                    <a:alpha val="50000"/>
                  </a:schemeClr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/>
                </a:p>
              </p:txBody>
            </p:sp>
            <p:sp>
              <p:nvSpPr>
                <p:cNvPr id="1548314" name="Rectangle 26"/>
                <p:cNvSpPr>
                  <a:spLocks noChangeArrowheads="1"/>
                </p:cNvSpPr>
                <p:nvPr/>
              </p:nvSpPr>
              <p:spPr bwMode="auto">
                <a:xfrm>
                  <a:off x="2736" y="816"/>
                  <a:ext cx="240" cy="2976"/>
                </a:xfrm>
                <a:prstGeom prst="rect">
                  <a:avLst/>
                </a:prstGeom>
                <a:solidFill>
                  <a:schemeClr val="tx2">
                    <a:alpha val="50000"/>
                  </a:schemeClr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/>
                </a:p>
              </p:txBody>
            </p:sp>
          </p:grpSp>
          <p:sp>
            <p:nvSpPr>
              <p:cNvPr id="1548315" name="Line 27"/>
              <p:cNvSpPr>
                <a:spLocks noChangeShapeType="1"/>
              </p:cNvSpPr>
              <p:nvPr/>
            </p:nvSpPr>
            <p:spPr bwMode="auto">
              <a:xfrm flipV="1">
                <a:off x="1296" y="816"/>
                <a:ext cx="0" cy="30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lIns="90000" tIns="46800" rIns="90000" bIns="46800"/>
              <a:lstStyle/>
              <a:p>
                <a:endParaRPr lang="en-US"/>
              </a:p>
            </p:txBody>
          </p:sp>
          <p:sp>
            <p:nvSpPr>
              <p:cNvPr id="1548316" name="Line 28"/>
              <p:cNvSpPr>
                <a:spLocks noChangeShapeType="1"/>
              </p:cNvSpPr>
              <p:nvPr/>
            </p:nvSpPr>
            <p:spPr bwMode="auto">
              <a:xfrm>
                <a:off x="1296" y="3840"/>
                <a:ext cx="312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lIns="90000" tIns="46800" rIns="90000" bIns="46800"/>
              <a:lstStyle/>
              <a:p>
                <a:endParaRPr lang="en-US"/>
              </a:p>
            </p:txBody>
          </p:sp>
        </p:grpSp>
        <p:sp>
          <p:nvSpPr>
            <p:cNvPr id="1548317" name="Text Box 29"/>
            <p:cNvSpPr txBox="1">
              <a:spLocks noChangeArrowheads="1"/>
            </p:cNvSpPr>
            <p:nvPr/>
          </p:nvSpPr>
          <p:spPr bwMode="auto">
            <a:xfrm>
              <a:off x="816" y="4032"/>
              <a:ext cx="192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/>
                <a:t>0</a:t>
              </a:r>
              <a:endParaRPr lang="en-GB" sz="1600"/>
            </a:p>
          </p:txBody>
        </p:sp>
        <p:sp>
          <p:nvSpPr>
            <p:cNvPr id="1548318" name="Text Box 30"/>
            <p:cNvSpPr txBox="1">
              <a:spLocks noChangeArrowheads="1"/>
            </p:cNvSpPr>
            <p:nvPr/>
          </p:nvSpPr>
          <p:spPr bwMode="auto">
            <a:xfrm>
              <a:off x="1152" y="4032"/>
              <a:ext cx="192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/>
                <a:t>1</a:t>
              </a:r>
              <a:endParaRPr lang="en-GB" sz="1600"/>
            </a:p>
          </p:txBody>
        </p:sp>
        <p:sp>
          <p:nvSpPr>
            <p:cNvPr id="1548319" name="Text Box 31"/>
            <p:cNvSpPr txBox="1">
              <a:spLocks noChangeArrowheads="1"/>
            </p:cNvSpPr>
            <p:nvPr/>
          </p:nvSpPr>
          <p:spPr bwMode="auto">
            <a:xfrm>
              <a:off x="1488" y="4032"/>
              <a:ext cx="192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/>
                <a:t>2</a:t>
              </a:r>
              <a:endParaRPr lang="en-GB" sz="1600"/>
            </a:p>
          </p:txBody>
        </p:sp>
        <p:sp>
          <p:nvSpPr>
            <p:cNvPr id="1548320" name="Text Box 32"/>
            <p:cNvSpPr txBox="1">
              <a:spLocks noChangeArrowheads="1"/>
            </p:cNvSpPr>
            <p:nvPr/>
          </p:nvSpPr>
          <p:spPr bwMode="auto">
            <a:xfrm>
              <a:off x="1824" y="4032"/>
              <a:ext cx="192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/>
                <a:t>3</a:t>
              </a:r>
              <a:endParaRPr lang="en-GB" sz="1600"/>
            </a:p>
          </p:txBody>
        </p:sp>
        <p:sp>
          <p:nvSpPr>
            <p:cNvPr id="1548321" name="Text Box 33"/>
            <p:cNvSpPr txBox="1">
              <a:spLocks noChangeArrowheads="1"/>
            </p:cNvSpPr>
            <p:nvPr/>
          </p:nvSpPr>
          <p:spPr bwMode="auto">
            <a:xfrm>
              <a:off x="2160" y="4032"/>
              <a:ext cx="192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/>
                <a:t>4</a:t>
              </a:r>
              <a:endParaRPr lang="en-GB" sz="1600"/>
            </a:p>
          </p:txBody>
        </p:sp>
        <p:sp>
          <p:nvSpPr>
            <p:cNvPr id="1548322" name="Text Box 34"/>
            <p:cNvSpPr txBox="1">
              <a:spLocks noChangeArrowheads="1"/>
            </p:cNvSpPr>
            <p:nvPr/>
          </p:nvSpPr>
          <p:spPr bwMode="auto">
            <a:xfrm>
              <a:off x="2544" y="4032"/>
              <a:ext cx="192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/>
                <a:t>5</a:t>
              </a:r>
              <a:endParaRPr lang="en-GB" sz="1600"/>
            </a:p>
          </p:txBody>
        </p:sp>
        <p:sp>
          <p:nvSpPr>
            <p:cNvPr id="1548323" name="Text Box 35"/>
            <p:cNvSpPr txBox="1">
              <a:spLocks noChangeArrowheads="1"/>
            </p:cNvSpPr>
            <p:nvPr/>
          </p:nvSpPr>
          <p:spPr bwMode="auto">
            <a:xfrm>
              <a:off x="2880" y="4032"/>
              <a:ext cx="192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/>
                <a:t>6</a:t>
              </a:r>
              <a:endParaRPr lang="en-GB" sz="1600"/>
            </a:p>
          </p:txBody>
        </p:sp>
        <p:sp>
          <p:nvSpPr>
            <p:cNvPr id="1548324" name="Text Box 36"/>
            <p:cNvSpPr txBox="1">
              <a:spLocks noChangeArrowheads="1"/>
            </p:cNvSpPr>
            <p:nvPr/>
          </p:nvSpPr>
          <p:spPr bwMode="auto">
            <a:xfrm>
              <a:off x="3264" y="4032"/>
              <a:ext cx="192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/>
                <a:t>7</a:t>
              </a:r>
              <a:endParaRPr lang="en-GB" sz="1600"/>
            </a:p>
          </p:txBody>
        </p:sp>
        <p:sp>
          <p:nvSpPr>
            <p:cNvPr id="1548325" name="Text Box 37"/>
            <p:cNvSpPr txBox="1">
              <a:spLocks noChangeArrowheads="1"/>
            </p:cNvSpPr>
            <p:nvPr/>
          </p:nvSpPr>
          <p:spPr bwMode="auto">
            <a:xfrm>
              <a:off x="3600" y="4032"/>
              <a:ext cx="192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/>
                <a:t>8</a:t>
              </a:r>
              <a:endParaRPr lang="en-GB" sz="1600"/>
            </a:p>
          </p:txBody>
        </p:sp>
        <p:sp>
          <p:nvSpPr>
            <p:cNvPr id="1548326" name="Text Box 38"/>
            <p:cNvSpPr txBox="1">
              <a:spLocks noChangeArrowheads="1"/>
            </p:cNvSpPr>
            <p:nvPr/>
          </p:nvSpPr>
          <p:spPr bwMode="auto">
            <a:xfrm>
              <a:off x="3936" y="4032"/>
              <a:ext cx="192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/>
                <a:t>9</a:t>
              </a:r>
              <a:endParaRPr lang="en-GB" sz="1600"/>
            </a:p>
          </p:txBody>
        </p:sp>
        <p:sp>
          <p:nvSpPr>
            <p:cNvPr id="1548327" name="Text Box 39"/>
            <p:cNvSpPr txBox="1">
              <a:spLocks noChangeArrowheads="1"/>
            </p:cNvSpPr>
            <p:nvPr/>
          </p:nvSpPr>
          <p:spPr bwMode="auto">
            <a:xfrm>
              <a:off x="4176" y="4032"/>
              <a:ext cx="336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/>
                <a:t>10</a:t>
              </a:r>
              <a:endParaRPr lang="en-GB" sz="1600"/>
            </a:p>
          </p:txBody>
        </p:sp>
        <p:sp>
          <p:nvSpPr>
            <p:cNvPr id="1548328" name="Text Box 40"/>
            <p:cNvSpPr txBox="1">
              <a:spLocks noChangeArrowheads="1"/>
            </p:cNvSpPr>
            <p:nvPr/>
          </p:nvSpPr>
          <p:spPr bwMode="auto">
            <a:xfrm>
              <a:off x="720" y="3600"/>
              <a:ext cx="192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/>
                <a:t>1</a:t>
              </a:r>
              <a:endParaRPr lang="en-GB" sz="1600"/>
            </a:p>
          </p:txBody>
        </p:sp>
        <p:sp>
          <p:nvSpPr>
            <p:cNvPr id="1548329" name="Text Box 41"/>
            <p:cNvSpPr txBox="1">
              <a:spLocks noChangeArrowheads="1"/>
            </p:cNvSpPr>
            <p:nvPr/>
          </p:nvSpPr>
          <p:spPr bwMode="auto">
            <a:xfrm>
              <a:off x="720" y="3264"/>
              <a:ext cx="192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/>
                <a:t>2</a:t>
              </a:r>
              <a:endParaRPr lang="en-GB" sz="1600"/>
            </a:p>
          </p:txBody>
        </p:sp>
        <p:sp>
          <p:nvSpPr>
            <p:cNvPr id="1548330" name="Text Box 42"/>
            <p:cNvSpPr txBox="1">
              <a:spLocks noChangeArrowheads="1"/>
            </p:cNvSpPr>
            <p:nvPr/>
          </p:nvSpPr>
          <p:spPr bwMode="auto">
            <a:xfrm>
              <a:off x="720" y="2956"/>
              <a:ext cx="192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/>
                <a:t>3</a:t>
              </a:r>
              <a:endParaRPr lang="en-GB" sz="1600"/>
            </a:p>
          </p:txBody>
        </p:sp>
        <p:sp>
          <p:nvSpPr>
            <p:cNvPr id="1548331" name="Text Box 43"/>
            <p:cNvSpPr txBox="1">
              <a:spLocks noChangeArrowheads="1"/>
            </p:cNvSpPr>
            <p:nvPr/>
          </p:nvSpPr>
          <p:spPr bwMode="auto">
            <a:xfrm>
              <a:off x="720" y="2640"/>
              <a:ext cx="192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/>
                <a:t>4</a:t>
              </a:r>
              <a:endParaRPr lang="en-GB" sz="1600"/>
            </a:p>
          </p:txBody>
        </p:sp>
        <p:sp>
          <p:nvSpPr>
            <p:cNvPr id="1548332" name="Text Box 44"/>
            <p:cNvSpPr txBox="1">
              <a:spLocks noChangeArrowheads="1"/>
            </p:cNvSpPr>
            <p:nvPr/>
          </p:nvSpPr>
          <p:spPr bwMode="auto">
            <a:xfrm>
              <a:off x="720" y="2332"/>
              <a:ext cx="192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/>
                <a:t>5</a:t>
              </a:r>
              <a:endParaRPr lang="en-GB" sz="1600"/>
            </a:p>
          </p:txBody>
        </p:sp>
        <p:sp>
          <p:nvSpPr>
            <p:cNvPr id="1548333" name="Text Box 45"/>
            <p:cNvSpPr txBox="1">
              <a:spLocks noChangeArrowheads="1"/>
            </p:cNvSpPr>
            <p:nvPr/>
          </p:nvSpPr>
          <p:spPr bwMode="auto">
            <a:xfrm>
              <a:off x="720" y="1968"/>
              <a:ext cx="192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/>
                <a:t>6</a:t>
              </a:r>
              <a:endParaRPr lang="en-GB" sz="1600"/>
            </a:p>
          </p:txBody>
        </p:sp>
        <p:sp>
          <p:nvSpPr>
            <p:cNvPr id="1548334" name="Text Box 46"/>
            <p:cNvSpPr txBox="1">
              <a:spLocks noChangeArrowheads="1"/>
            </p:cNvSpPr>
            <p:nvPr/>
          </p:nvSpPr>
          <p:spPr bwMode="auto">
            <a:xfrm>
              <a:off x="720" y="1680"/>
              <a:ext cx="192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/>
                <a:t>7</a:t>
              </a:r>
              <a:endParaRPr lang="en-GB" sz="1600"/>
            </a:p>
          </p:txBody>
        </p:sp>
        <p:sp>
          <p:nvSpPr>
            <p:cNvPr id="1548335" name="Text Box 47"/>
            <p:cNvSpPr txBox="1">
              <a:spLocks noChangeArrowheads="1"/>
            </p:cNvSpPr>
            <p:nvPr/>
          </p:nvSpPr>
          <p:spPr bwMode="auto">
            <a:xfrm>
              <a:off x="720" y="1372"/>
              <a:ext cx="192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/>
                <a:t>8</a:t>
              </a:r>
              <a:endParaRPr lang="en-GB" sz="1600"/>
            </a:p>
          </p:txBody>
        </p:sp>
        <p:sp>
          <p:nvSpPr>
            <p:cNvPr id="1548336" name="Text Box 48"/>
            <p:cNvSpPr txBox="1">
              <a:spLocks noChangeArrowheads="1"/>
            </p:cNvSpPr>
            <p:nvPr/>
          </p:nvSpPr>
          <p:spPr bwMode="auto">
            <a:xfrm>
              <a:off x="720" y="1036"/>
              <a:ext cx="192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/>
                <a:t>9</a:t>
              </a:r>
              <a:endParaRPr lang="en-GB" sz="1600"/>
            </a:p>
          </p:txBody>
        </p:sp>
        <p:sp>
          <p:nvSpPr>
            <p:cNvPr id="1548337" name="Text Box 49"/>
            <p:cNvSpPr txBox="1">
              <a:spLocks noChangeArrowheads="1"/>
            </p:cNvSpPr>
            <p:nvPr/>
          </p:nvSpPr>
          <p:spPr bwMode="auto">
            <a:xfrm>
              <a:off x="576" y="720"/>
              <a:ext cx="336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/>
                <a:t>10</a:t>
              </a:r>
              <a:endParaRPr lang="en-GB" sz="1600"/>
            </a:p>
          </p:txBody>
        </p:sp>
      </p:grpSp>
      <p:sp>
        <p:nvSpPr>
          <p:cNvPr id="1548338" name="Rectangle 50"/>
          <p:cNvSpPr>
            <a:spLocks noChangeArrowheads="1"/>
          </p:cNvSpPr>
          <p:nvPr/>
        </p:nvSpPr>
        <p:spPr bwMode="auto">
          <a:xfrm>
            <a:off x="7391400" y="1676400"/>
            <a:ext cx="1447800" cy="3962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lIns="90000" tIns="46800" rIns="90000" bIns="46800" anchor="ctr"/>
          <a:lstStyle/>
          <a:p>
            <a:pPr algn="ctr"/>
            <a:r>
              <a:rPr lang="fi-FI" sz="1600" b="1" dirty="0" smtClean="0"/>
              <a:t>Merkitse pisteesi tänne</a:t>
            </a:r>
            <a:endParaRPr lang="en-GB" sz="1600" b="1" dirty="0"/>
          </a:p>
        </p:txBody>
      </p:sp>
      <p:sp>
        <p:nvSpPr>
          <p:cNvPr id="1548339" name="AutoShape 51"/>
          <p:cNvSpPr>
            <a:spLocks noChangeArrowheads="1"/>
          </p:cNvSpPr>
          <p:nvPr/>
        </p:nvSpPr>
        <p:spPr bwMode="auto">
          <a:xfrm>
            <a:off x="7924800" y="4343400"/>
            <a:ext cx="381000" cy="381000"/>
          </a:xfrm>
          <a:prstGeom prst="star5">
            <a:avLst/>
          </a:prstGeom>
          <a:solidFill>
            <a:schemeClr val="accent2"/>
          </a:solidFill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548340" name="AutoShape 52"/>
          <p:cNvSpPr>
            <a:spLocks noChangeArrowheads="1"/>
          </p:cNvSpPr>
          <p:nvPr/>
        </p:nvSpPr>
        <p:spPr bwMode="auto">
          <a:xfrm>
            <a:off x="304800" y="3429000"/>
            <a:ext cx="381000" cy="381000"/>
          </a:xfrm>
          <a:prstGeom prst="star5">
            <a:avLst/>
          </a:prstGeom>
          <a:solidFill>
            <a:schemeClr val="accent2"/>
          </a:solidFill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914400" y="1143000"/>
            <a:ext cx="6324600" cy="5599113"/>
            <a:chOff x="576" y="720"/>
            <a:chExt cx="3984" cy="3527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912" y="720"/>
              <a:ext cx="3648" cy="3312"/>
              <a:chOff x="1296" y="816"/>
              <a:chExt cx="3120" cy="3024"/>
            </a:xfrm>
          </p:grpSpPr>
          <p:grpSp>
            <p:nvGrpSpPr>
              <p:cNvPr id="4" name="Group 4"/>
              <p:cNvGrpSpPr>
                <a:grpSpLocks/>
              </p:cNvGrpSpPr>
              <p:nvPr/>
            </p:nvGrpSpPr>
            <p:grpSpPr bwMode="auto">
              <a:xfrm>
                <a:off x="1296" y="863"/>
                <a:ext cx="2976" cy="2976"/>
                <a:chOff x="1487" y="767"/>
                <a:chExt cx="2976" cy="2976"/>
              </a:xfrm>
            </p:grpSpPr>
            <p:sp>
              <p:nvSpPr>
                <p:cNvPr id="1549317" name="Rectangle 5"/>
                <p:cNvSpPr>
                  <a:spLocks noChangeArrowheads="1"/>
                </p:cNvSpPr>
                <p:nvPr/>
              </p:nvSpPr>
              <p:spPr bwMode="auto">
                <a:xfrm rot="5400000">
                  <a:off x="2826" y="-572"/>
                  <a:ext cx="298" cy="2976"/>
                </a:xfrm>
                <a:prstGeom prst="rect">
                  <a:avLst/>
                </a:prstGeom>
                <a:solidFill>
                  <a:schemeClr val="hlink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49318" name="Rectangle 6"/>
                <p:cNvSpPr>
                  <a:spLocks noChangeArrowheads="1"/>
                </p:cNvSpPr>
                <p:nvPr/>
              </p:nvSpPr>
              <p:spPr bwMode="auto">
                <a:xfrm rot="5400000">
                  <a:off x="2826" y="-274"/>
                  <a:ext cx="297" cy="2976"/>
                </a:xfrm>
                <a:prstGeom prst="rect">
                  <a:avLst/>
                </a:prstGeom>
                <a:solidFill>
                  <a:schemeClr val="tx2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49319" name="Rectangle 7"/>
                <p:cNvSpPr>
                  <a:spLocks noChangeArrowheads="1"/>
                </p:cNvSpPr>
                <p:nvPr/>
              </p:nvSpPr>
              <p:spPr bwMode="auto">
                <a:xfrm rot="5400000">
                  <a:off x="2826" y="23"/>
                  <a:ext cx="298" cy="2976"/>
                </a:xfrm>
                <a:prstGeom prst="rect">
                  <a:avLst/>
                </a:prstGeom>
                <a:solidFill>
                  <a:schemeClr val="hlink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49320" name="Rectangle 8"/>
                <p:cNvSpPr>
                  <a:spLocks noChangeArrowheads="1"/>
                </p:cNvSpPr>
                <p:nvPr/>
              </p:nvSpPr>
              <p:spPr bwMode="auto">
                <a:xfrm rot="5400000">
                  <a:off x="2826" y="321"/>
                  <a:ext cx="297" cy="2976"/>
                </a:xfrm>
                <a:prstGeom prst="rect">
                  <a:avLst/>
                </a:prstGeom>
                <a:solidFill>
                  <a:schemeClr val="tx2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49321" name="Rectangle 9"/>
                <p:cNvSpPr>
                  <a:spLocks noChangeArrowheads="1"/>
                </p:cNvSpPr>
                <p:nvPr/>
              </p:nvSpPr>
              <p:spPr bwMode="auto">
                <a:xfrm rot="5400000">
                  <a:off x="2826" y="618"/>
                  <a:ext cx="298" cy="2976"/>
                </a:xfrm>
                <a:prstGeom prst="rect">
                  <a:avLst/>
                </a:prstGeom>
                <a:solidFill>
                  <a:schemeClr val="hlink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49322" name="Rectangle 10"/>
                <p:cNvSpPr>
                  <a:spLocks noChangeArrowheads="1"/>
                </p:cNvSpPr>
                <p:nvPr/>
              </p:nvSpPr>
              <p:spPr bwMode="auto">
                <a:xfrm rot="5400000">
                  <a:off x="2826" y="916"/>
                  <a:ext cx="298" cy="2976"/>
                </a:xfrm>
                <a:prstGeom prst="rect">
                  <a:avLst/>
                </a:prstGeom>
                <a:solidFill>
                  <a:schemeClr val="tx2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49323" name="Rectangle 11"/>
                <p:cNvSpPr>
                  <a:spLocks noChangeArrowheads="1"/>
                </p:cNvSpPr>
                <p:nvPr/>
              </p:nvSpPr>
              <p:spPr bwMode="auto">
                <a:xfrm rot="5400000">
                  <a:off x="2826" y="1214"/>
                  <a:ext cx="297" cy="2976"/>
                </a:xfrm>
                <a:prstGeom prst="rect">
                  <a:avLst/>
                </a:prstGeom>
                <a:solidFill>
                  <a:schemeClr val="hlink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49324" name="Rectangle 12"/>
                <p:cNvSpPr>
                  <a:spLocks noChangeArrowheads="1"/>
                </p:cNvSpPr>
                <p:nvPr/>
              </p:nvSpPr>
              <p:spPr bwMode="auto">
                <a:xfrm rot="5400000">
                  <a:off x="2826" y="1511"/>
                  <a:ext cx="298" cy="2976"/>
                </a:xfrm>
                <a:prstGeom prst="rect">
                  <a:avLst/>
                </a:prstGeom>
                <a:solidFill>
                  <a:schemeClr val="tx2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49325" name="Rectangle 13"/>
                <p:cNvSpPr>
                  <a:spLocks noChangeArrowheads="1"/>
                </p:cNvSpPr>
                <p:nvPr/>
              </p:nvSpPr>
              <p:spPr bwMode="auto">
                <a:xfrm rot="5400000">
                  <a:off x="2826" y="1809"/>
                  <a:ext cx="297" cy="2976"/>
                </a:xfrm>
                <a:prstGeom prst="rect">
                  <a:avLst/>
                </a:prstGeom>
                <a:solidFill>
                  <a:schemeClr val="hlink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49326" name="Rectangle 14"/>
                <p:cNvSpPr>
                  <a:spLocks noChangeArrowheads="1"/>
                </p:cNvSpPr>
                <p:nvPr/>
              </p:nvSpPr>
              <p:spPr bwMode="auto">
                <a:xfrm rot="5400000">
                  <a:off x="2826" y="2106"/>
                  <a:ext cx="298" cy="2976"/>
                </a:xfrm>
                <a:prstGeom prst="rect">
                  <a:avLst/>
                </a:prstGeom>
                <a:solidFill>
                  <a:schemeClr val="tx2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5" name="Group 15"/>
              <p:cNvGrpSpPr>
                <a:grpSpLocks/>
              </p:cNvGrpSpPr>
              <p:nvPr/>
            </p:nvGrpSpPr>
            <p:grpSpPr bwMode="auto">
              <a:xfrm>
                <a:off x="1296" y="864"/>
                <a:ext cx="2976" cy="2976"/>
                <a:chOff x="576" y="816"/>
                <a:chExt cx="2400" cy="2976"/>
              </a:xfrm>
            </p:grpSpPr>
            <p:sp>
              <p:nvSpPr>
                <p:cNvPr id="1549328" name="Rectangle 16"/>
                <p:cNvSpPr>
                  <a:spLocks noChangeArrowheads="1"/>
                </p:cNvSpPr>
                <p:nvPr/>
              </p:nvSpPr>
              <p:spPr bwMode="auto">
                <a:xfrm>
                  <a:off x="576" y="816"/>
                  <a:ext cx="240" cy="2976"/>
                </a:xfrm>
                <a:prstGeom prst="rect">
                  <a:avLst/>
                </a:prstGeom>
                <a:solidFill>
                  <a:schemeClr val="hlink">
                    <a:alpha val="50000"/>
                  </a:schemeClr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49329" name="Rectangle 17"/>
                <p:cNvSpPr>
                  <a:spLocks noChangeArrowheads="1"/>
                </p:cNvSpPr>
                <p:nvPr/>
              </p:nvSpPr>
              <p:spPr bwMode="auto">
                <a:xfrm>
                  <a:off x="816" y="816"/>
                  <a:ext cx="240" cy="2976"/>
                </a:xfrm>
                <a:prstGeom prst="rect">
                  <a:avLst/>
                </a:prstGeom>
                <a:solidFill>
                  <a:schemeClr val="tx2">
                    <a:alpha val="50000"/>
                  </a:schemeClr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49330" name="Rectangle 18"/>
                <p:cNvSpPr>
                  <a:spLocks noChangeArrowheads="1"/>
                </p:cNvSpPr>
                <p:nvPr/>
              </p:nvSpPr>
              <p:spPr bwMode="auto">
                <a:xfrm>
                  <a:off x="1056" y="816"/>
                  <a:ext cx="240" cy="2976"/>
                </a:xfrm>
                <a:prstGeom prst="rect">
                  <a:avLst/>
                </a:prstGeom>
                <a:solidFill>
                  <a:schemeClr val="hlink">
                    <a:alpha val="50000"/>
                  </a:schemeClr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49331" name="Rectangle 19"/>
                <p:cNvSpPr>
                  <a:spLocks noChangeArrowheads="1"/>
                </p:cNvSpPr>
                <p:nvPr/>
              </p:nvSpPr>
              <p:spPr bwMode="auto">
                <a:xfrm>
                  <a:off x="1296" y="816"/>
                  <a:ext cx="240" cy="2976"/>
                </a:xfrm>
                <a:prstGeom prst="rect">
                  <a:avLst/>
                </a:prstGeom>
                <a:solidFill>
                  <a:schemeClr val="tx2">
                    <a:alpha val="50000"/>
                  </a:schemeClr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49332" name="Rectangle 20"/>
                <p:cNvSpPr>
                  <a:spLocks noChangeArrowheads="1"/>
                </p:cNvSpPr>
                <p:nvPr/>
              </p:nvSpPr>
              <p:spPr bwMode="auto">
                <a:xfrm>
                  <a:off x="1536" y="816"/>
                  <a:ext cx="240" cy="2976"/>
                </a:xfrm>
                <a:prstGeom prst="rect">
                  <a:avLst/>
                </a:prstGeom>
                <a:solidFill>
                  <a:schemeClr val="hlink">
                    <a:alpha val="50000"/>
                  </a:schemeClr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49333" name="Rectangle 21"/>
                <p:cNvSpPr>
                  <a:spLocks noChangeArrowheads="1"/>
                </p:cNvSpPr>
                <p:nvPr/>
              </p:nvSpPr>
              <p:spPr bwMode="auto">
                <a:xfrm>
                  <a:off x="1776" y="816"/>
                  <a:ext cx="240" cy="2976"/>
                </a:xfrm>
                <a:prstGeom prst="rect">
                  <a:avLst/>
                </a:prstGeom>
                <a:solidFill>
                  <a:schemeClr val="tx2">
                    <a:alpha val="50000"/>
                  </a:schemeClr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49334" name="Rectangle 22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40" cy="2976"/>
                </a:xfrm>
                <a:prstGeom prst="rect">
                  <a:avLst/>
                </a:prstGeom>
                <a:solidFill>
                  <a:schemeClr val="hlink">
                    <a:alpha val="50000"/>
                  </a:schemeClr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49335" name="Rectangle 23"/>
                <p:cNvSpPr>
                  <a:spLocks noChangeArrowheads="1"/>
                </p:cNvSpPr>
                <p:nvPr/>
              </p:nvSpPr>
              <p:spPr bwMode="auto">
                <a:xfrm>
                  <a:off x="2256" y="816"/>
                  <a:ext cx="240" cy="2976"/>
                </a:xfrm>
                <a:prstGeom prst="rect">
                  <a:avLst/>
                </a:prstGeom>
                <a:solidFill>
                  <a:schemeClr val="tx2">
                    <a:alpha val="50000"/>
                  </a:schemeClr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49336" name="Rectangle 24"/>
                <p:cNvSpPr>
                  <a:spLocks noChangeArrowheads="1"/>
                </p:cNvSpPr>
                <p:nvPr/>
              </p:nvSpPr>
              <p:spPr bwMode="auto">
                <a:xfrm>
                  <a:off x="2496" y="816"/>
                  <a:ext cx="240" cy="2976"/>
                </a:xfrm>
                <a:prstGeom prst="rect">
                  <a:avLst/>
                </a:prstGeom>
                <a:solidFill>
                  <a:schemeClr val="hlink">
                    <a:alpha val="50000"/>
                  </a:schemeClr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49337" name="Rectangle 25"/>
                <p:cNvSpPr>
                  <a:spLocks noChangeArrowheads="1"/>
                </p:cNvSpPr>
                <p:nvPr/>
              </p:nvSpPr>
              <p:spPr bwMode="auto">
                <a:xfrm>
                  <a:off x="2736" y="816"/>
                  <a:ext cx="240" cy="2976"/>
                </a:xfrm>
                <a:prstGeom prst="rect">
                  <a:avLst/>
                </a:prstGeom>
                <a:solidFill>
                  <a:schemeClr val="tx2">
                    <a:alpha val="50000"/>
                  </a:schemeClr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549338" name="Line 26"/>
              <p:cNvSpPr>
                <a:spLocks noChangeShapeType="1"/>
              </p:cNvSpPr>
              <p:nvPr/>
            </p:nvSpPr>
            <p:spPr bwMode="auto">
              <a:xfrm flipV="1">
                <a:off x="1296" y="816"/>
                <a:ext cx="0" cy="30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lIns="90000" tIns="46800" rIns="90000" bIns="46800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49339" name="Line 27"/>
              <p:cNvSpPr>
                <a:spLocks noChangeShapeType="1"/>
              </p:cNvSpPr>
              <p:nvPr/>
            </p:nvSpPr>
            <p:spPr bwMode="auto">
              <a:xfrm>
                <a:off x="1296" y="3840"/>
                <a:ext cx="312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lIns="90000" tIns="46800" rIns="90000" bIns="46800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549340" name="Text Box 28"/>
            <p:cNvSpPr txBox="1">
              <a:spLocks noChangeArrowheads="1"/>
            </p:cNvSpPr>
            <p:nvPr/>
          </p:nvSpPr>
          <p:spPr bwMode="auto">
            <a:xfrm>
              <a:off x="816" y="4032"/>
              <a:ext cx="192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>
                  <a:solidFill>
                    <a:schemeClr val="bg1"/>
                  </a:solidFill>
                </a:rPr>
                <a:t>0</a:t>
              </a:r>
              <a:endParaRPr lang="en-GB" sz="1600">
                <a:solidFill>
                  <a:schemeClr val="bg1"/>
                </a:solidFill>
              </a:endParaRPr>
            </a:p>
          </p:txBody>
        </p:sp>
        <p:sp>
          <p:nvSpPr>
            <p:cNvPr id="1549341" name="Text Box 29"/>
            <p:cNvSpPr txBox="1">
              <a:spLocks noChangeArrowheads="1"/>
            </p:cNvSpPr>
            <p:nvPr/>
          </p:nvSpPr>
          <p:spPr bwMode="auto">
            <a:xfrm>
              <a:off x="1152" y="4032"/>
              <a:ext cx="192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>
                  <a:solidFill>
                    <a:schemeClr val="bg1"/>
                  </a:solidFill>
                </a:rPr>
                <a:t>1</a:t>
              </a:r>
              <a:endParaRPr lang="en-GB" sz="1600">
                <a:solidFill>
                  <a:schemeClr val="bg1"/>
                </a:solidFill>
              </a:endParaRPr>
            </a:p>
          </p:txBody>
        </p:sp>
        <p:sp>
          <p:nvSpPr>
            <p:cNvPr id="1549342" name="Text Box 30"/>
            <p:cNvSpPr txBox="1">
              <a:spLocks noChangeArrowheads="1"/>
            </p:cNvSpPr>
            <p:nvPr/>
          </p:nvSpPr>
          <p:spPr bwMode="auto">
            <a:xfrm>
              <a:off x="1488" y="4032"/>
              <a:ext cx="192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>
                  <a:solidFill>
                    <a:schemeClr val="bg1"/>
                  </a:solidFill>
                </a:rPr>
                <a:t>2</a:t>
              </a:r>
              <a:endParaRPr lang="en-GB" sz="1600">
                <a:solidFill>
                  <a:schemeClr val="bg1"/>
                </a:solidFill>
              </a:endParaRPr>
            </a:p>
          </p:txBody>
        </p:sp>
        <p:sp>
          <p:nvSpPr>
            <p:cNvPr id="1549343" name="Text Box 31"/>
            <p:cNvSpPr txBox="1">
              <a:spLocks noChangeArrowheads="1"/>
            </p:cNvSpPr>
            <p:nvPr/>
          </p:nvSpPr>
          <p:spPr bwMode="auto">
            <a:xfrm>
              <a:off x="1824" y="4032"/>
              <a:ext cx="192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>
                  <a:solidFill>
                    <a:schemeClr val="bg1"/>
                  </a:solidFill>
                </a:rPr>
                <a:t>3</a:t>
              </a:r>
              <a:endParaRPr lang="en-GB" sz="1600">
                <a:solidFill>
                  <a:schemeClr val="bg1"/>
                </a:solidFill>
              </a:endParaRPr>
            </a:p>
          </p:txBody>
        </p:sp>
        <p:sp>
          <p:nvSpPr>
            <p:cNvPr id="1549344" name="Text Box 32"/>
            <p:cNvSpPr txBox="1">
              <a:spLocks noChangeArrowheads="1"/>
            </p:cNvSpPr>
            <p:nvPr/>
          </p:nvSpPr>
          <p:spPr bwMode="auto">
            <a:xfrm>
              <a:off x="2160" y="4032"/>
              <a:ext cx="192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>
                  <a:solidFill>
                    <a:schemeClr val="bg1"/>
                  </a:solidFill>
                </a:rPr>
                <a:t>4</a:t>
              </a:r>
              <a:endParaRPr lang="en-GB" sz="1600">
                <a:solidFill>
                  <a:schemeClr val="bg1"/>
                </a:solidFill>
              </a:endParaRPr>
            </a:p>
          </p:txBody>
        </p:sp>
        <p:sp>
          <p:nvSpPr>
            <p:cNvPr id="1549345" name="Text Box 33"/>
            <p:cNvSpPr txBox="1">
              <a:spLocks noChangeArrowheads="1"/>
            </p:cNvSpPr>
            <p:nvPr/>
          </p:nvSpPr>
          <p:spPr bwMode="auto">
            <a:xfrm>
              <a:off x="2544" y="4032"/>
              <a:ext cx="192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>
                  <a:solidFill>
                    <a:schemeClr val="bg1"/>
                  </a:solidFill>
                </a:rPr>
                <a:t>5</a:t>
              </a:r>
              <a:endParaRPr lang="en-GB" sz="1600">
                <a:solidFill>
                  <a:schemeClr val="bg1"/>
                </a:solidFill>
              </a:endParaRPr>
            </a:p>
          </p:txBody>
        </p:sp>
        <p:sp>
          <p:nvSpPr>
            <p:cNvPr id="1549346" name="Text Box 34"/>
            <p:cNvSpPr txBox="1">
              <a:spLocks noChangeArrowheads="1"/>
            </p:cNvSpPr>
            <p:nvPr/>
          </p:nvSpPr>
          <p:spPr bwMode="auto">
            <a:xfrm>
              <a:off x="2880" y="4032"/>
              <a:ext cx="192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>
                  <a:solidFill>
                    <a:schemeClr val="bg1"/>
                  </a:solidFill>
                </a:rPr>
                <a:t>6</a:t>
              </a:r>
              <a:endParaRPr lang="en-GB" sz="1600">
                <a:solidFill>
                  <a:schemeClr val="bg1"/>
                </a:solidFill>
              </a:endParaRPr>
            </a:p>
          </p:txBody>
        </p:sp>
        <p:sp>
          <p:nvSpPr>
            <p:cNvPr id="1549347" name="Text Box 35"/>
            <p:cNvSpPr txBox="1">
              <a:spLocks noChangeArrowheads="1"/>
            </p:cNvSpPr>
            <p:nvPr/>
          </p:nvSpPr>
          <p:spPr bwMode="auto">
            <a:xfrm>
              <a:off x="3264" y="4032"/>
              <a:ext cx="192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>
                  <a:solidFill>
                    <a:schemeClr val="bg1"/>
                  </a:solidFill>
                </a:rPr>
                <a:t>7</a:t>
              </a:r>
              <a:endParaRPr lang="en-GB" sz="1600">
                <a:solidFill>
                  <a:schemeClr val="bg1"/>
                </a:solidFill>
              </a:endParaRPr>
            </a:p>
          </p:txBody>
        </p:sp>
        <p:sp>
          <p:nvSpPr>
            <p:cNvPr id="1549348" name="Text Box 36"/>
            <p:cNvSpPr txBox="1">
              <a:spLocks noChangeArrowheads="1"/>
            </p:cNvSpPr>
            <p:nvPr/>
          </p:nvSpPr>
          <p:spPr bwMode="auto">
            <a:xfrm>
              <a:off x="3600" y="4032"/>
              <a:ext cx="192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>
                  <a:solidFill>
                    <a:schemeClr val="bg1"/>
                  </a:solidFill>
                </a:rPr>
                <a:t>8</a:t>
              </a:r>
              <a:endParaRPr lang="en-GB" sz="1600">
                <a:solidFill>
                  <a:schemeClr val="bg1"/>
                </a:solidFill>
              </a:endParaRPr>
            </a:p>
          </p:txBody>
        </p:sp>
        <p:sp>
          <p:nvSpPr>
            <p:cNvPr id="1549349" name="Text Box 37"/>
            <p:cNvSpPr txBox="1">
              <a:spLocks noChangeArrowheads="1"/>
            </p:cNvSpPr>
            <p:nvPr/>
          </p:nvSpPr>
          <p:spPr bwMode="auto">
            <a:xfrm>
              <a:off x="3936" y="4032"/>
              <a:ext cx="192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>
                  <a:solidFill>
                    <a:schemeClr val="bg1"/>
                  </a:solidFill>
                </a:rPr>
                <a:t>9</a:t>
              </a:r>
              <a:endParaRPr lang="en-GB" sz="1600">
                <a:solidFill>
                  <a:schemeClr val="bg1"/>
                </a:solidFill>
              </a:endParaRPr>
            </a:p>
          </p:txBody>
        </p:sp>
        <p:sp>
          <p:nvSpPr>
            <p:cNvPr id="1549350" name="Text Box 38"/>
            <p:cNvSpPr txBox="1">
              <a:spLocks noChangeArrowheads="1"/>
            </p:cNvSpPr>
            <p:nvPr/>
          </p:nvSpPr>
          <p:spPr bwMode="auto">
            <a:xfrm>
              <a:off x="4176" y="4032"/>
              <a:ext cx="336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>
                  <a:solidFill>
                    <a:schemeClr val="bg1"/>
                  </a:solidFill>
                </a:rPr>
                <a:t>10</a:t>
              </a:r>
              <a:endParaRPr lang="en-GB" sz="1600">
                <a:solidFill>
                  <a:schemeClr val="bg1"/>
                </a:solidFill>
              </a:endParaRPr>
            </a:p>
          </p:txBody>
        </p:sp>
        <p:sp>
          <p:nvSpPr>
            <p:cNvPr id="1549351" name="Text Box 39"/>
            <p:cNvSpPr txBox="1">
              <a:spLocks noChangeArrowheads="1"/>
            </p:cNvSpPr>
            <p:nvPr/>
          </p:nvSpPr>
          <p:spPr bwMode="auto">
            <a:xfrm>
              <a:off x="720" y="3600"/>
              <a:ext cx="192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>
                  <a:solidFill>
                    <a:schemeClr val="bg1"/>
                  </a:solidFill>
                </a:rPr>
                <a:t>1</a:t>
              </a:r>
              <a:endParaRPr lang="en-GB" sz="1600">
                <a:solidFill>
                  <a:schemeClr val="bg1"/>
                </a:solidFill>
              </a:endParaRPr>
            </a:p>
          </p:txBody>
        </p:sp>
        <p:sp>
          <p:nvSpPr>
            <p:cNvPr id="1549352" name="Text Box 40"/>
            <p:cNvSpPr txBox="1">
              <a:spLocks noChangeArrowheads="1"/>
            </p:cNvSpPr>
            <p:nvPr/>
          </p:nvSpPr>
          <p:spPr bwMode="auto">
            <a:xfrm>
              <a:off x="720" y="3264"/>
              <a:ext cx="192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>
                  <a:solidFill>
                    <a:schemeClr val="bg1"/>
                  </a:solidFill>
                </a:rPr>
                <a:t>2</a:t>
              </a:r>
              <a:endParaRPr lang="en-GB" sz="1600">
                <a:solidFill>
                  <a:schemeClr val="bg1"/>
                </a:solidFill>
              </a:endParaRPr>
            </a:p>
          </p:txBody>
        </p:sp>
        <p:sp>
          <p:nvSpPr>
            <p:cNvPr id="1549353" name="Text Box 41"/>
            <p:cNvSpPr txBox="1">
              <a:spLocks noChangeArrowheads="1"/>
            </p:cNvSpPr>
            <p:nvPr/>
          </p:nvSpPr>
          <p:spPr bwMode="auto">
            <a:xfrm>
              <a:off x="720" y="2956"/>
              <a:ext cx="192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>
                  <a:solidFill>
                    <a:schemeClr val="bg1"/>
                  </a:solidFill>
                </a:rPr>
                <a:t>3</a:t>
              </a:r>
              <a:endParaRPr lang="en-GB" sz="1600">
                <a:solidFill>
                  <a:schemeClr val="bg1"/>
                </a:solidFill>
              </a:endParaRPr>
            </a:p>
          </p:txBody>
        </p:sp>
        <p:sp>
          <p:nvSpPr>
            <p:cNvPr id="1549354" name="Text Box 42"/>
            <p:cNvSpPr txBox="1">
              <a:spLocks noChangeArrowheads="1"/>
            </p:cNvSpPr>
            <p:nvPr/>
          </p:nvSpPr>
          <p:spPr bwMode="auto">
            <a:xfrm>
              <a:off x="720" y="2640"/>
              <a:ext cx="192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>
                  <a:solidFill>
                    <a:schemeClr val="bg1"/>
                  </a:solidFill>
                </a:rPr>
                <a:t>4</a:t>
              </a:r>
              <a:endParaRPr lang="en-GB" sz="1600">
                <a:solidFill>
                  <a:schemeClr val="bg1"/>
                </a:solidFill>
              </a:endParaRPr>
            </a:p>
          </p:txBody>
        </p:sp>
        <p:sp>
          <p:nvSpPr>
            <p:cNvPr id="1549355" name="Text Box 43"/>
            <p:cNvSpPr txBox="1">
              <a:spLocks noChangeArrowheads="1"/>
            </p:cNvSpPr>
            <p:nvPr/>
          </p:nvSpPr>
          <p:spPr bwMode="auto">
            <a:xfrm>
              <a:off x="720" y="2332"/>
              <a:ext cx="192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>
                  <a:solidFill>
                    <a:schemeClr val="bg1"/>
                  </a:solidFill>
                </a:rPr>
                <a:t>5</a:t>
              </a:r>
              <a:endParaRPr lang="en-GB" sz="1600">
                <a:solidFill>
                  <a:schemeClr val="bg1"/>
                </a:solidFill>
              </a:endParaRPr>
            </a:p>
          </p:txBody>
        </p:sp>
        <p:sp>
          <p:nvSpPr>
            <p:cNvPr id="1549356" name="Text Box 44"/>
            <p:cNvSpPr txBox="1">
              <a:spLocks noChangeArrowheads="1"/>
            </p:cNvSpPr>
            <p:nvPr/>
          </p:nvSpPr>
          <p:spPr bwMode="auto">
            <a:xfrm>
              <a:off x="720" y="1968"/>
              <a:ext cx="192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>
                  <a:solidFill>
                    <a:schemeClr val="bg1"/>
                  </a:solidFill>
                </a:rPr>
                <a:t>6</a:t>
              </a:r>
              <a:endParaRPr lang="en-GB" sz="1600">
                <a:solidFill>
                  <a:schemeClr val="bg1"/>
                </a:solidFill>
              </a:endParaRPr>
            </a:p>
          </p:txBody>
        </p:sp>
        <p:sp>
          <p:nvSpPr>
            <p:cNvPr id="1549357" name="Text Box 45"/>
            <p:cNvSpPr txBox="1">
              <a:spLocks noChangeArrowheads="1"/>
            </p:cNvSpPr>
            <p:nvPr/>
          </p:nvSpPr>
          <p:spPr bwMode="auto">
            <a:xfrm>
              <a:off x="720" y="1680"/>
              <a:ext cx="192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>
                  <a:solidFill>
                    <a:schemeClr val="bg1"/>
                  </a:solidFill>
                </a:rPr>
                <a:t>7</a:t>
              </a:r>
              <a:endParaRPr lang="en-GB" sz="1600">
                <a:solidFill>
                  <a:schemeClr val="bg1"/>
                </a:solidFill>
              </a:endParaRPr>
            </a:p>
          </p:txBody>
        </p:sp>
        <p:sp>
          <p:nvSpPr>
            <p:cNvPr id="1549358" name="Text Box 46"/>
            <p:cNvSpPr txBox="1">
              <a:spLocks noChangeArrowheads="1"/>
            </p:cNvSpPr>
            <p:nvPr/>
          </p:nvSpPr>
          <p:spPr bwMode="auto">
            <a:xfrm>
              <a:off x="720" y="1372"/>
              <a:ext cx="192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>
                  <a:solidFill>
                    <a:schemeClr val="bg1"/>
                  </a:solidFill>
                </a:rPr>
                <a:t>8</a:t>
              </a:r>
              <a:endParaRPr lang="en-GB" sz="1600">
                <a:solidFill>
                  <a:schemeClr val="bg1"/>
                </a:solidFill>
              </a:endParaRPr>
            </a:p>
          </p:txBody>
        </p:sp>
        <p:sp>
          <p:nvSpPr>
            <p:cNvPr id="1549359" name="Text Box 47"/>
            <p:cNvSpPr txBox="1">
              <a:spLocks noChangeArrowheads="1"/>
            </p:cNvSpPr>
            <p:nvPr/>
          </p:nvSpPr>
          <p:spPr bwMode="auto">
            <a:xfrm>
              <a:off x="720" y="1036"/>
              <a:ext cx="192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>
                  <a:solidFill>
                    <a:schemeClr val="bg1"/>
                  </a:solidFill>
                </a:rPr>
                <a:t>9</a:t>
              </a:r>
              <a:endParaRPr lang="en-GB" sz="1600">
                <a:solidFill>
                  <a:schemeClr val="bg1"/>
                </a:solidFill>
              </a:endParaRPr>
            </a:p>
          </p:txBody>
        </p:sp>
        <p:sp>
          <p:nvSpPr>
            <p:cNvPr id="1549360" name="Text Box 48"/>
            <p:cNvSpPr txBox="1">
              <a:spLocks noChangeArrowheads="1"/>
            </p:cNvSpPr>
            <p:nvPr/>
          </p:nvSpPr>
          <p:spPr bwMode="auto">
            <a:xfrm>
              <a:off x="576" y="720"/>
              <a:ext cx="336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i-FI" sz="1600">
                  <a:solidFill>
                    <a:schemeClr val="bg1"/>
                  </a:solidFill>
                </a:rPr>
                <a:t>10</a:t>
              </a:r>
              <a:endParaRPr lang="en-GB" sz="1600">
                <a:solidFill>
                  <a:schemeClr val="bg1"/>
                </a:solidFill>
              </a:endParaRPr>
            </a:p>
          </p:txBody>
        </p:sp>
      </p:grpSp>
      <p:sp>
        <p:nvSpPr>
          <p:cNvPr id="1549361" name="Rectangle 49"/>
          <p:cNvSpPr>
            <a:spLocks noGrp="1" noChangeArrowheads="1"/>
          </p:cNvSpPr>
          <p:nvPr>
            <p:ph type="title"/>
          </p:nvPr>
        </p:nvSpPr>
        <p:spPr>
          <a:xfrm>
            <a:off x="609600" y="441325"/>
            <a:ext cx="7391400" cy="549275"/>
          </a:xfrm>
        </p:spPr>
        <p:txBody>
          <a:bodyPr>
            <a:normAutofit fontScale="90000"/>
          </a:bodyPr>
          <a:lstStyle/>
          <a:p>
            <a:r>
              <a:rPr lang="en-GB" dirty="0" err="1" smtClean="0"/>
              <a:t>Testaajan</a:t>
            </a:r>
            <a:r>
              <a:rPr lang="en-GB" dirty="0" smtClean="0"/>
              <a:t> </a:t>
            </a:r>
            <a:r>
              <a:rPr lang="en-GB" dirty="0" err="1" smtClean="0"/>
              <a:t>tyylianalyysi</a:t>
            </a:r>
            <a:r>
              <a:rPr lang="en-GB" dirty="0"/>
              <a:t/>
            </a:r>
            <a:br>
              <a:rPr lang="en-GB" dirty="0"/>
            </a:br>
            <a:r>
              <a:rPr lang="en-GB" sz="1200" dirty="0"/>
              <a:t>Source: Lloyd </a:t>
            </a:r>
            <a:r>
              <a:rPr lang="en-GB" sz="1200" dirty="0" err="1"/>
              <a:t>Roden</a:t>
            </a:r>
            <a:r>
              <a:rPr lang="en-GB" sz="1200" dirty="0"/>
              <a:t>. Choosing and Managing the Ideal Test Team. Stickyminds.com</a:t>
            </a:r>
            <a:endParaRPr lang="en-GB" sz="3200" dirty="0"/>
          </a:p>
        </p:txBody>
      </p:sp>
      <p:sp>
        <p:nvSpPr>
          <p:cNvPr id="1549362" name="WordArt 50"/>
          <p:cNvSpPr>
            <a:spLocks noChangeArrowheads="1" noChangeShapeType="1" noTextEdit="1"/>
          </p:cNvSpPr>
          <p:nvPr/>
        </p:nvSpPr>
        <p:spPr bwMode="auto">
          <a:xfrm>
            <a:off x="4724400" y="2324100"/>
            <a:ext cx="1905000" cy="647700"/>
          </a:xfrm>
          <a:prstGeom prst="rect">
            <a:avLst/>
          </a:prstGeom>
        </p:spPr>
        <p:txBody>
          <a:bodyPr spcFirstLastPara="1" wrap="none" fromWordArt="1">
            <a:prstTxWarp prst="textArchUp">
              <a:avLst>
                <a:gd name="adj" fmla="val 10800000"/>
              </a:avLst>
            </a:prstTxWarp>
          </a:bodyPr>
          <a:lstStyle/>
          <a:p>
            <a:pPr algn="ctr"/>
            <a:r>
              <a:rPr lang="en-US" sz="3600" kern="10" dirty="0" err="1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bg1"/>
                </a:solidFill>
                <a:latin typeface="Arial Black"/>
              </a:rPr>
              <a:t>Pioneeri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chemeClr val="bg1"/>
              </a:solidFill>
              <a:latin typeface="Arial Black"/>
            </a:endParaRPr>
          </a:p>
        </p:txBody>
      </p:sp>
      <p:sp>
        <p:nvSpPr>
          <p:cNvPr id="1549363" name="Line 51"/>
          <p:cNvSpPr>
            <a:spLocks noChangeShapeType="1"/>
          </p:cNvSpPr>
          <p:nvPr/>
        </p:nvSpPr>
        <p:spPr bwMode="auto">
          <a:xfrm>
            <a:off x="1447800" y="3810000"/>
            <a:ext cx="5486400" cy="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endParaRPr lang="en-US"/>
          </a:p>
        </p:txBody>
      </p:sp>
      <p:sp>
        <p:nvSpPr>
          <p:cNvPr id="1549364" name="Line 52"/>
          <p:cNvSpPr>
            <a:spLocks noChangeShapeType="1"/>
          </p:cNvSpPr>
          <p:nvPr/>
        </p:nvSpPr>
        <p:spPr bwMode="auto">
          <a:xfrm>
            <a:off x="4191000" y="1219200"/>
            <a:ext cx="0" cy="518160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endParaRPr lang="en-US"/>
          </a:p>
        </p:txBody>
      </p:sp>
      <p:sp>
        <p:nvSpPr>
          <p:cNvPr id="1549365" name="WordArt 53"/>
          <p:cNvSpPr>
            <a:spLocks noChangeArrowheads="1" noChangeShapeType="1" noTextEdit="1"/>
          </p:cNvSpPr>
          <p:nvPr/>
        </p:nvSpPr>
        <p:spPr bwMode="auto">
          <a:xfrm>
            <a:off x="4572000" y="4648200"/>
            <a:ext cx="2133600" cy="1066800"/>
          </a:xfrm>
          <a:prstGeom prst="rect">
            <a:avLst/>
          </a:prstGeom>
        </p:spPr>
        <p:txBody>
          <a:bodyPr spcFirstLastPara="1" wrap="none" fromWordArt="1">
            <a:prstTxWarp prst="textArchUp">
              <a:avLst>
                <a:gd name="adj" fmla="val 10800000"/>
              </a:avLst>
            </a:prstTxWarp>
          </a:bodyPr>
          <a:lstStyle/>
          <a:p>
            <a:pPr algn="ctr"/>
            <a:r>
              <a:rPr lang="en-US" sz="3600" kern="10" dirty="0" err="1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bg1"/>
                </a:solidFill>
                <a:latin typeface="Arial Black"/>
              </a:rPr>
              <a:t>Mahdollistaja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chemeClr val="bg1"/>
              </a:solidFill>
              <a:latin typeface="Arial Black"/>
            </a:endParaRPr>
          </a:p>
        </p:txBody>
      </p:sp>
      <p:sp>
        <p:nvSpPr>
          <p:cNvPr id="1549366" name="WordArt 54"/>
          <p:cNvSpPr>
            <a:spLocks noChangeArrowheads="1" noChangeShapeType="1" noTextEdit="1"/>
          </p:cNvSpPr>
          <p:nvPr/>
        </p:nvSpPr>
        <p:spPr bwMode="auto">
          <a:xfrm>
            <a:off x="1828800" y="4876800"/>
            <a:ext cx="1905000" cy="647700"/>
          </a:xfrm>
          <a:prstGeom prst="rect">
            <a:avLst/>
          </a:prstGeom>
        </p:spPr>
        <p:txBody>
          <a:bodyPr spcFirstLastPara="1" wrap="none" fromWordArt="1">
            <a:prstTxWarp prst="textArchUp">
              <a:avLst>
                <a:gd name="adj" fmla="val 10800000"/>
              </a:avLst>
            </a:prstTxWarp>
          </a:bodyPr>
          <a:lstStyle/>
          <a:p>
            <a:pPr algn="ctr"/>
            <a:r>
              <a:rPr lang="en-US" sz="3600" kern="10" dirty="0" err="1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bg1"/>
                </a:solidFill>
                <a:latin typeface="Arial Black"/>
              </a:rPr>
              <a:t>Analysoija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chemeClr val="bg1"/>
              </a:solidFill>
              <a:latin typeface="Arial Black"/>
            </a:endParaRPr>
          </a:p>
        </p:txBody>
      </p:sp>
      <p:sp>
        <p:nvSpPr>
          <p:cNvPr id="1549367" name="WordArt 55"/>
          <p:cNvSpPr>
            <a:spLocks noChangeArrowheads="1" noChangeShapeType="1" noTextEdit="1"/>
          </p:cNvSpPr>
          <p:nvPr/>
        </p:nvSpPr>
        <p:spPr bwMode="auto">
          <a:xfrm>
            <a:off x="1752600" y="2171700"/>
            <a:ext cx="2133600" cy="1028700"/>
          </a:xfrm>
          <a:prstGeom prst="rect">
            <a:avLst/>
          </a:prstGeom>
        </p:spPr>
        <p:txBody>
          <a:bodyPr spcFirstLastPara="1" wrap="none" fromWordArt="1">
            <a:prstTxWarp prst="textArchUp">
              <a:avLst>
                <a:gd name="adj" fmla="val 10800000"/>
              </a:avLst>
            </a:prstTxWarp>
          </a:bodyPr>
          <a:lstStyle/>
          <a:p>
            <a:pPr algn="ctr"/>
            <a:r>
              <a:rPr lang="en-US" sz="3600" kern="10" dirty="0" err="1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bg1"/>
                </a:solidFill>
                <a:latin typeface="Arial Black"/>
              </a:rPr>
              <a:t>Pragmaatikko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chemeClr val="bg1"/>
              </a:solidFill>
              <a:latin typeface="Arial Black"/>
            </a:endParaRPr>
          </a:p>
        </p:txBody>
      </p:sp>
      <p:grpSp>
        <p:nvGrpSpPr>
          <p:cNvPr id="6" name="Group 56"/>
          <p:cNvGrpSpPr>
            <a:grpSpLocks/>
          </p:cNvGrpSpPr>
          <p:nvPr/>
        </p:nvGrpSpPr>
        <p:grpSpPr bwMode="auto">
          <a:xfrm>
            <a:off x="1295400" y="3048000"/>
            <a:ext cx="5791200" cy="914400"/>
            <a:chOff x="816" y="2112"/>
            <a:chExt cx="3648" cy="576"/>
          </a:xfrm>
        </p:grpSpPr>
        <p:sp>
          <p:nvSpPr>
            <p:cNvPr id="1549369" name="AutoShape 57"/>
            <p:cNvSpPr>
              <a:spLocks noChangeArrowheads="1"/>
            </p:cNvSpPr>
            <p:nvPr/>
          </p:nvSpPr>
          <p:spPr bwMode="auto">
            <a:xfrm>
              <a:off x="2688" y="2112"/>
              <a:ext cx="1776" cy="576"/>
            </a:xfrm>
            <a:prstGeom prst="rightArrow">
              <a:avLst>
                <a:gd name="adj1" fmla="val 50000"/>
                <a:gd name="adj2" fmla="val 77083"/>
              </a:avLst>
            </a:prstGeom>
            <a:solidFill>
              <a:schemeClr val="accent2">
                <a:alpha val="50000"/>
              </a:schemeClr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fi-FI" sz="1600" b="1" dirty="0" smtClean="0">
                  <a:solidFill>
                    <a:schemeClr val="bg1"/>
                  </a:solidFill>
                </a:rPr>
                <a:t>Ihmispainottunut</a:t>
              </a:r>
              <a:endParaRPr lang="en-GB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549370" name="AutoShape 58"/>
            <p:cNvSpPr>
              <a:spLocks noChangeArrowheads="1"/>
            </p:cNvSpPr>
            <p:nvPr/>
          </p:nvSpPr>
          <p:spPr bwMode="auto">
            <a:xfrm>
              <a:off x="816" y="2112"/>
              <a:ext cx="1776" cy="576"/>
            </a:xfrm>
            <a:prstGeom prst="leftArrow">
              <a:avLst>
                <a:gd name="adj1" fmla="val 50000"/>
                <a:gd name="adj2" fmla="val 77083"/>
              </a:avLst>
            </a:prstGeom>
            <a:solidFill>
              <a:schemeClr val="accent2">
                <a:alpha val="50000"/>
              </a:schemeClr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fi-FI" sz="1600" b="1" dirty="0" smtClean="0">
                  <a:solidFill>
                    <a:schemeClr val="bg1"/>
                  </a:solidFill>
                </a:rPr>
                <a:t>Tehtäväpainottunut</a:t>
              </a:r>
              <a:endParaRPr lang="en-GB" sz="1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61" name="Slide Number Placeholder 6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9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i-FI" dirty="0" smtClean="0"/>
              <a:t>Pragmaatikko</a:t>
            </a:r>
            <a:r>
              <a:rPr lang="fi-FI" dirty="0"/>
              <a:t/>
            </a:r>
            <a:br>
              <a:rPr lang="fi-FI" dirty="0"/>
            </a:br>
            <a:r>
              <a:rPr lang="en-GB" sz="1200" dirty="0" err="1" smtClean="0"/>
              <a:t>Lähde</a:t>
            </a:r>
            <a:r>
              <a:rPr lang="en-GB" sz="1200" dirty="0" smtClean="0"/>
              <a:t>: </a:t>
            </a:r>
            <a:r>
              <a:rPr lang="en-GB" sz="1200" dirty="0"/>
              <a:t>Lloyd </a:t>
            </a:r>
            <a:r>
              <a:rPr lang="en-GB" sz="1200" dirty="0" err="1"/>
              <a:t>Roden</a:t>
            </a:r>
            <a:r>
              <a:rPr lang="en-GB" sz="1200" dirty="0"/>
              <a:t>. Choosing and Managing the Ideal Test Team. Stickyminds.com</a:t>
            </a:r>
          </a:p>
        </p:txBody>
      </p:sp>
      <p:sp>
        <p:nvSpPr>
          <p:cNvPr id="1318915" name="Rectangle 3"/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fi-FI" sz="2400" dirty="0" smtClean="0"/>
              <a:t>Pitää</a:t>
            </a:r>
            <a:endParaRPr lang="fi-FI" sz="2400" dirty="0"/>
          </a:p>
          <a:p>
            <a:pPr lvl="1">
              <a:lnSpc>
                <a:spcPct val="90000"/>
              </a:lnSpc>
            </a:pPr>
            <a:r>
              <a:rPr lang="fi-FI" sz="2000" dirty="0" smtClean="0"/>
              <a:t>Strateginen / tavoitteet</a:t>
            </a:r>
          </a:p>
          <a:p>
            <a:pPr lvl="1">
              <a:lnSpc>
                <a:spcPct val="90000"/>
              </a:lnSpc>
            </a:pPr>
            <a:r>
              <a:rPr lang="fi-FI" sz="2000" dirty="0" smtClean="0"/>
              <a:t>Positiivinen</a:t>
            </a:r>
            <a:endParaRPr lang="fi-FI" sz="2000" dirty="0"/>
          </a:p>
          <a:p>
            <a:pPr lvl="1">
              <a:lnSpc>
                <a:spcPct val="90000"/>
              </a:lnSpc>
            </a:pPr>
            <a:r>
              <a:rPr lang="fi-FI" sz="2000" dirty="0" smtClean="0"/>
              <a:t>Tulokset / nopea</a:t>
            </a:r>
          </a:p>
          <a:p>
            <a:pPr lvl="1">
              <a:lnSpc>
                <a:spcPct val="90000"/>
              </a:lnSpc>
            </a:pPr>
            <a:r>
              <a:rPr lang="fi-FI" sz="2000" dirty="0" smtClean="0"/>
              <a:t>Käytännöllinen</a:t>
            </a:r>
            <a:endParaRPr lang="fi-FI" sz="2000" dirty="0"/>
          </a:p>
          <a:p>
            <a:pPr lvl="1">
              <a:lnSpc>
                <a:spcPct val="90000"/>
              </a:lnSpc>
            </a:pPr>
            <a:r>
              <a:rPr lang="fi-FI" sz="2000" dirty="0" smtClean="0"/>
              <a:t>Sisäinen tehokkuus</a:t>
            </a:r>
            <a:endParaRPr lang="fi-FI" sz="2000" dirty="0"/>
          </a:p>
          <a:p>
            <a:pPr lvl="1">
              <a:lnSpc>
                <a:spcPct val="90000"/>
              </a:lnSpc>
            </a:pPr>
            <a:r>
              <a:rPr lang="fi-FI" sz="2000" dirty="0" smtClean="0"/>
              <a:t>Tehtävät</a:t>
            </a:r>
            <a:endParaRPr lang="fi-FI" sz="2000" dirty="0"/>
          </a:p>
          <a:p>
            <a:pPr>
              <a:lnSpc>
                <a:spcPct val="110000"/>
              </a:lnSpc>
            </a:pPr>
            <a:r>
              <a:rPr lang="fi-FI" sz="2400" dirty="0" smtClean="0"/>
              <a:t>Ei pidä</a:t>
            </a:r>
            <a:endParaRPr lang="fi-FI" sz="2400" dirty="0"/>
          </a:p>
          <a:p>
            <a:pPr lvl="1">
              <a:lnSpc>
                <a:spcPct val="90000"/>
              </a:lnSpc>
            </a:pPr>
            <a:r>
              <a:rPr lang="en-GB" sz="2000" dirty="0" err="1" smtClean="0"/>
              <a:t>Päättämättömyys</a:t>
            </a:r>
            <a:endParaRPr lang="en-GB" sz="2000" dirty="0"/>
          </a:p>
          <a:p>
            <a:pPr lvl="1">
              <a:lnSpc>
                <a:spcPct val="90000"/>
              </a:lnSpc>
            </a:pPr>
            <a:r>
              <a:rPr lang="en-GB" sz="2000" dirty="0" err="1" smtClean="0"/>
              <a:t>Epäselvyys</a:t>
            </a:r>
            <a:endParaRPr lang="en-GB" sz="2000" dirty="0"/>
          </a:p>
          <a:p>
            <a:pPr lvl="1">
              <a:lnSpc>
                <a:spcPct val="90000"/>
              </a:lnSpc>
            </a:pPr>
            <a:r>
              <a:rPr lang="en-GB" sz="2000" dirty="0" err="1" smtClean="0"/>
              <a:t>Ajantuhlaus</a:t>
            </a:r>
            <a:r>
              <a:rPr lang="en-GB" sz="2000" dirty="0" smtClean="0"/>
              <a:t> </a:t>
            </a:r>
            <a:endParaRPr lang="en-GB" sz="2000" dirty="0"/>
          </a:p>
          <a:p>
            <a:pPr lvl="1">
              <a:lnSpc>
                <a:spcPct val="90000"/>
              </a:lnSpc>
            </a:pPr>
            <a:r>
              <a:rPr lang="en-GB" sz="2000" smtClean="0"/>
              <a:t>Tuottamaton</a:t>
            </a:r>
            <a:endParaRPr lang="en-GB" sz="2000" dirty="0"/>
          </a:p>
        </p:txBody>
      </p:sp>
      <p:sp>
        <p:nvSpPr>
          <p:cNvPr id="1318916" name="Rectangle 4"/>
          <p:cNvSpPr>
            <a:spLocks noGrp="1" noChangeArrowheads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fi-FI" sz="1800" dirty="0" smtClean="0"/>
              <a:t>Tämän tyylin omaava testaaja...</a:t>
            </a:r>
            <a:endParaRPr lang="fi-FI" sz="1800" dirty="0"/>
          </a:p>
          <a:p>
            <a:pPr lvl="1"/>
            <a:r>
              <a:rPr lang="en-GB" sz="1600" dirty="0" err="1" smtClean="0"/>
              <a:t>Hyvä</a:t>
            </a:r>
            <a:r>
              <a:rPr lang="en-GB" sz="1600" dirty="0" smtClean="0"/>
              <a:t> </a:t>
            </a:r>
            <a:r>
              <a:rPr lang="en-GB" sz="1600" dirty="0" err="1" smtClean="0"/>
              <a:t>asettamaan</a:t>
            </a:r>
            <a:r>
              <a:rPr lang="en-GB" sz="1600" dirty="0" smtClean="0"/>
              <a:t> </a:t>
            </a:r>
            <a:r>
              <a:rPr lang="en-GB" sz="1600" dirty="0" err="1" smtClean="0"/>
              <a:t>ja</a:t>
            </a:r>
            <a:r>
              <a:rPr lang="en-GB" sz="1600" dirty="0" smtClean="0"/>
              <a:t> </a:t>
            </a:r>
            <a:r>
              <a:rPr lang="en-GB" sz="1600" dirty="0" err="1" smtClean="0"/>
              <a:t>seuraamaan</a:t>
            </a:r>
            <a:r>
              <a:rPr lang="en-GB" sz="1600" dirty="0" smtClean="0"/>
              <a:t> </a:t>
            </a:r>
            <a:r>
              <a:rPr lang="en-GB" sz="1600" dirty="0" err="1" smtClean="0"/>
              <a:t>tiimin</a:t>
            </a:r>
            <a:r>
              <a:rPr lang="en-GB" sz="1600" dirty="0" smtClean="0"/>
              <a:t> </a:t>
            </a:r>
            <a:r>
              <a:rPr lang="en-GB" sz="1600" dirty="0" err="1" smtClean="0"/>
              <a:t>lyhyen</a:t>
            </a:r>
            <a:r>
              <a:rPr lang="en-GB" sz="1600" dirty="0" smtClean="0"/>
              <a:t>/</a:t>
            </a:r>
            <a:r>
              <a:rPr lang="en-GB" sz="1600" dirty="0" err="1" smtClean="0"/>
              <a:t>pitkän</a:t>
            </a:r>
            <a:r>
              <a:rPr lang="en-GB" sz="1600" dirty="0" smtClean="0"/>
              <a:t> </a:t>
            </a:r>
            <a:r>
              <a:rPr lang="en-GB" sz="1600" dirty="0" err="1" smtClean="0"/>
              <a:t>tähtäimen</a:t>
            </a:r>
            <a:r>
              <a:rPr lang="en-GB" sz="1600" dirty="0" smtClean="0"/>
              <a:t> </a:t>
            </a:r>
            <a:r>
              <a:rPr lang="en-GB" sz="1600" dirty="0" err="1" smtClean="0"/>
              <a:t>tavoitteita</a:t>
            </a:r>
            <a:endParaRPr lang="en-GB" sz="1600" dirty="0" smtClean="0"/>
          </a:p>
          <a:p>
            <a:pPr lvl="1"/>
            <a:r>
              <a:rPr lang="en-GB" sz="1600" dirty="0" err="1" smtClean="0"/>
              <a:t>Hyvä</a:t>
            </a:r>
            <a:r>
              <a:rPr lang="en-GB" sz="1600" dirty="0" smtClean="0"/>
              <a:t> </a:t>
            </a:r>
            <a:r>
              <a:rPr lang="en-GB" sz="1600" dirty="0" err="1" smtClean="0"/>
              <a:t>dokumentoimaan</a:t>
            </a:r>
            <a:r>
              <a:rPr lang="en-GB" sz="1600" dirty="0" smtClean="0"/>
              <a:t> </a:t>
            </a:r>
            <a:r>
              <a:rPr lang="en-GB" sz="1600" dirty="0" err="1" smtClean="0"/>
              <a:t>faktoihin</a:t>
            </a:r>
            <a:r>
              <a:rPr lang="en-GB" sz="1600" dirty="0" smtClean="0"/>
              <a:t> </a:t>
            </a:r>
            <a:r>
              <a:rPr lang="en-GB" sz="1600" dirty="0" err="1" smtClean="0"/>
              <a:t>perustuvia</a:t>
            </a:r>
            <a:r>
              <a:rPr lang="en-GB" sz="1600" dirty="0" smtClean="0"/>
              <a:t> </a:t>
            </a:r>
            <a:r>
              <a:rPr lang="en-GB" sz="1600" dirty="0" err="1" smtClean="0"/>
              <a:t>testiraportteja</a:t>
            </a:r>
            <a:endParaRPr lang="en-GB" sz="1600" dirty="0" smtClean="0"/>
          </a:p>
          <a:p>
            <a:pPr lvl="1"/>
            <a:r>
              <a:rPr lang="en-GB" sz="1600" dirty="0" err="1" smtClean="0"/>
              <a:t>Pysyy</a:t>
            </a:r>
            <a:r>
              <a:rPr lang="en-GB" sz="1600" dirty="0" smtClean="0"/>
              <a:t> </a:t>
            </a:r>
            <a:r>
              <a:rPr lang="en-GB" sz="1600" dirty="0" err="1" smtClean="0"/>
              <a:t>positiivisena</a:t>
            </a:r>
            <a:r>
              <a:rPr lang="en-GB" sz="1600" dirty="0" smtClean="0"/>
              <a:t> </a:t>
            </a:r>
            <a:r>
              <a:rPr lang="en-GB" sz="1600" dirty="0" err="1" smtClean="0"/>
              <a:t>paineen</a:t>
            </a:r>
            <a:r>
              <a:rPr lang="en-GB" sz="1600" dirty="0" smtClean="0"/>
              <a:t> </a:t>
            </a:r>
            <a:r>
              <a:rPr lang="en-GB" sz="1600" dirty="0" err="1" smtClean="0"/>
              <a:t>alla</a:t>
            </a:r>
            <a:endParaRPr lang="en-GB" sz="1600" dirty="0"/>
          </a:p>
          <a:p>
            <a:pPr lvl="1"/>
            <a:r>
              <a:rPr lang="en-GB" sz="1600" dirty="0" err="1" smtClean="0"/>
              <a:t>Omaa</a:t>
            </a:r>
            <a:r>
              <a:rPr lang="en-GB" sz="1600" dirty="0" smtClean="0"/>
              <a:t> </a:t>
            </a:r>
            <a:r>
              <a:rPr lang="en-GB" sz="1600" dirty="0" err="1" smtClean="0"/>
              <a:t>taipumuksen</a:t>
            </a:r>
            <a:r>
              <a:rPr lang="en-GB" sz="1600" dirty="0" smtClean="0"/>
              <a:t> </a:t>
            </a:r>
            <a:r>
              <a:rPr lang="en-GB" sz="1600" dirty="0" err="1" smtClean="0"/>
              <a:t>ottaa</a:t>
            </a:r>
            <a:r>
              <a:rPr lang="en-GB" sz="1600" dirty="0" smtClean="0"/>
              <a:t> </a:t>
            </a:r>
            <a:r>
              <a:rPr lang="en-GB" sz="1600" dirty="0" err="1" smtClean="0"/>
              <a:t>tärkein</a:t>
            </a:r>
            <a:r>
              <a:rPr lang="en-GB" sz="1600" dirty="0" smtClean="0"/>
              <a:t> </a:t>
            </a:r>
            <a:r>
              <a:rPr lang="en-GB" sz="1600" dirty="0" err="1" smtClean="0"/>
              <a:t>testi</a:t>
            </a:r>
            <a:r>
              <a:rPr lang="en-GB" sz="1600" dirty="0" smtClean="0"/>
              <a:t> </a:t>
            </a:r>
            <a:r>
              <a:rPr lang="en-GB" sz="1600" dirty="0" err="1" smtClean="0"/>
              <a:t>ensin</a:t>
            </a:r>
            <a:r>
              <a:rPr lang="en-GB" sz="1600" dirty="0" smtClean="0"/>
              <a:t> –</a:t>
            </a:r>
            <a:r>
              <a:rPr lang="en-GB" sz="1600" dirty="0" err="1" smtClean="0"/>
              <a:t>periaatteen</a:t>
            </a:r>
            <a:r>
              <a:rPr lang="en-GB" sz="1600" dirty="0" smtClean="0"/>
              <a:t> </a:t>
            </a:r>
            <a:r>
              <a:rPr lang="en-GB" sz="1600" dirty="0" err="1" smtClean="0"/>
              <a:t>testaukseensa</a:t>
            </a:r>
            <a:endParaRPr lang="en-GB" sz="1600" dirty="0"/>
          </a:p>
          <a:p>
            <a:pPr lvl="1"/>
            <a:r>
              <a:rPr lang="en-GB" sz="1600" dirty="0" smtClean="0"/>
              <a:t>On </a:t>
            </a:r>
            <a:r>
              <a:rPr lang="en-GB" sz="1600" dirty="0" err="1" smtClean="0"/>
              <a:t>vahva</a:t>
            </a:r>
            <a:r>
              <a:rPr lang="en-GB" sz="1600" dirty="0" smtClean="0"/>
              <a:t> </a:t>
            </a:r>
            <a:r>
              <a:rPr lang="en-GB" sz="1600" dirty="0" err="1" smtClean="0"/>
              <a:t>aikaansaava</a:t>
            </a:r>
            <a:r>
              <a:rPr lang="en-GB" sz="1600" dirty="0" smtClean="0"/>
              <a:t> </a:t>
            </a:r>
            <a:r>
              <a:rPr lang="en-GB" sz="1600" dirty="0" err="1" smtClean="0"/>
              <a:t>voima</a:t>
            </a:r>
            <a:r>
              <a:rPr lang="en-GB" sz="1600" dirty="0" smtClean="0"/>
              <a:t> – </a:t>
            </a:r>
            <a:r>
              <a:rPr lang="en-GB" sz="1600" dirty="0" err="1" smtClean="0"/>
              <a:t>varmistaa</a:t>
            </a:r>
            <a:r>
              <a:rPr lang="en-GB" sz="1600" dirty="0" smtClean="0"/>
              <a:t> </a:t>
            </a:r>
            <a:r>
              <a:rPr lang="en-GB" sz="1600" dirty="0" err="1" smtClean="0"/>
              <a:t>että</a:t>
            </a:r>
            <a:r>
              <a:rPr lang="en-GB" sz="1600" dirty="0" smtClean="0"/>
              <a:t> </a:t>
            </a:r>
            <a:r>
              <a:rPr lang="en-GB" sz="1600" dirty="0" err="1" smtClean="0"/>
              <a:t>tehtävä</a:t>
            </a:r>
            <a:r>
              <a:rPr lang="en-GB" sz="1600" dirty="0" smtClean="0"/>
              <a:t> on </a:t>
            </a:r>
            <a:r>
              <a:rPr lang="en-GB" sz="1600" dirty="0" err="1" smtClean="0"/>
              <a:t>tehty</a:t>
            </a:r>
            <a:endParaRPr lang="en-GB" sz="1600" dirty="0"/>
          </a:p>
          <a:p>
            <a:pPr lvl="1"/>
            <a:r>
              <a:rPr lang="en-GB" sz="1600" dirty="0" err="1" smtClean="0"/>
              <a:t>Haluaa</a:t>
            </a:r>
            <a:r>
              <a:rPr lang="en-GB" sz="1600" dirty="0" smtClean="0"/>
              <a:t> </a:t>
            </a:r>
            <a:r>
              <a:rPr lang="en-GB" sz="1600" dirty="0" err="1" smtClean="0"/>
              <a:t>tiimin</a:t>
            </a:r>
            <a:r>
              <a:rPr lang="en-GB" sz="1600" dirty="0" smtClean="0"/>
              <a:t> </a:t>
            </a:r>
            <a:r>
              <a:rPr lang="en-GB" sz="1600" dirty="0" err="1" smtClean="0"/>
              <a:t>toimivan</a:t>
            </a:r>
            <a:r>
              <a:rPr lang="en-GB" sz="1600" dirty="0" smtClean="0"/>
              <a:t> </a:t>
            </a:r>
            <a:r>
              <a:rPr lang="en-GB" sz="1600" dirty="0" err="1" smtClean="0"/>
              <a:t>tehokkaasti</a:t>
            </a:r>
            <a:endParaRPr lang="en-GB" sz="1600" dirty="0"/>
          </a:p>
          <a:p>
            <a:pPr lvl="1"/>
            <a:r>
              <a:rPr lang="en-GB" sz="1600" dirty="0" smtClean="0"/>
              <a:t>On </a:t>
            </a:r>
            <a:r>
              <a:rPr lang="en-GB" sz="1600" dirty="0" err="1" smtClean="0"/>
              <a:t>sisäisesti</a:t>
            </a:r>
            <a:r>
              <a:rPr lang="en-GB" sz="1600" dirty="0" smtClean="0"/>
              <a:t> </a:t>
            </a:r>
            <a:r>
              <a:rPr lang="en-GB" sz="1600" dirty="0" err="1" smtClean="0"/>
              <a:t>motivoitunut</a:t>
            </a:r>
            <a:r>
              <a:rPr lang="en-GB" sz="1600" dirty="0" smtClean="0"/>
              <a:t> </a:t>
            </a:r>
            <a:r>
              <a:rPr lang="en-GB" sz="1600" dirty="0" err="1" smtClean="0"/>
              <a:t>ja</a:t>
            </a:r>
            <a:r>
              <a:rPr lang="en-GB" sz="1600" dirty="0" smtClean="0"/>
              <a:t> </a:t>
            </a:r>
            <a:r>
              <a:rPr lang="en-GB" sz="1600" dirty="0" err="1" smtClean="0"/>
              <a:t>tehtäväsuuntautunut</a:t>
            </a:r>
            <a:endParaRPr lang="en-GB" sz="1600" dirty="0" smtClean="0"/>
          </a:p>
          <a:p>
            <a:pPr lvl="1"/>
            <a:r>
              <a:rPr lang="en-GB" sz="1600" dirty="0" err="1" smtClean="0"/>
              <a:t>Päättää</a:t>
            </a:r>
            <a:r>
              <a:rPr lang="en-GB" sz="1600" dirty="0" smtClean="0"/>
              <a:t> </a:t>
            </a:r>
            <a:r>
              <a:rPr lang="en-GB" sz="1600" dirty="0" err="1" smtClean="0"/>
              <a:t>asioista</a:t>
            </a:r>
            <a:r>
              <a:rPr lang="en-GB" sz="1600" dirty="0" smtClean="0"/>
              <a:t> </a:t>
            </a:r>
            <a:r>
              <a:rPr lang="en-GB" sz="1600" dirty="0" err="1" smtClean="0"/>
              <a:t>nopeasti</a:t>
            </a:r>
            <a:endParaRPr lang="en-GB" sz="1600" dirty="0" smtClean="0"/>
          </a:p>
          <a:p>
            <a:pPr lvl="1"/>
            <a:r>
              <a:rPr lang="en-GB" sz="1600" dirty="0" err="1" smtClean="0"/>
              <a:t>Nauttii</a:t>
            </a:r>
            <a:r>
              <a:rPr lang="en-GB" sz="1600" dirty="0" smtClean="0"/>
              <a:t> </a:t>
            </a:r>
            <a:r>
              <a:rPr lang="en-GB" sz="1600" dirty="0" err="1" smtClean="0"/>
              <a:t>haastavista</a:t>
            </a:r>
            <a:r>
              <a:rPr lang="en-GB" sz="1600" dirty="0" smtClean="0"/>
              <a:t> </a:t>
            </a:r>
            <a:r>
              <a:rPr lang="en-GB" sz="1600" dirty="0" err="1" smtClean="0"/>
              <a:t>testaustehtävistä</a:t>
            </a:r>
            <a:endParaRPr lang="en-GB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9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i-FI" dirty="0" smtClean="0"/>
              <a:t>Pioneeri</a:t>
            </a:r>
            <a:r>
              <a:rPr lang="fi-FI" dirty="0"/>
              <a:t/>
            </a:r>
            <a:br>
              <a:rPr lang="fi-FI" dirty="0"/>
            </a:br>
            <a:r>
              <a:rPr lang="en-GB" sz="1200" dirty="0" err="1" smtClean="0"/>
              <a:t>Lähde</a:t>
            </a:r>
            <a:r>
              <a:rPr lang="en-GB" sz="1200" dirty="0" smtClean="0"/>
              <a:t>: </a:t>
            </a:r>
            <a:r>
              <a:rPr lang="en-GB" sz="1200" dirty="0"/>
              <a:t>Lloyd </a:t>
            </a:r>
            <a:r>
              <a:rPr lang="en-GB" sz="1200" dirty="0" err="1"/>
              <a:t>Roden</a:t>
            </a:r>
            <a:r>
              <a:rPr lang="en-GB" sz="1200" dirty="0"/>
              <a:t>. Choosing and Managing the Ideal Test Team. Stickyminds.com</a:t>
            </a:r>
          </a:p>
        </p:txBody>
      </p:sp>
      <p:sp>
        <p:nvSpPr>
          <p:cNvPr id="1319939" name="Rectangle 3"/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fi-FI" sz="2400" dirty="0" smtClean="0"/>
              <a:t>Pitää</a:t>
            </a:r>
            <a:endParaRPr lang="fi-FI" sz="2400" dirty="0"/>
          </a:p>
          <a:p>
            <a:pPr lvl="1">
              <a:lnSpc>
                <a:spcPct val="90000"/>
              </a:lnSpc>
            </a:pPr>
            <a:r>
              <a:rPr lang="fi-FI" sz="2000" dirty="0" smtClean="0"/>
              <a:t>Uusi / ideat</a:t>
            </a:r>
            <a:endParaRPr lang="fi-FI" sz="2000" dirty="0"/>
          </a:p>
          <a:p>
            <a:pPr lvl="1">
              <a:lnSpc>
                <a:spcPct val="90000"/>
              </a:lnSpc>
            </a:pPr>
            <a:r>
              <a:rPr lang="fi-FI" sz="2000" dirty="0" smtClean="0"/>
              <a:t>Muutos</a:t>
            </a:r>
            <a:endParaRPr lang="fi-FI" sz="2000" dirty="0"/>
          </a:p>
          <a:p>
            <a:pPr lvl="1">
              <a:lnSpc>
                <a:spcPct val="90000"/>
              </a:lnSpc>
            </a:pPr>
            <a:r>
              <a:rPr lang="fi-FI" sz="2000" dirty="0" smtClean="0"/>
              <a:t>Avoimuus</a:t>
            </a:r>
            <a:endParaRPr lang="fi-FI" sz="2000" dirty="0"/>
          </a:p>
          <a:p>
            <a:pPr lvl="1">
              <a:lnSpc>
                <a:spcPct val="90000"/>
              </a:lnSpc>
            </a:pPr>
            <a:r>
              <a:rPr lang="fi-FI" sz="2000" dirty="0" smtClean="0"/>
              <a:t>Tulokset / sisäinen tehokkuus</a:t>
            </a:r>
          </a:p>
          <a:p>
            <a:pPr lvl="1">
              <a:lnSpc>
                <a:spcPct val="90000"/>
              </a:lnSpc>
            </a:pPr>
            <a:r>
              <a:rPr lang="fi-FI" sz="2000" dirty="0" smtClean="0"/>
              <a:t>Muiden mukaanottaminen</a:t>
            </a:r>
            <a:endParaRPr lang="fi-FI" sz="2000" dirty="0"/>
          </a:p>
          <a:p>
            <a:pPr lvl="1">
              <a:lnSpc>
                <a:spcPct val="90000"/>
              </a:lnSpc>
            </a:pPr>
            <a:r>
              <a:rPr lang="fi-FI" sz="2000" dirty="0" smtClean="0"/>
              <a:t>Riskit</a:t>
            </a:r>
            <a:endParaRPr lang="fi-FI" sz="2000" dirty="0"/>
          </a:p>
          <a:p>
            <a:pPr>
              <a:lnSpc>
                <a:spcPct val="110000"/>
              </a:lnSpc>
            </a:pPr>
            <a:r>
              <a:rPr lang="fi-FI" sz="2400" dirty="0" smtClean="0"/>
              <a:t>Ei pidä</a:t>
            </a:r>
            <a:endParaRPr lang="fi-FI" sz="2400" dirty="0"/>
          </a:p>
          <a:p>
            <a:pPr lvl="1">
              <a:lnSpc>
                <a:spcPct val="90000"/>
              </a:lnSpc>
            </a:pPr>
            <a:r>
              <a:rPr lang="en-GB" sz="2000" dirty="0" err="1" smtClean="0"/>
              <a:t>Standardit</a:t>
            </a:r>
            <a:endParaRPr lang="en-GB" sz="2000" dirty="0"/>
          </a:p>
          <a:p>
            <a:pPr lvl="1">
              <a:lnSpc>
                <a:spcPct val="90000"/>
              </a:lnSpc>
            </a:pPr>
            <a:r>
              <a:rPr lang="en-GB" sz="2000" dirty="0" err="1" smtClean="0"/>
              <a:t>Yksityiskohdat</a:t>
            </a:r>
            <a:endParaRPr lang="en-GB" sz="2000" dirty="0"/>
          </a:p>
          <a:p>
            <a:pPr lvl="1">
              <a:lnSpc>
                <a:spcPct val="90000"/>
              </a:lnSpc>
            </a:pPr>
            <a:r>
              <a:rPr lang="en-GB" sz="2000" dirty="0" err="1" smtClean="0"/>
              <a:t>Tehdään</a:t>
            </a:r>
            <a:r>
              <a:rPr lang="en-GB" sz="2000" dirty="0" smtClean="0"/>
              <a:t> </a:t>
            </a:r>
            <a:r>
              <a:rPr lang="en-GB" sz="2000" dirty="0" err="1" smtClean="0"/>
              <a:t>niinkuin</a:t>
            </a:r>
            <a:r>
              <a:rPr lang="en-GB" sz="2000" dirty="0" smtClean="0"/>
              <a:t> on </a:t>
            </a:r>
            <a:r>
              <a:rPr lang="en-GB" sz="2000" dirty="0" err="1" smtClean="0"/>
              <a:t>tapana</a:t>
            </a:r>
            <a:endParaRPr lang="en-GB" sz="2000" dirty="0"/>
          </a:p>
          <a:p>
            <a:pPr lvl="1">
              <a:lnSpc>
                <a:spcPct val="90000"/>
              </a:lnSpc>
            </a:pPr>
            <a:r>
              <a:rPr lang="en-GB" sz="2000" dirty="0" err="1" smtClean="0"/>
              <a:t>Paperityöt</a:t>
            </a:r>
            <a:endParaRPr lang="en-GB" sz="2000" dirty="0"/>
          </a:p>
        </p:txBody>
      </p:sp>
      <p:sp>
        <p:nvSpPr>
          <p:cNvPr id="1319940" name="Rectangle 4"/>
          <p:cNvSpPr>
            <a:spLocks noGrp="1" noChangeArrowheads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fi-FI" sz="1800" dirty="0" smtClean="0"/>
              <a:t>Tämän tyylin omaava testaaja...</a:t>
            </a:r>
          </a:p>
          <a:p>
            <a:pPr lvl="1"/>
            <a:r>
              <a:rPr lang="en-GB" sz="1600" dirty="0" smtClean="0"/>
              <a:t>On </a:t>
            </a:r>
            <a:r>
              <a:rPr lang="en-GB" sz="1600" dirty="0" err="1" smtClean="0"/>
              <a:t>hyvä</a:t>
            </a:r>
            <a:r>
              <a:rPr lang="en-GB" sz="1600" dirty="0" smtClean="0"/>
              <a:t> </a:t>
            </a:r>
            <a:r>
              <a:rPr lang="en-GB" sz="1600" dirty="0" err="1" smtClean="0"/>
              <a:t>tutkivassa</a:t>
            </a:r>
            <a:r>
              <a:rPr lang="en-GB" sz="1600" dirty="0" smtClean="0"/>
              <a:t> </a:t>
            </a:r>
            <a:r>
              <a:rPr lang="en-GB" sz="1600" dirty="0" err="1" smtClean="0"/>
              <a:t>testauksessa</a:t>
            </a:r>
            <a:r>
              <a:rPr lang="en-GB" sz="1600" dirty="0" smtClean="0"/>
              <a:t> / </a:t>
            </a:r>
            <a:r>
              <a:rPr lang="en-GB" sz="1600" dirty="0" err="1" smtClean="0"/>
              <a:t>virheen</a:t>
            </a:r>
            <a:r>
              <a:rPr lang="en-GB" sz="1600" dirty="0" smtClean="0"/>
              <a:t> </a:t>
            </a:r>
            <a:r>
              <a:rPr lang="en-GB" sz="1600" dirty="0" err="1" smtClean="0"/>
              <a:t>paikallistamisessa</a:t>
            </a:r>
            <a:r>
              <a:rPr lang="en-GB" sz="1600" dirty="0" smtClean="0"/>
              <a:t> / </a:t>
            </a:r>
            <a:r>
              <a:rPr lang="en-GB" sz="1600" dirty="0" err="1" smtClean="0"/>
              <a:t>virheen</a:t>
            </a:r>
            <a:r>
              <a:rPr lang="en-GB" sz="1600" dirty="0" smtClean="0"/>
              <a:t> </a:t>
            </a:r>
            <a:r>
              <a:rPr lang="en-GB" sz="1600" dirty="0" err="1" smtClean="0"/>
              <a:t>arvauksessa</a:t>
            </a:r>
            <a:endParaRPr lang="en-GB" sz="1600" dirty="0" smtClean="0"/>
          </a:p>
          <a:p>
            <a:pPr lvl="1"/>
            <a:r>
              <a:rPr lang="en-GB" sz="1600" dirty="0" smtClean="0"/>
              <a:t>On </a:t>
            </a:r>
            <a:r>
              <a:rPr lang="en-GB" sz="1600" dirty="0" err="1" smtClean="0"/>
              <a:t>hyvä</a:t>
            </a:r>
            <a:r>
              <a:rPr lang="en-GB" sz="1600" dirty="0" smtClean="0"/>
              <a:t> </a:t>
            </a:r>
            <a:r>
              <a:rPr lang="en-GB" sz="1600" dirty="0" err="1" smtClean="0"/>
              <a:t>haastamaan</a:t>
            </a:r>
            <a:r>
              <a:rPr lang="en-GB" sz="1600" dirty="0" smtClean="0"/>
              <a:t> </a:t>
            </a:r>
            <a:r>
              <a:rPr lang="en-GB" sz="1600" dirty="0" err="1" smtClean="0"/>
              <a:t>ja</a:t>
            </a:r>
            <a:r>
              <a:rPr lang="en-GB" sz="1600" dirty="0" smtClean="0"/>
              <a:t> </a:t>
            </a:r>
            <a:r>
              <a:rPr lang="en-GB" sz="1600" dirty="0" err="1" smtClean="0"/>
              <a:t>kehittämään</a:t>
            </a:r>
            <a:r>
              <a:rPr lang="en-GB" sz="1600" dirty="0" smtClean="0"/>
              <a:t> </a:t>
            </a:r>
            <a:r>
              <a:rPr lang="en-GB" sz="1600" dirty="0" err="1" smtClean="0"/>
              <a:t>asioita</a:t>
            </a:r>
            <a:r>
              <a:rPr lang="en-GB" sz="1600" dirty="0" smtClean="0"/>
              <a:t> </a:t>
            </a:r>
            <a:r>
              <a:rPr lang="en-GB" sz="1600" dirty="0" err="1" smtClean="0"/>
              <a:t>saadakseen</a:t>
            </a:r>
            <a:r>
              <a:rPr lang="en-GB" sz="1600" dirty="0" smtClean="0"/>
              <a:t> </a:t>
            </a:r>
            <a:r>
              <a:rPr lang="en-GB" sz="1600" dirty="0" err="1" smtClean="0"/>
              <a:t>niistä</a:t>
            </a:r>
            <a:r>
              <a:rPr lang="en-GB" sz="1600" dirty="0" smtClean="0"/>
              <a:t> </a:t>
            </a:r>
            <a:r>
              <a:rPr lang="en-GB" sz="1600" dirty="0" err="1" smtClean="0"/>
              <a:t>sekä</a:t>
            </a:r>
            <a:r>
              <a:rPr lang="en-GB" sz="1600" dirty="0" smtClean="0"/>
              <a:t> </a:t>
            </a:r>
            <a:r>
              <a:rPr lang="en-GB" sz="1600" dirty="0" err="1" smtClean="0"/>
              <a:t>sisäisesti</a:t>
            </a:r>
            <a:r>
              <a:rPr lang="en-GB" sz="1600" dirty="0" smtClean="0"/>
              <a:t> </a:t>
            </a:r>
            <a:r>
              <a:rPr lang="en-GB" sz="1600" dirty="0" err="1" smtClean="0"/>
              <a:t>että</a:t>
            </a:r>
            <a:r>
              <a:rPr lang="en-GB" sz="1600" dirty="0" smtClean="0"/>
              <a:t> </a:t>
            </a:r>
            <a:r>
              <a:rPr lang="en-GB" sz="1600" dirty="0" err="1" smtClean="0"/>
              <a:t>ulkoisesti</a:t>
            </a:r>
            <a:r>
              <a:rPr lang="en-GB" sz="1600" dirty="0" smtClean="0"/>
              <a:t> </a:t>
            </a:r>
            <a:r>
              <a:rPr lang="en-GB" sz="1600" dirty="0" err="1" smtClean="0"/>
              <a:t>tehokkaampia</a:t>
            </a:r>
            <a:endParaRPr lang="en-GB" sz="1600" dirty="0" smtClean="0"/>
          </a:p>
          <a:p>
            <a:pPr lvl="1"/>
            <a:r>
              <a:rPr lang="en-GB" sz="1600" dirty="0" err="1" smtClean="0"/>
              <a:t>Nauttii</a:t>
            </a:r>
            <a:r>
              <a:rPr lang="en-GB" sz="1600" dirty="0" smtClean="0"/>
              <a:t> </a:t>
            </a:r>
            <a:r>
              <a:rPr lang="en-GB" sz="1600" dirty="0" err="1" smtClean="0"/>
              <a:t>käyttöliittymätestauksesta</a:t>
            </a:r>
            <a:r>
              <a:rPr lang="en-GB" sz="1600" dirty="0" smtClean="0"/>
              <a:t> </a:t>
            </a:r>
            <a:r>
              <a:rPr lang="en-GB" sz="1600" dirty="0" err="1" smtClean="0"/>
              <a:t>sekä</a:t>
            </a:r>
            <a:r>
              <a:rPr lang="en-GB" sz="1600" dirty="0" smtClean="0"/>
              <a:t> </a:t>
            </a:r>
            <a:r>
              <a:rPr lang="en-GB" sz="1600" dirty="0" err="1" smtClean="0"/>
              <a:t>päästä</a:t>
            </a:r>
            <a:r>
              <a:rPr lang="en-GB" sz="1600" dirty="0" smtClean="0"/>
              <a:t> </a:t>
            </a:r>
            <a:r>
              <a:rPr lang="en-GB" sz="1600" dirty="0" err="1" smtClean="0"/>
              <a:t>päähän</a:t>
            </a:r>
            <a:r>
              <a:rPr lang="en-GB" sz="1600" dirty="0" smtClean="0"/>
              <a:t> </a:t>
            </a:r>
            <a:r>
              <a:rPr lang="en-GB" sz="1600" dirty="0" err="1" smtClean="0"/>
              <a:t>testauksesta</a:t>
            </a:r>
            <a:endParaRPr lang="en-GB" sz="1600" dirty="0"/>
          </a:p>
          <a:p>
            <a:pPr lvl="1"/>
            <a:r>
              <a:rPr lang="en-GB" sz="1600" dirty="0" err="1" smtClean="0"/>
              <a:t>Keksii</a:t>
            </a:r>
            <a:r>
              <a:rPr lang="en-GB" sz="1600" dirty="0" smtClean="0"/>
              <a:t> </a:t>
            </a:r>
            <a:r>
              <a:rPr lang="en-GB" sz="1600" dirty="0" err="1" smtClean="0"/>
              <a:t>hyviä</a:t>
            </a:r>
            <a:r>
              <a:rPr lang="en-GB" sz="1600" dirty="0" smtClean="0"/>
              <a:t> </a:t>
            </a:r>
            <a:r>
              <a:rPr lang="en-GB" sz="1600" dirty="0" err="1" smtClean="0"/>
              <a:t>ideoita</a:t>
            </a:r>
            <a:endParaRPr lang="en-GB" sz="1600" dirty="0"/>
          </a:p>
          <a:p>
            <a:pPr lvl="1"/>
            <a:r>
              <a:rPr lang="en-GB" sz="1600" dirty="0" smtClean="0"/>
              <a:t>On </a:t>
            </a:r>
            <a:r>
              <a:rPr lang="en-GB" sz="1600" dirty="0" err="1" smtClean="0"/>
              <a:t>hyvä</a:t>
            </a:r>
            <a:r>
              <a:rPr lang="en-GB" sz="1600" dirty="0" smtClean="0"/>
              <a:t> </a:t>
            </a:r>
            <a:r>
              <a:rPr lang="en-GB" sz="1600" dirty="0" err="1" smtClean="0"/>
              <a:t>tuottamaan</a:t>
            </a:r>
            <a:r>
              <a:rPr lang="en-GB" sz="1600" dirty="0" smtClean="0"/>
              <a:t> </a:t>
            </a:r>
            <a:r>
              <a:rPr lang="en-GB" sz="1600" dirty="0" err="1" smtClean="0"/>
              <a:t>ideariihessä</a:t>
            </a:r>
            <a:r>
              <a:rPr lang="en-GB" sz="1600" dirty="0" smtClean="0"/>
              <a:t> </a:t>
            </a:r>
            <a:r>
              <a:rPr lang="en-GB" sz="1600" dirty="0" err="1" smtClean="0"/>
              <a:t>ajatuksia</a:t>
            </a:r>
            <a:r>
              <a:rPr lang="en-GB" sz="1600" dirty="0" smtClean="0"/>
              <a:t> </a:t>
            </a:r>
            <a:r>
              <a:rPr lang="en-GB" sz="1600" dirty="0" err="1" smtClean="0"/>
              <a:t>siitä</a:t>
            </a:r>
            <a:r>
              <a:rPr lang="en-GB" sz="1600" dirty="0" smtClean="0"/>
              <a:t> </a:t>
            </a:r>
            <a:r>
              <a:rPr lang="en-GB" sz="1600" dirty="0" err="1" smtClean="0"/>
              <a:t>mitä</a:t>
            </a:r>
            <a:r>
              <a:rPr lang="en-GB" sz="1600" dirty="0" smtClean="0"/>
              <a:t> </a:t>
            </a:r>
            <a:r>
              <a:rPr lang="en-GB" sz="1600" dirty="0" err="1" smtClean="0"/>
              <a:t>testataan</a:t>
            </a:r>
            <a:endParaRPr lang="en-GB" sz="1600" dirty="0"/>
          </a:p>
          <a:p>
            <a:pPr lvl="1"/>
            <a:r>
              <a:rPr lang="en-GB" sz="1600" dirty="0" err="1" smtClean="0"/>
              <a:t>Jakaa</a:t>
            </a:r>
            <a:r>
              <a:rPr lang="en-GB" sz="1600" dirty="0" smtClean="0"/>
              <a:t> </a:t>
            </a:r>
            <a:r>
              <a:rPr lang="en-GB" sz="1600" dirty="0" err="1" smtClean="0"/>
              <a:t>ideoita</a:t>
            </a:r>
            <a:r>
              <a:rPr lang="en-GB" sz="1600" dirty="0" smtClean="0"/>
              <a:t> </a:t>
            </a:r>
            <a:r>
              <a:rPr lang="en-GB" sz="1600" dirty="0" err="1" smtClean="0"/>
              <a:t>erilaisista</a:t>
            </a:r>
            <a:r>
              <a:rPr lang="en-GB" sz="1600" dirty="0" smtClean="0"/>
              <a:t> </a:t>
            </a:r>
            <a:r>
              <a:rPr lang="en-GB" sz="1600" dirty="0" err="1" smtClean="0"/>
              <a:t>tavoista</a:t>
            </a:r>
            <a:r>
              <a:rPr lang="en-GB" sz="1600" dirty="0" smtClean="0"/>
              <a:t> </a:t>
            </a:r>
            <a:r>
              <a:rPr lang="en-GB" sz="1600" dirty="0" err="1" smtClean="0"/>
              <a:t>lähestyä</a:t>
            </a:r>
            <a:r>
              <a:rPr lang="en-GB" sz="1600" dirty="0" smtClean="0"/>
              <a:t> </a:t>
            </a:r>
            <a:r>
              <a:rPr lang="en-GB" sz="1600" dirty="0" err="1" smtClean="0"/>
              <a:t>testausta</a:t>
            </a:r>
            <a:endParaRPr lang="en-GB" sz="1600" dirty="0"/>
          </a:p>
          <a:p>
            <a:pPr lvl="1"/>
            <a:r>
              <a:rPr lang="en-GB" sz="1600" dirty="0" err="1" smtClean="0"/>
              <a:t>Tunnistaa</a:t>
            </a:r>
            <a:r>
              <a:rPr lang="en-GB" sz="1600" dirty="0" smtClean="0"/>
              <a:t> </a:t>
            </a:r>
            <a:r>
              <a:rPr lang="en-GB" sz="1600" dirty="0" err="1" smtClean="0"/>
              <a:t>ja</a:t>
            </a:r>
            <a:r>
              <a:rPr lang="en-GB" sz="1600" dirty="0" smtClean="0"/>
              <a:t> </a:t>
            </a:r>
            <a:r>
              <a:rPr lang="en-GB" sz="1600" dirty="0" err="1" smtClean="0"/>
              <a:t>ottaa</a:t>
            </a:r>
            <a:r>
              <a:rPr lang="en-GB" sz="1600" dirty="0" smtClean="0"/>
              <a:t> </a:t>
            </a:r>
            <a:r>
              <a:rPr lang="en-GB" sz="1600" dirty="0" err="1" smtClean="0"/>
              <a:t>tarpeellisia</a:t>
            </a:r>
            <a:r>
              <a:rPr lang="en-GB" sz="1600" dirty="0" smtClean="0"/>
              <a:t> </a:t>
            </a:r>
            <a:r>
              <a:rPr lang="en-GB" sz="1600" dirty="0" err="1" smtClean="0"/>
              <a:t>riskejä</a:t>
            </a:r>
            <a:r>
              <a:rPr lang="en-GB" sz="1600" dirty="0" smtClean="0"/>
              <a:t> </a:t>
            </a:r>
            <a:r>
              <a:rPr lang="en-GB" sz="1600" dirty="0" err="1" smtClean="0"/>
              <a:t>tarvittaessa</a:t>
            </a:r>
            <a:endParaRPr lang="en-GB" sz="1600" dirty="0"/>
          </a:p>
          <a:p>
            <a:pPr lvl="1"/>
            <a:r>
              <a:rPr lang="en-GB" sz="1600" dirty="0" err="1" smtClean="0"/>
              <a:t>Omaa</a:t>
            </a:r>
            <a:r>
              <a:rPr lang="en-GB" sz="1600" dirty="0" smtClean="0"/>
              <a:t> </a:t>
            </a:r>
            <a:r>
              <a:rPr lang="en-GB" sz="1600" dirty="0" err="1" smtClean="0"/>
              <a:t>luovia</a:t>
            </a:r>
            <a:r>
              <a:rPr lang="en-GB" sz="1600" dirty="0" smtClean="0"/>
              <a:t> </a:t>
            </a:r>
            <a:r>
              <a:rPr lang="en-GB" sz="1600" dirty="0" err="1" smtClean="0"/>
              <a:t>ajatuksia</a:t>
            </a:r>
            <a:r>
              <a:rPr lang="en-GB" sz="1600" dirty="0" smtClean="0"/>
              <a:t> </a:t>
            </a:r>
            <a:r>
              <a:rPr lang="en-GB" sz="1600" dirty="0" err="1" smtClean="0"/>
              <a:t>siitä</a:t>
            </a:r>
            <a:r>
              <a:rPr lang="en-GB" sz="1600" dirty="0" smtClean="0"/>
              <a:t> </a:t>
            </a:r>
            <a:r>
              <a:rPr lang="en-GB" sz="1600" dirty="0" err="1" smtClean="0"/>
              <a:t>kuinka</a:t>
            </a:r>
            <a:r>
              <a:rPr lang="en-GB" sz="1600" dirty="0" smtClean="0"/>
              <a:t> </a:t>
            </a:r>
            <a:r>
              <a:rPr lang="en-GB" sz="1600" dirty="0" err="1" smtClean="0"/>
              <a:t>löytää</a:t>
            </a:r>
            <a:r>
              <a:rPr lang="en-GB" sz="1600" dirty="0" smtClean="0"/>
              <a:t> </a:t>
            </a:r>
            <a:r>
              <a:rPr lang="en-GB" sz="1600" dirty="0" err="1" smtClean="0"/>
              <a:t>lisää</a:t>
            </a:r>
            <a:r>
              <a:rPr lang="en-GB" sz="1600" dirty="0" smtClean="0"/>
              <a:t> </a:t>
            </a:r>
            <a:r>
              <a:rPr lang="en-GB" sz="1600" dirty="0" err="1" smtClean="0"/>
              <a:t>virheitä</a:t>
            </a:r>
            <a:endParaRPr lang="en-GB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i-FI" dirty="0" smtClean="0"/>
              <a:t>Analysoija</a:t>
            </a:r>
            <a:r>
              <a:rPr lang="fi-FI" dirty="0"/>
              <a:t/>
            </a:r>
            <a:br>
              <a:rPr lang="fi-FI" dirty="0"/>
            </a:br>
            <a:r>
              <a:rPr lang="en-GB" sz="1200" dirty="0" err="1" smtClean="0"/>
              <a:t>Lähde</a:t>
            </a:r>
            <a:r>
              <a:rPr lang="en-GB" sz="1200" dirty="0" smtClean="0"/>
              <a:t>: </a:t>
            </a:r>
            <a:r>
              <a:rPr lang="en-GB" sz="1200" dirty="0"/>
              <a:t>Lloyd </a:t>
            </a:r>
            <a:r>
              <a:rPr lang="en-GB" sz="1200" dirty="0" err="1"/>
              <a:t>Roden</a:t>
            </a:r>
            <a:r>
              <a:rPr lang="en-GB" sz="1200" dirty="0"/>
              <a:t>. Choosing and Managing the Ideal Test Team. Stickyminds.com</a:t>
            </a:r>
          </a:p>
        </p:txBody>
      </p:sp>
      <p:sp>
        <p:nvSpPr>
          <p:cNvPr id="1320963" name="Rectangle 3"/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fi-FI" sz="2400" dirty="0" smtClean="0"/>
              <a:t>Pitää</a:t>
            </a:r>
            <a:endParaRPr lang="fi-FI" sz="2400" dirty="0"/>
          </a:p>
          <a:p>
            <a:pPr lvl="1">
              <a:lnSpc>
                <a:spcPct val="90000"/>
              </a:lnSpc>
            </a:pPr>
            <a:r>
              <a:rPr lang="fi-FI" sz="2000" dirty="0" smtClean="0"/>
              <a:t>Oikeellisuus / tarkkuus</a:t>
            </a:r>
            <a:endParaRPr lang="fi-FI" sz="2000" dirty="0"/>
          </a:p>
          <a:p>
            <a:pPr lvl="1">
              <a:lnSpc>
                <a:spcPct val="90000"/>
              </a:lnSpc>
            </a:pPr>
            <a:r>
              <a:rPr lang="fi-FI" sz="2000" dirty="0" smtClean="0"/>
              <a:t>Yksityiskohtien huomiointi</a:t>
            </a:r>
            <a:endParaRPr lang="fi-FI" sz="2000" dirty="0"/>
          </a:p>
          <a:p>
            <a:pPr lvl="1">
              <a:lnSpc>
                <a:spcPct val="90000"/>
              </a:lnSpc>
            </a:pPr>
            <a:r>
              <a:rPr lang="fi-FI" sz="2000" dirty="0" smtClean="0"/>
              <a:t>Todisteet</a:t>
            </a:r>
            <a:endParaRPr lang="fi-FI" sz="2000" dirty="0"/>
          </a:p>
          <a:p>
            <a:pPr lvl="1">
              <a:lnSpc>
                <a:spcPct val="90000"/>
              </a:lnSpc>
            </a:pPr>
            <a:r>
              <a:rPr lang="fi-FI" sz="2000" dirty="0" smtClean="0"/>
              <a:t>Standardit</a:t>
            </a:r>
            <a:endParaRPr lang="fi-FI" sz="2000" dirty="0"/>
          </a:p>
          <a:p>
            <a:pPr lvl="1">
              <a:lnSpc>
                <a:spcPct val="90000"/>
              </a:lnSpc>
            </a:pPr>
            <a:r>
              <a:rPr lang="fi-FI" sz="2000" dirty="0" smtClean="0"/>
              <a:t>Luotettavuus</a:t>
            </a:r>
            <a:endParaRPr lang="fi-FI" sz="2000" dirty="0"/>
          </a:p>
          <a:p>
            <a:pPr lvl="1">
              <a:lnSpc>
                <a:spcPct val="90000"/>
              </a:lnSpc>
            </a:pPr>
            <a:r>
              <a:rPr lang="fi-FI" sz="2000" dirty="0" smtClean="0"/>
              <a:t>Kaikki vaihtoehdot</a:t>
            </a:r>
            <a:endParaRPr lang="fi-FI" sz="2000" dirty="0"/>
          </a:p>
          <a:p>
            <a:pPr>
              <a:lnSpc>
                <a:spcPct val="110000"/>
              </a:lnSpc>
            </a:pPr>
            <a:r>
              <a:rPr lang="fi-FI" sz="2400" dirty="0" smtClean="0"/>
              <a:t>Ei pidä</a:t>
            </a:r>
            <a:endParaRPr lang="fi-FI" sz="2400" dirty="0"/>
          </a:p>
          <a:p>
            <a:pPr lvl="1">
              <a:lnSpc>
                <a:spcPct val="90000"/>
              </a:lnSpc>
            </a:pPr>
            <a:r>
              <a:rPr lang="en-GB" sz="2000" dirty="0" err="1" smtClean="0"/>
              <a:t>Uusi</a:t>
            </a:r>
            <a:r>
              <a:rPr lang="en-GB" sz="2000" dirty="0" smtClean="0"/>
              <a:t> / </a:t>
            </a:r>
            <a:r>
              <a:rPr lang="en-GB" sz="2000" dirty="0" err="1" smtClean="0"/>
              <a:t>muutos</a:t>
            </a:r>
            <a:endParaRPr lang="en-GB" sz="2000" dirty="0" smtClean="0"/>
          </a:p>
          <a:p>
            <a:pPr lvl="1">
              <a:lnSpc>
                <a:spcPct val="90000"/>
              </a:lnSpc>
            </a:pPr>
            <a:r>
              <a:rPr lang="en-GB" sz="2000" dirty="0" err="1" smtClean="0"/>
              <a:t>Testaamaton</a:t>
            </a:r>
            <a:r>
              <a:rPr lang="en-GB" sz="2000" dirty="0" smtClean="0"/>
              <a:t> / </a:t>
            </a:r>
            <a:r>
              <a:rPr lang="en-GB" sz="2000" dirty="0" err="1" smtClean="0"/>
              <a:t>riskit</a:t>
            </a:r>
            <a:endParaRPr lang="en-GB" sz="2000" dirty="0" smtClean="0"/>
          </a:p>
          <a:p>
            <a:pPr lvl="1">
              <a:lnSpc>
                <a:spcPct val="90000"/>
              </a:lnSpc>
            </a:pPr>
            <a:r>
              <a:rPr lang="en-GB" sz="2000" dirty="0" err="1" smtClean="0"/>
              <a:t>Lyhyt</a:t>
            </a:r>
            <a:r>
              <a:rPr lang="en-GB" sz="2000" dirty="0" smtClean="0"/>
              <a:t> / </a:t>
            </a:r>
            <a:r>
              <a:rPr lang="en-GB" sz="2000" dirty="0" err="1" smtClean="0"/>
              <a:t>nopeus</a:t>
            </a:r>
            <a:endParaRPr lang="en-GB" sz="2000" dirty="0"/>
          </a:p>
          <a:p>
            <a:pPr lvl="1">
              <a:lnSpc>
                <a:spcPct val="90000"/>
              </a:lnSpc>
            </a:pPr>
            <a:r>
              <a:rPr lang="en-GB" sz="2000" dirty="0" err="1" smtClean="0"/>
              <a:t>Luovuttaminen</a:t>
            </a:r>
            <a:r>
              <a:rPr lang="en-GB" sz="2000" dirty="0" smtClean="0"/>
              <a:t> </a:t>
            </a:r>
            <a:r>
              <a:rPr lang="en-GB" sz="2000" dirty="0" err="1" smtClean="0"/>
              <a:t>eteenpäin</a:t>
            </a:r>
            <a:endParaRPr lang="en-GB" sz="2000" dirty="0"/>
          </a:p>
        </p:txBody>
      </p:sp>
      <p:sp>
        <p:nvSpPr>
          <p:cNvPr id="1320964" name="Rectangle 4"/>
          <p:cNvSpPr>
            <a:spLocks noGrp="1" noChangeArrowheads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fi-FI" sz="1800" dirty="0" smtClean="0"/>
              <a:t>Tämän tyylin omaava testaaja...</a:t>
            </a:r>
          </a:p>
          <a:p>
            <a:pPr lvl="1"/>
            <a:r>
              <a:rPr lang="en-GB" sz="1600" dirty="0" smtClean="0"/>
              <a:t>On </a:t>
            </a:r>
            <a:r>
              <a:rPr lang="en-GB" sz="1600" dirty="0" err="1" smtClean="0"/>
              <a:t>hyvä</a:t>
            </a:r>
            <a:r>
              <a:rPr lang="en-GB" sz="1600" dirty="0" smtClean="0"/>
              <a:t> </a:t>
            </a:r>
            <a:r>
              <a:rPr lang="en-GB" sz="1600" dirty="0" err="1" smtClean="0"/>
              <a:t>määrittelemään</a:t>
            </a:r>
            <a:r>
              <a:rPr lang="en-GB" sz="1600" dirty="0" smtClean="0"/>
              <a:t> </a:t>
            </a:r>
            <a:r>
              <a:rPr lang="en-GB" sz="1600" dirty="0" err="1" smtClean="0"/>
              <a:t>ja</a:t>
            </a:r>
            <a:r>
              <a:rPr lang="en-GB" sz="1600" dirty="0" smtClean="0"/>
              <a:t> </a:t>
            </a:r>
            <a:r>
              <a:rPr lang="en-GB" sz="1600" dirty="0" err="1" smtClean="0"/>
              <a:t>dokumentoimaan</a:t>
            </a:r>
            <a:r>
              <a:rPr lang="en-GB" sz="1600" dirty="0" smtClean="0"/>
              <a:t> </a:t>
            </a:r>
            <a:r>
              <a:rPr lang="en-GB" sz="1600" dirty="0" err="1" smtClean="0"/>
              <a:t>testitapauksia</a:t>
            </a:r>
            <a:endParaRPr lang="en-GB" sz="1600" dirty="0" smtClean="0"/>
          </a:p>
          <a:p>
            <a:pPr lvl="1"/>
            <a:r>
              <a:rPr lang="en-GB" sz="1600" dirty="0" smtClean="0"/>
              <a:t>On </a:t>
            </a:r>
            <a:r>
              <a:rPr lang="en-GB" sz="1600" dirty="0" err="1" smtClean="0"/>
              <a:t>hyvä</a:t>
            </a:r>
            <a:r>
              <a:rPr lang="en-GB" sz="1600" dirty="0" smtClean="0"/>
              <a:t> </a:t>
            </a:r>
            <a:r>
              <a:rPr lang="en-GB" sz="1600" dirty="0" err="1" smtClean="0"/>
              <a:t>tuottamaan</a:t>
            </a:r>
            <a:r>
              <a:rPr lang="en-GB" sz="1600" dirty="0" smtClean="0"/>
              <a:t> </a:t>
            </a:r>
            <a:r>
              <a:rPr lang="en-GB" sz="1600" dirty="0" err="1" smtClean="0"/>
              <a:t>testistandardeja</a:t>
            </a:r>
            <a:r>
              <a:rPr lang="en-GB" sz="1600" dirty="0" smtClean="0"/>
              <a:t> </a:t>
            </a:r>
            <a:r>
              <a:rPr lang="en-GB" sz="1600" dirty="0" err="1" smtClean="0"/>
              <a:t>ja</a:t>
            </a:r>
            <a:r>
              <a:rPr lang="en-GB" sz="1600" dirty="0" smtClean="0"/>
              <a:t> </a:t>
            </a:r>
            <a:r>
              <a:rPr lang="en-GB" sz="1600" dirty="0" err="1" smtClean="0"/>
              <a:t>askeleittaisia</a:t>
            </a:r>
            <a:r>
              <a:rPr lang="en-GB" sz="1600" dirty="0" smtClean="0"/>
              <a:t> </a:t>
            </a:r>
            <a:r>
              <a:rPr lang="en-GB" sz="1600" dirty="0" err="1" smtClean="0"/>
              <a:t>ohjeita</a:t>
            </a:r>
            <a:endParaRPr lang="en-GB" sz="1600" dirty="0"/>
          </a:p>
          <a:p>
            <a:pPr lvl="1"/>
            <a:r>
              <a:rPr lang="en-GB" sz="1600" dirty="0" err="1" smtClean="0"/>
              <a:t>Analysoi</a:t>
            </a:r>
            <a:r>
              <a:rPr lang="en-GB" sz="1600" dirty="0" smtClean="0"/>
              <a:t> </a:t>
            </a:r>
            <a:r>
              <a:rPr lang="en-GB" sz="1600" dirty="0" err="1" smtClean="0"/>
              <a:t>ongelmia</a:t>
            </a:r>
            <a:r>
              <a:rPr lang="en-GB" sz="1600" dirty="0" smtClean="0"/>
              <a:t> </a:t>
            </a:r>
            <a:r>
              <a:rPr lang="en-GB" sz="1600" dirty="0" err="1" smtClean="0"/>
              <a:t>ja</a:t>
            </a:r>
            <a:r>
              <a:rPr lang="en-GB" sz="1600" dirty="0" smtClean="0"/>
              <a:t> </a:t>
            </a:r>
            <a:r>
              <a:rPr lang="en-GB" sz="1600" dirty="0" err="1" smtClean="0"/>
              <a:t>löytää</a:t>
            </a:r>
            <a:r>
              <a:rPr lang="en-GB" sz="1600" dirty="0" smtClean="0"/>
              <a:t> </a:t>
            </a:r>
            <a:r>
              <a:rPr lang="en-GB" sz="1600" dirty="0" err="1" smtClean="0"/>
              <a:t>syyn</a:t>
            </a:r>
            <a:r>
              <a:rPr lang="en-GB" sz="1600" dirty="0" smtClean="0"/>
              <a:t> </a:t>
            </a:r>
            <a:r>
              <a:rPr lang="en-GB" sz="1600" dirty="0" err="1" smtClean="0"/>
              <a:t>niiden</a:t>
            </a:r>
            <a:r>
              <a:rPr lang="en-GB" sz="1600" dirty="0" smtClean="0"/>
              <a:t> </a:t>
            </a:r>
            <a:r>
              <a:rPr lang="en-GB" sz="1600" dirty="0" err="1" smtClean="0"/>
              <a:t>olemassaoloon</a:t>
            </a:r>
            <a:endParaRPr lang="en-GB" sz="1600" dirty="0"/>
          </a:p>
          <a:p>
            <a:pPr lvl="1"/>
            <a:r>
              <a:rPr lang="en-GB" sz="1600" dirty="0" err="1" smtClean="0"/>
              <a:t>Työn</a:t>
            </a:r>
            <a:r>
              <a:rPr lang="en-GB" sz="1600" dirty="0" smtClean="0"/>
              <a:t> </a:t>
            </a:r>
            <a:r>
              <a:rPr lang="en-GB" sz="1600" dirty="0" err="1" smtClean="0"/>
              <a:t>tulokset</a:t>
            </a:r>
            <a:r>
              <a:rPr lang="en-GB" sz="1600" dirty="0" smtClean="0"/>
              <a:t> </a:t>
            </a:r>
            <a:r>
              <a:rPr lang="en-GB" sz="1600" dirty="0" err="1" smtClean="0"/>
              <a:t>ovat</a:t>
            </a:r>
            <a:r>
              <a:rPr lang="en-GB" sz="1600" dirty="0" smtClean="0"/>
              <a:t> </a:t>
            </a:r>
            <a:r>
              <a:rPr lang="en-GB" sz="1600" dirty="0" err="1" smtClean="0"/>
              <a:t>tarkkoja</a:t>
            </a:r>
            <a:r>
              <a:rPr lang="en-GB" sz="1600" dirty="0" smtClean="0"/>
              <a:t> </a:t>
            </a:r>
            <a:r>
              <a:rPr lang="en-GB" sz="1600" dirty="0" err="1" smtClean="0"/>
              <a:t>ja</a:t>
            </a:r>
            <a:r>
              <a:rPr lang="en-GB" sz="1600" dirty="0" smtClean="0"/>
              <a:t> </a:t>
            </a:r>
            <a:r>
              <a:rPr lang="en-GB" sz="1600" dirty="0" err="1" smtClean="0"/>
              <a:t>täydellisiä</a:t>
            </a:r>
            <a:endParaRPr lang="en-GB" sz="1600" dirty="0"/>
          </a:p>
          <a:p>
            <a:pPr lvl="1"/>
            <a:r>
              <a:rPr lang="en-GB" sz="1600" dirty="0" err="1" smtClean="0"/>
              <a:t>Nauttii</a:t>
            </a:r>
            <a:r>
              <a:rPr lang="en-GB" sz="1600" dirty="0" smtClean="0"/>
              <a:t> </a:t>
            </a:r>
            <a:r>
              <a:rPr lang="en-GB" sz="1600" dirty="0" err="1" smtClean="0"/>
              <a:t>loogisista</a:t>
            </a:r>
            <a:r>
              <a:rPr lang="en-GB" sz="1600" dirty="0" smtClean="0"/>
              <a:t> </a:t>
            </a:r>
            <a:r>
              <a:rPr lang="en-GB" sz="1600" dirty="0" err="1" smtClean="0"/>
              <a:t>testiskenaarioista</a:t>
            </a:r>
            <a:endParaRPr lang="en-GB" sz="1600" dirty="0"/>
          </a:p>
          <a:p>
            <a:pPr lvl="1"/>
            <a:r>
              <a:rPr lang="en-GB" sz="1600" dirty="0" err="1" smtClean="0"/>
              <a:t>Toimittaa</a:t>
            </a:r>
            <a:r>
              <a:rPr lang="en-GB" sz="1600" dirty="0" smtClean="0"/>
              <a:t> </a:t>
            </a:r>
            <a:r>
              <a:rPr lang="en-GB" sz="1600" dirty="0" err="1" smtClean="0"/>
              <a:t>todisteita</a:t>
            </a:r>
            <a:r>
              <a:rPr lang="en-GB" sz="1600" dirty="0" smtClean="0"/>
              <a:t> kun </a:t>
            </a:r>
            <a:r>
              <a:rPr lang="en-GB" sz="1600" dirty="0" err="1" smtClean="0"/>
              <a:t>virhe</a:t>
            </a:r>
            <a:r>
              <a:rPr lang="en-GB" sz="1600" dirty="0" smtClean="0"/>
              <a:t> </a:t>
            </a:r>
            <a:r>
              <a:rPr lang="en-GB" sz="1600" dirty="0" err="1" smtClean="0"/>
              <a:t>löytyy</a:t>
            </a:r>
            <a:endParaRPr lang="en-GB" sz="1600" dirty="0" smtClean="0"/>
          </a:p>
          <a:p>
            <a:pPr lvl="1"/>
            <a:r>
              <a:rPr lang="en-GB" sz="1600" dirty="0" err="1" smtClean="0"/>
              <a:t>Dokumentoi</a:t>
            </a:r>
            <a:r>
              <a:rPr lang="en-GB" sz="1600" dirty="0" smtClean="0"/>
              <a:t> </a:t>
            </a:r>
            <a:r>
              <a:rPr lang="en-GB" sz="1600" dirty="0" err="1" smtClean="0"/>
              <a:t>perusteellisia</a:t>
            </a:r>
            <a:r>
              <a:rPr lang="en-GB" sz="1600" dirty="0" smtClean="0"/>
              <a:t> </a:t>
            </a:r>
            <a:r>
              <a:rPr lang="en-GB" sz="1600" dirty="0" err="1" smtClean="0"/>
              <a:t>testiraportteja</a:t>
            </a:r>
            <a:endParaRPr lang="en-GB" sz="1600" dirty="0" smtClean="0"/>
          </a:p>
          <a:p>
            <a:pPr lvl="1"/>
            <a:r>
              <a:rPr lang="en-GB" sz="1600" dirty="0" err="1" smtClean="0"/>
              <a:t>Saa</a:t>
            </a:r>
            <a:r>
              <a:rPr lang="en-GB" sz="1600" dirty="0" smtClean="0"/>
              <a:t> </a:t>
            </a:r>
            <a:r>
              <a:rPr lang="en-GB" sz="1600" dirty="0" err="1" smtClean="0"/>
              <a:t>työn</a:t>
            </a:r>
            <a:r>
              <a:rPr lang="en-GB" sz="1600" dirty="0" smtClean="0"/>
              <a:t> </a:t>
            </a:r>
            <a:r>
              <a:rPr lang="en-GB" sz="1600" dirty="0" err="1" smtClean="0"/>
              <a:t>valmiiksi</a:t>
            </a:r>
            <a:r>
              <a:rPr lang="en-GB" sz="1600" dirty="0" smtClean="0"/>
              <a:t> </a:t>
            </a:r>
            <a:r>
              <a:rPr lang="en-GB" sz="1600" dirty="0" err="1" smtClean="0"/>
              <a:t>riippumatta</a:t>
            </a:r>
            <a:r>
              <a:rPr lang="en-GB" sz="1600" dirty="0" smtClean="0"/>
              <a:t> </a:t>
            </a:r>
            <a:r>
              <a:rPr lang="en-GB" sz="1600" dirty="0" err="1" smtClean="0"/>
              <a:t>siitä</a:t>
            </a:r>
            <a:r>
              <a:rPr lang="en-GB" sz="1600" dirty="0" smtClean="0"/>
              <a:t> </a:t>
            </a:r>
            <a:r>
              <a:rPr lang="en-GB" sz="1600" dirty="0" err="1" smtClean="0"/>
              <a:t>mitä</a:t>
            </a:r>
            <a:r>
              <a:rPr lang="en-GB" sz="1600" dirty="0" smtClean="0"/>
              <a:t> se </a:t>
            </a:r>
            <a:r>
              <a:rPr lang="en-GB" sz="1600" dirty="0" err="1" smtClean="0"/>
              <a:t>vaatii</a:t>
            </a:r>
            <a:endParaRPr lang="en-GB" sz="1600" dirty="0" smtClean="0"/>
          </a:p>
          <a:p>
            <a:pPr lvl="1"/>
            <a:r>
              <a:rPr lang="en-GB" sz="1600" dirty="0" err="1" smtClean="0"/>
              <a:t>Haastaa</a:t>
            </a:r>
            <a:r>
              <a:rPr lang="en-GB" sz="1600" dirty="0" smtClean="0"/>
              <a:t> </a:t>
            </a:r>
            <a:r>
              <a:rPr lang="en-GB" sz="1600" dirty="0" err="1" smtClean="0"/>
              <a:t>vaatimuksia</a:t>
            </a:r>
            <a:endParaRPr lang="en-GB" sz="1600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9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i-FI" dirty="0" smtClean="0"/>
              <a:t>Mahdollistaja</a:t>
            </a:r>
            <a:r>
              <a:rPr lang="fi-FI" dirty="0"/>
              <a:t/>
            </a:r>
            <a:br>
              <a:rPr lang="fi-FI" dirty="0"/>
            </a:br>
            <a:r>
              <a:rPr lang="en-GB" sz="1200" dirty="0" err="1" smtClean="0"/>
              <a:t>Lähde</a:t>
            </a:r>
            <a:r>
              <a:rPr lang="en-GB" sz="1200" dirty="0" smtClean="0"/>
              <a:t>: </a:t>
            </a:r>
            <a:r>
              <a:rPr lang="en-GB" sz="1200" dirty="0"/>
              <a:t>Lloyd </a:t>
            </a:r>
            <a:r>
              <a:rPr lang="en-GB" sz="1200" dirty="0" err="1"/>
              <a:t>Roden</a:t>
            </a:r>
            <a:r>
              <a:rPr lang="en-GB" sz="1200" dirty="0"/>
              <a:t>. Choosing and Managing the Ideal Test Team. Stickyminds.com</a:t>
            </a:r>
          </a:p>
        </p:txBody>
      </p:sp>
      <p:sp>
        <p:nvSpPr>
          <p:cNvPr id="1321987" name="Rectangle 3"/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fi-FI" sz="2400" dirty="0" smtClean="0"/>
              <a:t>Pitää</a:t>
            </a:r>
            <a:endParaRPr lang="fi-FI" sz="2400" dirty="0"/>
          </a:p>
          <a:p>
            <a:pPr lvl="1">
              <a:lnSpc>
                <a:spcPct val="90000"/>
              </a:lnSpc>
            </a:pPr>
            <a:r>
              <a:rPr lang="fi-FI" sz="2000" dirty="0" smtClean="0"/>
              <a:t>Verkostoituminen </a:t>
            </a:r>
            <a:endParaRPr lang="fi-FI" sz="2000" dirty="0"/>
          </a:p>
          <a:p>
            <a:pPr lvl="1">
              <a:lnSpc>
                <a:spcPct val="90000"/>
              </a:lnSpc>
            </a:pPr>
            <a:r>
              <a:rPr lang="fi-FI" sz="2000" dirty="0" smtClean="0"/>
              <a:t>Positiivisuus </a:t>
            </a:r>
            <a:endParaRPr lang="fi-FI" sz="2000" dirty="0"/>
          </a:p>
          <a:p>
            <a:pPr lvl="1">
              <a:lnSpc>
                <a:spcPct val="90000"/>
              </a:lnSpc>
            </a:pPr>
            <a:r>
              <a:rPr lang="fi-FI" sz="2000" dirty="0" smtClean="0"/>
              <a:t>Tiimisuuntautuneisuus </a:t>
            </a:r>
            <a:endParaRPr lang="fi-FI" sz="2000" dirty="0"/>
          </a:p>
          <a:p>
            <a:pPr lvl="1">
              <a:lnSpc>
                <a:spcPct val="90000"/>
              </a:lnSpc>
            </a:pPr>
            <a:r>
              <a:rPr lang="fi-FI" sz="2000" dirty="0" smtClean="0"/>
              <a:t>Yhteisymmärrys / jakaminen</a:t>
            </a:r>
            <a:endParaRPr lang="fi-FI" sz="2000" dirty="0"/>
          </a:p>
          <a:p>
            <a:pPr lvl="1">
              <a:lnSpc>
                <a:spcPct val="90000"/>
              </a:lnSpc>
            </a:pPr>
            <a:r>
              <a:rPr lang="fi-FI" sz="2000" dirty="0" smtClean="0"/>
              <a:t>Sillanrakennus </a:t>
            </a:r>
            <a:endParaRPr lang="fi-FI" sz="2000" dirty="0"/>
          </a:p>
          <a:p>
            <a:pPr lvl="1">
              <a:lnSpc>
                <a:spcPct val="90000"/>
              </a:lnSpc>
            </a:pPr>
            <a:r>
              <a:rPr lang="fi-FI" sz="2000" dirty="0" smtClean="0"/>
              <a:t>Nykytilan pysyvyys</a:t>
            </a:r>
            <a:endParaRPr lang="fi-FI" sz="2000" dirty="0"/>
          </a:p>
          <a:p>
            <a:pPr>
              <a:lnSpc>
                <a:spcPct val="110000"/>
              </a:lnSpc>
            </a:pPr>
            <a:r>
              <a:rPr lang="fi-FI" sz="2400" dirty="0" smtClean="0"/>
              <a:t>Ei pidä</a:t>
            </a:r>
            <a:endParaRPr lang="fi-FI" sz="2400" dirty="0"/>
          </a:p>
          <a:p>
            <a:pPr lvl="1">
              <a:lnSpc>
                <a:spcPct val="90000"/>
              </a:lnSpc>
            </a:pPr>
            <a:r>
              <a:rPr lang="en-GB" sz="2000" dirty="0" smtClean="0"/>
              <a:t>Paine / </a:t>
            </a:r>
            <a:r>
              <a:rPr lang="en-GB" sz="2000" dirty="0" err="1" smtClean="0"/>
              <a:t>aikarajat</a:t>
            </a:r>
            <a:endParaRPr lang="en-GB" sz="2000" dirty="0" smtClean="0"/>
          </a:p>
          <a:p>
            <a:pPr lvl="1">
              <a:lnSpc>
                <a:spcPct val="90000"/>
              </a:lnSpc>
            </a:pPr>
            <a:r>
              <a:rPr lang="en-GB" sz="2000" dirty="0" err="1" smtClean="0"/>
              <a:t>Taistelu</a:t>
            </a:r>
            <a:endParaRPr lang="en-GB" sz="2000" dirty="0"/>
          </a:p>
          <a:p>
            <a:pPr lvl="1">
              <a:lnSpc>
                <a:spcPct val="90000"/>
              </a:lnSpc>
            </a:pPr>
            <a:r>
              <a:rPr lang="en-GB" sz="2000" dirty="0" err="1" smtClean="0"/>
              <a:t>Eristäytyminen</a:t>
            </a:r>
            <a:endParaRPr lang="en-GB" sz="2000" dirty="0"/>
          </a:p>
          <a:p>
            <a:pPr lvl="1">
              <a:lnSpc>
                <a:spcPct val="90000"/>
              </a:lnSpc>
            </a:pPr>
            <a:r>
              <a:rPr lang="en-GB" sz="2000" dirty="0" err="1" smtClean="0"/>
              <a:t>Saneltu</a:t>
            </a:r>
            <a:r>
              <a:rPr lang="en-GB" sz="2000" dirty="0" smtClean="0"/>
              <a:t> </a:t>
            </a:r>
            <a:r>
              <a:rPr lang="en-GB" sz="2000" dirty="0" err="1" smtClean="0"/>
              <a:t>toiminta</a:t>
            </a:r>
            <a:endParaRPr lang="en-GB" sz="2000" dirty="0"/>
          </a:p>
        </p:txBody>
      </p:sp>
      <p:sp>
        <p:nvSpPr>
          <p:cNvPr id="1321988" name="Rectangle 4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r>
              <a:rPr lang="fi-FI" sz="1800" dirty="0" smtClean="0"/>
              <a:t>Tämän tyylin omaava testaaja...</a:t>
            </a:r>
          </a:p>
          <a:p>
            <a:pPr lvl="1">
              <a:lnSpc>
                <a:spcPct val="90000"/>
              </a:lnSpc>
            </a:pPr>
            <a:r>
              <a:rPr lang="en-GB" sz="1600" dirty="0" smtClean="0"/>
              <a:t>On </a:t>
            </a:r>
            <a:r>
              <a:rPr lang="en-GB" sz="1600" dirty="0" err="1" smtClean="0"/>
              <a:t>hyvä</a:t>
            </a:r>
            <a:r>
              <a:rPr lang="en-GB" sz="1600" dirty="0" smtClean="0"/>
              <a:t> </a:t>
            </a:r>
            <a:r>
              <a:rPr lang="en-GB" sz="1600" dirty="0" err="1" smtClean="0"/>
              <a:t>testaamaan</a:t>
            </a:r>
            <a:r>
              <a:rPr lang="en-GB" sz="1600" dirty="0" smtClean="0"/>
              <a:t> </a:t>
            </a:r>
            <a:r>
              <a:rPr lang="en-GB" sz="1600" dirty="0" err="1" smtClean="0"/>
              <a:t>lähellä</a:t>
            </a:r>
            <a:r>
              <a:rPr lang="en-GB" sz="1600" dirty="0" smtClean="0"/>
              <a:t> </a:t>
            </a:r>
            <a:r>
              <a:rPr lang="en-GB" sz="1600" dirty="0" err="1" smtClean="0"/>
              <a:t>kehittäjiä</a:t>
            </a:r>
            <a:endParaRPr lang="en-GB" sz="1600" dirty="0" smtClean="0"/>
          </a:p>
          <a:p>
            <a:pPr lvl="1">
              <a:lnSpc>
                <a:spcPct val="90000"/>
              </a:lnSpc>
            </a:pPr>
            <a:r>
              <a:rPr lang="en-GB" sz="1600" dirty="0" err="1" smtClean="0"/>
              <a:t>Kysyy</a:t>
            </a:r>
            <a:r>
              <a:rPr lang="en-GB" sz="1600" dirty="0" smtClean="0"/>
              <a:t> </a:t>
            </a:r>
            <a:r>
              <a:rPr lang="en-GB" sz="1600" dirty="0" err="1" smtClean="0"/>
              <a:t>usein</a:t>
            </a:r>
            <a:r>
              <a:rPr lang="en-GB" sz="1600" dirty="0" smtClean="0"/>
              <a:t> </a:t>
            </a:r>
            <a:r>
              <a:rPr lang="en-GB" sz="1600" dirty="0" err="1" smtClean="0"/>
              <a:t>mielipidettä</a:t>
            </a:r>
            <a:r>
              <a:rPr lang="en-GB" sz="1600" dirty="0" smtClean="0"/>
              <a:t> </a:t>
            </a:r>
            <a:r>
              <a:rPr lang="en-GB" sz="1600" dirty="0" err="1" smtClean="0"/>
              <a:t>ennen</a:t>
            </a:r>
            <a:r>
              <a:rPr lang="en-GB" sz="1600" dirty="0" smtClean="0"/>
              <a:t> </a:t>
            </a:r>
            <a:r>
              <a:rPr lang="en-GB" sz="1600" dirty="0" err="1" smtClean="0"/>
              <a:t>virheraportin</a:t>
            </a:r>
            <a:r>
              <a:rPr lang="en-GB" sz="1600" dirty="0" smtClean="0"/>
              <a:t> </a:t>
            </a:r>
            <a:r>
              <a:rPr lang="en-GB" sz="1600" dirty="0" err="1" smtClean="0"/>
              <a:t>laatimista</a:t>
            </a:r>
            <a:endParaRPr lang="en-GB" sz="1600" dirty="0"/>
          </a:p>
          <a:p>
            <a:pPr lvl="1">
              <a:lnSpc>
                <a:spcPct val="90000"/>
              </a:lnSpc>
            </a:pPr>
            <a:r>
              <a:rPr lang="en-GB" sz="1600" dirty="0" smtClean="0"/>
              <a:t>On </a:t>
            </a:r>
            <a:r>
              <a:rPr lang="en-GB" sz="1600" dirty="0" err="1" smtClean="0"/>
              <a:t>hyvä</a:t>
            </a:r>
            <a:r>
              <a:rPr lang="en-GB" sz="1600" dirty="0" smtClean="0"/>
              <a:t> </a:t>
            </a:r>
            <a:r>
              <a:rPr lang="en-GB" sz="1600" dirty="0" err="1" smtClean="0"/>
              <a:t>dokumentoimaan</a:t>
            </a:r>
            <a:endParaRPr lang="en-GB" sz="1600" dirty="0"/>
          </a:p>
          <a:p>
            <a:pPr lvl="1">
              <a:lnSpc>
                <a:spcPct val="90000"/>
              </a:lnSpc>
            </a:pPr>
            <a:r>
              <a:rPr lang="en-GB" sz="1600" dirty="0" err="1" smtClean="0"/>
              <a:t>Tekee</a:t>
            </a:r>
            <a:r>
              <a:rPr lang="en-GB" sz="1600" dirty="0" smtClean="0"/>
              <a:t> </a:t>
            </a:r>
            <a:r>
              <a:rPr lang="en-GB" sz="1600" dirty="0" err="1" smtClean="0"/>
              <a:t>hyvin</a:t>
            </a:r>
            <a:r>
              <a:rPr lang="en-GB" sz="1600" dirty="0" smtClean="0"/>
              <a:t> </a:t>
            </a:r>
            <a:r>
              <a:rPr lang="en-GB" sz="1600" dirty="0" err="1" smtClean="0"/>
              <a:t>yhteistyötä</a:t>
            </a:r>
            <a:r>
              <a:rPr lang="en-GB" sz="1600" dirty="0" smtClean="0"/>
              <a:t> </a:t>
            </a:r>
            <a:r>
              <a:rPr lang="en-GB" sz="1600" dirty="0" err="1" smtClean="0"/>
              <a:t>muiden</a:t>
            </a:r>
            <a:r>
              <a:rPr lang="en-GB" sz="1600" dirty="0" smtClean="0"/>
              <a:t> </a:t>
            </a:r>
            <a:r>
              <a:rPr lang="en-GB" sz="1600" dirty="0" err="1" smtClean="0"/>
              <a:t>osastojen</a:t>
            </a:r>
            <a:r>
              <a:rPr lang="en-GB" sz="1600" dirty="0" smtClean="0"/>
              <a:t> </a:t>
            </a:r>
            <a:r>
              <a:rPr lang="en-GB" sz="1600" dirty="0" err="1" smtClean="0"/>
              <a:t>ja</a:t>
            </a:r>
            <a:r>
              <a:rPr lang="en-GB" sz="1600" dirty="0" smtClean="0"/>
              <a:t> </a:t>
            </a:r>
            <a:r>
              <a:rPr lang="en-GB" sz="1600" dirty="0" err="1" smtClean="0"/>
              <a:t>roolien</a:t>
            </a:r>
            <a:r>
              <a:rPr lang="en-GB" sz="1600" dirty="0" smtClean="0"/>
              <a:t> </a:t>
            </a:r>
            <a:r>
              <a:rPr lang="en-GB" sz="1600" dirty="0" err="1" smtClean="0"/>
              <a:t>kanssa</a:t>
            </a:r>
            <a:endParaRPr lang="en-GB" sz="1600" dirty="0"/>
          </a:p>
          <a:p>
            <a:pPr lvl="1">
              <a:lnSpc>
                <a:spcPct val="90000"/>
              </a:lnSpc>
            </a:pPr>
            <a:r>
              <a:rPr lang="en-GB" sz="1600" dirty="0" err="1" smtClean="0"/>
              <a:t>Näkee</a:t>
            </a:r>
            <a:r>
              <a:rPr lang="en-GB" sz="1600" dirty="0" smtClean="0"/>
              <a:t> </a:t>
            </a:r>
            <a:r>
              <a:rPr lang="en-GB" sz="1600" dirty="0" err="1" smtClean="0"/>
              <a:t>asiat</a:t>
            </a:r>
            <a:r>
              <a:rPr lang="en-GB" sz="1600" dirty="0" smtClean="0"/>
              <a:t> </a:t>
            </a:r>
            <a:r>
              <a:rPr lang="en-GB" sz="1600" dirty="0" err="1" smtClean="0"/>
              <a:t>usein</a:t>
            </a:r>
            <a:r>
              <a:rPr lang="en-GB" sz="1600" dirty="0" smtClean="0"/>
              <a:t> </a:t>
            </a:r>
            <a:r>
              <a:rPr lang="en-GB" sz="1600" dirty="0" err="1" smtClean="0"/>
              <a:t>myös</a:t>
            </a:r>
            <a:r>
              <a:rPr lang="en-GB" sz="1600" dirty="0" smtClean="0"/>
              <a:t> </a:t>
            </a:r>
            <a:r>
              <a:rPr lang="en-GB" sz="1600" dirty="0" err="1" smtClean="0"/>
              <a:t>toisen</a:t>
            </a:r>
            <a:r>
              <a:rPr lang="en-GB" sz="1600" dirty="0" smtClean="0"/>
              <a:t> </a:t>
            </a:r>
            <a:r>
              <a:rPr lang="en-GB" sz="1600" dirty="0" err="1" smtClean="0"/>
              <a:t>näkökulmasta</a:t>
            </a:r>
            <a:endParaRPr lang="en-GB" sz="1600" dirty="0"/>
          </a:p>
          <a:p>
            <a:pPr lvl="1">
              <a:lnSpc>
                <a:spcPct val="90000"/>
              </a:lnSpc>
            </a:pPr>
            <a:r>
              <a:rPr lang="en-GB" sz="1600" dirty="0" err="1" smtClean="0"/>
              <a:t>Hyvä</a:t>
            </a:r>
            <a:r>
              <a:rPr lang="en-GB" sz="1600" dirty="0" smtClean="0"/>
              <a:t> </a:t>
            </a:r>
            <a:r>
              <a:rPr lang="en-GB" sz="1600" dirty="0" err="1" smtClean="0"/>
              <a:t>lievittämään</a:t>
            </a:r>
            <a:r>
              <a:rPr lang="en-GB" sz="1600" dirty="0" smtClean="0"/>
              <a:t> me </a:t>
            </a:r>
            <a:r>
              <a:rPr lang="en-GB" sz="1600" dirty="0" err="1" smtClean="0"/>
              <a:t>vastaan</a:t>
            </a:r>
            <a:r>
              <a:rPr lang="en-GB" sz="1600" dirty="0" smtClean="0"/>
              <a:t> ne -</a:t>
            </a:r>
            <a:r>
              <a:rPr lang="en-GB" sz="1600" dirty="0" err="1" smtClean="0"/>
              <a:t>syndroomaa</a:t>
            </a:r>
            <a:endParaRPr lang="en-GB" sz="1600" dirty="0"/>
          </a:p>
          <a:p>
            <a:pPr lvl="1">
              <a:lnSpc>
                <a:spcPct val="90000"/>
              </a:lnSpc>
            </a:pPr>
            <a:r>
              <a:rPr lang="en-GB" sz="1600" dirty="0" smtClean="0"/>
              <a:t>On </a:t>
            </a:r>
            <a:r>
              <a:rPr lang="en-GB" sz="1600" dirty="0" err="1" smtClean="0"/>
              <a:t>suosittu</a:t>
            </a:r>
            <a:endParaRPr lang="en-GB" sz="1600" dirty="0"/>
          </a:p>
          <a:p>
            <a:pPr lvl="1">
              <a:lnSpc>
                <a:spcPct val="90000"/>
              </a:lnSpc>
            </a:pPr>
            <a:r>
              <a:rPr lang="en-GB" sz="1600" dirty="0" err="1" smtClean="0"/>
              <a:t>Saa</a:t>
            </a:r>
            <a:r>
              <a:rPr lang="en-GB" sz="1600" dirty="0" smtClean="0"/>
              <a:t> </a:t>
            </a:r>
            <a:r>
              <a:rPr lang="en-GB" sz="1600" dirty="0" err="1" smtClean="0"/>
              <a:t>asiat</a:t>
            </a:r>
            <a:r>
              <a:rPr lang="en-GB" sz="1600" dirty="0" smtClean="0"/>
              <a:t> </a:t>
            </a:r>
            <a:r>
              <a:rPr lang="en-GB" sz="1600" dirty="0" err="1" smtClean="0"/>
              <a:t>tapahtumaan</a:t>
            </a:r>
            <a:r>
              <a:rPr lang="en-GB" sz="1600" dirty="0" smtClean="0"/>
              <a:t> - </a:t>
            </a:r>
            <a:r>
              <a:rPr lang="en-GB" sz="1600" dirty="0" err="1" smtClean="0"/>
              <a:t>lopulta</a:t>
            </a:r>
            <a:endParaRPr lang="en-GB" sz="1600" dirty="0"/>
          </a:p>
          <a:p>
            <a:pPr lvl="1">
              <a:lnSpc>
                <a:spcPct val="90000"/>
              </a:lnSpc>
            </a:pPr>
            <a:r>
              <a:rPr lang="en-GB" sz="1600" dirty="0" err="1" smtClean="0"/>
              <a:t>Tarjoaa</a:t>
            </a:r>
            <a:r>
              <a:rPr lang="en-GB" sz="1600" dirty="0" smtClean="0"/>
              <a:t> </a:t>
            </a:r>
            <a:r>
              <a:rPr lang="en-GB" sz="1600" dirty="0" err="1" smtClean="0"/>
              <a:t>testaustukea</a:t>
            </a:r>
            <a:r>
              <a:rPr lang="en-GB" sz="1600" dirty="0" smtClean="0"/>
              <a:t> </a:t>
            </a:r>
            <a:r>
              <a:rPr lang="en-GB" sz="1600" dirty="0" err="1" smtClean="0"/>
              <a:t>muille</a:t>
            </a:r>
            <a:r>
              <a:rPr lang="en-GB" sz="1600" dirty="0" smtClean="0"/>
              <a:t> </a:t>
            </a:r>
            <a:r>
              <a:rPr lang="en-GB" sz="1600" dirty="0" err="1" smtClean="0"/>
              <a:t>tiimin</a:t>
            </a:r>
            <a:r>
              <a:rPr lang="en-GB" sz="1600" dirty="0" smtClean="0"/>
              <a:t> </a:t>
            </a:r>
            <a:r>
              <a:rPr lang="en-GB" sz="1600" dirty="0" err="1" smtClean="0"/>
              <a:t>jäsenille</a:t>
            </a:r>
            <a:endParaRPr lang="en-GB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Oval 2"/>
          <p:cNvSpPr>
            <a:spLocks noChangeArrowheads="1"/>
          </p:cNvSpPr>
          <p:nvPr/>
        </p:nvSpPr>
        <p:spPr bwMode="auto">
          <a:xfrm>
            <a:off x="852488" y="1554163"/>
            <a:ext cx="4876800" cy="46863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r>
              <a:rPr lang="fi-FI" b="1" dirty="0" smtClean="0">
                <a:cs typeface="Arial" charset="0"/>
              </a:rPr>
              <a:t>Osalliset</a:t>
            </a:r>
            <a:endParaRPr lang="en-GB" b="1" dirty="0">
              <a:cs typeface="Arial" charset="0"/>
            </a:endParaRPr>
          </a:p>
        </p:txBody>
      </p:sp>
      <p:sp>
        <p:nvSpPr>
          <p:cNvPr id="102403" name="Oval 3"/>
          <p:cNvSpPr>
            <a:spLocks noChangeArrowheads="1"/>
          </p:cNvSpPr>
          <p:nvPr/>
        </p:nvSpPr>
        <p:spPr bwMode="auto">
          <a:xfrm>
            <a:off x="2605088" y="2582863"/>
            <a:ext cx="2971800" cy="29337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chemeClr val="hlink"/>
              </a:gs>
            </a:gsLst>
            <a:path path="shape">
              <a:fillToRect l="50000" t="50000" r="50000" b="50000"/>
            </a:path>
          </a:gra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r>
              <a:rPr lang="fi-FI" b="1" dirty="0" smtClean="0">
                <a:cs typeface="Arial" charset="0"/>
              </a:rPr>
              <a:t>Ver-</a:t>
            </a:r>
            <a:br>
              <a:rPr lang="fi-FI" b="1" dirty="0" smtClean="0">
                <a:cs typeface="Arial" charset="0"/>
              </a:rPr>
            </a:br>
            <a:r>
              <a:rPr lang="fi-FI" b="1" dirty="0" smtClean="0">
                <a:cs typeface="Arial" charset="0"/>
              </a:rPr>
              <a:t>taiset</a:t>
            </a:r>
            <a:endParaRPr lang="en-GB" b="1" dirty="0">
              <a:cs typeface="Arial" charset="0"/>
            </a:endParaRPr>
          </a:p>
        </p:txBody>
      </p:sp>
      <p:sp>
        <p:nvSpPr>
          <p:cNvPr id="10240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Toimintatyylejä eri laajuuksissa</a:t>
            </a:r>
            <a:endParaRPr lang="en-GB" dirty="0"/>
          </a:p>
        </p:txBody>
      </p:sp>
      <p:sp>
        <p:nvSpPr>
          <p:cNvPr id="102405" name="Oval 5"/>
          <p:cNvSpPr>
            <a:spLocks noChangeArrowheads="1"/>
          </p:cNvSpPr>
          <p:nvPr/>
        </p:nvSpPr>
        <p:spPr bwMode="auto">
          <a:xfrm>
            <a:off x="3748088" y="3192463"/>
            <a:ext cx="1828800" cy="17526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chemeClr val="accent2"/>
              </a:gs>
            </a:gsLst>
            <a:path path="shape">
              <a:fillToRect l="50000" t="50000" r="50000" b="50000"/>
            </a:path>
          </a:gra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/>
            <a:r>
              <a:rPr lang="fi-FI" b="1" dirty="0" smtClean="0">
                <a:cs typeface="Arial" charset="0"/>
              </a:rPr>
              <a:t>Yksilö</a:t>
            </a:r>
            <a:endParaRPr lang="en-GB" b="1" dirty="0">
              <a:cs typeface="Arial" charset="0"/>
            </a:endParaRPr>
          </a:p>
        </p:txBody>
      </p:sp>
      <p:sp>
        <p:nvSpPr>
          <p:cNvPr id="102406" name="Rectangle 6"/>
          <p:cNvSpPr>
            <a:spLocks noChangeArrowheads="1"/>
          </p:cNvSpPr>
          <p:nvPr/>
        </p:nvSpPr>
        <p:spPr bwMode="auto">
          <a:xfrm>
            <a:off x="6096000" y="1600200"/>
            <a:ext cx="2438400" cy="449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lIns="90000" tIns="46800" rIns="90000" bIns="46800" anchor="ctr"/>
          <a:lstStyle/>
          <a:p>
            <a:pPr algn="ctr">
              <a:buFont typeface="Wingdings" pitchFamily="2" charset="2"/>
              <a:buChar char="à"/>
            </a:pPr>
            <a:r>
              <a:rPr lang="fi-FI" b="1" dirty="0" smtClean="0">
                <a:cs typeface="Arial" charset="0"/>
                <a:sym typeface="Wingdings" pitchFamily="2" charset="2"/>
              </a:rPr>
              <a:t> Annettu arvovalta ja vastuu (”päällikkö”)</a:t>
            </a:r>
          </a:p>
          <a:p>
            <a:pPr algn="ctr">
              <a:buFont typeface="Wingdings" pitchFamily="2" charset="2"/>
              <a:buChar char="à"/>
            </a:pPr>
            <a:endParaRPr lang="fi-FI" b="1" dirty="0">
              <a:cs typeface="Arial" charset="0"/>
              <a:sym typeface="Wingdings" pitchFamily="2" charset="2"/>
            </a:endParaRPr>
          </a:p>
          <a:p>
            <a:pPr algn="ctr">
              <a:buFont typeface="Wingdings" pitchFamily="2" charset="2"/>
              <a:buChar char="à"/>
            </a:pPr>
            <a:r>
              <a:rPr lang="fi-FI" b="1" dirty="0">
                <a:cs typeface="Arial" charset="0"/>
              </a:rPr>
              <a:t> </a:t>
            </a:r>
            <a:r>
              <a:rPr lang="fi-FI" b="1" dirty="0" smtClean="0">
                <a:cs typeface="Arial" charset="0"/>
              </a:rPr>
              <a:t>Kokemukseen perustuva arvovalta ja vastuu (”asiantuntija”)</a:t>
            </a:r>
            <a:endParaRPr lang="fi-FI" b="1" dirty="0">
              <a:cs typeface="Arial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Lopuksi: muutos on mahdollinen</a:t>
            </a:r>
            <a:endParaRPr lang="fi-FI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smtClean="0"/>
              <a:t>Eri asiat vaikeita eri persoonatyypeille</a:t>
            </a:r>
          </a:p>
          <a:p>
            <a:pPr lvl="1"/>
            <a:r>
              <a:rPr lang="fi-FI" dirty="0" smtClean="0"/>
              <a:t>Tunnista mikä sinulle on haastavaa ja opi hyötymään vahvuuksistasi</a:t>
            </a:r>
          </a:p>
          <a:p>
            <a:r>
              <a:rPr lang="fi-FI" dirty="0" smtClean="0"/>
              <a:t>Koulutuksissa tyypillisesti näkee varsin vinoutuneen jakauman samamielisiä ihmisiä työympäristön todellisuuteen verrattuna</a:t>
            </a:r>
          </a:p>
          <a:p>
            <a:r>
              <a:rPr lang="fi-FI" dirty="0" smtClean="0"/>
              <a:t>Ketteryyden pohjana vahvasti usko muutokseen ja jatkuvaan parantamiseen</a:t>
            </a:r>
            <a:endParaRPr lang="fi-FI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Ideoita, ajatuksia, </a:t>
            </a:r>
            <a:br>
              <a:rPr lang="fi-FI" dirty="0" smtClean="0"/>
            </a:br>
            <a:r>
              <a:rPr lang="fi-FI" dirty="0" smtClean="0"/>
              <a:t>kysymyksiä?</a:t>
            </a:r>
            <a:endParaRPr lang="fi-FI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pic>
        <p:nvPicPr>
          <p:cNvPr id="4" name="Picture 3" descr="C:\Documents and Settings\mpyhajar.CONFORMIQ\Application Data\Microsoft\Media Catalog\Downloaded Clips\cl1f\j0078711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71736" y="285728"/>
            <a:ext cx="1622425" cy="3933825"/>
          </a:xfrm>
          <a:prstGeom prst="rect">
            <a:avLst/>
          </a:prstGeom>
          <a:noFill/>
        </p:spPr>
      </p:pic>
      <p:pic>
        <p:nvPicPr>
          <p:cNvPr id="5" name="Picture 4" descr="C:\Documents and Settings\mpyhajar.CONFORMIQ\Application Data\Microsoft\Media Catalog\Downloaded Clips\cl1f\j0078625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15140" y="2357430"/>
            <a:ext cx="1295400" cy="3933825"/>
          </a:xfrm>
          <a:prstGeom prst="rect">
            <a:avLst/>
          </a:prstGeom>
          <a:noFill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1819</TotalTime>
  <Words>686</Words>
  <Application>Microsoft Macintosh PowerPoint</Application>
  <PresentationFormat>On-screen Show (4:3)</PresentationFormat>
  <Paragraphs>249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Omien testaustaipumusten tunteminen</vt:lpstr>
      <vt:lpstr>Ketterissä menetelmissä toimitaan osana tiimiä</vt:lpstr>
      <vt:lpstr>Harjoitus: Testaustaipumusten selvittäminen</vt:lpstr>
      <vt:lpstr>Testaajan tyylianalyysi Lähde: Lloyd Roden. Choosing and Managing the Ideal Test Team. Stickyminds.com</vt:lpstr>
      <vt:lpstr>Testaajan tyylianalyysi Lähde: Lloyd Roden. Choosing and Managing the Ideal Test Team. Stickyminds.com</vt:lpstr>
      <vt:lpstr>Testaajan tyylianalyysi Source: Lloyd Roden. Choosing and Managing the Ideal Test Team. Stickyminds.com</vt:lpstr>
      <vt:lpstr>Pragmaatikko Lähde: Lloyd Roden. Choosing and Managing the Ideal Test Team. Stickyminds.com</vt:lpstr>
      <vt:lpstr>Pioneeri Lähde: Lloyd Roden. Choosing and Managing the Ideal Test Team. Stickyminds.com</vt:lpstr>
      <vt:lpstr>Analysoija Lähde: Lloyd Roden. Choosing and Managing the Ideal Test Team. Stickyminds.com</vt:lpstr>
      <vt:lpstr>Mahdollistaja Lähde: Lloyd Roden. Choosing and Managing the Ideal Test Team. Stickyminds.com</vt:lpstr>
      <vt:lpstr>Toimintatyylejä eri laajuuksissa</vt:lpstr>
      <vt:lpstr>Lopuksi: muutos on mahdollinen</vt:lpstr>
      <vt:lpstr>Ideoita, ajatuksia,  kysymyksiä?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Havaintojen kirjaaminen ja Virheiden korjaaminen</dc:title>
  <dc:creator>Maaret Pyhäjärvi</dc:creator>
  <cp:lastModifiedBy>Maaret Pyhäjärvi</cp:lastModifiedBy>
  <cp:revision>13</cp:revision>
  <dcterms:created xsi:type="dcterms:W3CDTF">2006-08-16T00:00:00Z</dcterms:created>
  <dcterms:modified xsi:type="dcterms:W3CDTF">2017-05-29T07:19:32Z</dcterms:modified>
</cp:coreProperties>
</file>