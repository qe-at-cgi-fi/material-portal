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82" r:id="rId3"/>
    <p:sldId id="283" r:id="rId4"/>
    <p:sldId id="284" r:id="rId5"/>
    <p:sldId id="285" r:id="rId6"/>
    <p:sldId id="286" r:id="rId7"/>
    <p:sldId id="287" r:id="rId8"/>
    <p:sldId id="288" r:id="rId9"/>
  </p:sldIdLst>
  <p:sldSz cx="9144000" cy="6858000" type="screen4x3"/>
  <p:notesSz cx="6734175" cy="98679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309" autoAdjust="0"/>
  </p:normalViewPr>
  <p:slideViewPr>
    <p:cSldViewPr>
      <p:cViewPr varScale="1">
        <p:scale>
          <a:sx n="76" d="100"/>
          <a:sy n="76" d="100"/>
        </p:scale>
        <p:origin x="-1392" y="-10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64" d="100"/>
          <a:sy n="64" d="100"/>
        </p:scale>
        <p:origin x="-2490" y="-126"/>
      </p:cViewPr>
      <p:guideLst>
        <p:guide orient="horz" pos="3108"/>
        <p:guide pos="2121"/>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143" cy="493395"/>
          </a:xfrm>
          <a:prstGeom prst="rect">
            <a:avLst/>
          </a:prstGeom>
        </p:spPr>
        <p:txBody>
          <a:bodyPr vert="horz" lIns="91440" tIns="45720" rIns="91440" bIns="45720" rtlCol="0"/>
          <a:lstStyle>
            <a:lvl1pPr algn="l">
              <a:defRPr sz="1200"/>
            </a:lvl1pPr>
          </a:lstStyle>
          <a:p>
            <a:endParaRPr lang="fi-FI"/>
          </a:p>
        </p:txBody>
      </p:sp>
      <p:sp>
        <p:nvSpPr>
          <p:cNvPr id="3" name="Date Placeholder 2"/>
          <p:cNvSpPr>
            <a:spLocks noGrp="1"/>
          </p:cNvSpPr>
          <p:nvPr>
            <p:ph type="dt" idx="1"/>
          </p:nvPr>
        </p:nvSpPr>
        <p:spPr>
          <a:xfrm>
            <a:off x="3814474" y="0"/>
            <a:ext cx="2918143" cy="493395"/>
          </a:xfrm>
          <a:prstGeom prst="rect">
            <a:avLst/>
          </a:prstGeom>
        </p:spPr>
        <p:txBody>
          <a:bodyPr vert="horz" lIns="91440" tIns="45720" rIns="91440" bIns="45720" rtlCol="0"/>
          <a:lstStyle>
            <a:lvl1pPr algn="r">
              <a:defRPr sz="1200"/>
            </a:lvl1pPr>
          </a:lstStyle>
          <a:p>
            <a:fld id="{36A5C55B-5751-4D85-896F-91204AA783C7}" type="datetimeFigureOut">
              <a:rPr lang="en-US" smtClean="0"/>
              <a:pPr/>
              <a:t>4/6/2011</a:t>
            </a:fld>
            <a:endParaRPr lang="fi-FI"/>
          </a:p>
        </p:txBody>
      </p:sp>
      <p:sp>
        <p:nvSpPr>
          <p:cNvPr id="4" name="Slide Image Placeholder 3"/>
          <p:cNvSpPr>
            <a:spLocks noGrp="1" noRot="1" noChangeAspect="1"/>
          </p:cNvSpPr>
          <p:nvPr>
            <p:ph type="sldImg" idx="2"/>
          </p:nvPr>
        </p:nvSpPr>
        <p:spPr>
          <a:xfrm>
            <a:off x="900113" y="739775"/>
            <a:ext cx="4933950" cy="3700463"/>
          </a:xfrm>
          <a:prstGeom prst="rect">
            <a:avLst/>
          </a:prstGeom>
          <a:noFill/>
          <a:ln w="12700">
            <a:solidFill>
              <a:prstClr val="black"/>
            </a:solidFill>
          </a:ln>
        </p:spPr>
        <p:txBody>
          <a:bodyPr vert="horz" lIns="91440" tIns="45720" rIns="91440" bIns="45720" rtlCol="0" anchor="ctr"/>
          <a:lstStyle/>
          <a:p>
            <a:endParaRPr lang="fi-FI"/>
          </a:p>
        </p:txBody>
      </p:sp>
      <p:sp>
        <p:nvSpPr>
          <p:cNvPr id="5" name="Notes Placeholder 4"/>
          <p:cNvSpPr>
            <a:spLocks noGrp="1"/>
          </p:cNvSpPr>
          <p:nvPr>
            <p:ph type="body" sz="quarter" idx="3"/>
          </p:nvPr>
        </p:nvSpPr>
        <p:spPr>
          <a:xfrm>
            <a:off x="673418" y="4687253"/>
            <a:ext cx="5387340" cy="444055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6" name="Footer Placeholder 5"/>
          <p:cNvSpPr>
            <a:spLocks noGrp="1"/>
          </p:cNvSpPr>
          <p:nvPr>
            <p:ph type="ftr" sz="quarter" idx="4"/>
          </p:nvPr>
        </p:nvSpPr>
        <p:spPr>
          <a:xfrm>
            <a:off x="0" y="9372792"/>
            <a:ext cx="2918143" cy="493395"/>
          </a:xfrm>
          <a:prstGeom prst="rect">
            <a:avLst/>
          </a:prstGeom>
        </p:spPr>
        <p:txBody>
          <a:bodyPr vert="horz" lIns="91440" tIns="45720" rIns="91440" bIns="45720" rtlCol="0" anchor="b"/>
          <a:lstStyle>
            <a:lvl1pPr algn="l">
              <a:defRPr sz="1200"/>
            </a:lvl1pPr>
          </a:lstStyle>
          <a:p>
            <a:endParaRPr lang="fi-FI"/>
          </a:p>
        </p:txBody>
      </p:sp>
      <p:sp>
        <p:nvSpPr>
          <p:cNvPr id="7" name="Slide Number Placeholder 6"/>
          <p:cNvSpPr>
            <a:spLocks noGrp="1"/>
          </p:cNvSpPr>
          <p:nvPr>
            <p:ph type="sldNum" sz="quarter" idx="5"/>
          </p:nvPr>
        </p:nvSpPr>
        <p:spPr>
          <a:xfrm>
            <a:off x="3814474" y="9372792"/>
            <a:ext cx="2918143" cy="493395"/>
          </a:xfrm>
          <a:prstGeom prst="rect">
            <a:avLst/>
          </a:prstGeom>
        </p:spPr>
        <p:txBody>
          <a:bodyPr vert="horz" lIns="91440" tIns="45720" rIns="91440" bIns="45720" rtlCol="0" anchor="b"/>
          <a:lstStyle>
            <a:lvl1pPr algn="r">
              <a:defRPr sz="1200"/>
            </a:lvl1pPr>
          </a:lstStyle>
          <a:p>
            <a:fld id="{3B46C0F0-CF11-4FCF-A404-2F2FF520469E}" type="slidenum">
              <a:rPr lang="fi-FI" smtClean="0"/>
              <a:pPr/>
              <a:t>‹#›</a:t>
            </a:fld>
            <a:endParaRPr lang="fi-FI"/>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a:t>
            </a:fld>
            <a:endParaRPr lang="fi-FI"/>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a:t>
            </a:fld>
            <a:endParaRPr lang="fi-FI"/>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3</a:t>
            </a:fld>
            <a:endParaRPr lang="fi-FI"/>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4</a:t>
            </a:fld>
            <a:endParaRPr lang="fi-FI"/>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5</a:t>
            </a:fld>
            <a:endParaRPr lang="fi-FI"/>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6</a:t>
            </a:fld>
            <a:endParaRPr lang="fi-FI"/>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7</a:t>
            </a:fld>
            <a:endParaRPr lang="fi-FI"/>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8</a:t>
            </a:fld>
            <a:endParaRPr lang="fi-FI"/>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4/6/2011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4/6/2011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4/6/2011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4/6/2011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4/6/2011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4/6/2011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4/6/2011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4/6/2011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4/6/2011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4/6/2011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4/6/2011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4/6/2011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0" y="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hyperlink" Target="http://creativecommons.org/licenses/by/1.0/fi/deed.en" TargetMode="External"/><Relationship Id="rId4" Type="http://schemas.openxmlformats.org/officeDocument/2006/relationships/hyperlink" Target="http://creativecommons.org/licenses/by/1.0/fi/"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Agile Transition</a:t>
            </a:r>
            <a:endParaRPr lang="fi-FI" dirty="0"/>
          </a:p>
        </p:txBody>
      </p:sp>
      <p:sp>
        <p:nvSpPr>
          <p:cNvPr id="3" name="Text Placeholder 2"/>
          <p:cNvSpPr>
            <a:spLocks noGrp="1"/>
          </p:cNvSpPr>
          <p:nvPr>
            <p:ph type="body" idx="1"/>
          </p:nvPr>
        </p:nvSpPr>
        <p:spPr/>
        <p:txBody>
          <a:bodyPr/>
          <a:lstStyle/>
          <a:p>
            <a:r>
              <a:rPr lang="fi-FI" dirty="0" smtClean="0"/>
              <a:t>From Traditional to New and Somewhere In-Between</a:t>
            </a:r>
            <a:endParaRPr lang="fi-FI"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dirty="0"/>
          </a:p>
        </p:txBody>
      </p:sp>
      <p:grpSp>
        <p:nvGrpSpPr>
          <p:cNvPr id="4" name="Group 12"/>
          <p:cNvGrpSpPr/>
          <p:nvPr/>
        </p:nvGrpSpPr>
        <p:grpSpPr>
          <a:xfrm>
            <a:off x="4876800" y="5943600"/>
            <a:ext cx="4114800" cy="685800"/>
            <a:chOff x="838200" y="5486400"/>
            <a:chExt cx="4114800" cy="685800"/>
          </a:xfrm>
        </p:grpSpPr>
        <p:sp>
          <p:nvSpPr>
            <p:cNvPr id="12" name="Rectangle 11"/>
            <p:cNvSpPr/>
            <p:nvPr/>
          </p:nvSpPr>
          <p:spPr>
            <a:xfrm>
              <a:off x="838200" y="5486400"/>
              <a:ext cx="4114800" cy="6858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i-FI"/>
            </a:p>
          </p:txBody>
        </p:sp>
        <p:pic>
          <p:nvPicPr>
            <p:cNvPr id="13" name="Picture 12" descr="88x31.png"/>
            <p:cNvPicPr>
              <a:picLocks noChangeAspect="1"/>
            </p:cNvPicPr>
            <p:nvPr/>
          </p:nvPicPr>
          <p:blipFill>
            <a:blip r:embed="rId3" cstate="print"/>
            <a:stretch>
              <a:fillRect/>
            </a:stretch>
          </p:blipFill>
          <p:spPr>
            <a:xfrm>
              <a:off x="939940" y="5638800"/>
              <a:ext cx="1117460" cy="393651"/>
            </a:xfrm>
            <a:prstGeom prst="rect">
              <a:avLst/>
            </a:prstGeom>
          </p:spPr>
        </p:pic>
        <p:sp>
          <p:nvSpPr>
            <p:cNvPr id="14" name="TextBox 13"/>
            <p:cNvSpPr txBox="1"/>
            <p:nvPr/>
          </p:nvSpPr>
          <p:spPr>
            <a:xfrm>
              <a:off x="2057400" y="5511225"/>
              <a:ext cx="2819400" cy="646331"/>
            </a:xfrm>
            <a:prstGeom prst="rect">
              <a:avLst/>
            </a:prstGeom>
            <a:noFill/>
          </p:spPr>
          <p:txBody>
            <a:bodyPr wrap="square" rtlCol="0">
              <a:spAutoFit/>
            </a:bodyPr>
            <a:lstStyle/>
            <a:p>
              <a:r>
                <a:rPr lang="fi-FI" sz="900" b="1" dirty="0" smtClean="0"/>
                <a:t>Erkki Pöyhönen &amp; Maaret Pyhäjärvi</a:t>
              </a:r>
            </a:p>
            <a:p>
              <a:r>
                <a:rPr lang="fi-FI" sz="900" dirty="0" smtClean="0"/>
                <a:t>Nimeä |  Attribution (Finland)</a:t>
              </a:r>
            </a:p>
            <a:p>
              <a:pPr marL="0" lvl="1"/>
              <a:r>
                <a:rPr lang="fi-FI" sz="900" dirty="0" smtClean="0">
                  <a:hlinkClick r:id="rId4"/>
                </a:rPr>
                <a:t>http://creativecommons.org/licenses/by/1.0/fi/</a:t>
              </a:r>
              <a:endParaRPr lang="fi-FI" sz="900" dirty="0" smtClean="0"/>
            </a:p>
            <a:p>
              <a:pPr marL="0" lvl="1"/>
              <a:r>
                <a:rPr lang="fi-FI" sz="900" dirty="0" smtClean="0">
                  <a:hlinkClick r:id="rId5"/>
                </a:rPr>
                <a:t>http://creativecommons.org/licenses/by/1.0/fi/deed.en</a:t>
              </a:r>
              <a:endParaRPr lang="fi-FI" sz="900" dirty="0" smtClean="0"/>
            </a:p>
          </p:txBody>
        </p:sp>
      </p:grpSp>
      <p:sp>
        <p:nvSpPr>
          <p:cNvPr id="10" name="TextBox 9"/>
          <p:cNvSpPr txBox="1"/>
          <p:nvPr/>
        </p:nvSpPr>
        <p:spPr>
          <a:xfrm>
            <a:off x="228600" y="152400"/>
            <a:ext cx="5638800" cy="984885"/>
          </a:xfrm>
          <a:prstGeom prst="rect">
            <a:avLst/>
          </a:prstGeom>
          <a:noFill/>
        </p:spPr>
        <p:txBody>
          <a:bodyPr wrap="square" rtlCol="0">
            <a:spAutoFit/>
          </a:bodyPr>
          <a:lstStyle/>
          <a:p>
            <a:r>
              <a:rPr lang="fi-FI" sz="4000" b="1" dirty="0" smtClean="0">
                <a:solidFill>
                  <a:schemeClr val="accent1"/>
                </a:solidFill>
                <a:latin typeface="Freestyle Script" pitchFamily="66" charset="0"/>
                <a:cs typeface="Tunga" pitchFamily="2" charset="0"/>
              </a:rPr>
              <a:t>Ketterä testaus</a:t>
            </a:r>
          </a:p>
          <a:p>
            <a:r>
              <a:rPr lang="fi-FI" b="1" dirty="0" smtClean="0">
                <a:solidFill>
                  <a:schemeClr val="accent1"/>
                </a:solidFill>
                <a:latin typeface="Freestyle Script" pitchFamily="66" charset="0"/>
                <a:cs typeface="Tunga" pitchFamily="2" charset="0"/>
              </a:rPr>
              <a:t>v.13 (2011-04)</a:t>
            </a:r>
            <a:endParaRPr lang="fi-FI" sz="1600" b="1" dirty="0">
              <a:solidFill>
                <a:schemeClr val="accent1"/>
              </a:solidFill>
              <a:latin typeface="Freestyle Script" pitchFamily="66" charset="0"/>
              <a:cs typeface="Tunga" pitchFamily="2"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It’s Really Not About Testing</a:t>
            </a:r>
            <a:endParaRPr lang="fi-FI" dirty="0"/>
          </a:p>
        </p:txBody>
      </p:sp>
      <p:sp>
        <p:nvSpPr>
          <p:cNvPr id="3" name="Content Placeholder 2"/>
          <p:cNvSpPr>
            <a:spLocks noGrp="1"/>
          </p:cNvSpPr>
          <p:nvPr>
            <p:ph idx="1"/>
          </p:nvPr>
        </p:nvSpPr>
        <p:spPr/>
        <p:txBody>
          <a:bodyPr/>
          <a:lstStyle/>
          <a:p>
            <a:r>
              <a:rPr lang="fi-FI" dirty="0" smtClean="0"/>
              <a:t>The big challenge in becoming agile is not finding the way to do testing</a:t>
            </a:r>
          </a:p>
          <a:p>
            <a:pPr lvl="1"/>
            <a:r>
              <a:rPr lang="fi-FI" dirty="0" smtClean="0"/>
              <a:t>That’s not trivial either, that is why I dedicate a full course on the topic</a:t>
            </a:r>
          </a:p>
          <a:p>
            <a:r>
              <a:rPr lang="fi-FI" dirty="0" smtClean="0"/>
              <a:t>A lot of the questions from testers are about Agile in general</a:t>
            </a:r>
          </a:p>
          <a:p>
            <a:r>
              <a:rPr lang="fi-FI" dirty="0" smtClean="0"/>
              <a:t>This extra material is inspired by some of such questions</a:t>
            </a:r>
            <a:endParaRPr lang="fi-FI" dirty="0"/>
          </a:p>
        </p:txBody>
      </p:sp>
      <p:sp>
        <p:nvSpPr>
          <p:cNvPr id="4" name="Footer Placeholder 3"/>
          <p:cNvSpPr>
            <a:spLocks noGrp="1"/>
          </p:cNvSpPr>
          <p:nvPr>
            <p:ph type="ftr" sz="quarter" idx="11"/>
          </p:nvPr>
        </p:nvSpPr>
        <p:spPr/>
        <p:txBody>
          <a:bodyPr/>
          <a:lstStyle/>
          <a:p>
            <a:r>
              <a:rPr lang="en-US" smtClean="0"/>
              <a:t>DAY 1</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dirty="0" smtClean="0"/>
              <a:t>The Agile Setup Essentials (1/N)</a:t>
            </a:r>
            <a:br>
              <a:rPr lang="fi-FI" dirty="0" smtClean="0"/>
            </a:br>
            <a:r>
              <a:rPr lang="fi-FI" sz="2200" dirty="0" smtClean="0"/>
              <a:t>As Maaret Sees It...</a:t>
            </a:r>
            <a:endParaRPr lang="fi-FI" dirty="0"/>
          </a:p>
        </p:txBody>
      </p:sp>
      <p:sp>
        <p:nvSpPr>
          <p:cNvPr id="3" name="Content Placeholder 2"/>
          <p:cNvSpPr>
            <a:spLocks noGrp="1"/>
          </p:cNvSpPr>
          <p:nvPr>
            <p:ph idx="1"/>
          </p:nvPr>
        </p:nvSpPr>
        <p:spPr/>
        <p:txBody>
          <a:bodyPr>
            <a:normAutofit fontScale="92500" lnSpcReduction="10000"/>
          </a:bodyPr>
          <a:lstStyle/>
          <a:p>
            <a:r>
              <a:rPr lang="fi-FI" dirty="0" smtClean="0"/>
              <a:t>The separation of concerns and </a:t>
            </a:r>
            <a:br>
              <a:rPr lang="fi-FI" dirty="0" smtClean="0"/>
            </a:br>
            <a:r>
              <a:rPr lang="fi-FI" dirty="0" smtClean="0"/>
              <a:t>planning horizons</a:t>
            </a:r>
          </a:p>
          <a:p>
            <a:pPr lvl="1"/>
            <a:r>
              <a:rPr lang="fi-FI" dirty="0" smtClean="0"/>
              <a:t>Long-term planning with a lot of uncertainty through a product backlog – product owner role</a:t>
            </a:r>
          </a:p>
          <a:p>
            <a:pPr lvl="2"/>
            <a:r>
              <a:rPr lang="fi-FI" dirty="0" smtClean="0"/>
              <a:t>Knowing and monitoring </a:t>
            </a:r>
            <a:r>
              <a:rPr lang="fi-FI" i="1" dirty="0" smtClean="0"/>
              <a:t>velocity</a:t>
            </a:r>
            <a:r>
              <a:rPr lang="fi-FI" dirty="0" smtClean="0"/>
              <a:t> and amount of change needed in backlog, a rough calculation of when a set of items is delivered can be done</a:t>
            </a:r>
          </a:p>
          <a:p>
            <a:pPr lvl="1"/>
            <a:r>
              <a:rPr lang="fi-FI" dirty="0" smtClean="0"/>
              <a:t>Short-term planning with focus on next sprint with some uncertainty – team member role</a:t>
            </a:r>
          </a:p>
          <a:p>
            <a:pPr lvl="2"/>
            <a:r>
              <a:rPr lang="fi-FI" dirty="0" smtClean="0"/>
              <a:t>Team commits to real delivery and can say ”no – but how about doing this half-value step towards the too-big-thing”</a:t>
            </a:r>
          </a:p>
          <a:p>
            <a:endParaRPr lang="fi-FI" dirty="0"/>
          </a:p>
        </p:txBody>
      </p:sp>
      <p:sp>
        <p:nvSpPr>
          <p:cNvPr id="4" name="Footer Placeholder 3"/>
          <p:cNvSpPr>
            <a:spLocks noGrp="1"/>
          </p:cNvSpPr>
          <p:nvPr>
            <p:ph type="ftr" sz="quarter" idx="11"/>
          </p:nvPr>
        </p:nvSpPr>
        <p:spPr/>
        <p:txBody>
          <a:bodyPr/>
          <a:lstStyle/>
          <a:p>
            <a:r>
              <a:rPr lang="en-US" smtClean="0"/>
              <a:t>DAY 1</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3</a:t>
            </a:fld>
            <a:endParaRPr lang="en-US"/>
          </a:p>
        </p:txBody>
      </p:sp>
      <p:sp>
        <p:nvSpPr>
          <p:cNvPr id="6" name="TextBox 5"/>
          <p:cNvSpPr txBox="1"/>
          <p:nvPr/>
        </p:nvSpPr>
        <p:spPr>
          <a:xfrm>
            <a:off x="7010400" y="1143000"/>
            <a:ext cx="1981200" cy="92333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fi-FI" dirty="0" smtClean="0"/>
              <a:t>These you REALLY need to understand...</a:t>
            </a:r>
            <a:endParaRPr lang="fi-FI"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dirty="0" smtClean="0"/>
              <a:t>The Agile Setup Essentials (2/N)</a:t>
            </a:r>
            <a:br>
              <a:rPr lang="fi-FI" dirty="0" smtClean="0"/>
            </a:br>
            <a:r>
              <a:rPr lang="fi-FI" sz="2200" dirty="0" smtClean="0"/>
              <a:t>As Maaret Sees It...</a:t>
            </a:r>
            <a:endParaRPr lang="fi-FI" dirty="0"/>
          </a:p>
        </p:txBody>
      </p:sp>
      <p:sp>
        <p:nvSpPr>
          <p:cNvPr id="3" name="Content Placeholder 2"/>
          <p:cNvSpPr>
            <a:spLocks noGrp="1"/>
          </p:cNvSpPr>
          <p:nvPr>
            <p:ph idx="1"/>
          </p:nvPr>
        </p:nvSpPr>
        <p:spPr/>
        <p:txBody>
          <a:bodyPr>
            <a:normAutofit/>
          </a:bodyPr>
          <a:lstStyle/>
          <a:p>
            <a:r>
              <a:rPr lang="fi-FI" dirty="0" smtClean="0"/>
              <a:t>The definition of done</a:t>
            </a:r>
          </a:p>
          <a:p>
            <a:pPr lvl="1"/>
            <a:r>
              <a:rPr lang="fi-FI" dirty="0" smtClean="0"/>
              <a:t>Done is not ”coded” but it includes all activities for saying things are done</a:t>
            </a:r>
          </a:p>
          <a:p>
            <a:pPr lvl="1"/>
            <a:r>
              <a:rPr lang="fi-FI" dirty="0" smtClean="0"/>
              <a:t>Done is something a team says, not an individual in some role in the team</a:t>
            </a:r>
          </a:p>
          <a:p>
            <a:pPr lvl="2"/>
            <a:r>
              <a:rPr lang="fi-FI" dirty="0" smtClean="0"/>
              <a:t>Not developer ”done coding” not tester ”done testing and fixing”</a:t>
            </a:r>
          </a:p>
          <a:p>
            <a:pPr lvl="1"/>
            <a:r>
              <a:rPr lang="fi-FI" dirty="0" smtClean="0"/>
              <a:t>A big chunk about getting testing included in agile is about team learning to stand as one</a:t>
            </a:r>
            <a:endParaRPr lang="fi-FI" dirty="0"/>
          </a:p>
        </p:txBody>
      </p:sp>
      <p:sp>
        <p:nvSpPr>
          <p:cNvPr id="4" name="Footer Placeholder 3"/>
          <p:cNvSpPr>
            <a:spLocks noGrp="1"/>
          </p:cNvSpPr>
          <p:nvPr>
            <p:ph type="ftr" sz="quarter" idx="11"/>
          </p:nvPr>
        </p:nvSpPr>
        <p:spPr/>
        <p:txBody>
          <a:bodyPr/>
          <a:lstStyle/>
          <a:p>
            <a:r>
              <a:rPr lang="en-US" smtClean="0"/>
              <a:t>DAY 1</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a:t>
            </a:fld>
            <a:endParaRPr lang="en-US"/>
          </a:p>
        </p:txBody>
      </p:sp>
      <p:sp>
        <p:nvSpPr>
          <p:cNvPr id="6" name="TextBox 5"/>
          <p:cNvSpPr txBox="1"/>
          <p:nvPr/>
        </p:nvSpPr>
        <p:spPr>
          <a:xfrm>
            <a:off x="7010400" y="1143000"/>
            <a:ext cx="1981200" cy="92333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fi-FI" dirty="0" smtClean="0"/>
              <a:t>These you REALLY need to understand...</a:t>
            </a:r>
            <a:endParaRPr lang="fi-FI"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dirty="0" smtClean="0"/>
              <a:t>The Agile Setup Essentials (3/N)</a:t>
            </a:r>
            <a:br>
              <a:rPr lang="fi-FI" dirty="0" smtClean="0"/>
            </a:br>
            <a:r>
              <a:rPr lang="fi-FI" sz="2200" dirty="0" smtClean="0"/>
              <a:t>As Maaret Sees It...</a:t>
            </a:r>
            <a:endParaRPr lang="fi-FI" dirty="0"/>
          </a:p>
        </p:txBody>
      </p:sp>
      <p:sp>
        <p:nvSpPr>
          <p:cNvPr id="7" name="Content Placeholder 6"/>
          <p:cNvSpPr>
            <a:spLocks noGrp="1"/>
          </p:cNvSpPr>
          <p:nvPr>
            <p:ph idx="1"/>
          </p:nvPr>
        </p:nvSpPr>
        <p:spPr/>
        <p:txBody>
          <a:bodyPr>
            <a:normAutofit fontScale="92500" lnSpcReduction="20000"/>
          </a:bodyPr>
          <a:lstStyle/>
          <a:p>
            <a:r>
              <a:rPr lang="fi-FI" dirty="0" smtClean="0"/>
              <a:t>Understanding all changes in the </a:t>
            </a:r>
            <a:br>
              <a:rPr lang="fi-FI" dirty="0" smtClean="0"/>
            </a:br>
            <a:r>
              <a:rPr lang="fi-FI" dirty="0" smtClean="0"/>
              <a:t>system point of view</a:t>
            </a:r>
          </a:p>
          <a:p>
            <a:pPr lvl="1"/>
            <a:r>
              <a:rPr lang="fi-FI" dirty="0" smtClean="0"/>
              <a:t>It’s not just the code change and ”works on my machine”</a:t>
            </a:r>
          </a:p>
          <a:p>
            <a:pPr lvl="1"/>
            <a:r>
              <a:rPr lang="fi-FI" dirty="0" smtClean="0"/>
              <a:t>All environments, use scenarios, configurations, ...</a:t>
            </a:r>
          </a:p>
          <a:p>
            <a:pPr lvl="1"/>
            <a:r>
              <a:rPr lang="fi-FI" dirty="0" smtClean="0"/>
              <a:t>Not just when your team developers change things, but also when other people change anything in your system</a:t>
            </a:r>
          </a:p>
          <a:p>
            <a:pPr lvl="1"/>
            <a:r>
              <a:rPr lang="fi-FI" dirty="0" smtClean="0"/>
              <a:t>Feeling responsibility over customer value, instead of team’s scope</a:t>
            </a:r>
          </a:p>
          <a:p>
            <a:pPr lvl="1"/>
            <a:r>
              <a:rPr lang="fi-FI" dirty="0" smtClean="0"/>
              <a:t>You don’t need to test out all of it, taking risks is also ok – but be smart on that!</a:t>
            </a:r>
          </a:p>
        </p:txBody>
      </p:sp>
      <p:sp>
        <p:nvSpPr>
          <p:cNvPr id="4" name="Footer Placeholder 3"/>
          <p:cNvSpPr>
            <a:spLocks noGrp="1"/>
          </p:cNvSpPr>
          <p:nvPr>
            <p:ph type="ftr" sz="quarter" idx="11"/>
          </p:nvPr>
        </p:nvSpPr>
        <p:spPr/>
        <p:txBody>
          <a:bodyPr/>
          <a:lstStyle/>
          <a:p>
            <a:r>
              <a:rPr lang="en-US" smtClean="0"/>
              <a:t>DAY 1</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5</a:t>
            </a:fld>
            <a:endParaRPr lang="en-US"/>
          </a:p>
        </p:txBody>
      </p:sp>
      <p:sp>
        <p:nvSpPr>
          <p:cNvPr id="6" name="TextBox 5"/>
          <p:cNvSpPr txBox="1"/>
          <p:nvPr/>
        </p:nvSpPr>
        <p:spPr>
          <a:xfrm>
            <a:off x="7010400" y="1143000"/>
            <a:ext cx="1981200" cy="92333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fi-FI" dirty="0" smtClean="0"/>
              <a:t>These you REALLY need to understand...</a:t>
            </a:r>
            <a:endParaRPr lang="fi-FI"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dirty="0" smtClean="0"/>
              <a:t>The Agile Setup Essentials (4/N)</a:t>
            </a:r>
            <a:br>
              <a:rPr lang="fi-FI" dirty="0" smtClean="0"/>
            </a:br>
            <a:r>
              <a:rPr lang="fi-FI" sz="2200" dirty="0" smtClean="0"/>
              <a:t>As Maaret Sees It...</a:t>
            </a:r>
            <a:endParaRPr lang="fi-FI" dirty="0"/>
          </a:p>
        </p:txBody>
      </p:sp>
      <p:sp>
        <p:nvSpPr>
          <p:cNvPr id="7" name="Content Placeholder 6"/>
          <p:cNvSpPr>
            <a:spLocks noGrp="1"/>
          </p:cNvSpPr>
          <p:nvPr>
            <p:ph idx="1"/>
          </p:nvPr>
        </p:nvSpPr>
        <p:spPr/>
        <p:txBody>
          <a:bodyPr>
            <a:normAutofit fontScale="92500" lnSpcReduction="20000"/>
          </a:bodyPr>
          <a:lstStyle/>
          <a:p>
            <a:r>
              <a:rPr lang="fi-FI" dirty="0" smtClean="0"/>
              <a:t>Pigs and Chicken</a:t>
            </a:r>
          </a:p>
          <a:p>
            <a:pPr lvl="1"/>
            <a:r>
              <a:rPr lang="fi-FI" dirty="0" smtClean="0"/>
              <a:t>Agile is not about continuous change, its about regular controlled change</a:t>
            </a:r>
          </a:p>
          <a:p>
            <a:pPr lvl="1"/>
            <a:r>
              <a:rPr lang="fi-FI" dirty="0" smtClean="0"/>
              <a:t>You don’t (normally) interrupt sprint with changes but the sprint includes fixed effort and goal for short term</a:t>
            </a:r>
          </a:p>
          <a:p>
            <a:pPr lvl="1"/>
            <a:r>
              <a:rPr lang="fi-FI" dirty="0" smtClean="0"/>
              <a:t>Interrupting a sprint is a significant thing to do, that includes the setup cost of a new planning day</a:t>
            </a:r>
          </a:p>
          <a:p>
            <a:pPr lvl="1"/>
            <a:r>
              <a:rPr lang="fi-FI" dirty="0" smtClean="0"/>
              <a:t>Team members during sprint are </a:t>
            </a:r>
            <a:r>
              <a:rPr lang="fi-FI" i="1" dirty="0" smtClean="0"/>
              <a:t>committed</a:t>
            </a:r>
            <a:r>
              <a:rPr lang="fi-FI" dirty="0" smtClean="0"/>
              <a:t> whereas outsiders are </a:t>
            </a:r>
            <a:r>
              <a:rPr lang="fi-FI" i="1" dirty="0" smtClean="0"/>
              <a:t>involved.</a:t>
            </a:r>
          </a:p>
          <a:p>
            <a:pPr lvl="1"/>
            <a:r>
              <a:rPr lang="fi-FI" dirty="0" smtClean="0"/>
              <a:t>In multi-team common system setting, other teams most likely are also committed, so be careful who and what you protect the team against </a:t>
            </a:r>
            <a:r>
              <a:rPr lang="fi-FI" i="1" dirty="0" smtClean="0"/>
              <a:t> </a:t>
            </a:r>
            <a:endParaRPr lang="fi-FI" dirty="0" smtClean="0"/>
          </a:p>
        </p:txBody>
      </p:sp>
      <p:sp>
        <p:nvSpPr>
          <p:cNvPr id="4" name="Footer Placeholder 3"/>
          <p:cNvSpPr>
            <a:spLocks noGrp="1"/>
          </p:cNvSpPr>
          <p:nvPr>
            <p:ph type="ftr" sz="quarter" idx="11"/>
          </p:nvPr>
        </p:nvSpPr>
        <p:spPr/>
        <p:txBody>
          <a:bodyPr/>
          <a:lstStyle/>
          <a:p>
            <a:r>
              <a:rPr lang="en-US" smtClean="0"/>
              <a:t>DAY 1</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6</a:t>
            </a:fld>
            <a:endParaRPr lang="en-US"/>
          </a:p>
        </p:txBody>
      </p:sp>
      <p:sp>
        <p:nvSpPr>
          <p:cNvPr id="6" name="TextBox 5"/>
          <p:cNvSpPr txBox="1"/>
          <p:nvPr/>
        </p:nvSpPr>
        <p:spPr>
          <a:xfrm>
            <a:off x="7010400" y="1143000"/>
            <a:ext cx="1981200" cy="92333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fi-FI" dirty="0" smtClean="0"/>
              <a:t>These you REALLY need to understand...</a:t>
            </a:r>
            <a:endParaRPr lang="fi-FI"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dirty="0" smtClean="0"/>
              <a:t>The Agile Setup Essentials (5/N)</a:t>
            </a:r>
            <a:br>
              <a:rPr lang="fi-FI" dirty="0" smtClean="0"/>
            </a:br>
            <a:r>
              <a:rPr lang="fi-FI" sz="2200" dirty="0" smtClean="0"/>
              <a:t>As Maaret Sees It...</a:t>
            </a:r>
            <a:endParaRPr lang="fi-FI" dirty="0"/>
          </a:p>
        </p:txBody>
      </p:sp>
      <p:sp>
        <p:nvSpPr>
          <p:cNvPr id="7" name="Content Placeholder 6"/>
          <p:cNvSpPr>
            <a:spLocks noGrp="1"/>
          </p:cNvSpPr>
          <p:nvPr>
            <p:ph idx="1"/>
          </p:nvPr>
        </p:nvSpPr>
        <p:spPr/>
        <p:txBody>
          <a:bodyPr>
            <a:normAutofit fontScale="92500" lnSpcReduction="10000"/>
          </a:bodyPr>
          <a:lstStyle/>
          <a:p>
            <a:r>
              <a:rPr lang="fi-FI" dirty="0" smtClean="0"/>
              <a:t>Fixed resourcing for a team for each </a:t>
            </a:r>
            <a:br>
              <a:rPr lang="fi-FI" dirty="0" smtClean="0"/>
            </a:br>
            <a:r>
              <a:rPr lang="fi-FI" dirty="0" smtClean="0"/>
              <a:t>sprint</a:t>
            </a:r>
          </a:p>
          <a:p>
            <a:pPr lvl="1"/>
            <a:r>
              <a:rPr lang="fi-FI" dirty="0" smtClean="0"/>
              <a:t>Agile planning based on fixed resources – you can only change amount of effort available when the sprint changes</a:t>
            </a:r>
          </a:p>
          <a:p>
            <a:pPr lvl="1"/>
            <a:r>
              <a:rPr lang="fi-FI" dirty="0" smtClean="0"/>
              <a:t>It takes time for a team to become effective and efficient together. Continues change of people (adding / removing) breaks the team focus.</a:t>
            </a:r>
          </a:p>
          <a:p>
            <a:pPr lvl="1"/>
            <a:r>
              <a:rPr lang="fi-FI" dirty="0" smtClean="0"/>
              <a:t>Avoid splitting people to many teams as much as possible. </a:t>
            </a:r>
            <a:r>
              <a:rPr lang="fi-FI" smtClean="0"/>
              <a:t>A lot of time is wasted in moving between tasks. </a:t>
            </a:r>
            <a:endParaRPr lang="fi-FI" dirty="0" smtClean="0"/>
          </a:p>
          <a:p>
            <a:pPr lvl="1"/>
            <a:endParaRPr lang="fi-FI" dirty="0" smtClean="0"/>
          </a:p>
        </p:txBody>
      </p:sp>
      <p:sp>
        <p:nvSpPr>
          <p:cNvPr id="4" name="Footer Placeholder 3"/>
          <p:cNvSpPr>
            <a:spLocks noGrp="1"/>
          </p:cNvSpPr>
          <p:nvPr>
            <p:ph type="ftr" sz="quarter" idx="11"/>
          </p:nvPr>
        </p:nvSpPr>
        <p:spPr/>
        <p:txBody>
          <a:bodyPr/>
          <a:lstStyle/>
          <a:p>
            <a:r>
              <a:rPr lang="en-US" smtClean="0"/>
              <a:t>DAY 1</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7</a:t>
            </a:fld>
            <a:endParaRPr lang="en-US"/>
          </a:p>
        </p:txBody>
      </p:sp>
      <p:sp>
        <p:nvSpPr>
          <p:cNvPr id="6" name="TextBox 5"/>
          <p:cNvSpPr txBox="1"/>
          <p:nvPr/>
        </p:nvSpPr>
        <p:spPr>
          <a:xfrm>
            <a:off x="7010400" y="1143000"/>
            <a:ext cx="1981200" cy="92333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fi-FI" dirty="0" smtClean="0"/>
              <a:t>These you REALLY need to understand...</a:t>
            </a:r>
            <a:endParaRPr lang="fi-FI"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Agile is not a Silver Bullet </a:t>
            </a:r>
            <a:endParaRPr lang="fi-FI" dirty="0"/>
          </a:p>
        </p:txBody>
      </p:sp>
      <p:sp>
        <p:nvSpPr>
          <p:cNvPr id="3" name="Content Placeholder 2"/>
          <p:cNvSpPr>
            <a:spLocks noGrp="1"/>
          </p:cNvSpPr>
          <p:nvPr>
            <p:ph idx="1"/>
          </p:nvPr>
        </p:nvSpPr>
        <p:spPr/>
        <p:txBody>
          <a:bodyPr>
            <a:normAutofit fontScale="92500" lnSpcReduction="10000"/>
          </a:bodyPr>
          <a:lstStyle/>
          <a:p>
            <a:r>
              <a:rPr lang="fi-FI" dirty="0" smtClean="0"/>
              <a:t>It still does not provide us the promise of doing anything you may dream in short timeframe. Some things are just bigger and it takes time to learn to split items by value. </a:t>
            </a:r>
          </a:p>
          <a:p>
            <a:r>
              <a:rPr lang="fi-FI" dirty="0" smtClean="0"/>
              <a:t>It still does not provide us the promise of scaling down so that any cost (fixed cost) is doable. Time-boxing is a game with risk. If you use it, you may not get anything if the ”box” is not enough. </a:t>
            </a:r>
          </a:p>
          <a:p>
            <a:r>
              <a:rPr lang="fi-FI" dirty="0" smtClean="0"/>
              <a:t>The old law still applies: ”Adding more people to a late project makes it more late.”</a:t>
            </a:r>
          </a:p>
        </p:txBody>
      </p:sp>
      <p:sp>
        <p:nvSpPr>
          <p:cNvPr id="4" name="Footer Placeholder 3"/>
          <p:cNvSpPr>
            <a:spLocks noGrp="1"/>
          </p:cNvSpPr>
          <p:nvPr>
            <p:ph type="ftr" sz="quarter" idx="11"/>
          </p:nvPr>
        </p:nvSpPr>
        <p:spPr/>
        <p:txBody>
          <a:bodyPr/>
          <a:lstStyle/>
          <a:p>
            <a:r>
              <a:rPr lang="en-US" smtClean="0"/>
              <a:t>DAY 1</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sld>
</file>

<file path=ppt/theme/theme1.xml><?xml version="1.0" encoding="utf-8"?>
<a:theme xmlns:a="http://schemas.openxmlformats.org/drawingml/2006/main" name="Office Theme">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1822</TotalTime>
  <Words>473</Words>
  <Application>Microsoft Office PowerPoint</Application>
  <PresentationFormat>On-screen Show (4:3)</PresentationFormat>
  <Paragraphs>76</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Agile Transition</vt:lpstr>
      <vt:lpstr>It’s Really Not About Testing</vt:lpstr>
      <vt:lpstr>The Agile Setup Essentials (1/N) As Maaret Sees It...</vt:lpstr>
      <vt:lpstr>The Agile Setup Essentials (2/N) As Maaret Sees It...</vt:lpstr>
      <vt:lpstr>The Agile Setup Essentials (3/N) As Maaret Sees It...</vt:lpstr>
      <vt:lpstr>The Agile Setup Essentials (4/N) As Maaret Sees It...</vt:lpstr>
      <vt:lpstr>The Agile Setup Essentials (5/N) As Maaret Sees It...</vt:lpstr>
      <vt:lpstr>Agile is not a Silver Bullet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Transition</dc:title>
  <dc:creator>Maaret Pyhäjärvi</dc:creator>
  <cp:lastModifiedBy>maarit</cp:lastModifiedBy>
  <cp:revision>2</cp:revision>
  <dcterms:created xsi:type="dcterms:W3CDTF">2006-08-16T00:00:00Z</dcterms:created>
  <dcterms:modified xsi:type="dcterms:W3CDTF">2011-04-06T03:56:53Z</dcterms:modified>
</cp:coreProperties>
</file>