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0" r:id="rId2"/>
    <p:sldId id="281" r:id="rId3"/>
    <p:sldId id="267" r:id="rId4"/>
    <p:sldId id="273" r:id="rId5"/>
    <p:sldId id="274" r:id="rId6"/>
    <p:sldId id="277" r:id="rId7"/>
    <p:sldId id="271" r:id="rId8"/>
    <p:sldId id="268" r:id="rId9"/>
    <p:sldId id="270" r:id="rId10"/>
    <p:sldId id="272" r:id="rId11"/>
    <p:sldId id="279" r:id="rId12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09" autoAdjust="0"/>
  </p:normalViewPr>
  <p:slideViewPr>
    <p:cSldViewPr>
      <p:cViewPr varScale="1">
        <p:scale>
          <a:sx n="37" d="100"/>
          <a:sy n="37" d="100"/>
        </p:scale>
        <p:origin x="-15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30/05/17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8155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6C0F0-CF11-4FCF-A404-2F2FF520469E}" type="slidenum">
              <a:rPr lang="fi-FI" smtClean="0"/>
              <a:pPr/>
              <a:t>2</a:t>
            </a:fld>
            <a:endParaRPr lang="fi-FI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3</a:t>
            </a:fld>
            <a:endParaRPr lang="fi-FI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AE0F8D-3206-4D5B-B2F7-877BD0B838A5}" type="slidenum">
              <a:rPr lang="fi-FI" smtClean="0"/>
              <a:pPr/>
              <a:t>4</a:t>
            </a:fld>
            <a:endParaRPr lang="fi-FI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AE0F8D-3206-4D5B-B2F7-877BD0B838A5}" type="slidenum">
              <a:rPr lang="fi-FI" smtClean="0"/>
              <a:pPr/>
              <a:t>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6</a:t>
            </a:fld>
            <a:endParaRPr lang="fi-FI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8</a:t>
            </a:fld>
            <a:endParaRPr lang="fi-FI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9</a:t>
            </a:fld>
            <a:endParaRPr lang="fi-FI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CFD434-A6D3-45D1-8809-B7AC7E1096C4}" type="slidenum">
              <a:rPr lang="fi-FI" smtClean="0"/>
              <a:pPr/>
              <a:t>10</a:t>
            </a:fld>
            <a:endParaRPr lang="fi-FI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11</a:t>
            </a:fld>
            <a:endParaRPr lang="fi-FI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B8E8-832D-4518-8E72-49E592005D3F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86AE5-A93E-4BC7-A177-18889158B9DF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8C8-7CEE-4335-B89B-FC903B52E683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370A6-8750-4424-BF99-BE3A96734958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AF97-CF76-4361-97D2-CAAE9DB53337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9DC0B-A20A-4BA6-8C23-E0214B15AD26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C0328-851E-45DB-8133-6ECA1B225F39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BAE5B-DC3C-4920-A3CE-1FE5C0AB0910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43E-CD41-4D05-AA4F-E091070C0545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88A7-A142-4C95-9786-569BCA75CB29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5369-8C00-43D8-8181-AAE926D39F39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F3391-91FA-4C8D-8913-C22E47FF74A4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Testauksen suunnittelu ja hallinta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hyperlink" Target="http://creativecommons.org/licenses/by/1.0/fi/" TargetMode="External"/><Relationship Id="rId5" Type="http://schemas.openxmlformats.org/officeDocument/2006/relationships/hyperlink" Target="http://creativecommons.org/licenses/by/1.0/fi/deed.en" TargetMode="External"/><Relationship Id="rId6" Type="http://schemas.openxmlformats.org/officeDocument/2006/relationships/image" Target="../media/image2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5" Type="http://schemas.openxmlformats.org/officeDocument/2006/relationships/image" Target="../media/image5.wmf"/><Relationship Id="rId6" Type="http://schemas.openxmlformats.org/officeDocument/2006/relationships/image" Target="../media/image6.wmf"/><Relationship Id="rId7" Type="http://schemas.openxmlformats.org/officeDocument/2006/relationships/image" Target="../media/image7.wmf"/><Relationship Id="rId8" Type="http://schemas.openxmlformats.org/officeDocument/2006/relationships/image" Target="../media/image8.wmf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4" Type="http://schemas.openxmlformats.org/officeDocument/2006/relationships/image" Target="../media/image10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Julkaisusuunnittelu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smtClean="0"/>
              <a:t>Suunnittelumekanismit pidemmällä aikavälillä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4876800" y="5943600"/>
            <a:ext cx="4114800" cy="685800"/>
            <a:chOff x="838200" y="5486400"/>
            <a:chExt cx="4114800" cy="685800"/>
          </a:xfrm>
        </p:grpSpPr>
        <p:sp>
          <p:nvSpPr>
            <p:cNvPr id="12" name="Rectangle 11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3" name="Picture 12" descr="88x3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4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  <p:pic>
        <p:nvPicPr>
          <p:cNvPr id="11" name="Picture 2" descr="C:\Documents and Settings\Maaret\My Documents\My Pictures\Microsoft Clip Organizer\j0078812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72132" y="285728"/>
            <a:ext cx="3122565" cy="37147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Julkaisusuunnittelu</a:t>
            </a:r>
            <a:endParaRPr lang="fi-FI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Julkaisun laajuudessa ei tehdä tarkkaa suunnitelmaa, mutta silti suunnitellaan</a:t>
            </a:r>
          </a:p>
          <a:p>
            <a:r>
              <a:rPr lang="fi-FI" dirty="0" smtClean="0"/>
              <a:t>Mekanismina tuotteen työlista (product backlog) sekä tieto kehityksen nopeudesta (velocity)</a:t>
            </a:r>
          </a:p>
          <a:p>
            <a:r>
              <a:rPr lang="fi-FI" dirty="0" smtClean="0"/>
              <a:t>Voidaan arvioida koska julkaisuun tarvittavat ominaisuudet ovat saatavilla ja arvion tarkkuus paranee tekemisen aikana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Testing in the Product Backlog</a:t>
            </a:r>
            <a:endParaRPr lang="fi-FI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i-FI" dirty="0" smtClean="0"/>
              <a:t>Product Backlog is a delivery plan for the project</a:t>
            </a:r>
          </a:p>
          <a:p>
            <a:pPr lvl="1"/>
            <a:r>
              <a:rPr lang="fi-FI" dirty="0" smtClean="0"/>
              <a:t>It describes ”value items” – when given to customer, they’d find real use / value in this</a:t>
            </a:r>
          </a:p>
          <a:p>
            <a:pPr lvl="1"/>
            <a:r>
              <a:rPr lang="fi-FI" dirty="0" smtClean="0"/>
              <a:t>Items are in absolute priority order</a:t>
            </a:r>
          </a:p>
          <a:p>
            <a:r>
              <a:rPr lang="fi-FI" dirty="0" smtClean="0"/>
              <a:t>Items typically have a concept of ”size”</a:t>
            </a:r>
          </a:p>
          <a:p>
            <a:pPr lvl="1"/>
            <a:r>
              <a:rPr lang="fi-FI" dirty="0" smtClean="0"/>
              <a:t>Either ”comparable enough”, story points or quick effort estimates</a:t>
            </a:r>
          </a:p>
          <a:p>
            <a:r>
              <a:rPr lang="fi-FI" dirty="0" smtClean="0"/>
              <a:t>Based on the sized items in the product backlog becoming done, you can follow </a:t>
            </a:r>
            <a:r>
              <a:rPr lang="fi-FI" i="1" dirty="0" smtClean="0"/>
              <a:t>velocity </a:t>
            </a:r>
            <a:r>
              <a:rPr lang="fi-FI" dirty="0" smtClean="0"/>
              <a:t>– a way of evaluating realism of plans for future</a:t>
            </a:r>
          </a:p>
          <a:p>
            <a:r>
              <a:rPr lang="fi-FI" dirty="0" smtClean="0"/>
              <a:t>Product backlog should not have separate testing items, but testing should be seen as essential part of everything asked of the teams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298" name="Freeform 1026"/>
          <p:cNvSpPr>
            <a:spLocks/>
          </p:cNvSpPr>
          <p:nvPr/>
        </p:nvSpPr>
        <p:spPr bwMode="auto">
          <a:xfrm>
            <a:off x="7466013" y="4808561"/>
            <a:ext cx="1670050" cy="1978025"/>
          </a:xfrm>
          <a:custGeom>
            <a:avLst/>
            <a:gdLst/>
            <a:ahLst/>
            <a:cxnLst>
              <a:cxn ang="0">
                <a:pos x="625" y="21"/>
              </a:cxn>
              <a:cxn ang="0">
                <a:pos x="579" y="108"/>
              </a:cxn>
              <a:cxn ang="0">
                <a:pos x="527" y="232"/>
              </a:cxn>
              <a:cxn ang="0">
                <a:pos x="512" y="298"/>
              </a:cxn>
              <a:cxn ang="0">
                <a:pos x="507" y="386"/>
              </a:cxn>
              <a:cxn ang="0">
                <a:pos x="496" y="396"/>
              </a:cxn>
              <a:cxn ang="0">
                <a:pos x="471" y="432"/>
              </a:cxn>
              <a:cxn ang="0">
                <a:pos x="291" y="545"/>
              </a:cxn>
              <a:cxn ang="0">
                <a:pos x="244" y="566"/>
              </a:cxn>
              <a:cxn ang="0">
                <a:pos x="214" y="617"/>
              </a:cxn>
              <a:cxn ang="0">
                <a:pos x="214" y="756"/>
              </a:cxn>
              <a:cxn ang="0">
                <a:pos x="203" y="766"/>
              </a:cxn>
              <a:cxn ang="0">
                <a:pos x="183" y="797"/>
              </a:cxn>
              <a:cxn ang="0">
                <a:pos x="90" y="916"/>
              </a:cxn>
              <a:cxn ang="0">
                <a:pos x="44" y="988"/>
              </a:cxn>
              <a:cxn ang="0">
                <a:pos x="3" y="1075"/>
              </a:cxn>
              <a:cxn ang="0">
                <a:pos x="39" y="1137"/>
              </a:cxn>
              <a:cxn ang="0">
                <a:pos x="368" y="1173"/>
              </a:cxn>
              <a:cxn ang="0">
                <a:pos x="491" y="1224"/>
              </a:cxn>
              <a:cxn ang="0">
                <a:pos x="604" y="1240"/>
              </a:cxn>
              <a:cxn ang="0">
                <a:pos x="743" y="1234"/>
              </a:cxn>
              <a:cxn ang="0">
                <a:pos x="810" y="1183"/>
              </a:cxn>
              <a:cxn ang="0">
                <a:pos x="831" y="1157"/>
              </a:cxn>
              <a:cxn ang="0">
                <a:pos x="841" y="1121"/>
              </a:cxn>
              <a:cxn ang="0">
                <a:pos x="851" y="1090"/>
              </a:cxn>
              <a:cxn ang="0">
                <a:pos x="908" y="895"/>
              </a:cxn>
              <a:cxn ang="0">
                <a:pos x="970" y="859"/>
              </a:cxn>
              <a:cxn ang="0">
                <a:pos x="1006" y="746"/>
              </a:cxn>
              <a:cxn ang="0">
                <a:pos x="1021" y="694"/>
              </a:cxn>
              <a:cxn ang="0">
                <a:pos x="1047" y="628"/>
              </a:cxn>
              <a:cxn ang="0">
                <a:pos x="1006" y="442"/>
              </a:cxn>
              <a:cxn ang="0">
                <a:pos x="990" y="412"/>
              </a:cxn>
              <a:cxn ang="0">
                <a:pos x="1000" y="345"/>
              </a:cxn>
              <a:cxn ang="0">
                <a:pos x="975" y="67"/>
              </a:cxn>
              <a:cxn ang="0">
                <a:pos x="954" y="41"/>
              </a:cxn>
              <a:cxn ang="0">
                <a:pos x="841" y="0"/>
              </a:cxn>
              <a:cxn ang="0">
                <a:pos x="625" y="21"/>
              </a:cxn>
            </a:cxnLst>
            <a:rect l="0" t="0" r="r" b="b"/>
            <a:pathLst>
              <a:path w="1052" h="1246">
                <a:moveTo>
                  <a:pt x="625" y="21"/>
                </a:moveTo>
                <a:cubicBezTo>
                  <a:pt x="619" y="61"/>
                  <a:pt x="607" y="80"/>
                  <a:pt x="579" y="108"/>
                </a:cubicBezTo>
                <a:cubicBezTo>
                  <a:pt x="566" y="151"/>
                  <a:pt x="537" y="187"/>
                  <a:pt x="527" y="232"/>
                </a:cubicBezTo>
                <a:cubicBezTo>
                  <a:pt x="522" y="254"/>
                  <a:pt x="512" y="298"/>
                  <a:pt x="512" y="298"/>
                </a:cubicBezTo>
                <a:cubicBezTo>
                  <a:pt x="510" y="327"/>
                  <a:pt x="512" y="357"/>
                  <a:pt x="507" y="386"/>
                </a:cubicBezTo>
                <a:cubicBezTo>
                  <a:pt x="506" y="391"/>
                  <a:pt x="499" y="392"/>
                  <a:pt x="496" y="396"/>
                </a:cubicBezTo>
                <a:cubicBezTo>
                  <a:pt x="487" y="408"/>
                  <a:pt x="479" y="420"/>
                  <a:pt x="471" y="432"/>
                </a:cubicBezTo>
                <a:cubicBezTo>
                  <a:pt x="432" y="489"/>
                  <a:pt x="356" y="532"/>
                  <a:pt x="291" y="545"/>
                </a:cubicBezTo>
                <a:cubicBezTo>
                  <a:pt x="277" y="555"/>
                  <a:pt x="244" y="566"/>
                  <a:pt x="244" y="566"/>
                </a:cubicBezTo>
                <a:cubicBezTo>
                  <a:pt x="231" y="583"/>
                  <a:pt x="221" y="597"/>
                  <a:pt x="214" y="617"/>
                </a:cubicBezTo>
                <a:cubicBezTo>
                  <a:pt x="220" y="675"/>
                  <a:pt x="230" y="695"/>
                  <a:pt x="214" y="756"/>
                </a:cubicBezTo>
                <a:cubicBezTo>
                  <a:pt x="213" y="761"/>
                  <a:pt x="206" y="762"/>
                  <a:pt x="203" y="766"/>
                </a:cubicBezTo>
                <a:cubicBezTo>
                  <a:pt x="196" y="776"/>
                  <a:pt x="190" y="787"/>
                  <a:pt x="183" y="797"/>
                </a:cubicBezTo>
                <a:cubicBezTo>
                  <a:pt x="155" y="839"/>
                  <a:pt x="126" y="880"/>
                  <a:pt x="90" y="916"/>
                </a:cubicBezTo>
                <a:cubicBezTo>
                  <a:pt x="82" y="941"/>
                  <a:pt x="62" y="969"/>
                  <a:pt x="44" y="988"/>
                </a:cubicBezTo>
                <a:cubicBezTo>
                  <a:pt x="34" y="1019"/>
                  <a:pt x="17" y="1046"/>
                  <a:pt x="3" y="1075"/>
                </a:cubicBezTo>
                <a:cubicBezTo>
                  <a:pt x="8" y="1120"/>
                  <a:pt x="0" y="1128"/>
                  <a:pt x="39" y="1137"/>
                </a:cubicBezTo>
                <a:cubicBezTo>
                  <a:pt x="106" y="1181"/>
                  <a:pt x="301" y="1171"/>
                  <a:pt x="368" y="1173"/>
                </a:cubicBezTo>
                <a:cubicBezTo>
                  <a:pt x="378" y="1246"/>
                  <a:pt x="402" y="1220"/>
                  <a:pt x="491" y="1224"/>
                </a:cubicBezTo>
                <a:cubicBezTo>
                  <a:pt x="534" y="1234"/>
                  <a:pt x="551" y="1236"/>
                  <a:pt x="604" y="1240"/>
                </a:cubicBezTo>
                <a:cubicBezTo>
                  <a:pt x="650" y="1238"/>
                  <a:pt x="697" y="1239"/>
                  <a:pt x="743" y="1234"/>
                </a:cubicBezTo>
                <a:cubicBezTo>
                  <a:pt x="763" y="1232"/>
                  <a:pt x="791" y="1193"/>
                  <a:pt x="810" y="1183"/>
                </a:cubicBezTo>
                <a:cubicBezTo>
                  <a:pt x="822" y="1146"/>
                  <a:pt x="804" y="1190"/>
                  <a:pt x="831" y="1157"/>
                </a:cubicBezTo>
                <a:cubicBezTo>
                  <a:pt x="834" y="1153"/>
                  <a:pt x="841" y="1122"/>
                  <a:pt x="841" y="1121"/>
                </a:cubicBezTo>
                <a:cubicBezTo>
                  <a:pt x="844" y="1111"/>
                  <a:pt x="851" y="1090"/>
                  <a:pt x="851" y="1090"/>
                </a:cubicBezTo>
                <a:cubicBezTo>
                  <a:pt x="853" y="1022"/>
                  <a:pt x="827" y="920"/>
                  <a:pt x="908" y="895"/>
                </a:cubicBezTo>
                <a:cubicBezTo>
                  <a:pt x="930" y="880"/>
                  <a:pt x="948" y="873"/>
                  <a:pt x="970" y="859"/>
                </a:cubicBezTo>
                <a:cubicBezTo>
                  <a:pt x="982" y="821"/>
                  <a:pt x="994" y="784"/>
                  <a:pt x="1006" y="746"/>
                </a:cubicBezTo>
                <a:cubicBezTo>
                  <a:pt x="1011" y="729"/>
                  <a:pt x="1013" y="710"/>
                  <a:pt x="1021" y="694"/>
                </a:cubicBezTo>
                <a:cubicBezTo>
                  <a:pt x="1032" y="672"/>
                  <a:pt x="1041" y="653"/>
                  <a:pt x="1047" y="628"/>
                </a:cubicBezTo>
                <a:cubicBezTo>
                  <a:pt x="1043" y="566"/>
                  <a:pt x="1051" y="491"/>
                  <a:pt x="1006" y="442"/>
                </a:cubicBezTo>
                <a:cubicBezTo>
                  <a:pt x="1002" y="431"/>
                  <a:pt x="991" y="423"/>
                  <a:pt x="990" y="412"/>
                </a:cubicBezTo>
                <a:cubicBezTo>
                  <a:pt x="989" y="398"/>
                  <a:pt x="997" y="362"/>
                  <a:pt x="1000" y="345"/>
                </a:cubicBezTo>
                <a:cubicBezTo>
                  <a:pt x="998" y="252"/>
                  <a:pt x="1052" y="119"/>
                  <a:pt x="975" y="67"/>
                </a:cubicBezTo>
                <a:cubicBezTo>
                  <a:pt x="970" y="51"/>
                  <a:pt x="972" y="49"/>
                  <a:pt x="954" y="41"/>
                </a:cubicBezTo>
                <a:cubicBezTo>
                  <a:pt x="921" y="26"/>
                  <a:pt x="876" y="8"/>
                  <a:pt x="841" y="0"/>
                </a:cubicBezTo>
                <a:cubicBezTo>
                  <a:pt x="759" y="7"/>
                  <a:pt x="707" y="27"/>
                  <a:pt x="625" y="2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127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endParaRPr lang="en-US" dirty="0"/>
          </a:p>
        </p:txBody>
      </p:sp>
      <p:sp>
        <p:nvSpPr>
          <p:cNvPr id="1335299" name="Rectangle 102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Example: Roles </a:t>
            </a:r>
            <a:r>
              <a:rPr lang="en-GB" dirty="0"/>
              <a:t>and Responsibilities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Towards </a:t>
            </a:r>
            <a:r>
              <a:rPr lang="en-GB" dirty="0"/>
              <a:t>PBL</a:t>
            </a: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-76200" y="3052786"/>
            <a:ext cx="1981200" cy="1584325"/>
            <a:chOff x="-48" y="768"/>
            <a:chExt cx="1248" cy="998"/>
          </a:xfrm>
        </p:grpSpPr>
        <p:pic>
          <p:nvPicPr>
            <p:cNvPr id="1335301" name="Picture 102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6" y="768"/>
              <a:ext cx="720" cy="7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1335302" name="Text Box 1030"/>
            <p:cNvSpPr txBox="1">
              <a:spLocks noChangeArrowheads="1"/>
            </p:cNvSpPr>
            <p:nvPr/>
          </p:nvSpPr>
          <p:spPr bwMode="auto">
            <a:xfrm>
              <a:off x="-48" y="1440"/>
              <a:ext cx="1248" cy="32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 dirty="0"/>
                <a:t>R&amp;D Project Manager</a:t>
              </a:r>
            </a:p>
          </p:txBody>
        </p:sp>
      </p:grpSp>
      <p:grpSp>
        <p:nvGrpSpPr>
          <p:cNvPr id="3" name="Group 1031"/>
          <p:cNvGrpSpPr>
            <a:grpSpLocks/>
          </p:cNvGrpSpPr>
          <p:nvPr/>
        </p:nvGrpSpPr>
        <p:grpSpPr bwMode="auto">
          <a:xfrm>
            <a:off x="3429000" y="1452586"/>
            <a:ext cx="2057400" cy="1600200"/>
            <a:chOff x="2256" y="720"/>
            <a:chExt cx="1296" cy="1008"/>
          </a:xfrm>
        </p:grpSpPr>
        <p:pic>
          <p:nvPicPr>
            <p:cNvPr id="1335304" name="Picture 103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00" y="720"/>
              <a:ext cx="858" cy="83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1335305" name="Text Box 1033"/>
            <p:cNvSpPr txBox="1">
              <a:spLocks noChangeArrowheads="1"/>
            </p:cNvSpPr>
            <p:nvPr/>
          </p:nvSpPr>
          <p:spPr bwMode="auto">
            <a:xfrm>
              <a:off x="2256" y="1536"/>
              <a:ext cx="129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 dirty="0"/>
                <a:t>Product</a:t>
              </a:r>
              <a:r>
                <a:rPr lang="en-GB" sz="1400" dirty="0"/>
                <a:t> </a:t>
              </a:r>
              <a:r>
                <a:rPr lang="en-GB" sz="1400" b="1" dirty="0"/>
                <a:t>Manager(s)</a:t>
              </a:r>
            </a:p>
          </p:txBody>
        </p:sp>
      </p:grpSp>
      <p:grpSp>
        <p:nvGrpSpPr>
          <p:cNvPr id="4" name="Group 1034"/>
          <p:cNvGrpSpPr>
            <a:grpSpLocks/>
          </p:cNvGrpSpPr>
          <p:nvPr/>
        </p:nvGrpSpPr>
        <p:grpSpPr bwMode="auto">
          <a:xfrm>
            <a:off x="3657600" y="3798911"/>
            <a:ext cx="1447800" cy="1158875"/>
            <a:chOff x="2640" y="3024"/>
            <a:chExt cx="1248" cy="1043"/>
          </a:xfrm>
        </p:grpSpPr>
        <p:pic>
          <p:nvPicPr>
            <p:cNvPr id="1335307" name="Picture 103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928" y="3024"/>
              <a:ext cx="671" cy="7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1335308" name="Text Box 1036"/>
            <p:cNvSpPr txBox="1">
              <a:spLocks noChangeArrowheads="1"/>
            </p:cNvSpPr>
            <p:nvPr/>
          </p:nvSpPr>
          <p:spPr bwMode="auto">
            <a:xfrm>
              <a:off x="2640" y="3792"/>
              <a:ext cx="1248" cy="2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 dirty="0"/>
                <a:t>Area Architect</a:t>
              </a:r>
            </a:p>
          </p:txBody>
        </p:sp>
      </p:grpSp>
      <p:grpSp>
        <p:nvGrpSpPr>
          <p:cNvPr id="5" name="Group 1037"/>
          <p:cNvGrpSpPr>
            <a:grpSpLocks/>
          </p:cNvGrpSpPr>
          <p:nvPr/>
        </p:nvGrpSpPr>
        <p:grpSpPr bwMode="auto">
          <a:xfrm>
            <a:off x="7467600" y="1528786"/>
            <a:ext cx="1447800" cy="1554163"/>
            <a:chOff x="2208" y="672"/>
            <a:chExt cx="1248" cy="1152"/>
          </a:xfrm>
        </p:grpSpPr>
        <p:pic>
          <p:nvPicPr>
            <p:cNvPr id="1335310" name="Picture 1038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448" y="672"/>
              <a:ext cx="696" cy="8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1335311" name="Text Box 1039"/>
            <p:cNvSpPr txBox="1">
              <a:spLocks noChangeArrowheads="1"/>
            </p:cNvSpPr>
            <p:nvPr/>
          </p:nvSpPr>
          <p:spPr bwMode="auto">
            <a:xfrm>
              <a:off x="2208" y="1440"/>
              <a:ext cx="1248" cy="38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 dirty="0"/>
                <a:t>Product Architect</a:t>
              </a:r>
            </a:p>
          </p:txBody>
        </p:sp>
      </p:grpSp>
      <p:grpSp>
        <p:nvGrpSpPr>
          <p:cNvPr id="6" name="Group 1040"/>
          <p:cNvGrpSpPr>
            <a:grpSpLocks/>
          </p:cNvGrpSpPr>
          <p:nvPr/>
        </p:nvGrpSpPr>
        <p:grpSpPr bwMode="auto">
          <a:xfrm>
            <a:off x="7467600" y="5795986"/>
            <a:ext cx="1371600" cy="957263"/>
            <a:chOff x="480" y="2304"/>
            <a:chExt cx="1296" cy="916"/>
          </a:xfrm>
        </p:grpSpPr>
        <p:pic>
          <p:nvPicPr>
            <p:cNvPr id="1335313" name="Picture 104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912" y="2304"/>
              <a:ext cx="456" cy="6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1335314" name="Text Box 1042"/>
            <p:cNvSpPr txBox="1">
              <a:spLocks noChangeArrowheads="1"/>
            </p:cNvSpPr>
            <p:nvPr/>
          </p:nvSpPr>
          <p:spPr bwMode="auto">
            <a:xfrm>
              <a:off x="480" y="2928"/>
              <a:ext cx="1296" cy="2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 dirty="0"/>
                <a:t>Lead QE</a:t>
              </a:r>
            </a:p>
          </p:txBody>
        </p:sp>
      </p:grpSp>
      <p:grpSp>
        <p:nvGrpSpPr>
          <p:cNvPr id="7" name="Group 1043"/>
          <p:cNvGrpSpPr>
            <a:grpSpLocks/>
          </p:cNvGrpSpPr>
          <p:nvPr/>
        </p:nvGrpSpPr>
        <p:grpSpPr bwMode="auto">
          <a:xfrm>
            <a:off x="8348663" y="4805386"/>
            <a:ext cx="947737" cy="1136650"/>
            <a:chOff x="1536" y="2352"/>
            <a:chExt cx="1296" cy="1585"/>
          </a:xfrm>
        </p:grpSpPr>
        <p:pic>
          <p:nvPicPr>
            <p:cNvPr id="1335316" name="Picture 104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938" y="2352"/>
              <a:ext cx="540" cy="8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1335317" name="Text Box 1045"/>
            <p:cNvSpPr txBox="1">
              <a:spLocks noChangeArrowheads="1"/>
            </p:cNvSpPr>
            <p:nvPr/>
          </p:nvSpPr>
          <p:spPr bwMode="auto">
            <a:xfrm>
              <a:off x="1536" y="3215"/>
              <a:ext cx="1296" cy="72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 dirty="0"/>
                <a:t>Scrum Master</a:t>
              </a:r>
            </a:p>
          </p:txBody>
        </p:sp>
      </p:grpSp>
      <p:sp>
        <p:nvSpPr>
          <p:cNvPr id="1335318" name="AutoShape 1046"/>
          <p:cNvSpPr>
            <a:spLocks noChangeArrowheads="1"/>
          </p:cNvSpPr>
          <p:nvPr/>
        </p:nvSpPr>
        <p:spPr bwMode="auto">
          <a:xfrm>
            <a:off x="1600200" y="2519386"/>
            <a:ext cx="1219200" cy="1519214"/>
          </a:xfrm>
          <a:prstGeom prst="foldedCorner">
            <a:avLst>
              <a:gd name="adj" fmla="val 12500"/>
            </a:avLst>
          </a:prstGeom>
          <a:solidFill>
            <a:schemeClr val="hlink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en-GB" sz="2000" dirty="0"/>
              <a:t>PBL</a:t>
            </a:r>
          </a:p>
        </p:txBody>
      </p:sp>
      <p:sp>
        <p:nvSpPr>
          <p:cNvPr id="1335319" name="AutoShape 1047"/>
          <p:cNvSpPr>
            <a:spLocks noChangeArrowheads="1"/>
          </p:cNvSpPr>
          <p:nvPr/>
        </p:nvSpPr>
        <p:spPr bwMode="auto">
          <a:xfrm>
            <a:off x="6096000" y="2519386"/>
            <a:ext cx="1219200" cy="1519214"/>
          </a:xfrm>
          <a:prstGeom prst="foldedCorner">
            <a:avLst>
              <a:gd name="adj" fmla="val 12500"/>
            </a:avLst>
          </a:prstGeom>
          <a:solidFill>
            <a:schemeClr val="hlink"/>
          </a:solidFill>
          <a:ln w="12700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/>
            <a:r>
              <a:rPr lang="en-GB" sz="2000" dirty="0"/>
              <a:t>ABL(s)</a:t>
            </a:r>
          </a:p>
        </p:txBody>
      </p:sp>
      <p:cxnSp>
        <p:nvCxnSpPr>
          <p:cNvPr id="1335320" name="AutoShape 1048"/>
          <p:cNvCxnSpPr>
            <a:cxnSpLocks noChangeShapeType="1"/>
            <a:endCxn id="1335319" idx="1"/>
          </p:cNvCxnSpPr>
          <p:nvPr/>
        </p:nvCxnSpPr>
        <p:spPr bwMode="auto">
          <a:xfrm>
            <a:off x="4305300" y="3052786"/>
            <a:ext cx="1790700" cy="22620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335321" name="AutoShape 1049"/>
          <p:cNvCxnSpPr>
            <a:cxnSpLocks noChangeShapeType="1"/>
            <a:endCxn id="1335318" idx="3"/>
          </p:cNvCxnSpPr>
          <p:nvPr/>
        </p:nvCxnSpPr>
        <p:spPr bwMode="auto">
          <a:xfrm rot="10800000" flipV="1">
            <a:off x="2819400" y="3052785"/>
            <a:ext cx="1562100" cy="22620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1335322" name="Text Box 1050"/>
          <p:cNvSpPr txBox="1">
            <a:spLocks noChangeArrowheads="1"/>
          </p:cNvSpPr>
          <p:nvPr/>
        </p:nvSpPr>
        <p:spPr bwMode="auto">
          <a:xfrm>
            <a:off x="5029200" y="1371600"/>
            <a:ext cx="1828800" cy="8239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1200" dirty="0"/>
              <a:t>Owns priorities for both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Decides order of items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Puts all his items to PBL</a:t>
            </a:r>
          </a:p>
        </p:txBody>
      </p:sp>
      <p:sp>
        <p:nvSpPr>
          <p:cNvPr id="1335323" name="Text Box 1051"/>
          <p:cNvSpPr txBox="1">
            <a:spLocks noChangeArrowheads="1"/>
          </p:cNvSpPr>
          <p:nvPr/>
        </p:nvSpPr>
        <p:spPr bwMode="auto">
          <a:xfrm>
            <a:off x="152400" y="4605361"/>
            <a:ext cx="3048000" cy="2105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1200" dirty="0"/>
              <a:t>PBL “secretary”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Organizes backlog reviews and meetings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Puts new items to PBL identified in R&amp;D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Splits items in PBL according to rules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Moves appropriate items to ABL(s)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Responsible for quality and size of items as basis for delivery planning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Collects metrics, updates burndown</a:t>
            </a:r>
          </a:p>
        </p:txBody>
      </p:sp>
      <p:sp>
        <p:nvSpPr>
          <p:cNvPr id="1335324" name="Text Box 1052"/>
          <p:cNvSpPr txBox="1">
            <a:spLocks noChangeArrowheads="1"/>
          </p:cNvSpPr>
          <p:nvPr/>
        </p:nvSpPr>
        <p:spPr bwMode="auto">
          <a:xfrm>
            <a:off x="7391400" y="3052786"/>
            <a:ext cx="1828800" cy="173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1200" dirty="0"/>
              <a:t>ABL consistency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Analysis of implied architectural dependencies cross-team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Technical facilitation, technical scope negotiation</a:t>
            </a:r>
          </a:p>
        </p:txBody>
      </p:sp>
      <p:sp>
        <p:nvSpPr>
          <p:cNvPr id="1335325" name="Text Box 1053"/>
          <p:cNvSpPr txBox="1">
            <a:spLocks noChangeArrowheads="1"/>
          </p:cNvSpPr>
          <p:nvPr/>
        </p:nvSpPr>
        <p:spPr bwMode="auto">
          <a:xfrm>
            <a:off x="3886200" y="4957786"/>
            <a:ext cx="4114800" cy="16462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1200" dirty="0"/>
              <a:t>Identify tangible delivery items to ABL 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Split PBL items for “our area” deliveries, checking others have taken there parts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Adding new innovative ideas that could be done within the area is encouraged</a:t>
            </a:r>
          </a:p>
          <a:p>
            <a:pPr algn="l">
              <a:spcBef>
                <a:spcPct val="50000"/>
              </a:spcBef>
            </a:pPr>
            <a:r>
              <a:rPr lang="en-GB" sz="1200" dirty="0"/>
              <a:t>Maintains knowledge of “new items not yet communicated”</a:t>
            </a:r>
          </a:p>
        </p:txBody>
      </p:sp>
      <p:sp>
        <p:nvSpPr>
          <p:cNvPr id="1335326" name="AutoShape 1054"/>
          <p:cNvSpPr>
            <a:spLocks noChangeArrowheads="1"/>
          </p:cNvSpPr>
          <p:nvPr/>
        </p:nvSpPr>
        <p:spPr bwMode="auto">
          <a:xfrm rot="-1365603">
            <a:off x="5105400" y="3967186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2"/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 dirty="0"/>
          </a:p>
        </p:txBody>
      </p:sp>
      <p:sp>
        <p:nvSpPr>
          <p:cNvPr id="1335327" name="AutoShape 1055"/>
          <p:cNvSpPr>
            <a:spLocks noChangeArrowheads="1"/>
          </p:cNvSpPr>
          <p:nvPr/>
        </p:nvSpPr>
        <p:spPr bwMode="auto">
          <a:xfrm rot="-1365603">
            <a:off x="762000" y="2824186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2"/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 dirty="0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pPr/>
              <a:t>4</a:t>
            </a:fld>
            <a:endParaRPr lang="sv-SE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56"/>
          <p:cNvGrpSpPr>
            <a:grpSpLocks/>
          </p:cNvGrpSpPr>
          <p:nvPr/>
        </p:nvGrpSpPr>
        <p:grpSpPr bwMode="auto">
          <a:xfrm>
            <a:off x="6934200" y="685800"/>
            <a:ext cx="2209800" cy="3124200"/>
            <a:chOff x="4368" y="432"/>
            <a:chExt cx="1392" cy="1968"/>
          </a:xfrm>
        </p:grpSpPr>
        <p:sp>
          <p:nvSpPr>
            <p:cNvPr id="1336353" name="Rectangle 1057"/>
            <p:cNvSpPr>
              <a:spLocks noChangeArrowheads="1"/>
            </p:cNvSpPr>
            <p:nvPr/>
          </p:nvSpPr>
          <p:spPr bwMode="auto">
            <a:xfrm>
              <a:off x="4368" y="576"/>
              <a:ext cx="1344" cy="18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/>
            <a:lstStyle/>
            <a:p>
              <a:pPr algn="l">
                <a:lnSpc>
                  <a:spcPct val="110000"/>
                </a:lnSpc>
                <a:spcBef>
                  <a:spcPct val="20000"/>
                </a:spcBef>
                <a:spcAft>
                  <a:spcPct val="20000"/>
                </a:spcAft>
                <a:buFont typeface="Times" pitchFamily="18" charset="0"/>
                <a:buNone/>
              </a:pPr>
              <a:r>
                <a:rPr lang="en-GB" sz="1200" b="1" dirty="0"/>
                <a:t>Roadmap Commitment Review</a:t>
              </a:r>
            </a:p>
            <a:p>
              <a:pPr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When preparing a new roadmap</a:t>
              </a:r>
            </a:p>
            <a:p>
              <a:pPr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Purpose:</a:t>
              </a:r>
            </a:p>
            <a:p>
              <a:pPr lvl="1"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Address Roadmap feasibility against items in PBL</a:t>
              </a:r>
            </a:p>
            <a:p>
              <a:pPr lvl="1"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Agree velocity and buffer based on metrics, see if planned releases seem reasonable</a:t>
              </a:r>
            </a:p>
          </p:txBody>
        </p:sp>
        <p:sp>
          <p:nvSpPr>
            <p:cNvPr id="1336354" name="Oval 1058"/>
            <p:cNvSpPr>
              <a:spLocks noChangeArrowheads="1"/>
            </p:cNvSpPr>
            <p:nvPr/>
          </p:nvSpPr>
          <p:spPr bwMode="auto">
            <a:xfrm>
              <a:off x="4896" y="432"/>
              <a:ext cx="864" cy="336"/>
            </a:xfrm>
            <a:prstGeom prst="ellipse">
              <a:avLst/>
            </a:prstGeom>
            <a:solidFill>
              <a:schemeClr val="bg2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/>
            <a:lstStyle/>
            <a:p>
              <a:pPr algn="ctr"/>
              <a:r>
                <a:rPr lang="en-GB" sz="800" b="1" dirty="0"/>
                <a:t>For PdM/PgM/PjM/ R&amp;Dmgmt</a:t>
              </a:r>
            </a:p>
          </p:txBody>
        </p:sp>
      </p:grpSp>
      <p:sp>
        <p:nvSpPr>
          <p:cNvPr id="13363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304800" y="76200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Example: Product </a:t>
            </a:r>
            <a:r>
              <a:rPr lang="en-GB" dirty="0"/>
              <a:t>Backlog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Reviews</a:t>
            </a:r>
            <a:endParaRPr lang="en-GB" dirty="0"/>
          </a:p>
        </p:txBody>
      </p:sp>
      <p:sp>
        <p:nvSpPr>
          <p:cNvPr id="1336323" name="Line 1027"/>
          <p:cNvSpPr>
            <a:spLocks noChangeShapeType="1"/>
          </p:cNvSpPr>
          <p:nvPr/>
        </p:nvSpPr>
        <p:spPr bwMode="auto">
          <a:xfrm>
            <a:off x="609600" y="4267224"/>
            <a:ext cx="510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/>
          <a:lstStyle/>
          <a:p>
            <a:endParaRPr lang="en-US" dirty="0"/>
          </a:p>
        </p:txBody>
      </p:sp>
      <p:sp>
        <p:nvSpPr>
          <p:cNvPr id="1336324" name="Oval 1028"/>
          <p:cNvSpPr>
            <a:spLocks noChangeArrowheads="1"/>
          </p:cNvSpPr>
          <p:nvPr/>
        </p:nvSpPr>
        <p:spPr bwMode="auto">
          <a:xfrm>
            <a:off x="1676400" y="4114824"/>
            <a:ext cx="304800" cy="3048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 dirty="0"/>
          </a:p>
        </p:txBody>
      </p:sp>
      <p:sp>
        <p:nvSpPr>
          <p:cNvPr id="1336325" name="Text Box 1029"/>
          <p:cNvSpPr txBox="1">
            <a:spLocks noChangeArrowheads="1"/>
          </p:cNvSpPr>
          <p:nvPr/>
        </p:nvSpPr>
        <p:spPr bwMode="auto">
          <a:xfrm>
            <a:off x="1143000" y="4371999"/>
            <a:ext cx="1295400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 dirty="0"/>
              <a:t>Planning day</a:t>
            </a:r>
          </a:p>
        </p:txBody>
      </p:sp>
      <p:sp>
        <p:nvSpPr>
          <p:cNvPr id="1336326" name="Oval 1030"/>
          <p:cNvSpPr>
            <a:spLocks noChangeArrowheads="1"/>
          </p:cNvSpPr>
          <p:nvPr/>
        </p:nvSpPr>
        <p:spPr bwMode="auto">
          <a:xfrm>
            <a:off x="5181600" y="4114824"/>
            <a:ext cx="304800" cy="3048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 dirty="0"/>
          </a:p>
        </p:txBody>
      </p:sp>
      <p:sp>
        <p:nvSpPr>
          <p:cNvPr id="1336327" name="Text Box 1031"/>
          <p:cNvSpPr txBox="1">
            <a:spLocks noChangeArrowheads="1"/>
          </p:cNvSpPr>
          <p:nvPr/>
        </p:nvSpPr>
        <p:spPr bwMode="auto">
          <a:xfrm>
            <a:off x="4648200" y="4371999"/>
            <a:ext cx="1295400" cy="581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 dirty="0"/>
              <a:t>Demo </a:t>
            </a:r>
            <a:br>
              <a:rPr lang="en-GB" sz="1600" dirty="0"/>
            </a:br>
            <a:r>
              <a:rPr lang="en-GB" sz="1600" dirty="0"/>
              <a:t>day</a:t>
            </a:r>
          </a:p>
        </p:txBody>
      </p:sp>
      <p:grpSp>
        <p:nvGrpSpPr>
          <p:cNvPr id="3" name="Group 1032"/>
          <p:cNvGrpSpPr>
            <a:grpSpLocks/>
          </p:cNvGrpSpPr>
          <p:nvPr/>
        </p:nvGrpSpPr>
        <p:grpSpPr bwMode="auto">
          <a:xfrm>
            <a:off x="76200" y="1828824"/>
            <a:ext cx="2971800" cy="2362200"/>
            <a:chOff x="48" y="768"/>
            <a:chExt cx="1872" cy="1488"/>
          </a:xfrm>
        </p:grpSpPr>
        <p:grpSp>
          <p:nvGrpSpPr>
            <p:cNvPr id="4" name="Group 1033"/>
            <p:cNvGrpSpPr>
              <a:grpSpLocks/>
            </p:cNvGrpSpPr>
            <p:nvPr/>
          </p:nvGrpSpPr>
          <p:grpSpPr bwMode="auto">
            <a:xfrm>
              <a:off x="48" y="768"/>
              <a:ext cx="1872" cy="1488"/>
              <a:chOff x="48" y="768"/>
              <a:chExt cx="1872" cy="1488"/>
            </a:xfrm>
          </p:grpSpPr>
          <p:sp>
            <p:nvSpPr>
              <p:cNvPr id="1336330" name="Rectangle 1034"/>
              <p:cNvSpPr>
                <a:spLocks noChangeArrowheads="1"/>
              </p:cNvSpPr>
              <p:nvPr/>
            </p:nvSpPr>
            <p:spPr bwMode="auto">
              <a:xfrm>
                <a:off x="48" y="768"/>
                <a:ext cx="1872" cy="1152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lIns="90000" tIns="46800" rIns="90000" bIns="46800" anchor="ctr"/>
              <a:lstStyle/>
              <a:p>
                <a:pPr algn="l"/>
                <a:r>
                  <a:rPr lang="en-GB" sz="1200" b="1" dirty="0"/>
                  <a:t>PBL Priority Review</a:t>
                </a:r>
              </a:p>
              <a:p>
                <a:pPr algn="l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chemeClr val="tx1"/>
                  </a:buClr>
                  <a:buFont typeface="Times" pitchFamily="18" charset="0"/>
                  <a:buChar char="•"/>
                </a:pPr>
                <a:r>
                  <a:rPr lang="en-GB" sz="1100" dirty="0"/>
                  <a:t>Before planning day, “preplanning”</a:t>
                </a:r>
              </a:p>
              <a:p>
                <a:pPr algn="l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chemeClr val="tx1"/>
                  </a:buClr>
                  <a:buFont typeface="Times" pitchFamily="18" charset="0"/>
                  <a:buChar char="•"/>
                </a:pPr>
                <a:r>
                  <a:rPr lang="en-GB" sz="1100" dirty="0"/>
                  <a:t>Purpose: </a:t>
                </a:r>
              </a:p>
              <a:p>
                <a:pPr lvl="1" algn="l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chemeClr val="tx1"/>
                  </a:buClr>
                  <a:buFont typeface="Times" pitchFamily="18" charset="0"/>
                  <a:buChar char="•"/>
                </a:pPr>
                <a:r>
                  <a:rPr lang="en-GB" sz="1100" dirty="0"/>
                  <a:t>Provide PdM information about risks in choices of priorities </a:t>
                </a:r>
              </a:p>
              <a:p>
                <a:pPr lvl="1" algn="l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chemeClr val="tx1"/>
                  </a:buClr>
                  <a:buFont typeface="Times" pitchFamily="18" charset="0"/>
                  <a:buChar char="•"/>
                </a:pPr>
                <a:r>
                  <a:rPr lang="en-GB" sz="1100" dirty="0"/>
                  <a:t>Provide teams guidance on why priorities are as they are</a:t>
                </a:r>
              </a:p>
            </p:txBody>
          </p:sp>
          <p:sp>
            <p:nvSpPr>
              <p:cNvPr id="1336331" name="AutoShape 1035"/>
              <p:cNvSpPr>
                <a:spLocks noChangeArrowheads="1"/>
              </p:cNvSpPr>
              <p:nvPr/>
            </p:nvSpPr>
            <p:spPr bwMode="auto">
              <a:xfrm>
                <a:off x="768" y="2016"/>
                <a:ext cx="240" cy="240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chemeClr val="folHlink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 anchor="ctr"/>
              <a:lstStyle/>
              <a:p>
                <a:endParaRPr lang="en-US" sz="1600" dirty="0"/>
              </a:p>
            </p:txBody>
          </p:sp>
        </p:grpSp>
        <p:sp>
          <p:nvSpPr>
            <p:cNvPr id="1336332" name="Oval 1036"/>
            <p:cNvSpPr>
              <a:spLocks noChangeArrowheads="1"/>
            </p:cNvSpPr>
            <p:nvPr/>
          </p:nvSpPr>
          <p:spPr bwMode="auto">
            <a:xfrm>
              <a:off x="1344" y="816"/>
              <a:ext cx="528" cy="192"/>
            </a:xfrm>
            <a:prstGeom prst="ellipse">
              <a:avLst/>
            </a:prstGeom>
            <a:solidFill>
              <a:schemeClr val="bg2"/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900" b="1" dirty="0"/>
                <a:t>For SMs</a:t>
              </a:r>
            </a:p>
          </p:txBody>
        </p:sp>
      </p:grpSp>
      <p:grpSp>
        <p:nvGrpSpPr>
          <p:cNvPr id="5" name="Group 1037"/>
          <p:cNvGrpSpPr>
            <a:grpSpLocks/>
          </p:cNvGrpSpPr>
          <p:nvPr/>
        </p:nvGrpSpPr>
        <p:grpSpPr bwMode="auto">
          <a:xfrm>
            <a:off x="228600" y="4419624"/>
            <a:ext cx="2971800" cy="2295524"/>
            <a:chOff x="144" y="2400"/>
            <a:chExt cx="1872" cy="1536"/>
          </a:xfrm>
        </p:grpSpPr>
        <p:sp>
          <p:nvSpPr>
            <p:cNvPr id="1336334" name="Rectangle 1038"/>
            <p:cNvSpPr>
              <a:spLocks noChangeArrowheads="1"/>
            </p:cNvSpPr>
            <p:nvPr/>
          </p:nvSpPr>
          <p:spPr bwMode="auto">
            <a:xfrm>
              <a:off x="144" y="2784"/>
              <a:ext cx="1872" cy="11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/>
            <a:lstStyle/>
            <a:p>
              <a:pPr algn="l">
                <a:lnSpc>
                  <a:spcPct val="110000"/>
                </a:lnSpc>
                <a:spcBef>
                  <a:spcPct val="20000"/>
                </a:spcBef>
                <a:spcAft>
                  <a:spcPct val="20000"/>
                </a:spcAft>
                <a:buFont typeface="Times" pitchFamily="18" charset="0"/>
                <a:buNone/>
              </a:pPr>
              <a:r>
                <a:rPr lang="en-GB" sz="1200" b="1" dirty="0"/>
                <a:t>Commitment Review</a:t>
              </a:r>
            </a:p>
            <a:p>
              <a:pPr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After planning day</a:t>
              </a:r>
            </a:p>
            <a:p>
              <a:pPr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Purpose:</a:t>
              </a:r>
            </a:p>
            <a:p>
              <a:pPr lvl="1"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Agree on what WinCore-project will deliver on level of PBL though ABLs</a:t>
              </a:r>
            </a:p>
            <a:p>
              <a:pPr lvl="1"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Make all work to be done visible</a:t>
              </a:r>
            </a:p>
          </p:txBody>
        </p:sp>
        <p:sp>
          <p:nvSpPr>
            <p:cNvPr id="1336335" name="AutoShape 1039"/>
            <p:cNvSpPr>
              <a:spLocks noChangeArrowheads="1"/>
            </p:cNvSpPr>
            <p:nvPr/>
          </p:nvSpPr>
          <p:spPr bwMode="auto">
            <a:xfrm flipV="1">
              <a:off x="1392" y="2400"/>
              <a:ext cx="240" cy="24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n-US" sz="1600" dirty="0"/>
            </a:p>
          </p:txBody>
        </p:sp>
        <p:sp>
          <p:nvSpPr>
            <p:cNvPr id="1336336" name="Oval 1040"/>
            <p:cNvSpPr>
              <a:spLocks noChangeArrowheads="1"/>
            </p:cNvSpPr>
            <p:nvPr/>
          </p:nvSpPr>
          <p:spPr bwMode="auto">
            <a:xfrm>
              <a:off x="1440" y="2832"/>
              <a:ext cx="528" cy="192"/>
            </a:xfrm>
            <a:prstGeom prst="ellipse">
              <a:avLst/>
            </a:prstGeom>
            <a:solidFill>
              <a:schemeClr val="bg2"/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900" b="1" dirty="0"/>
                <a:t>For SMs</a:t>
              </a:r>
            </a:p>
          </p:txBody>
        </p:sp>
      </p:grpSp>
      <p:grpSp>
        <p:nvGrpSpPr>
          <p:cNvPr id="6" name="Group 1041"/>
          <p:cNvGrpSpPr>
            <a:grpSpLocks/>
          </p:cNvGrpSpPr>
          <p:nvPr/>
        </p:nvGrpSpPr>
        <p:grpSpPr bwMode="auto">
          <a:xfrm>
            <a:off x="2743200" y="1828824"/>
            <a:ext cx="4114800" cy="2362200"/>
            <a:chOff x="1728" y="768"/>
            <a:chExt cx="2592" cy="1488"/>
          </a:xfrm>
        </p:grpSpPr>
        <p:sp>
          <p:nvSpPr>
            <p:cNvPr id="1336338" name="Rectangle 1042"/>
            <p:cNvSpPr>
              <a:spLocks noChangeArrowheads="1"/>
            </p:cNvSpPr>
            <p:nvPr/>
          </p:nvSpPr>
          <p:spPr bwMode="auto">
            <a:xfrm>
              <a:off x="2064" y="768"/>
              <a:ext cx="2256" cy="11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/>
            <a:lstStyle/>
            <a:p>
              <a:pPr algn="l">
                <a:lnSpc>
                  <a:spcPct val="110000"/>
                </a:lnSpc>
                <a:spcBef>
                  <a:spcPct val="20000"/>
                </a:spcBef>
                <a:spcAft>
                  <a:spcPct val="20000"/>
                </a:spcAft>
                <a:buFont typeface="Times" pitchFamily="18" charset="0"/>
                <a:buNone/>
              </a:pPr>
              <a:r>
                <a:rPr lang="en-GB" sz="1200" b="1" dirty="0"/>
                <a:t>Status Review</a:t>
              </a:r>
            </a:p>
            <a:p>
              <a:pPr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On weekly basis against monthly commitment</a:t>
              </a:r>
            </a:p>
            <a:p>
              <a:pPr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Purpose:</a:t>
              </a:r>
            </a:p>
            <a:p>
              <a:pPr lvl="1"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Continuous visibility to likeliness to complete committed items</a:t>
              </a:r>
            </a:p>
            <a:p>
              <a:pPr lvl="1"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Visibility to added items leaking to sprint</a:t>
              </a:r>
            </a:p>
            <a:p>
              <a:pPr lvl="1"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Contingency planning, considering sprint cancellation</a:t>
              </a:r>
            </a:p>
          </p:txBody>
        </p:sp>
        <p:sp>
          <p:nvSpPr>
            <p:cNvPr id="1336339" name="AutoShape 1043"/>
            <p:cNvSpPr>
              <a:spLocks noChangeArrowheads="1"/>
            </p:cNvSpPr>
            <p:nvPr/>
          </p:nvSpPr>
          <p:spPr bwMode="auto">
            <a:xfrm>
              <a:off x="1728" y="2064"/>
              <a:ext cx="144" cy="192"/>
            </a:xfrm>
            <a:prstGeom prst="down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n-US" sz="1600" dirty="0"/>
            </a:p>
          </p:txBody>
        </p:sp>
        <p:sp>
          <p:nvSpPr>
            <p:cNvPr id="1336340" name="AutoShape 1044"/>
            <p:cNvSpPr>
              <a:spLocks noChangeArrowheads="1"/>
            </p:cNvSpPr>
            <p:nvPr/>
          </p:nvSpPr>
          <p:spPr bwMode="auto">
            <a:xfrm>
              <a:off x="2160" y="2064"/>
              <a:ext cx="144" cy="192"/>
            </a:xfrm>
            <a:prstGeom prst="down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n-US" sz="1600" dirty="0"/>
            </a:p>
          </p:txBody>
        </p:sp>
        <p:sp>
          <p:nvSpPr>
            <p:cNvPr id="1336341" name="AutoShape 1045"/>
            <p:cNvSpPr>
              <a:spLocks noChangeArrowheads="1"/>
            </p:cNvSpPr>
            <p:nvPr/>
          </p:nvSpPr>
          <p:spPr bwMode="auto">
            <a:xfrm>
              <a:off x="2592" y="2064"/>
              <a:ext cx="144" cy="192"/>
            </a:xfrm>
            <a:prstGeom prst="down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n-US" sz="1600" dirty="0"/>
            </a:p>
          </p:txBody>
        </p:sp>
        <p:sp>
          <p:nvSpPr>
            <p:cNvPr id="1336342" name="AutoShape 1046"/>
            <p:cNvSpPr>
              <a:spLocks noChangeArrowheads="1"/>
            </p:cNvSpPr>
            <p:nvPr/>
          </p:nvSpPr>
          <p:spPr bwMode="auto">
            <a:xfrm>
              <a:off x="2976" y="2064"/>
              <a:ext cx="144" cy="192"/>
            </a:xfrm>
            <a:prstGeom prst="downArrow">
              <a:avLst>
                <a:gd name="adj1" fmla="val 50000"/>
                <a:gd name="adj2" fmla="val 33333"/>
              </a:avLst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n-US" sz="1600" dirty="0"/>
            </a:p>
          </p:txBody>
        </p:sp>
        <p:sp>
          <p:nvSpPr>
            <p:cNvPr id="1336343" name="Oval 1047"/>
            <p:cNvSpPr>
              <a:spLocks noChangeArrowheads="1"/>
            </p:cNvSpPr>
            <p:nvPr/>
          </p:nvSpPr>
          <p:spPr bwMode="auto">
            <a:xfrm>
              <a:off x="3744" y="816"/>
              <a:ext cx="528" cy="192"/>
            </a:xfrm>
            <a:prstGeom prst="ellipse">
              <a:avLst/>
            </a:prstGeom>
            <a:solidFill>
              <a:schemeClr val="bg2"/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900" b="1" dirty="0"/>
                <a:t>For SMs</a:t>
              </a:r>
            </a:p>
          </p:txBody>
        </p:sp>
      </p:grpSp>
      <p:grpSp>
        <p:nvGrpSpPr>
          <p:cNvPr id="7" name="Group 1048"/>
          <p:cNvGrpSpPr>
            <a:grpSpLocks/>
          </p:cNvGrpSpPr>
          <p:nvPr/>
        </p:nvGrpSpPr>
        <p:grpSpPr bwMode="auto">
          <a:xfrm>
            <a:off x="3429000" y="5029224"/>
            <a:ext cx="2971800" cy="1721643"/>
            <a:chOff x="2160" y="2784"/>
            <a:chExt cx="1872" cy="1152"/>
          </a:xfrm>
        </p:grpSpPr>
        <p:sp>
          <p:nvSpPr>
            <p:cNvPr id="1336345" name="Rectangle 1049"/>
            <p:cNvSpPr>
              <a:spLocks noChangeArrowheads="1"/>
            </p:cNvSpPr>
            <p:nvPr/>
          </p:nvSpPr>
          <p:spPr bwMode="auto">
            <a:xfrm>
              <a:off x="2160" y="2784"/>
              <a:ext cx="1872" cy="11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/>
            <a:lstStyle/>
            <a:p>
              <a:pPr algn="l">
                <a:lnSpc>
                  <a:spcPct val="110000"/>
                </a:lnSpc>
                <a:spcBef>
                  <a:spcPct val="20000"/>
                </a:spcBef>
                <a:spcAft>
                  <a:spcPct val="20000"/>
                </a:spcAft>
                <a:buFont typeface="Times" pitchFamily="18" charset="0"/>
                <a:buNone/>
              </a:pPr>
              <a:r>
                <a:rPr lang="en-GB" sz="1200" b="1" dirty="0"/>
                <a:t>New Item Review</a:t>
              </a:r>
            </a:p>
            <a:p>
              <a:pPr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When new items (blue) in PBL close to two weeks</a:t>
              </a:r>
            </a:p>
            <a:p>
              <a:pPr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Purpose: </a:t>
              </a:r>
            </a:p>
            <a:p>
              <a:pPr lvl="1"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Identify which teams would need to react in </a:t>
              </a:r>
              <a:r>
                <a:rPr lang="en-US" sz="1100" dirty="0" smtClean="0"/>
                <a:t>ABLs</a:t>
              </a:r>
              <a:r>
                <a:rPr lang="en-GB" sz="1100" dirty="0" smtClean="0"/>
                <a:t> </a:t>
              </a:r>
              <a:r>
                <a:rPr lang="en-GB" sz="1100" dirty="0"/>
                <a:t>for PBL items</a:t>
              </a:r>
            </a:p>
            <a:p>
              <a:pPr lvl="1" algn="l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lr>
                  <a:schemeClr val="tx1"/>
                </a:buClr>
                <a:buFont typeface="Times" pitchFamily="18" charset="0"/>
                <a:buChar char="•"/>
              </a:pPr>
              <a:r>
                <a:rPr lang="en-GB" sz="1100" dirty="0"/>
                <a:t>Communicate idea of wish-release by PdM</a:t>
              </a:r>
            </a:p>
          </p:txBody>
        </p:sp>
        <p:sp>
          <p:nvSpPr>
            <p:cNvPr id="1336346" name="Oval 1050"/>
            <p:cNvSpPr>
              <a:spLocks noChangeArrowheads="1"/>
            </p:cNvSpPr>
            <p:nvPr/>
          </p:nvSpPr>
          <p:spPr bwMode="auto">
            <a:xfrm>
              <a:off x="3312" y="2832"/>
              <a:ext cx="576" cy="192"/>
            </a:xfrm>
            <a:prstGeom prst="ellipse">
              <a:avLst/>
            </a:prstGeom>
            <a:solidFill>
              <a:schemeClr val="bg2"/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900" b="1" dirty="0"/>
                <a:t>For SMs/AAs</a:t>
              </a:r>
            </a:p>
          </p:txBody>
        </p:sp>
      </p:grpSp>
      <p:grpSp>
        <p:nvGrpSpPr>
          <p:cNvPr id="8" name="Group 1051"/>
          <p:cNvGrpSpPr>
            <a:grpSpLocks/>
          </p:cNvGrpSpPr>
          <p:nvPr/>
        </p:nvGrpSpPr>
        <p:grpSpPr bwMode="auto">
          <a:xfrm>
            <a:off x="685800" y="3657600"/>
            <a:ext cx="8458200" cy="3124200"/>
            <a:chOff x="432" y="2304"/>
            <a:chExt cx="5328" cy="1968"/>
          </a:xfrm>
        </p:grpSpPr>
        <p:grpSp>
          <p:nvGrpSpPr>
            <p:cNvPr id="9" name="Group 1052"/>
            <p:cNvGrpSpPr>
              <a:grpSpLocks/>
            </p:cNvGrpSpPr>
            <p:nvPr/>
          </p:nvGrpSpPr>
          <p:grpSpPr bwMode="auto">
            <a:xfrm>
              <a:off x="432" y="2352"/>
              <a:ext cx="5280" cy="1920"/>
              <a:chOff x="432" y="2352"/>
              <a:chExt cx="5280" cy="1920"/>
            </a:xfrm>
          </p:grpSpPr>
          <p:sp>
            <p:nvSpPr>
              <p:cNvPr id="1336349" name="Rectangle 1053"/>
              <p:cNvSpPr>
                <a:spLocks noChangeArrowheads="1"/>
              </p:cNvSpPr>
              <p:nvPr/>
            </p:nvSpPr>
            <p:spPr bwMode="auto">
              <a:xfrm>
                <a:off x="4368" y="2448"/>
                <a:ext cx="1344" cy="1824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lIns="90000" tIns="46800" rIns="90000" bIns="46800" anchor="ctr"/>
              <a:lstStyle/>
              <a:p>
                <a:pPr algn="l">
                  <a:lnSpc>
                    <a:spcPct val="110000"/>
                  </a:lnSpc>
                  <a:spcBef>
                    <a:spcPct val="20000"/>
                  </a:spcBef>
                  <a:spcAft>
                    <a:spcPct val="20000"/>
                  </a:spcAft>
                  <a:buFont typeface="Times" pitchFamily="18" charset="0"/>
                  <a:buNone/>
                </a:pPr>
                <a:r>
                  <a:rPr lang="en-GB" sz="1200" b="1" dirty="0"/>
                  <a:t>Backlog Synchronization Review</a:t>
                </a:r>
              </a:p>
              <a:p>
                <a:pPr algn="l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chemeClr val="tx1"/>
                  </a:buClr>
                  <a:buFont typeface="Times" pitchFamily="18" charset="0"/>
                  <a:buChar char="•"/>
                </a:pPr>
                <a:r>
                  <a:rPr lang="en-GB" sz="1100" dirty="0"/>
                  <a:t>Monthly check of plans of other part of system (Mgmt Systems &amp; Research)</a:t>
                </a:r>
              </a:p>
              <a:p>
                <a:pPr algn="l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chemeClr val="tx1"/>
                  </a:buClr>
                  <a:buFont typeface="Times" pitchFamily="18" charset="0"/>
                  <a:buChar char="•"/>
                </a:pPr>
                <a:r>
                  <a:rPr lang="en-GB" sz="1100" dirty="0"/>
                  <a:t>Purpose:</a:t>
                </a:r>
              </a:p>
              <a:p>
                <a:pPr lvl="1" algn="l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chemeClr val="tx1"/>
                  </a:buClr>
                  <a:buFont typeface="Times" pitchFamily="18" charset="0"/>
                  <a:buChar char="•"/>
                </a:pPr>
                <a:r>
                  <a:rPr lang="en-GB" sz="1100" dirty="0"/>
                  <a:t>Understand dependencies and optimization opportunities, synching roadmaps</a:t>
                </a:r>
              </a:p>
              <a:p>
                <a:pPr lvl="1" algn="l">
                  <a:lnSpc>
                    <a:spcPct val="9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chemeClr val="tx1"/>
                  </a:buClr>
                  <a:buFont typeface="Times" pitchFamily="18" charset="0"/>
                  <a:buChar char="•"/>
                </a:pPr>
                <a:r>
                  <a:rPr lang="en-GB" sz="1100" dirty="0"/>
                  <a:t>Resolving conflicts in priorities</a:t>
                </a:r>
              </a:p>
            </p:txBody>
          </p:sp>
          <p:sp>
            <p:nvSpPr>
              <p:cNvPr id="1336350" name="AutoShape 1054"/>
              <p:cNvSpPr>
                <a:spLocks noChangeArrowheads="1"/>
              </p:cNvSpPr>
              <p:nvPr/>
            </p:nvSpPr>
            <p:spPr bwMode="auto">
              <a:xfrm flipV="1">
                <a:off x="432" y="2352"/>
                <a:ext cx="336" cy="288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chemeClr val="accent2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 anchor="ctr"/>
              <a:lstStyle/>
              <a:p>
                <a:endParaRPr lang="en-US" sz="1600" dirty="0"/>
              </a:p>
            </p:txBody>
          </p:sp>
        </p:grpSp>
        <p:sp>
          <p:nvSpPr>
            <p:cNvPr id="1336351" name="Oval 1055"/>
            <p:cNvSpPr>
              <a:spLocks noChangeArrowheads="1"/>
            </p:cNvSpPr>
            <p:nvPr/>
          </p:nvSpPr>
          <p:spPr bwMode="auto">
            <a:xfrm>
              <a:off x="5040" y="2304"/>
              <a:ext cx="720" cy="288"/>
            </a:xfrm>
            <a:prstGeom prst="ellipse">
              <a:avLst/>
            </a:prstGeom>
            <a:solidFill>
              <a:schemeClr val="bg2"/>
            </a:solidFill>
            <a:ln w="12700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/>
            <a:lstStyle/>
            <a:p>
              <a:pPr algn="ctr"/>
              <a:r>
                <a:rPr lang="en-GB" sz="800" b="1" dirty="0"/>
                <a:t>For PjMs/</a:t>
              </a:r>
              <a:br>
                <a:rPr lang="en-GB" sz="800" b="1" dirty="0"/>
              </a:br>
              <a:r>
                <a:rPr lang="en-GB" sz="800" b="1" dirty="0"/>
                <a:t>PgMs/</a:t>
              </a:r>
              <a:br>
                <a:rPr lang="en-GB" sz="800" b="1" dirty="0"/>
              </a:br>
              <a:r>
                <a:rPr lang="en-GB" sz="800" b="1" dirty="0"/>
                <a:t>PdMs</a:t>
              </a:r>
            </a:p>
          </p:txBody>
        </p:sp>
      </p:grp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pPr/>
              <a:t>5</a:t>
            </a:fld>
            <a:endParaRPr lang="sv-SE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Quality in Agile Development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Release-ready known quality available at end of each iteration</a:t>
            </a:r>
          </a:p>
          <a:p>
            <a:pPr lvl="1"/>
            <a:r>
              <a:rPr lang="fi-FI" dirty="0" smtClean="0"/>
              <a:t>Defining done as ready for real use with agreed checks</a:t>
            </a:r>
          </a:p>
          <a:p>
            <a:r>
              <a:rPr lang="fi-FI" dirty="0" smtClean="0"/>
              <a:t>Shared code ownership with Executable unit tests as documentation</a:t>
            </a:r>
          </a:p>
          <a:p>
            <a:pPr lvl="1"/>
            <a:r>
              <a:rPr lang="fi-FI" dirty="0" smtClean="0"/>
              <a:t>Avoiding specialized knowledge</a:t>
            </a:r>
          </a:p>
          <a:p>
            <a:r>
              <a:rPr lang="fi-FI" dirty="0" smtClean="0"/>
              <a:t>Avoiding debt-taking on quality</a:t>
            </a:r>
          </a:p>
          <a:p>
            <a:pPr lvl="1"/>
            <a:r>
              <a:rPr lang="fi-FI" dirty="0" smtClean="0"/>
              <a:t>Fix problems before implementing new features</a:t>
            </a:r>
          </a:p>
          <a:p>
            <a:pPr lvl="1"/>
            <a:r>
              <a:rPr lang="fi-FI" dirty="0" smtClean="0"/>
              <a:t>Continuous regression testing as feedback mechanism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Planning Testing without Planning the Details - On Effort Planning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i-FI" dirty="0" smtClean="0"/>
              <a:t>Team plans efforts for the sprint during the planning day and checks which items from product backlog can be done with the resourcing limitations fixed for the sprint</a:t>
            </a:r>
          </a:p>
          <a:p>
            <a:r>
              <a:rPr lang="fi-FI" dirty="0" smtClean="0"/>
              <a:t>Team views future items on rough sizing</a:t>
            </a:r>
          </a:p>
          <a:p>
            <a:pPr lvl="1"/>
            <a:r>
              <a:rPr lang="fi-FI" dirty="0" smtClean="0"/>
              <a:t>Problem and a workaround: traditional planning lead to huge amounts of time going into future planning </a:t>
            </a:r>
            <a:r>
              <a:rPr lang="fi-FI" dirty="0" smtClean="0">
                <a:sym typeface="Wingdings" pitchFamily="2" charset="2"/>
              </a:rPr>
              <a:t> introduced a group of experts doing quick quesstimates that are not commitments</a:t>
            </a:r>
            <a:endParaRPr lang="fi-FI" dirty="0" smtClean="0"/>
          </a:p>
          <a:p>
            <a:r>
              <a:rPr lang="fi-FI" dirty="0" smtClean="0"/>
              <a:t>Commitment only one sprint at a time – enables more reliable planning than with traditional methods with visibility of real progress</a:t>
            </a:r>
          </a:p>
          <a:p>
            <a:r>
              <a:rPr lang="fi-FI" dirty="0" smtClean="0"/>
              <a:t>If you need expensive environments, new recruits or something that just takes calendar time, that you may want to start earlier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ransition xmlns:p14="http://schemas.microsoft.com/office/powerpoint/2010/main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Having All Work Done within an Iteration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fi-FI" sz="2400" dirty="0" smtClean="0"/>
              <a:t>While much of the testing must and will fit an iteration, it is highly likely that some will not</a:t>
            </a:r>
          </a:p>
          <a:p>
            <a:pPr lvl="1"/>
            <a:r>
              <a:rPr lang="fi-FI" sz="1800" dirty="0" smtClean="0"/>
              <a:t>”The System View” – functional and non-functional aspects of the real environment of use</a:t>
            </a:r>
          </a:p>
          <a:p>
            <a:r>
              <a:rPr lang="fi-FI" sz="2400" dirty="0" smtClean="0"/>
              <a:t>Work not done should be made visible</a:t>
            </a:r>
          </a:p>
          <a:p>
            <a:pPr lvl="1"/>
            <a:r>
              <a:rPr lang="fi-FI" sz="1800" dirty="0" smtClean="0"/>
              <a:t>Not marking a product backlog item done before the work is completed or introducing new items if the value can be chosen not to be included (risk-taking view)</a:t>
            </a:r>
            <a:endParaRPr lang="fi-FI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i-FI" dirty="0" smtClean="0"/>
              <a:t>Promoting code for further system testing in next iteration:</a:t>
            </a:r>
          </a:p>
          <a:p>
            <a:pPr lvl="1"/>
            <a:r>
              <a:rPr lang="fi-FI" dirty="0" smtClean="0"/>
              <a:t>Exploratory testing: what did we miss while focusing on delivery; bugs, features, opportunities for improvement</a:t>
            </a:r>
          </a:p>
          <a:p>
            <a:pPr lvl="1"/>
            <a:r>
              <a:rPr lang="fi-FI" dirty="0" smtClean="0"/>
              <a:t>Combination/interaction testing, system regression testing: the latest added feature with all the others</a:t>
            </a:r>
          </a:p>
          <a:p>
            <a:pPr lvl="1"/>
            <a:r>
              <a:rPr lang="fi-FI" dirty="0" smtClean="0"/>
              <a:t>Scenario testing: Real-life use for stakeholders with the system as it is now</a:t>
            </a:r>
          </a:p>
          <a:p>
            <a:pPr lvl="1"/>
            <a:r>
              <a:rPr lang="fi-FI" dirty="0" smtClean="0"/>
              <a:t>Reliability / Endurance: Long-term use</a:t>
            </a:r>
          </a:p>
          <a:p>
            <a:pPr lvl="1"/>
            <a:r>
              <a:rPr lang="fi-FI" dirty="0" smtClean="0"/>
              <a:t>Performance testing: System Capabilities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ransition xmlns:p14="http://schemas.microsoft.com/office/powerpoint/2010/main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Defining a Delivery Increment from a Testing Point of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400816" cy="4525963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The upcoming delivery increment is planned based on topmost items in the product backlog</a:t>
            </a:r>
          </a:p>
          <a:p>
            <a:r>
              <a:rPr lang="en-GB" dirty="0" smtClean="0"/>
              <a:t>Review the topmost items</a:t>
            </a:r>
          </a:p>
          <a:p>
            <a:pPr lvl="1"/>
            <a:r>
              <a:rPr lang="en-GB" dirty="0" smtClean="0"/>
              <a:t>Is there all work represented that you know that would need to happen?</a:t>
            </a:r>
          </a:p>
          <a:p>
            <a:pPr lvl="1"/>
            <a:r>
              <a:rPr lang="en-GB" dirty="0" smtClean="0"/>
              <a:t>Are risky features towards a release you know will happen in future in their appropriate priorities or at least, implications of choices known?</a:t>
            </a:r>
          </a:p>
          <a:p>
            <a:pPr lvl="1"/>
            <a:r>
              <a:rPr lang="en-GB" dirty="0" smtClean="0"/>
              <a:t>Are the product backlog item sizes representative so that the assumptions of what will fit have a chance of being close to true?</a:t>
            </a:r>
          </a:p>
          <a:p>
            <a:pPr lvl="1"/>
            <a:r>
              <a:rPr lang="en-GB" dirty="0" smtClean="0"/>
              <a:t>Is all types of work included, also the “just testing” things: quality debt, release efforts?</a:t>
            </a:r>
          </a:p>
          <a:p>
            <a:pPr lvl="1"/>
            <a:r>
              <a:rPr lang="en-GB" dirty="0" smtClean="0"/>
              <a:t>Is the product owner aware of dependencies that could have cost change implications based on prioritization so that he can decide based on </a:t>
            </a:r>
            <a:r>
              <a:rPr lang="en-GB" dirty="0" err="1" smtClean="0"/>
              <a:t>RoI</a:t>
            </a:r>
            <a:r>
              <a:rPr lang="en-GB" dirty="0" smtClean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16" y="2571744"/>
            <a:ext cx="2133584" cy="23083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The PBL items should define what is needed and why – leave all planning details for teams. Very rough guess of effort is sufficient in long-term planning.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How to Tackle Fixed Bid Problems in Agile?</a:t>
            </a:r>
            <a:endParaRPr lang="fi-FI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smtClean="0"/>
              <a:t>Before start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fi-FI" sz="2000" dirty="0" smtClean="0"/>
              <a:t>Create a product backlog</a:t>
            </a:r>
          </a:p>
          <a:p>
            <a:r>
              <a:rPr lang="fi-FI" sz="2000" dirty="0" smtClean="0"/>
              <a:t>Size the items roughly (relative sizing), avoid making work breakdown, focus on understanding the customer intent </a:t>
            </a:r>
          </a:p>
          <a:p>
            <a:r>
              <a:rPr lang="fi-FI" sz="2000" dirty="0" smtClean="0"/>
              <a:t>Make a guess on the velocity and check that the schedule would seem possible with that velocity to this plan</a:t>
            </a:r>
          </a:p>
          <a:p>
            <a:r>
              <a:rPr lang="fi-FI" sz="2000" dirty="0" smtClean="0"/>
              <a:t>Make a fixed bid with the amount in product backlog plus some buffer in effort</a:t>
            </a:r>
          </a:p>
          <a:p>
            <a:endParaRPr lang="fi-FI" sz="20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i-FI" dirty="0" smtClean="0"/>
              <a:t>During the project</a:t>
            </a:r>
            <a:endParaRPr lang="fi-FI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 smtClean="0"/>
              <a:t>Work only on items coming to you through the product backlog</a:t>
            </a:r>
          </a:p>
          <a:p>
            <a:r>
              <a:rPr lang="fi-FI" dirty="0" smtClean="0"/>
              <a:t>In each planning day, compare the true plan to the product backlog expectation</a:t>
            </a:r>
          </a:p>
          <a:p>
            <a:r>
              <a:rPr lang="fi-FI" dirty="0" smtClean="0"/>
              <a:t>At each demo, compare the true velocity to needed to complete the items in the product backlog</a:t>
            </a:r>
          </a:p>
          <a:p>
            <a:r>
              <a:rPr lang="fi-FI" dirty="0" smtClean="0"/>
              <a:t>Mark in product backlog new items coming in and use change control mechanisms to change the fixed bid if needed</a:t>
            </a:r>
            <a:endParaRPr lang="fi-FI" dirty="0"/>
          </a:p>
        </p:txBody>
      </p:sp>
      <p:sp>
        <p:nvSpPr>
          <p:cNvPr id="8" name="TextBox 7"/>
          <p:cNvSpPr txBox="1"/>
          <p:nvPr/>
        </p:nvSpPr>
        <p:spPr>
          <a:xfrm>
            <a:off x="4714876" y="5786454"/>
            <a:ext cx="4214842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The customer gets better visibility with just as much certainty to the fixedness as before</a:t>
            </a:r>
            <a:endParaRPr lang="fi-FI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Ideoita, ajatuksia, </a:t>
            </a:r>
            <a:br>
              <a:rPr lang="fi-FI" dirty="0" smtClean="0"/>
            </a:br>
            <a:r>
              <a:rPr lang="fi-FI" dirty="0" smtClean="0"/>
              <a:t>kysymyksiä?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pic>
        <p:nvPicPr>
          <p:cNvPr id="4" name="Picture 3" descr="C:\Documents and Settings\mpyhajar.CONFORMIQ\Application Data\Microsoft\Media Catalog\Downloaded Clips\cl1f\j007871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85728"/>
            <a:ext cx="1622425" cy="3933825"/>
          </a:xfrm>
          <a:prstGeom prst="rect">
            <a:avLst/>
          </a:prstGeom>
          <a:noFill/>
        </p:spPr>
      </p:pic>
      <p:pic>
        <p:nvPicPr>
          <p:cNvPr id="5" name="Picture 4" descr="C:\Documents and Settings\mpyhajar.CONFORMIQ\Application Data\Microsoft\Media Catalog\Downloaded Clips\cl1f\j007862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5140" y="2357430"/>
            <a:ext cx="1295400" cy="3933825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1917</TotalTime>
  <Words>1247</Words>
  <Application>Microsoft Macintosh PowerPoint</Application>
  <PresentationFormat>On-screen Show (4:3)</PresentationFormat>
  <Paragraphs>153</Paragraphs>
  <Slides>11</Slides>
  <Notes>11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Julkaisusuunnittelu</vt:lpstr>
      <vt:lpstr>Julkaisusuunnittelu</vt:lpstr>
      <vt:lpstr>Testing in the Product Backlog</vt:lpstr>
      <vt:lpstr>Example: Roles and Responsibilities  Towards PBL</vt:lpstr>
      <vt:lpstr>Example: Product Backlog  Reviews</vt:lpstr>
      <vt:lpstr>Quality in Agile Development</vt:lpstr>
      <vt:lpstr>Planning Testing without Planning the Details - On Effort Planning</vt:lpstr>
      <vt:lpstr>Having All Work Done within an Iteration</vt:lpstr>
      <vt:lpstr>Defining a Delivery Increment from a Testing Point of View</vt:lpstr>
      <vt:lpstr>How to Tackle Fixed Bid Problems in Agile?</vt:lpstr>
      <vt:lpstr>Ideoita, ajatuksia,  kysymyksiä?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Havaintojen kirjaaminen ja Virheiden korjaaminen</dc:title>
  <dc:creator>Maaret Pyhäjärvi</dc:creator>
  <cp:lastModifiedBy>Maaret Pyhäjärvi</cp:lastModifiedBy>
  <cp:revision>28</cp:revision>
  <dcterms:created xsi:type="dcterms:W3CDTF">2006-08-16T00:00:00Z</dcterms:created>
  <dcterms:modified xsi:type="dcterms:W3CDTF">2017-05-30T10:21:21Z</dcterms:modified>
</cp:coreProperties>
</file>