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9" r:id="rId3"/>
    <p:sldId id="289" r:id="rId4"/>
    <p:sldId id="290" r:id="rId5"/>
    <p:sldId id="291" r:id="rId6"/>
    <p:sldId id="292" r:id="rId7"/>
    <p:sldId id="293" r:id="rId8"/>
    <p:sldId id="294" r:id="rId9"/>
    <p:sldId id="277" r:id="rId10"/>
    <p:sldId id="260" r:id="rId11"/>
    <p:sldId id="261" r:id="rId12"/>
    <p:sldId id="262" r:id="rId13"/>
    <p:sldId id="263" r:id="rId14"/>
    <p:sldId id="264" r:id="rId15"/>
    <p:sldId id="265" r:id="rId16"/>
    <p:sldId id="281" r:id="rId17"/>
    <p:sldId id="270" r:id="rId18"/>
    <p:sldId id="271" r:id="rId19"/>
    <p:sldId id="272" r:id="rId20"/>
    <p:sldId id="273" r:id="rId21"/>
    <p:sldId id="257" r:id="rId22"/>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3309" autoAdjust="0"/>
  </p:normalViewPr>
  <p:slideViewPr>
    <p:cSldViewPr>
      <p:cViewPr varScale="1">
        <p:scale>
          <a:sx n="62" d="100"/>
          <a:sy n="62" d="100"/>
        </p:scale>
        <p:origin x="-1376" y="-11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interSettings" Target="printerSettings/printerSettings1.bin"/><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29/05/17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3004224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30DFAF-FCD3-460A-BE79-ED3DBCB8981D}" type="slidenum">
              <a:rPr lang="en-GB"/>
              <a:pPr/>
              <a:t>2</a:t>
            </a:fld>
            <a:endParaRPr lang="en-GB"/>
          </a:p>
        </p:txBody>
      </p:sp>
      <p:sp>
        <p:nvSpPr>
          <p:cNvPr id="88066" name="Rectangle 2"/>
          <p:cNvSpPr>
            <a:spLocks noGrp="1" noRot="1" noChangeAspect="1" noChangeArrowheads="1" noTextEdit="1"/>
          </p:cNvSpPr>
          <p:nvPr>
            <p:ph type="sldImg"/>
          </p:nvPr>
        </p:nvSpPr>
        <p:spPr>
          <a:xfrm>
            <a:off x="901700" y="739775"/>
            <a:ext cx="4933950" cy="3700463"/>
          </a:xfrm>
          <a:ln/>
        </p:spPr>
      </p:sp>
      <p:sp>
        <p:nvSpPr>
          <p:cNvPr id="88067" name="Rectangle 3"/>
          <p:cNvSpPr>
            <a:spLocks noGrp="1" noChangeArrowheads="1"/>
          </p:cNvSpPr>
          <p:nvPr>
            <p:ph type="body" idx="1"/>
          </p:nvPr>
        </p:nvSpPr>
        <p:spPr/>
        <p:txBody>
          <a:bodyPr/>
          <a:lstStyle/>
          <a:p>
            <a:r>
              <a:rPr lang="en-US"/>
              <a:t>Is a test case a question of whether there’s a bug in certain place? </a:t>
            </a:r>
          </a:p>
          <a:p>
            <a:endParaRPr lang="en-US"/>
          </a:p>
          <a:p>
            <a:r>
              <a:rPr lang="en-US"/>
              <a:t>Case: a) costs may be from publicity or from the fact that update channel in use is costly. Case a) things are relatively stable and a small subset of all the tests. This is not the same thing as what we think of with prio1 now, it’s more on the lines of priority in CTS that we don’t use. </a:t>
            </a:r>
          </a:p>
          <a:p>
            <a:r>
              <a:rPr lang="en-US"/>
              <a:t>Case b) typically would include any new features and their integration to the product. Major refactorings would also be in this category. </a:t>
            </a:r>
          </a:p>
          <a:p>
            <a:endParaRPr lang="en-US"/>
          </a:p>
          <a:p>
            <a:r>
              <a:rPr lang="en-US"/>
              <a:t>RTS = Release to Stabilization – start of phase when no new features are introduced. </a:t>
            </a:r>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3</a:t>
            </a:fld>
            <a:endParaRPr lang="fi-FI"/>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5591D2-0327-462A-A25F-04C689607BD2}" type="slidenum">
              <a:rPr lang="en-US"/>
              <a:pPr/>
              <a:t>4</a:t>
            </a:fld>
            <a:endParaRPr lang="en-US"/>
          </a:p>
        </p:txBody>
      </p:sp>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p:txBody>
          <a:bodyPr/>
          <a:lstStyle/>
          <a:p>
            <a:endParaRPr lang="fi-FI"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0BC181E-A55B-45D9-8CD8-ED30E47DF0CC}"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E9A0D27A-A794-42D6-8F5C-25D71E8A9B8C}"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9C4ABBD-F665-47FC-BB70-872A5BF534E2}" type="slidenum">
              <a:rPr lang="fi-FI" smtClean="0"/>
              <a:pPr/>
              <a:t>10</a:t>
            </a:fld>
            <a:endParaRPr lang="fi-FI"/>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D0EE49FE-D9AD-4DD6-889D-92E77D46B910}"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C9C4ABBD-F665-47FC-BB70-872A5BF534E2}"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cognitive parts vs. the artifacts</a:t>
            </a:r>
          </a:p>
          <a:p>
            <a:r>
              <a:rPr lang="en-US" dirty="0" smtClean="0"/>
              <a:t>"think well and the rest will follow" -- just know that the rest </a:t>
            </a:r>
          </a:p>
          <a:p>
            <a:endParaRPr lang="en-US" dirty="0" smtClean="0"/>
          </a:p>
          <a:p>
            <a:r>
              <a:rPr lang="en-US" dirty="0" smtClean="0"/>
              <a:t>may be bug reports, test cases and such.</a:t>
            </a:r>
            <a:endParaRPr lang="fi-FI" dirty="0"/>
          </a:p>
        </p:txBody>
      </p:sp>
      <p:sp>
        <p:nvSpPr>
          <p:cNvPr id="4" name="Slide Number Placeholder 3"/>
          <p:cNvSpPr>
            <a:spLocks noGrp="1"/>
          </p:cNvSpPr>
          <p:nvPr>
            <p:ph type="sldNum" sz="quarter" idx="10"/>
          </p:nvPr>
        </p:nvSpPr>
        <p:spPr/>
        <p:txBody>
          <a:bodyPr/>
          <a:lstStyle/>
          <a:p>
            <a:fld id="{C9C4ABBD-F665-47FC-BB70-872A5BF534E2}"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p:spPr>
      </p:sp>
      <p:sp>
        <p:nvSpPr>
          <p:cNvPr id="33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fi-FI" smtClean="0"/>
              <a:t>We don’t want to be limited with a mission, or a charter. If something crucial happens, we (as testing professionals) must be capable of deciding how to deal with it: is it a showstopper, does it have to be dug out immediately even if it means diverting drastically from the original charter, or is it just something we note as a next charter idea and keep going? </a:t>
            </a:r>
          </a:p>
          <a:p>
            <a:pPr eaLnBrk="1" hangingPunct="1">
              <a:spcBef>
                <a:spcPct val="0"/>
              </a:spcBef>
            </a:pPr>
            <a:r>
              <a:rPr lang="fi-FI" smtClean="0"/>
              <a:t>Consider this as also learning about the charter and the mission given. There can (and will) be changes in plans, according to what happens during testing. Change will happen to more or less everything: software, schedule, scope, resources... This gives us agility to deal with the change.</a:t>
            </a:r>
          </a:p>
        </p:txBody>
      </p:sp>
      <p:sp>
        <p:nvSpPr>
          <p:cNvPr id="3072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8522A89-FF58-46CA-AA69-763BC936112E}" type="slidenum">
              <a:rPr lang="fi-FI" smtClean="0"/>
              <a:pPr fontAlgn="base">
                <a:spcBef>
                  <a:spcPct val="0"/>
                </a:spcBef>
                <a:spcAft>
                  <a:spcPct val="0"/>
                </a:spcAft>
                <a:defRPr/>
              </a:pPr>
              <a:t>16</a:t>
            </a:fld>
            <a:endParaRPr lang="fi-FI"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981CDBB-CF44-4307-B80D-437045F223BA}"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981CDBB-CF44-4307-B80D-437045F223BA}"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21</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25A72A-875B-4838-8AAF-95425D5E6BCC}"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9AA798-98B3-406C-99AF-672D442C1158}"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F3024C3-45CA-44F0-B171-BD772A883DA8}"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0059211-AE4D-45C5-9ABA-7C3FACD72C92}"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AD0933-7144-4729-9D6C-C45A5BBEBFAD}" type="datetime1">
              <a:rPr lang="en-US" smtClean="0"/>
              <a:pPr/>
              <a:t>29/05/17</a:t>
            </a:fld>
            <a:endParaRPr lang="en-US"/>
          </a:p>
        </p:txBody>
      </p:sp>
      <p:sp>
        <p:nvSpPr>
          <p:cNvPr id="8" name="Footer Placeholder 7"/>
          <p:cNvSpPr>
            <a:spLocks noGrp="1"/>
          </p:cNvSpPr>
          <p:nvPr>
            <p:ph type="ftr" sz="quarter" idx="11"/>
          </p:nvPr>
        </p:nvSpPr>
        <p:spPr/>
        <p:txBody>
          <a:bodyPr/>
          <a:lstStyle/>
          <a:p>
            <a:r>
              <a:rPr lang="en-US" smtClean="0"/>
              <a:t>DAY 1</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A84AB2-1509-4CD3-A023-C54AAE849328}" type="datetime1">
              <a:rPr lang="en-US" smtClean="0"/>
              <a:pPr/>
              <a:t>29/05/17</a:t>
            </a:fld>
            <a:endParaRPr lang="en-US"/>
          </a:p>
        </p:txBody>
      </p:sp>
      <p:sp>
        <p:nvSpPr>
          <p:cNvPr id="4" name="Footer Placeholder 3"/>
          <p:cNvSpPr>
            <a:spLocks noGrp="1"/>
          </p:cNvSpPr>
          <p:nvPr>
            <p:ph type="ftr" sz="quarter" idx="11"/>
          </p:nvPr>
        </p:nvSpPr>
        <p:spPr/>
        <p:txBody>
          <a:bodyPr/>
          <a:lstStyle/>
          <a:p>
            <a:r>
              <a:rPr lang="en-US" smtClean="0"/>
              <a:t>DAY 1</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20C981-A449-487E-BD48-B29246286DE3}" type="datetime1">
              <a:rPr lang="en-US" smtClean="0"/>
              <a:pPr/>
              <a:t>29/05/17</a:t>
            </a:fld>
            <a:endParaRPr lang="en-US"/>
          </a:p>
        </p:txBody>
      </p:sp>
      <p:sp>
        <p:nvSpPr>
          <p:cNvPr id="3" name="Footer Placeholder 2"/>
          <p:cNvSpPr>
            <a:spLocks noGrp="1"/>
          </p:cNvSpPr>
          <p:nvPr>
            <p:ph type="ftr" sz="quarter" idx="11"/>
          </p:nvPr>
        </p:nvSpPr>
        <p:spPr/>
        <p:txBody>
          <a:bodyPr/>
          <a:lstStyle/>
          <a:p>
            <a:r>
              <a:rPr lang="en-US" smtClean="0"/>
              <a:t>DAY 1</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15032F-0AF0-4AC4-BA8E-6F0F73CACEED}"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E11C43-F20E-46D6-B94A-3129E11E2C1D}"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8A608F5-90DB-4855-A5F4-AA2C40D928E1}"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2E77D1-E9B6-46F6-AAD4-C72179FDADC1}"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CE9C04-1577-4034-8B83-4FD91F18DB84}" type="datetime1">
              <a:rPr lang="en-US" smtClean="0"/>
              <a:pPr/>
              <a:t>29/05/17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DAY 1</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image" Target="../media/image4.wmf"/><Relationship Id="rId4" Type="http://schemas.openxmlformats.org/officeDocument/2006/relationships/image" Target="../media/image5.wmf"/><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Testisuunnittelun käytännöt</a:t>
            </a:r>
            <a:endParaRPr lang="fi-FI" dirty="0"/>
          </a:p>
        </p:txBody>
      </p:sp>
      <p:sp>
        <p:nvSpPr>
          <p:cNvPr id="3" name="Text Placeholder 2"/>
          <p:cNvSpPr>
            <a:spLocks noGrp="1"/>
          </p:cNvSpPr>
          <p:nvPr>
            <p:ph type="body" idx="1"/>
          </p:nvPr>
        </p:nvSpPr>
        <p:spPr/>
        <p:txBody>
          <a:bodyPr/>
          <a:lstStyle/>
          <a:p>
            <a:r>
              <a:rPr lang="fi-FI" dirty="0" smtClean="0"/>
              <a:t>Testien suunnittelu ja dokumentointi</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1" name="Picture 3" descr="C:\Documents and Settings\Maaret\My Documents\My Pictures\Microsoft Clip Organizer\j0078729.wmf"/>
          <p:cNvPicPr>
            <a:picLocks noChangeAspect="1" noChangeArrowheads="1"/>
          </p:cNvPicPr>
          <p:nvPr/>
        </p:nvPicPr>
        <p:blipFill>
          <a:blip r:embed="rId6" cstate="print"/>
          <a:srcRect/>
          <a:stretch>
            <a:fillRect/>
          </a:stretch>
        </p:blipFill>
        <p:spPr bwMode="auto">
          <a:xfrm>
            <a:off x="4953000" y="307975"/>
            <a:ext cx="3911600" cy="3291323"/>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US"/>
              <a:t>Problem Setting in Testing</a:t>
            </a:r>
            <a:endParaRPr lang="en-GB"/>
          </a:p>
        </p:txBody>
      </p:sp>
      <p:grpSp>
        <p:nvGrpSpPr>
          <p:cNvPr id="2" name="Group 3"/>
          <p:cNvGrpSpPr>
            <a:grpSpLocks/>
          </p:cNvGrpSpPr>
          <p:nvPr/>
        </p:nvGrpSpPr>
        <p:grpSpPr bwMode="auto">
          <a:xfrm>
            <a:off x="4191000" y="2590800"/>
            <a:ext cx="1295400" cy="762000"/>
            <a:chOff x="3600" y="1776"/>
            <a:chExt cx="816" cy="480"/>
          </a:xfrm>
        </p:grpSpPr>
        <p:grpSp>
          <p:nvGrpSpPr>
            <p:cNvPr id="3" name="Group 4"/>
            <p:cNvGrpSpPr>
              <a:grpSpLocks/>
            </p:cNvGrpSpPr>
            <p:nvPr/>
          </p:nvGrpSpPr>
          <p:grpSpPr bwMode="auto">
            <a:xfrm>
              <a:off x="3888" y="1776"/>
              <a:ext cx="208" cy="288"/>
              <a:chOff x="664" y="2352"/>
              <a:chExt cx="208" cy="288"/>
            </a:xfrm>
          </p:grpSpPr>
          <p:sp>
            <p:nvSpPr>
              <p:cNvPr id="87045" name="Oval 5"/>
              <p:cNvSpPr>
                <a:spLocks noChangeArrowheads="1"/>
              </p:cNvSpPr>
              <p:nvPr/>
            </p:nvSpPr>
            <p:spPr bwMode="auto">
              <a:xfrm rot="-820714">
                <a:off x="724" y="2445"/>
                <a:ext cx="97" cy="194"/>
              </a:xfrm>
              <a:prstGeom prst="ellipse">
                <a:avLst/>
              </a:prstGeom>
              <a:solidFill>
                <a:srgbClr val="FF3300"/>
              </a:solidFill>
              <a:ln w="28575">
                <a:solidFill>
                  <a:schemeClr val="tx1"/>
                </a:solidFill>
                <a:round/>
                <a:headEnd/>
                <a:tailEnd/>
              </a:ln>
              <a:effectLst/>
            </p:spPr>
            <p:txBody>
              <a:bodyPr wrap="none" anchor="ctr"/>
              <a:lstStyle/>
              <a:p>
                <a:endParaRPr lang="fi-FI"/>
              </a:p>
            </p:txBody>
          </p:sp>
          <p:sp>
            <p:nvSpPr>
              <p:cNvPr id="87046" name="Oval 6"/>
              <p:cNvSpPr>
                <a:spLocks noChangeArrowheads="1"/>
              </p:cNvSpPr>
              <p:nvPr/>
            </p:nvSpPr>
            <p:spPr bwMode="auto">
              <a:xfrm>
                <a:off x="720" y="2400"/>
                <a:ext cx="48" cy="48"/>
              </a:xfrm>
              <a:prstGeom prst="ellipse">
                <a:avLst/>
              </a:prstGeom>
              <a:solidFill>
                <a:srgbClr val="FF3300"/>
              </a:solidFill>
              <a:ln w="28575">
                <a:solidFill>
                  <a:schemeClr val="tx1"/>
                </a:solidFill>
                <a:round/>
                <a:headEnd/>
                <a:tailEnd/>
              </a:ln>
              <a:effectLst/>
            </p:spPr>
            <p:txBody>
              <a:bodyPr wrap="none" anchor="ctr"/>
              <a:lstStyle/>
              <a:p>
                <a:endParaRPr lang="fi-FI"/>
              </a:p>
            </p:txBody>
          </p:sp>
          <p:sp>
            <p:nvSpPr>
              <p:cNvPr id="87047" name="Freeform 7"/>
              <p:cNvSpPr>
                <a:spLocks/>
              </p:cNvSpPr>
              <p:nvPr/>
            </p:nvSpPr>
            <p:spPr bwMode="auto">
              <a:xfrm>
                <a:off x="768" y="240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48" name="Freeform 8"/>
              <p:cNvSpPr>
                <a:spLocks/>
              </p:cNvSpPr>
              <p:nvPr/>
            </p:nvSpPr>
            <p:spPr bwMode="auto">
              <a:xfrm>
                <a:off x="808" y="2448"/>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49" name="Freeform 9"/>
              <p:cNvSpPr>
                <a:spLocks/>
              </p:cNvSpPr>
              <p:nvPr/>
            </p:nvSpPr>
            <p:spPr bwMode="auto">
              <a:xfrm>
                <a:off x="816" y="253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50" name="Freeform 10"/>
              <p:cNvSpPr>
                <a:spLocks/>
              </p:cNvSpPr>
              <p:nvPr/>
            </p:nvSpPr>
            <p:spPr bwMode="auto">
              <a:xfrm flipH="1">
                <a:off x="664" y="2440"/>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51" name="Freeform 11"/>
              <p:cNvSpPr>
                <a:spLocks/>
              </p:cNvSpPr>
              <p:nvPr/>
            </p:nvSpPr>
            <p:spPr bwMode="auto">
              <a:xfrm rot="18539372" flipH="1">
                <a:off x="664" y="2496"/>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52" name="Freeform 12"/>
              <p:cNvSpPr>
                <a:spLocks/>
              </p:cNvSpPr>
              <p:nvPr/>
            </p:nvSpPr>
            <p:spPr bwMode="auto">
              <a:xfrm rot="18539372" flipH="1">
                <a:off x="672" y="2584"/>
                <a:ext cx="56" cy="56"/>
              </a:xfrm>
              <a:custGeom>
                <a:avLst/>
                <a:gdLst/>
                <a:ahLst/>
                <a:cxnLst>
                  <a:cxn ang="0">
                    <a:pos x="0" y="48"/>
                  </a:cxn>
                  <a:cxn ang="0">
                    <a:pos x="48" y="48"/>
                  </a:cxn>
                  <a:cxn ang="0">
                    <a:pos x="48" y="0"/>
                  </a:cxn>
                </a:cxnLst>
                <a:rect l="0" t="0" r="r" b="b"/>
                <a:pathLst>
                  <a:path w="56" h="56">
                    <a:moveTo>
                      <a:pt x="0" y="48"/>
                    </a:moveTo>
                    <a:cubicBezTo>
                      <a:pt x="20" y="52"/>
                      <a:pt x="40" y="56"/>
                      <a:pt x="48" y="48"/>
                    </a:cubicBezTo>
                    <a:cubicBezTo>
                      <a:pt x="56" y="40"/>
                      <a:pt x="48" y="8"/>
                      <a:pt x="48" y="0"/>
                    </a:cubicBezTo>
                  </a:path>
                </a:pathLst>
              </a:custGeom>
              <a:noFill/>
              <a:ln w="28575" cmpd="sng">
                <a:solidFill>
                  <a:schemeClr val="tx1"/>
                </a:solidFill>
                <a:round/>
                <a:headEnd/>
                <a:tailEnd/>
              </a:ln>
              <a:effectLst/>
            </p:spPr>
            <p:txBody>
              <a:bodyPr/>
              <a:lstStyle/>
              <a:p>
                <a:endParaRPr lang="fi-FI"/>
              </a:p>
            </p:txBody>
          </p:sp>
          <p:sp>
            <p:nvSpPr>
              <p:cNvPr id="87053" name="Freeform 13"/>
              <p:cNvSpPr>
                <a:spLocks/>
              </p:cNvSpPr>
              <p:nvPr/>
            </p:nvSpPr>
            <p:spPr bwMode="auto">
              <a:xfrm>
                <a:off x="752"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fi-FI"/>
              </a:p>
            </p:txBody>
          </p:sp>
          <p:sp>
            <p:nvSpPr>
              <p:cNvPr id="87054" name="Freeform 14"/>
              <p:cNvSpPr>
                <a:spLocks/>
              </p:cNvSpPr>
              <p:nvPr/>
            </p:nvSpPr>
            <p:spPr bwMode="auto">
              <a:xfrm>
                <a:off x="704" y="2352"/>
                <a:ext cx="16" cy="48"/>
              </a:xfrm>
              <a:custGeom>
                <a:avLst/>
                <a:gdLst/>
                <a:ahLst/>
                <a:cxnLst>
                  <a:cxn ang="0">
                    <a:pos x="16" y="48"/>
                  </a:cxn>
                  <a:cxn ang="0">
                    <a:pos x="16" y="0"/>
                  </a:cxn>
                </a:cxnLst>
                <a:rect l="0" t="0" r="r" b="b"/>
                <a:pathLst>
                  <a:path w="16" h="48">
                    <a:moveTo>
                      <a:pt x="16" y="48"/>
                    </a:moveTo>
                    <a:cubicBezTo>
                      <a:pt x="8" y="32"/>
                      <a:pt x="0" y="16"/>
                      <a:pt x="16" y="0"/>
                    </a:cubicBezTo>
                  </a:path>
                </a:pathLst>
              </a:custGeom>
              <a:noFill/>
              <a:ln w="28575" cmpd="sng">
                <a:solidFill>
                  <a:schemeClr val="tx1"/>
                </a:solidFill>
                <a:round/>
                <a:headEnd/>
                <a:tailEnd/>
              </a:ln>
              <a:effectLst/>
            </p:spPr>
            <p:txBody>
              <a:bodyPr/>
              <a:lstStyle/>
              <a:p>
                <a:endParaRPr lang="fi-FI"/>
              </a:p>
            </p:txBody>
          </p:sp>
        </p:grpSp>
        <p:sp>
          <p:nvSpPr>
            <p:cNvPr id="87055" name="Text Box 15"/>
            <p:cNvSpPr txBox="1">
              <a:spLocks noChangeArrowheads="1"/>
            </p:cNvSpPr>
            <p:nvPr/>
          </p:nvSpPr>
          <p:spPr bwMode="auto">
            <a:xfrm>
              <a:off x="3600" y="2064"/>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latin typeface="Arial" pitchFamily="34" charset="0"/>
                </a:rPr>
                <a:t>Serious</a:t>
              </a:r>
              <a:endParaRPr lang="en-GB" sz="1400">
                <a:latin typeface="Arial" pitchFamily="34" charset="0"/>
              </a:endParaRPr>
            </a:p>
          </p:txBody>
        </p:sp>
      </p:grpSp>
      <p:grpSp>
        <p:nvGrpSpPr>
          <p:cNvPr id="4" name="Group 16"/>
          <p:cNvGrpSpPr>
            <a:grpSpLocks/>
          </p:cNvGrpSpPr>
          <p:nvPr/>
        </p:nvGrpSpPr>
        <p:grpSpPr bwMode="auto">
          <a:xfrm>
            <a:off x="1295400" y="2438400"/>
            <a:ext cx="1295400" cy="990600"/>
            <a:chOff x="1728" y="1536"/>
            <a:chExt cx="816" cy="624"/>
          </a:xfrm>
        </p:grpSpPr>
        <p:grpSp>
          <p:nvGrpSpPr>
            <p:cNvPr id="5" name="Group 17"/>
            <p:cNvGrpSpPr>
              <a:grpSpLocks/>
            </p:cNvGrpSpPr>
            <p:nvPr/>
          </p:nvGrpSpPr>
          <p:grpSpPr bwMode="auto">
            <a:xfrm>
              <a:off x="1920" y="1536"/>
              <a:ext cx="384" cy="432"/>
              <a:chOff x="1248" y="1920"/>
              <a:chExt cx="528" cy="432"/>
            </a:xfrm>
          </p:grpSpPr>
          <p:sp>
            <p:nvSpPr>
              <p:cNvPr id="87058" name="AutoShape 18"/>
              <p:cNvSpPr>
                <a:spLocks noChangeArrowheads="1"/>
              </p:cNvSpPr>
              <p:nvPr/>
            </p:nvSpPr>
            <p:spPr bwMode="auto">
              <a:xfrm>
                <a:off x="1248" y="1920"/>
                <a:ext cx="528" cy="432"/>
              </a:xfrm>
              <a:prstGeom prst="flowChartDocument">
                <a:avLst/>
              </a:prstGeom>
              <a:solidFill>
                <a:schemeClr val="bg1"/>
              </a:solidFill>
              <a:ln w="9525">
                <a:solidFill>
                  <a:schemeClr val="tx1"/>
                </a:solidFill>
                <a:miter lim="800000"/>
                <a:headEnd/>
                <a:tailEnd/>
              </a:ln>
              <a:effectLst/>
            </p:spPr>
            <p:txBody>
              <a:bodyPr wrap="none" anchor="ctr"/>
              <a:lstStyle/>
              <a:p>
                <a:endParaRPr lang="fi-FI"/>
              </a:p>
            </p:txBody>
          </p:sp>
          <p:sp>
            <p:nvSpPr>
              <p:cNvPr id="87059" name="Line 19"/>
              <p:cNvSpPr>
                <a:spLocks noChangeShapeType="1"/>
              </p:cNvSpPr>
              <p:nvPr/>
            </p:nvSpPr>
            <p:spPr bwMode="auto">
              <a:xfrm>
                <a:off x="1296" y="2016"/>
                <a:ext cx="432" cy="0"/>
              </a:xfrm>
              <a:prstGeom prst="line">
                <a:avLst/>
              </a:prstGeom>
              <a:noFill/>
              <a:ln w="9525" cap="rnd">
                <a:solidFill>
                  <a:schemeClr val="tx1"/>
                </a:solidFill>
                <a:prstDash val="sysDot"/>
                <a:round/>
                <a:headEnd/>
                <a:tailEnd/>
              </a:ln>
              <a:effectLst/>
            </p:spPr>
            <p:txBody>
              <a:bodyPr/>
              <a:lstStyle/>
              <a:p>
                <a:endParaRPr lang="fi-FI"/>
              </a:p>
            </p:txBody>
          </p:sp>
          <p:sp>
            <p:nvSpPr>
              <p:cNvPr id="87060" name="Line 20"/>
              <p:cNvSpPr>
                <a:spLocks noChangeShapeType="1"/>
              </p:cNvSpPr>
              <p:nvPr/>
            </p:nvSpPr>
            <p:spPr bwMode="auto">
              <a:xfrm>
                <a:off x="1296" y="2064"/>
                <a:ext cx="432" cy="0"/>
              </a:xfrm>
              <a:prstGeom prst="line">
                <a:avLst/>
              </a:prstGeom>
              <a:noFill/>
              <a:ln w="9525" cap="rnd">
                <a:solidFill>
                  <a:schemeClr val="tx1"/>
                </a:solidFill>
                <a:prstDash val="sysDot"/>
                <a:round/>
                <a:headEnd/>
                <a:tailEnd/>
              </a:ln>
              <a:effectLst/>
            </p:spPr>
            <p:txBody>
              <a:bodyPr/>
              <a:lstStyle/>
              <a:p>
                <a:endParaRPr lang="fi-FI"/>
              </a:p>
            </p:txBody>
          </p:sp>
          <p:sp>
            <p:nvSpPr>
              <p:cNvPr id="87061" name="Line 21"/>
              <p:cNvSpPr>
                <a:spLocks noChangeShapeType="1"/>
              </p:cNvSpPr>
              <p:nvPr/>
            </p:nvSpPr>
            <p:spPr bwMode="auto">
              <a:xfrm>
                <a:off x="1296" y="2112"/>
                <a:ext cx="432" cy="0"/>
              </a:xfrm>
              <a:prstGeom prst="line">
                <a:avLst/>
              </a:prstGeom>
              <a:noFill/>
              <a:ln w="9525" cap="rnd">
                <a:solidFill>
                  <a:schemeClr val="tx1"/>
                </a:solidFill>
                <a:prstDash val="sysDot"/>
                <a:round/>
                <a:headEnd/>
                <a:tailEnd/>
              </a:ln>
              <a:effectLst/>
            </p:spPr>
            <p:txBody>
              <a:bodyPr/>
              <a:lstStyle/>
              <a:p>
                <a:endParaRPr lang="fi-FI"/>
              </a:p>
            </p:txBody>
          </p:sp>
          <p:sp>
            <p:nvSpPr>
              <p:cNvPr id="87062" name="Line 22"/>
              <p:cNvSpPr>
                <a:spLocks noChangeShapeType="1"/>
              </p:cNvSpPr>
              <p:nvPr/>
            </p:nvSpPr>
            <p:spPr bwMode="auto">
              <a:xfrm>
                <a:off x="1296" y="2160"/>
                <a:ext cx="432" cy="0"/>
              </a:xfrm>
              <a:prstGeom prst="line">
                <a:avLst/>
              </a:prstGeom>
              <a:noFill/>
              <a:ln w="9525" cap="rnd">
                <a:solidFill>
                  <a:schemeClr val="tx1"/>
                </a:solidFill>
                <a:prstDash val="sysDot"/>
                <a:round/>
                <a:headEnd/>
                <a:tailEnd/>
              </a:ln>
              <a:effectLst/>
            </p:spPr>
            <p:txBody>
              <a:bodyPr/>
              <a:lstStyle/>
              <a:p>
                <a:endParaRPr lang="fi-FI"/>
              </a:p>
            </p:txBody>
          </p:sp>
          <p:sp>
            <p:nvSpPr>
              <p:cNvPr id="87063" name="Line 23"/>
              <p:cNvSpPr>
                <a:spLocks noChangeShapeType="1"/>
              </p:cNvSpPr>
              <p:nvPr/>
            </p:nvSpPr>
            <p:spPr bwMode="auto">
              <a:xfrm>
                <a:off x="1296" y="2208"/>
                <a:ext cx="432" cy="0"/>
              </a:xfrm>
              <a:prstGeom prst="line">
                <a:avLst/>
              </a:prstGeom>
              <a:noFill/>
              <a:ln w="9525" cap="rnd">
                <a:solidFill>
                  <a:schemeClr val="tx1"/>
                </a:solidFill>
                <a:prstDash val="sysDot"/>
                <a:round/>
                <a:headEnd/>
                <a:tailEnd/>
              </a:ln>
              <a:effectLst/>
            </p:spPr>
            <p:txBody>
              <a:bodyPr/>
              <a:lstStyle/>
              <a:p>
                <a:endParaRPr lang="fi-FI"/>
              </a:p>
            </p:txBody>
          </p:sp>
          <p:sp>
            <p:nvSpPr>
              <p:cNvPr id="87064" name="Line 24"/>
              <p:cNvSpPr>
                <a:spLocks noChangeShapeType="1"/>
              </p:cNvSpPr>
              <p:nvPr/>
            </p:nvSpPr>
            <p:spPr bwMode="auto">
              <a:xfrm>
                <a:off x="1296" y="2256"/>
                <a:ext cx="432" cy="0"/>
              </a:xfrm>
              <a:prstGeom prst="line">
                <a:avLst/>
              </a:prstGeom>
              <a:noFill/>
              <a:ln w="9525" cap="rnd">
                <a:solidFill>
                  <a:schemeClr val="tx1"/>
                </a:solidFill>
                <a:prstDash val="sysDot"/>
                <a:round/>
                <a:headEnd/>
                <a:tailEnd/>
              </a:ln>
              <a:effectLst/>
            </p:spPr>
            <p:txBody>
              <a:bodyPr/>
              <a:lstStyle/>
              <a:p>
                <a:endParaRPr lang="fi-FI"/>
              </a:p>
            </p:txBody>
          </p:sp>
          <p:sp>
            <p:nvSpPr>
              <p:cNvPr id="87065" name="Line 25"/>
              <p:cNvSpPr>
                <a:spLocks noChangeShapeType="1"/>
              </p:cNvSpPr>
              <p:nvPr/>
            </p:nvSpPr>
            <p:spPr bwMode="auto">
              <a:xfrm>
                <a:off x="1296" y="2304"/>
                <a:ext cx="240" cy="0"/>
              </a:xfrm>
              <a:prstGeom prst="line">
                <a:avLst/>
              </a:prstGeom>
              <a:noFill/>
              <a:ln w="9525" cap="rnd">
                <a:solidFill>
                  <a:schemeClr val="tx1"/>
                </a:solidFill>
                <a:prstDash val="sysDot"/>
                <a:round/>
                <a:headEnd/>
                <a:tailEnd/>
              </a:ln>
              <a:effectLst/>
            </p:spPr>
            <p:txBody>
              <a:bodyPr/>
              <a:lstStyle/>
              <a:p>
                <a:endParaRPr lang="fi-FI"/>
              </a:p>
            </p:txBody>
          </p:sp>
          <p:sp>
            <p:nvSpPr>
              <p:cNvPr id="87066" name="Line 26"/>
              <p:cNvSpPr>
                <a:spLocks noChangeShapeType="1"/>
              </p:cNvSpPr>
              <p:nvPr/>
            </p:nvSpPr>
            <p:spPr bwMode="auto">
              <a:xfrm>
                <a:off x="1296" y="1968"/>
                <a:ext cx="432" cy="0"/>
              </a:xfrm>
              <a:prstGeom prst="line">
                <a:avLst/>
              </a:prstGeom>
              <a:noFill/>
              <a:ln w="9525" cap="rnd">
                <a:solidFill>
                  <a:schemeClr val="tx1"/>
                </a:solidFill>
                <a:prstDash val="sysDot"/>
                <a:round/>
                <a:headEnd/>
                <a:tailEnd/>
              </a:ln>
              <a:effectLst/>
            </p:spPr>
            <p:txBody>
              <a:bodyPr/>
              <a:lstStyle/>
              <a:p>
                <a:endParaRPr lang="fi-FI"/>
              </a:p>
            </p:txBody>
          </p:sp>
        </p:grpSp>
        <p:sp>
          <p:nvSpPr>
            <p:cNvPr id="87067" name="Text Box 27"/>
            <p:cNvSpPr txBox="1">
              <a:spLocks noChangeArrowheads="1"/>
            </p:cNvSpPr>
            <p:nvPr/>
          </p:nvSpPr>
          <p:spPr bwMode="auto">
            <a:xfrm>
              <a:off x="1728" y="1968"/>
              <a:ext cx="816" cy="192"/>
            </a:xfrm>
            <a:prstGeom prst="rect">
              <a:avLst/>
            </a:prstGeom>
            <a:noFill/>
            <a:ln w="9525">
              <a:noFill/>
              <a:miter lim="800000"/>
              <a:headEnd/>
              <a:tailEnd/>
            </a:ln>
            <a:effectLst/>
          </p:spPr>
          <p:txBody>
            <a:bodyPr>
              <a:spAutoFit/>
            </a:bodyPr>
            <a:lstStyle/>
            <a:p>
              <a:pPr algn="ctr" eaLnBrk="1" hangingPunct="1">
                <a:spcBef>
                  <a:spcPct val="50000"/>
                </a:spcBef>
              </a:pPr>
              <a:r>
                <a:rPr lang="en-US" sz="1400">
                  <a:latin typeface="Arial" pitchFamily="34" charset="0"/>
                </a:rPr>
                <a:t>Test Case</a:t>
              </a:r>
              <a:endParaRPr lang="en-GB" sz="1400">
                <a:latin typeface="Arial" pitchFamily="34" charset="0"/>
              </a:endParaRPr>
            </a:p>
          </p:txBody>
        </p:sp>
      </p:grpSp>
      <p:sp>
        <p:nvSpPr>
          <p:cNvPr id="87068" name="Text Box 28"/>
          <p:cNvSpPr txBox="1">
            <a:spLocks noChangeArrowheads="1"/>
          </p:cNvSpPr>
          <p:nvPr/>
        </p:nvSpPr>
        <p:spPr bwMode="auto">
          <a:xfrm>
            <a:off x="1295400" y="1600200"/>
            <a:ext cx="1295400" cy="517525"/>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hlink"/>
                </a:solidFill>
                <a:latin typeface="Arial" pitchFamily="34" charset="0"/>
              </a:rPr>
              <a:t>We try to focus these…</a:t>
            </a:r>
            <a:endParaRPr lang="en-GB" sz="1400">
              <a:solidFill>
                <a:schemeClr val="hlink"/>
              </a:solidFill>
              <a:latin typeface="Arial" pitchFamily="34" charset="0"/>
            </a:endParaRPr>
          </a:p>
        </p:txBody>
      </p:sp>
      <p:sp>
        <p:nvSpPr>
          <p:cNvPr id="87069" name="Text Box 29"/>
          <p:cNvSpPr txBox="1">
            <a:spLocks noChangeArrowheads="1"/>
          </p:cNvSpPr>
          <p:nvPr/>
        </p:nvSpPr>
        <p:spPr bwMode="auto">
          <a:xfrm>
            <a:off x="4267200" y="1371600"/>
            <a:ext cx="1295400" cy="517525"/>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hlink"/>
                </a:solidFill>
                <a:latin typeface="Arial" pitchFamily="34" charset="0"/>
              </a:rPr>
              <a:t>…to find these…</a:t>
            </a:r>
            <a:endParaRPr lang="en-GB" sz="1400">
              <a:solidFill>
                <a:schemeClr val="hlink"/>
              </a:solidFill>
              <a:latin typeface="Arial" pitchFamily="34" charset="0"/>
            </a:endParaRPr>
          </a:p>
        </p:txBody>
      </p:sp>
      <p:sp>
        <p:nvSpPr>
          <p:cNvPr id="87070" name="Text Box 30"/>
          <p:cNvSpPr txBox="1">
            <a:spLocks noChangeArrowheads="1"/>
          </p:cNvSpPr>
          <p:nvPr/>
        </p:nvSpPr>
        <p:spPr bwMode="auto">
          <a:xfrm>
            <a:off x="2286000" y="4283075"/>
            <a:ext cx="1295400" cy="115570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hlink"/>
                </a:solidFill>
                <a:latin typeface="Arial" pitchFamily="34" charset="0"/>
              </a:rPr>
              <a:t>…and tell if there’s more and to what degree we know</a:t>
            </a:r>
            <a:endParaRPr lang="en-GB" sz="1400">
              <a:solidFill>
                <a:schemeClr val="hlink"/>
              </a:solidFill>
              <a:latin typeface="Arial" pitchFamily="34" charset="0"/>
            </a:endParaRPr>
          </a:p>
        </p:txBody>
      </p:sp>
      <p:sp>
        <p:nvSpPr>
          <p:cNvPr id="87071" name="Text Box 31"/>
          <p:cNvSpPr txBox="1">
            <a:spLocks noChangeArrowheads="1"/>
          </p:cNvSpPr>
          <p:nvPr/>
        </p:nvSpPr>
        <p:spPr bwMode="auto">
          <a:xfrm>
            <a:off x="0" y="2057400"/>
            <a:ext cx="1295400" cy="115570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rgbClr val="FF3300"/>
                </a:solidFill>
                <a:latin typeface="Arial" pitchFamily="34" charset="0"/>
              </a:rPr>
              <a:t>WHAT</a:t>
            </a:r>
            <a:br>
              <a:rPr lang="en-US" sz="1400">
                <a:solidFill>
                  <a:srgbClr val="FF3300"/>
                </a:solidFill>
                <a:latin typeface="Arial" pitchFamily="34" charset="0"/>
              </a:rPr>
            </a:br>
            <a:r>
              <a:rPr lang="en-US" sz="1400">
                <a:solidFill>
                  <a:srgbClr val="FF3300"/>
                </a:solidFill>
                <a:latin typeface="Arial" pitchFamily="34" charset="0"/>
              </a:rPr>
              <a:t>WHEN</a:t>
            </a:r>
            <a:br>
              <a:rPr lang="en-US" sz="1400">
                <a:solidFill>
                  <a:srgbClr val="FF3300"/>
                </a:solidFill>
                <a:latin typeface="Arial" pitchFamily="34" charset="0"/>
              </a:rPr>
            </a:br>
            <a:r>
              <a:rPr lang="en-US" sz="1400">
                <a:solidFill>
                  <a:srgbClr val="FF3300"/>
                </a:solidFill>
                <a:latin typeface="Arial" pitchFamily="34" charset="0"/>
              </a:rPr>
              <a:t>WHO</a:t>
            </a:r>
            <a:br>
              <a:rPr lang="en-US" sz="1400">
                <a:solidFill>
                  <a:srgbClr val="FF3300"/>
                </a:solidFill>
                <a:latin typeface="Arial" pitchFamily="34" charset="0"/>
              </a:rPr>
            </a:br>
            <a:r>
              <a:rPr lang="en-US" sz="1400">
                <a:solidFill>
                  <a:srgbClr val="FF3300"/>
                </a:solidFill>
                <a:latin typeface="Arial" pitchFamily="34" charset="0"/>
              </a:rPr>
              <a:t>HOW</a:t>
            </a:r>
            <a:br>
              <a:rPr lang="en-US" sz="1400">
                <a:solidFill>
                  <a:srgbClr val="FF3300"/>
                </a:solidFill>
                <a:latin typeface="Arial" pitchFamily="34" charset="0"/>
              </a:rPr>
            </a:br>
            <a:r>
              <a:rPr lang="en-US" sz="1400">
                <a:solidFill>
                  <a:srgbClr val="FF3300"/>
                </a:solidFill>
                <a:latin typeface="Arial" pitchFamily="34" charset="0"/>
              </a:rPr>
              <a:t>WHY</a:t>
            </a:r>
            <a:endParaRPr lang="en-GB" sz="1400">
              <a:solidFill>
                <a:srgbClr val="FF3300"/>
              </a:solidFill>
              <a:latin typeface="Arial" pitchFamily="34" charset="0"/>
            </a:endParaRPr>
          </a:p>
        </p:txBody>
      </p:sp>
      <p:sp>
        <p:nvSpPr>
          <p:cNvPr id="87072" name="Text Box 32"/>
          <p:cNvSpPr txBox="1">
            <a:spLocks noChangeArrowheads="1"/>
          </p:cNvSpPr>
          <p:nvPr/>
        </p:nvSpPr>
        <p:spPr bwMode="auto">
          <a:xfrm>
            <a:off x="5715000" y="1371600"/>
            <a:ext cx="3048000" cy="73025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accent2"/>
                </a:solidFill>
                <a:latin typeface="Arial" pitchFamily="34" charset="0"/>
              </a:rPr>
              <a:t>a. Prevents user’s goals AND our ability to fix the situation without major costs</a:t>
            </a:r>
            <a:endParaRPr lang="en-GB" sz="1400">
              <a:solidFill>
                <a:schemeClr val="accent2"/>
              </a:solidFill>
              <a:latin typeface="Arial" pitchFamily="34" charset="0"/>
            </a:endParaRPr>
          </a:p>
        </p:txBody>
      </p:sp>
      <p:sp>
        <p:nvSpPr>
          <p:cNvPr id="87073" name="Freeform 33"/>
          <p:cNvSpPr>
            <a:spLocks/>
          </p:cNvSpPr>
          <p:nvPr/>
        </p:nvSpPr>
        <p:spPr bwMode="auto">
          <a:xfrm>
            <a:off x="5105400" y="1676400"/>
            <a:ext cx="762000" cy="990600"/>
          </a:xfrm>
          <a:custGeom>
            <a:avLst/>
            <a:gdLst/>
            <a:ahLst/>
            <a:cxnLst>
              <a:cxn ang="0">
                <a:pos x="0" y="624"/>
              </a:cxn>
              <a:cxn ang="0">
                <a:pos x="96" y="288"/>
              </a:cxn>
              <a:cxn ang="0">
                <a:pos x="480" y="0"/>
              </a:cxn>
            </a:cxnLst>
            <a:rect l="0" t="0" r="r" b="b"/>
            <a:pathLst>
              <a:path w="480" h="624">
                <a:moveTo>
                  <a:pt x="0" y="624"/>
                </a:moveTo>
                <a:cubicBezTo>
                  <a:pt x="8" y="508"/>
                  <a:pt x="16" y="392"/>
                  <a:pt x="96" y="288"/>
                </a:cubicBezTo>
                <a:cubicBezTo>
                  <a:pt x="176" y="184"/>
                  <a:pt x="328" y="92"/>
                  <a:pt x="480" y="0"/>
                </a:cubicBezTo>
              </a:path>
            </a:pathLst>
          </a:custGeom>
          <a:noFill/>
          <a:ln w="9525">
            <a:solidFill>
              <a:schemeClr val="tx1"/>
            </a:solidFill>
            <a:round/>
            <a:headEnd type="none" w="med" len="med"/>
            <a:tailEnd type="triangle" w="med" len="med"/>
          </a:ln>
          <a:effectLst/>
        </p:spPr>
        <p:txBody>
          <a:bodyPr/>
          <a:lstStyle/>
          <a:p>
            <a:endParaRPr lang="fi-FI"/>
          </a:p>
        </p:txBody>
      </p:sp>
      <p:sp>
        <p:nvSpPr>
          <p:cNvPr id="87074" name="Text Box 34"/>
          <p:cNvSpPr txBox="1">
            <a:spLocks noChangeArrowheads="1"/>
          </p:cNvSpPr>
          <p:nvPr/>
        </p:nvSpPr>
        <p:spPr bwMode="auto">
          <a:xfrm>
            <a:off x="5791200" y="2209800"/>
            <a:ext cx="3048000" cy="517525"/>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accent2"/>
                </a:solidFill>
                <a:latin typeface="Arial" pitchFamily="34" charset="0"/>
              </a:rPr>
              <a:t>b. Fixing may be a major effort and cause new bugs</a:t>
            </a:r>
            <a:endParaRPr lang="en-GB" sz="1400">
              <a:solidFill>
                <a:schemeClr val="accent2"/>
              </a:solidFill>
              <a:latin typeface="Arial" pitchFamily="34" charset="0"/>
            </a:endParaRPr>
          </a:p>
        </p:txBody>
      </p:sp>
      <p:sp>
        <p:nvSpPr>
          <p:cNvPr id="87075" name="Text Box 35"/>
          <p:cNvSpPr txBox="1">
            <a:spLocks noChangeArrowheads="1"/>
          </p:cNvSpPr>
          <p:nvPr/>
        </p:nvSpPr>
        <p:spPr bwMode="auto">
          <a:xfrm>
            <a:off x="5562600" y="2819400"/>
            <a:ext cx="3048000" cy="517525"/>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accent2"/>
                </a:solidFill>
                <a:latin typeface="Arial" pitchFamily="34" charset="0"/>
              </a:rPr>
              <a:t>b. Stops us from the things we should do in project</a:t>
            </a:r>
            <a:endParaRPr lang="en-GB" sz="1400">
              <a:solidFill>
                <a:schemeClr val="accent2"/>
              </a:solidFill>
              <a:latin typeface="Arial" pitchFamily="34" charset="0"/>
            </a:endParaRPr>
          </a:p>
        </p:txBody>
      </p:sp>
      <p:sp>
        <p:nvSpPr>
          <p:cNvPr id="87076" name="Text Box 36"/>
          <p:cNvSpPr txBox="1">
            <a:spLocks noChangeArrowheads="1"/>
          </p:cNvSpPr>
          <p:nvPr/>
        </p:nvSpPr>
        <p:spPr bwMode="auto">
          <a:xfrm>
            <a:off x="5638800" y="3352800"/>
            <a:ext cx="3048000" cy="73025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accent2"/>
                </a:solidFill>
                <a:latin typeface="Arial" pitchFamily="34" charset="0"/>
              </a:rPr>
              <a:t>c. Stops user from the things he needs to do BUT is easy to fix through channels</a:t>
            </a:r>
            <a:endParaRPr lang="en-GB" sz="1400">
              <a:solidFill>
                <a:schemeClr val="accent2"/>
              </a:solidFill>
              <a:latin typeface="Arial" pitchFamily="34" charset="0"/>
            </a:endParaRPr>
          </a:p>
        </p:txBody>
      </p:sp>
      <p:sp>
        <p:nvSpPr>
          <p:cNvPr id="87077" name="Freeform 37"/>
          <p:cNvSpPr>
            <a:spLocks/>
          </p:cNvSpPr>
          <p:nvPr/>
        </p:nvSpPr>
        <p:spPr bwMode="auto">
          <a:xfrm>
            <a:off x="5105400" y="2362200"/>
            <a:ext cx="685800" cy="457200"/>
          </a:xfrm>
          <a:custGeom>
            <a:avLst/>
            <a:gdLst/>
            <a:ahLst/>
            <a:cxnLst>
              <a:cxn ang="0">
                <a:pos x="0" y="288"/>
              </a:cxn>
              <a:cxn ang="0">
                <a:pos x="144" y="48"/>
              </a:cxn>
              <a:cxn ang="0">
                <a:pos x="432" y="0"/>
              </a:cxn>
            </a:cxnLst>
            <a:rect l="0" t="0" r="r" b="b"/>
            <a:pathLst>
              <a:path w="432" h="288">
                <a:moveTo>
                  <a:pt x="0" y="288"/>
                </a:moveTo>
                <a:cubicBezTo>
                  <a:pt x="36" y="192"/>
                  <a:pt x="72" y="96"/>
                  <a:pt x="144" y="48"/>
                </a:cubicBezTo>
                <a:cubicBezTo>
                  <a:pt x="216" y="0"/>
                  <a:pt x="324" y="0"/>
                  <a:pt x="432" y="0"/>
                </a:cubicBezTo>
              </a:path>
            </a:pathLst>
          </a:custGeom>
          <a:noFill/>
          <a:ln w="9525">
            <a:solidFill>
              <a:schemeClr val="tx1"/>
            </a:solidFill>
            <a:round/>
            <a:headEnd type="none" w="med" len="med"/>
            <a:tailEnd type="triangle" w="med" len="med"/>
          </a:ln>
          <a:effectLst/>
        </p:spPr>
        <p:txBody>
          <a:bodyPr/>
          <a:lstStyle/>
          <a:p>
            <a:endParaRPr lang="fi-FI"/>
          </a:p>
        </p:txBody>
      </p:sp>
      <p:sp>
        <p:nvSpPr>
          <p:cNvPr id="87078" name="Freeform 38"/>
          <p:cNvSpPr>
            <a:spLocks/>
          </p:cNvSpPr>
          <p:nvPr/>
        </p:nvSpPr>
        <p:spPr bwMode="auto">
          <a:xfrm>
            <a:off x="5105400" y="2895600"/>
            <a:ext cx="685800" cy="177800"/>
          </a:xfrm>
          <a:custGeom>
            <a:avLst/>
            <a:gdLst/>
            <a:ahLst/>
            <a:cxnLst>
              <a:cxn ang="0">
                <a:pos x="0" y="0"/>
              </a:cxn>
              <a:cxn ang="0">
                <a:pos x="192" y="96"/>
              </a:cxn>
              <a:cxn ang="0">
                <a:pos x="432" y="96"/>
              </a:cxn>
            </a:cxnLst>
            <a:rect l="0" t="0" r="r" b="b"/>
            <a:pathLst>
              <a:path w="432" h="112">
                <a:moveTo>
                  <a:pt x="0" y="0"/>
                </a:moveTo>
                <a:cubicBezTo>
                  <a:pt x="60" y="40"/>
                  <a:pt x="120" y="80"/>
                  <a:pt x="192" y="96"/>
                </a:cubicBezTo>
                <a:cubicBezTo>
                  <a:pt x="264" y="112"/>
                  <a:pt x="348" y="104"/>
                  <a:pt x="432" y="96"/>
                </a:cubicBezTo>
              </a:path>
            </a:pathLst>
          </a:custGeom>
          <a:noFill/>
          <a:ln w="9525">
            <a:solidFill>
              <a:schemeClr val="tx1"/>
            </a:solidFill>
            <a:round/>
            <a:headEnd type="none" w="med" len="med"/>
            <a:tailEnd type="triangle" w="med" len="med"/>
          </a:ln>
          <a:effectLst/>
        </p:spPr>
        <p:txBody>
          <a:bodyPr/>
          <a:lstStyle/>
          <a:p>
            <a:endParaRPr lang="fi-FI"/>
          </a:p>
        </p:txBody>
      </p:sp>
      <p:sp>
        <p:nvSpPr>
          <p:cNvPr id="87079" name="Freeform 39"/>
          <p:cNvSpPr>
            <a:spLocks/>
          </p:cNvSpPr>
          <p:nvPr/>
        </p:nvSpPr>
        <p:spPr bwMode="auto">
          <a:xfrm>
            <a:off x="5105400" y="3048000"/>
            <a:ext cx="685800" cy="533400"/>
          </a:xfrm>
          <a:custGeom>
            <a:avLst/>
            <a:gdLst/>
            <a:ahLst/>
            <a:cxnLst>
              <a:cxn ang="0">
                <a:pos x="0" y="0"/>
              </a:cxn>
              <a:cxn ang="0">
                <a:pos x="192" y="240"/>
              </a:cxn>
              <a:cxn ang="0">
                <a:pos x="432" y="336"/>
              </a:cxn>
            </a:cxnLst>
            <a:rect l="0" t="0" r="r" b="b"/>
            <a:pathLst>
              <a:path w="432" h="336">
                <a:moveTo>
                  <a:pt x="0" y="0"/>
                </a:moveTo>
                <a:cubicBezTo>
                  <a:pt x="60" y="92"/>
                  <a:pt x="120" y="184"/>
                  <a:pt x="192" y="240"/>
                </a:cubicBezTo>
                <a:cubicBezTo>
                  <a:pt x="264" y="296"/>
                  <a:pt x="348" y="316"/>
                  <a:pt x="432" y="336"/>
                </a:cubicBezTo>
              </a:path>
            </a:pathLst>
          </a:custGeom>
          <a:noFill/>
          <a:ln w="9525">
            <a:solidFill>
              <a:schemeClr val="tx1"/>
            </a:solidFill>
            <a:round/>
            <a:headEnd type="none" w="med" len="med"/>
            <a:tailEnd type="triangle" w="med" len="med"/>
          </a:ln>
          <a:effectLst/>
        </p:spPr>
        <p:txBody>
          <a:bodyPr/>
          <a:lstStyle/>
          <a:p>
            <a:endParaRPr lang="fi-FI"/>
          </a:p>
        </p:txBody>
      </p:sp>
      <p:sp>
        <p:nvSpPr>
          <p:cNvPr id="87080" name="Line 40"/>
          <p:cNvSpPr>
            <a:spLocks noChangeShapeType="1"/>
          </p:cNvSpPr>
          <p:nvPr/>
        </p:nvSpPr>
        <p:spPr bwMode="auto">
          <a:xfrm flipH="1" flipV="1">
            <a:off x="2362200" y="3505200"/>
            <a:ext cx="1600200" cy="838200"/>
          </a:xfrm>
          <a:prstGeom prst="line">
            <a:avLst/>
          </a:prstGeom>
          <a:noFill/>
          <a:ln w="9525">
            <a:solidFill>
              <a:schemeClr val="tx1"/>
            </a:solidFill>
            <a:round/>
            <a:headEnd/>
            <a:tailEnd type="triangle" w="med" len="med"/>
          </a:ln>
          <a:effectLst/>
        </p:spPr>
        <p:txBody>
          <a:bodyPr/>
          <a:lstStyle/>
          <a:p>
            <a:endParaRPr lang="fi-FI"/>
          </a:p>
        </p:txBody>
      </p:sp>
      <p:sp>
        <p:nvSpPr>
          <p:cNvPr id="87081" name="Line 41"/>
          <p:cNvSpPr>
            <a:spLocks noChangeShapeType="1"/>
          </p:cNvSpPr>
          <p:nvPr/>
        </p:nvSpPr>
        <p:spPr bwMode="auto">
          <a:xfrm flipV="1">
            <a:off x="4114800" y="3429000"/>
            <a:ext cx="457200" cy="838200"/>
          </a:xfrm>
          <a:prstGeom prst="line">
            <a:avLst/>
          </a:prstGeom>
          <a:noFill/>
          <a:ln w="9525">
            <a:solidFill>
              <a:schemeClr val="tx1"/>
            </a:solidFill>
            <a:round/>
            <a:headEnd/>
            <a:tailEnd type="triangle" w="med" len="med"/>
          </a:ln>
          <a:effectLst/>
        </p:spPr>
        <p:txBody>
          <a:bodyPr/>
          <a:lstStyle/>
          <a:p>
            <a:endParaRPr lang="fi-FI"/>
          </a:p>
        </p:txBody>
      </p:sp>
      <p:sp>
        <p:nvSpPr>
          <p:cNvPr id="87082" name="Text Box 42"/>
          <p:cNvSpPr txBox="1">
            <a:spLocks noChangeArrowheads="1"/>
          </p:cNvSpPr>
          <p:nvPr/>
        </p:nvSpPr>
        <p:spPr bwMode="auto">
          <a:xfrm rot="1454346">
            <a:off x="2667000" y="3657600"/>
            <a:ext cx="1295400" cy="304800"/>
          </a:xfrm>
          <a:prstGeom prst="rect">
            <a:avLst/>
          </a:prstGeom>
          <a:noFill/>
          <a:ln w="9525">
            <a:noFill/>
            <a:miter lim="800000"/>
            <a:headEnd/>
            <a:tailEnd/>
          </a:ln>
          <a:effectLst/>
        </p:spPr>
        <p:txBody>
          <a:bodyPr>
            <a:spAutoFit/>
          </a:bodyPr>
          <a:lstStyle/>
          <a:p>
            <a:pPr algn="ctr" eaLnBrk="1" hangingPunct="1">
              <a:spcBef>
                <a:spcPct val="50000"/>
              </a:spcBef>
            </a:pPr>
            <a:r>
              <a:rPr lang="en-US" sz="1400">
                <a:solidFill>
                  <a:schemeClr val="folHlink"/>
                </a:solidFill>
                <a:latin typeface="Arial" pitchFamily="34" charset="0"/>
              </a:rPr>
              <a:t>Coverage?</a:t>
            </a:r>
            <a:endParaRPr lang="en-GB" sz="1400">
              <a:solidFill>
                <a:schemeClr val="folHlink"/>
              </a:solidFill>
              <a:latin typeface="Arial" pitchFamily="34" charset="0"/>
            </a:endParaRPr>
          </a:p>
        </p:txBody>
      </p:sp>
      <p:sp>
        <p:nvSpPr>
          <p:cNvPr id="87083" name="Line 43"/>
          <p:cNvSpPr>
            <a:spLocks noChangeShapeType="1"/>
          </p:cNvSpPr>
          <p:nvPr/>
        </p:nvSpPr>
        <p:spPr bwMode="auto">
          <a:xfrm>
            <a:off x="2438400" y="2743200"/>
            <a:ext cx="2133600" cy="0"/>
          </a:xfrm>
          <a:prstGeom prst="line">
            <a:avLst/>
          </a:prstGeom>
          <a:noFill/>
          <a:ln w="9525">
            <a:solidFill>
              <a:schemeClr val="tx1"/>
            </a:solidFill>
            <a:round/>
            <a:headEnd/>
            <a:tailEnd type="triangle" w="med" len="med"/>
          </a:ln>
          <a:effectLst/>
        </p:spPr>
        <p:txBody>
          <a:bodyPr/>
          <a:lstStyle/>
          <a:p>
            <a:endParaRPr lang="fi-FI"/>
          </a:p>
        </p:txBody>
      </p:sp>
      <p:sp>
        <p:nvSpPr>
          <p:cNvPr id="87084" name="Oval 44"/>
          <p:cNvSpPr>
            <a:spLocks noChangeArrowheads="1"/>
          </p:cNvSpPr>
          <p:nvPr/>
        </p:nvSpPr>
        <p:spPr bwMode="auto">
          <a:xfrm>
            <a:off x="8610600" y="144780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latin typeface="Arial" pitchFamily="34" charset="0"/>
              </a:rPr>
              <a:t>B</a:t>
            </a:r>
            <a:endParaRPr lang="en-GB" sz="1400">
              <a:latin typeface="Arial" pitchFamily="34" charset="0"/>
            </a:endParaRPr>
          </a:p>
        </p:txBody>
      </p:sp>
      <p:sp>
        <p:nvSpPr>
          <p:cNvPr id="87085" name="Oval 45"/>
          <p:cNvSpPr>
            <a:spLocks noChangeArrowheads="1"/>
          </p:cNvSpPr>
          <p:nvPr/>
        </p:nvSpPr>
        <p:spPr bwMode="auto">
          <a:xfrm>
            <a:off x="8001000" y="243840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latin typeface="Arial" pitchFamily="34" charset="0"/>
              </a:rPr>
              <a:t>PM</a:t>
            </a:r>
            <a:endParaRPr lang="en-GB" sz="1400">
              <a:latin typeface="Arial" pitchFamily="34" charset="0"/>
            </a:endParaRPr>
          </a:p>
        </p:txBody>
      </p:sp>
      <p:sp>
        <p:nvSpPr>
          <p:cNvPr id="87086" name="Oval 46"/>
          <p:cNvSpPr>
            <a:spLocks noChangeArrowheads="1"/>
          </p:cNvSpPr>
          <p:nvPr/>
        </p:nvSpPr>
        <p:spPr bwMode="auto">
          <a:xfrm>
            <a:off x="8305800" y="297180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latin typeface="Arial" pitchFamily="34" charset="0"/>
              </a:rPr>
              <a:t>T</a:t>
            </a:r>
            <a:endParaRPr lang="en-GB" sz="1400">
              <a:latin typeface="Arial" pitchFamily="34" charset="0"/>
            </a:endParaRPr>
          </a:p>
        </p:txBody>
      </p:sp>
      <p:sp>
        <p:nvSpPr>
          <p:cNvPr id="87087" name="Oval 47"/>
          <p:cNvSpPr>
            <a:spLocks noChangeArrowheads="1"/>
          </p:cNvSpPr>
          <p:nvPr/>
        </p:nvSpPr>
        <p:spPr bwMode="auto">
          <a:xfrm>
            <a:off x="8382000" y="3657600"/>
            <a:ext cx="304800" cy="304800"/>
          </a:xfrm>
          <a:prstGeom prst="ellipse">
            <a:avLst/>
          </a:prstGeom>
          <a:gradFill rotWithShape="0">
            <a:gsLst>
              <a:gs pos="0">
                <a:schemeClr val="bg1"/>
              </a:gs>
              <a:gs pos="100000">
                <a:srgbClr val="FFCCFF"/>
              </a:gs>
            </a:gsLst>
            <a:path path="shape">
              <a:fillToRect l="50000" t="50000" r="50000" b="50000"/>
            </a:path>
          </a:gradFill>
          <a:ln w="9525">
            <a:noFill/>
            <a:round/>
            <a:headEnd/>
            <a:tailEnd/>
          </a:ln>
          <a:effectLst/>
        </p:spPr>
        <p:txBody>
          <a:bodyPr wrap="none" anchor="ctr"/>
          <a:lstStyle/>
          <a:p>
            <a:pPr algn="ctr" eaLnBrk="1" hangingPunct="1"/>
            <a:r>
              <a:rPr lang="en-US" sz="1400">
                <a:latin typeface="Arial" pitchFamily="34" charset="0"/>
              </a:rPr>
              <a:t>U</a:t>
            </a:r>
            <a:endParaRPr lang="en-GB" sz="1400">
              <a:latin typeface="Arial" pitchFamily="34" charset="0"/>
            </a:endParaRPr>
          </a:p>
        </p:txBody>
      </p:sp>
      <p:sp>
        <p:nvSpPr>
          <p:cNvPr id="87088" name="Line 48"/>
          <p:cNvSpPr>
            <a:spLocks noChangeShapeType="1"/>
          </p:cNvSpPr>
          <p:nvPr/>
        </p:nvSpPr>
        <p:spPr bwMode="auto">
          <a:xfrm>
            <a:off x="5257800" y="6400800"/>
            <a:ext cx="3276600" cy="0"/>
          </a:xfrm>
          <a:prstGeom prst="line">
            <a:avLst/>
          </a:prstGeom>
          <a:noFill/>
          <a:ln w="9525">
            <a:solidFill>
              <a:schemeClr val="tx1"/>
            </a:solidFill>
            <a:round/>
            <a:headEnd/>
            <a:tailEnd type="triangle" w="med" len="med"/>
          </a:ln>
          <a:effectLst/>
        </p:spPr>
        <p:txBody>
          <a:bodyPr/>
          <a:lstStyle/>
          <a:p>
            <a:endParaRPr lang="fi-FI"/>
          </a:p>
        </p:txBody>
      </p:sp>
      <p:sp>
        <p:nvSpPr>
          <p:cNvPr id="87089" name="Rectangle 49"/>
          <p:cNvSpPr>
            <a:spLocks noChangeArrowheads="1"/>
          </p:cNvSpPr>
          <p:nvPr/>
        </p:nvSpPr>
        <p:spPr bwMode="auto">
          <a:xfrm>
            <a:off x="5181600" y="4724400"/>
            <a:ext cx="152400" cy="457200"/>
          </a:xfrm>
          <a:prstGeom prst="rect">
            <a:avLst/>
          </a:prstGeom>
          <a:solidFill>
            <a:schemeClr val="folHlink"/>
          </a:solidFill>
          <a:ln w="9525">
            <a:noFill/>
            <a:miter lim="800000"/>
            <a:headEnd/>
            <a:tailEnd/>
          </a:ln>
          <a:effectLst/>
        </p:spPr>
        <p:txBody>
          <a:bodyPr wrap="none" anchor="ctr"/>
          <a:lstStyle/>
          <a:p>
            <a:pPr algn="ctr" eaLnBrk="1" hangingPunct="1"/>
            <a:r>
              <a:rPr lang="en-US">
                <a:latin typeface="Arial" pitchFamily="34" charset="0"/>
              </a:rPr>
              <a:t>a</a:t>
            </a:r>
            <a:endParaRPr lang="en-GB">
              <a:latin typeface="Arial" pitchFamily="34" charset="0"/>
            </a:endParaRPr>
          </a:p>
        </p:txBody>
      </p:sp>
      <p:sp>
        <p:nvSpPr>
          <p:cNvPr id="87090" name="Rectangle 50"/>
          <p:cNvSpPr>
            <a:spLocks noChangeArrowheads="1"/>
          </p:cNvSpPr>
          <p:nvPr/>
        </p:nvSpPr>
        <p:spPr bwMode="auto">
          <a:xfrm>
            <a:off x="5181600" y="5257800"/>
            <a:ext cx="152400" cy="457200"/>
          </a:xfrm>
          <a:prstGeom prst="rect">
            <a:avLst/>
          </a:prstGeom>
          <a:solidFill>
            <a:schemeClr val="folHlink"/>
          </a:solidFill>
          <a:ln w="9525">
            <a:noFill/>
            <a:miter lim="800000"/>
            <a:headEnd/>
            <a:tailEnd/>
          </a:ln>
          <a:effectLst/>
        </p:spPr>
        <p:txBody>
          <a:bodyPr wrap="none" anchor="ctr"/>
          <a:lstStyle/>
          <a:p>
            <a:pPr algn="ctr" eaLnBrk="1" hangingPunct="1"/>
            <a:r>
              <a:rPr lang="en-US">
                <a:latin typeface="Arial" pitchFamily="34" charset="0"/>
              </a:rPr>
              <a:t>b</a:t>
            </a:r>
            <a:endParaRPr lang="en-GB">
              <a:latin typeface="Arial" pitchFamily="34" charset="0"/>
            </a:endParaRPr>
          </a:p>
        </p:txBody>
      </p:sp>
      <p:sp>
        <p:nvSpPr>
          <p:cNvPr id="87091" name="Rectangle 51"/>
          <p:cNvSpPr>
            <a:spLocks noChangeArrowheads="1"/>
          </p:cNvSpPr>
          <p:nvPr/>
        </p:nvSpPr>
        <p:spPr bwMode="auto">
          <a:xfrm>
            <a:off x="5181600" y="5791200"/>
            <a:ext cx="152400" cy="457200"/>
          </a:xfrm>
          <a:prstGeom prst="rect">
            <a:avLst/>
          </a:prstGeom>
          <a:solidFill>
            <a:schemeClr val="folHlink"/>
          </a:solidFill>
          <a:ln w="9525">
            <a:noFill/>
            <a:miter lim="800000"/>
            <a:headEnd/>
            <a:tailEnd/>
          </a:ln>
          <a:effectLst/>
        </p:spPr>
        <p:txBody>
          <a:bodyPr wrap="none" anchor="ctr"/>
          <a:lstStyle/>
          <a:p>
            <a:pPr algn="ctr" eaLnBrk="1" hangingPunct="1"/>
            <a:r>
              <a:rPr lang="en-US">
                <a:latin typeface="Arial" pitchFamily="34" charset="0"/>
              </a:rPr>
              <a:t>c</a:t>
            </a:r>
            <a:endParaRPr lang="en-GB">
              <a:latin typeface="Arial" pitchFamily="34" charset="0"/>
            </a:endParaRPr>
          </a:p>
        </p:txBody>
      </p:sp>
      <p:sp>
        <p:nvSpPr>
          <p:cNvPr id="87092" name="Text Box 52"/>
          <p:cNvSpPr txBox="1">
            <a:spLocks noChangeArrowheads="1"/>
          </p:cNvSpPr>
          <p:nvPr/>
        </p:nvSpPr>
        <p:spPr bwMode="auto">
          <a:xfrm>
            <a:off x="8077200" y="6172200"/>
            <a:ext cx="914400" cy="304800"/>
          </a:xfrm>
          <a:prstGeom prst="rect">
            <a:avLst/>
          </a:prstGeom>
          <a:noFill/>
          <a:ln w="9525">
            <a:noFill/>
            <a:miter lim="800000"/>
            <a:headEnd/>
            <a:tailEnd/>
          </a:ln>
          <a:effectLst/>
        </p:spPr>
        <p:txBody>
          <a:bodyPr>
            <a:spAutoFit/>
          </a:bodyPr>
          <a:lstStyle/>
          <a:p>
            <a:pPr eaLnBrk="1" hangingPunct="1">
              <a:spcBef>
                <a:spcPct val="50000"/>
              </a:spcBef>
            </a:pPr>
            <a:r>
              <a:rPr lang="en-US" sz="1400">
                <a:latin typeface="Arial" pitchFamily="34" charset="0"/>
              </a:rPr>
              <a:t>time</a:t>
            </a:r>
            <a:endParaRPr lang="en-GB" sz="1400">
              <a:latin typeface="Arial" pitchFamily="34" charset="0"/>
            </a:endParaRPr>
          </a:p>
        </p:txBody>
      </p:sp>
      <p:sp>
        <p:nvSpPr>
          <p:cNvPr id="87093" name="Rectangle 53"/>
          <p:cNvSpPr>
            <a:spLocks noChangeArrowheads="1"/>
          </p:cNvSpPr>
          <p:nvPr/>
        </p:nvSpPr>
        <p:spPr bwMode="auto">
          <a:xfrm>
            <a:off x="5334000" y="4495800"/>
            <a:ext cx="533400" cy="152400"/>
          </a:xfrm>
          <a:prstGeom prst="rect">
            <a:avLst/>
          </a:prstGeom>
          <a:solidFill>
            <a:schemeClr val="accent1"/>
          </a:solidFill>
          <a:ln w="9525">
            <a:noFill/>
            <a:miter lim="800000"/>
            <a:headEnd/>
            <a:tailEnd/>
          </a:ln>
          <a:effectLst/>
        </p:spPr>
        <p:txBody>
          <a:bodyPr wrap="none" anchor="ctr"/>
          <a:lstStyle/>
          <a:p>
            <a:pPr algn="ctr" eaLnBrk="1" hangingPunct="1"/>
            <a:r>
              <a:rPr lang="en-US" sz="1400">
                <a:latin typeface="Arial" pitchFamily="34" charset="0"/>
              </a:rPr>
              <a:t>1</a:t>
            </a:r>
            <a:endParaRPr lang="en-GB" sz="1400">
              <a:latin typeface="Arial" pitchFamily="34" charset="0"/>
            </a:endParaRPr>
          </a:p>
        </p:txBody>
      </p:sp>
      <p:sp>
        <p:nvSpPr>
          <p:cNvPr id="87094" name="Rectangle 54"/>
          <p:cNvSpPr>
            <a:spLocks noChangeArrowheads="1"/>
          </p:cNvSpPr>
          <p:nvPr/>
        </p:nvSpPr>
        <p:spPr bwMode="auto">
          <a:xfrm>
            <a:off x="5943600" y="4495800"/>
            <a:ext cx="533400" cy="152400"/>
          </a:xfrm>
          <a:prstGeom prst="rect">
            <a:avLst/>
          </a:prstGeom>
          <a:solidFill>
            <a:schemeClr val="accent1"/>
          </a:solidFill>
          <a:ln w="9525">
            <a:noFill/>
            <a:miter lim="800000"/>
            <a:headEnd/>
            <a:tailEnd/>
          </a:ln>
          <a:effectLst/>
        </p:spPr>
        <p:txBody>
          <a:bodyPr wrap="none" anchor="ctr"/>
          <a:lstStyle/>
          <a:p>
            <a:pPr algn="ctr" eaLnBrk="1" hangingPunct="1"/>
            <a:r>
              <a:rPr lang="en-US" sz="1400">
                <a:latin typeface="Arial" pitchFamily="34" charset="0"/>
              </a:rPr>
              <a:t>2</a:t>
            </a:r>
            <a:endParaRPr lang="en-GB" sz="1400">
              <a:latin typeface="Arial" pitchFamily="34" charset="0"/>
            </a:endParaRPr>
          </a:p>
        </p:txBody>
      </p:sp>
      <p:sp>
        <p:nvSpPr>
          <p:cNvPr id="87095" name="Rectangle 55"/>
          <p:cNvSpPr>
            <a:spLocks noChangeArrowheads="1"/>
          </p:cNvSpPr>
          <p:nvPr/>
        </p:nvSpPr>
        <p:spPr bwMode="auto">
          <a:xfrm>
            <a:off x="6629400" y="4495800"/>
            <a:ext cx="533400" cy="152400"/>
          </a:xfrm>
          <a:prstGeom prst="rect">
            <a:avLst/>
          </a:prstGeom>
          <a:solidFill>
            <a:schemeClr val="accent1"/>
          </a:solidFill>
          <a:ln w="9525">
            <a:noFill/>
            <a:miter lim="800000"/>
            <a:headEnd/>
            <a:tailEnd/>
          </a:ln>
          <a:effectLst/>
        </p:spPr>
        <p:txBody>
          <a:bodyPr wrap="none" anchor="ctr"/>
          <a:lstStyle/>
          <a:p>
            <a:pPr algn="ctr" eaLnBrk="1" hangingPunct="1"/>
            <a:r>
              <a:rPr lang="en-US" sz="1400">
                <a:latin typeface="Arial" pitchFamily="34" charset="0"/>
              </a:rPr>
              <a:t>3</a:t>
            </a:r>
            <a:endParaRPr lang="en-GB" sz="1400">
              <a:latin typeface="Arial" pitchFamily="34" charset="0"/>
            </a:endParaRPr>
          </a:p>
        </p:txBody>
      </p:sp>
      <p:sp>
        <p:nvSpPr>
          <p:cNvPr id="87096" name="Rectangle 56"/>
          <p:cNvSpPr>
            <a:spLocks noChangeArrowheads="1"/>
          </p:cNvSpPr>
          <p:nvPr/>
        </p:nvSpPr>
        <p:spPr bwMode="auto">
          <a:xfrm>
            <a:off x="7315200" y="4495800"/>
            <a:ext cx="533400" cy="152400"/>
          </a:xfrm>
          <a:prstGeom prst="rect">
            <a:avLst/>
          </a:prstGeom>
          <a:solidFill>
            <a:schemeClr val="accent1"/>
          </a:solidFill>
          <a:ln w="9525">
            <a:noFill/>
            <a:miter lim="800000"/>
            <a:headEnd/>
            <a:tailEnd/>
          </a:ln>
          <a:effectLst/>
        </p:spPr>
        <p:txBody>
          <a:bodyPr wrap="none" anchor="ctr"/>
          <a:lstStyle/>
          <a:p>
            <a:pPr algn="ctr" eaLnBrk="1" hangingPunct="1"/>
            <a:r>
              <a:rPr lang="en-US" sz="1400">
                <a:latin typeface="Arial" pitchFamily="34" charset="0"/>
              </a:rPr>
              <a:t>4</a:t>
            </a:r>
            <a:endParaRPr lang="en-GB" sz="1400">
              <a:latin typeface="Arial" pitchFamily="34" charset="0"/>
            </a:endParaRPr>
          </a:p>
        </p:txBody>
      </p:sp>
      <p:sp>
        <p:nvSpPr>
          <p:cNvPr id="87097" name="Rectangle 57"/>
          <p:cNvSpPr>
            <a:spLocks noChangeArrowheads="1"/>
          </p:cNvSpPr>
          <p:nvPr/>
        </p:nvSpPr>
        <p:spPr bwMode="auto">
          <a:xfrm>
            <a:off x="8001000" y="4495800"/>
            <a:ext cx="533400" cy="152400"/>
          </a:xfrm>
          <a:prstGeom prst="rect">
            <a:avLst/>
          </a:prstGeom>
          <a:solidFill>
            <a:schemeClr val="accent1"/>
          </a:solidFill>
          <a:ln w="9525">
            <a:noFill/>
            <a:miter lim="800000"/>
            <a:headEnd/>
            <a:tailEnd/>
          </a:ln>
          <a:effectLst/>
        </p:spPr>
        <p:txBody>
          <a:bodyPr wrap="none" anchor="ctr"/>
          <a:lstStyle/>
          <a:p>
            <a:pPr algn="ctr" eaLnBrk="1" hangingPunct="1"/>
            <a:r>
              <a:rPr lang="en-US" sz="1400">
                <a:latin typeface="Arial" pitchFamily="34" charset="0"/>
              </a:rPr>
              <a:t>5</a:t>
            </a:r>
            <a:endParaRPr lang="en-GB" sz="1400">
              <a:latin typeface="Arial" pitchFamily="34" charset="0"/>
            </a:endParaRPr>
          </a:p>
        </p:txBody>
      </p:sp>
      <p:sp>
        <p:nvSpPr>
          <p:cNvPr id="87098" name="Text Box 58"/>
          <p:cNvSpPr txBox="1">
            <a:spLocks noChangeArrowheads="1"/>
          </p:cNvSpPr>
          <p:nvPr/>
        </p:nvSpPr>
        <p:spPr bwMode="auto">
          <a:xfrm>
            <a:off x="5334000" y="4724400"/>
            <a:ext cx="533400" cy="366713"/>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x</a:t>
            </a:r>
            <a:endParaRPr lang="en-GB" sz="1800" b="1">
              <a:latin typeface="Arial" pitchFamily="34" charset="0"/>
            </a:endParaRPr>
          </a:p>
        </p:txBody>
      </p:sp>
      <p:sp>
        <p:nvSpPr>
          <p:cNvPr id="87099" name="Text Box 59"/>
          <p:cNvSpPr txBox="1">
            <a:spLocks noChangeArrowheads="1"/>
          </p:cNvSpPr>
          <p:nvPr/>
        </p:nvSpPr>
        <p:spPr bwMode="auto">
          <a:xfrm>
            <a:off x="8001000" y="4724400"/>
            <a:ext cx="533400" cy="366713"/>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x</a:t>
            </a:r>
            <a:endParaRPr lang="en-GB" sz="1800" b="1">
              <a:latin typeface="Arial" pitchFamily="34" charset="0"/>
            </a:endParaRPr>
          </a:p>
        </p:txBody>
      </p:sp>
      <p:sp>
        <p:nvSpPr>
          <p:cNvPr id="87100" name="Text Box 60"/>
          <p:cNvSpPr txBox="1">
            <a:spLocks noChangeArrowheads="1"/>
          </p:cNvSpPr>
          <p:nvPr/>
        </p:nvSpPr>
        <p:spPr bwMode="auto">
          <a:xfrm>
            <a:off x="5943600" y="5272088"/>
            <a:ext cx="533400" cy="366712"/>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x</a:t>
            </a:r>
            <a:endParaRPr lang="en-GB" sz="1800" b="1">
              <a:latin typeface="Arial" pitchFamily="34" charset="0"/>
            </a:endParaRPr>
          </a:p>
        </p:txBody>
      </p:sp>
      <p:sp>
        <p:nvSpPr>
          <p:cNvPr id="87101" name="Text Box 61"/>
          <p:cNvSpPr txBox="1">
            <a:spLocks noChangeArrowheads="1"/>
          </p:cNvSpPr>
          <p:nvPr/>
        </p:nvSpPr>
        <p:spPr bwMode="auto">
          <a:xfrm>
            <a:off x="6629400" y="5867400"/>
            <a:ext cx="533400" cy="366713"/>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x</a:t>
            </a:r>
            <a:endParaRPr lang="en-GB" sz="1800" b="1">
              <a:latin typeface="Arial" pitchFamily="34" charset="0"/>
            </a:endParaRPr>
          </a:p>
        </p:txBody>
      </p:sp>
      <p:sp>
        <p:nvSpPr>
          <p:cNvPr id="87102" name="Text Box 62"/>
          <p:cNvSpPr txBox="1">
            <a:spLocks noChangeArrowheads="1"/>
          </p:cNvSpPr>
          <p:nvPr/>
        </p:nvSpPr>
        <p:spPr bwMode="auto">
          <a:xfrm>
            <a:off x="7315200" y="5881688"/>
            <a:ext cx="533400" cy="366712"/>
          </a:xfrm>
          <a:prstGeom prst="rect">
            <a:avLst/>
          </a:prstGeom>
          <a:noFill/>
          <a:ln w="9525">
            <a:noFill/>
            <a:miter lim="800000"/>
            <a:headEnd/>
            <a:tailEnd/>
          </a:ln>
          <a:effectLst/>
        </p:spPr>
        <p:txBody>
          <a:bodyPr>
            <a:spAutoFit/>
          </a:bodyPr>
          <a:lstStyle/>
          <a:p>
            <a:pPr algn="ctr" eaLnBrk="1" hangingPunct="1">
              <a:spcBef>
                <a:spcPct val="50000"/>
              </a:spcBef>
            </a:pPr>
            <a:r>
              <a:rPr lang="en-US" sz="1800" b="1">
                <a:latin typeface="Arial" pitchFamily="34" charset="0"/>
              </a:rPr>
              <a:t>x</a:t>
            </a:r>
            <a:endParaRPr lang="en-GB" sz="1800" b="1">
              <a:latin typeface="Arial" pitchFamily="34" charset="0"/>
            </a:endParaRPr>
          </a:p>
        </p:txBody>
      </p:sp>
      <p:sp>
        <p:nvSpPr>
          <p:cNvPr id="87103" name="Line 63"/>
          <p:cNvSpPr>
            <a:spLocks noChangeShapeType="1"/>
          </p:cNvSpPr>
          <p:nvPr/>
        </p:nvSpPr>
        <p:spPr bwMode="auto">
          <a:xfrm>
            <a:off x="7924800" y="4495800"/>
            <a:ext cx="0" cy="1905000"/>
          </a:xfrm>
          <a:prstGeom prst="line">
            <a:avLst/>
          </a:prstGeom>
          <a:noFill/>
          <a:ln w="9525" cap="rnd">
            <a:solidFill>
              <a:schemeClr val="tx1"/>
            </a:solidFill>
            <a:prstDash val="sysDot"/>
            <a:round/>
            <a:headEnd/>
            <a:tailEnd/>
          </a:ln>
          <a:effectLst/>
        </p:spPr>
        <p:txBody>
          <a:bodyPr/>
          <a:lstStyle/>
          <a:p>
            <a:endParaRPr lang="fi-FI"/>
          </a:p>
        </p:txBody>
      </p:sp>
      <p:sp>
        <p:nvSpPr>
          <p:cNvPr id="87104" name="Line 64"/>
          <p:cNvSpPr>
            <a:spLocks noChangeShapeType="1"/>
          </p:cNvSpPr>
          <p:nvPr/>
        </p:nvSpPr>
        <p:spPr bwMode="auto">
          <a:xfrm>
            <a:off x="7239000" y="4495800"/>
            <a:ext cx="0" cy="1905000"/>
          </a:xfrm>
          <a:prstGeom prst="line">
            <a:avLst/>
          </a:prstGeom>
          <a:noFill/>
          <a:ln w="9525" cap="rnd">
            <a:solidFill>
              <a:schemeClr val="tx1"/>
            </a:solidFill>
            <a:prstDash val="sysDot"/>
            <a:round/>
            <a:headEnd/>
            <a:tailEnd/>
          </a:ln>
          <a:effectLst/>
        </p:spPr>
        <p:txBody>
          <a:bodyPr/>
          <a:lstStyle/>
          <a:p>
            <a:endParaRPr lang="fi-FI"/>
          </a:p>
        </p:txBody>
      </p:sp>
      <p:sp>
        <p:nvSpPr>
          <p:cNvPr id="87105" name="Line 65"/>
          <p:cNvSpPr>
            <a:spLocks noChangeShapeType="1"/>
          </p:cNvSpPr>
          <p:nvPr/>
        </p:nvSpPr>
        <p:spPr bwMode="auto">
          <a:xfrm>
            <a:off x="6553200" y="4495800"/>
            <a:ext cx="0" cy="1905000"/>
          </a:xfrm>
          <a:prstGeom prst="line">
            <a:avLst/>
          </a:prstGeom>
          <a:noFill/>
          <a:ln w="9525" cap="rnd">
            <a:solidFill>
              <a:schemeClr val="tx1"/>
            </a:solidFill>
            <a:prstDash val="sysDot"/>
            <a:round/>
            <a:headEnd/>
            <a:tailEnd/>
          </a:ln>
          <a:effectLst/>
        </p:spPr>
        <p:txBody>
          <a:bodyPr/>
          <a:lstStyle/>
          <a:p>
            <a:endParaRPr lang="fi-FI"/>
          </a:p>
        </p:txBody>
      </p:sp>
      <p:grpSp>
        <p:nvGrpSpPr>
          <p:cNvPr id="6" name="Group 69"/>
          <p:cNvGrpSpPr>
            <a:grpSpLocks/>
          </p:cNvGrpSpPr>
          <p:nvPr/>
        </p:nvGrpSpPr>
        <p:grpSpPr bwMode="auto">
          <a:xfrm>
            <a:off x="3429000" y="4495800"/>
            <a:ext cx="1447800" cy="1476375"/>
            <a:chOff x="624" y="2976"/>
            <a:chExt cx="816" cy="930"/>
          </a:xfrm>
        </p:grpSpPr>
        <p:grpSp>
          <p:nvGrpSpPr>
            <p:cNvPr id="7" name="Group 70"/>
            <p:cNvGrpSpPr>
              <a:grpSpLocks/>
            </p:cNvGrpSpPr>
            <p:nvPr/>
          </p:nvGrpSpPr>
          <p:grpSpPr bwMode="auto">
            <a:xfrm>
              <a:off x="768" y="2976"/>
              <a:ext cx="528" cy="336"/>
              <a:chOff x="768" y="2976"/>
              <a:chExt cx="816" cy="528"/>
            </a:xfrm>
          </p:grpSpPr>
          <p:sp>
            <p:nvSpPr>
              <p:cNvPr id="87111" name="Rectangle 71"/>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fi-FI"/>
              </a:p>
            </p:txBody>
          </p:sp>
          <p:sp>
            <p:nvSpPr>
              <p:cNvPr id="87112" name="Line 72"/>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fi-FI"/>
              </a:p>
            </p:txBody>
          </p:sp>
          <p:sp>
            <p:nvSpPr>
              <p:cNvPr id="87113" name="Rectangle 73"/>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fi-FI"/>
              </a:p>
            </p:txBody>
          </p:sp>
          <p:sp>
            <p:nvSpPr>
              <p:cNvPr id="87114" name="Line 74"/>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fi-FI"/>
              </a:p>
            </p:txBody>
          </p:sp>
          <p:sp>
            <p:nvSpPr>
              <p:cNvPr id="87115" name="Rectangle 75"/>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fi-FI"/>
              </a:p>
            </p:txBody>
          </p:sp>
          <p:sp>
            <p:nvSpPr>
              <p:cNvPr id="87116" name="Line 76"/>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fi-FI"/>
              </a:p>
            </p:txBody>
          </p:sp>
          <p:sp>
            <p:nvSpPr>
              <p:cNvPr id="87117" name="Rectangle 77"/>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fi-FI"/>
              </a:p>
            </p:txBody>
          </p:sp>
          <p:sp>
            <p:nvSpPr>
              <p:cNvPr id="87118" name="Line 78"/>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fi-FI"/>
              </a:p>
            </p:txBody>
          </p:sp>
          <p:sp>
            <p:nvSpPr>
              <p:cNvPr id="87119" name="Line 79"/>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fi-FI"/>
              </a:p>
            </p:txBody>
          </p:sp>
          <p:sp>
            <p:nvSpPr>
              <p:cNvPr id="87120" name="Line 80"/>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fi-FI"/>
              </a:p>
            </p:txBody>
          </p:sp>
        </p:grpSp>
        <p:sp>
          <p:nvSpPr>
            <p:cNvPr id="87121" name="Text Box 81"/>
            <p:cNvSpPr txBox="1">
              <a:spLocks noChangeArrowheads="1"/>
            </p:cNvSpPr>
            <p:nvPr/>
          </p:nvSpPr>
          <p:spPr bwMode="auto">
            <a:xfrm>
              <a:off x="624" y="3312"/>
              <a:ext cx="816" cy="594"/>
            </a:xfrm>
            <a:prstGeom prst="rect">
              <a:avLst/>
            </a:prstGeom>
            <a:noFill/>
            <a:ln w="9525">
              <a:noFill/>
              <a:miter lim="800000"/>
              <a:headEnd/>
              <a:tailEnd/>
            </a:ln>
            <a:effectLst/>
          </p:spPr>
          <p:txBody>
            <a:bodyPr>
              <a:spAutoFit/>
            </a:bodyPr>
            <a:lstStyle/>
            <a:p>
              <a:pPr algn="ctr" eaLnBrk="1" hangingPunct="1">
                <a:spcBef>
                  <a:spcPct val="50000"/>
                </a:spcBef>
              </a:pPr>
              <a:r>
                <a:rPr lang="en-US" sz="1400">
                  <a:latin typeface="Trebuchet MS" pitchFamily="34" charset="0"/>
                </a:rPr>
                <a:t>REQS</a:t>
              </a:r>
              <a:br>
                <a:rPr lang="en-US" sz="1400">
                  <a:latin typeface="Trebuchet MS" pitchFamily="34" charset="0"/>
                </a:rPr>
              </a:br>
              <a:r>
                <a:rPr lang="en-US" sz="1400">
                  <a:latin typeface="Trebuchet MS" pitchFamily="34" charset="0"/>
                </a:rPr>
                <a:t>RISKS</a:t>
              </a:r>
              <a:br>
                <a:rPr lang="en-US" sz="1400">
                  <a:latin typeface="Trebuchet MS" pitchFamily="34" charset="0"/>
                </a:rPr>
              </a:br>
              <a:r>
                <a:rPr lang="en-US" sz="1400">
                  <a:latin typeface="Trebuchet MS" pitchFamily="34" charset="0"/>
                </a:rPr>
                <a:t>CODE</a:t>
              </a:r>
              <a:br>
                <a:rPr lang="en-US" sz="1400">
                  <a:latin typeface="Trebuchet MS" pitchFamily="34" charset="0"/>
                </a:rPr>
              </a:br>
              <a:r>
                <a:rPr lang="en-US" sz="1400">
                  <a:latin typeface="Trebuchet MS" pitchFamily="34" charset="0"/>
                </a:rPr>
                <a:t>ENVIRONMENTS</a:t>
              </a:r>
              <a:endParaRPr lang="en-GB" sz="1400">
                <a:latin typeface="Trebuchet MS" pitchFamily="34" charset="0"/>
              </a:endParaRPr>
            </a:p>
          </p:txBody>
        </p:sp>
      </p:grpSp>
      <p:sp>
        <p:nvSpPr>
          <p:cNvPr id="79" name="Slide Number Placeholder 78"/>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Syötteet, aineistot, muuttujat ja tulokset</a:t>
            </a:r>
            <a:endParaRPr lang="fi-FI" dirty="0"/>
          </a:p>
        </p:txBody>
      </p:sp>
      <p:sp>
        <p:nvSpPr>
          <p:cNvPr id="6" name="Rectangle 5"/>
          <p:cNvSpPr/>
          <p:nvPr/>
        </p:nvSpPr>
        <p:spPr>
          <a:xfrm>
            <a:off x="4228981" y="1905000"/>
            <a:ext cx="1676400" cy="47244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i-FI" sz="2400" dirty="0" smtClean="0"/>
              <a:t>Testauksen kohde</a:t>
            </a:r>
            <a:endParaRPr lang="fi-FI" sz="2400" dirty="0"/>
          </a:p>
        </p:txBody>
      </p:sp>
      <p:sp>
        <p:nvSpPr>
          <p:cNvPr id="7" name="Right Arrow 6"/>
          <p:cNvSpPr/>
          <p:nvPr/>
        </p:nvSpPr>
        <p:spPr>
          <a:xfrm>
            <a:off x="2933581" y="1905000"/>
            <a:ext cx="1219200" cy="10955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Syöte</a:t>
            </a:r>
            <a:endParaRPr lang="fi-FI" dirty="0"/>
          </a:p>
        </p:txBody>
      </p:sp>
      <p:sp>
        <p:nvSpPr>
          <p:cNvPr id="8" name="Right Arrow 7"/>
          <p:cNvSpPr/>
          <p:nvPr/>
        </p:nvSpPr>
        <p:spPr>
          <a:xfrm>
            <a:off x="2933581" y="3068983"/>
            <a:ext cx="1219200" cy="10955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Aineis-to</a:t>
            </a:r>
            <a:endParaRPr lang="fi-FI" dirty="0"/>
          </a:p>
        </p:txBody>
      </p:sp>
      <p:sp>
        <p:nvSpPr>
          <p:cNvPr id="9" name="Right Arrow 8"/>
          <p:cNvSpPr/>
          <p:nvPr/>
        </p:nvSpPr>
        <p:spPr>
          <a:xfrm>
            <a:off x="2933581" y="4232965"/>
            <a:ext cx="1219200" cy="10955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Ympä-ristö</a:t>
            </a:r>
            <a:endParaRPr lang="fi-FI" dirty="0"/>
          </a:p>
        </p:txBody>
      </p:sp>
      <p:sp>
        <p:nvSpPr>
          <p:cNvPr id="10" name="Right Arrow 9"/>
          <p:cNvSpPr/>
          <p:nvPr/>
        </p:nvSpPr>
        <p:spPr>
          <a:xfrm>
            <a:off x="2933581" y="5396948"/>
            <a:ext cx="1219200" cy="10955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Tila</a:t>
            </a:r>
            <a:endParaRPr lang="fi-FI" dirty="0"/>
          </a:p>
        </p:txBody>
      </p:sp>
      <p:sp>
        <p:nvSpPr>
          <p:cNvPr id="11" name="Right Arrow 10"/>
          <p:cNvSpPr/>
          <p:nvPr/>
        </p:nvSpPr>
        <p:spPr>
          <a:xfrm>
            <a:off x="6057781" y="1905000"/>
            <a:ext cx="1219200" cy="109551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Syöte</a:t>
            </a:r>
            <a:endParaRPr lang="fi-FI" dirty="0"/>
          </a:p>
        </p:txBody>
      </p:sp>
      <p:sp>
        <p:nvSpPr>
          <p:cNvPr id="12" name="Right Arrow 11"/>
          <p:cNvSpPr/>
          <p:nvPr/>
        </p:nvSpPr>
        <p:spPr>
          <a:xfrm>
            <a:off x="6057781" y="3068983"/>
            <a:ext cx="1219200" cy="109551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Aineis-to</a:t>
            </a:r>
            <a:endParaRPr lang="fi-FI" dirty="0"/>
          </a:p>
        </p:txBody>
      </p:sp>
      <p:sp>
        <p:nvSpPr>
          <p:cNvPr id="13" name="Right Arrow 12"/>
          <p:cNvSpPr/>
          <p:nvPr/>
        </p:nvSpPr>
        <p:spPr>
          <a:xfrm>
            <a:off x="6057781" y="4232965"/>
            <a:ext cx="1219200" cy="109551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Ympä-ristö</a:t>
            </a:r>
            <a:endParaRPr lang="fi-FI" dirty="0"/>
          </a:p>
        </p:txBody>
      </p:sp>
      <p:sp>
        <p:nvSpPr>
          <p:cNvPr id="14" name="Right Arrow 13"/>
          <p:cNvSpPr/>
          <p:nvPr/>
        </p:nvSpPr>
        <p:spPr>
          <a:xfrm>
            <a:off x="6057781" y="5396948"/>
            <a:ext cx="1219200" cy="1095513"/>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i-FI" dirty="0" smtClean="0"/>
              <a:t>Tila</a:t>
            </a:r>
            <a:endParaRPr lang="fi-FI" dirty="0"/>
          </a:p>
        </p:txBody>
      </p:sp>
      <p:sp>
        <p:nvSpPr>
          <p:cNvPr id="16" name="TextBox 15"/>
          <p:cNvSpPr txBox="1"/>
          <p:nvPr/>
        </p:nvSpPr>
        <p:spPr>
          <a:xfrm>
            <a:off x="342781" y="2133600"/>
            <a:ext cx="2438400" cy="646331"/>
          </a:xfrm>
          <a:prstGeom prst="rect">
            <a:avLst/>
          </a:prstGeom>
          <a:noFill/>
        </p:spPr>
        <p:txBody>
          <a:bodyPr wrap="square" rtlCol="0">
            <a:spAutoFit/>
          </a:bodyPr>
          <a:lstStyle/>
          <a:p>
            <a:r>
              <a:rPr lang="fi-FI" dirty="0" smtClean="0"/>
              <a:t>Näkyvä muunneltava arvo, esim. hetu</a:t>
            </a:r>
            <a:endParaRPr lang="fi-FI" dirty="0"/>
          </a:p>
        </p:txBody>
      </p:sp>
      <p:sp>
        <p:nvSpPr>
          <p:cNvPr id="17" name="TextBox 16"/>
          <p:cNvSpPr txBox="1"/>
          <p:nvPr/>
        </p:nvSpPr>
        <p:spPr>
          <a:xfrm>
            <a:off x="342781" y="3048000"/>
            <a:ext cx="2590800" cy="1200329"/>
          </a:xfrm>
          <a:prstGeom prst="rect">
            <a:avLst/>
          </a:prstGeom>
          <a:noFill/>
        </p:spPr>
        <p:txBody>
          <a:bodyPr wrap="square" rtlCol="0">
            <a:spAutoFit/>
          </a:bodyPr>
          <a:lstStyle/>
          <a:p>
            <a:r>
              <a:rPr lang="fi-FI" dirty="0" smtClean="0"/>
              <a:t>Taustalla olevat tiedot, joilla merkitys toiminnan kululle, esim. työhistoria hetulle</a:t>
            </a:r>
            <a:endParaRPr lang="fi-FI" dirty="0"/>
          </a:p>
        </p:txBody>
      </p:sp>
      <p:sp>
        <p:nvSpPr>
          <p:cNvPr id="18" name="TextBox 17"/>
          <p:cNvSpPr txBox="1"/>
          <p:nvPr/>
        </p:nvSpPr>
        <p:spPr>
          <a:xfrm>
            <a:off x="342781" y="4343400"/>
            <a:ext cx="2590800" cy="923330"/>
          </a:xfrm>
          <a:prstGeom prst="rect">
            <a:avLst/>
          </a:prstGeom>
          <a:noFill/>
        </p:spPr>
        <p:txBody>
          <a:bodyPr wrap="square" rtlCol="0">
            <a:spAutoFit/>
          </a:bodyPr>
          <a:lstStyle/>
          <a:p>
            <a:r>
              <a:rPr lang="fi-FI" dirty="0" smtClean="0"/>
              <a:t>Ympäristötekijät jotka vaikuttavat toiminnal-lisuuteen</a:t>
            </a:r>
            <a:endParaRPr lang="fi-FI" dirty="0"/>
          </a:p>
        </p:txBody>
      </p:sp>
      <p:sp>
        <p:nvSpPr>
          <p:cNvPr id="19" name="TextBox 18"/>
          <p:cNvSpPr txBox="1"/>
          <p:nvPr/>
        </p:nvSpPr>
        <p:spPr>
          <a:xfrm>
            <a:off x="342781" y="5477470"/>
            <a:ext cx="2590800" cy="923330"/>
          </a:xfrm>
          <a:prstGeom prst="rect">
            <a:avLst/>
          </a:prstGeom>
          <a:noFill/>
        </p:spPr>
        <p:txBody>
          <a:bodyPr wrap="square" rtlCol="0">
            <a:spAutoFit/>
          </a:bodyPr>
          <a:lstStyle/>
          <a:p>
            <a:r>
              <a:rPr lang="fi-FI" dirty="0" smtClean="0"/>
              <a:t>Ohjelman sisäinen tila joka vaikuttaa tulevaan toiminnallisuuteen</a:t>
            </a:r>
            <a:endParaRPr lang="fi-FI" dirty="0"/>
          </a:p>
        </p:txBody>
      </p:sp>
      <p:sp>
        <p:nvSpPr>
          <p:cNvPr id="20" name="TextBox 19"/>
          <p:cNvSpPr txBox="1"/>
          <p:nvPr/>
        </p:nvSpPr>
        <p:spPr>
          <a:xfrm rot="5400000">
            <a:off x="6076146" y="3637748"/>
            <a:ext cx="4114800" cy="954107"/>
          </a:xfrm>
          <a:prstGeom prst="rect">
            <a:avLst/>
          </a:prstGeom>
          <a:noFill/>
        </p:spPr>
        <p:txBody>
          <a:bodyPr wrap="square" rtlCol="0">
            <a:spAutoFit/>
          </a:bodyPr>
          <a:lstStyle/>
          <a:p>
            <a:pPr algn="ctr"/>
            <a:r>
              <a:rPr lang="fi-FI" sz="2800" b="1" dirty="0" smtClean="0"/>
              <a:t>MONIULOTTEINEN TARKASTELU TULOKSILLE</a:t>
            </a:r>
            <a:endParaRPr lang="fi-FI" sz="2800" b="1" dirty="0"/>
          </a:p>
        </p:txBody>
      </p:sp>
      <p:sp>
        <p:nvSpPr>
          <p:cNvPr id="21" name="Slide Number Placeholder 20"/>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p:txBody>
          <a:bodyPr>
            <a:normAutofit/>
          </a:bodyPr>
          <a:lstStyle/>
          <a:p>
            <a:r>
              <a:rPr lang="fi-FI" dirty="0" smtClean="0"/>
              <a:t>Testiympäristö </a:t>
            </a:r>
            <a:endParaRPr lang="en-US" dirty="0"/>
          </a:p>
        </p:txBody>
      </p:sp>
      <p:sp>
        <p:nvSpPr>
          <p:cNvPr id="7173" name="Text Box 5"/>
          <p:cNvSpPr txBox="1">
            <a:spLocks noChangeArrowheads="1"/>
          </p:cNvSpPr>
          <p:nvPr/>
        </p:nvSpPr>
        <p:spPr bwMode="auto">
          <a:xfrm>
            <a:off x="6732588" y="188913"/>
            <a:ext cx="2159000" cy="1569660"/>
          </a:xfrm>
          <a:prstGeom prst="rect">
            <a:avLst/>
          </a:prstGeom>
          <a:ln>
            <a:headEnd/>
            <a:tailEnd/>
          </a:ln>
        </p:spPr>
        <p:style>
          <a:lnRef idx="3">
            <a:schemeClr val="lt1"/>
          </a:lnRef>
          <a:fillRef idx="1">
            <a:schemeClr val="accent6"/>
          </a:fillRef>
          <a:effectRef idx="1">
            <a:schemeClr val="accent6"/>
          </a:effectRef>
          <a:fontRef idx="minor">
            <a:schemeClr val="lt1"/>
          </a:fontRef>
        </p:style>
        <p:txBody>
          <a:bodyPr wrap="square">
            <a:spAutoFit/>
          </a:bodyPr>
          <a:lstStyle/>
          <a:p>
            <a:pPr algn="ctr">
              <a:spcBef>
                <a:spcPct val="50000"/>
              </a:spcBef>
            </a:pPr>
            <a:r>
              <a:rPr lang="fi-FI" sz="1600" dirty="0"/>
              <a:t>Testiympäristö koostuu kaikista osista, joita testaaja tarvitsee testauksen </a:t>
            </a:r>
            <a:r>
              <a:rPr lang="fi-FI" sz="1600" dirty="0" smtClean="0"/>
              <a:t>tekemiseen ja joita käyttäjä voi varioida</a:t>
            </a:r>
            <a:endParaRPr lang="en-US" sz="1600" dirty="0"/>
          </a:p>
        </p:txBody>
      </p:sp>
      <p:sp>
        <p:nvSpPr>
          <p:cNvPr id="7174" name="Rectangle 6"/>
          <p:cNvSpPr>
            <a:spLocks noChangeArrowheads="1"/>
          </p:cNvSpPr>
          <p:nvPr/>
        </p:nvSpPr>
        <p:spPr bwMode="auto">
          <a:xfrm>
            <a:off x="684213" y="1341438"/>
            <a:ext cx="1439862" cy="3311525"/>
          </a:xfrm>
          <a:prstGeom prst="rect">
            <a:avLst/>
          </a:prstGeom>
          <a:solidFill>
            <a:schemeClr val="accent1"/>
          </a:solidFill>
          <a:ln w="9525" algn="ctr">
            <a:solidFill>
              <a:schemeClr val="tx1"/>
            </a:solidFill>
            <a:miter lim="800000"/>
            <a:headEnd/>
            <a:tailEnd/>
          </a:ln>
          <a:effectLst/>
        </p:spPr>
        <p:txBody>
          <a:bodyPr/>
          <a:lstStyle/>
          <a:p>
            <a:r>
              <a:rPr lang="fi-FI"/>
              <a:t>Oma työasema</a:t>
            </a:r>
            <a:endParaRPr lang="en-US"/>
          </a:p>
        </p:txBody>
      </p:sp>
      <p:sp>
        <p:nvSpPr>
          <p:cNvPr id="7175" name="Rectangle 7"/>
          <p:cNvSpPr>
            <a:spLocks noChangeArrowheads="1"/>
          </p:cNvSpPr>
          <p:nvPr/>
        </p:nvSpPr>
        <p:spPr bwMode="auto">
          <a:xfrm>
            <a:off x="755650" y="2060575"/>
            <a:ext cx="1295400" cy="503238"/>
          </a:xfrm>
          <a:prstGeom prst="rect">
            <a:avLst/>
          </a:prstGeom>
          <a:solidFill>
            <a:schemeClr val="bg1"/>
          </a:solidFill>
          <a:ln w="38100" algn="ctr">
            <a:solidFill>
              <a:srgbClr val="FF9900"/>
            </a:solidFill>
            <a:miter lim="800000"/>
            <a:headEnd/>
            <a:tailEnd/>
          </a:ln>
          <a:effectLst/>
        </p:spPr>
        <p:txBody>
          <a:bodyPr anchor="ctr"/>
          <a:lstStyle/>
          <a:p>
            <a:r>
              <a:rPr lang="fi-FI" sz="1200"/>
              <a:t>Web-käyttöliittymä</a:t>
            </a:r>
            <a:endParaRPr lang="en-US" sz="1200"/>
          </a:p>
        </p:txBody>
      </p:sp>
      <p:sp>
        <p:nvSpPr>
          <p:cNvPr id="7176" name="Rectangle 8"/>
          <p:cNvSpPr>
            <a:spLocks noChangeArrowheads="1"/>
          </p:cNvSpPr>
          <p:nvPr/>
        </p:nvSpPr>
        <p:spPr bwMode="auto">
          <a:xfrm>
            <a:off x="755650" y="3933825"/>
            <a:ext cx="1295400" cy="503238"/>
          </a:xfrm>
          <a:prstGeom prst="rect">
            <a:avLst/>
          </a:prstGeom>
          <a:solidFill>
            <a:schemeClr val="bg1"/>
          </a:solidFill>
          <a:ln w="38100" algn="ctr">
            <a:solidFill>
              <a:schemeClr val="folHlink"/>
            </a:solidFill>
            <a:miter lim="800000"/>
            <a:headEnd/>
            <a:tailEnd/>
          </a:ln>
          <a:effectLst/>
        </p:spPr>
        <p:txBody>
          <a:bodyPr anchor="ctr"/>
          <a:lstStyle/>
          <a:p>
            <a:r>
              <a:rPr lang="fi-FI" sz="1200"/>
              <a:t>Testityökalut</a:t>
            </a:r>
            <a:endParaRPr lang="en-US" sz="1200"/>
          </a:p>
        </p:txBody>
      </p:sp>
      <p:sp>
        <p:nvSpPr>
          <p:cNvPr id="7177" name="Rectangle 9"/>
          <p:cNvSpPr>
            <a:spLocks noChangeArrowheads="1"/>
          </p:cNvSpPr>
          <p:nvPr/>
        </p:nvSpPr>
        <p:spPr bwMode="auto">
          <a:xfrm>
            <a:off x="755650" y="3357563"/>
            <a:ext cx="1295400" cy="503237"/>
          </a:xfrm>
          <a:prstGeom prst="rect">
            <a:avLst/>
          </a:prstGeom>
          <a:solidFill>
            <a:schemeClr val="bg1"/>
          </a:solidFill>
          <a:ln w="38100" algn="ctr">
            <a:solidFill>
              <a:schemeClr val="folHlink"/>
            </a:solidFill>
            <a:miter lim="800000"/>
            <a:headEnd/>
            <a:tailEnd/>
          </a:ln>
          <a:effectLst/>
        </p:spPr>
        <p:txBody>
          <a:bodyPr anchor="ctr"/>
          <a:lstStyle/>
          <a:p>
            <a:r>
              <a:rPr lang="fi-FI" sz="1200"/>
              <a:t>Työasema-ohjelmistot</a:t>
            </a:r>
            <a:endParaRPr lang="en-US" sz="1200"/>
          </a:p>
        </p:txBody>
      </p:sp>
      <p:sp>
        <p:nvSpPr>
          <p:cNvPr id="7178" name="Rectangle 10"/>
          <p:cNvSpPr>
            <a:spLocks noChangeArrowheads="1"/>
          </p:cNvSpPr>
          <p:nvPr/>
        </p:nvSpPr>
        <p:spPr bwMode="auto">
          <a:xfrm>
            <a:off x="755650" y="2638425"/>
            <a:ext cx="1295400" cy="503238"/>
          </a:xfrm>
          <a:prstGeom prst="rect">
            <a:avLst/>
          </a:prstGeom>
          <a:solidFill>
            <a:schemeClr val="bg1"/>
          </a:solidFill>
          <a:ln w="38100" algn="ctr">
            <a:solidFill>
              <a:srgbClr val="FF9900"/>
            </a:solidFill>
            <a:miter lim="800000"/>
            <a:headEnd/>
            <a:tailEnd/>
          </a:ln>
          <a:effectLst/>
        </p:spPr>
        <p:txBody>
          <a:bodyPr anchor="ctr"/>
          <a:lstStyle/>
          <a:p>
            <a:r>
              <a:rPr lang="fi-FI" sz="1200" dirty="0" smtClean="0"/>
              <a:t>Etäkäyttö-liittymä</a:t>
            </a:r>
            <a:endParaRPr lang="en-US" sz="1200" dirty="0"/>
          </a:p>
        </p:txBody>
      </p:sp>
      <p:sp>
        <p:nvSpPr>
          <p:cNvPr id="7179" name="Rectangle 11"/>
          <p:cNvSpPr>
            <a:spLocks noChangeArrowheads="1"/>
          </p:cNvSpPr>
          <p:nvPr/>
        </p:nvSpPr>
        <p:spPr bwMode="auto">
          <a:xfrm>
            <a:off x="3348038" y="2576513"/>
            <a:ext cx="4968875" cy="3671887"/>
          </a:xfrm>
          <a:prstGeom prst="rect">
            <a:avLst/>
          </a:prstGeom>
          <a:solidFill>
            <a:schemeClr val="accent1"/>
          </a:solidFill>
          <a:ln w="9525" algn="ctr">
            <a:solidFill>
              <a:schemeClr val="tx1"/>
            </a:solidFill>
            <a:miter lim="800000"/>
            <a:headEnd/>
            <a:tailEnd/>
          </a:ln>
          <a:effectLst/>
        </p:spPr>
        <p:txBody>
          <a:bodyPr/>
          <a:lstStyle/>
          <a:p>
            <a:r>
              <a:rPr lang="fi-FI"/>
              <a:t>Palvelimet</a:t>
            </a:r>
            <a:endParaRPr lang="en-US"/>
          </a:p>
        </p:txBody>
      </p:sp>
      <p:sp>
        <p:nvSpPr>
          <p:cNvPr id="7181" name="AutoShape 13"/>
          <p:cNvSpPr>
            <a:spLocks noChangeArrowheads="1"/>
          </p:cNvSpPr>
          <p:nvPr/>
        </p:nvSpPr>
        <p:spPr bwMode="auto">
          <a:xfrm>
            <a:off x="2268538" y="3429000"/>
            <a:ext cx="935037" cy="1008063"/>
          </a:xfrm>
          <a:prstGeom prst="leftRightArrow">
            <a:avLst>
              <a:gd name="adj1" fmla="val 50000"/>
              <a:gd name="adj2" fmla="val 20000"/>
            </a:avLst>
          </a:prstGeom>
          <a:solidFill>
            <a:schemeClr val="hlink"/>
          </a:solidFill>
          <a:ln w="9525" algn="ctr">
            <a:solidFill>
              <a:schemeClr val="tx1"/>
            </a:solidFill>
            <a:miter lim="800000"/>
            <a:headEnd/>
            <a:tailEnd/>
          </a:ln>
          <a:effectLst/>
        </p:spPr>
        <p:txBody>
          <a:bodyPr wrap="none" anchor="ctr"/>
          <a:lstStyle/>
          <a:p>
            <a:endParaRPr lang="fi-FI"/>
          </a:p>
        </p:txBody>
      </p:sp>
      <p:sp>
        <p:nvSpPr>
          <p:cNvPr id="7182" name="Rectangle 14"/>
          <p:cNvSpPr>
            <a:spLocks noChangeArrowheads="1"/>
          </p:cNvSpPr>
          <p:nvPr/>
        </p:nvSpPr>
        <p:spPr bwMode="auto">
          <a:xfrm>
            <a:off x="3492500" y="3151188"/>
            <a:ext cx="1368425" cy="2017712"/>
          </a:xfrm>
          <a:prstGeom prst="rect">
            <a:avLst/>
          </a:prstGeom>
          <a:solidFill>
            <a:schemeClr val="bg1"/>
          </a:solidFill>
          <a:ln w="9525" algn="ctr">
            <a:solidFill>
              <a:schemeClr val="tx1"/>
            </a:solidFill>
            <a:miter lim="800000"/>
            <a:headEnd/>
            <a:tailEnd/>
          </a:ln>
          <a:effectLst/>
        </p:spPr>
        <p:txBody>
          <a:bodyPr/>
          <a:lstStyle/>
          <a:p>
            <a:r>
              <a:rPr lang="fi-FI" sz="1400" dirty="0" smtClean="0"/>
              <a:t>Omat testi-ympäristöt</a:t>
            </a:r>
            <a:endParaRPr lang="en-US" sz="1400" dirty="0"/>
          </a:p>
        </p:txBody>
      </p:sp>
      <p:sp>
        <p:nvSpPr>
          <p:cNvPr id="7183" name="Rectangle 15"/>
          <p:cNvSpPr>
            <a:spLocks noChangeArrowheads="1"/>
          </p:cNvSpPr>
          <p:nvPr/>
        </p:nvSpPr>
        <p:spPr bwMode="auto">
          <a:xfrm>
            <a:off x="3492500" y="5311775"/>
            <a:ext cx="1368425" cy="863600"/>
          </a:xfrm>
          <a:prstGeom prst="rect">
            <a:avLst/>
          </a:prstGeom>
          <a:solidFill>
            <a:schemeClr val="bg1"/>
          </a:solidFill>
          <a:ln w="9525" algn="ctr">
            <a:solidFill>
              <a:schemeClr val="tx1"/>
            </a:solidFill>
            <a:miter lim="800000"/>
            <a:headEnd/>
            <a:tailEnd/>
          </a:ln>
          <a:effectLst/>
        </p:spPr>
        <p:txBody>
          <a:bodyPr/>
          <a:lstStyle/>
          <a:p>
            <a:r>
              <a:rPr lang="fi-FI" sz="1400" dirty="0" smtClean="0"/>
              <a:t>Erillisen osajärjestelmän ympäristö</a:t>
            </a:r>
            <a:endParaRPr lang="en-US" sz="1400" dirty="0"/>
          </a:p>
        </p:txBody>
      </p:sp>
      <p:sp>
        <p:nvSpPr>
          <p:cNvPr id="7185" name="Rectangle 17"/>
          <p:cNvSpPr>
            <a:spLocks noChangeArrowheads="1"/>
          </p:cNvSpPr>
          <p:nvPr/>
        </p:nvSpPr>
        <p:spPr bwMode="auto">
          <a:xfrm>
            <a:off x="5076825" y="3151188"/>
            <a:ext cx="1368425" cy="2520950"/>
          </a:xfrm>
          <a:prstGeom prst="rect">
            <a:avLst/>
          </a:prstGeom>
          <a:solidFill>
            <a:schemeClr val="bg1"/>
          </a:solidFill>
          <a:ln w="9525" algn="ctr">
            <a:solidFill>
              <a:schemeClr val="tx1"/>
            </a:solidFill>
            <a:miter lim="800000"/>
            <a:headEnd/>
            <a:tailEnd/>
          </a:ln>
          <a:effectLst/>
        </p:spPr>
        <p:txBody>
          <a:bodyPr/>
          <a:lstStyle/>
          <a:p>
            <a:r>
              <a:rPr lang="fi-FI" sz="1400" dirty="0" smtClean="0"/>
              <a:t>Muiden testiympäristöt</a:t>
            </a:r>
            <a:endParaRPr lang="en-US" sz="1400" dirty="0"/>
          </a:p>
        </p:txBody>
      </p:sp>
      <p:sp>
        <p:nvSpPr>
          <p:cNvPr id="7186" name="Rectangle 18"/>
          <p:cNvSpPr>
            <a:spLocks noChangeArrowheads="1"/>
          </p:cNvSpPr>
          <p:nvPr/>
        </p:nvSpPr>
        <p:spPr bwMode="auto">
          <a:xfrm>
            <a:off x="5149850" y="3871913"/>
            <a:ext cx="576263" cy="504825"/>
          </a:xfrm>
          <a:prstGeom prst="rect">
            <a:avLst/>
          </a:prstGeom>
          <a:solidFill>
            <a:schemeClr val="accent1"/>
          </a:solidFill>
          <a:ln w="28575" algn="ctr">
            <a:solidFill>
              <a:srgbClr val="9966FF"/>
            </a:solidFill>
            <a:miter lim="800000"/>
            <a:headEnd/>
            <a:tailEnd/>
          </a:ln>
          <a:effectLst/>
        </p:spPr>
        <p:txBody>
          <a:bodyPr wrap="none" anchor="ctr"/>
          <a:lstStyle/>
          <a:p>
            <a:r>
              <a:rPr lang="fi-FI" sz="1400" dirty="0" smtClean="0"/>
              <a:t>P1.1</a:t>
            </a:r>
            <a:endParaRPr lang="en-US" sz="1400" dirty="0"/>
          </a:p>
        </p:txBody>
      </p:sp>
      <p:sp>
        <p:nvSpPr>
          <p:cNvPr id="7187" name="Rectangle 19"/>
          <p:cNvSpPr>
            <a:spLocks noChangeArrowheads="1"/>
          </p:cNvSpPr>
          <p:nvPr/>
        </p:nvSpPr>
        <p:spPr bwMode="auto">
          <a:xfrm>
            <a:off x="5149850" y="4519613"/>
            <a:ext cx="576263" cy="504825"/>
          </a:xfrm>
          <a:prstGeom prst="rect">
            <a:avLst/>
          </a:prstGeom>
          <a:solidFill>
            <a:schemeClr val="accent1"/>
          </a:solidFill>
          <a:ln w="28575" algn="ctr">
            <a:solidFill>
              <a:srgbClr val="FF0066"/>
            </a:solidFill>
            <a:miter lim="800000"/>
            <a:headEnd/>
            <a:tailEnd/>
          </a:ln>
          <a:effectLst/>
        </p:spPr>
        <p:txBody>
          <a:bodyPr wrap="none" anchor="ctr"/>
          <a:lstStyle/>
          <a:p>
            <a:r>
              <a:rPr lang="fi-FI" sz="1400" dirty="0" smtClean="0"/>
              <a:t>P2.1</a:t>
            </a:r>
            <a:endParaRPr lang="en-US" sz="1400" dirty="0"/>
          </a:p>
        </p:txBody>
      </p:sp>
      <p:sp>
        <p:nvSpPr>
          <p:cNvPr id="7188" name="Rectangle 20"/>
          <p:cNvSpPr>
            <a:spLocks noChangeArrowheads="1"/>
          </p:cNvSpPr>
          <p:nvPr/>
        </p:nvSpPr>
        <p:spPr bwMode="auto">
          <a:xfrm>
            <a:off x="5797550" y="3871913"/>
            <a:ext cx="576263" cy="504825"/>
          </a:xfrm>
          <a:prstGeom prst="rect">
            <a:avLst/>
          </a:prstGeom>
          <a:solidFill>
            <a:schemeClr val="accent1"/>
          </a:solidFill>
          <a:ln w="28575" algn="ctr">
            <a:solidFill>
              <a:srgbClr val="9966FF"/>
            </a:solidFill>
            <a:miter lim="800000"/>
            <a:headEnd/>
            <a:tailEnd/>
          </a:ln>
          <a:effectLst/>
        </p:spPr>
        <p:txBody>
          <a:bodyPr wrap="none" anchor="ctr"/>
          <a:lstStyle/>
          <a:p>
            <a:r>
              <a:rPr lang="fi-FI" sz="1400" dirty="0" smtClean="0"/>
              <a:t>P1.2</a:t>
            </a:r>
            <a:endParaRPr lang="en-US" sz="1400" dirty="0"/>
          </a:p>
        </p:txBody>
      </p:sp>
      <p:sp>
        <p:nvSpPr>
          <p:cNvPr id="7189" name="Rectangle 21"/>
          <p:cNvSpPr>
            <a:spLocks noChangeArrowheads="1"/>
          </p:cNvSpPr>
          <p:nvPr/>
        </p:nvSpPr>
        <p:spPr bwMode="auto">
          <a:xfrm>
            <a:off x="5797550" y="4519613"/>
            <a:ext cx="576263" cy="504825"/>
          </a:xfrm>
          <a:prstGeom prst="rect">
            <a:avLst/>
          </a:prstGeom>
          <a:solidFill>
            <a:schemeClr val="accent1"/>
          </a:solidFill>
          <a:ln w="28575" algn="ctr">
            <a:solidFill>
              <a:srgbClr val="FF0066"/>
            </a:solidFill>
            <a:miter lim="800000"/>
            <a:headEnd/>
            <a:tailEnd/>
          </a:ln>
          <a:effectLst/>
        </p:spPr>
        <p:txBody>
          <a:bodyPr wrap="none" anchor="ctr"/>
          <a:lstStyle/>
          <a:p>
            <a:r>
              <a:rPr lang="fi-FI" sz="1400" dirty="0" smtClean="0"/>
              <a:t>P2.2</a:t>
            </a:r>
            <a:endParaRPr lang="en-US" sz="1400" dirty="0"/>
          </a:p>
        </p:txBody>
      </p:sp>
      <p:sp>
        <p:nvSpPr>
          <p:cNvPr id="7190" name="Rectangle 22"/>
          <p:cNvSpPr>
            <a:spLocks noChangeArrowheads="1"/>
          </p:cNvSpPr>
          <p:nvPr/>
        </p:nvSpPr>
        <p:spPr bwMode="auto">
          <a:xfrm>
            <a:off x="6659563" y="3151188"/>
            <a:ext cx="1368425" cy="863600"/>
          </a:xfrm>
          <a:prstGeom prst="rect">
            <a:avLst/>
          </a:prstGeom>
          <a:solidFill>
            <a:schemeClr val="bg2"/>
          </a:solidFill>
          <a:ln w="9525" algn="ctr">
            <a:solidFill>
              <a:schemeClr val="tx1"/>
            </a:solidFill>
            <a:miter lim="800000"/>
            <a:headEnd/>
            <a:tailEnd/>
          </a:ln>
          <a:effectLst/>
        </p:spPr>
        <p:txBody>
          <a:bodyPr/>
          <a:lstStyle/>
          <a:p>
            <a:r>
              <a:rPr lang="fi-FI" sz="1400" dirty="0" smtClean="0"/>
              <a:t>Muiden testiympäristö</a:t>
            </a:r>
            <a:endParaRPr lang="en-US" sz="1400" dirty="0"/>
          </a:p>
        </p:txBody>
      </p:sp>
      <p:sp>
        <p:nvSpPr>
          <p:cNvPr id="7191" name="Rectangle 23"/>
          <p:cNvSpPr>
            <a:spLocks noChangeArrowheads="1"/>
          </p:cNvSpPr>
          <p:nvPr/>
        </p:nvSpPr>
        <p:spPr bwMode="auto">
          <a:xfrm>
            <a:off x="3563938" y="3871913"/>
            <a:ext cx="1223962" cy="433387"/>
          </a:xfrm>
          <a:prstGeom prst="rect">
            <a:avLst/>
          </a:prstGeom>
          <a:solidFill>
            <a:schemeClr val="accent1"/>
          </a:solidFill>
          <a:ln w="28575" algn="ctr">
            <a:solidFill>
              <a:srgbClr val="9966FF"/>
            </a:solidFill>
            <a:miter lim="800000"/>
            <a:headEnd/>
            <a:tailEnd/>
          </a:ln>
          <a:effectLst/>
        </p:spPr>
        <p:txBody>
          <a:bodyPr wrap="none" anchor="ctr"/>
          <a:lstStyle/>
          <a:p>
            <a:r>
              <a:rPr lang="fi-FI" sz="1400" dirty="0" smtClean="0"/>
              <a:t>PUTKI1</a:t>
            </a:r>
            <a:endParaRPr lang="en-US" sz="1400" dirty="0"/>
          </a:p>
        </p:txBody>
      </p:sp>
      <p:sp>
        <p:nvSpPr>
          <p:cNvPr id="7192" name="Rectangle 24"/>
          <p:cNvSpPr>
            <a:spLocks noChangeArrowheads="1"/>
          </p:cNvSpPr>
          <p:nvPr/>
        </p:nvSpPr>
        <p:spPr bwMode="auto">
          <a:xfrm>
            <a:off x="3563938" y="4519613"/>
            <a:ext cx="1223962" cy="504825"/>
          </a:xfrm>
          <a:prstGeom prst="rect">
            <a:avLst/>
          </a:prstGeom>
          <a:solidFill>
            <a:schemeClr val="accent1"/>
          </a:solidFill>
          <a:ln w="28575" algn="ctr">
            <a:solidFill>
              <a:srgbClr val="FF0066"/>
            </a:solidFill>
            <a:miter lim="800000"/>
            <a:headEnd/>
            <a:tailEnd/>
          </a:ln>
          <a:effectLst/>
        </p:spPr>
        <p:txBody>
          <a:bodyPr wrap="none" anchor="ctr"/>
          <a:lstStyle/>
          <a:p>
            <a:r>
              <a:rPr lang="fi-FI" sz="1400" dirty="0" smtClean="0"/>
              <a:t>PUTKI2</a:t>
            </a:r>
            <a:endParaRPr lang="en-US" sz="1400" dirty="0"/>
          </a:p>
        </p:txBody>
      </p:sp>
      <p:sp>
        <p:nvSpPr>
          <p:cNvPr id="7193" name="Rectangle 25"/>
          <p:cNvSpPr>
            <a:spLocks noChangeArrowheads="1"/>
          </p:cNvSpPr>
          <p:nvPr/>
        </p:nvSpPr>
        <p:spPr bwMode="auto">
          <a:xfrm>
            <a:off x="6659563" y="4160838"/>
            <a:ext cx="1368425" cy="944562"/>
          </a:xfrm>
          <a:prstGeom prst="rect">
            <a:avLst/>
          </a:prstGeom>
          <a:solidFill>
            <a:schemeClr val="bg2"/>
          </a:solidFill>
          <a:ln w="9525" algn="ctr">
            <a:solidFill>
              <a:schemeClr val="tx1"/>
            </a:solidFill>
            <a:miter lim="800000"/>
            <a:headEnd/>
            <a:tailEnd/>
          </a:ln>
          <a:effectLst/>
        </p:spPr>
        <p:txBody>
          <a:bodyPr/>
          <a:lstStyle/>
          <a:p>
            <a:r>
              <a:rPr lang="fi-FI" sz="1400" i="1" dirty="0" smtClean="0"/>
              <a:t>Muiden testiympäristö välillisellä yhteydellä</a:t>
            </a:r>
            <a:endParaRPr lang="en-US" sz="1400" i="1" dirty="0"/>
          </a:p>
        </p:txBody>
      </p:sp>
      <p:sp>
        <p:nvSpPr>
          <p:cNvPr id="7194" name="Rectangle 26"/>
          <p:cNvSpPr>
            <a:spLocks noChangeArrowheads="1"/>
          </p:cNvSpPr>
          <p:nvPr/>
        </p:nvSpPr>
        <p:spPr bwMode="auto">
          <a:xfrm>
            <a:off x="684213" y="4724400"/>
            <a:ext cx="1439862" cy="1368425"/>
          </a:xfrm>
          <a:prstGeom prst="rect">
            <a:avLst/>
          </a:prstGeom>
          <a:solidFill>
            <a:schemeClr val="accent1"/>
          </a:solidFill>
          <a:ln w="9525" algn="ctr">
            <a:solidFill>
              <a:schemeClr val="tx1"/>
            </a:solidFill>
            <a:miter lim="800000"/>
            <a:headEnd/>
            <a:tailEnd/>
          </a:ln>
          <a:effectLst/>
        </p:spPr>
        <p:txBody>
          <a:bodyPr/>
          <a:lstStyle/>
          <a:p>
            <a:r>
              <a:rPr lang="fi-FI"/>
              <a:t>Testilabran työasema</a:t>
            </a:r>
            <a:endParaRPr lang="en-US"/>
          </a:p>
        </p:txBody>
      </p:sp>
      <p:sp>
        <p:nvSpPr>
          <p:cNvPr id="7195" name="Rectangle 27"/>
          <p:cNvSpPr>
            <a:spLocks noChangeArrowheads="1"/>
          </p:cNvSpPr>
          <p:nvPr/>
        </p:nvSpPr>
        <p:spPr bwMode="auto">
          <a:xfrm>
            <a:off x="755650" y="5445125"/>
            <a:ext cx="1295400" cy="503238"/>
          </a:xfrm>
          <a:prstGeom prst="rect">
            <a:avLst/>
          </a:prstGeom>
          <a:solidFill>
            <a:schemeClr val="bg1"/>
          </a:solidFill>
          <a:ln w="38100" algn="ctr">
            <a:solidFill>
              <a:schemeClr val="folHlink"/>
            </a:solidFill>
            <a:miter lim="800000"/>
            <a:headEnd/>
            <a:tailEnd/>
          </a:ln>
          <a:effectLst/>
        </p:spPr>
        <p:txBody>
          <a:bodyPr anchor="ctr"/>
          <a:lstStyle/>
          <a:p>
            <a:r>
              <a:rPr lang="fi-FI" sz="1200"/>
              <a:t>Testityökalut</a:t>
            </a:r>
            <a:endParaRPr lang="en-US" sz="1200"/>
          </a:p>
        </p:txBody>
      </p:sp>
      <p:sp>
        <p:nvSpPr>
          <p:cNvPr id="7196" name="AutoShape 28"/>
          <p:cNvSpPr>
            <a:spLocks noChangeArrowheads="1"/>
          </p:cNvSpPr>
          <p:nvPr/>
        </p:nvSpPr>
        <p:spPr bwMode="auto">
          <a:xfrm>
            <a:off x="4284663" y="1516062"/>
            <a:ext cx="1727200" cy="998538"/>
          </a:xfrm>
          <a:prstGeom prst="roundRect">
            <a:avLst>
              <a:gd name="adj" fmla="val 16667"/>
            </a:avLst>
          </a:prstGeom>
          <a:solidFill>
            <a:schemeClr val="bg1"/>
          </a:solidFill>
          <a:ln w="57150" algn="ctr">
            <a:solidFill>
              <a:schemeClr val="accent1"/>
            </a:solidFill>
            <a:round/>
            <a:headEnd/>
            <a:tailEnd/>
          </a:ln>
          <a:effectLst/>
        </p:spPr>
        <p:txBody>
          <a:bodyPr wrap="none" anchor="ctr"/>
          <a:lstStyle/>
          <a:p>
            <a:r>
              <a:rPr lang="fi-FI" sz="1600"/>
              <a:t>Kaikkiin liittyen:</a:t>
            </a:r>
          </a:p>
          <a:p>
            <a:pPr>
              <a:buFontTx/>
              <a:buChar char="•"/>
            </a:pPr>
            <a:r>
              <a:rPr lang="fi-FI" sz="1600"/>
              <a:t>Yhteydet</a:t>
            </a:r>
          </a:p>
          <a:p>
            <a:pPr>
              <a:buFontTx/>
              <a:buChar char="•"/>
            </a:pPr>
            <a:r>
              <a:rPr lang="fi-FI" sz="1600"/>
              <a:t>Oikeudet</a:t>
            </a:r>
            <a:endParaRPr lang="en-US" sz="1600"/>
          </a:p>
        </p:txBody>
      </p:sp>
      <p:sp>
        <p:nvSpPr>
          <p:cNvPr id="25" name="Slide Number Placeholder 24"/>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Neljä kattavuusnäkökulmaa</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Vaatimuskattavuus</a:t>
            </a:r>
          </a:p>
          <a:p>
            <a:pPr lvl="1"/>
            <a:r>
              <a:rPr lang="fi-FI" dirty="0" smtClean="0"/>
              <a:t>Kuinka paljon kirjatuista </a:t>
            </a:r>
            <a:br>
              <a:rPr lang="fi-FI" dirty="0" smtClean="0"/>
            </a:br>
            <a:r>
              <a:rPr lang="fi-FI" dirty="0" smtClean="0"/>
              <a:t>toiveista on toteutettu </a:t>
            </a:r>
            <a:br>
              <a:rPr lang="fi-FI" dirty="0" smtClean="0"/>
            </a:br>
            <a:r>
              <a:rPr lang="fi-FI" dirty="0" smtClean="0"/>
              <a:t>käytännössä?</a:t>
            </a:r>
          </a:p>
          <a:p>
            <a:r>
              <a:rPr lang="fi-FI" dirty="0" smtClean="0"/>
              <a:t>Koodikattavuus</a:t>
            </a:r>
          </a:p>
          <a:p>
            <a:pPr lvl="1"/>
            <a:r>
              <a:rPr lang="fi-FI" dirty="0" smtClean="0"/>
              <a:t>Kuinka paljon siitä mitä on toteutettu on kokeiltu </a:t>
            </a:r>
            <a:br>
              <a:rPr lang="fi-FI" dirty="0" smtClean="0"/>
            </a:br>
            <a:r>
              <a:rPr lang="fi-FI" dirty="0" smtClean="0"/>
              <a:t>käytännössä?</a:t>
            </a:r>
          </a:p>
          <a:p>
            <a:r>
              <a:rPr lang="fi-FI" dirty="0" smtClean="0"/>
              <a:t>Riskikattavuus</a:t>
            </a:r>
          </a:p>
          <a:p>
            <a:pPr lvl="1"/>
            <a:r>
              <a:rPr lang="fi-FI" dirty="0" smtClean="0"/>
              <a:t>Tiedetäänkö kaikki tai edes tärkeimmät asiat jotka voivat mennä pieleen?</a:t>
            </a:r>
          </a:p>
          <a:p>
            <a:r>
              <a:rPr lang="fi-FI" dirty="0" smtClean="0"/>
              <a:t>Ympäristökattavuus</a:t>
            </a:r>
          </a:p>
          <a:p>
            <a:pPr lvl="1"/>
            <a:r>
              <a:rPr lang="fi-FI" dirty="0" smtClean="0"/>
              <a:t>Tiedetäänkö toimintavarmuus suhteessa ympäristön muunneltaviin tekijöihin? </a:t>
            </a:r>
          </a:p>
          <a:p>
            <a:endParaRPr lang="fi-FI" dirty="0"/>
          </a:p>
        </p:txBody>
      </p:sp>
      <p:sp>
        <p:nvSpPr>
          <p:cNvPr id="4" name="Text Box 30"/>
          <p:cNvSpPr txBox="1">
            <a:spLocks noChangeArrowheads="1"/>
          </p:cNvSpPr>
          <p:nvPr/>
        </p:nvSpPr>
        <p:spPr bwMode="auto">
          <a:xfrm>
            <a:off x="4899025" y="1447800"/>
            <a:ext cx="2017713" cy="1465263"/>
          </a:xfrm>
          <a:prstGeom prst="rect">
            <a:avLst/>
          </a:prstGeom>
          <a:noFill/>
          <a:ln w="9525">
            <a:noFill/>
            <a:miter lim="800000"/>
            <a:headEnd/>
            <a:tailEnd/>
          </a:ln>
          <a:effectLst/>
        </p:spPr>
        <p:txBody>
          <a:bodyPr>
            <a:spAutoFit/>
          </a:bodyPr>
          <a:lstStyle/>
          <a:p>
            <a:pPr algn="ctr" eaLnBrk="1" hangingPunct="1">
              <a:spcBef>
                <a:spcPct val="50000"/>
              </a:spcBef>
            </a:pPr>
            <a:r>
              <a:rPr lang="en-US">
                <a:solidFill>
                  <a:schemeClr val="hlink"/>
                </a:solidFill>
                <a:cs typeface="Arial" charset="0"/>
              </a:rPr>
              <a:t>…ja kertoaksemme jos on muuta ja millä tasolla tiedämme.</a:t>
            </a:r>
            <a:endParaRPr lang="en-GB">
              <a:solidFill>
                <a:schemeClr val="hlink"/>
              </a:solidFill>
              <a:cs typeface="Arial" charset="0"/>
            </a:endParaRPr>
          </a:p>
        </p:txBody>
      </p:sp>
      <p:grpSp>
        <p:nvGrpSpPr>
          <p:cNvPr id="5" name="Group 32"/>
          <p:cNvGrpSpPr>
            <a:grpSpLocks/>
          </p:cNvGrpSpPr>
          <p:nvPr/>
        </p:nvGrpSpPr>
        <p:grpSpPr bwMode="auto">
          <a:xfrm>
            <a:off x="6992938" y="1660525"/>
            <a:ext cx="1392237" cy="533400"/>
            <a:chOff x="768" y="2976"/>
            <a:chExt cx="816" cy="528"/>
          </a:xfrm>
        </p:grpSpPr>
        <p:sp>
          <p:nvSpPr>
            <p:cNvPr id="6" name="Rectangle 33"/>
            <p:cNvSpPr>
              <a:spLocks noChangeArrowheads="1"/>
            </p:cNvSpPr>
            <p:nvPr/>
          </p:nvSpPr>
          <p:spPr bwMode="auto">
            <a:xfrm>
              <a:off x="1344" y="2976"/>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7" name="Line 34"/>
            <p:cNvSpPr>
              <a:spLocks noChangeShapeType="1"/>
            </p:cNvSpPr>
            <p:nvPr/>
          </p:nvSpPr>
          <p:spPr bwMode="auto">
            <a:xfrm>
              <a:off x="768" y="3024"/>
              <a:ext cx="576" cy="0"/>
            </a:xfrm>
            <a:prstGeom prst="line">
              <a:avLst/>
            </a:prstGeom>
            <a:noFill/>
            <a:ln w="12700">
              <a:solidFill>
                <a:schemeClr val="tx1"/>
              </a:solidFill>
              <a:round/>
              <a:headEnd/>
              <a:tailEnd/>
            </a:ln>
            <a:effectLst/>
          </p:spPr>
          <p:txBody>
            <a:bodyPr/>
            <a:lstStyle/>
            <a:p>
              <a:endParaRPr lang="en-US"/>
            </a:p>
          </p:txBody>
        </p:sp>
        <p:sp>
          <p:nvSpPr>
            <p:cNvPr id="8" name="Rectangle 35"/>
            <p:cNvSpPr>
              <a:spLocks noChangeArrowheads="1"/>
            </p:cNvSpPr>
            <p:nvPr/>
          </p:nvSpPr>
          <p:spPr bwMode="auto">
            <a:xfrm>
              <a:off x="1344" y="3120"/>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9" name="Line 36"/>
            <p:cNvSpPr>
              <a:spLocks noChangeShapeType="1"/>
            </p:cNvSpPr>
            <p:nvPr/>
          </p:nvSpPr>
          <p:spPr bwMode="auto">
            <a:xfrm>
              <a:off x="960" y="3168"/>
              <a:ext cx="384" cy="0"/>
            </a:xfrm>
            <a:prstGeom prst="line">
              <a:avLst/>
            </a:prstGeom>
            <a:noFill/>
            <a:ln w="12700">
              <a:solidFill>
                <a:schemeClr val="tx1"/>
              </a:solidFill>
              <a:round/>
              <a:headEnd/>
              <a:tailEnd/>
            </a:ln>
            <a:effectLst/>
          </p:spPr>
          <p:txBody>
            <a:bodyPr/>
            <a:lstStyle/>
            <a:p>
              <a:endParaRPr lang="en-US"/>
            </a:p>
          </p:txBody>
        </p:sp>
        <p:sp>
          <p:nvSpPr>
            <p:cNvPr id="10" name="Rectangle 37"/>
            <p:cNvSpPr>
              <a:spLocks noChangeArrowheads="1"/>
            </p:cNvSpPr>
            <p:nvPr/>
          </p:nvSpPr>
          <p:spPr bwMode="auto">
            <a:xfrm>
              <a:off x="1344" y="3264"/>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 name="Line 38"/>
            <p:cNvSpPr>
              <a:spLocks noChangeShapeType="1"/>
            </p:cNvSpPr>
            <p:nvPr/>
          </p:nvSpPr>
          <p:spPr bwMode="auto">
            <a:xfrm>
              <a:off x="960" y="3312"/>
              <a:ext cx="384" cy="0"/>
            </a:xfrm>
            <a:prstGeom prst="line">
              <a:avLst/>
            </a:prstGeom>
            <a:noFill/>
            <a:ln w="12700">
              <a:solidFill>
                <a:schemeClr val="tx1"/>
              </a:solidFill>
              <a:round/>
              <a:headEnd/>
              <a:tailEnd/>
            </a:ln>
            <a:effectLst/>
          </p:spPr>
          <p:txBody>
            <a:bodyPr/>
            <a:lstStyle/>
            <a:p>
              <a:endParaRPr lang="en-US"/>
            </a:p>
          </p:txBody>
        </p:sp>
        <p:sp>
          <p:nvSpPr>
            <p:cNvPr id="12" name="Rectangle 39"/>
            <p:cNvSpPr>
              <a:spLocks noChangeArrowheads="1"/>
            </p:cNvSpPr>
            <p:nvPr/>
          </p:nvSpPr>
          <p:spPr bwMode="auto">
            <a:xfrm>
              <a:off x="1344" y="3408"/>
              <a:ext cx="240" cy="96"/>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 name="Line 40"/>
            <p:cNvSpPr>
              <a:spLocks noChangeShapeType="1"/>
            </p:cNvSpPr>
            <p:nvPr/>
          </p:nvSpPr>
          <p:spPr bwMode="auto">
            <a:xfrm>
              <a:off x="864" y="3456"/>
              <a:ext cx="480" cy="0"/>
            </a:xfrm>
            <a:prstGeom prst="line">
              <a:avLst/>
            </a:prstGeom>
            <a:noFill/>
            <a:ln w="12700">
              <a:solidFill>
                <a:schemeClr val="tx1"/>
              </a:solidFill>
              <a:round/>
              <a:headEnd/>
              <a:tailEnd/>
            </a:ln>
            <a:effectLst/>
          </p:spPr>
          <p:txBody>
            <a:bodyPr/>
            <a:lstStyle/>
            <a:p>
              <a:endParaRPr lang="en-US"/>
            </a:p>
          </p:txBody>
        </p:sp>
        <p:sp>
          <p:nvSpPr>
            <p:cNvPr id="14" name="Line 41"/>
            <p:cNvSpPr>
              <a:spLocks noChangeShapeType="1"/>
            </p:cNvSpPr>
            <p:nvPr/>
          </p:nvSpPr>
          <p:spPr bwMode="auto">
            <a:xfrm flipV="1">
              <a:off x="864" y="3024"/>
              <a:ext cx="0" cy="432"/>
            </a:xfrm>
            <a:prstGeom prst="line">
              <a:avLst/>
            </a:prstGeom>
            <a:noFill/>
            <a:ln w="12700">
              <a:solidFill>
                <a:schemeClr val="tx1"/>
              </a:solidFill>
              <a:round/>
              <a:headEnd/>
              <a:tailEnd/>
            </a:ln>
            <a:effectLst/>
          </p:spPr>
          <p:txBody>
            <a:bodyPr/>
            <a:lstStyle/>
            <a:p>
              <a:endParaRPr lang="en-US"/>
            </a:p>
          </p:txBody>
        </p:sp>
        <p:sp>
          <p:nvSpPr>
            <p:cNvPr id="15" name="Line 42"/>
            <p:cNvSpPr>
              <a:spLocks noChangeShapeType="1"/>
            </p:cNvSpPr>
            <p:nvPr/>
          </p:nvSpPr>
          <p:spPr bwMode="auto">
            <a:xfrm flipV="1">
              <a:off x="960" y="3024"/>
              <a:ext cx="0" cy="288"/>
            </a:xfrm>
            <a:prstGeom prst="line">
              <a:avLst/>
            </a:prstGeom>
            <a:noFill/>
            <a:ln w="12700">
              <a:solidFill>
                <a:schemeClr val="tx1"/>
              </a:solidFill>
              <a:round/>
              <a:headEnd/>
              <a:tailEnd/>
            </a:ln>
            <a:effectLst/>
          </p:spPr>
          <p:txBody>
            <a:bodyPr/>
            <a:lstStyle/>
            <a:p>
              <a:endParaRPr lang="en-US"/>
            </a:p>
          </p:txBody>
        </p:sp>
      </p:grpSp>
      <p:sp>
        <p:nvSpPr>
          <p:cNvPr id="16" name="Text Box 43"/>
          <p:cNvSpPr txBox="1">
            <a:spLocks noChangeArrowheads="1"/>
          </p:cNvSpPr>
          <p:nvPr/>
        </p:nvSpPr>
        <p:spPr bwMode="auto">
          <a:xfrm>
            <a:off x="6764338" y="2193925"/>
            <a:ext cx="2151062" cy="1262063"/>
          </a:xfrm>
          <a:prstGeom prst="rect">
            <a:avLst/>
          </a:prstGeom>
          <a:noFill/>
          <a:ln w="9525">
            <a:noFill/>
            <a:miter lim="800000"/>
            <a:headEnd/>
            <a:tailEnd/>
          </a:ln>
          <a:effectLst/>
        </p:spPr>
        <p:txBody>
          <a:bodyPr>
            <a:spAutoFit/>
          </a:bodyPr>
          <a:lstStyle/>
          <a:p>
            <a:pPr algn="ctr" eaLnBrk="1" hangingPunct="1">
              <a:spcBef>
                <a:spcPct val="50000"/>
              </a:spcBef>
            </a:pPr>
            <a:r>
              <a:rPr lang="fi-FI" sz="1400" dirty="0">
                <a:cs typeface="Arial" charset="0"/>
              </a:rPr>
              <a:t>Kattavuus</a:t>
            </a:r>
            <a:endParaRPr lang="en-US" sz="1400" dirty="0">
              <a:cs typeface="Arial" charset="0"/>
            </a:endParaRPr>
          </a:p>
          <a:p>
            <a:pPr algn="ctr" eaLnBrk="1" hangingPunct="1">
              <a:spcBef>
                <a:spcPct val="50000"/>
              </a:spcBef>
            </a:pPr>
            <a:r>
              <a:rPr lang="en-US" sz="1400" dirty="0">
                <a:cs typeface="Arial" charset="0"/>
              </a:rPr>
              <a:t>VAATIMUKSET</a:t>
            </a:r>
            <a:br>
              <a:rPr lang="en-US" sz="1400" dirty="0">
                <a:cs typeface="Arial" charset="0"/>
              </a:rPr>
            </a:br>
            <a:r>
              <a:rPr lang="en-US" sz="1400" dirty="0">
                <a:cs typeface="Arial" charset="0"/>
              </a:rPr>
              <a:t>RISKIT</a:t>
            </a:r>
            <a:br>
              <a:rPr lang="en-US" sz="1400" dirty="0">
                <a:cs typeface="Arial" charset="0"/>
              </a:rPr>
            </a:br>
            <a:r>
              <a:rPr lang="en-US" sz="1400" dirty="0">
                <a:cs typeface="Arial" charset="0"/>
              </a:rPr>
              <a:t>KOODI</a:t>
            </a:r>
            <a:br>
              <a:rPr lang="en-US" sz="1400" dirty="0">
                <a:cs typeface="Arial" charset="0"/>
              </a:rPr>
            </a:br>
            <a:r>
              <a:rPr lang="en-US" sz="1400" dirty="0">
                <a:cs typeface="Arial" charset="0"/>
              </a:rPr>
              <a:t>YMPÄRISTÖT</a:t>
            </a:r>
            <a:endParaRPr lang="en-GB" sz="1400" dirty="0">
              <a:cs typeface="Arial" charset="0"/>
            </a:endParaRPr>
          </a:p>
        </p:txBody>
      </p:sp>
      <p:sp>
        <p:nvSpPr>
          <p:cNvPr id="17" name="Oval 16"/>
          <p:cNvSpPr/>
          <p:nvPr/>
        </p:nvSpPr>
        <p:spPr>
          <a:xfrm>
            <a:off x="7467600" y="4953000"/>
            <a:ext cx="1371600" cy="1295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dirty="0" smtClean="0"/>
              <a:t>Testi-heuris-tiikat</a:t>
            </a:r>
            <a:endParaRPr lang="fi-FI" dirty="0"/>
          </a:p>
        </p:txBody>
      </p:sp>
      <p:sp>
        <p:nvSpPr>
          <p:cNvPr id="18" name="Slide Number Placeholder 17"/>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noAutofit/>
          </a:bodyPr>
          <a:lstStyle/>
          <a:p>
            <a:r>
              <a:rPr lang="fi-FI" dirty="0"/>
              <a:t>Täysin kattava testaus on mahdotonta</a:t>
            </a:r>
            <a:endParaRPr lang="en-US" dirty="0"/>
          </a:p>
        </p:txBody>
      </p:sp>
      <p:sp>
        <p:nvSpPr>
          <p:cNvPr id="59395" name="Rectangle 3"/>
          <p:cNvSpPr>
            <a:spLocks noGrp="1" noChangeArrowheads="1"/>
          </p:cNvSpPr>
          <p:nvPr>
            <p:ph idx="1"/>
          </p:nvPr>
        </p:nvSpPr>
        <p:spPr/>
        <p:txBody>
          <a:bodyPr>
            <a:normAutofit fontScale="92500" lnSpcReduction="20000"/>
          </a:bodyPr>
          <a:lstStyle/>
          <a:p>
            <a:r>
              <a:rPr lang="fi-FI"/>
              <a:t>Testataksesi kaiken, sinun täytyisi:</a:t>
            </a:r>
          </a:p>
          <a:p>
            <a:pPr lvl="1"/>
            <a:r>
              <a:rPr lang="fi-FI"/>
              <a:t>Testata jokaisen muuttujan jokainen mahdollinen syöte. </a:t>
            </a:r>
            <a:endParaRPr lang="fi-FI" sz="1600"/>
          </a:p>
          <a:p>
            <a:pPr lvl="1"/>
            <a:r>
              <a:rPr lang="fi-FI"/>
              <a:t>Testata jokainen mahdollinen yhdistelmä syötteitä ja muuttujia. </a:t>
            </a:r>
          </a:p>
          <a:p>
            <a:pPr lvl="1"/>
            <a:r>
              <a:rPr lang="fi-FI"/>
              <a:t>Testata jokainen mahdollinen toimintoketju ohjelman läpi. </a:t>
            </a:r>
          </a:p>
          <a:p>
            <a:pPr lvl="1"/>
            <a:r>
              <a:rPr lang="fi-FI"/>
              <a:t>Testata jokainen laitteisto/ ohjelmistokonfiguraatio, mukaanlukien palvelinkonfiguraatiot jotka eivät ole hallinnassasi. </a:t>
            </a:r>
          </a:p>
          <a:p>
            <a:pPr lvl="1"/>
            <a:r>
              <a:rPr lang="fi-FI"/>
              <a:t>Testata jokainen tapa, jolla käyttäjä saattaisi yrittää käyttää sovellusta.</a:t>
            </a:r>
          </a:p>
        </p:txBody>
      </p:sp>
      <p:sp>
        <p:nvSpPr>
          <p:cNvPr id="5" name="Slide Number Placeholder 4"/>
          <p:cNvSpPr>
            <a:spLocks noGrp="1"/>
          </p:cNvSpPr>
          <p:nvPr>
            <p:ph type="sldNum" sz="quarter" idx="12"/>
          </p:nvPr>
        </p:nvSpPr>
        <p:spPr/>
        <p:txBody>
          <a:bodyPr/>
          <a:lstStyle/>
          <a:p>
            <a:fld id="{6EC9AE22-300D-474E-8332-298EA3086E64}" type="slidenum">
              <a:rPr lang="en-US" smtClean="0"/>
              <a:pPr/>
              <a:t>6</a:t>
            </a:fld>
            <a:endParaRPr lang="en-US"/>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fi-FI"/>
              <a:t>Testauksen optimointi</a:t>
            </a:r>
            <a:endParaRPr lang="en-US"/>
          </a:p>
        </p:txBody>
      </p:sp>
      <p:sp>
        <p:nvSpPr>
          <p:cNvPr id="79876" name="Rectangle 4"/>
          <p:cNvSpPr>
            <a:spLocks noChangeArrowheads="1"/>
          </p:cNvSpPr>
          <p:nvPr/>
        </p:nvSpPr>
        <p:spPr bwMode="auto">
          <a:xfrm>
            <a:off x="611188" y="2836862"/>
            <a:ext cx="6769100" cy="8636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sz="2000" b="1"/>
              <a:t>Käyttäjän näkökulma</a:t>
            </a:r>
            <a:r>
              <a:rPr lang="fi-FI"/>
              <a:t>: mitä kaikkea järjestelmällä / sovelluksella / komponentilla voidaankaan tehdä?</a:t>
            </a:r>
            <a:endParaRPr lang="en-US"/>
          </a:p>
        </p:txBody>
      </p:sp>
      <p:sp>
        <p:nvSpPr>
          <p:cNvPr id="79877" name="Rectangle 5"/>
          <p:cNvSpPr>
            <a:spLocks noChangeArrowheads="1"/>
          </p:cNvSpPr>
          <p:nvPr/>
        </p:nvSpPr>
        <p:spPr bwMode="auto">
          <a:xfrm>
            <a:off x="611188" y="1828800"/>
            <a:ext cx="6769100" cy="8636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sz="2000" b="1" dirty="0"/>
              <a:t>Liiketoiminnan näkökulma</a:t>
            </a:r>
            <a:r>
              <a:rPr lang="fi-FI" dirty="0"/>
              <a:t>: mikä on tärkeää ja keskeistä? mistä pitää tietää erityisesti?</a:t>
            </a:r>
            <a:endParaRPr lang="en-US" dirty="0"/>
          </a:p>
        </p:txBody>
      </p:sp>
      <p:sp>
        <p:nvSpPr>
          <p:cNvPr id="79878" name="Rectangle 6"/>
          <p:cNvSpPr>
            <a:spLocks noChangeArrowheads="1"/>
          </p:cNvSpPr>
          <p:nvPr/>
        </p:nvSpPr>
        <p:spPr bwMode="auto">
          <a:xfrm>
            <a:off x="611188" y="3844925"/>
            <a:ext cx="6769100" cy="86360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fi-FI" sz="2000" b="1"/>
              <a:t>Arkkitehtuurin näkökulma</a:t>
            </a:r>
            <a:r>
              <a:rPr lang="fi-FI"/>
              <a:t>: mikä voi vaikuttaa ja mihin? minkä suhteen uskaltaa optimoida?</a:t>
            </a:r>
            <a:endParaRPr lang="en-US"/>
          </a:p>
        </p:txBody>
      </p:sp>
      <p:sp>
        <p:nvSpPr>
          <p:cNvPr id="79879" name="Rectangle 7"/>
          <p:cNvSpPr>
            <a:spLocks noChangeArrowheads="1"/>
          </p:cNvSpPr>
          <p:nvPr/>
        </p:nvSpPr>
        <p:spPr bwMode="auto">
          <a:xfrm>
            <a:off x="2700338" y="5229225"/>
            <a:ext cx="5616575" cy="1152525"/>
          </a:xfrm>
          <a:prstGeom prst="rect">
            <a:avLst/>
          </a:prstGeom>
          <a:solidFill>
            <a:schemeClr val="bg2"/>
          </a:solidFill>
          <a:ln w="9525">
            <a:solidFill>
              <a:schemeClr val="tx1"/>
            </a:solidFill>
            <a:miter lim="800000"/>
            <a:headEnd/>
            <a:tailEnd/>
          </a:ln>
          <a:effectLst>
            <a:outerShdw dist="107763" dir="18900000" algn="ctr" rotWithShape="0">
              <a:schemeClr val="bg2">
                <a:alpha val="50000"/>
              </a:schemeClr>
            </a:outerShdw>
          </a:effectLst>
        </p:spPr>
        <p:txBody>
          <a:bodyPr anchor="ctr"/>
          <a:lstStyle/>
          <a:p>
            <a:pPr algn="ctr"/>
            <a:r>
              <a:rPr lang="fi-FI"/>
              <a:t>Eri näkökulmien ymmärtäminen ja yhdistäminen säästää merkittävästi työmääriä. Vain käyttäjän näkökulmaa käyttäen testaamme liiankin sokkona. </a:t>
            </a:r>
            <a:endParaRPr lang="en-US"/>
          </a:p>
        </p:txBody>
      </p:sp>
      <p:sp>
        <p:nvSpPr>
          <p:cNvPr id="79881" name="Text Box 9"/>
          <p:cNvSpPr txBox="1">
            <a:spLocks noChangeArrowheads="1"/>
          </p:cNvSpPr>
          <p:nvPr/>
        </p:nvSpPr>
        <p:spPr bwMode="auto">
          <a:xfrm>
            <a:off x="7380288" y="1900237"/>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2" name="Text Box 10"/>
          <p:cNvSpPr txBox="1">
            <a:spLocks noChangeArrowheads="1"/>
          </p:cNvSpPr>
          <p:nvPr/>
        </p:nvSpPr>
        <p:spPr bwMode="auto">
          <a:xfrm>
            <a:off x="7380288" y="3916362"/>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hlink"/>
                </a:solidFill>
              </a:rPr>
              <a:t>PRIORI-SOINTIA</a:t>
            </a:r>
            <a:endParaRPr lang="en-US">
              <a:solidFill>
                <a:schemeClr val="hlink"/>
              </a:solidFill>
            </a:endParaRPr>
          </a:p>
        </p:txBody>
      </p:sp>
      <p:sp>
        <p:nvSpPr>
          <p:cNvPr id="79883" name="Text Box 11"/>
          <p:cNvSpPr txBox="1">
            <a:spLocks noChangeArrowheads="1"/>
          </p:cNvSpPr>
          <p:nvPr/>
        </p:nvSpPr>
        <p:spPr bwMode="auto">
          <a:xfrm>
            <a:off x="7380288" y="2908300"/>
            <a:ext cx="1295400" cy="641350"/>
          </a:xfrm>
          <a:prstGeom prst="rect">
            <a:avLst/>
          </a:prstGeom>
          <a:noFill/>
          <a:ln w="9525">
            <a:noFill/>
            <a:miter lim="800000"/>
            <a:headEnd/>
            <a:tailEnd/>
          </a:ln>
          <a:effectLst/>
        </p:spPr>
        <p:txBody>
          <a:bodyPr>
            <a:spAutoFit/>
          </a:bodyPr>
          <a:lstStyle/>
          <a:p>
            <a:pPr>
              <a:spcBef>
                <a:spcPct val="50000"/>
              </a:spcBef>
            </a:pPr>
            <a:r>
              <a:rPr lang="fi-FI">
                <a:solidFill>
                  <a:schemeClr val="tx2"/>
                </a:solidFill>
              </a:rPr>
              <a:t>LAA-JUUTTA</a:t>
            </a:r>
            <a:endParaRPr lang="en-US">
              <a:solidFill>
                <a:schemeClr val="tx2"/>
              </a:solidFill>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pPr lvl="0"/>
            <a:r>
              <a:rPr lang="fi-FI" dirty="0" smtClean="0"/>
              <a:t>Testauksen suorittaminen ja testityön kirjaaminen testipäiväkirjaan</a:t>
            </a:r>
            <a:endParaRPr lang="fi-FI" dirty="0"/>
          </a:p>
        </p:txBody>
      </p:sp>
      <p:sp>
        <p:nvSpPr>
          <p:cNvPr id="6" name="Content Placeholder 5"/>
          <p:cNvSpPr>
            <a:spLocks noGrp="1"/>
          </p:cNvSpPr>
          <p:nvPr>
            <p:ph idx="1"/>
          </p:nvPr>
        </p:nvSpPr>
        <p:spPr/>
        <p:txBody>
          <a:bodyPr>
            <a:normAutofit lnSpcReduction="10000"/>
          </a:bodyPr>
          <a:lstStyle/>
          <a:p>
            <a:r>
              <a:rPr lang="fi-FI" dirty="0" smtClean="0"/>
              <a:t>Testausta suorittaessa tarvitaan rakenne tukemaan toistoa: </a:t>
            </a:r>
            <a:r>
              <a:rPr lang="fi-FI" i="1" dirty="0" smtClean="0"/>
              <a:t>testipäiväkirja</a:t>
            </a:r>
            <a:endParaRPr lang="fi-FI" dirty="0" smtClean="0"/>
          </a:p>
          <a:p>
            <a:r>
              <a:rPr lang="fi-FI" dirty="0" smtClean="0"/>
              <a:t>Samaa testiä käytetään</a:t>
            </a:r>
          </a:p>
          <a:p>
            <a:pPr lvl="1"/>
            <a:r>
              <a:rPr lang="fi-FI" dirty="0" smtClean="0"/>
              <a:t>Ensimmäiselle versiolle testauksessa ja jokaiselle korjausversiolle </a:t>
            </a:r>
          </a:p>
          <a:p>
            <a:r>
              <a:rPr lang="fi-FI" dirty="0" smtClean="0"/>
              <a:t>Pitää pystyä kertomaan mille versiolle / ympäristökokoonpanolle testi on tehty, ei vain viimeisintä ajoa vaan analysointi takautuvasti oppimisen tueksi </a:t>
            </a:r>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Role of Test Documentation</a:t>
            </a:r>
            <a:endParaRPr lang="en-US" dirty="0"/>
          </a:p>
        </p:txBody>
      </p:sp>
      <p:sp>
        <p:nvSpPr>
          <p:cNvPr id="3" name="Content Placeholder 2"/>
          <p:cNvSpPr>
            <a:spLocks noGrp="1"/>
          </p:cNvSpPr>
          <p:nvPr>
            <p:ph idx="1"/>
          </p:nvPr>
        </p:nvSpPr>
        <p:spPr/>
        <p:txBody>
          <a:bodyPr>
            <a:normAutofit fontScale="77500" lnSpcReduction="20000"/>
          </a:bodyPr>
          <a:lstStyle/>
          <a:p>
            <a:r>
              <a:rPr lang="en-GB" dirty="0" smtClean="0"/>
              <a:t>Relevant for test documentation too: Working Software over Comprehensive Documentation</a:t>
            </a:r>
          </a:p>
          <a:p>
            <a:r>
              <a:rPr lang="en-GB" dirty="0" smtClean="0"/>
              <a:t>This does not mean you would skip test documentation, but that you should question your learned assumptions about documenting testing “properly”</a:t>
            </a:r>
          </a:p>
          <a:p>
            <a:r>
              <a:rPr lang="en-GB" dirty="0" smtClean="0"/>
              <a:t>Human memory is limited</a:t>
            </a:r>
          </a:p>
          <a:p>
            <a:pPr lvl="1"/>
            <a:r>
              <a:rPr lang="en-GB" dirty="0" smtClean="0"/>
              <a:t>Impossible to handle details to check, continuous stream of builds and changes without proper documenting practices</a:t>
            </a:r>
          </a:p>
          <a:p>
            <a:pPr lvl="1"/>
            <a:r>
              <a:rPr lang="en-GB" dirty="0" smtClean="0"/>
              <a:t>Human envelope: 7±2 </a:t>
            </a:r>
          </a:p>
          <a:p>
            <a:r>
              <a:rPr lang="en-GB" dirty="0" smtClean="0"/>
              <a:t>Opportunity cost: creating documentation costs. Which bugs did you find late or miss completely when you used your time on documentation?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Example: The Scales of Documenting Tests</a:t>
            </a:r>
            <a:endParaRPr lang="fi-FI" dirty="0"/>
          </a:p>
        </p:txBody>
      </p:sp>
      <p:grpSp>
        <p:nvGrpSpPr>
          <p:cNvPr id="10" name="Group 9"/>
          <p:cNvGrpSpPr/>
          <p:nvPr/>
        </p:nvGrpSpPr>
        <p:grpSpPr>
          <a:xfrm>
            <a:off x="4786314" y="1055682"/>
            <a:ext cx="3886192" cy="1015996"/>
            <a:chOff x="4805378" y="2189158"/>
            <a:chExt cx="3886192" cy="1015996"/>
          </a:xfrm>
        </p:grpSpPr>
        <p:sp>
          <p:nvSpPr>
            <p:cNvPr id="3" name="Rectangle 2"/>
            <p:cNvSpPr>
              <a:spLocks noChangeArrowheads="1"/>
            </p:cNvSpPr>
            <p:nvPr/>
          </p:nvSpPr>
          <p:spPr bwMode="auto">
            <a:xfrm>
              <a:off x="5643570" y="2214554"/>
              <a:ext cx="3048000" cy="990600"/>
            </a:xfrm>
            <a:prstGeom prst="rect">
              <a:avLst/>
            </a:prstGeom>
            <a:solidFill>
              <a:schemeClr val="bg2">
                <a:alpha val="50195"/>
              </a:schemeClr>
            </a:solidFill>
            <a:ln w="12700">
              <a:noFill/>
              <a:miter lim="800000"/>
              <a:headEnd/>
              <a:tailEnd/>
            </a:ln>
          </p:spPr>
          <p:txBody>
            <a:bodyPr wrap="none" lIns="90000" tIns="46800" rIns="90000" bIns="46800" anchor="ctr"/>
            <a:lstStyle/>
            <a:p>
              <a:endParaRPr lang="fi-FI"/>
            </a:p>
          </p:txBody>
        </p:sp>
        <p:sp>
          <p:nvSpPr>
            <p:cNvPr id="4" name="Rectangle 8"/>
            <p:cNvSpPr>
              <a:spLocks noChangeArrowheads="1"/>
            </p:cNvSpPr>
            <p:nvPr/>
          </p:nvSpPr>
          <p:spPr bwMode="auto">
            <a:xfrm>
              <a:off x="6786570" y="2290754"/>
              <a:ext cx="1828800" cy="152400"/>
            </a:xfrm>
            <a:prstGeom prst="rect">
              <a:avLst/>
            </a:prstGeom>
            <a:noFill/>
            <a:ln w="12700">
              <a:solidFill>
                <a:schemeClr val="tx1"/>
              </a:solidFill>
              <a:miter lim="800000"/>
              <a:headEnd/>
              <a:tailEnd/>
            </a:ln>
          </p:spPr>
          <p:txBody>
            <a:bodyPr wrap="none" lIns="90000" tIns="46800" rIns="90000" bIns="46800" anchor="ctr"/>
            <a:lstStyle/>
            <a:p>
              <a:endParaRPr lang="fi-FI"/>
            </a:p>
          </p:txBody>
        </p:sp>
        <p:sp>
          <p:nvSpPr>
            <p:cNvPr id="5" name="Rectangle 9"/>
            <p:cNvSpPr>
              <a:spLocks noChangeArrowheads="1"/>
            </p:cNvSpPr>
            <p:nvPr/>
          </p:nvSpPr>
          <p:spPr bwMode="auto">
            <a:xfrm>
              <a:off x="6786570" y="2519354"/>
              <a:ext cx="1828800" cy="152400"/>
            </a:xfrm>
            <a:prstGeom prst="rect">
              <a:avLst/>
            </a:prstGeom>
            <a:noFill/>
            <a:ln w="12700">
              <a:solidFill>
                <a:schemeClr val="tx1"/>
              </a:solidFill>
              <a:miter lim="800000"/>
              <a:headEnd/>
              <a:tailEnd/>
            </a:ln>
          </p:spPr>
          <p:txBody>
            <a:bodyPr wrap="none" lIns="90000" tIns="46800" rIns="90000" bIns="46800" anchor="ctr"/>
            <a:lstStyle/>
            <a:p>
              <a:endParaRPr lang="fi-FI"/>
            </a:p>
          </p:txBody>
        </p:sp>
        <p:sp>
          <p:nvSpPr>
            <p:cNvPr id="6" name="Rectangle 10"/>
            <p:cNvSpPr>
              <a:spLocks noChangeArrowheads="1"/>
            </p:cNvSpPr>
            <p:nvPr/>
          </p:nvSpPr>
          <p:spPr bwMode="auto">
            <a:xfrm>
              <a:off x="6938970" y="2824154"/>
              <a:ext cx="609600" cy="304800"/>
            </a:xfrm>
            <a:prstGeom prst="rect">
              <a:avLst/>
            </a:prstGeom>
            <a:noFill/>
            <a:ln w="12700">
              <a:solidFill>
                <a:schemeClr val="tx1"/>
              </a:solidFill>
              <a:miter lim="800000"/>
              <a:headEnd/>
              <a:tailEnd/>
            </a:ln>
          </p:spPr>
          <p:txBody>
            <a:bodyPr wrap="none" lIns="90000" tIns="46800" rIns="90000" bIns="46800" anchor="ctr"/>
            <a:lstStyle/>
            <a:p>
              <a:pPr algn="ctr"/>
              <a:r>
                <a:rPr lang="en-GB" sz="1600">
                  <a:cs typeface="Arial" pitchFamily="34" charset="0"/>
                </a:rPr>
                <a:t>Login</a:t>
              </a:r>
            </a:p>
          </p:txBody>
        </p:sp>
        <p:sp>
          <p:nvSpPr>
            <p:cNvPr id="7" name="Rectangle 11"/>
            <p:cNvSpPr>
              <a:spLocks noChangeArrowheads="1"/>
            </p:cNvSpPr>
            <p:nvPr/>
          </p:nvSpPr>
          <p:spPr bwMode="auto">
            <a:xfrm>
              <a:off x="7700970" y="2824154"/>
              <a:ext cx="609600" cy="304800"/>
            </a:xfrm>
            <a:prstGeom prst="rect">
              <a:avLst/>
            </a:prstGeom>
            <a:noFill/>
            <a:ln w="12700">
              <a:solidFill>
                <a:schemeClr val="tx1"/>
              </a:solidFill>
              <a:miter lim="800000"/>
              <a:headEnd/>
              <a:tailEnd/>
            </a:ln>
          </p:spPr>
          <p:txBody>
            <a:bodyPr wrap="none" lIns="90000" tIns="46800" rIns="90000" bIns="46800" anchor="ctr"/>
            <a:lstStyle/>
            <a:p>
              <a:pPr algn="ctr"/>
              <a:r>
                <a:rPr lang="en-GB" sz="1600">
                  <a:cs typeface="Arial" pitchFamily="34" charset="0"/>
                </a:rPr>
                <a:t>Clear</a:t>
              </a:r>
            </a:p>
          </p:txBody>
        </p:sp>
        <p:sp>
          <p:nvSpPr>
            <p:cNvPr id="8" name="Text Box 12"/>
            <p:cNvSpPr txBox="1">
              <a:spLocks noChangeArrowheads="1"/>
            </p:cNvSpPr>
            <p:nvPr/>
          </p:nvSpPr>
          <p:spPr bwMode="auto">
            <a:xfrm>
              <a:off x="4805378" y="2189158"/>
              <a:ext cx="1981200" cy="340735"/>
            </a:xfrm>
            <a:prstGeom prst="rect">
              <a:avLst/>
            </a:prstGeom>
            <a:noFill/>
            <a:ln w="12700">
              <a:noFill/>
              <a:miter lim="800000"/>
              <a:headEnd/>
              <a:tailEnd/>
            </a:ln>
          </p:spPr>
          <p:txBody>
            <a:bodyPr lIns="90000" tIns="46800" rIns="90000" bIns="46800">
              <a:spAutoFit/>
            </a:bodyPr>
            <a:lstStyle/>
            <a:p>
              <a:pPr algn="r">
                <a:spcBef>
                  <a:spcPct val="50000"/>
                </a:spcBef>
              </a:pPr>
              <a:r>
                <a:rPr lang="en-GB" sz="1600" dirty="0" err="1" smtClean="0">
                  <a:cs typeface="Arial" pitchFamily="34" charset="0"/>
                </a:rPr>
                <a:t>UserID</a:t>
              </a:r>
              <a:endParaRPr lang="en-GB" sz="1600" dirty="0">
                <a:cs typeface="Arial" pitchFamily="34" charset="0"/>
              </a:endParaRPr>
            </a:p>
          </p:txBody>
        </p:sp>
        <p:sp>
          <p:nvSpPr>
            <p:cNvPr id="9" name="Text Box 13"/>
            <p:cNvSpPr txBox="1">
              <a:spLocks noChangeArrowheads="1"/>
            </p:cNvSpPr>
            <p:nvPr/>
          </p:nvSpPr>
          <p:spPr bwMode="auto">
            <a:xfrm>
              <a:off x="4805378" y="2449508"/>
              <a:ext cx="1981200" cy="340735"/>
            </a:xfrm>
            <a:prstGeom prst="rect">
              <a:avLst/>
            </a:prstGeom>
            <a:noFill/>
            <a:ln w="12700">
              <a:noFill/>
              <a:miter lim="800000"/>
              <a:headEnd/>
              <a:tailEnd/>
            </a:ln>
          </p:spPr>
          <p:txBody>
            <a:bodyPr lIns="90000" tIns="46800" rIns="90000" bIns="46800">
              <a:spAutoFit/>
            </a:bodyPr>
            <a:lstStyle/>
            <a:p>
              <a:pPr algn="r">
                <a:spcBef>
                  <a:spcPct val="50000"/>
                </a:spcBef>
              </a:pPr>
              <a:r>
                <a:rPr lang="en-GB" sz="1600" dirty="0" smtClean="0">
                  <a:cs typeface="Arial" pitchFamily="34" charset="0"/>
                </a:rPr>
                <a:t>Password</a:t>
              </a:r>
              <a:endParaRPr lang="en-GB" sz="1600" dirty="0">
                <a:cs typeface="Arial" pitchFamily="34" charset="0"/>
              </a:endParaRPr>
            </a:p>
          </p:txBody>
        </p:sp>
      </p:grpSp>
      <p:sp>
        <p:nvSpPr>
          <p:cNvPr id="11" name="TextBox 10"/>
          <p:cNvSpPr txBox="1"/>
          <p:nvPr/>
        </p:nvSpPr>
        <p:spPr>
          <a:xfrm>
            <a:off x="428596" y="1632458"/>
            <a:ext cx="1714512" cy="369332"/>
          </a:xfrm>
          <a:prstGeom prst="rect">
            <a:avLst/>
          </a:prstGeom>
          <a:noFill/>
        </p:spPr>
        <p:txBody>
          <a:bodyPr wrap="square" rtlCol="0">
            <a:spAutoFit/>
          </a:bodyPr>
          <a:lstStyle/>
          <a:p>
            <a:pPr algn="ctr"/>
            <a:r>
              <a:rPr lang="fi-FI" b="1" dirty="0" smtClean="0"/>
              <a:t>Pure Scripted</a:t>
            </a:r>
            <a:endParaRPr lang="fi-FI" b="1" dirty="0"/>
          </a:p>
        </p:txBody>
      </p:sp>
      <p:sp>
        <p:nvSpPr>
          <p:cNvPr id="12" name="TextBox 11"/>
          <p:cNvSpPr txBox="1"/>
          <p:nvPr/>
        </p:nvSpPr>
        <p:spPr>
          <a:xfrm>
            <a:off x="3000364" y="2500306"/>
            <a:ext cx="2571768" cy="369332"/>
          </a:xfrm>
          <a:prstGeom prst="rect">
            <a:avLst/>
          </a:prstGeom>
          <a:noFill/>
        </p:spPr>
        <p:txBody>
          <a:bodyPr wrap="square" rtlCol="0">
            <a:spAutoFit/>
          </a:bodyPr>
          <a:lstStyle/>
          <a:p>
            <a:pPr algn="ctr"/>
            <a:r>
              <a:rPr lang="fi-FI" b="1" dirty="0" smtClean="0"/>
              <a:t>Generic (Vague) Scripts</a:t>
            </a:r>
            <a:endParaRPr lang="fi-FI" b="1" dirty="0"/>
          </a:p>
        </p:txBody>
      </p:sp>
      <p:sp>
        <p:nvSpPr>
          <p:cNvPr id="13" name="TextBox 12"/>
          <p:cNvSpPr txBox="1"/>
          <p:nvPr/>
        </p:nvSpPr>
        <p:spPr>
          <a:xfrm>
            <a:off x="5857884" y="2897900"/>
            <a:ext cx="2571768" cy="369332"/>
          </a:xfrm>
          <a:prstGeom prst="rect">
            <a:avLst/>
          </a:prstGeom>
          <a:noFill/>
        </p:spPr>
        <p:txBody>
          <a:bodyPr wrap="square" rtlCol="0">
            <a:spAutoFit/>
          </a:bodyPr>
          <a:lstStyle/>
          <a:p>
            <a:pPr algn="ctr"/>
            <a:r>
              <a:rPr lang="fi-FI" b="1" dirty="0" smtClean="0"/>
              <a:t>Checklist</a:t>
            </a:r>
            <a:endParaRPr lang="fi-FI" b="1" dirty="0"/>
          </a:p>
        </p:txBody>
      </p:sp>
      <p:sp>
        <p:nvSpPr>
          <p:cNvPr id="14" name="Rectangle 13"/>
          <p:cNvSpPr/>
          <p:nvPr/>
        </p:nvSpPr>
        <p:spPr>
          <a:xfrm>
            <a:off x="6429388" y="3255090"/>
            <a:ext cx="2857520" cy="3388620"/>
          </a:xfrm>
          <a:prstGeom prst="rect">
            <a:avLst/>
          </a:prstGeom>
        </p:spPr>
        <p:txBody>
          <a:bodyPr wrap="square">
            <a:spAutoFit/>
          </a:bodyPr>
          <a:lstStyle/>
          <a:p>
            <a:pPr>
              <a:lnSpc>
                <a:spcPct val="90000"/>
              </a:lnSpc>
            </a:pPr>
            <a:r>
              <a:rPr lang="en-US" sz="1400" dirty="0" smtClean="0"/>
              <a:t>Input fields:</a:t>
            </a:r>
          </a:p>
          <a:p>
            <a:pPr lvl="1">
              <a:lnSpc>
                <a:spcPct val="90000"/>
              </a:lnSpc>
            </a:pPr>
            <a:r>
              <a:rPr lang="en-US" sz="1400" dirty="0" smtClean="0"/>
              <a:t>Valid data</a:t>
            </a:r>
          </a:p>
          <a:p>
            <a:pPr lvl="1">
              <a:lnSpc>
                <a:spcPct val="90000"/>
              </a:lnSpc>
            </a:pPr>
            <a:r>
              <a:rPr lang="en-US" sz="1400" dirty="0" smtClean="0"/>
              <a:t>Invalid data</a:t>
            </a:r>
          </a:p>
          <a:p>
            <a:pPr lvl="1">
              <a:lnSpc>
                <a:spcPct val="90000"/>
              </a:lnSpc>
            </a:pPr>
            <a:r>
              <a:rPr lang="en-US" sz="1400" dirty="0" smtClean="0"/>
              <a:t>Length &gt; max</a:t>
            </a:r>
          </a:p>
          <a:p>
            <a:pPr lvl="1">
              <a:lnSpc>
                <a:spcPct val="90000"/>
              </a:lnSpc>
            </a:pPr>
            <a:r>
              <a:rPr lang="en-US" sz="1400" dirty="0" smtClean="0"/>
              <a:t>Length = max +1</a:t>
            </a:r>
          </a:p>
          <a:p>
            <a:pPr lvl="1">
              <a:lnSpc>
                <a:spcPct val="90000"/>
              </a:lnSpc>
            </a:pPr>
            <a:r>
              <a:rPr lang="en-US" sz="1400" dirty="0" smtClean="0"/>
              <a:t>Length = max</a:t>
            </a:r>
          </a:p>
          <a:p>
            <a:pPr lvl="1">
              <a:lnSpc>
                <a:spcPct val="90000"/>
              </a:lnSpc>
            </a:pPr>
            <a:r>
              <a:rPr lang="en-US" sz="1400" dirty="0" smtClean="0"/>
              <a:t>Length = max –1</a:t>
            </a:r>
          </a:p>
          <a:p>
            <a:pPr lvl="1">
              <a:lnSpc>
                <a:spcPct val="90000"/>
              </a:lnSpc>
            </a:pPr>
            <a:r>
              <a:rPr lang="en-US" sz="1400" dirty="0" smtClean="0"/>
              <a:t>Combinations of above</a:t>
            </a:r>
          </a:p>
          <a:p>
            <a:pPr lvl="1">
              <a:lnSpc>
                <a:spcPct val="90000"/>
              </a:lnSpc>
            </a:pPr>
            <a:r>
              <a:rPr lang="en-US" sz="1400" dirty="0" smtClean="0"/>
              <a:t>…</a:t>
            </a:r>
          </a:p>
          <a:p>
            <a:pPr>
              <a:lnSpc>
                <a:spcPct val="90000"/>
              </a:lnSpc>
            </a:pPr>
            <a:r>
              <a:rPr lang="en-US" sz="1400" dirty="0" smtClean="0"/>
              <a:t>Actions:</a:t>
            </a:r>
          </a:p>
          <a:p>
            <a:pPr lvl="1">
              <a:lnSpc>
                <a:spcPct val="90000"/>
              </a:lnSpc>
            </a:pPr>
            <a:r>
              <a:rPr lang="en-US" sz="1400" dirty="0" smtClean="0"/>
              <a:t>Keyboard</a:t>
            </a:r>
          </a:p>
          <a:p>
            <a:pPr lvl="1">
              <a:lnSpc>
                <a:spcPct val="90000"/>
              </a:lnSpc>
            </a:pPr>
            <a:r>
              <a:rPr lang="en-US" sz="1400" dirty="0" smtClean="0"/>
              <a:t>Buttons</a:t>
            </a:r>
          </a:p>
          <a:p>
            <a:pPr lvl="1">
              <a:lnSpc>
                <a:spcPct val="90000"/>
              </a:lnSpc>
            </a:pPr>
            <a:r>
              <a:rPr lang="en-US" sz="1400" dirty="0" smtClean="0"/>
              <a:t>…</a:t>
            </a:r>
            <a:endParaRPr lang="en-GB" sz="1400" dirty="0" smtClean="0"/>
          </a:p>
          <a:p>
            <a:pPr>
              <a:lnSpc>
                <a:spcPct val="90000"/>
              </a:lnSpc>
            </a:pPr>
            <a:r>
              <a:rPr lang="en-US" sz="1400" dirty="0" smtClean="0"/>
              <a:t>Operations:</a:t>
            </a:r>
          </a:p>
          <a:p>
            <a:pPr lvl="1">
              <a:lnSpc>
                <a:spcPct val="90000"/>
              </a:lnSpc>
            </a:pPr>
            <a:r>
              <a:rPr lang="en-US" sz="1400" dirty="0" smtClean="0"/>
              <a:t>Add, Modify, Inquiry, Delete</a:t>
            </a:r>
          </a:p>
          <a:p>
            <a:pPr lvl="2">
              <a:lnSpc>
                <a:spcPct val="90000"/>
              </a:lnSpc>
            </a:pPr>
            <a:r>
              <a:rPr lang="en-US" sz="1400" dirty="0" smtClean="0"/>
              <a:t>What to test for each…</a:t>
            </a:r>
          </a:p>
          <a:p>
            <a:pPr lvl="1">
              <a:lnSpc>
                <a:spcPct val="90000"/>
              </a:lnSpc>
            </a:pPr>
            <a:r>
              <a:rPr lang="en-GB" sz="1400" dirty="0" smtClean="0"/>
              <a:t>…</a:t>
            </a:r>
          </a:p>
        </p:txBody>
      </p:sp>
      <p:sp>
        <p:nvSpPr>
          <p:cNvPr id="16" name="Rectangle 15"/>
          <p:cNvSpPr/>
          <p:nvPr/>
        </p:nvSpPr>
        <p:spPr>
          <a:xfrm>
            <a:off x="3000364" y="2857496"/>
            <a:ext cx="2928942" cy="2806922"/>
          </a:xfrm>
          <a:prstGeom prst="rect">
            <a:avLst/>
          </a:prstGeom>
        </p:spPr>
        <p:txBody>
          <a:bodyPr wrap="square">
            <a:spAutoFit/>
          </a:bodyPr>
          <a:lstStyle/>
          <a:p>
            <a:pPr>
              <a:lnSpc>
                <a:spcPct val="90000"/>
              </a:lnSpc>
            </a:pPr>
            <a:r>
              <a:rPr lang="en-US" sz="1400" dirty="0" smtClean="0"/>
              <a:t>Sample generic test script 1:</a:t>
            </a:r>
          </a:p>
          <a:p>
            <a:pPr lvl="1">
              <a:lnSpc>
                <a:spcPct val="90000"/>
              </a:lnSpc>
            </a:pPr>
            <a:r>
              <a:rPr lang="en-US" sz="1400" dirty="0" smtClean="0"/>
              <a:t>Launch the Login screen</a:t>
            </a:r>
          </a:p>
          <a:p>
            <a:pPr lvl="1">
              <a:lnSpc>
                <a:spcPct val="90000"/>
              </a:lnSpc>
            </a:pPr>
            <a:r>
              <a:rPr lang="en-US" sz="1400" dirty="0" smtClean="0"/>
              <a:t>Enter valid </a:t>
            </a:r>
            <a:r>
              <a:rPr lang="en-US" sz="1400" dirty="0" err="1" smtClean="0"/>
              <a:t>UserID</a:t>
            </a:r>
            <a:endParaRPr lang="en-US" sz="1400" dirty="0" smtClean="0"/>
          </a:p>
          <a:p>
            <a:pPr lvl="1">
              <a:lnSpc>
                <a:spcPct val="90000"/>
              </a:lnSpc>
            </a:pPr>
            <a:r>
              <a:rPr lang="en-US" sz="1400" dirty="0" smtClean="0"/>
              <a:t>Enter valid Password</a:t>
            </a:r>
          </a:p>
          <a:p>
            <a:pPr lvl="1">
              <a:lnSpc>
                <a:spcPct val="90000"/>
              </a:lnSpc>
            </a:pPr>
            <a:r>
              <a:rPr lang="en-US" sz="1400" dirty="0" smtClean="0"/>
              <a:t>Press &lt;Enter&gt; or click button</a:t>
            </a:r>
          </a:p>
          <a:p>
            <a:pPr lvl="1">
              <a:lnSpc>
                <a:spcPct val="90000"/>
              </a:lnSpc>
            </a:pPr>
            <a:r>
              <a:rPr lang="en-US" sz="1400" dirty="0" smtClean="0"/>
              <a:t>Expected result: login ok</a:t>
            </a:r>
          </a:p>
          <a:p>
            <a:pPr>
              <a:lnSpc>
                <a:spcPct val="90000"/>
              </a:lnSpc>
            </a:pPr>
            <a:r>
              <a:rPr lang="en-US" sz="1400" dirty="0" smtClean="0"/>
              <a:t>Sample generic test script 2:</a:t>
            </a:r>
          </a:p>
          <a:p>
            <a:pPr lvl="1">
              <a:lnSpc>
                <a:spcPct val="90000"/>
              </a:lnSpc>
            </a:pPr>
            <a:r>
              <a:rPr lang="en-US" sz="1400" dirty="0" smtClean="0"/>
              <a:t>Launch the Login screen</a:t>
            </a:r>
          </a:p>
          <a:p>
            <a:pPr lvl="1">
              <a:lnSpc>
                <a:spcPct val="90000"/>
              </a:lnSpc>
            </a:pPr>
            <a:r>
              <a:rPr lang="en-US" sz="1400" dirty="0" smtClean="0"/>
              <a:t>Enter invalid </a:t>
            </a:r>
            <a:r>
              <a:rPr lang="en-US" sz="1400" dirty="0" err="1" smtClean="0"/>
              <a:t>UserId</a:t>
            </a:r>
            <a:endParaRPr lang="en-US" sz="1400" dirty="0" smtClean="0"/>
          </a:p>
          <a:p>
            <a:pPr lvl="1">
              <a:lnSpc>
                <a:spcPct val="90000"/>
              </a:lnSpc>
            </a:pPr>
            <a:r>
              <a:rPr lang="en-US" sz="1400" dirty="0" smtClean="0"/>
              <a:t>Enter valid Password</a:t>
            </a:r>
          </a:p>
          <a:p>
            <a:pPr lvl="1">
              <a:lnSpc>
                <a:spcPct val="90000"/>
              </a:lnSpc>
            </a:pPr>
            <a:r>
              <a:rPr lang="en-US" sz="1400" dirty="0" smtClean="0"/>
              <a:t>Press &lt;Enter&gt; or click button</a:t>
            </a:r>
          </a:p>
          <a:p>
            <a:pPr lvl="1">
              <a:lnSpc>
                <a:spcPct val="90000"/>
              </a:lnSpc>
            </a:pPr>
            <a:r>
              <a:rPr lang="en-US" sz="1400" dirty="0" smtClean="0"/>
              <a:t>Expected result: </a:t>
            </a:r>
            <a:br>
              <a:rPr lang="en-US" sz="1400" dirty="0" smtClean="0"/>
            </a:br>
            <a:r>
              <a:rPr lang="en-US" sz="1400" dirty="0" smtClean="0"/>
              <a:t>login rejected</a:t>
            </a:r>
          </a:p>
          <a:p>
            <a:pPr>
              <a:lnSpc>
                <a:spcPct val="90000"/>
              </a:lnSpc>
            </a:pPr>
            <a:r>
              <a:rPr lang="en-US" sz="1400" dirty="0" smtClean="0"/>
              <a:t>…</a:t>
            </a:r>
            <a:endParaRPr lang="en-GB" sz="1400" dirty="0" smtClean="0"/>
          </a:p>
        </p:txBody>
      </p:sp>
      <p:sp>
        <p:nvSpPr>
          <p:cNvPr id="17" name="Rectangle 16"/>
          <p:cNvSpPr/>
          <p:nvPr/>
        </p:nvSpPr>
        <p:spPr>
          <a:xfrm>
            <a:off x="214282" y="1989648"/>
            <a:ext cx="2714644" cy="4745915"/>
          </a:xfrm>
          <a:prstGeom prst="rect">
            <a:avLst/>
          </a:prstGeom>
        </p:spPr>
        <p:txBody>
          <a:bodyPr wrap="square">
            <a:spAutoFit/>
          </a:bodyPr>
          <a:lstStyle/>
          <a:p>
            <a:pPr>
              <a:lnSpc>
                <a:spcPct val="90000"/>
              </a:lnSpc>
            </a:pPr>
            <a:r>
              <a:rPr lang="en-US" sz="1400" dirty="0" smtClean="0"/>
              <a:t>Sample test script 1:</a:t>
            </a:r>
          </a:p>
          <a:p>
            <a:pPr lvl="1">
              <a:lnSpc>
                <a:spcPct val="90000"/>
              </a:lnSpc>
            </a:pPr>
            <a:r>
              <a:rPr lang="en-US" sz="1400" dirty="0" smtClean="0"/>
              <a:t>Launch the Login screen</a:t>
            </a:r>
          </a:p>
          <a:p>
            <a:pPr lvl="1">
              <a:lnSpc>
                <a:spcPct val="90000"/>
              </a:lnSpc>
            </a:pPr>
            <a:r>
              <a:rPr lang="en-US" sz="1400" dirty="0" smtClean="0"/>
              <a:t>Enter </a:t>
            </a:r>
            <a:r>
              <a:rPr lang="en-US" sz="1400" dirty="0" err="1" smtClean="0"/>
              <a:t>UserId</a:t>
            </a:r>
            <a:r>
              <a:rPr lang="en-US" sz="1400" dirty="0" smtClean="0"/>
              <a:t>: “</a:t>
            </a:r>
            <a:r>
              <a:rPr lang="en-US" sz="1400" dirty="0" err="1" smtClean="0"/>
              <a:t>abc</a:t>
            </a:r>
            <a:r>
              <a:rPr lang="en-US" sz="1400" dirty="0" smtClean="0"/>
              <a:t>”</a:t>
            </a:r>
          </a:p>
          <a:p>
            <a:pPr lvl="1">
              <a:lnSpc>
                <a:spcPct val="90000"/>
              </a:lnSpc>
            </a:pPr>
            <a:r>
              <a:rPr lang="en-US" sz="1400" dirty="0" smtClean="0"/>
              <a:t>Enter Password: “xyz”</a:t>
            </a:r>
          </a:p>
          <a:p>
            <a:pPr lvl="1">
              <a:lnSpc>
                <a:spcPct val="90000"/>
              </a:lnSpc>
            </a:pPr>
            <a:r>
              <a:rPr lang="en-US" sz="1400" dirty="0" smtClean="0"/>
              <a:t>Press &lt;Enter&gt;</a:t>
            </a:r>
          </a:p>
          <a:p>
            <a:pPr lvl="1">
              <a:lnSpc>
                <a:spcPct val="90000"/>
              </a:lnSpc>
            </a:pPr>
            <a:r>
              <a:rPr lang="en-US" sz="1400" dirty="0" smtClean="0"/>
              <a:t>Expected result: login ok</a:t>
            </a:r>
          </a:p>
          <a:p>
            <a:pPr>
              <a:lnSpc>
                <a:spcPct val="90000"/>
              </a:lnSpc>
            </a:pPr>
            <a:r>
              <a:rPr lang="en-US" sz="1400" dirty="0" smtClean="0"/>
              <a:t>Sample test script 2:</a:t>
            </a:r>
          </a:p>
          <a:p>
            <a:pPr lvl="1">
              <a:lnSpc>
                <a:spcPct val="90000"/>
              </a:lnSpc>
            </a:pPr>
            <a:r>
              <a:rPr lang="en-US" sz="1400" dirty="0" smtClean="0"/>
              <a:t>Launch the Login screen</a:t>
            </a:r>
          </a:p>
          <a:p>
            <a:pPr lvl="1">
              <a:lnSpc>
                <a:spcPct val="90000"/>
              </a:lnSpc>
            </a:pPr>
            <a:r>
              <a:rPr lang="en-US" sz="1400" dirty="0" smtClean="0"/>
              <a:t>Enter </a:t>
            </a:r>
            <a:r>
              <a:rPr lang="en-US" sz="1400" dirty="0" err="1" smtClean="0"/>
              <a:t>UserId</a:t>
            </a:r>
            <a:r>
              <a:rPr lang="en-US" sz="1400" dirty="0" smtClean="0"/>
              <a:t>: “</a:t>
            </a:r>
            <a:r>
              <a:rPr lang="en-US" sz="1400" dirty="0" err="1" smtClean="0"/>
              <a:t>abc</a:t>
            </a:r>
            <a:r>
              <a:rPr lang="en-US" sz="1400" dirty="0" smtClean="0"/>
              <a:t>”</a:t>
            </a:r>
          </a:p>
          <a:p>
            <a:pPr lvl="1">
              <a:lnSpc>
                <a:spcPct val="90000"/>
              </a:lnSpc>
            </a:pPr>
            <a:r>
              <a:rPr lang="en-US" sz="1400" dirty="0" smtClean="0"/>
              <a:t>Enter Password: “xyz”</a:t>
            </a:r>
          </a:p>
          <a:p>
            <a:pPr lvl="1">
              <a:lnSpc>
                <a:spcPct val="90000"/>
              </a:lnSpc>
            </a:pPr>
            <a:r>
              <a:rPr lang="en-US" sz="1400" dirty="0" smtClean="0"/>
              <a:t>Click the “Login” button</a:t>
            </a:r>
          </a:p>
          <a:p>
            <a:pPr lvl="1">
              <a:lnSpc>
                <a:spcPct val="90000"/>
              </a:lnSpc>
            </a:pPr>
            <a:r>
              <a:rPr lang="en-US" sz="1400" dirty="0" smtClean="0"/>
              <a:t>Expected result: login ok</a:t>
            </a:r>
          </a:p>
          <a:p>
            <a:pPr>
              <a:lnSpc>
                <a:spcPct val="90000"/>
              </a:lnSpc>
            </a:pPr>
            <a:r>
              <a:rPr lang="en-US" sz="1400" dirty="0" smtClean="0"/>
              <a:t>Sample test script 3:</a:t>
            </a:r>
          </a:p>
          <a:p>
            <a:pPr lvl="1">
              <a:lnSpc>
                <a:spcPct val="90000"/>
              </a:lnSpc>
            </a:pPr>
            <a:r>
              <a:rPr lang="en-US" sz="1400" dirty="0" smtClean="0"/>
              <a:t>Launch the Login screen</a:t>
            </a:r>
          </a:p>
          <a:p>
            <a:pPr lvl="1">
              <a:lnSpc>
                <a:spcPct val="90000"/>
              </a:lnSpc>
            </a:pPr>
            <a:r>
              <a:rPr lang="en-US" sz="1400" dirty="0" smtClean="0"/>
              <a:t>Enter </a:t>
            </a:r>
            <a:r>
              <a:rPr lang="en-US" sz="1400" dirty="0" err="1" smtClean="0"/>
              <a:t>UserId</a:t>
            </a:r>
            <a:r>
              <a:rPr lang="en-US" sz="1400" dirty="0" smtClean="0"/>
              <a:t>: “”</a:t>
            </a:r>
          </a:p>
          <a:p>
            <a:pPr lvl="1">
              <a:lnSpc>
                <a:spcPct val="90000"/>
              </a:lnSpc>
            </a:pPr>
            <a:r>
              <a:rPr lang="en-US" sz="1400" dirty="0" smtClean="0"/>
              <a:t>Enter Password: “xyz”</a:t>
            </a:r>
          </a:p>
          <a:p>
            <a:pPr lvl="1">
              <a:lnSpc>
                <a:spcPct val="90000"/>
              </a:lnSpc>
            </a:pPr>
            <a:r>
              <a:rPr lang="en-US" sz="1400" dirty="0" smtClean="0"/>
              <a:t>Press &lt;Enter&gt;</a:t>
            </a:r>
          </a:p>
          <a:p>
            <a:pPr lvl="1">
              <a:lnSpc>
                <a:spcPct val="90000"/>
              </a:lnSpc>
            </a:pPr>
            <a:r>
              <a:rPr lang="en-US" sz="1400" dirty="0" smtClean="0"/>
              <a:t>Expected: login rejected</a:t>
            </a:r>
          </a:p>
          <a:p>
            <a:pPr>
              <a:lnSpc>
                <a:spcPct val="90000"/>
              </a:lnSpc>
            </a:pPr>
            <a:r>
              <a:rPr lang="en-US" sz="1400" dirty="0" smtClean="0"/>
              <a:t>Sample test script 4:</a:t>
            </a:r>
          </a:p>
          <a:p>
            <a:pPr lvl="1">
              <a:lnSpc>
                <a:spcPct val="90000"/>
              </a:lnSpc>
            </a:pPr>
            <a:r>
              <a:rPr lang="en-US" sz="1400" dirty="0" smtClean="0"/>
              <a:t>Launch the Login screen</a:t>
            </a:r>
          </a:p>
          <a:p>
            <a:pPr lvl="1">
              <a:lnSpc>
                <a:spcPct val="90000"/>
              </a:lnSpc>
            </a:pPr>
            <a:r>
              <a:rPr lang="en-US" sz="1400" dirty="0" smtClean="0"/>
              <a:t>Enter </a:t>
            </a:r>
            <a:r>
              <a:rPr lang="en-US" sz="1400" dirty="0" err="1" smtClean="0"/>
              <a:t>UserId</a:t>
            </a:r>
            <a:r>
              <a:rPr lang="en-US" sz="1400" dirty="0" smtClean="0"/>
              <a:t>: “”</a:t>
            </a:r>
          </a:p>
          <a:p>
            <a:pPr lvl="1">
              <a:lnSpc>
                <a:spcPct val="90000"/>
              </a:lnSpc>
            </a:pPr>
            <a:r>
              <a:rPr lang="en-US" sz="1400" dirty="0" smtClean="0"/>
              <a:t>Enter Password: “xyz”</a:t>
            </a:r>
          </a:p>
          <a:p>
            <a:pPr lvl="1">
              <a:lnSpc>
                <a:spcPct val="90000"/>
              </a:lnSpc>
            </a:pPr>
            <a:r>
              <a:rPr lang="en-US" sz="1400" dirty="0" smtClean="0"/>
              <a:t>Click the “Login” button</a:t>
            </a:r>
          </a:p>
          <a:p>
            <a:pPr lvl="1">
              <a:lnSpc>
                <a:spcPct val="90000"/>
              </a:lnSpc>
            </a:pPr>
            <a:r>
              <a:rPr lang="en-US" sz="1400" dirty="0" smtClean="0"/>
              <a:t>Expected: login rejected</a:t>
            </a:r>
            <a:endParaRPr lang="en-GB" sz="1400" dirty="0" smtClean="0"/>
          </a:p>
        </p:txBody>
      </p:sp>
      <p:cxnSp>
        <p:nvCxnSpPr>
          <p:cNvPr id="20" name="Straight Connector 19"/>
          <p:cNvCxnSpPr/>
          <p:nvPr/>
        </p:nvCxnSpPr>
        <p:spPr>
          <a:xfrm rot="5400000">
            <a:off x="928662" y="4143380"/>
            <a:ext cx="4000528" cy="1588"/>
          </a:xfrm>
          <a:prstGeom prst="line">
            <a:avLst/>
          </a:prstGeom>
          <a:ln>
            <a:prstDash val="lgDashDot"/>
          </a:ln>
        </p:spPr>
        <p:style>
          <a:lnRef idx="2">
            <a:schemeClr val="accent6"/>
          </a:lnRef>
          <a:fillRef idx="0">
            <a:schemeClr val="accent6"/>
          </a:fillRef>
          <a:effectRef idx="1">
            <a:schemeClr val="accent6"/>
          </a:effectRef>
          <a:fontRef idx="minor">
            <a:schemeClr val="tx1"/>
          </a:fontRef>
        </p:style>
      </p:cxnSp>
      <p:cxnSp>
        <p:nvCxnSpPr>
          <p:cNvPr id="21" name="Straight Connector 20"/>
          <p:cNvCxnSpPr/>
          <p:nvPr/>
        </p:nvCxnSpPr>
        <p:spPr>
          <a:xfrm rot="5400000">
            <a:off x="4322761" y="4535495"/>
            <a:ext cx="3500462" cy="1588"/>
          </a:xfrm>
          <a:prstGeom prst="line">
            <a:avLst/>
          </a:prstGeom>
          <a:ln>
            <a:prstDash val="lgDashDot"/>
          </a:ln>
        </p:spPr>
        <p:style>
          <a:lnRef idx="2">
            <a:schemeClr val="accent6"/>
          </a:lnRef>
          <a:fillRef idx="0">
            <a:schemeClr val="accent6"/>
          </a:fillRef>
          <a:effectRef idx="1">
            <a:schemeClr val="accent6"/>
          </a:effectRef>
          <a:fontRef idx="minor">
            <a:schemeClr val="tx1"/>
          </a:fontRef>
        </p:style>
      </p:cxnSp>
      <p:sp>
        <p:nvSpPr>
          <p:cNvPr id="19" name="Slide Number Placeholder 18"/>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ChangeArrowheads="1"/>
          </p:cNvSpPr>
          <p:nvPr/>
        </p:nvSpPr>
        <p:spPr bwMode="auto">
          <a:xfrm>
            <a:off x="6019800" y="685800"/>
            <a:ext cx="3048000" cy="990600"/>
          </a:xfrm>
          <a:prstGeom prst="rect">
            <a:avLst/>
          </a:prstGeom>
          <a:solidFill>
            <a:schemeClr val="bg2">
              <a:alpha val="50000"/>
            </a:schemeClr>
          </a:solidFill>
          <a:ln w="12700">
            <a:noFill/>
            <a:miter lim="800000"/>
            <a:headEnd/>
            <a:tailEnd/>
          </a:ln>
          <a:effectLst/>
        </p:spPr>
        <p:txBody>
          <a:bodyPr wrap="none" lIns="90000" tIns="46800" rIns="90000" bIns="46800" anchor="ctr"/>
          <a:lstStyle/>
          <a:p>
            <a:endParaRPr lang="fi-FI"/>
          </a:p>
        </p:txBody>
      </p:sp>
      <p:sp>
        <p:nvSpPr>
          <p:cNvPr id="114691" name="Rectangle 3"/>
          <p:cNvSpPr>
            <a:spLocks noGrp="1" noChangeArrowheads="1"/>
          </p:cNvSpPr>
          <p:nvPr>
            <p:ph type="title"/>
          </p:nvPr>
        </p:nvSpPr>
        <p:spPr>
          <a:xfrm>
            <a:off x="457200" y="152400"/>
            <a:ext cx="8229600" cy="1143000"/>
          </a:xfrm>
        </p:spPr>
        <p:txBody>
          <a:bodyPr>
            <a:normAutofit fontScale="90000"/>
          </a:bodyPr>
          <a:lstStyle/>
          <a:p>
            <a:pPr defTabSz="762000"/>
            <a:r>
              <a:rPr lang="en-GB" dirty="0" smtClean="0"/>
              <a:t>Example: Classification Tree Technique</a:t>
            </a:r>
            <a:r>
              <a:rPr lang="en-GB" dirty="0"/>
              <a:t/>
            </a:r>
            <a:br>
              <a:rPr lang="en-GB" dirty="0"/>
            </a:br>
            <a:endParaRPr lang="en-GB" dirty="0"/>
          </a:p>
        </p:txBody>
      </p:sp>
      <p:sp>
        <p:nvSpPr>
          <p:cNvPr id="114692" name="Rectangle 4"/>
          <p:cNvSpPr>
            <a:spLocks noChangeArrowheads="1"/>
          </p:cNvSpPr>
          <p:nvPr/>
        </p:nvSpPr>
        <p:spPr bwMode="auto">
          <a:xfrm>
            <a:off x="3200400" y="1295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dirty="0" smtClean="0">
                <a:cs typeface="Arial" pitchFamily="34" charset="0"/>
              </a:rPr>
              <a:t>Login</a:t>
            </a:r>
            <a:endParaRPr lang="en-GB" sz="1600" dirty="0">
              <a:cs typeface="Arial" pitchFamily="34" charset="0"/>
            </a:endParaRPr>
          </a:p>
        </p:txBody>
      </p:sp>
      <p:sp>
        <p:nvSpPr>
          <p:cNvPr id="114693" name="Rectangle 5"/>
          <p:cNvSpPr>
            <a:spLocks noChangeArrowheads="1"/>
          </p:cNvSpPr>
          <p:nvPr/>
        </p:nvSpPr>
        <p:spPr bwMode="auto">
          <a:xfrm>
            <a:off x="6096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dirty="0" err="1" smtClean="0">
                <a:cs typeface="Arial" pitchFamily="34" charset="0"/>
              </a:rPr>
              <a:t>UserID</a:t>
            </a:r>
            <a:endParaRPr lang="en-GB" sz="1600" dirty="0">
              <a:cs typeface="Arial" pitchFamily="34" charset="0"/>
            </a:endParaRPr>
          </a:p>
        </p:txBody>
      </p:sp>
      <p:sp>
        <p:nvSpPr>
          <p:cNvPr id="114694" name="Rectangle 6"/>
          <p:cNvSpPr>
            <a:spLocks noChangeArrowheads="1"/>
          </p:cNvSpPr>
          <p:nvPr/>
        </p:nvSpPr>
        <p:spPr bwMode="auto">
          <a:xfrm>
            <a:off x="32004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dirty="0" smtClean="0">
                <a:cs typeface="Arial" pitchFamily="34" charset="0"/>
              </a:rPr>
              <a:t>Password</a:t>
            </a:r>
            <a:endParaRPr lang="en-GB" sz="1600" dirty="0">
              <a:cs typeface="Arial" pitchFamily="34" charset="0"/>
            </a:endParaRPr>
          </a:p>
        </p:txBody>
      </p:sp>
      <p:sp>
        <p:nvSpPr>
          <p:cNvPr id="114695" name="Rectangle 7"/>
          <p:cNvSpPr>
            <a:spLocks noChangeArrowheads="1"/>
          </p:cNvSpPr>
          <p:nvPr/>
        </p:nvSpPr>
        <p:spPr bwMode="auto">
          <a:xfrm>
            <a:off x="5791200" y="2057400"/>
            <a:ext cx="2438400" cy="609600"/>
          </a:xfrm>
          <a:prstGeom prst="rect">
            <a:avLst/>
          </a:prstGeom>
          <a:noFill/>
          <a:ln w="12700">
            <a:solidFill>
              <a:schemeClr val="accent2"/>
            </a:solidFill>
            <a:miter lim="800000"/>
            <a:headEnd/>
            <a:tailEnd/>
          </a:ln>
          <a:effectLst/>
        </p:spPr>
        <p:txBody>
          <a:bodyPr wrap="none" lIns="90000" tIns="46800" rIns="90000" bIns="46800" anchor="ctr"/>
          <a:lstStyle/>
          <a:p>
            <a:pPr algn="ctr"/>
            <a:r>
              <a:rPr lang="en-GB" sz="1600" dirty="0" smtClean="0">
                <a:cs typeface="Arial" pitchFamily="34" charset="0"/>
              </a:rPr>
              <a:t>Action</a:t>
            </a:r>
            <a:endParaRPr lang="en-GB" sz="1600" dirty="0">
              <a:cs typeface="Arial" pitchFamily="34" charset="0"/>
            </a:endParaRPr>
          </a:p>
        </p:txBody>
      </p:sp>
      <p:sp>
        <p:nvSpPr>
          <p:cNvPr id="114696" name="Rectangle 8"/>
          <p:cNvSpPr>
            <a:spLocks noChangeArrowheads="1"/>
          </p:cNvSpPr>
          <p:nvPr/>
        </p:nvSpPr>
        <p:spPr bwMode="auto">
          <a:xfrm>
            <a:off x="7162800" y="762000"/>
            <a:ext cx="1828800" cy="152400"/>
          </a:xfrm>
          <a:prstGeom prst="rect">
            <a:avLst/>
          </a:prstGeom>
          <a:noFill/>
          <a:ln w="12700">
            <a:solidFill>
              <a:schemeClr val="tx1"/>
            </a:solidFill>
            <a:miter lim="800000"/>
            <a:headEnd/>
            <a:tailEnd/>
          </a:ln>
          <a:effectLst/>
        </p:spPr>
        <p:txBody>
          <a:bodyPr wrap="none" lIns="90000" tIns="46800" rIns="90000" bIns="46800" anchor="ctr"/>
          <a:lstStyle/>
          <a:p>
            <a:endParaRPr lang="fi-FI"/>
          </a:p>
        </p:txBody>
      </p:sp>
      <p:sp>
        <p:nvSpPr>
          <p:cNvPr id="114697" name="Rectangle 9"/>
          <p:cNvSpPr>
            <a:spLocks noChangeArrowheads="1"/>
          </p:cNvSpPr>
          <p:nvPr/>
        </p:nvSpPr>
        <p:spPr bwMode="auto">
          <a:xfrm>
            <a:off x="7162800" y="990600"/>
            <a:ext cx="1828800" cy="152400"/>
          </a:xfrm>
          <a:prstGeom prst="rect">
            <a:avLst/>
          </a:prstGeom>
          <a:noFill/>
          <a:ln w="12700">
            <a:solidFill>
              <a:schemeClr val="tx1"/>
            </a:solidFill>
            <a:miter lim="800000"/>
            <a:headEnd/>
            <a:tailEnd/>
          </a:ln>
          <a:effectLst/>
        </p:spPr>
        <p:txBody>
          <a:bodyPr wrap="none" lIns="90000" tIns="46800" rIns="90000" bIns="46800" anchor="ctr"/>
          <a:lstStyle/>
          <a:p>
            <a:endParaRPr lang="fi-FI"/>
          </a:p>
        </p:txBody>
      </p:sp>
      <p:sp>
        <p:nvSpPr>
          <p:cNvPr id="114698" name="Rectangle 10"/>
          <p:cNvSpPr>
            <a:spLocks noChangeArrowheads="1"/>
          </p:cNvSpPr>
          <p:nvPr/>
        </p:nvSpPr>
        <p:spPr bwMode="auto">
          <a:xfrm>
            <a:off x="7315200" y="1295400"/>
            <a:ext cx="609600" cy="304800"/>
          </a:xfrm>
          <a:prstGeom prst="rect">
            <a:avLst/>
          </a:prstGeom>
          <a:noFill/>
          <a:ln w="12700">
            <a:solidFill>
              <a:schemeClr val="tx1"/>
            </a:solidFill>
            <a:miter lim="800000"/>
            <a:headEnd/>
            <a:tailEnd/>
          </a:ln>
          <a:effectLst/>
        </p:spPr>
        <p:txBody>
          <a:bodyPr wrap="none" lIns="90000" tIns="46800" rIns="90000" bIns="46800" anchor="ctr"/>
          <a:lstStyle/>
          <a:p>
            <a:pPr algn="ctr"/>
            <a:r>
              <a:rPr lang="en-GB" sz="1600">
                <a:cs typeface="Arial" pitchFamily="34" charset="0"/>
              </a:rPr>
              <a:t>Login</a:t>
            </a:r>
          </a:p>
        </p:txBody>
      </p:sp>
      <p:sp>
        <p:nvSpPr>
          <p:cNvPr id="114699" name="Rectangle 11"/>
          <p:cNvSpPr>
            <a:spLocks noChangeArrowheads="1"/>
          </p:cNvSpPr>
          <p:nvPr/>
        </p:nvSpPr>
        <p:spPr bwMode="auto">
          <a:xfrm>
            <a:off x="8077200" y="1295400"/>
            <a:ext cx="609600" cy="304800"/>
          </a:xfrm>
          <a:prstGeom prst="rect">
            <a:avLst/>
          </a:prstGeom>
          <a:noFill/>
          <a:ln w="12700">
            <a:solidFill>
              <a:schemeClr val="tx1"/>
            </a:solidFill>
            <a:miter lim="800000"/>
            <a:headEnd/>
            <a:tailEnd/>
          </a:ln>
          <a:effectLst/>
        </p:spPr>
        <p:txBody>
          <a:bodyPr wrap="none" lIns="90000" tIns="46800" rIns="90000" bIns="46800" anchor="ctr"/>
          <a:lstStyle/>
          <a:p>
            <a:pPr algn="ctr"/>
            <a:r>
              <a:rPr lang="en-GB" sz="1600">
                <a:cs typeface="Arial" pitchFamily="34" charset="0"/>
              </a:rPr>
              <a:t>Clear</a:t>
            </a:r>
          </a:p>
        </p:txBody>
      </p:sp>
      <p:sp>
        <p:nvSpPr>
          <p:cNvPr id="114700" name="Text Box 12"/>
          <p:cNvSpPr txBox="1">
            <a:spLocks noChangeArrowheads="1"/>
          </p:cNvSpPr>
          <p:nvPr/>
        </p:nvSpPr>
        <p:spPr bwMode="auto">
          <a:xfrm>
            <a:off x="5181600" y="654050"/>
            <a:ext cx="1981200" cy="340735"/>
          </a:xfrm>
          <a:prstGeom prst="rect">
            <a:avLst/>
          </a:prstGeom>
          <a:noFill/>
          <a:ln w="12700">
            <a:noFill/>
            <a:miter lim="800000"/>
            <a:headEnd/>
            <a:tailEnd/>
          </a:ln>
          <a:effectLst/>
        </p:spPr>
        <p:txBody>
          <a:bodyPr lIns="90000" tIns="46800" rIns="90000" bIns="46800">
            <a:spAutoFit/>
          </a:bodyPr>
          <a:lstStyle/>
          <a:p>
            <a:pPr algn="r">
              <a:spcBef>
                <a:spcPct val="50000"/>
              </a:spcBef>
            </a:pPr>
            <a:r>
              <a:rPr lang="en-GB" sz="1600" dirty="0" err="1" smtClean="0">
                <a:latin typeface="MetaPlusNormal" charset="0"/>
                <a:cs typeface="Arial" pitchFamily="34" charset="0"/>
              </a:rPr>
              <a:t>UserID</a:t>
            </a:r>
            <a:endParaRPr lang="en-GB" sz="1600" dirty="0">
              <a:latin typeface="MetaPlusNormal" charset="0"/>
              <a:cs typeface="Arial" pitchFamily="34" charset="0"/>
            </a:endParaRPr>
          </a:p>
        </p:txBody>
      </p:sp>
      <p:sp>
        <p:nvSpPr>
          <p:cNvPr id="114701" name="Text Box 13"/>
          <p:cNvSpPr txBox="1">
            <a:spLocks noChangeArrowheads="1"/>
          </p:cNvSpPr>
          <p:nvPr/>
        </p:nvSpPr>
        <p:spPr bwMode="auto">
          <a:xfrm>
            <a:off x="5181600" y="914400"/>
            <a:ext cx="1981200" cy="340735"/>
          </a:xfrm>
          <a:prstGeom prst="rect">
            <a:avLst/>
          </a:prstGeom>
          <a:noFill/>
          <a:ln w="12700">
            <a:noFill/>
            <a:miter lim="800000"/>
            <a:headEnd/>
            <a:tailEnd/>
          </a:ln>
          <a:effectLst/>
        </p:spPr>
        <p:txBody>
          <a:bodyPr lIns="90000" tIns="46800" rIns="90000" bIns="46800">
            <a:spAutoFit/>
          </a:bodyPr>
          <a:lstStyle/>
          <a:p>
            <a:pPr algn="r">
              <a:spcBef>
                <a:spcPct val="50000"/>
              </a:spcBef>
            </a:pPr>
            <a:r>
              <a:rPr lang="en-GB" sz="1600" dirty="0" smtClean="0">
                <a:cs typeface="Arial" pitchFamily="34" charset="0"/>
              </a:rPr>
              <a:t>Password</a:t>
            </a:r>
            <a:endParaRPr lang="en-GB" sz="1600" dirty="0">
              <a:cs typeface="Arial" pitchFamily="34" charset="0"/>
            </a:endParaRPr>
          </a:p>
        </p:txBody>
      </p:sp>
      <p:sp>
        <p:nvSpPr>
          <p:cNvPr id="114702" name="Text Box 14"/>
          <p:cNvSpPr txBox="1">
            <a:spLocks noChangeArrowheads="1"/>
          </p:cNvSpPr>
          <p:nvPr/>
        </p:nvSpPr>
        <p:spPr bwMode="auto">
          <a:xfrm>
            <a:off x="2590800" y="3733800"/>
            <a:ext cx="1219200" cy="586957"/>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special chars</a:t>
            </a:r>
            <a:endParaRPr lang="en-GB" sz="1600" dirty="0">
              <a:cs typeface="Arial" pitchFamily="34" charset="0"/>
            </a:endParaRPr>
          </a:p>
        </p:txBody>
      </p:sp>
      <p:sp>
        <p:nvSpPr>
          <p:cNvPr id="114703" name="Text Box 15"/>
          <p:cNvSpPr txBox="1">
            <a:spLocks noChangeArrowheads="1"/>
          </p:cNvSpPr>
          <p:nvPr/>
        </p:nvSpPr>
        <p:spPr bwMode="auto">
          <a:xfrm>
            <a:off x="3581400" y="3733800"/>
            <a:ext cx="1219200" cy="586957"/>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no special chars</a:t>
            </a:r>
            <a:endParaRPr lang="en-GB" sz="1600" dirty="0">
              <a:cs typeface="Arial" pitchFamily="34" charset="0"/>
            </a:endParaRPr>
          </a:p>
        </p:txBody>
      </p:sp>
      <p:cxnSp>
        <p:nvCxnSpPr>
          <p:cNvPr id="114704" name="AutoShape 16"/>
          <p:cNvCxnSpPr>
            <a:cxnSpLocks noChangeShapeType="1"/>
            <a:stCxn id="114692" idx="2"/>
            <a:endCxn id="114694" idx="0"/>
          </p:cNvCxnSpPr>
          <p:nvPr/>
        </p:nvCxnSpPr>
        <p:spPr bwMode="auto">
          <a:xfrm rot="5400000">
            <a:off x="4343400" y="1981200"/>
            <a:ext cx="152400" cy="0"/>
          </a:xfrm>
          <a:prstGeom prst="straightConnector1">
            <a:avLst/>
          </a:prstGeom>
          <a:noFill/>
          <a:ln w="12700">
            <a:solidFill>
              <a:schemeClr val="tx1"/>
            </a:solidFill>
            <a:round/>
            <a:headEnd/>
            <a:tailEnd/>
          </a:ln>
          <a:effectLst/>
        </p:spPr>
      </p:cxnSp>
      <p:cxnSp>
        <p:nvCxnSpPr>
          <p:cNvPr id="114705" name="AutoShape 17"/>
          <p:cNvCxnSpPr>
            <a:cxnSpLocks noChangeShapeType="1"/>
            <a:stCxn id="114692" idx="2"/>
            <a:endCxn id="114693" idx="0"/>
          </p:cNvCxnSpPr>
          <p:nvPr/>
        </p:nvCxnSpPr>
        <p:spPr bwMode="auto">
          <a:xfrm rot="5400000">
            <a:off x="3048000" y="685800"/>
            <a:ext cx="152400" cy="2590800"/>
          </a:xfrm>
          <a:prstGeom prst="bentConnector3">
            <a:avLst>
              <a:gd name="adj1" fmla="val 50000"/>
            </a:avLst>
          </a:prstGeom>
          <a:noFill/>
          <a:ln w="12700">
            <a:solidFill>
              <a:schemeClr val="tx1"/>
            </a:solidFill>
            <a:miter lim="800000"/>
            <a:headEnd/>
            <a:tailEnd/>
          </a:ln>
          <a:effectLst/>
        </p:spPr>
      </p:cxnSp>
      <p:cxnSp>
        <p:nvCxnSpPr>
          <p:cNvPr id="114706" name="AutoShape 18"/>
          <p:cNvCxnSpPr>
            <a:cxnSpLocks noChangeShapeType="1"/>
            <a:stCxn id="114692" idx="2"/>
            <a:endCxn id="114695" idx="0"/>
          </p:cNvCxnSpPr>
          <p:nvPr/>
        </p:nvCxnSpPr>
        <p:spPr bwMode="auto">
          <a:xfrm rot="16200000" flipH="1">
            <a:off x="5638800" y="685800"/>
            <a:ext cx="152400" cy="2590800"/>
          </a:xfrm>
          <a:prstGeom prst="bentConnector3">
            <a:avLst>
              <a:gd name="adj1" fmla="val 50000"/>
            </a:avLst>
          </a:prstGeom>
          <a:noFill/>
          <a:ln w="12700">
            <a:solidFill>
              <a:schemeClr val="tx1"/>
            </a:solidFill>
            <a:miter lim="800000"/>
            <a:headEnd/>
            <a:tailEnd/>
          </a:ln>
          <a:effectLst/>
        </p:spPr>
      </p:cxnSp>
      <p:cxnSp>
        <p:nvCxnSpPr>
          <p:cNvPr id="114707" name="AutoShape 19"/>
          <p:cNvCxnSpPr>
            <a:cxnSpLocks noChangeShapeType="1"/>
            <a:stCxn id="114693" idx="2"/>
            <a:endCxn id="114739" idx="0"/>
          </p:cNvCxnSpPr>
          <p:nvPr/>
        </p:nvCxnSpPr>
        <p:spPr bwMode="auto">
          <a:xfrm rot="5400000">
            <a:off x="1143000" y="2514600"/>
            <a:ext cx="533400" cy="838200"/>
          </a:xfrm>
          <a:prstGeom prst="bentConnector3">
            <a:avLst>
              <a:gd name="adj1" fmla="val 50000"/>
            </a:avLst>
          </a:prstGeom>
          <a:noFill/>
          <a:ln w="12700">
            <a:solidFill>
              <a:schemeClr val="tx1"/>
            </a:solidFill>
            <a:miter lim="800000"/>
            <a:headEnd/>
            <a:tailEnd/>
          </a:ln>
          <a:effectLst/>
        </p:spPr>
      </p:cxnSp>
      <p:cxnSp>
        <p:nvCxnSpPr>
          <p:cNvPr id="114708" name="AutoShape 20"/>
          <p:cNvCxnSpPr>
            <a:cxnSpLocks noChangeShapeType="1"/>
            <a:stCxn id="114693" idx="2"/>
            <a:endCxn id="114740" idx="2"/>
          </p:cNvCxnSpPr>
          <p:nvPr/>
        </p:nvCxnSpPr>
        <p:spPr bwMode="auto">
          <a:xfrm rot="16200000" flipH="1">
            <a:off x="1582233" y="2913567"/>
            <a:ext cx="874135" cy="381000"/>
          </a:xfrm>
          <a:prstGeom prst="bentConnector5">
            <a:avLst>
              <a:gd name="adj1" fmla="val 30510"/>
              <a:gd name="adj2" fmla="val 320000"/>
              <a:gd name="adj3" fmla="val 126152"/>
            </a:avLst>
          </a:prstGeom>
          <a:noFill/>
          <a:ln w="12700">
            <a:noFill/>
            <a:miter lim="800000"/>
            <a:headEnd/>
            <a:tailEnd/>
          </a:ln>
          <a:effectLst/>
        </p:spPr>
      </p:cxnSp>
      <p:cxnSp>
        <p:nvCxnSpPr>
          <p:cNvPr id="114709" name="AutoShape 21"/>
          <p:cNvCxnSpPr>
            <a:cxnSpLocks noChangeShapeType="1"/>
            <a:stCxn id="114693" idx="2"/>
            <a:endCxn id="114740" idx="0"/>
          </p:cNvCxnSpPr>
          <p:nvPr/>
        </p:nvCxnSpPr>
        <p:spPr bwMode="auto">
          <a:xfrm rot="16200000" flipH="1">
            <a:off x="1752600" y="2743200"/>
            <a:ext cx="533400" cy="381000"/>
          </a:xfrm>
          <a:prstGeom prst="bentConnector3">
            <a:avLst>
              <a:gd name="adj1" fmla="val 50000"/>
            </a:avLst>
          </a:prstGeom>
          <a:noFill/>
          <a:ln w="12700">
            <a:solidFill>
              <a:schemeClr val="tx1"/>
            </a:solidFill>
            <a:miter lim="800000"/>
            <a:headEnd/>
            <a:tailEnd/>
          </a:ln>
          <a:effectLst/>
        </p:spPr>
      </p:cxnSp>
      <p:cxnSp>
        <p:nvCxnSpPr>
          <p:cNvPr id="114710" name="AutoShape 22"/>
          <p:cNvCxnSpPr>
            <a:cxnSpLocks noChangeShapeType="1"/>
            <a:stCxn id="114694" idx="2"/>
            <a:endCxn id="114741" idx="0"/>
          </p:cNvCxnSpPr>
          <p:nvPr/>
        </p:nvCxnSpPr>
        <p:spPr bwMode="auto">
          <a:xfrm rot="5400000">
            <a:off x="3810000" y="2590800"/>
            <a:ext cx="533400" cy="685800"/>
          </a:xfrm>
          <a:prstGeom prst="bentConnector3">
            <a:avLst>
              <a:gd name="adj1" fmla="val 50000"/>
            </a:avLst>
          </a:prstGeom>
          <a:noFill/>
          <a:ln w="12700">
            <a:solidFill>
              <a:schemeClr val="tx1"/>
            </a:solidFill>
            <a:miter lim="800000"/>
            <a:headEnd/>
            <a:tailEnd/>
          </a:ln>
          <a:effectLst/>
        </p:spPr>
      </p:cxnSp>
      <p:cxnSp>
        <p:nvCxnSpPr>
          <p:cNvPr id="114711" name="AutoShape 23"/>
          <p:cNvCxnSpPr>
            <a:cxnSpLocks noChangeShapeType="1"/>
            <a:stCxn id="114694" idx="2"/>
            <a:endCxn id="114742" idx="0"/>
          </p:cNvCxnSpPr>
          <p:nvPr/>
        </p:nvCxnSpPr>
        <p:spPr bwMode="auto">
          <a:xfrm rot="16200000" flipH="1">
            <a:off x="4419600" y="2667000"/>
            <a:ext cx="533400" cy="533400"/>
          </a:xfrm>
          <a:prstGeom prst="bentConnector3">
            <a:avLst>
              <a:gd name="adj1" fmla="val 50000"/>
            </a:avLst>
          </a:prstGeom>
          <a:noFill/>
          <a:ln w="12700">
            <a:solidFill>
              <a:schemeClr val="tx1"/>
            </a:solidFill>
            <a:miter lim="800000"/>
            <a:headEnd/>
            <a:tailEnd/>
          </a:ln>
          <a:effectLst/>
        </p:spPr>
      </p:cxnSp>
      <p:cxnSp>
        <p:nvCxnSpPr>
          <p:cNvPr id="114712" name="AutoShape 24"/>
          <p:cNvCxnSpPr>
            <a:cxnSpLocks noChangeShapeType="1"/>
            <a:stCxn id="114695" idx="2"/>
            <a:endCxn id="114743" idx="0"/>
          </p:cNvCxnSpPr>
          <p:nvPr/>
        </p:nvCxnSpPr>
        <p:spPr bwMode="auto">
          <a:xfrm rot="5400000">
            <a:off x="6438900" y="2628900"/>
            <a:ext cx="533400" cy="609600"/>
          </a:xfrm>
          <a:prstGeom prst="bentConnector3">
            <a:avLst>
              <a:gd name="adj1" fmla="val 50000"/>
            </a:avLst>
          </a:prstGeom>
          <a:noFill/>
          <a:ln w="12700">
            <a:solidFill>
              <a:schemeClr val="tx1"/>
            </a:solidFill>
            <a:miter lim="800000"/>
            <a:headEnd/>
            <a:tailEnd/>
          </a:ln>
          <a:effectLst/>
        </p:spPr>
      </p:cxnSp>
      <p:cxnSp>
        <p:nvCxnSpPr>
          <p:cNvPr id="114713" name="AutoShape 25"/>
          <p:cNvCxnSpPr>
            <a:cxnSpLocks noChangeShapeType="1"/>
            <a:stCxn id="114695" idx="2"/>
            <a:endCxn id="114744" idx="0"/>
          </p:cNvCxnSpPr>
          <p:nvPr/>
        </p:nvCxnSpPr>
        <p:spPr bwMode="auto">
          <a:xfrm rot="16200000" flipH="1">
            <a:off x="7048500" y="2628900"/>
            <a:ext cx="533400" cy="609600"/>
          </a:xfrm>
          <a:prstGeom prst="bentConnector3">
            <a:avLst>
              <a:gd name="adj1" fmla="val 50000"/>
            </a:avLst>
          </a:prstGeom>
          <a:noFill/>
          <a:ln w="12700">
            <a:solidFill>
              <a:schemeClr val="tx1"/>
            </a:solidFill>
            <a:miter lim="800000"/>
            <a:headEnd/>
            <a:tailEnd/>
          </a:ln>
          <a:effectLst/>
        </p:spPr>
      </p:cxnSp>
      <p:cxnSp>
        <p:nvCxnSpPr>
          <p:cNvPr id="114714" name="AutoShape 26"/>
          <p:cNvCxnSpPr>
            <a:cxnSpLocks noChangeShapeType="1"/>
            <a:stCxn id="114741" idx="2"/>
            <a:endCxn id="114702" idx="0"/>
          </p:cNvCxnSpPr>
          <p:nvPr/>
        </p:nvCxnSpPr>
        <p:spPr bwMode="auto">
          <a:xfrm rot="5400000">
            <a:off x="3370768" y="3370767"/>
            <a:ext cx="192665" cy="533400"/>
          </a:xfrm>
          <a:prstGeom prst="bentConnector3">
            <a:avLst>
              <a:gd name="adj1" fmla="val 50000"/>
            </a:avLst>
          </a:prstGeom>
          <a:noFill/>
          <a:ln w="12700">
            <a:solidFill>
              <a:schemeClr val="tx1"/>
            </a:solidFill>
            <a:miter lim="800000"/>
            <a:headEnd/>
            <a:tailEnd/>
          </a:ln>
          <a:effectLst/>
        </p:spPr>
      </p:cxnSp>
      <p:cxnSp>
        <p:nvCxnSpPr>
          <p:cNvPr id="114715" name="AutoShape 27"/>
          <p:cNvCxnSpPr>
            <a:cxnSpLocks noChangeShapeType="1"/>
            <a:stCxn id="114741" idx="2"/>
            <a:endCxn id="114703" idx="0"/>
          </p:cNvCxnSpPr>
          <p:nvPr/>
        </p:nvCxnSpPr>
        <p:spPr bwMode="auto">
          <a:xfrm rot="16200000" flipH="1">
            <a:off x="3866068" y="3408867"/>
            <a:ext cx="192665" cy="457200"/>
          </a:xfrm>
          <a:prstGeom prst="bentConnector3">
            <a:avLst>
              <a:gd name="adj1" fmla="val 50000"/>
            </a:avLst>
          </a:prstGeom>
          <a:noFill/>
          <a:ln w="12700">
            <a:solidFill>
              <a:schemeClr val="tx1"/>
            </a:solidFill>
            <a:miter lim="800000"/>
            <a:headEnd/>
            <a:tailEnd/>
          </a:ln>
          <a:effectLst/>
        </p:spPr>
      </p:cxnSp>
      <p:sp>
        <p:nvSpPr>
          <p:cNvPr id="114716" name="Line 28"/>
          <p:cNvSpPr>
            <a:spLocks noChangeShapeType="1"/>
          </p:cNvSpPr>
          <p:nvPr/>
        </p:nvSpPr>
        <p:spPr bwMode="auto">
          <a:xfrm>
            <a:off x="9906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7" name="Line 29"/>
          <p:cNvSpPr>
            <a:spLocks noChangeShapeType="1"/>
          </p:cNvSpPr>
          <p:nvPr/>
        </p:nvSpPr>
        <p:spPr bwMode="auto">
          <a:xfrm>
            <a:off x="22098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8" name="Line 30"/>
          <p:cNvSpPr>
            <a:spLocks noChangeShapeType="1"/>
          </p:cNvSpPr>
          <p:nvPr/>
        </p:nvSpPr>
        <p:spPr bwMode="auto">
          <a:xfrm>
            <a:off x="3200400" y="4267200"/>
            <a:ext cx="0" cy="25908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19" name="Line 31"/>
          <p:cNvSpPr>
            <a:spLocks noChangeShapeType="1"/>
          </p:cNvSpPr>
          <p:nvPr/>
        </p:nvSpPr>
        <p:spPr bwMode="auto">
          <a:xfrm>
            <a:off x="4191000" y="4267200"/>
            <a:ext cx="0" cy="25908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0" name="Line 32"/>
          <p:cNvSpPr>
            <a:spLocks noChangeShapeType="1"/>
          </p:cNvSpPr>
          <p:nvPr/>
        </p:nvSpPr>
        <p:spPr bwMode="auto">
          <a:xfrm>
            <a:off x="49530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1" name="Line 33"/>
          <p:cNvSpPr>
            <a:spLocks noChangeShapeType="1"/>
          </p:cNvSpPr>
          <p:nvPr/>
        </p:nvSpPr>
        <p:spPr bwMode="auto">
          <a:xfrm>
            <a:off x="64008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2" name="Line 34"/>
          <p:cNvSpPr>
            <a:spLocks noChangeShapeType="1"/>
          </p:cNvSpPr>
          <p:nvPr/>
        </p:nvSpPr>
        <p:spPr bwMode="auto">
          <a:xfrm>
            <a:off x="7620000" y="3429000"/>
            <a:ext cx="0" cy="3429000"/>
          </a:xfrm>
          <a:prstGeom prst="line">
            <a:avLst/>
          </a:prstGeom>
          <a:noFill/>
          <a:ln w="12700">
            <a:solidFill>
              <a:schemeClr val="hlink"/>
            </a:solidFill>
            <a:round/>
            <a:headEnd/>
            <a:tailEnd/>
          </a:ln>
          <a:effectLst/>
        </p:spPr>
        <p:txBody>
          <a:bodyPr lIns="90000" tIns="46800" rIns="90000" bIns="46800"/>
          <a:lstStyle/>
          <a:p>
            <a:endParaRPr lang="fi-FI"/>
          </a:p>
        </p:txBody>
      </p:sp>
      <p:sp>
        <p:nvSpPr>
          <p:cNvPr id="114723" name="Line 35"/>
          <p:cNvSpPr>
            <a:spLocks noChangeShapeType="1"/>
          </p:cNvSpPr>
          <p:nvPr/>
        </p:nvSpPr>
        <p:spPr bwMode="auto">
          <a:xfrm>
            <a:off x="381000" y="47244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4" name="Line 36"/>
          <p:cNvSpPr>
            <a:spLocks noChangeShapeType="1"/>
          </p:cNvSpPr>
          <p:nvPr/>
        </p:nvSpPr>
        <p:spPr bwMode="auto">
          <a:xfrm>
            <a:off x="381000" y="51816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5" name="Line 37"/>
          <p:cNvSpPr>
            <a:spLocks noChangeShapeType="1"/>
          </p:cNvSpPr>
          <p:nvPr/>
        </p:nvSpPr>
        <p:spPr bwMode="auto">
          <a:xfrm>
            <a:off x="381000" y="5638800"/>
            <a:ext cx="7924800" cy="0"/>
          </a:xfrm>
          <a:prstGeom prst="line">
            <a:avLst/>
          </a:prstGeom>
          <a:noFill/>
          <a:ln w="28575">
            <a:solidFill>
              <a:schemeClr val="accent1"/>
            </a:solidFill>
            <a:round/>
            <a:headEnd/>
            <a:tailEnd/>
          </a:ln>
          <a:effectLst/>
        </p:spPr>
        <p:txBody>
          <a:bodyPr lIns="90000" tIns="46800" rIns="90000" bIns="46800"/>
          <a:lstStyle/>
          <a:p>
            <a:endParaRPr lang="fi-FI"/>
          </a:p>
        </p:txBody>
      </p:sp>
      <p:sp>
        <p:nvSpPr>
          <p:cNvPr id="114726" name="Text Box 38"/>
          <p:cNvSpPr txBox="1">
            <a:spLocks noChangeArrowheads="1"/>
          </p:cNvSpPr>
          <p:nvPr/>
        </p:nvSpPr>
        <p:spPr bwMode="auto">
          <a:xfrm>
            <a:off x="-152400" y="4387850"/>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Test 1</a:t>
            </a:r>
            <a:endParaRPr lang="en-GB" sz="1600" dirty="0">
              <a:cs typeface="Arial" pitchFamily="34" charset="0"/>
            </a:endParaRPr>
          </a:p>
        </p:txBody>
      </p:sp>
      <p:sp>
        <p:nvSpPr>
          <p:cNvPr id="114727" name="Text Box 39"/>
          <p:cNvSpPr txBox="1">
            <a:spLocks noChangeArrowheads="1"/>
          </p:cNvSpPr>
          <p:nvPr/>
        </p:nvSpPr>
        <p:spPr bwMode="auto">
          <a:xfrm>
            <a:off x="-152400" y="4845050"/>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Test 2</a:t>
            </a:r>
            <a:endParaRPr lang="en-GB" sz="1600" dirty="0">
              <a:cs typeface="Arial" pitchFamily="34" charset="0"/>
            </a:endParaRPr>
          </a:p>
        </p:txBody>
      </p:sp>
      <p:sp>
        <p:nvSpPr>
          <p:cNvPr id="114728" name="Text Box 40"/>
          <p:cNvSpPr txBox="1">
            <a:spLocks noChangeArrowheads="1"/>
          </p:cNvSpPr>
          <p:nvPr/>
        </p:nvSpPr>
        <p:spPr bwMode="auto">
          <a:xfrm>
            <a:off x="-152400" y="5302250"/>
            <a:ext cx="10668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Test 3</a:t>
            </a:r>
            <a:endParaRPr lang="en-GB" sz="1600" dirty="0">
              <a:cs typeface="Arial" pitchFamily="34" charset="0"/>
            </a:endParaRPr>
          </a:p>
        </p:txBody>
      </p:sp>
      <p:sp>
        <p:nvSpPr>
          <p:cNvPr id="114729" name="Oval 41"/>
          <p:cNvSpPr>
            <a:spLocks noChangeArrowheads="1"/>
          </p:cNvSpPr>
          <p:nvPr/>
        </p:nvSpPr>
        <p:spPr bwMode="auto">
          <a:xfrm>
            <a:off x="881063" y="459422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0" name="Oval 42"/>
          <p:cNvSpPr>
            <a:spLocks noChangeArrowheads="1"/>
          </p:cNvSpPr>
          <p:nvPr/>
        </p:nvSpPr>
        <p:spPr bwMode="auto">
          <a:xfrm>
            <a:off x="2090738" y="5029200"/>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1" name="Oval 43"/>
          <p:cNvSpPr>
            <a:spLocks noChangeArrowheads="1"/>
          </p:cNvSpPr>
          <p:nvPr/>
        </p:nvSpPr>
        <p:spPr bwMode="auto">
          <a:xfrm>
            <a:off x="871538" y="5529263"/>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2" name="Oval 44"/>
          <p:cNvSpPr>
            <a:spLocks noChangeArrowheads="1"/>
          </p:cNvSpPr>
          <p:nvPr/>
        </p:nvSpPr>
        <p:spPr bwMode="auto">
          <a:xfrm>
            <a:off x="3101975" y="4605338"/>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3" name="Oval 45"/>
          <p:cNvSpPr>
            <a:spLocks noChangeArrowheads="1"/>
          </p:cNvSpPr>
          <p:nvPr/>
        </p:nvSpPr>
        <p:spPr bwMode="auto">
          <a:xfrm>
            <a:off x="4852988" y="554037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4" name="Oval 46"/>
          <p:cNvSpPr>
            <a:spLocks noChangeArrowheads="1"/>
          </p:cNvSpPr>
          <p:nvPr/>
        </p:nvSpPr>
        <p:spPr bwMode="auto">
          <a:xfrm>
            <a:off x="4092575" y="505142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5" name="Oval 47"/>
          <p:cNvSpPr>
            <a:spLocks noChangeArrowheads="1"/>
          </p:cNvSpPr>
          <p:nvPr/>
        </p:nvSpPr>
        <p:spPr bwMode="auto">
          <a:xfrm>
            <a:off x="6281738" y="5083175"/>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6" name="Oval 48"/>
          <p:cNvSpPr>
            <a:spLocks noChangeArrowheads="1"/>
          </p:cNvSpPr>
          <p:nvPr/>
        </p:nvSpPr>
        <p:spPr bwMode="auto">
          <a:xfrm>
            <a:off x="7532688" y="5529263"/>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7" name="Oval 49"/>
          <p:cNvSpPr>
            <a:spLocks noChangeArrowheads="1"/>
          </p:cNvSpPr>
          <p:nvPr/>
        </p:nvSpPr>
        <p:spPr bwMode="auto">
          <a:xfrm>
            <a:off x="6292850" y="4616450"/>
            <a:ext cx="228600" cy="228600"/>
          </a:xfrm>
          <a:prstGeom prst="ellipse">
            <a:avLst/>
          </a:prstGeom>
          <a:solidFill>
            <a:schemeClr val="accent2"/>
          </a:solidFill>
          <a:ln w="12700">
            <a:noFill/>
            <a:round/>
            <a:headEnd/>
            <a:tailEnd/>
          </a:ln>
          <a:effectLst/>
        </p:spPr>
        <p:txBody>
          <a:bodyPr wrap="none" lIns="90000" tIns="46800" rIns="90000" bIns="46800" anchor="ctr"/>
          <a:lstStyle/>
          <a:p>
            <a:endParaRPr lang="fi-FI"/>
          </a:p>
        </p:txBody>
      </p:sp>
      <p:sp>
        <p:nvSpPr>
          <p:cNvPr id="114739" name="Text Box 51"/>
          <p:cNvSpPr txBox="1">
            <a:spLocks noChangeArrowheads="1"/>
          </p:cNvSpPr>
          <p:nvPr/>
        </p:nvSpPr>
        <p:spPr bwMode="auto">
          <a:xfrm>
            <a:off x="381000" y="3200400"/>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allowed</a:t>
            </a:r>
            <a:endParaRPr lang="en-GB" sz="1600" dirty="0">
              <a:cs typeface="Arial" pitchFamily="34" charset="0"/>
            </a:endParaRPr>
          </a:p>
        </p:txBody>
      </p:sp>
      <p:sp>
        <p:nvSpPr>
          <p:cNvPr id="114740" name="Text Box 52"/>
          <p:cNvSpPr txBox="1">
            <a:spLocks noChangeArrowheads="1"/>
          </p:cNvSpPr>
          <p:nvPr/>
        </p:nvSpPr>
        <p:spPr bwMode="auto">
          <a:xfrm>
            <a:off x="1600200" y="3200400"/>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Not allowed</a:t>
            </a:r>
            <a:endParaRPr lang="en-GB" sz="1600" dirty="0">
              <a:cs typeface="Arial" pitchFamily="34" charset="0"/>
            </a:endParaRPr>
          </a:p>
        </p:txBody>
      </p:sp>
      <p:sp>
        <p:nvSpPr>
          <p:cNvPr id="114741" name="Text Box 53"/>
          <p:cNvSpPr txBox="1">
            <a:spLocks noChangeArrowheads="1"/>
          </p:cNvSpPr>
          <p:nvPr/>
        </p:nvSpPr>
        <p:spPr bwMode="auto">
          <a:xfrm>
            <a:off x="3124200" y="3200400"/>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allowed</a:t>
            </a:r>
            <a:endParaRPr lang="en-GB" sz="1600" dirty="0">
              <a:cs typeface="Arial" pitchFamily="34" charset="0"/>
            </a:endParaRPr>
          </a:p>
        </p:txBody>
      </p:sp>
      <p:sp>
        <p:nvSpPr>
          <p:cNvPr id="114742" name="Text Box 54"/>
          <p:cNvSpPr txBox="1">
            <a:spLocks noChangeArrowheads="1"/>
          </p:cNvSpPr>
          <p:nvPr/>
        </p:nvSpPr>
        <p:spPr bwMode="auto">
          <a:xfrm>
            <a:off x="4343400" y="3200400"/>
            <a:ext cx="1219200" cy="340735"/>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dirty="0" smtClean="0">
                <a:cs typeface="Arial" pitchFamily="34" charset="0"/>
              </a:rPr>
              <a:t>not allowed</a:t>
            </a:r>
            <a:endParaRPr lang="en-GB" sz="1600" dirty="0">
              <a:cs typeface="Arial" pitchFamily="34" charset="0"/>
            </a:endParaRPr>
          </a:p>
        </p:txBody>
      </p:sp>
      <p:sp>
        <p:nvSpPr>
          <p:cNvPr id="114743" name="Text Box 55"/>
          <p:cNvSpPr txBox="1">
            <a:spLocks noChangeArrowheads="1"/>
          </p:cNvSpPr>
          <p:nvPr/>
        </p:nvSpPr>
        <p:spPr bwMode="auto">
          <a:xfrm>
            <a:off x="5791200" y="3200400"/>
            <a:ext cx="1219200" cy="336550"/>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login</a:t>
            </a:r>
          </a:p>
        </p:txBody>
      </p:sp>
      <p:sp>
        <p:nvSpPr>
          <p:cNvPr id="114744" name="Text Box 56"/>
          <p:cNvSpPr txBox="1">
            <a:spLocks noChangeArrowheads="1"/>
          </p:cNvSpPr>
          <p:nvPr/>
        </p:nvSpPr>
        <p:spPr bwMode="auto">
          <a:xfrm>
            <a:off x="7010400" y="3200400"/>
            <a:ext cx="1219200" cy="336550"/>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a:cs typeface="Arial" pitchFamily="34" charset="0"/>
              </a:rPr>
              <a:t>clear</a:t>
            </a:r>
          </a:p>
        </p:txBody>
      </p:sp>
      <p:sp>
        <p:nvSpPr>
          <p:cNvPr id="56" name="Slide Number Placeholder 55"/>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Role-based Sandboxes</a:t>
            </a:r>
            <a:endParaRPr lang="fi-FI" dirty="0"/>
          </a:p>
        </p:txBody>
      </p:sp>
      <p:sp>
        <p:nvSpPr>
          <p:cNvPr id="4" name="Content Placeholder 3"/>
          <p:cNvSpPr>
            <a:spLocks noGrp="1"/>
          </p:cNvSpPr>
          <p:nvPr>
            <p:ph sz="half" idx="1"/>
          </p:nvPr>
        </p:nvSpPr>
        <p:spPr/>
        <p:txBody>
          <a:bodyPr>
            <a:normAutofit lnSpcReduction="10000"/>
          </a:bodyPr>
          <a:lstStyle/>
          <a:p>
            <a:r>
              <a:rPr lang="fi-FI" dirty="0" smtClean="0"/>
              <a:t>Limiting each individual’s scope by assigning an area</a:t>
            </a:r>
          </a:p>
          <a:p>
            <a:pPr lvl="1"/>
            <a:r>
              <a:rPr lang="fi-FI" dirty="0" smtClean="0"/>
              <a:t>”You will test 3rd party compatibility issues”</a:t>
            </a:r>
          </a:p>
          <a:p>
            <a:r>
              <a:rPr lang="fi-FI" dirty="0" smtClean="0"/>
              <a:t>Sizes of sandboxes may vary</a:t>
            </a:r>
          </a:p>
          <a:p>
            <a:r>
              <a:rPr lang="fi-FI" dirty="0" smtClean="0"/>
              <a:t>Allowing several people on a sandbox is adviced: team is stronger than individual</a:t>
            </a:r>
            <a:endParaRPr lang="fi-FI" dirty="0"/>
          </a:p>
        </p:txBody>
      </p:sp>
      <p:pic>
        <p:nvPicPr>
          <p:cNvPr id="6" name="Picture 10" descr="C:\Documents and Settings\pyhama\Desktop\21012008241.jpg"/>
          <p:cNvPicPr>
            <a:picLocks noGrp="1" noChangeAspect="1" noChangeArrowheads="1"/>
          </p:cNvPicPr>
          <p:nvPr>
            <p:ph sz="half" idx="2"/>
          </p:nvPr>
        </p:nvPicPr>
        <p:blipFill>
          <a:blip r:embed="rId3" cstate="print"/>
          <a:srcRect/>
          <a:stretch>
            <a:fillRect/>
          </a:stretch>
        </p:blipFill>
        <p:spPr bwMode="auto">
          <a:xfrm>
            <a:off x="4971132" y="1600200"/>
            <a:ext cx="3392735" cy="4525963"/>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Charter Protocol</a:t>
            </a:r>
            <a:endParaRPr lang="fi-FI" dirty="0"/>
          </a:p>
        </p:txBody>
      </p:sp>
      <p:sp>
        <p:nvSpPr>
          <p:cNvPr id="3" name="Content Placeholder 2"/>
          <p:cNvSpPr>
            <a:spLocks noGrp="1"/>
          </p:cNvSpPr>
          <p:nvPr>
            <p:ph idx="1"/>
          </p:nvPr>
        </p:nvSpPr>
        <p:spPr/>
        <p:txBody>
          <a:bodyPr>
            <a:normAutofit fontScale="70000" lnSpcReduction="20000"/>
          </a:bodyPr>
          <a:lstStyle/>
          <a:p>
            <a:r>
              <a:rPr lang="fi-FI" dirty="0" smtClean="0"/>
              <a:t>General charters are good points to start from</a:t>
            </a:r>
          </a:p>
          <a:p>
            <a:pPr lvl="1"/>
            <a:r>
              <a:rPr lang="fi-FI" dirty="0" smtClean="0"/>
              <a:t>Avoid putting too much effort on documentation at a time when we know the least</a:t>
            </a:r>
          </a:p>
          <a:p>
            <a:pPr lvl="1"/>
            <a:r>
              <a:rPr lang="fi-FI" dirty="0" smtClean="0"/>
              <a:t>”Analyze the Import from external programs –functionality”</a:t>
            </a:r>
          </a:p>
          <a:p>
            <a:pPr lvl="1"/>
            <a:r>
              <a:rPr lang="fi-FI" dirty="0" smtClean="0"/>
              <a:t>”Analyze performance impact from changing the graphics library”</a:t>
            </a:r>
          </a:p>
          <a:p>
            <a:r>
              <a:rPr lang="fi-FI" dirty="0" smtClean="0"/>
              <a:t>Specific charters take more effort to specify</a:t>
            </a:r>
          </a:p>
          <a:p>
            <a:pPr lvl="1"/>
            <a:r>
              <a:rPr lang="fi-FI" dirty="0" smtClean="0"/>
              <a:t>Effort best used at a time when we already know something first hand, having executed some tests already</a:t>
            </a:r>
          </a:p>
          <a:p>
            <a:pPr lvl="1"/>
            <a:r>
              <a:rPr lang="fi-FI" dirty="0" smtClean="0"/>
              <a:t>”Test import from MindManager. Focus on large maps and links within map nodes. We’re concerned with complex structures  being misinterpreted in transformation and users losing relevant information”</a:t>
            </a:r>
          </a:p>
          <a:p>
            <a:r>
              <a:rPr lang="fi-FI" dirty="0" smtClean="0"/>
              <a:t>Charters have priority – like a backlog</a:t>
            </a:r>
          </a:p>
          <a:p>
            <a:pPr lvl="1"/>
            <a:r>
              <a:rPr lang="fi-FI" dirty="0" smtClean="0"/>
              <a:t>Continous reprioritization, not fixed priority</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Documentation</a:t>
            </a:r>
            <a:endParaRPr lang="fi-FI" dirty="0"/>
          </a:p>
        </p:txBody>
      </p:sp>
      <p:sp>
        <p:nvSpPr>
          <p:cNvPr id="3" name="Content Placeholder 2"/>
          <p:cNvSpPr>
            <a:spLocks noGrp="1"/>
          </p:cNvSpPr>
          <p:nvPr>
            <p:ph idx="1"/>
          </p:nvPr>
        </p:nvSpPr>
        <p:spPr>
          <a:xfrm>
            <a:off x="457200" y="1600200"/>
            <a:ext cx="6043626" cy="4525963"/>
          </a:xfrm>
        </p:spPr>
        <p:txBody>
          <a:bodyPr>
            <a:normAutofit fontScale="70000" lnSpcReduction="20000"/>
          </a:bodyPr>
          <a:lstStyle/>
          <a:p>
            <a:r>
              <a:rPr lang="fi-FI" dirty="0" smtClean="0"/>
              <a:t>Charter collection</a:t>
            </a:r>
          </a:p>
          <a:p>
            <a:pPr lvl="1"/>
            <a:r>
              <a:rPr lang="fi-FI" dirty="0" smtClean="0"/>
              <a:t>”High-level test cases”</a:t>
            </a:r>
          </a:p>
          <a:p>
            <a:pPr lvl="1"/>
            <a:r>
              <a:rPr lang="fi-FI" dirty="0" smtClean="0"/>
              <a:t>You may or may not want to use them again</a:t>
            </a:r>
          </a:p>
          <a:p>
            <a:r>
              <a:rPr lang="fi-FI" dirty="0" smtClean="0"/>
              <a:t>Data collection</a:t>
            </a:r>
          </a:p>
          <a:p>
            <a:pPr lvl="1"/>
            <a:r>
              <a:rPr lang="nb-NO" dirty="0" smtClean="0"/>
              <a:t>Data files – input data used for testing</a:t>
            </a:r>
            <a:endParaRPr lang="fi-FI" dirty="0" smtClean="0"/>
          </a:p>
          <a:p>
            <a:pPr lvl="1"/>
            <a:r>
              <a:rPr lang="fi-FI" dirty="0" smtClean="0"/>
              <a:t>Setting up data for the testing needs – with reusability considerations</a:t>
            </a:r>
          </a:p>
          <a:p>
            <a:r>
              <a:rPr lang="fi-FI" dirty="0" smtClean="0"/>
              <a:t>Tools collection</a:t>
            </a:r>
          </a:p>
          <a:p>
            <a:pPr lvl="1"/>
            <a:r>
              <a:rPr lang="fi-FI" dirty="0" smtClean="0"/>
              <a:t>Little tools that are useful – also for sharing with others</a:t>
            </a:r>
          </a:p>
          <a:p>
            <a:r>
              <a:rPr lang="fi-FI" dirty="0" smtClean="0"/>
              <a:t>Lessons learned collection</a:t>
            </a:r>
          </a:p>
          <a:p>
            <a:pPr lvl="1"/>
            <a:r>
              <a:rPr lang="fi-FI" dirty="0" smtClean="0"/>
              <a:t>What was difficult for me, what others might benefit from. Not every day, but regular reflection. </a:t>
            </a:r>
          </a:p>
          <a:p>
            <a:pPr lvl="1"/>
            <a:r>
              <a:rPr lang="fi-FI" dirty="0" smtClean="0"/>
              <a:t>Questions and answers -collection</a:t>
            </a:r>
            <a:endParaRPr lang="nb-NO" dirty="0" smtClean="0"/>
          </a:p>
        </p:txBody>
      </p:sp>
      <p:sp>
        <p:nvSpPr>
          <p:cNvPr id="5" name="TextBox 4"/>
          <p:cNvSpPr txBox="1"/>
          <p:nvPr/>
        </p:nvSpPr>
        <p:spPr>
          <a:xfrm>
            <a:off x="6715140" y="1393440"/>
            <a:ext cx="2214546" cy="892552"/>
          </a:xfrm>
          <a:prstGeom prst="rect">
            <a:avLst/>
          </a:prstGeom>
        </p:spPr>
        <p:style>
          <a:lnRef idx="3">
            <a:schemeClr val="lt1"/>
          </a:lnRef>
          <a:fillRef idx="1">
            <a:schemeClr val="accent6"/>
          </a:fillRef>
          <a:effectRef idx="1">
            <a:schemeClr val="accent6"/>
          </a:effectRef>
          <a:fontRef idx="minor">
            <a:schemeClr val="lt1"/>
          </a:fontRef>
        </p:style>
        <p:txBody>
          <a:bodyPr wrap="square" rtlCol="0">
            <a:spAutoFit/>
          </a:bodyPr>
          <a:lstStyle/>
          <a:p>
            <a:pPr algn="ctr"/>
            <a:r>
              <a:rPr lang="fi-FI" sz="2400" dirty="0" smtClean="0"/>
              <a:t>Most essential:</a:t>
            </a:r>
          </a:p>
          <a:p>
            <a:pPr algn="ctr"/>
            <a:r>
              <a:rPr lang="fi-FI" sz="2800" dirty="0" smtClean="0"/>
              <a:t>Bug reports</a:t>
            </a:r>
            <a:endParaRPr lang="fi-FI" sz="2800" dirty="0"/>
          </a:p>
        </p:txBody>
      </p:sp>
      <p:sp>
        <p:nvSpPr>
          <p:cNvPr id="6" name="TextBox 5"/>
          <p:cNvSpPr txBox="1"/>
          <p:nvPr/>
        </p:nvSpPr>
        <p:spPr>
          <a:xfrm>
            <a:off x="6715140" y="2500306"/>
            <a:ext cx="2214546" cy="1323439"/>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pPr algn="ctr"/>
            <a:r>
              <a:rPr lang="fi-FI" sz="2400" dirty="0" smtClean="0"/>
              <a:t>Secondary:</a:t>
            </a:r>
          </a:p>
          <a:p>
            <a:pPr algn="ctr"/>
            <a:r>
              <a:rPr lang="fi-FI" sz="2800" dirty="0" smtClean="0"/>
              <a:t>Useful for others</a:t>
            </a:r>
            <a:endParaRPr lang="fi-FI" sz="2800" dirty="0"/>
          </a:p>
        </p:txBody>
      </p:sp>
      <p:sp>
        <p:nvSpPr>
          <p:cNvPr id="7" name="TextBox 6"/>
          <p:cNvSpPr txBox="1"/>
          <p:nvPr/>
        </p:nvSpPr>
        <p:spPr>
          <a:xfrm>
            <a:off x="6715140" y="4071942"/>
            <a:ext cx="2214546" cy="1754326"/>
          </a:xfrm>
          <a:prstGeom prst="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fi-FI" sz="2400" dirty="0" smtClean="0"/>
              <a:t>Rarely:</a:t>
            </a:r>
          </a:p>
          <a:p>
            <a:pPr algn="ctr"/>
            <a:r>
              <a:rPr lang="fi-FI" sz="2800" dirty="0" smtClean="0"/>
              <a:t>Detailed proof of testing</a:t>
            </a:r>
            <a:endParaRPr lang="fi-FI" sz="2800" dirty="0"/>
          </a:p>
        </p:txBody>
      </p:sp>
      <p:sp>
        <p:nvSpPr>
          <p:cNvPr id="8" name="Slide Number Placeholder 7"/>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Avoid Repeatable Test Specifications</a:t>
            </a:r>
            <a:endParaRPr lang="fi-FI" dirty="0"/>
          </a:p>
        </p:txBody>
      </p:sp>
      <p:sp>
        <p:nvSpPr>
          <p:cNvPr id="3" name="Content Placeholder 2"/>
          <p:cNvSpPr>
            <a:spLocks noGrp="1"/>
          </p:cNvSpPr>
          <p:nvPr>
            <p:ph idx="1"/>
          </p:nvPr>
        </p:nvSpPr>
        <p:spPr/>
        <p:txBody>
          <a:bodyPr/>
          <a:lstStyle/>
          <a:p>
            <a:r>
              <a:rPr lang="fi-FI" dirty="0" smtClean="0"/>
              <a:t>Repeatability is the best way to avoid finding issues outside your current knowledge</a:t>
            </a:r>
          </a:p>
          <a:p>
            <a:r>
              <a:rPr lang="fi-FI" dirty="0" smtClean="0"/>
              <a:t>Lowers the capabilities of new people to assume that a test case still has reason to exist without questioning</a:t>
            </a:r>
          </a:p>
          <a:p>
            <a:r>
              <a:rPr lang="fi-FI" dirty="0" smtClean="0">
                <a:solidFill>
                  <a:schemeClr val="accent1"/>
                </a:solidFill>
              </a:rPr>
              <a:t>While you may need to document your test cases in detail, it is not the same requirement as ultimate repeatability</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p:txBody>
          <a:bodyPr/>
          <a:lstStyle/>
          <a:p>
            <a:pPr eaLnBrk="1" hangingPunct="1"/>
            <a:r>
              <a:rPr lang="fi-FI" smtClean="0"/>
              <a:t>Learning Changes Priorities</a:t>
            </a:r>
          </a:p>
        </p:txBody>
      </p:sp>
      <p:sp>
        <p:nvSpPr>
          <p:cNvPr id="13315" name="Content Placeholder 4"/>
          <p:cNvSpPr>
            <a:spLocks noGrp="1"/>
          </p:cNvSpPr>
          <p:nvPr>
            <p:ph sz="half" idx="1"/>
          </p:nvPr>
        </p:nvSpPr>
        <p:spPr/>
        <p:txBody>
          <a:bodyPr/>
          <a:lstStyle/>
          <a:p>
            <a:pPr eaLnBrk="1" hangingPunct="1"/>
            <a:r>
              <a:rPr lang="en-US" sz="2400" smtClean="0"/>
              <a:t>Fixed priorities in charters tend to not work</a:t>
            </a:r>
          </a:p>
          <a:p>
            <a:pPr lvl="1" eaLnBrk="1" hangingPunct="1"/>
            <a:r>
              <a:rPr lang="en-US" smtClean="0"/>
              <a:t>Priorities change: test charter used once changes priority</a:t>
            </a:r>
          </a:p>
          <a:p>
            <a:pPr lvl="1" eaLnBrk="1" hangingPunct="1"/>
            <a:r>
              <a:rPr lang="en-US" smtClean="0"/>
              <a:t>Various criteria for prioritization over the project lifecycle</a:t>
            </a:r>
          </a:p>
          <a:p>
            <a:pPr eaLnBrk="1" hangingPunct="1"/>
            <a:r>
              <a:rPr lang="en-GB" sz="2400" smtClean="0"/>
              <a:t>Prioritization implies the order of execution</a:t>
            </a:r>
            <a:endParaRPr lang="en-US" sz="2400" smtClean="0"/>
          </a:p>
          <a:p>
            <a:pPr eaLnBrk="1" hangingPunct="1"/>
            <a:endParaRPr lang="fi-FI" smtClean="0"/>
          </a:p>
        </p:txBody>
      </p:sp>
      <p:sp>
        <p:nvSpPr>
          <p:cNvPr id="13316" name="Rectangle 6"/>
          <p:cNvSpPr>
            <a:spLocks noChangeArrowheads="1"/>
          </p:cNvSpPr>
          <p:nvPr/>
        </p:nvSpPr>
        <p:spPr bwMode="auto">
          <a:xfrm>
            <a:off x="4714875" y="1309688"/>
            <a:ext cx="4071938" cy="5016500"/>
          </a:xfrm>
          <a:prstGeom prst="rect">
            <a:avLst/>
          </a:prstGeom>
          <a:noFill/>
          <a:ln w="9525">
            <a:noFill/>
            <a:miter lim="800000"/>
            <a:headEnd/>
            <a:tailEnd/>
          </a:ln>
        </p:spPr>
        <p:txBody>
          <a:bodyPr>
            <a:spAutoFit/>
          </a:bodyPr>
          <a:lstStyle/>
          <a:p>
            <a:r>
              <a:rPr lang="en-US" sz="1600">
                <a:latin typeface="Calibri" pitchFamily="34" charset="0"/>
              </a:rPr>
              <a:t>Examples of criteria:</a:t>
            </a:r>
          </a:p>
          <a:p>
            <a:pPr>
              <a:buFont typeface="Arial" charset="0"/>
              <a:buChar char="•"/>
            </a:pPr>
            <a:r>
              <a:rPr lang="en-GB" sz="1600">
                <a:latin typeface="Calibri" pitchFamily="34" charset="0"/>
              </a:rPr>
              <a:t>optimize for end-user perspective</a:t>
            </a:r>
          </a:p>
          <a:p>
            <a:pPr>
              <a:buFont typeface="Arial" charset="0"/>
              <a:buChar char="•"/>
            </a:pPr>
            <a:r>
              <a:rPr lang="en-GB" sz="1600">
                <a:latin typeface="Calibri" pitchFamily="34" charset="0"/>
              </a:rPr>
              <a:t>optimize for early feedback on bad bugs (schedule)</a:t>
            </a:r>
          </a:p>
          <a:p>
            <a:pPr>
              <a:buFont typeface="Arial" charset="0"/>
              <a:buChar char="•"/>
            </a:pPr>
            <a:r>
              <a:rPr lang="en-GB" sz="1600">
                <a:latin typeface="Calibri" pitchFamily="34" charset="0"/>
              </a:rPr>
              <a:t>optimize for regression testing</a:t>
            </a:r>
          </a:p>
          <a:p>
            <a:pPr>
              <a:buFont typeface="Arial" charset="0"/>
              <a:buChar char="•"/>
            </a:pPr>
            <a:r>
              <a:rPr lang="en-GB" sz="1600">
                <a:latin typeface="Calibri" pitchFamily="34" charset="0"/>
              </a:rPr>
              <a:t>optimize for selecting what to run on various environments</a:t>
            </a:r>
          </a:p>
          <a:p>
            <a:pPr>
              <a:buFont typeface="Arial" charset="0"/>
              <a:buChar char="•"/>
            </a:pPr>
            <a:r>
              <a:rPr lang="en-GB" sz="1600">
                <a:latin typeface="Calibri" pitchFamily="34" charset="0"/>
              </a:rPr>
              <a:t>optimize for fault detection</a:t>
            </a:r>
          </a:p>
          <a:p>
            <a:pPr>
              <a:buFont typeface="Arial" charset="0"/>
              <a:buChar char="•"/>
            </a:pPr>
            <a:r>
              <a:rPr lang="en-GB" sz="1600">
                <a:latin typeface="Calibri" pitchFamily="34" charset="0"/>
              </a:rPr>
              <a:t>optimize for code coverage</a:t>
            </a:r>
          </a:p>
          <a:p>
            <a:pPr>
              <a:buFont typeface="Arial" charset="0"/>
              <a:buChar char="•"/>
            </a:pPr>
            <a:r>
              <a:rPr lang="en-GB" sz="1600">
                <a:latin typeface="Calibri" pitchFamily="34" charset="0"/>
              </a:rPr>
              <a:t>optimize for honour protection</a:t>
            </a:r>
          </a:p>
          <a:p>
            <a:pPr>
              <a:buFont typeface="Arial" charset="0"/>
              <a:buChar char="•"/>
            </a:pPr>
            <a:r>
              <a:rPr lang="en-GB" sz="1600">
                <a:latin typeface="Calibri" pitchFamily="34" charset="0"/>
              </a:rPr>
              <a:t>optimize for risk coverage</a:t>
            </a:r>
          </a:p>
          <a:p>
            <a:pPr>
              <a:buFont typeface="Arial" charset="0"/>
              <a:buChar char="•"/>
            </a:pPr>
            <a:r>
              <a:rPr lang="en-GB" sz="1600">
                <a:latin typeface="Calibri" pitchFamily="34" charset="0"/>
              </a:rPr>
              <a:t>optimize for increasing confidence in reliability</a:t>
            </a:r>
          </a:p>
          <a:p>
            <a:pPr>
              <a:buFont typeface="Arial" charset="0"/>
              <a:buChar char="•"/>
            </a:pPr>
            <a:r>
              <a:rPr lang="en-GB" sz="1600">
                <a:latin typeface="Calibri" pitchFamily="34" charset="0"/>
              </a:rPr>
              <a:t>optimize based on which cases have best potential to uncover relevant bugs</a:t>
            </a:r>
          </a:p>
          <a:p>
            <a:pPr>
              <a:buFont typeface="Arial" charset="0"/>
              <a:buChar char="•"/>
            </a:pPr>
            <a:r>
              <a:rPr lang="en-GB" sz="1600">
                <a:latin typeface="Calibri" pitchFamily="34" charset="0"/>
              </a:rPr>
              <a:t>optimize for finding environment specific issues</a:t>
            </a:r>
          </a:p>
          <a:p>
            <a:pPr>
              <a:buFont typeface="Arial" charset="0"/>
              <a:buChar char="•"/>
            </a:pPr>
            <a:r>
              <a:rPr lang="en-GB" sz="1600">
                <a:latin typeface="Calibri" pitchFamily="34" charset="0"/>
              </a:rPr>
              <a:t>optimize for verifying that basic functionality did not break</a:t>
            </a:r>
          </a:p>
          <a:p>
            <a:pPr>
              <a:buFont typeface="Arial" charset="0"/>
              <a:buChar char="•"/>
            </a:pPr>
            <a:r>
              <a:rPr lang="en-GB" sz="1600">
                <a:latin typeface="Calibri" pitchFamily="34" charset="0"/>
              </a:rPr>
              <a:t>optimize for visible important likely problems</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fi-FI" dirty="0" smtClean="0"/>
              <a:t>Exercise Assignment</a:t>
            </a:r>
            <a:endParaRPr lang="fi-FI" dirty="0"/>
          </a:p>
        </p:txBody>
      </p:sp>
      <p:sp>
        <p:nvSpPr>
          <p:cNvPr id="8" name="Content Placeholder 7"/>
          <p:cNvSpPr>
            <a:spLocks noGrp="1"/>
          </p:cNvSpPr>
          <p:nvPr>
            <p:ph sz="half" idx="1"/>
          </p:nvPr>
        </p:nvSpPr>
        <p:spPr/>
        <p:txBody>
          <a:bodyPr>
            <a:normAutofit fontScale="92500" lnSpcReduction="10000"/>
          </a:bodyPr>
          <a:lstStyle/>
          <a:p>
            <a:r>
              <a:rPr lang="fi-FI" dirty="0" smtClean="0"/>
              <a:t>Analyze FreeMind’s Search and Replace Feature and design tests for it</a:t>
            </a:r>
          </a:p>
          <a:p>
            <a:r>
              <a:rPr lang="fi-FI" dirty="0" smtClean="0"/>
              <a:t>As a technique, use </a:t>
            </a:r>
            <a:r>
              <a:rPr lang="fi-FI" smtClean="0"/>
              <a:t>risk-based equivalence</a:t>
            </a:r>
            <a:endParaRPr lang="fi-FI" dirty="0" smtClean="0"/>
          </a:p>
          <a:p>
            <a:r>
              <a:rPr lang="fi-FI" dirty="0" smtClean="0"/>
              <a:t>As deliverable, you will come up with two sheets</a:t>
            </a:r>
          </a:p>
          <a:p>
            <a:pPr marL="971550" lvl="1" indent="-514350">
              <a:buFont typeface="+mj-lt"/>
              <a:buAutoNum type="arabicPeriod"/>
            </a:pPr>
            <a:r>
              <a:rPr lang="fi-FI" dirty="0" smtClean="0"/>
              <a:t>Tests in tabular format</a:t>
            </a:r>
          </a:p>
          <a:p>
            <a:pPr marL="971550" lvl="1" indent="-514350">
              <a:buFont typeface="+mj-lt"/>
              <a:buAutoNum type="arabicPeriod"/>
            </a:pPr>
            <a:r>
              <a:rPr lang="fi-FI" dirty="0" smtClean="0"/>
              <a:t>Charters outside the technique</a:t>
            </a:r>
          </a:p>
        </p:txBody>
      </p:sp>
      <p:sp>
        <p:nvSpPr>
          <p:cNvPr id="10" name="Content Placeholder 9"/>
          <p:cNvSpPr>
            <a:spLocks noGrp="1"/>
          </p:cNvSpPr>
          <p:nvPr>
            <p:ph sz="half" idx="2"/>
          </p:nvPr>
        </p:nvSpPr>
        <p:spPr/>
        <p:txBody>
          <a:bodyPr>
            <a:normAutofit fontScale="92500" lnSpcReduction="10000"/>
          </a:bodyPr>
          <a:lstStyle/>
          <a:p>
            <a:endParaRPr lang="fi-FI"/>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9" name="TextBox 8"/>
          <p:cNvSpPr txBox="1"/>
          <p:nvPr/>
        </p:nvSpPr>
        <p:spPr>
          <a:xfrm>
            <a:off x="4724400" y="1600200"/>
            <a:ext cx="3886200" cy="452431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fi-FI" sz="3200" b="1" dirty="0" smtClean="0"/>
              <a:t>Risk-based equivalence: </a:t>
            </a:r>
          </a:p>
          <a:p>
            <a:pPr algn="ctr"/>
            <a:r>
              <a:rPr lang="fi-FI" sz="3200" dirty="0" smtClean="0"/>
              <a:t>For a theory of error, you expect the same test result from each.</a:t>
            </a:r>
          </a:p>
          <a:p>
            <a:pPr algn="ctr"/>
            <a:r>
              <a:rPr lang="fi-FI" sz="3200" dirty="0" smtClean="0"/>
              <a:t>Learn to tell yourself why you test what you test: reason to replace random.</a:t>
            </a:r>
            <a:endParaRPr lang="fi-FI" sz="3200" dirty="0"/>
          </a:p>
        </p:txBody>
      </p:sp>
    </p:spTree>
  </p:cSld>
  <p:clrMapOvr>
    <a:masterClrMapping/>
  </p:clrMapOvr>
  <p:transition xmlns:p14="http://schemas.microsoft.com/office/powerpoint/2010/mai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Domain Analysis in Tabular Format</a:t>
            </a:r>
            <a:endParaRPr lang="fi-FI" dirty="0"/>
          </a:p>
        </p:txBody>
      </p:sp>
      <p:graphicFrame>
        <p:nvGraphicFramePr>
          <p:cNvPr id="4" name="Content Placeholder 3"/>
          <p:cNvGraphicFramePr>
            <a:graphicFrameLocks noGrp="1"/>
          </p:cNvGraphicFramePr>
          <p:nvPr>
            <p:ph idx="1"/>
          </p:nvPr>
        </p:nvGraphicFramePr>
        <p:xfrm>
          <a:off x="457200" y="1600200"/>
          <a:ext cx="8229600" cy="345188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1042982">
                <a:tc>
                  <a:txBody>
                    <a:bodyPr/>
                    <a:lstStyle/>
                    <a:p>
                      <a:r>
                        <a:rPr lang="fi-FI" sz="2000" dirty="0" smtClean="0"/>
                        <a:t>Variable</a:t>
                      </a:r>
                      <a:endParaRPr lang="fi-FI" sz="2000" dirty="0"/>
                    </a:p>
                  </a:txBody>
                  <a:tcPr/>
                </a:tc>
                <a:tc>
                  <a:txBody>
                    <a:bodyPr/>
                    <a:lstStyle/>
                    <a:p>
                      <a:r>
                        <a:rPr lang="fi-FI" sz="2000" dirty="0" smtClean="0"/>
                        <a:t>Risk (Potential failure)</a:t>
                      </a:r>
                      <a:endParaRPr lang="fi-FI" sz="2000" dirty="0"/>
                    </a:p>
                  </a:txBody>
                  <a:tcPr/>
                </a:tc>
                <a:tc>
                  <a:txBody>
                    <a:bodyPr/>
                    <a:lstStyle/>
                    <a:p>
                      <a:r>
                        <a:rPr lang="fi-FI" sz="2000" dirty="0" smtClean="0"/>
                        <a:t>Classes that should not trigger the failure</a:t>
                      </a:r>
                      <a:endParaRPr lang="fi-FI" sz="2000" dirty="0"/>
                    </a:p>
                  </a:txBody>
                  <a:tcPr/>
                </a:tc>
                <a:tc>
                  <a:txBody>
                    <a:bodyPr/>
                    <a:lstStyle/>
                    <a:p>
                      <a:r>
                        <a:rPr lang="fi-FI" sz="2000" dirty="0" smtClean="0"/>
                        <a:t>Classes that might trigger the failure</a:t>
                      </a:r>
                      <a:endParaRPr lang="fi-FI" sz="2000" dirty="0"/>
                    </a:p>
                  </a:txBody>
                  <a:tcPr/>
                </a:tc>
                <a:tc>
                  <a:txBody>
                    <a:bodyPr/>
                    <a:lstStyle/>
                    <a:p>
                      <a:r>
                        <a:rPr lang="fi-FI" sz="2000" dirty="0" smtClean="0"/>
                        <a:t>Test (Best</a:t>
                      </a:r>
                      <a:r>
                        <a:rPr lang="fi-FI" sz="2000" baseline="0" dirty="0" smtClean="0"/>
                        <a:t> represen-tative)</a:t>
                      </a:r>
                      <a:endParaRPr lang="fi-FI" sz="2000" dirty="0"/>
                    </a:p>
                  </a:txBody>
                  <a:tcPr/>
                </a:tc>
                <a:tc>
                  <a:txBody>
                    <a:bodyPr/>
                    <a:lstStyle/>
                    <a:p>
                      <a:r>
                        <a:rPr lang="fi-FI" sz="2000" dirty="0" smtClean="0"/>
                        <a:t>Notes</a:t>
                      </a:r>
                      <a:endParaRPr lang="fi-FI" sz="2000" dirty="0"/>
                    </a:p>
                  </a:txBody>
                  <a:tcPr/>
                </a:tc>
              </a:tr>
              <a:tr h="918220">
                <a:tc>
                  <a:txBody>
                    <a:bodyPr/>
                    <a:lstStyle/>
                    <a:p>
                      <a:r>
                        <a:rPr lang="fi-FI" sz="2000" dirty="0" smtClean="0"/>
                        <a:t>Variable1</a:t>
                      </a:r>
                      <a:endParaRPr lang="fi-FI" sz="2000" dirty="0"/>
                    </a:p>
                  </a:txBody>
                  <a:tcPr/>
                </a:tc>
                <a:tc>
                  <a:txBody>
                    <a:bodyPr/>
                    <a:lstStyle/>
                    <a:p>
                      <a:r>
                        <a:rPr lang="fi-FI" sz="2000" dirty="0" smtClean="0"/>
                        <a:t>Integer overflow</a:t>
                      </a:r>
                    </a:p>
                  </a:txBody>
                  <a:tcPr/>
                </a:tc>
                <a:tc>
                  <a:txBody>
                    <a:bodyPr/>
                    <a:lstStyle/>
                    <a:p>
                      <a:endParaRPr lang="fi-FI" sz="2000" dirty="0"/>
                    </a:p>
                  </a:txBody>
                  <a:tcPr/>
                </a:tc>
                <a:tc>
                  <a:txBody>
                    <a:bodyPr/>
                    <a:lstStyle/>
                    <a:p>
                      <a:endParaRPr lang="fi-FI" sz="2000" dirty="0"/>
                    </a:p>
                  </a:txBody>
                  <a:tcPr/>
                </a:tc>
                <a:tc>
                  <a:txBody>
                    <a:bodyPr/>
                    <a:lstStyle/>
                    <a:p>
                      <a:endParaRPr lang="fi-FI" sz="2000" dirty="0"/>
                    </a:p>
                  </a:txBody>
                  <a:tcPr/>
                </a:tc>
                <a:tc>
                  <a:txBody>
                    <a:bodyPr/>
                    <a:lstStyle/>
                    <a:p>
                      <a:endParaRPr lang="fi-FI" sz="2000" dirty="0"/>
                    </a:p>
                  </a:txBody>
                  <a:tcPr/>
                </a:tc>
              </a:tr>
              <a:tr h="918220">
                <a:tc>
                  <a:txBody>
                    <a:bodyPr/>
                    <a:lstStyle/>
                    <a:p>
                      <a:endParaRPr lang="fi-FI" sz="2000" dirty="0"/>
                    </a:p>
                  </a:txBody>
                  <a:tcPr/>
                </a:tc>
                <a:tc>
                  <a:txBody>
                    <a:bodyPr/>
                    <a:lstStyle/>
                    <a:p>
                      <a:r>
                        <a:rPr lang="fi-FI" sz="2000" dirty="0" smtClean="0"/>
                        <a:t>Division by zero</a:t>
                      </a:r>
                    </a:p>
                  </a:txBody>
                  <a:tcPr/>
                </a:tc>
                <a:tc>
                  <a:txBody>
                    <a:bodyPr/>
                    <a:lstStyle/>
                    <a:p>
                      <a:endParaRPr lang="fi-FI" sz="2000" dirty="0"/>
                    </a:p>
                  </a:txBody>
                  <a:tcPr/>
                </a:tc>
                <a:tc>
                  <a:txBody>
                    <a:bodyPr/>
                    <a:lstStyle/>
                    <a:p>
                      <a:endParaRPr lang="fi-FI" sz="2000" dirty="0"/>
                    </a:p>
                  </a:txBody>
                  <a:tcPr/>
                </a:tc>
                <a:tc>
                  <a:txBody>
                    <a:bodyPr/>
                    <a:lstStyle/>
                    <a:p>
                      <a:endParaRPr lang="fi-FI" sz="2000" dirty="0"/>
                    </a:p>
                  </a:txBody>
                  <a:tcPr/>
                </a:tc>
                <a:tc>
                  <a:txBody>
                    <a:bodyPr/>
                    <a:lstStyle/>
                    <a:p>
                      <a:endParaRPr lang="fi-FI" sz="2000" dirty="0"/>
                    </a:p>
                  </a:txBody>
                  <a:tcPr/>
                </a:tc>
              </a:tr>
            </a:tbl>
          </a:graphicData>
        </a:graphic>
      </p:graphicFrame>
      <p:sp>
        <p:nvSpPr>
          <p:cNvPr id="5" name="Rectangle 4"/>
          <p:cNvSpPr/>
          <p:nvPr/>
        </p:nvSpPr>
        <p:spPr>
          <a:xfrm>
            <a:off x="5072066" y="5357826"/>
            <a:ext cx="3786214" cy="928694"/>
          </a:xfrm>
          <a:prstGeom prst="rect">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fi-FI" sz="2400" dirty="0" smtClean="0"/>
              <a:t>Makes the logic of minimizing tests visible.</a:t>
            </a:r>
            <a:endParaRPr lang="fi-FI"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Charter List</a:t>
            </a:r>
            <a:endParaRPr lang="fi-FI" dirty="0"/>
          </a:p>
        </p:txBody>
      </p:sp>
      <p:graphicFrame>
        <p:nvGraphicFramePr>
          <p:cNvPr id="6" name="Content Placeholder 5"/>
          <p:cNvGraphicFramePr>
            <a:graphicFrameLocks noGrp="1"/>
          </p:cNvGraphicFramePr>
          <p:nvPr>
            <p:ph idx="1"/>
          </p:nvPr>
        </p:nvGraphicFramePr>
        <p:xfrm>
          <a:off x="457200" y="1600200"/>
          <a:ext cx="8229600" cy="2590799"/>
        </p:xfrm>
        <a:graphic>
          <a:graphicData uri="http://schemas.openxmlformats.org/drawingml/2006/table">
            <a:tbl>
              <a:tblPr firstRow="1" bandRow="1">
                <a:tableStyleId>{5C22544A-7EE6-4342-B048-85BDC9FD1C3A}</a:tableStyleId>
              </a:tblPr>
              <a:tblGrid>
                <a:gridCol w="1905000"/>
                <a:gridCol w="6324600"/>
              </a:tblGrid>
              <a:tr h="370840">
                <a:tc>
                  <a:txBody>
                    <a:bodyPr/>
                    <a:lstStyle/>
                    <a:p>
                      <a:r>
                        <a:rPr lang="fi-FI" sz="2800" dirty="0" smtClean="0"/>
                        <a:t>Charter</a:t>
                      </a:r>
                      <a:endParaRPr lang="fi-FI" sz="2800" dirty="0"/>
                    </a:p>
                  </a:txBody>
                  <a:tcPr/>
                </a:tc>
                <a:tc>
                  <a:txBody>
                    <a:bodyPr/>
                    <a:lstStyle/>
                    <a:p>
                      <a:r>
                        <a:rPr lang="fi-FI" sz="2800" dirty="0" smtClean="0"/>
                        <a:t>Notes</a:t>
                      </a:r>
                      <a:endParaRPr lang="fi-FI" sz="2800" dirty="0"/>
                    </a:p>
                  </a:txBody>
                  <a:tcPr/>
                </a:tc>
              </a:tr>
              <a:tr h="370840">
                <a:tc>
                  <a:txBody>
                    <a:bodyPr/>
                    <a:lstStyle/>
                    <a:p>
                      <a:r>
                        <a:rPr lang="fi-FI" sz="2800" dirty="0" smtClean="0"/>
                        <a:t>Linux-time</a:t>
                      </a:r>
                      <a:endParaRPr lang="fi-FI" sz="2800" dirty="0"/>
                    </a:p>
                  </a:txBody>
                  <a:tcPr/>
                </a:tc>
                <a:tc>
                  <a:txBody>
                    <a:bodyPr/>
                    <a:lstStyle/>
                    <a:p>
                      <a:r>
                        <a:rPr lang="fi-FI" sz="2800" dirty="0" smtClean="0"/>
                        <a:t>This</a:t>
                      </a:r>
                      <a:r>
                        <a:rPr lang="fi-FI" sz="2800" baseline="0" dirty="0" smtClean="0"/>
                        <a:t> also works in linux, so test in linux. </a:t>
                      </a:r>
                      <a:endParaRPr lang="fi-FI" sz="2800" dirty="0"/>
                    </a:p>
                  </a:txBody>
                  <a:tcPr/>
                </a:tc>
              </a:tr>
              <a:tr h="370840">
                <a:tc>
                  <a:txBody>
                    <a:bodyPr/>
                    <a:lstStyle/>
                    <a:p>
                      <a:r>
                        <a:rPr lang="fi-FI" sz="2800" dirty="0" smtClean="0"/>
                        <a:t>...</a:t>
                      </a:r>
                      <a:endParaRPr lang="fi-FI" sz="2800" dirty="0"/>
                    </a:p>
                  </a:txBody>
                  <a:tcPr/>
                </a:tc>
                <a:tc>
                  <a:txBody>
                    <a:bodyPr/>
                    <a:lstStyle/>
                    <a:p>
                      <a:endParaRPr lang="fi-FI" sz="2800" dirty="0"/>
                    </a:p>
                  </a:txBody>
                  <a:tcPr/>
                </a:tc>
              </a:tr>
              <a:tr h="370840">
                <a:tc>
                  <a:txBody>
                    <a:bodyPr/>
                    <a:lstStyle/>
                    <a:p>
                      <a:endParaRPr lang="fi-FI" sz="2800"/>
                    </a:p>
                  </a:txBody>
                  <a:tcPr/>
                </a:tc>
                <a:tc>
                  <a:txBody>
                    <a:bodyPr/>
                    <a:lstStyle/>
                    <a:p>
                      <a:endParaRPr lang="fi-FI" sz="2800" dirty="0"/>
                    </a:p>
                  </a:txBody>
                  <a:tcPr/>
                </a:tc>
              </a:tr>
              <a:tr h="370840">
                <a:tc>
                  <a:txBody>
                    <a:bodyPr/>
                    <a:lstStyle/>
                    <a:p>
                      <a:endParaRPr lang="fi-FI" sz="2800"/>
                    </a:p>
                  </a:txBody>
                  <a:tcPr/>
                </a:tc>
                <a:tc>
                  <a:txBody>
                    <a:bodyPr/>
                    <a:lstStyle/>
                    <a:p>
                      <a:endParaRPr lang="fi-FI" sz="2800" dirty="0"/>
                    </a:p>
                  </a:txBody>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ransition xmlns:p14="http://schemas.microsoft.com/office/powerpoint/2010/mai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Feature to Test: Search and Replace </a:t>
            </a:r>
            <a:endParaRPr lang="fi-FI" dirty="0"/>
          </a:p>
        </p:txBody>
      </p:sp>
      <p:sp>
        <p:nvSpPr>
          <p:cNvPr id="3" name="Content Placeholder 2"/>
          <p:cNvSpPr>
            <a:spLocks noGrp="1"/>
          </p:cNvSpPr>
          <p:nvPr>
            <p:ph idx="1"/>
          </p:nvPr>
        </p:nvSpPr>
        <p:spPr/>
        <p:txBody>
          <a:bodyPr>
            <a:normAutofit fontScale="92500" lnSpcReduction="10000"/>
          </a:bodyPr>
          <a:lstStyle/>
          <a:p>
            <a:r>
              <a:rPr lang="en-US" dirty="0" err="1" smtClean="0"/>
              <a:t>FreeMind</a:t>
            </a:r>
            <a:r>
              <a:rPr lang="en-US" dirty="0" smtClean="0"/>
              <a:t> has now a Find &amp; Replace dialog. It combines the old "Show Map History..." (which is not there any more) with a classical Find &amp; Replace dialog. </a:t>
            </a:r>
          </a:p>
          <a:p>
            <a:r>
              <a:rPr lang="en-US" dirty="0" smtClean="0"/>
              <a:t>Found nodes can be sorted by Date, Text, Icons, Created, Modified, and Notes. </a:t>
            </a:r>
          </a:p>
          <a:p>
            <a:r>
              <a:rPr lang="en-US" dirty="0" smtClean="0"/>
              <a:t>You can choose: Export Selected Nodes, Replace All, Replace Selected, </a:t>
            </a:r>
            <a:r>
              <a:rPr lang="en-US" dirty="0" err="1" smtClean="0"/>
              <a:t>Goto</a:t>
            </a:r>
            <a:r>
              <a:rPr lang="en-US" dirty="0" smtClean="0"/>
              <a:t>, and Select. </a:t>
            </a:r>
          </a:p>
          <a:p>
            <a:r>
              <a:rPr lang="en-US" dirty="0" smtClean="0"/>
              <a:t>When no search text is entered all nodes of the map are shown in a sorted list. </a:t>
            </a:r>
          </a:p>
          <a:p>
            <a:endParaRPr lang="fi-FI"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1814</TotalTime>
  <Words>1841</Words>
  <Application>Microsoft Macintosh PowerPoint</Application>
  <PresentationFormat>On-screen Show (4:3)</PresentationFormat>
  <Paragraphs>340</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Testisuunnittelun käytännöt</vt:lpstr>
      <vt:lpstr>Problem Setting in Testing</vt:lpstr>
      <vt:lpstr>Syötteet, aineistot, muuttujat ja tulokset</vt:lpstr>
      <vt:lpstr>Testiympäristö </vt:lpstr>
      <vt:lpstr>Neljä kattavuusnäkökulmaa</vt:lpstr>
      <vt:lpstr>Täysin kattava testaus on mahdotonta</vt:lpstr>
      <vt:lpstr>Testauksen optimointi</vt:lpstr>
      <vt:lpstr>Testauksen suorittaminen ja testityön kirjaaminen testipäiväkirjaan</vt:lpstr>
      <vt:lpstr>Role of Test Documentation</vt:lpstr>
      <vt:lpstr>Example: The Scales of Documenting Tests</vt:lpstr>
      <vt:lpstr>Example: Classification Tree Technique </vt:lpstr>
      <vt:lpstr>Role-based Sandboxes</vt:lpstr>
      <vt:lpstr>Charter Protocol</vt:lpstr>
      <vt:lpstr>Documentation</vt:lpstr>
      <vt:lpstr>Avoid Repeatable Test Specifications</vt:lpstr>
      <vt:lpstr>Learning Changes Priorities</vt:lpstr>
      <vt:lpstr>Exercise Assignment</vt:lpstr>
      <vt:lpstr>Domain Analysis in Tabular Format</vt:lpstr>
      <vt:lpstr>Charter List</vt:lpstr>
      <vt:lpstr>Feature to Test: Search and Replace </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24</cp:revision>
  <dcterms:created xsi:type="dcterms:W3CDTF">2006-08-16T00:00:00Z</dcterms:created>
  <dcterms:modified xsi:type="dcterms:W3CDTF">2017-05-29T09:13:50Z</dcterms:modified>
</cp:coreProperties>
</file>