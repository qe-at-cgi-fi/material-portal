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734175" cy="98679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309" autoAdjust="0"/>
  </p:normalViewPr>
  <p:slideViewPr>
    <p:cSldViewPr>
      <p:cViewPr varScale="1">
        <p:scale>
          <a:sx n="76" d="100"/>
          <a:sy n="76" d="100"/>
        </p:scale>
        <p:origin x="-139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490" y="-126"/>
      </p:cViewPr>
      <p:guideLst>
        <p:guide orient="horz" pos="3108"/>
        <p:guide pos="2121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A87117-9546-408A-99AD-044919ADD7C4}" type="doc">
      <dgm:prSet loTypeId="urn:microsoft.com/office/officeart/2005/8/layout/cycle1" loCatId="cycle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18F106-A1BD-49AB-A17D-154E0E6C76CE}">
      <dgm:prSet phldrT="[Text]"/>
      <dgm:spPr/>
      <dgm:t>
        <a:bodyPr/>
        <a:lstStyle/>
        <a:p>
          <a:r>
            <a:rPr lang="en-GB" dirty="0" smtClean="0"/>
            <a:t> </a:t>
          </a:r>
          <a:endParaRPr lang="en-US" dirty="0"/>
        </a:p>
      </dgm:t>
    </dgm:pt>
    <dgm:pt modelId="{79F61EEA-63D3-4D5D-A0B0-62D8118FC464}" type="parTrans" cxnId="{D069FEF2-11CD-482F-8134-444A295E7D37}">
      <dgm:prSet/>
      <dgm:spPr/>
      <dgm:t>
        <a:bodyPr/>
        <a:lstStyle/>
        <a:p>
          <a:endParaRPr lang="en-US"/>
        </a:p>
      </dgm:t>
    </dgm:pt>
    <dgm:pt modelId="{123343FA-CF6C-42DB-8172-51F1D30C3384}" type="sibTrans" cxnId="{D069FEF2-11CD-482F-8134-444A295E7D37}">
      <dgm:prSet/>
      <dgm:spPr/>
      <dgm:t>
        <a:bodyPr/>
        <a:lstStyle/>
        <a:p>
          <a:endParaRPr lang="en-US"/>
        </a:p>
      </dgm:t>
    </dgm:pt>
    <dgm:pt modelId="{0A6E25E5-D4B5-409C-8D00-43D4B4F0AA81}">
      <dgm:prSet phldrT="[Text]"/>
      <dgm:spPr/>
      <dgm:t>
        <a:bodyPr/>
        <a:lstStyle/>
        <a:p>
          <a:r>
            <a:rPr lang="en-GB" dirty="0" smtClean="0"/>
            <a:t> </a:t>
          </a:r>
          <a:endParaRPr lang="en-US" dirty="0"/>
        </a:p>
      </dgm:t>
    </dgm:pt>
    <dgm:pt modelId="{822400C0-8EC0-4529-A36E-8B540E66F19F}" type="parTrans" cxnId="{A197493F-DF49-4E7B-8991-DEC720AE3A10}">
      <dgm:prSet/>
      <dgm:spPr/>
      <dgm:t>
        <a:bodyPr/>
        <a:lstStyle/>
        <a:p>
          <a:endParaRPr lang="en-US"/>
        </a:p>
      </dgm:t>
    </dgm:pt>
    <dgm:pt modelId="{675DDEF3-0F8C-4660-AFED-B7408B9E852F}" type="sibTrans" cxnId="{A197493F-DF49-4E7B-8991-DEC720AE3A10}">
      <dgm:prSet/>
      <dgm:spPr/>
      <dgm:t>
        <a:bodyPr/>
        <a:lstStyle/>
        <a:p>
          <a:endParaRPr lang="en-US"/>
        </a:p>
      </dgm:t>
    </dgm:pt>
    <dgm:pt modelId="{9A2836F9-98B5-4E97-B5A6-48F367C57C10}">
      <dgm:prSet phldrT="[Text]"/>
      <dgm:spPr/>
      <dgm:t>
        <a:bodyPr/>
        <a:lstStyle/>
        <a:p>
          <a:r>
            <a:rPr lang="en-GB" dirty="0" smtClean="0"/>
            <a:t> </a:t>
          </a:r>
          <a:endParaRPr lang="en-US" dirty="0"/>
        </a:p>
      </dgm:t>
    </dgm:pt>
    <dgm:pt modelId="{82233579-64CA-4BCA-AE9C-8ED0C1E5A964}" type="parTrans" cxnId="{38BA656F-730A-4FCC-AA7C-78B62B0043A1}">
      <dgm:prSet/>
      <dgm:spPr/>
      <dgm:t>
        <a:bodyPr/>
        <a:lstStyle/>
        <a:p>
          <a:endParaRPr lang="en-US"/>
        </a:p>
      </dgm:t>
    </dgm:pt>
    <dgm:pt modelId="{CDD4242C-336B-4F2C-AA88-F41623AA4A15}" type="sibTrans" cxnId="{38BA656F-730A-4FCC-AA7C-78B62B0043A1}">
      <dgm:prSet/>
      <dgm:spPr/>
      <dgm:t>
        <a:bodyPr/>
        <a:lstStyle/>
        <a:p>
          <a:endParaRPr lang="en-US"/>
        </a:p>
      </dgm:t>
    </dgm:pt>
    <dgm:pt modelId="{C0327EDE-D8B5-4A2A-A491-4C5FCD501BA4}">
      <dgm:prSet phldrT="[Text]"/>
      <dgm:spPr/>
      <dgm:t>
        <a:bodyPr/>
        <a:lstStyle/>
        <a:p>
          <a:r>
            <a:rPr lang="en-GB" dirty="0" smtClean="0"/>
            <a:t> </a:t>
          </a:r>
          <a:endParaRPr lang="en-US" dirty="0"/>
        </a:p>
      </dgm:t>
    </dgm:pt>
    <dgm:pt modelId="{80ACD01A-B104-4715-AFB2-0FBAF7533865}" type="parTrans" cxnId="{F6219286-9B62-4065-8202-A8BDB9475C25}">
      <dgm:prSet/>
      <dgm:spPr/>
      <dgm:t>
        <a:bodyPr/>
        <a:lstStyle/>
        <a:p>
          <a:endParaRPr lang="en-US"/>
        </a:p>
      </dgm:t>
    </dgm:pt>
    <dgm:pt modelId="{DAE9A5DA-93D1-4057-B6D3-8E7082AD9F55}" type="sibTrans" cxnId="{F6219286-9B62-4065-8202-A8BDB9475C25}">
      <dgm:prSet/>
      <dgm:spPr/>
      <dgm:t>
        <a:bodyPr/>
        <a:lstStyle/>
        <a:p>
          <a:endParaRPr lang="en-US"/>
        </a:p>
      </dgm:t>
    </dgm:pt>
    <dgm:pt modelId="{51985723-4B82-4CE3-9EBE-50F61F37AA6D}">
      <dgm:prSet phldrT="[Text]"/>
      <dgm:spPr/>
      <dgm:t>
        <a:bodyPr/>
        <a:lstStyle/>
        <a:p>
          <a:r>
            <a:rPr lang="en-GB" dirty="0" smtClean="0"/>
            <a:t> </a:t>
          </a:r>
          <a:endParaRPr lang="en-US" dirty="0"/>
        </a:p>
      </dgm:t>
    </dgm:pt>
    <dgm:pt modelId="{C00C602B-03E0-4D52-9CBD-6FE69EB1540F}" type="parTrans" cxnId="{5BB6A5D9-2E72-4DAD-B256-0BB22641DECE}">
      <dgm:prSet/>
      <dgm:spPr/>
      <dgm:t>
        <a:bodyPr/>
        <a:lstStyle/>
        <a:p>
          <a:endParaRPr lang="en-US"/>
        </a:p>
      </dgm:t>
    </dgm:pt>
    <dgm:pt modelId="{CD9AE828-EF73-4CC2-8C20-CED784C63F0A}" type="sibTrans" cxnId="{5BB6A5D9-2E72-4DAD-B256-0BB22641DECE}">
      <dgm:prSet/>
      <dgm:spPr/>
      <dgm:t>
        <a:bodyPr/>
        <a:lstStyle/>
        <a:p>
          <a:endParaRPr lang="en-US"/>
        </a:p>
      </dgm:t>
    </dgm:pt>
    <dgm:pt modelId="{DD4A84BF-43F5-48FD-979E-151E2C003305}" type="pres">
      <dgm:prSet presAssocID="{03A87117-9546-408A-99AD-044919ADD7C4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547F6A8-B8BB-48A2-9CE5-5133CD92D6CA}" type="pres">
      <dgm:prSet presAssocID="{9218F106-A1BD-49AB-A17D-154E0E6C76CE}" presName="dummy" presStyleCnt="0"/>
      <dgm:spPr/>
    </dgm:pt>
    <dgm:pt modelId="{6F254722-2655-4B35-A5E9-3A0A426A4A2B}" type="pres">
      <dgm:prSet presAssocID="{9218F106-A1BD-49AB-A17D-154E0E6C76CE}" presName="node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644BD2-0DEA-4C6C-8F95-83AFC313804A}" type="pres">
      <dgm:prSet presAssocID="{123343FA-CF6C-42DB-8172-51F1D30C3384}" presName="sibTrans" presStyleLbl="node1" presStyleIdx="0" presStyleCnt="5"/>
      <dgm:spPr/>
      <dgm:t>
        <a:bodyPr/>
        <a:lstStyle/>
        <a:p>
          <a:endParaRPr lang="en-US"/>
        </a:p>
      </dgm:t>
    </dgm:pt>
    <dgm:pt modelId="{BE594ABD-47A2-4FC2-80DE-72FDB09FFF20}" type="pres">
      <dgm:prSet presAssocID="{0A6E25E5-D4B5-409C-8D00-43D4B4F0AA81}" presName="dummy" presStyleCnt="0"/>
      <dgm:spPr/>
    </dgm:pt>
    <dgm:pt modelId="{022C1776-3CCB-4939-9189-928EC570FF29}" type="pres">
      <dgm:prSet presAssocID="{0A6E25E5-D4B5-409C-8D00-43D4B4F0AA81}" presName="node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9A448D-44AF-4702-8FD9-9202E23D3399}" type="pres">
      <dgm:prSet presAssocID="{675DDEF3-0F8C-4660-AFED-B7408B9E852F}" presName="sibTrans" presStyleLbl="node1" presStyleIdx="1" presStyleCnt="5"/>
      <dgm:spPr/>
      <dgm:t>
        <a:bodyPr/>
        <a:lstStyle/>
        <a:p>
          <a:endParaRPr lang="en-US"/>
        </a:p>
      </dgm:t>
    </dgm:pt>
    <dgm:pt modelId="{44DD1F92-18D8-4B6A-9FB0-C4A4A6893921}" type="pres">
      <dgm:prSet presAssocID="{9A2836F9-98B5-4E97-B5A6-48F367C57C10}" presName="dummy" presStyleCnt="0"/>
      <dgm:spPr/>
    </dgm:pt>
    <dgm:pt modelId="{9F5E7BC6-4128-43BD-940C-85FB63522D15}" type="pres">
      <dgm:prSet presAssocID="{9A2836F9-98B5-4E97-B5A6-48F367C57C10}" presName="node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196F5D-9337-4CE7-94BD-51512E79EB7F}" type="pres">
      <dgm:prSet presAssocID="{CDD4242C-336B-4F2C-AA88-F41623AA4A15}" presName="sibTrans" presStyleLbl="node1" presStyleIdx="2" presStyleCnt="5"/>
      <dgm:spPr/>
      <dgm:t>
        <a:bodyPr/>
        <a:lstStyle/>
        <a:p>
          <a:endParaRPr lang="en-US"/>
        </a:p>
      </dgm:t>
    </dgm:pt>
    <dgm:pt modelId="{6E1E2FFE-178A-4BBE-A44B-F422098E24DB}" type="pres">
      <dgm:prSet presAssocID="{C0327EDE-D8B5-4A2A-A491-4C5FCD501BA4}" presName="dummy" presStyleCnt="0"/>
      <dgm:spPr/>
    </dgm:pt>
    <dgm:pt modelId="{36F47450-5CF9-48A0-99EF-56C885F4ABA0}" type="pres">
      <dgm:prSet presAssocID="{C0327EDE-D8B5-4A2A-A491-4C5FCD501BA4}" presName="node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7DEEB0-6E40-4E0B-84AF-727D87D62B03}" type="pres">
      <dgm:prSet presAssocID="{DAE9A5DA-93D1-4057-B6D3-8E7082AD9F55}" presName="sibTrans" presStyleLbl="node1" presStyleIdx="3" presStyleCnt="5"/>
      <dgm:spPr/>
      <dgm:t>
        <a:bodyPr/>
        <a:lstStyle/>
        <a:p>
          <a:endParaRPr lang="en-US"/>
        </a:p>
      </dgm:t>
    </dgm:pt>
    <dgm:pt modelId="{21A77FE6-6E09-4D54-B046-B083643CC740}" type="pres">
      <dgm:prSet presAssocID="{51985723-4B82-4CE3-9EBE-50F61F37AA6D}" presName="dummy" presStyleCnt="0"/>
      <dgm:spPr/>
    </dgm:pt>
    <dgm:pt modelId="{B9685446-281A-4077-9661-4BF9A8B51066}" type="pres">
      <dgm:prSet presAssocID="{51985723-4B82-4CE3-9EBE-50F61F37AA6D}" presName="node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8B9CC0-E2D9-4BB4-A579-B547B04C7C97}" type="pres">
      <dgm:prSet presAssocID="{CD9AE828-EF73-4CC2-8C20-CED784C63F0A}" presName="sibTrans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50D902F7-0499-41C7-B6C9-7DE68D7A9CA2}" type="presOf" srcId="{CD9AE828-EF73-4CC2-8C20-CED784C63F0A}" destId="{818B9CC0-E2D9-4BB4-A579-B547B04C7C97}" srcOrd="0" destOrd="0" presId="urn:microsoft.com/office/officeart/2005/8/layout/cycle1"/>
    <dgm:cxn modelId="{D069FEF2-11CD-482F-8134-444A295E7D37}" srcId="{03A87117-9546-408A-99AD-044919ADD7C4}" destId="{9218F106-A1BD-49AB-A17D-154E0E6C76CE}" srcOrd="0" destOrd="0" parTransId="{79F61EEA-63D3-4D5D-A0B0-62D8118FC464}" sibTransId="{123343FA-CF6C-42DB-8172-51F1D30C3384}"/>
    <dgm:cxn modelId="{45D60955-7208-4DAC-BFF4-D08D36971FB4}" type="presOf" srcId="{51985723-4B82-4CE3-9EBE-50F61F37AA6D}" destId="{B9685446-281A-4077-9661-4BF9A8B51066}" srcOrd="0" destOrd="0" presId="urn:microsoft.com/office/officeart/2005/8/layout/cycle1"/>
    <dgm:cxn modelId="{A039FD7D-709D-46FA-9020-6D35DEF66B3C}" type="presOf" srcId="{123343FA-CF6C-42DB-8172-51F1D30C3384}" destId="{4A644BD2-0DEA-4C6C-8F95-83AFC313804A}" srcOrd="0" destOrd="0" presId="urn:microsoft.com/office/officeart/2005/8/layout/cycle1"/>
    <dgm:cxn modelId="{48438EAA-D5AF-4BAE-9B8F-FFE28D4E74C9}" type="presOf" srcId="{DAE9A5DA-93D1-4057-B6D3-8E7082AD9F55}" destId="{597DEEB0-6E40-4E0B-84AF-727D87D62B03}" srcOrd="0" destOrd="0" presId="urn:microsoft.com/office/officeart/2005/8/layout/cycle1"/>
    <dgm:cxn modelId="{F6219286-9B62-4065-8202-A8BDB9475C25}" srcId="{03A87117-9546-408A-99AD-044919ADD7C4}" destId="{C0327EDE-D8B5-4A2A-A491-4C5FCD501BA4}" srcOrd="3" destOrd="0" parTransId="{80ACD01A-B104-4715-AFB2-0FBAF7533865}" sibTransId="{DAE9A5DA-93D1-4057-B6D3-8E7082AD9F55}"/>
    <dgm:cxn modelId="{4AA1F80F-2BCE-4B5A-80AA-36A7A66884E8}" type="presOf" srcId="{CDD4242C-336B-4F2C-AA88-F41623AA4A15}" destId="{40196F5D-9337-4CE7-94BD-51512E79EB7F}" srcOrd="0" destOrd="0" presId="urn:microsoft.com/office/officeart/2005/8/layout/cycle1"/>
    <dgm:cxn modelId="{BDA7C2CF-319C-4C7C-B5D1-E494DD4667CE}" type="presOf" srcId="{C0327EDE-D8B5-4A2A-A491-4C5FCD501BA4}" destId="{36F47450-5CF9-48A0-99EF-56C885F4ABA0}" srcOrd="0" destOrd="0" presId="urn:microsoft.com/office/officeart/2005/8/layout/cycle1"/>
    <dgm:cxn modelId="{A197493F-DF49-4E7B-8991-DEC720AE3A10}" srcId="{03A87117-9546-408A-99AD-044919ADD7C4}" destId="{0A6E25E5-D4B5-409C-8D00-43D4B4F0AA81}" srcOrd="1" destOrd="0" parTransId="{822400C0-8EC0-4529-A36E-8B540E66F19F}" sibTransId="{675DDEF3-0F8C-4660-AFED-B7408B9E852F}"/>
    <dgm:cxn modelId="{DC7691E0-9C35-45F4-ABAC-656C1252C1A1}" type="presOf" srcId="{9218F106-A1BD-49AB-A17D-154E0E6C76CE}" destId="{6F254722-2655-4B35-A5E9-3A0A426A4A2B}" srcOrd="0" destOrd="0" presId="urn:microsoft.com/office/officeart/2005/8/layout/cycle1"/>
    <dgm:cxn modelId="{C4622837-6495-4461-9783-2B6DD997E61E}" type="presOf" srcId="{675DDEF3-0F8C-4660-AFED-B7408B9E852F}" destId="{619A448D-44AF-4702-8FD9-9202E23D3399}" srcOrd="0" destOrd="0" presId="urn:microsoft.com/office/officeart/2005/8/layout/cycle1"/>
    <dgm:cxn modelId="{2FEFADD4-EA33-4AF2-ABF4-DE44B68D79ED}" type="presOf" srcId="{0A6E25E5-D4B5-409C-8D00-43D4B4F0AA81}" destId="{022C1776-3CCB-4939-9189-928EC570FF29}" srcOrd="0" destOrd="0" presId="urn:microsoft.com/office/officeart/2005/8/layout/cycle1"/>
    <dgm:cxn modelId="{E1A9FEC8-8206-429B-A79D-F605D6F3ED46}" type="presOf" srcId="{9A2836F9-98B5-4E97-B5A6-48F367C57C10}" destId="{9F5E7BC6-4128-43BD-940C-85FB63522D15}" srcOrd="0" destOrd="0" presId="urn:microsoft.com/office/officeart/2005/8/layout/cycle1"/>
    <dgm:cxn modelId="{38BA656F-730A-4FCC-AA7C-78B62B0043A1}" srcId="{03A87117-9546-408A-99AD-044919ADD7C4}" destId="{9A2836F9-98B5-4E97-B5A6-48F367C57C10}" srcOrd="2" destOrd="0" parTransId="{82233579-64CA-4BCA-AE9C-8ED0C1E5A964}" sibTransId="{CDD4242C-336B-4F2C-AA88-F41623AA4A15}"/>
    <dgm:cxn modelId="{5BB6A5D9-2E72-4DAD-B256-0BB22641DECE}" srcId="{03A87117-9546-408A-99AD-044919ADD7C4}" destId="{51985723-4B82-4CE3-9EBE-50F61F37AA6D}" srcOrd="4" destOrd="0" parTransId="{C00C602B-03E0-4D52-9CBD-6FE69EB1540F}" sibTransId="{CD9AE828-EF73-4CC2-8C20-CED784C63F0A}"/>
    <dgm:cxn modelId="{B93D1BDE-5662-4BA6-9DE4-0F1FBEF34D42}" type="presOf" srcId="{03A87117-9546-408A-99AD-044919ADD7C4}" destId="{DD4A84BF-43F5-48FD-979E-151E2C003305}" srcOrd="0" destOrd="0" presId="urn:microsoft.com/office/officeart/2005/8/layout/cycle1"/>
    <dgm:cxn modelId="{B61AE000-02AD-4FE5-8AD5-11AB127E6A60}" type="presParOf" srcId="{DD4A84BF-43F5-48FD-979E-151E2C003305}" destId="{9547F6A8-B8BB-48A2-9CE5-5133CD92D6CA}" srcOrd="0" destOrd="0" presId="urn:microsoft.com/office/officeart/2005/8/layout/cycle1"/>
    <dgm:cxn modelId="{82D6535E-D938-43BE-920A-BC8B6FF18AE4}" type="presParOf" srcId="{DD4A84BF-43F5-48FD-979E-151E2C003305}" destId="{6F254722-2655-4B35-A5E9-3A0A426A4A2B}" srcOrd="1" destOrd="0" presId="urn:microsoft.com/office/officeart/2005/8/layout/cycle1"/>
    <dgm:cxn modelId="{F221764B-6138-432A-A753-CFDEA10659F9}" type="presParOf" srcId="{DD4A84BF-43F5-48FD-979E-151E2C003305}" destId="{4A644BD2-0DEA-4C6C-8F95-83AFC313804A}" srcOrd="2" destOrd="0" presId="urn:microsoft.com/office/officeart/2005/8/layout/cycle1"/>
    <dgm:cxn modelId="{25BE1435-1850-42E2-90D6-9A3B0F74AB17}" type="presParOf" srcId="{DD4A84BF-43F5-48FD-979E-151E2C003305}" destId="{BE594ABD-47A2-4FC2-80DE-72FDB09FFF20}" srcOrd="3" destOrd="0" presId="urn:microsoft.com/office/officeart/2005/8/layout/cycle1"/>
    <dgm:cxn modelId="{798FC35C-63BC-49A6-A088-9C8CDAC22785}" type="presParOf" srcId="{DD4A84BF-43F5-48FD-979E-151E2C003305}" destId="{022C1776-3CCB-4939-9189-928EC570FF29}" srcOrd="4" destOrd="0" presId="urn:microsoft.com/office/officeart/2005/8/layout/cycle1"/>
    <dgm:cxn modelId="{24257F6B-7BED-431C-8E15-DD76A51F1799}" type="presParOf" srcId="{DD4A84BF-43F5-48FD-979E-151E2C003305}" destId="{619A448D-44AF-4702-8FD9-9202E23D3399}" srcOrd="5" destOrd="0" presId="urn:microsoft.com/office/officeart/2005/8/layout/cycle1"/>
    <dgm:cxn modelId="{3C674341-B806-4448-9651-6DAE68C7B386}" type="presParOf" srcId="{DD4A84BF-43F5-48FD-979E-151E2C003305}" destId="{44DD1F92-18D8-4B6A-9FB0-C4A4A6893921}" srcOrd="6" destOrd="0" presId="urn:microsoft.com/office/officeart/2005/8/layout/cycle1"/>
    <dgm:cxn modelId="{E11B92D8-600A-4E0C-9D31-10E81EC7C4B3}" type="presParOf" srcId="{DD4A84BF-43F5-48FD-979E-151E2C003305}" destId="{9F5E7BC6-4128-43BD-940C-85FB63522D15}" srcOrd="7" destOrd="0" presId="urn:microsoft.com/office/officeart/2005/8/layout/cycle1"/>
    <dgm:cxn modelId="{9E58E916-B62D-44BB-B950-6035292C1DD6}" type="presParOf" srcId="{DD4A84BF-43F5-48FD-979E-151E2C003305}" destId="{40196F5D-9337-4CE7-94BD-51512E79EB7F}" srcOrd="8" destOrd="0" presId="urn:microsoft.com/office/officeart/2005/8/layout/cycle1"/>
    <dgm:cxn modelId="{8BBDBEED-C6B6-49E0-A5D2-51B5D62FC7E6}" type="presParOf" srcId="{DD4A84BF-43F5-48FD-979E-151E2C003305}" destId="{6E1E2FFE-178A-4BBE-A44B-F422098E24DB}" srcOrd="9" destOrd="0" presId="urn:microsoft.com/office/officeart/2005/8/layout/cycle1"/>
    <dgm:cxn modelId="{74523008-78EF-415D-9669-4F7044BFACCF}" type="presParOf" srcId="{DD4A84BF-43F5-48FD-979E-151E2C003305}" destId="{36F47450-5CF9-48A0-99EF-56C885F4ABA0}" srcOrd="10" destOrd="0" presId="urn:microsoft.com/office/officeart/2005/8/layout/cycle1"/>
    <dgm:cxn modelId="{64613CB7-13CE-4B69-B8B4-CFE1E39A32A0}" type="presParOf" srcId="{DD4A84BF-43F5-48FD-979E-151E2C003305}" destId="{597DEEB0-6E40-4E0B-84AF-727D87D62B03}" srcOrd="11" destOrd="0" presId="urn:microsoft.com/office/officeart/2005/8/layout/cycle1"/>
    <dgm:cxn modelId="{BFB4256C-E020-4EE0-876A-87A33EFD6C48}" type="presParOf" srcId="{DD4A84BF-43F5-48FD-979E-151E2C003305}" destId="{21A77FE6-6E09-4D54-B046-B083643CC740}" srcOrd="12" destOrd="0" presId="urn:microsoft.com/office/officeart/2005/8/layout/cycle1"/>
    <dgm:cxn modelId="{713A0DF9-3311-4090-9C28-0A0C6D219D39}" type="presParOf" srcId="{DD4A84BF-43F5-48FD-979E-151E2C003305}" destId="{B9685446-281A-4077-9661-4BF9A8B51066}" srcOrd="13" destOrd="0" presId="urn:microsoft.com/office/officeart/2005/8/layout/cycle1"/>
    <dgm:cxn modelId="{536084A4-7F95-4281-985E-DAF56BED895F}" type="presParOf" srcId="{DD4A84BF-43F5-48FD-979E-151E2C003305}" destId="{818B9CC0-E2D9-4BB4-A579-B547B04C7C97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2B534E-C03B-4F9A-847F-7CBADDA7725D}" type="doc">
      <dgm:prSet loTypeId="urn:microsoft.com/office/officeart/2005/8/layout/chart3" loCatId="relationship" qsTypeId="urn:microsoft.com/office/officeart/2005/8/quickstyle/3d1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AD562E-B913-4CE8-BC39-F46016E5A96D}">
      <dgm:prSet custT="1"/>
      <dgm:spPr/>
      <dgm:t>
        <a:bodyPr/>
        <a:lstStyle/>
        <a:p>
          <a:pPr rtl="0"/>
          <a:r>
            <a:rPr lang="en-US" sz="1400" dirty="0" smtClean="0"/>
            <a:t>Goal 1: Remove the Current Main Blockers for Common Tool Use</a:t>
          </a:r>
          <a:endParaRPr lang="en-US" sz="1400" dirty="0"/>
        </a:p>
      </dgm:t>
    </dgm:pt>
    <dgm:pt modelId="{3C73057D-AEB0-468C-8FB7-293194582764}" type="parTrans" cxnId="{3BE72E68-73F3-4482-AB20-72B391741329}">
      <dgm:prSet/>
      <dgm:spPr/>
      <dgm:t>
        <a:bodyPr/>
        <a:lstStyle/>
        <a:p>
          <a:endParaRPr lang="en-US" sz="3200"/>
        </a:p>
      </dgm:t>
    </dgm:pt>
    <dgm:pt modelId="{AAF5EE63-DBC0-4D04-90C1-405362CBBDF0}" type="sibTrans" cxnId="{3BE72E68-73F3-4482-AB20-72B391741329}">
      <dgm:prSet/>
      <dgm:spPr/>
      <dgm:t>
        <a:bodyPr/>
        <a:lstStyle/>
        <a:p>
          <a:endParaRPr lang="en-US" sz="3200"/>
        </a:p>
      </dgm:t>
    </dgm:pt>
    <dgm:pt modelId="{50ED7DF3-7643-4240-8FEC-A86BEA560FB8}">
      <dgm:prSet custT="1"/>
      <dgm:spPr/>
      <dgm:t>
        <a:bodyPr/>
        <a:lstStyle/>
        <a:p>
          <a:pPr rtl="0"/>
          <a:r>
            <a:rPr lang="en-US" sz="1400" dirty="0" smtClean="0"/>
            <a:t>Goal 2: Maintain Good Level of Tool Vendor Collaboration</a:t>
          </a:r>
          <a:endParaRPr lang="en-US" sz="1400" dirty="0"/>
        </a:p>
      </dgm:t>
    </dgm:pt>
    <dgm:pt modelId="{FC33FA20-318F-4541-91C1-DF190F6C8247}" type="parTrans" cxnId="{3B5AB200-3D0B-44F4-9214-7F7ABA703C8E}">
      <dgm:prSet/>
      <dgm:spPr/>
      <dgm:t>
        <a:bodyPr/>
        <a:lstStyle/>
        <a:p>
          <a:endParaRPr lang="en-US" sz="3200"/>
        </a:p>
      </dgm:t>
    </dgm:pt>
    <dgm:pt modelId="{C07036CA-242D-4FED-A1D9-5B89A6B4CA2A}" type="sibTrans" cxnId="{3B5AB200-3D0B-44F4-9214-7F7ABA703C8E}">
      <dgm:prSet/>
      <dgm:spPr/>
      <dgm:t>
        <a:bodyPr/>
        <a:lstStyle/>
        <a:p>
          <a:endParaRPr lang="en-US" sz="3200"/>
        </a:p>
      </dgm:t>
    </dgm:pt>
    <dgm:pt modelId="{C49DBC43-CF17-4B63-8816-572FBB414C0B}">
      <dgm:prSet custT="1"/>
      <dgm:spPr/>
      <dgm:t>
        <a:bodyPr/>
        <a:lstStyle/>
        <a:p>
          <a:pPr rtl="0"/>
          <a:r>
            <a:rPr lang="en-US" sz="1400" dirty="0" smtClean="0"/>
            <a:t>Goal 3: Tool and Process Support on par with existing system</a:t>
          </a:r>
          <a:endParaRPr lang="en-US" sz="1400" dirty="0"/>
        </a:p>
      </dgm:t>
    </dgm:pt>
    <dgm:pt modelId="{3122723D-967A-4A4A-ADF9-033FC4E079B3}" type="parTrans" cxnId="{A2A0ADC8-604B-4DE2-822C-C279414479BC}">
      <dgm:prSet/>
      <dgm:spPr/>
      <dgm:t>
        <a:bodyPr/>
        <a:lstStyle/>
        <a:p>
          <a:endParaRPr lang="en-US" sz="3200"/>
        </a:p>
      </dgm:t>
    </dgm:pt>
    <dgm:pt modelId="{ED970762-9F4C-40B6-85D5-B6FCE017FF4A}" type="sibTrans" cxnId="{A2A0ADC8-604B-4DE2-822C-C279414479BC}">
      <dgm:prSet/>
      <dgm:spPr/>
      <dgm:t>
        <a:bodyPr/>
        <a:lstStyle/>
        <a:p>
          <a:endParaRPr lang="en-US" sz="3200"/>
        </a:p>
      </dgm:t>
    </dgm:pt>
    <dgm:pt modelId="{405018F6-A4B4-4276-A09F-A7545BCD5DB8}">
      <dgm:prSet custT="1"/>
      <dgm:spPr/>
      <dgm:t>
        <a:bodyPr/>
        <a:lstStyle/>
        <a:p>
          <a:pPr rtl="0"/>
          <a:r>
            <a:rPr lang="en-US" sz="1400" dirty="0" smtClean="0"/>
            <a:t>Goal 4: Saved effort in optimizing most common uses</a:t>
          </a:r>
          <a:endParaRPr lang="en-US" sz="1400" dirty="0"/>
        </a:p>
      </dgm:t>
    </dgm:pt>
    <dgm:pt modelId="{C9991694-8AC5-487E-83AF-03EF1FD4CEE0}" type="parTrans" cxnId="{577E0429-72F8-4D1D-8B12-76B4B05E01B8}">
      <dgm:prSet/>
      <dgm:spPr/>
      <dgm:t>
        <a:bodyPr/>
        <a:lstStyle/>
        <a:p>
          <a:endParaRPr lang="en-US" sz="3200"/>
        </a:p>
      </dgm:t>
    </dgm:pt>
    <dgm:pt modelId="{1767C60B-3452-43FA-86D4-5C15348E34AE}" type="sibTrans" cxnId="{577E0429-72F8-4D1D-8B12-76B4B05E01B8}">
      <dgm:prSet/>
      <dgm:spPr/>
      <dgm:t>
        <a:bodyPr/>
        <a:lstStyle/>
        <a:p>
          <a:endParaRPr lang="en-US" sz="3200"/>
        </a:p>
      </dgm:t>
    </dgm:pt>
    <dgm:pt modelId="{2BE223BD-868D-4283-B8C7-A4C31968C2CC}">
      <dgm:prSet custT="1"/>
      <dgm:spPr/>
      <dgm:t>
        <a:bodyPr/>
        <a:lstStyle/>
        <a:p>
          <a:pPr rtl="0"/>
          <a:r>
            <a:rPr lang="en-US" sz="1400" dirty="0" smtClean="0"/>
            <a:t>Goal 5: Supports Agile Transformation in the organization</a:t>
          </a:r>
          <a:endParaRPr lang="en-US" sz="1400" dirty="0"/>
        </a:p>
      </dgm:t>
    </dgm:pt>
    <dgm:pt modelId="{0541B21F-4D40-4C97-A5E5-7334070DF363}" type="parTrans" cxnId="{05A66BC6-9992-43FD-894F-C83345311B53}">
      <dgm:prSet/>
      <dgm:spPr/>
      <dgm:t>
        <a:bodyPr/>
        <a:lstStyle/>
        <a:p>
          <a:endParaRPr lang="en-US" sz="3200"/>
        </a:p>
      </dgm:t>
    </dgm:pt>
    <dgm:pt modelId="{CB5034E1-B177-41FD-90FF-D56850878995}" type="sibTrans" cxnId="{05A66BC6-9992-43FD-894F-C83345311B53}">
      <dgm:prSet/>
      <dgm:spPr/>
      <dgm:t>
        <a:bodyPr/>
        <a:lstStyle/>
        <a:p>
          <a:endParaRPr lang="en-US" sz="3200"/>
        </a:p>
      </dgm:t>
    </dgm:pt>
    <dgm:pt modelId="{D24F8B4B-1F0F-4861-82AE-3AFA912DB7F8}">
      <dgm:prSet custT="1"/>
      <dgm:spPr/>
      <dgm:t>
        <a:bodyPr/>
        <a:lstStyle/>
        <a:p>
          <a:pPr rtl="0"/>
          <a:r>
            <a:rPr lang="en-US" sz="1400" dirty="0" smtClean="0"/>
            <a:t>Goal 6: Enabling wider tool and process support</a:t>
          </a:r>
          <a:endParaRPr lang="en-US" sz="1400" dirty="0"/>
        </a:p>
      </dgm:t>
    </dgm:pt>
    <dgm:pt modelId="{72AFF41F-64E3-4117-8F68-21A136ACD381}" type="parTrans" cxnId="{0CBD2653-046A-4EB6-A3C5-9C246BA6AA4C}">
      <dgm:prSet/>
      <dgm:spPr/>
      <dgm:t>
        <a:bodyPr/>
        <a:lstStyle/>
        <a:p>
          <a:endParaRPr lang="en-US" sz="3200"/>
        </a:p>
      </dgm:t>
    </dgm:pt>
    <dgm:pt modelId="{10FB070E-5A90-4204-BA1F-B539E3C1E04E}" type="sibTrans" cxnId="{0CBD2653-046A-4EB6-A3C5-9C246BA6AA4C}">
      <dgm:prSet/>
      <dgm:spPr/>
      <dgm:t>
        <a:bodyPr/>
        <a:lstStyle/>
        <a:p>
          <a:endParaRPr lang="en-US" sz="3200"/>
        </a:p>
      </dgm:t>
    </dgm:pt>
    <dgm:pt modelId="{592D5CC9-D3A3-4DF5-820D-E9BB2DF407FF}" type="pres">
      <dgm:prSet presAssocID="{292B534E-C03B-4F9A-847F-7CBADDA7725D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89901BD-5A48-4A46-B8EF-57831B0B4367}" type="pres">
      <dgm:prSet presAssocID="{292B534E-C03B-4F9A-847F-7CBADDA7725D}" presName="wedge1" presStyleLbl="node1" presStyleIdx="0" presStyleCnt="6"/>
      <dgm:spPr/>
      <dgm:t>
        <a:bodyPr/>
        <a:lstStyle/>
        <a:p>
          <a:endParaRPr lang="en-US"/>
        </a:p>
      </dgm:t>
    </dgm:pt>
    <dgm:pt modelId="{4DA5CBCD-A730-447F-9889-9C6D6F6016BD}" type="pres">
      <dgm:prSet presAssocID="{292B534E-C03B-4F9A-847F-7CBADDA7725D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5A7BC51-A38E-44BE-B17A-8F61C3044124}" type="pres">
      <dgm:prSet presAssocID="{292B534E-C03B-4F9A-847F-7CBADDA7725D}" presName="wedge2" presStyleLbl="node1" presStyleIdx="1" presStyleCnt="6"/>
      <dgm:spPr/>
      <dgm:t>
        <a:bodyPr/>
        <a:lstStyle/>
        <a:p>
          <a:endParaRPr lang="en-US"/>
        </a:p>
      </dgm:t>
    </dgm:pt>
    <dgm:pt modelId="{2C4B1ACA-65CB-4AE5-BC52-609CFDE6A25F}" type="pres">
      <dgm:prSet presAssocID="{292B534E-C03B-4F9A-847F-7CBADDA7725D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E806B9-2544-487B-B721-5A3DB2D7E733}" type="pres">
      <dgm:prSet presAssocID="{292B534E-C03B-4F9A-847F-7CBADDA7725D}" presName="wedge3" presStyleLbl="node1" presStyleIdx="2" presStyleCnt="6"/>
      <dgm:spPr/>
      <dgm:t>
        <a:bodyPr/>
        <a:lstStyle/>
        <a:p>
          <a:endParaRPr lang="en-US"/>
        </a:p>
      </dgm:t>
    </dgm:pt>
    <dgm:pt modelId="{7A1A3DD0-75BD-4A44-9967-97080A6781D0}" type="pres">
      <dgm:prSet presAssocID="{292B534E-C03B-4F9A-847F-7CBADDA7725D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DA56F18-7EB8-4C54-AF09-CAF0BDFCE727}" type="pres">
      <dgm:prSet presAssocID="{292B534E-C03B-4F9A-847F-7CBADDA7725D}" presName="wedge4" presStyleLbl="node1" presStyleIdx="3" presStyleCnt="6"/>
      <dgm:spPr/>
      <dgm:t>
        <a:bodyPr/>
        <a:lstStyle/>
        <a:p>
          <a:endParaRPr lang="en-US"/>
        </a:p>
      </dgm:t>
    </dgm:pt>
    <dgm:pt modelId="{054BD7DD-7657-40E1-A339-604FCA30A079}" type="pres">
      <dgm:prSet presAssocID="{292B534E-C03B-4F9A-847F-7CBADDA7725D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C118E6B-3C60-4C18-88C7-09D2D1A0E6F2}" type="pres">
      <dgm:prSet presAssocID="{292B534E-C03B-4F9A-847F-7CBADDA7725D}" presName="wedge5" presStyleLbl="node1" presStyleIdx="4" presStyleCnt="6"/>
      <dgm:spPr/>
      <dgm:t>
        <a:bodyPr/>
        <a:lstStyle/>
        <a:p>
          <a:endParaRPr lang="en-US"/>
        </a:p>
      </dgm:t>
    </dgm:pt>
    <dgm:pt modelId="{4E96C7D7-AEE2-44BF-9C05-76CC49442396}" type="pres">
      <dgm:prSet presAssocID="{292B534E-C03B-4F9A-847F-7CBADDA7725D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890A5A-50F1-4F96-BBA9-CBBAF1314C27}" type="pres">
      <dgm:prSet presAssocID="{292B534E-C03B-4F9A-847F-7CBADDA7725D}" presName="wedge6" presStyleLbl="node1" presStyleIdx="5" presStyleCnt="6"/>
      <dgm:spPr/>
      <dgm:t>
        <a:bodyPr/>
        <a:lstStyle/>
        <a:p>
          <a:endParaRPr lang="en-US"/>
        </a:p>
      </dgm:t>
    </dgm:pt>
    <dgm:pt modelId="{A3CA8E81-A5E0-4302-AB17-E719A5E5E50E}" type="pres">
      <dgm:prSet presAssocID="{292B534E-C03B-4F9A-847F-7CBADDA7725D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110DC70-6181-4CBC-9F9E-492019E1DB54}" type="presOf" srcId="{C49DBC43-CF17-4B63-8816-572FBB414C0B}" destId="{15E806B9-2544-487B-B721-5A3DB2D7E733}" srcOrd="0" destOrd="0" presId="urn:microsoft.com/office/officeart/2005/8/layout/chart3"/>
    <dgm:cxn modelId="{F9AC7C30-0B12-467C-80E8-AAB1A7A79FFE}" type="presOf" srcId="{D24F8B4B-1F0F-4861-82AE-3AFA912DB7F8}" destId="{A3CA8E81-A5E0-4302-AB17-E719A5E5E50E}" srcOrd="1" destOrd="0" presId="urn:microsoft.com/office/officeart/2005/8/layout/chart3"/>
    <dgm:cxn modelId="{9AEFE935-6D40-437B-BE1D-B97E727B2126}" type="presOf" srcId="{50ED7DF3-7643-4240-8FEC-A86BEA560FB8}" destId="{25A7BC51-A38E-44BE-B17A-8F61C3044124}" srcOrd="0" destOrd="0" presId="urn:microsoft.com/office/officeart/2005/8/layout/chart3"/>
    <dgm:cxn modelId="{F7E5EF78-5123-45ED-A990-C77FE7511F0A}" type="presOf" srcId="{2BE223BD-868D-4283-B8C7-A4C31968C2CC}" destId="{3C118E6B-3C60-4C18-88C7-09D2D1A0E6F2}" srcOrd="0" destOrd="0" presId="urn:microsoft.com/office/officeart/2005/8/layout/chart3"/>
    <dgm:cxn modelId="{3BE72E68-73F3-4482-AB20-72B391741329}" srcId="{292B534E-C03B-4F9A-847F-7CBADDA7725D}" destId="{5CAD562E-B913-4CE8-BC39-F46016E5A96D}" srcOrd="0" destOrd="0" parTransId="{3C73057D-AEB0-468C-8FB7-293194582764}" sibTransId="{AAF5EE63-DBC0-4D04-90C1-405362CBBDF0}"/>
    <dgm:cxn modelId="{F811B575-70F1-4271-AEB8-59EAC5E3DC6E}" type="presOf" srcId="{5CAD562E-B913-4CE8-BC39-F46016E5A96D}" destId="{389901BD-5A48-4A46-B8EF-57831B0B4367}" srcOrd="0" destOrd="0" presId="urn:microsoft.com/office/officeart/2005/8/layout/chart3"/>
    <dgm:cxn modelId="{577E0429-72F8-4D1D-8B12-76B4B05E01B8}" srcId="{292B534E-C03B-4F9A-847F-7CBADDA7725D}" destId="{405018F6-A4B4-4276-A09F-A7545BCD5DB8}" srcOrd="3" destOrd="0" parTransId="{C9991694-8AC5-487E-83AF-03EF1FD4CEE0}" sibTransId="{1767C60B-3452-43FA-86D4-5C15348E34AE}"/>
    <dgm:cxn modelId="{C7A9678E-5CBB-4AE2-90DA-DB75674AB1C2}" type="presOf" srcId="{5CAD562E-B913-4CE8-BC39-F46016E5A96D}" destId="{4DA5CBCD-A730-447F-9889-9C6D6F6016BD}" srcOrd="1" destOrd="0" presId="urn:microsoft.com/office/officeart/2005/8/layout/chart3"/>
    <dgm:cxn modelId="{19D82A94-0540-4E76-9893-11D003992EBD}" type="presOf" srcId="{405018F6-A4B4-4276-A09F-A7545BCD5DB8}" destId="{054BD7DD-7657-40E1-A339-604FCA30A079}" srcOrd="1" destOrd="0" presId="urn:microsoft.com/office/officeart/2005/8/layout/chart3"/>
    <dgm:cxn modelId="{5682918E-195A-45A3-B99F-D5D251502DD0}" type="presOf" srcId="{292B534E-C03B-4F9A-847F-7CBADDA7725D}" destId="{592D5CC9-D3A3-4DF5-820D-E9BB2DF407FF}" srcOrd="0" destOrd="0" presId="urn:microsoft.com/office/officeart/2005/8/layout/chart3"/>
    <dgm:cxn modelId="{04B068B0-A1FA-462B-BC65-F0D4C9692C4C}" type="presOf" srcId="{D24F8B4B-1F0F-4861-82AE-3AFA912DB7F8}" destId="{E4890A5A-50F1-4F96-BBA9-CBBAF1314C27}" srcOrd="0" destOrd="0" presId="urn:microsoft.com/office/officeart/2005/8/layout/chart3"/>
    <dgm:cxn modelId="{A2A0ADC8-604B-4DE2-822C-C279414479BC}" srcId="{292B534E-C03B-4F9A-847F-7CBADDA7725D}" destId="{C49DBC43-CF17-4B63-8816-572FBB414C0B}" srcOrd="2" destOrd="0" parTransId="{3122723D-967A-4A4A-ADF9-033FC4E079B3}" sibTransId="{ED970762-9F4C-40B6-85D5-B6FCE017FF4A}"/>
    <dgm:cxn modelId="{05A66BC6-9992-43FD-894F-C83345311B53}" srcId="{292B534E-C03B-4F9A-847F-7CBADDA7725D}" destId="{2BE223BD-868D-4283-B8C7-A4C31968C2CC}" srcOrd="4" destOrd="0" parTransId="{0541B21F-4D40-4C97-A5E5-7334070DF363}" sibTransId="{CB5034E1-B177-41FD-90FF-D56850878995}"/>
    <dgm:cxn modelId="{F3FBC16D-62CA-4B10-A0DF-6FC9D866063E}" type="presOf" srcId="{2BE223BD-868D-4283-B8C7-A4C31968C2CC}" destId="{4E96C7D7-AEE2-44BF-9C05-76CC49442396}" srcOrd="1" destOrd="0" presId="urn:microsoft.com/office/officeart/2005/8/layout/chart3"/>
    <dgm:cxn modelId="{1E0306DC-E136-4A13-B89F-B6969ABB76D5}" type="presOf" srcId="{405018F6-A4B4-4276-A09F-A7545BCD5DB8}" destId="{5DA56F18-7EB8-4C54-AF09-CAF0BDFCE727}" srcOrd="0" destOrd="0" presId="urn:microsoft.com/office/officeart/2005/8/layout/chart3"/>
    <dgm:cxn modelId="{5DC491D4-FE8D-4A67-AA42-0E29CFC8B2D8}" type="presOf" srcId="{C49DBC43-CF17-4B63-8816-572FBB414C0B}" destId="{7A1A3DD0-75BD-4A44-9967-97080A6781D0}" srcOrd="1" destOrd="0" presId="urn:microsoft.com/office/officeart/2005/8/layout/chart3"/>
    <dgm:cxn modelId="{3B5AB200-3D0B-44F4-9214-7F7ABA703C8E}" srcId="{292B534E-C03B-4F9A-847F-7CBADDA7725D}" destId="{50ED7DF3-7643-4240-8FEC-A86BEA560FB8}" srcOrd="1" destOrd="0" parTransId="{FC33FA20-318F-4541-91C1-DF190F6C8247}" sibTransId="{C07036CA-242D-4FED-A1D9-5B89A6B4CA2A}"/>
    <dgm:cxn modelId="{0CBD2653-046A-4EB6-A3C5-9C246BA6AA4C}" srcId="{292B534E-C03B-4F9A-847F-7CBADDA7725D}" destId="{D24F8B4B-1F0F-4861-82AE-3AFA912DB7F8}" srcOrd="5" destOrd="0" parTransId="{72AFF41F-64E3-4117-8F68-21A136ACD381}" sibTransId="{10FB070E-5A90-4204-BA1F-B539E3C1E04E}"/>
    <dgm:cxn modelId="{A2EA48E0-41BA-4C32-9B54-37A42CCF9216}" type="presOf" srcId="{50ED7DF3-7643-4240-8FEC-A86BEA560FB8}" destId="{2C4B1ACA-65CB-4AE5-BC52-609CFDE6A25F}" srcOrd="1" destOrd="0" presId="urn:microsoft.com/office/officeart/2005/8/layout/chart3"/>
    <dgm:cxn modelId="{30D5D028-ACC2-4B94-BAA5-4543FE2F7AC1}" type="presParOf" srcId="{592D5CC9-D3A3-4DF5-820D-E9BB2DF407FF}" destId="{389901BD-5A48-4A46-B8EF-57831B0B4367}" srcOrd="0" destOrd="0" presId="urn:microsoft.com/office/officeart/2005/8/layout/chart3"/>
    <dgm:cxn modelId="{E0BAA480-6262-49B2-9AA1-A55647FCCD49}" type="presParOf" srcId="{592D5CC9-D3A3-4DF5-820D-E9BB2DF407FF}" destId="{4DA5CBCD-A730-447F-9889-9C6D6F6016BD}" srcOrd="1" destOrd="0" presId="urn:microsoft.com/office/officeart/2005/8/layout/chart3"/>
    <dgm:cxn modelId="{3411A918-2360-4CB5-992B-6760488C0B57}" type="presParOf" srcId="{592D5CC9-D3A3-4DF5-820D-E9BB2DF407FF}" destId="{25A7BC51-A38E-44BE-B17A-8F61C3044124}" srcOrd="2" destOrd="0" presId="urn:microsoft.com/office/officeart/2005/8/layout/chart3"/>
    <dgm:cxn modelId="{3680EDB1-0335-4FB8-9BAB-3341CEDA94EA}" type="presParOf" srcId="{592D5CC9-D3A3-4DF5-820D-E9BB2DF407FF}" destId="{2C4B1ACA-65CB-4AE5-BC52-609CFDE6A25F}" srcOrd="3" destOrd="0" presId="urn:microsoft.com/office/officeart/2005/8/layout/chart3"/>
    <dgm:cxn modelId="{8786DC35-F4D3-4D89-B90A-41F62F84BABE}" type="presParOf" srcId="{592D5CC9-D3A3-4DF5-820D-E9BB2DF407FF}" destId="{15E806B9-2544-487B-B721-5A3DB2D7E733}" srcOrd="4" destOrd="0" presId="urn:microsoft.com/office/officeart/2005/8/layout/chart3"/>
    <dgm:cxn modelId="{A496FF71-536B-461A-8B4F-E37E150B446B}" type="presParOf" srcId="{592D5CC9-D3A3-4DF5-820D-E9BB2DF407FF}" destId="{7A1A3DD0-75BD-4A44-9967-97080A6781D0}" srcOrd="5" destOrd="0" presId="urn:microsoft.com/office/officeart/2005/8/layout/chart3"/>
    <dgm:cxn modelId="{E4E70599-FC80-40B6-899A-6111464C0038}" type="presParOf" srcId="{592D5CC9-D3A3-4DF5-820D-E9BB2DF407FF}" destId="{5DA56F18-7EB8-4C54-AF09-CAF0BDFCE727}" srcOrd="6" destOrd="0" presId="urn:microsoft.com/office/officeart/2005/8/layout/chart3"/>
    <dgm:cxn modelId="{B1E26C4B-B213-4239-A7C1-688302E93855}" type="presParOf" srcId="{592D5CC9-D3A3-4DF5-820D-E9BB2DF407FF}" destId="{054BD7DD-7657-40E1-A339-604FCA30A079}" srcOrd="7" destOrd="0" presId="urn:microsoft.com/office/officeart/2005/8/layout/chart3"/>
    <dgm:cxn modelId="{CF4E33B8-A93C-419B-AE8E-D1FEFC76E49D}" type="presParOf" srcId="{592D5CC9-D3A3-4DF5-820D-E9BB2DF407FF}" destId="{3C118E6B-3C60-4C18-88C7-09D2D1A0E6F2}" srcOrd="8" destOrd="0" presId="urn:microsoft.com/office/officeart/2005/8/layout/chart3"/>
    <dgm:cxn modelId="{C7CB7C84-DC92-4CD2-BE86-605E8D203523}" type="presParOf" srcId="{592D5CC9-D3A3-4DF5-820D-E9BB2DF407FF}" destId="{4E96C7D7-AEE2-44BF-9C05-76CC49442396}" srcOrd="9" destOrd="0" presId="urn:microsoft.com/office/officeart/2005/8/layout/chart3"/>
    <dgm:cxn modelId="{7B657A9D-5DBB-44CB-9C06-5F370C63F072}" type="presParOf" srcId="{592D5CC9-D3A3-4DF5-820D-E9BB2DF407FF}" destId="{E4890A5A-50F1-4F96-BBA9-CBBAF1314C27}" srcOrd="10" destOrd="0" presId="urn:microsoft.com/office/officeart/2005/8/layout/chart3"/>
    <dgm:cxn modelId="{52A58FA5-CCC9-4F23-8782-01E8853670EF}" type="presParOf" srcId="{592D5CC9-D3A3-4DF5-820D-E9BB2DF407FF}" destId="{A3CA8E81-A5E0-4302-AB17-E719A5E5E50E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F254722-2655-4B35-A5E9-3A0A426A4A2B}">
      <dsp:nvSpPr>
        <dsp:cNvPr id="0" name=""/>
        <dsp:cNvSpPr/>
      </dsp:nvSpPr>
      <dsp:spPr>
        <a:xfrm>
          <a:off x="2710650" y="16051"/>
          <a:ext cx="543183" cy="543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smtClean="0"/>
            <a:t> </a:t>
          </a:r>
          <a:endParaRPr lang="en-US" sz="3200" kern="1200" dirty="0"/>
        </a:p>
      </dsp:txBody>
      <dsp:txXfrm>
        <a:off x="2710650" y="16051"/>
        <a:ext cx="543183" cy="543183"/>
      </dsp:txXfrm>
    </dsp:sp>
    <dsp:sp modelId="{4A644BD2-0DEA-4C6C-8F95-83AFC313804A}">
      <dsp:nvSpPr>
        <dsp:cNvPr id="0" name=""/>
        <dsp:cNvSpPr/>
      </dsp:nvSpPr>
      <dsp:spPr>
        <a:xfrm>
          <a:off x="1430582" y="59"/>
          <a:ext cx="2039453" cy="2039453"/>
        </a:xfrm>
        <a:prstGeom prst="circularArrow">
          <a:avLst>
            <a:gd name="adj1" fmla="val 5194"/>
            <a:gd name="adj2" fmla="val 335434"/>
            <a:gd name="adj3" fmla="val 21295192"/>
            <a:gd name="adj4" fmla="val 19764530"/>
            <a:gd name="adj5" fmla="val 6059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2C1776-3CCB-4939-9189-928EC570FF29}">
      <dsp:nvSpPr>
        <dsp:cNvPr id="0" name=""/>
        <dsp:cNvSpPr/>
      </dsp:nvSpPr>
      <dsp:spPr>
        <a:xfrm>
          <a:off x="3039403" y="1027848"/>
          <a:ext cx="543183" cy="543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smtClean="0"/>
            <a:t> </a:t>
          </a:r>
          <a:endParaRPr lang="en-US" sz="3200" kern="1200" dirty="0"/>
        </a:p>
      </dsp:txBody>
      <dsp:txXfrm>
        <a:off x="3039403" y="1027848"/>
        <a:ext cx="543183" cy="543183"/>
      </dsp:txXfrm>
    </dsp:sp>
    <dsp:sp modelId="{619A448D-44AF-4702-8FD9-9202E23D3399}">
      <dsp:nvSpPr>
        <dsp:cNvPr id="0" name=""/>
        <dsp:cNvSpPr/>
      </dsp:nvSpPr>
      <dsp:spPr>
        <a:xfrm>
          <a:off x="1430582" y="59"/>
          <a:ext cx="2039453" cy="2039453"/>
        </a:xfrm>
        <a:prstGeom prst="circularArrow">
          <a:avLst>
            <a:gd name="adj1" fmla="val 5194"/>
            <a:gd name="adj2" fmla="val 335434"/>
            <a:gd name="adj3" fmla="val 4016719"/>
            <a:gd name="adj4" fmla="val 2251577"/>
            <a:gd name="adj5" fmla="val 6059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F5E7BC6-4128-43BD-940C-85FB63522D15}">
      <dsp:nvSpPr>
        <dsp:cNvPr id="0" name=""/>
        <dsp:cNvSpPr/>
      </dsp:nvSpPr>
      <dsp:spPr>
        <a:xfrm>
          <a:off x="2178717" y="1653174"/>
          <a:ext cx="543183" cy="543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smtClean="0"/>
            <a:t> </a:t>
          </a:r>
          <a:endParaRPr lang="en-US" sz="3200" kern="1200" dirty="0"/>
        </a:p>
      </dsp:txBody>
      <dsp:txXfrm>
        <a:off x="2178717" y="1653174"/>
        <a:ext cx="543183" cy="543183"/>
      </dsp:txXfrm>
    </dsp:sp>
    <dsp:sp modelId="{40196F5D-9337-4CE7-94BD-51512E79EB7F}">
      <dsp:nvSpPr>
        <dsp:cNvPr id="0" name=""/>
        <dsp:cNvSpPr/>
      </dsp:nvSpPr>
      <dsp:spPr>
        <a:xfrm>
          <a:off x="1430582" y="59"/>
          <a:ext cx="2039453" cy="2039453"/>
        </a:xfrm>
        <a:prstGeom prst="circularArrow">
          <a:avLst>
            <a:gd name="adj1" fmla="val 5194"/>
            <a:gd name="adj2" fmla="val 335434"/>
            <a:gd name="adj3" fmla="val 8212988"/>
            <a:gd name="adj4" fmla="val 6447847"/>
            <a:gd name="adj5" fmla="val 6059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F47450-5CF9-48A0-99EF-56C885F4ABA0}">
      <dsp:nvSpPr>
        <dsp:cNvPr id="0" name=""/>
        <dsp:cNvSpPr/>
      </dsp:nvSpPr>
      <dsp:spPr>
        <a:xfrm>
          <a:off x="1318030" y="1027848"/>
          <a:ext cx="543183" cy="543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smtClean="0"/>
            <a:t> </a:t>
          </a:r>
          <a:endParaRPr lang="en-US" sz="3200" kern="1200" dirty="0"/>
        </a:p>
      </dsp:txBody>
      <dsp:txXfrm>
        <a:off x="1318030" y="1027848"/>
        <a:ext cx="543183" cy="543183"/>
      </dsp:txXfrm>
    </dsp:sp>
    <dsp:sp modelId="{597DEEB0-6E40-4E0B-84AF-727D87D62B03}">
      <dsp:nvSpPr>
        <dsp:cNvPr id="0" name=""/>
        <dsp:cNvSpPr/>
      </dsp:nvSpPr>
      <dsp:spPr>
        <a:xfrm>
          <a:off x="1430582" y="59"/>
          <a:ext cx="2039453" cy="2039453"/>
        </a:xfrm>
        <a:prstGeom prst="circularArrow">
          <a:avLst>
            <a:gd name="adj1" fmla="val 5194"/>
            <a:gd name="adj2" fmla="val 335434"/>
            <a:gd name="adj3" fmla="val 12300035"/>
            <a:gd name="adj4" fmla="val 10769374"/>
            <a:gd name="adj5" fmla="val 6059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685446-281A-4077-9661-4BF9A8B51066}">
      <dsp:nvSpPr>
        <dsp:cNvPr id="0" name=""/>
        <dsp:cNvSpPr/>
      </dsp:nvSpPr>
      <dsp:spPr>
        <a:xfrm>
          <a:off x="1646783" y="16051"/>
          <a:ext cx="543183" cy="5431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200" kern="1200" dirty="0" smtClean="0"/>
            <a:t> </a:t>
          </a:r>
          <a:endParaRPr lang="en-US" sz="3200" kern="1200" dirty="0"/>
        </a:p>
      </dsp:txBody>
      <dsp:txXfrm>
        <a:off x="1646783" y="16051"/>
        <a:ext cx="543183" cy="543183"/>
      </dsp:txXfrm>
    </dsp:sp>
    <dsp:sp modelId="{818B9CC0-E2D9-4BB4-A579-B547B04C7C97}">
      <dsp:nvSpPr>
        <dsp:cNvPr id="0" name=""/>
        <dsp:cNvSpPr/>
      </dsp:nvSpPr>
      <dsp:spPr>
        <a:xfrm>
          <a:off x="1430582" y="59"/>
          <a:ext cx="2039453" cy="2039453"/>
        </a:xfrm>
        <a:prstGeom prst="circularArrow">
          <a:avLst>
            <a:gd name="adj1" fmla="val 5194"/>
            <a:gd name="adj2" fmla="val 335434"/>
            <a:gd name="adj3" fmla="val 16867701"/>
            <a:gd name="adj4" fmla="val 15196864"/>
            <a:gd name="adj5" fmla="val 6059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C55B-5751-4D85-896F-91204AA783C7}" type="datetimeFigureOut">
              <a:rPr lang="en-US" smtClean="0"/>
              <a:pPr/>
              <a:t>4/6/2011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6C0F0-CF11-4FCF-A404-2F2FF520469E}" type="slidenum">
              <a:rPr lang="fi-FI" smtClean="0"/>
              <a:pPr/>
              <a:t>‹#›</a:t>
            </a:fld>
            <a:endParaRPr lang="fi-FI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</a:t>
            </a:fld>
            <a:endParaRPr lang="fi-FI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7020-CDDB-4F79-9137-66432C70AAD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3</a:t>
            </a:fld>
            <a:endParaRPr lang="fi-FI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4</a:t>
            </a:fld>
            <a:endParaRPr lang="fi-FI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5</a:t>
            </a:fld>
            <a:endParaRPr lang="fi-FI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45F02B-9874-44A0-BC67-C783E6F88478}" type="slidenum">
              <a:rPr lang="fi-FI" smtClean="0"/>
              <a:pPr/>
              <a:t>6</a:t>
            </a:fld>
            <a:endParaRPr lang="fi-FI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45F02B-9874-44A0-BC67-C783E6F88478}" type="slidenum">
              <a:rPr lang="fi-FI" smtClean="0"/>
              <a:pPr/>
              <a:t>7</a:t>
            </a:fld>
            <a:endParaRPr lang="fi-FI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8</a:t>
            </a:fld>
            <a:endParaRPr lang="fi-FI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9</a:t>
            </a:fld>
            <a:endParaRPr lang="fi-FI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7020-CDDB-4F79-9137-66432C70AAD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11</a:t>
            </a:fld>
            <a:endParaRPr lang="fi-FI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45F02B-9874-44A0-BC67-C783E6F88478}" type="slidenum">
              <a:rPr lang="fi-FI" smtClean="0"/>
              <a:pPr/>
              <a:t>12</a:t>
            </a:fld>
            <a:endParaRPr lang="fi-FI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13</a:t>
            </a:fld>
            <a:endParaRPr lang="fi-FI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F7020-CDDB-4F79-9137-66432C70AAD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15</a:t>
            </a:fld>
            <a:endParaRPr lang="fi-FI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16</a:t>
            </a:fld>
            <a:endParaRPr lang="fi-FI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17</a:t>
            </a:fld>
            <a:endParaRPr lang="fi-FI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0CF697-E9C7-412C-B703-3A093BE15AC0}" type="slidenum">
              <a:rPr lang="fi-FI" smtClean="0"/>
              <a:pPr/>
              <a:t>18</a:t>
            </a:fld>
            <a:endParaRPr lang="fi-FI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3AACC-7829-4723-A1E7-509BAA6ABEDE}" type="slidenum">
              <a:rPr lang="fi-FI" smtClean="0"/>
              <a:pPr/>
              <a:t>19</a:t>
            </a:fld>
            <a:endParaRPr lang="fi-FI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3AACC-7829-4723-A1E7-509BAA6ABEDE}" type="slidenum">
              <a:rPr lang="fi-FI" smtClean="0"/>
              <a:pPr/>
              <a:t>20</a:t>
            </a:fld>
            <a:endParaRPr lang="fi-FI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90F80B-00F3-431D-B31E-47D2F9301A1B}" type="slidenum">
              <a:rPr lang="fi-FI" smtClean="0"/>
              <a:pPr/>
              <a:t>21</a:t>
            </a:fld>
            <a:endParaRPr lang="fi-FI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765D8-37F5-47F8-9F51-79C2030F54CE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7567D-FCEF-40DF-A450-51A68AD72FC6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F476-86F6-4394-87E6-5CEECE4BDA14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A68AD-10C6-46A9-9999-9C1C3FAE37A4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80E86-DD38-4AAF-BD6F-2B2AC2DA77E9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C1EE9-B959-42B2-8F16-359E91DA2A2C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53497-BFB9-4D0D-8C1B-7271AC82A7B2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BE857-1399-4160-B655-6570F5321610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05263-61FE-45B4-9415-09781C5C9867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7F0F7-F41F-4F54-AC53-5F5C17F6A588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268E7-BE86-458B-B00D-AD78CCCBFDE2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A8DB6-D060-451F-B4EE-1D3FEC31865A}" type="datetime1">
              <a:rPr lang="en-US" smtClean="0"/>
              <a:pPr/>
              <a:t>4/6/2011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creativecommons.org/licenses/by/1.0/fi/deed.en" TargetMode="External"/><Relationship Id="rId5" Type="http://schemas.openxmlformats.org/officeDocument/2006/relationships/hyperlink" Target="http://creativecommons.org/licenses/by/1.0/fi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Bug reporting – MORE STUFF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i-FI" smtClean="0"/>
              <a:t>Attitude to bugs and handling of reports on bugs</a:t>
            </a:r>
            <a:endParaRPr lang="fi-FI" dirty="0"/>
          </a:p>
        </p:txBody>
      </p:sp>
      <p:pic>
        <p:nvPicPr>
          <p:cNvPr id="8194" name="Picture 2" descr="C:\Documents and Settings\Maaret\My Documents\My Pictures\Microsoft Clip Organizer\j0288967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504" y="428604"/>
            <a:ext cx="3312651" cy="3230564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12"/>
          <p:cNvGrpSpPr/>
          <p:nvPr/>
        </p:nvGrpSpPr>
        <p:grpSpPr>
          <a:xfrm>
            <a:off x="4876800" y="5943600"/>
            <a:ext cx="4114800" cy="685800"/>
            <a:chOff x="838200" y="5486400"/>
            <a:chExt cx="4114800" cy="685800"/>
          </a:xfrm>
        </p:grpSpPr>
        <p:sp>
          <p:nvSpPr>
            <p:cNvPr id="12" name="Rectangle 11"/>
            <p:cNvSpPr/>
            <p:nvPr/>
          </p:nvSpPr>
          <p:spPr>
            <a:xfrm>
              <a:off x="838200" y="5486400"/>
              <a:ext cx="4114800" cy="6858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i-FI"/>
            </a:p>
          </p:txBody>
        </p:sp>
        <p:pic>
          <p:nvPicPr>
            <p:cNvPr id="13" name="Picture 12" descr="88x31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9940" y="5638800"/>
              <a:ext cx="1117460" cy="393651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2057400" y="5511225"/>
              <a:ext cx="2819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i-FI" sz="900" b="1" dirty="0" smtClean="0"/>
                <a:t>Erkki Pöyhönen &amp; Maaret Pyhäjärvi</a:t>
              </a:r>
            </a:p>
            <a:p>
              <a:r>
                <a:rPr lang="fi-FI" sz="900" dirty="0" smtClean="0"/>
                <a:t>Nimeä |  Attribution (Finland)</a:t>
              </a:r>
            </a:p>
            <a:p>
              <a:pPr marL="0" lvl="1"/>
              <a:r>
                <a:rPr lang="fi-FI" sz="900" dirty="0" smtClean="0">
                  <a:hlinkClick r:id="rId5"/>
                </a:rPr>
                <a:t>http://creativecommons.org/licenses/by/1.0/fi/</a:t>
              </a:r>
              <a:endParaRPr lang="fi-FI" sz="900" dirty="0" smtClean="0"/>
            </a:p>
            <a:p>
              <a:pPr marL="0" lvl="1"/>
              <a:r>
                <a:rPr lang="fi-FI" sz="900" dirty="0" smtClean="0">
                  <a:hlinkClick r:id="rId6"/>
                </a:rPr>
                <a:t>http://creativecommons.org/licenses/by/1.0/fi/deed.en</a:t>
              </a:r>
              <a:endParaRPr lang="fi-FI" sz="900" dirty="0" smtClean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28600" y="152400"/>
            <a:ext cx="56388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4000" b="1" dirty="0" smtClean="0">
                <a:solidFill>
                  <a:schemeClr val="accent1"/>
                </a:solidFill>
                <a:latin typeface="Freestyle Script" pitchFamily="66" charset="0"/>
                <a:cs typeface="Tunga" pitchFamily="2" charset="0"/>
              </a:rPr>
              <a:t>Ketterä testaus</a:t>
            </a:r>
          </a:p>
          <a:p>
            <a:r>
              <a:rPr lang="fi-FI" b="1" dirty="0" smtClean="0">
                <a:solidFill>
                  <a:schemeClr val="accent1"/>
                </a:solidFill>
                <a:latin typeface="Freestyle Script" pitchFamily="66" charset="0"/>
                <a:cs typeface="Tunga" pitchFamily="2" charset="0"/>
              </a:rPr>
              <a:t>v.13 (2011-04)</a:t>
            </a:r>
            <a:endParaRPr lang="fi-FI" sz="1600" b="1" dirty="0">
              <a:solidFill>
                <a:schemeClr val="accent1"/>
              </a:solidFill>
              <a:latin typeface="Freestyle Script" pitchFamily="66" charset="0"/>
              <a:cs typeface="Tunga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Purposes of Traditional Issue Tracking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smtClean="0"/>
              <a:t>In-team shared notebook</a:t>
            </a:r>
          </a:p>
          <a:p>
            <a:r>
              <a:rPr lang="en-US" sz="2000" dirty="0" smtClean="0"/>
              <a:t>Project memory that outlasts the team members</a:t>
            </a:r>
            <a:endParaRPr lang="en-GB" sz="2000" dirty="0" smtClean="0"/>
          </a:p>
          <a:p>
            <a:r>
              <a:rPr lang="en-US" sz="2000" dirty="0" smtClean="0"/>
              <a:t>Task-list with a task lifecycle</a:t>
            </a:r>
          </a:p>
          <a:p>
            <a:r>
              <a:rPr lang="en-US" sz="2000" dirty="0" smtClean="0"/>
              <a:t>Communication and collaboration</a:t>
            </a:r>
          </a:p>
          <a:p>
            <a:pPr lvl="1"/>
            <a:r>
              <a:rPr lang="en-US" sz="1600" dirty="0" smtClean="0"/>
              <a:t>Finding out if something has already been fixed</a:t>
            </a:r>
          </a:p>
          <a:p>
            <a:pPr lvl="1"/>
            <a:r>
              <a:rPr lang="en-US" sz="1600" dirty="0" smtClean="0"/>
              <a:t>Remembering details</a:t>
            </a:r>
          </a:p>
          <a:p>
            <a:pPr lvl="1"/>
            <a:r>
              <a:rPr lang="en-US" sz="1600" dirty="0" smtClean="0"/>
              <a:t>Remembering past solutions</a:t>
            </a:r>
          </a:p>
          <a:p>
            <a:r>
              <a:rPr lang="en-US" sz="2000" dirty="0" smtClean="0"/>
              <a:t>List of old annoying problems that could be fixed while working on an area</a:t>
            </a:r>
            <a:endParaRPr lang="en-US" sz="1600" dirty="0" smtClean="0"/>
          </a:p>
          <a:p>
            <a:r>
              <a:rPr lang="en-US" sz="2000" dirty="0" smtClean="0"/>
              <a:t>Alerting mechanism of R&amp;D-relevant customer feedback</a:t>
            </a:r>
            <a:endParaRPr lang="en-US" sz="1400" dirty="0" smtClean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Lack-of-quality reporting</a:t>
            </a:r>
          </a:p>
          <a:p>
            <a:r>
              <a:rPr lang="en-GB" sz="2000" dirty="0" smtClean="0"/>
              <a:t>Source of test cases and plans</a:t>
            </a:r>
            <a:endParaRPr lang="en-US" sz="2000" dirty="0" smtClean="0"/>
          </a:p>
          <a:p>
            <a:pPr lvl="1"/>
            <a:r>
              <a:rPr lang="en-US" sz="1600" dirty="0" smtClean="0"/>
              <a:t>Source of test ideas based on past</a:t>
            </a:r>
          </a:p>
          <a:p>
            <a:pPr lvl="1"/>
            <a:r>
              <a:rPr lang="en-US" sz="1600" dirty="0" smtClean="0"/>
              <a:t>Identifying high-risk areas for testing</a:t>
            </a:r>
          </a:p>
          <a:p>
            <a:pPr lvl="1"/>
            <a:r>
              <a:rPr lang="en-US" sz="1600" dirty="0" smtClean="0"/>
              <a:t>Understanding a fix and related risks </a:t>
            </a:r>
          </a:p>
          <a:p>
            <a:r>
              <a:rPr lang="en-US" sz="2000" dirty="0" smtClean="0"/>
              <a:t>Cause analysis for systemic problems</a:t>
            </a:r>
          </a:p>
          <a:p>
            <a:r>
              <a:rPr lang="en-US" sz="2000" dirty="0" smtClean="0"/>
              <a:t>Adherence to some standards requiring proof of decision-making chain</a:t>
            </a:r>
          </a:p>
          <a:p>
            <a:r>
              <a:rPr lang="en-US" sz="2000" dirty="0" smtClean="0"/>
              <a:t>Generating customer reports about their concerns having been addressed</a:t>
            </a:r>
          </a:p>
          <a:p>
            <a:endParaRPr lang="en-US" sz="2000" dirty="0" smtClean="0"/>
          </a:p>
          <a:p>
            <a:endParaRPr lang="en-GB" sz="1400" dirty="0" smtClean="0"/>
          </a:p>
          <a:p>
            <a:endParaRPr lang="en-US" sz="2000" dirty="0" smtClean="0"/>
          </a:p>
          <a:p>
            <a:endParaRPr lang="en-US" sz="36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Queues of Work Are Waste – And Bug Lists are Queues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i-FI" dirty="0" smtClean="0"/>
              <a:t>Inventories that don’t flow value through are waste, queues of partially done work</a:t>
            </a:r>
          </a:p>
          <a:p>
            <a:r>
              <a:rPr lang="fi-FI" dirty="0" smtClean="0"/>
              <a:t>Active decision-making on things that can be accepted for now</a:t>
            </a:r>
          </a:p>
          <a:p>
            <a:pPr lvl="1"/>
            <a:r>
              <a:rPr lang="fi-FI" dirty="0" smtClean="0"/>
              <a:t>Remove items from queue</a:t>
            </a:r>
          </a:p>
          <a:p>
            <a:pPr lvl="1"/>
            <a:r>
              <a:rPr lang="fi-FI" dirty="0" smtClean="0"/>
              <a:t>Focus on throughput</a:t>
            </a:r>
          </a:p>
          <a:p>
            <a:r>
              <a:rPr lang="en-US" dirty="0" smtClean="0"/>
              <a:t>Issue tracking systems are full of items similar to product backlog items, only lower priority</a:t>
            </a:r>
          </a:p>
          <a:p>
            <a:r>
              <a:rPr lang="en-US" dirty="0" smtClean="0"/>
              <a:t>Stop-the-line mentality: issues that must be fixed before final release are highest priority </a:t>
            </a:r>
          </a:p>
          <a:p>
            <a:pPr lvl="1"/>
            <a:r>
              <a:rPr lang="en-US" dirty="0" smtClean="0"/>
              <a:t>Avoid taking debt: interest makes the project go late </a:t>
            </a:r>
          </a:p>
          <a:p>
            <a:endParaRPr lang="fi-FI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3200400" y="4343400"/>
            <a:ext cx="5715000" cy="21336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Categorizing Issues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" y="3124200"/>
            <a:ext cx="2286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 dirty="0" smtClean="0"/>
              <a:t>Incoming issue</a:t>
            </a:r>
            <a:endParaRPr lang="fi-FI" sz="2400" dirty="0"/>
          </a:p>
        </p:txBody>
      </p:sp>
      <p:sp>
        <p:nvSpPr>
          <p:cNvPr id="8" name="Rectangle 7"/>
          <p:cNvSpPr/>
          <p:nvPr/>
        </p:nvSpPr>
        <p:spPr>
          <a:xfrm>
            <a:off x="3352800" y="2514600"/>
            <a:ext cx="2286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 dirty="0" smtClean="0"/>
              <a:t>Active – change</a:t>
            </a:r>
          </a:p>
          <a:p>
            <a:pPr algn="ctr"/>
            <a:r>
              <a:rPr lang="fi-FI" sz="2400" dirty="0" smtClean="0"/>
              <a:t>Just fix it</a:t>
            </a:r>
            <a:endParaRPr lang="fi-FI" sz="2400" dirty="0"/>
          </a:p>
        </p:txBody>
      </p:sp>
      <p:sp>
        <p:nvSpPr>
          <p:cNvPr id="9" name="Rectangle 8"/>
          <p:cNvSpPr/>
          <p:nvPr/>
        </p:nvSpPr>
        <p:spPr>
          <a:xfrm>
            <a:off x="3352800" y="4495800"/>
            <a:ext cx="2286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 dirty="0" smtClean="0"/>
              <a:t>Not active – don’t change</a:t>
            </a:r>
            <a:endParaRPr lang="fi-FI" sz="2400" dirty="0"/>
          </a:p>
        </p:txBody>
      </p:sp>
      <p:sp>
        <p:nvSpPr>
          <p:cNvPr id="11" name="Rectangle 10"/>
          <p:cNvSpPr/>
          <p:nvPr/>
        </p:nvSpPr>
        <p:spPr>
          <a:xfrm>
            <a:off x="6477000" y="4495800"/>
            <a:ext cx="2286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 dirty="0" smtClean="0"/>
              <a:t>Becomes live</a:t>
            </a:r>
            <a:endParaRPr lang="fi-FI" sz="2400" dirty="0"/>
          </a:p>
        </p:txBody>
      </p:sp>
      <p:sp>
        <p:nvSpPr>
          <p:cNvPr id="12" name="Rectangle 11"/>
          <p:cNvSpPr/>
          <p:nvPr/>
        </p:nvSpPr>
        <p:spPr>
          <a:xfrm>
            <a:off x="6477000" y="5486400"/>
            <a:ext cx="2286000" cy="8382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400" dirty="0" smtClean="0"/>
              <a:t>Is live</a:t>
            </a:r>
            <a:endParaRPr lang="fi-FI" sz="2400" dirty="0"/>
          </a:p>
        </p:txBody>
      </p:sp>
      <p:sp>
        <p:nvSpPr>
          <p:cNvPr id="13" name="Right Arrow 12"/>
          <p:cNvSpPr/>
          <p:nvPr/>
        </p:nvSpPr>
        <p:spPr>
          <a:xfrm>
            <a:off x="5867400" y="4800600"/>
            <a:ext cx="381000" cy="4572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15" name="Rectangle 14"/>
          <p:cNvSpPr/>
          <p:nvPr/>
        </p:nvSpPr>
        <p:spPr>
          <a:xfrm>
            <a:off x="6477000" y="1371600"/>
            <a:ext cx="2286000" cy="457200"/>
          </a:xfrm>
          <a:prstGeom prst="rect">
            <a:avLst/>
          </a:prstGeom>
          <a:ln w="571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Now </a:t>
            </a:r>
            <a:r>
              <a:rPr lang="fi-FI" sz="1200" dirty="0" smtClean="0"/>
              <a:t>(the only right option)</a:t>
            </a:r>
            <a:endParaRPr lang="fi-FI" sz="1600" dirty="0"/>
          </a:p>
        </p:txBody>
      </p:sp>
      <p:sp>
        <p:nvSpPr>
          <p:cNvPr id="16" name="Rectangle 15"/>
          <p:cNvSpPr/>
          <p:nvPr/>
        </p:nvSpPr>
        <p:spPr>
          <a:xfrm>
            <a:off x="6477000" y="1905000"/>
            <a:ext cx="22860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Soon </a:t>
            </a:r>
            <a:r>
              <a:rPr lang="fi-FI" sz="1400" dirty="0" smtClean="0"/>
              <a:t>(this sprint)</a:t>
            </a:r>
            <a:endParaRPr lang="fi-FI" sz="1400" dirty="0"/>
          </a:p>
        </p:txBody>
      </p:sp>
      <p:sp>
        <p:nvSpPr>
          <p:cNvPr id="17" name="Rectangle 16"/>
          <p:cNvSpPr/>
          <p:nvPr/>
        </p:nvSpPr>
        <p:spPr>
          <a:xfrm>
            <a:off x="6477000" y="2438400"/>
            <a:ext cx="2286000" cy="4572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Also soon </a:t>
            </a:r>
            <a:r>
              <a:rPr lang="fi-FI" sz="1400" dirty="0" smtClean="0"/>
              <a:t>(this release)</a:t>
            </a:r>
            <a:endParaRPr lang="fi-FI" sz="2000" dirty="0"/>
          </a:p>
        </p:txBody>
      </p:sp>
      <p:sp>
        <p:nvSpPr>
          <p:cNvPr id="18" name="Rectangle 17"/>
          <p:cNvSpPr/>
          <p:nvPr/>
        </p:nvSpPr>
        <p:spPr>
          <a:xfrm>
            <a:off x="6477000" y="2971800"/>
            <a:ext cx="2286000" cy="4572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Becomes live</a:t>
            </a:r>
            <a:endParaRPr lang="fi-FI" sz="2000" dirty="0"/>
          </a:p>
        </p:txBody>
      </p:sp>
      <p:sp>
        <p:nvSpPr>
          <p:cNvPr id="19" name="Rectangle 18"/>
          <p:cNvSpPr/>
          <p:nvPr/>
        </p:nvSpPr>
        <p:spPr>
          <a:xfrm>
            <a:off x="6477000" y="3505200"/>
            <a:ext cx="2286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i-FI" sz="2000" dirty="0" smtClean="0"/>
              <a:t>Not an issue</a:t>
            </a:r>
            <a:endParaRPr lang="fi-FI" sz="2000" dirty="0"/>
          </a:p>
        </p:txBody>
      </p:sp>
      <p:sp>
        <p:nvSpPr>
          <p:cNvPr id="20" name="Right Arrow 19"/>
          <p:cNvSpPr/>
          <p:nvPr/>
        </p:nvSpPr>
        <p:spPr>
          <a:xfrm rot="20284529">
            <a:off x="2819400" y="2895600"/>
            <a:ext cx="3810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1" name="Right Arrow 20"/>
          <p:cNvSpPr/>
          <p:nvPr/>
        </p:nvSpPr>
        <p:spPr>
          <a:xfrm rot="1468014">
            <a:off x="2819400" y="3657600"/>
            <a:ext cx="381000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2" name="Right Arrow 21"/>
          <p:cNvSpPr/>
          <p:nvPr/>
        </p:nvSpPr>
        <p:spPr>
          <a:xfrm>
            <a:off x="5867400" y="2743200"/>
            <a:ext cx="381000" cy="4572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3" name="TextBox 22"/>
          <p:cNvSpPr txBox="1"/>
          <p:nvPr/>
        </p:nvSpPr>
        <p:spPr>
          <a:xfrm>
            <a:off x="152400" y="4724400"/>
            <a:ext cx="236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i-FI" dirty="0" smtClean="0"/>
              <a:t>When you build a bug inventory, these become items you should reflect to product backlog items (live issues) for priority</a:t>
            </a:r>
            <a:endParaRPr lang="fi-FI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There’s Just Live and Not Live Issues</a:t>
            </a:r>
            <a:endParaRPr lang="fi-FI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Live issues are with released products</a:t>
            </a:r>
          </a:p>
          <a:p>
            <a:r>
              <a:rPr lang="fi-FI" dirty="0" smtClean="0"/>
              <a:t>Becoming live can be defined as release to</a:t>
            </a:r>
          </a:p>
          <a:p>
            <a:pPr lvl="1"/>
            <a:r>
              <a:rPr lang="fi-FI" dirty="0" smtClean="0"/>
              <a:t>In-team testers (not a release if culture in place)</a:t>
            </a:r>
          </a:p>
          <a:p>
            <a:pPr lvl="1"/>
            <a:r>
              <a:rPr lang="fi-FI" dirty="0" smtClean="0"/>
              <a:t>Other teams</a:t>
            </a:r>
          </a:p>
          <a:p>
            <a:pPr lvl="1"/>
            <a:r>
              <a:rPr lang="fi-FI" dirty="0" smtClean="0"/>
              <a:t>Real users that don’t pay for it (alpha/beta)</a:t>
            </a:r>
          </a:p>
          <a:p>
            <a:pPr lvl="1"/>
            <a:r>
              <a:rPr lang="fi-FI" b="1" dirty="0" smtClean="0"/>
              <a:t>Real users that pay for it (end user / customer)</a:t>
            </a:r>
          </a:p>
          <a:p>
            <a:r>
              <a:rPr lang="fi-FI" dirty="0" smtClean="0"/>
              <a:t>Issues that are not yet live should be handled with minimal overhead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New Lifecycle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983250" y="2234693"/>
          <a:ext cx="4900618" cy="2197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983514" y="3091949"/>
            <a:ext cx="1285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TRIAGE</a:t>
            </a:r>
            <a:endParaRPr lang="en-US" b="1" dirty="0"/>
          </a:p>
        </p:txBody>
      </p:sp>
      <p:sp>
        <p:nvSpPr>
          <p:cNvPr id="7" name="Right Arrow 6"/>
          <p:cNvSpPr/>
          <p:nvPr/>
        </p:nvSpPr>
        <p:spPr>
          <a:xfrm>
            <a:off x="1268870" y="2734759"/>
            <a:ext cx="1928826" cy="1214446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Inventory</a:t>
            </a:r>
            <a:endParaRPr lang="en-US" dirty="0"/>
          </a:p>
        </p:txBody>
      </p:sp>
      <p:sp>
        <p:nvSpPr>
          <p:cNvPr id="8" name="Left-Right Arrow 7"/>
          <p:cNvSpPr/>
          <p:nvPr/>
        </p:nvSpPr>
        <p:spPr>
          <a:xfrm rot="20189048">
            <a:off x="5529374" y="1396478"/>
            <a:ext cx="2549550" cy="1214446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Communicate</a:t>
            </a:r>
            <a:endParaRPr lang="en-US" dirty="0"/>
          </a:p>
        </p:txBody>
      </p:sp>
      <p:sp>
        <p:nvSpPr>
          <p:cNvPr id="9" name="Left-Right Arrow 8"/>
          <p:cNvSpPr/>
          <p:nvPr/>
        </p:nvSpPr>
        <p:spPr>
          <a:xfrm rot="1429386">
            <a:off x="5528713" y="3717340"/>
            <a:ext cx="2549380" cy="1214446"/>
          </a:xfrm>
          <a:prstGeom prst="left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Deliver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42844" y="3938665"/>
            <a:ext cx="25003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1. A new report comes into the system and is assigned, implicitly or explicitly to a team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1428728" y="4786322"/>
            <a:ext cx="292895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2. Team takes a look a the report and decides if it will be fixed soon, later or never. If decision is not made, the assumption is soon. </a:t>
            </a:r>
          </a:p>
          <a:p>
            <a:r>
              <a:rPr lang="en-GB" sz="1600" dirty="0" smtClean="0"/>
              <a:t>If team feels decision is out of their scope, they escalate decision-making for next level.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4714876" y="5002612"/>
            <a:ext cx="2500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4. Deliver fixes with what ever phases a delivery contains. At any point, the triage decision can be changed to match latest understanding.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643670" y="2367029"/>
            <a:ext cx="25003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3. Communicate things that will need to be accepted as things that just won’t change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71438" y="71438"/>
            <a:ext cx="2357422" cy="157161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Main principle: Assume in for all issues unless otherwise decided.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215206" y="5169771"/>
            <a:ext cx="1857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5. Regular reflection of work left to a milestone</a:t>
            </a:r>
            <a:endParaRPr lang="en-US" sz="1600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Simple Lifecycles: You Don’t Need to Control Every Detail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85786" y="1643050"/>
            <a:ext cx="2428892" cy="121444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Open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85786" y="3286124"/>
            <a:ext cx="2428892" cy="121444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Resolved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5786" y="4929198"/>
            <a:ext cx="2428892" cy="121444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Closed</a:t>
            </a:r>
            <a:endParaRPr lang="en-US" dirty="0"/>
          </a:p>
        </p:txBody>
      </p:sp>
      <p:cxnSp>
        <p:nvCxnSpPr>
          <p:cNvPr id="9" name="Elbow Connector 8"/>
          <p:cNvCxnSpPr>
            <a:stCxn id="5" idx="2"/>
            <a:endCxn id="6" idx="0"/>
          </p:cNvCxnSpPr>
          <p:nvPr/>
        </p:nvCxnSpPr>
        <p:spPr>
          <a:xfrm rot="5400000">
            <a:off x="1785918" y="3071810"/>
            <a:ext cx="428628" cy="1588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/>
          <p:cNvCxnSpPr>
            <a:stCxn id="6" idx="2"/>
            <a:endCxn id="7" idx="0"/>
          </p:cNvCxnSpPr>
          <p:nvPr/>
        </p:nvCxnSpPr>
        <p:spPr>
          <a:xfrm rot="5400000">
            <a:off x="1785918" y="4714884"/>
            <a:ext cx="428628" cy="1588"/>
          </a:xfrm>
          <a:prstGeom prst="bentConnector3">
            <a:avLst>
              <a:gd name="adj1" fmla="val 5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>
            <a:stCxn id="7" idx="3"/>
            <a:endCxn id="5" idx="3"/>
          </p:cNvCxnSpPr>
          <p:nvPr/>
        </p:nvCxnSpPr>
        <p:spPr>
          <a:xfrm flipV="1">
            <a:off x="3214678" y="2250273"/>
            <a:ext cx="1588" cy="3286148"/>
          </a:xfrm>
          <a:prstGeom prst="bentConnector3">
            <a:avLst>
              <a:gd name="adj1" fmla="val 24760209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6" idx="3"/>
            <a:endCxn id="5" idx="3"/>
          </p:cNvCxnSpPr>
          <p:nvPr/>
        </p:nvCxnSpPr>
        <p:spPr>
          <a:xfrm flipV="1">
            <a:off x="3214678" y="2250273"/>
            <a:ext cx="1588" cy="1643074"/>
          </a:xfrm>
          <a:prstGeom prst="bentConnector3">
            <a:avLst>
              <a:gd name="adj1" fmla="val 14395466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5" idx="1"/>
            <a:endCxn id="7" idx="1"/>
          </p:cNvCxnSpPr>
          <p:nvPr/>
        </p:nvCxnSpPr>
        <p:spPr>
          <a:xfrm rot="10800000" flipV="1">
            <a:off x="785786" y="2250273"/>
            <a:ext cx="1588" cy="3286148"/>
          </a:xfrm>
          <a:prstGeom prst="bentConnector3">
            <a:avLst>
              <a:gd name="adj1" fmla="val 14395466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00430" y="1643050"/>
            <a:ext cx="59293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 smtClean="0"/>
              <a:t>Enough info – Confirmed /Not enough info – Not confirmed</a:t>
            </a:r>
          </a:p>
          <a:p>
            <a:r>
              <a:rPr lang="en-GB" sz="1600" i="1" dirty="0" smtClean="0"/>
              <a:t>Team acknowledgement to their list (?)</a:t>
            </a:r>
            <a:endParaRPr lang="en-US" sz="1600" i="1" dirty="0"/>
          </a:p>
        </p:txBody>
      </p:sp>
      <p:sp>
        <p:nvSpPr>
          <p:cNvPr id="21" name="TextBox 20"/>
          <p:cNvSpPr txBox="1"/>
          <p:nvPr/>
        </p:nvSpPr>
        <p:spPr>
          <a:xfrm>
            <a:off x="3643306" y="3000372"/>
            <a:ext cx="16430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Fixed</a:t>
            </a:r>
          </a:p>
          <a:p>
            <a:pPr lvl="0"/>
            <a:r>
              <a:rPr lang="en-GB" sz="1600" dirty="0" smtClean="0"/>
              <a:t>By design </a:t>
            </a:r>
            <a:endParaRPr lang="en-US" sz="1600" dirty="0" smtClean="0"/>
          </a:p>
          <a:p>
            <a:pPr lvl="0"/>
            <a:r>
              <a:rPr lang="en-GB" sz="1600" dirty="0" smtClean="0"/>
              <a:t>Duplicate </a:t>
            </a:r>
            <a:endParaRPr lang="en-US" sz="1600" dirty="0" smtClean="0"/>
          </a:p>
          <a:p>
            <a:pPr lvl="0"/>
            <a:r>
              <a:rPr lang="en-GB" sz="1600" dirty="0" smtClean="0"/>
              <a:t>External </a:t>
            </a:r>
            <a:endParaRPr lang="en-US" sz="1600" dirty="0" smtClean="0"/>
          </a:p>
          <a:p>
            <a:pPr lvl="0"/>
            <a:r>
              <a:rPr lang="en-GB" sz="1600" dirty="0" smtClean="0"/>
              <a:t>Not repro </a:t>
            </a:r>
            <a:endParaRPr lang="en-US" sz="1600" dirty="0" smtClean="0"/>
          </a:p>
          <a:p>
            <a:pPr lvl="0"/>
            <a:r>
              <a:rPr lang="en-GB" sz="1600" dirty="0" smtClean="0"/>
              <a:t>Postponed </a:t>
            </a:r>
            <a:endParaRPr lang="en-US" sz="1600" dirty="0" smtClean="0"/>
          </a:p>
          <a:p>
            <a:pPr lvl="0"/>
            <a:r>
              <a:rPr lang="en-GB" sz="1600" dirty="0" smtClean="0"/>
              <a:t>Won't fix</a:t>
            </a:r>
            <a:endParaRPr lang="en-US" sz="1600" dirty="0"/>
          </a:p>
        </p:txBody>
      </p:sp>
      <p:sp>
        <p:nvSpPr>
          <p:cNvPr id="22" name="TextBox 21"/>
          <p:cNvSpPr txBox="1"/>
          <p:nvPr/>
        </p:nvSpPr>
        <p:spPr>
          <a:xfrm>
            <a:off x="5643570" y="3071810"/>
            <a:ext cx="12859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MINIMAL ACTIONS:</a:t>
            </a:r>
          </a:p>
          <a:p>
            <a:r>
              <a:rPr lang="en-GB" sz="1600" dirty="0" smtClean="0"/>
              <a:t>New bug</a:t>
            </a:r>
          </a:p>
          <a:p>
            <a:r>
              <a:rPr lang="en-GB" sz="1600" dirty="0" smtClean="0"/>
              <a:t>Activate</a:t>
            </a:r>
          </a:p>
          <a:p>
            <a:r>
              <a:rPr lang="en-GB" sz="1600" dirty="0" smtClean="0"/>
              <a:t>Resolve</a:t>
            </a:r>
          </a:p>
          <a:p>
            <a:r>
              <a:rPr lang="en-GB" sz="1600" dirty="0" smtClean="0"/>
              <a:t>Close</a:t>
            </a:r>
          </a:p>
          <a:p>
            <a:r>
              <a:rPr lang="en-GB" sz="1600" dirty="0" smtClean="0"/>
              <a:t>Assign</a:t>
            </a:r>
          </a:p>
          <a:p>
            <a:r>
              <a:rPr lang="en-GB" sz="1600" dirty="0" smtClean="0"/>
              <a:t>All fields edit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7215206" y="4643446"/>
            <a:ext cx="17859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OTHER ACTIONS:</a:t>
            </a:r>
          </a:p>
          <a:p>
            <a:r>
              <a:rPr lang="en-GB" sz="1600" dirty="0" smtClean="0"/>
              <a:t>Skip testing</a:t>
            </a:r>
          </a:p>
          <a:p>
            <a:r>
              <a:rPr lang="en-GB" sz="1600" dirty="0" smtClean="0"/>
              <a:t>Skip confirmation</a:t>
            </a:r>
          </a:p>
          <a:p>
            <a:r>
              <a:rPr lang="en-GB" sz="1600" dirty="0" smtClean="0"/>
              <a:t>Review the fix</a:t>
            </a:r>
          </a:p>
          <a:p>
            <a:r>
              <a:rPr lang="en-GB" sz="1600" dirty="0" smtClean="0"/>
              <a:t>Review the report</a:t>
            </a:r>
          </a:p>
          <a:p>
            <a:r>
              <a:rPr lang="en-GB" sz="1600" dirty="0" smtClean="0"/>
              <a:t>Schedule</a:t>
            </a:r>
          </a:p>
          <a:p>
            <a:r>
              <a:rPr lang="en-GB" sz="1600" dirty="0" smtClean="0"/>
              <a:t>Prioritize</a:t>
            </a:r>
          </a:p>
          <a:p>
            <a:r>
              <a:rPr lang="en-GB" sz="1600" dirty="0" smtClean="0"/>
              <a:t>Take under work</a:t>
            </a:r>
            <a:endParaRPr lang="en-US" sz="160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Changes in Practices of Bug Reporting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Self-organizing teams</a:t>
            </a:r>
          </a:p>
          <a:p>
            <a:pPr lvl="1"/>
            <a:r>
              <a:rPr lang="fi-FI" dirty="0" smtClean="0"/>
              <a:t>Flexibility when to report</a:t>
            </a:r>
          </a:p>
          <a:p>
            <a:pPr lvl="1"/>
            <a:r>
              <a:rPr lang="fi-FI" dirty="0" smtClean="0"/>
              <a:t>Not step-by-step process</a:t>
            </a:r>
          </a:p>
          <a:p>
            <a:pPr lvl="1"/>
            <a:r>
              <a:rPr lang="fi-FI" dirty="0" smtClean="0"/>
              <a:t>Everyone in team should be allowed to act in any role regarding the tracking system</a:t>
            </a:r>
          </a:p>
          <a:p>
            <a:r>
              <a:rPr lang="fi-FI" dirty="0" smtClean="0"/>
              <a:t>Avoiding inventory building</a:t>
            </a:r>
          </a:p>
          <a:p>
            <a:pPr lvl="1"/>
            <a:r>
              <a:rPr lang="fi-FI" dirty="0" smtClean="0"/>
              <a:t>Easy dropping of things from the lists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Concept of Triage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i-FI" dirty="0" smtClean="0"/>
              <a:t>Time is limited, so which issues we attend to?</a:t>
            </a:r>
          </a:p>
          <a:p>
            <a:r>
              <a:rPr lang="fi-FI" dirty="0" smtClean="0"/>
              <a:t>Applies to all steps in bug lifecycle</a:t>
            </a:r>
          </a:p>
          <a:p>
            <a:pPr lvl="1"/>
            <a:r>
              <a:rPr lang="en-US" dirty="0" smtClean="0"/>
              <a:t>Not all issues will be fixed</a:t>
            </a:r>
          </a:p>
          <a:p>
            <a:pPr lvl="1"/>
            <a:r>
              <a:rPr lang="en-US" dirty="0" smtClean="0"/>
              <a:t>Not all issues need detailed analysis</a:t>
            </a:r>
          </a:p>
          <a:p>
            <a:pPr lvl="1"/>
            <a:r>
              <a:rPr lang="en-US" dirty="0" smtClean="0"/>
              <a:t>Not all issues need confirming</a:t>
            </a:r>
          </a:p>
          <a:p>
            <a:pPr lvl="1"/>
            <a:r>
              <a:rPr lang="en-US" dirty="0" smtClean="0"/>
              <a:t>Not all changes need to be tested specifically</a:t>
            </a:r>
          </a:p>
          <a:p>
            <a:pPr lvl="1"/>
            <a:r>
              <a:rPr lang="en-US" dirty="0" smtClean="0"/>
              <a:t>Not all issues need to be reported / documented</a:t>
            </a:r>
            <a:endParaRPr lang="fi-FI" dirty="0" smtClean="0"/>
          </a:p>
          <a:p>
            <a:r>
              <a:rPr lang="fi-FI" dirty="0" smtClean="0"/>
              <a:t>Triage mechanisms in traditional projects don’t promote self-organized teams</a:t>
            </a:r>
          </a:p>
          <a:p>
            <a:pPr lvl="1"/>
            <a:r>
              <a:rPr lang="fi-FI" dirty="0" smtClean="0"/>
              <a:t>Asking a committee instead of deciding in-team</a:t>
            </a:r>
          </a:p>
          <a:p>
            <a:pPr lvl="1"/>
            <a:r>
              <a:rPr lang="fi-FI" dirty="0" smtClean="0"/>
              <a:t>Getting external decision wastes resources that would already potentially have resulted in the fix</a:t>
            </a:r>
          </a:p>
          <a:p>
            <a:pPr lvl="1"/>
            <a:r>
              <a:rPr lang="fi-FI" dirty="0" smtClean="0"/>
              <a:t>Role-based steps don’t let team optimize their throughput </a:t>
            </a:r>
          </a:p>
          <a:p>
            <a:r>
              <a:rPr lang="fi-FI" dirty="0" smtClean="0"/>
              <a:t>Need change from centralized to decentralized mode</a:t>
            </a:r>
          </a:p>
          <a:p>
            <a:pPr lvl="1"/>
            <a:r>
              <a:rPr lang="fi-FI" dirty="0" smtClean="0"/>
              <a:t>Rules about what is relevant for business for teams</a:t>
            </a:r>
          </a:p>
          <a:p>
            <a:pPr lvl="1"/>
            <a:r>
              <a:rPr lang="fi-FI" dirty="0" smtClean="0"/>
              <a:t>No decisions on what is relevant from external people, facilitation</a:t>
            </a:r>
          </a:p>
          <a:p>
            <a:pPr lvl="1"/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Interest Groups / Stakeholders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143503" y="2362794"/>
            <a:ext cx="2143140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"Issue Analyzers, Fixers, Decision Documenters" 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8925" y="2148480"/>
            <a:ext cx="2143140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"In-Development Issue Reporters" </a:t>
            </a:r>
          </a:p>
        </p:txBody>
      </p:sp>
      <p:sp>
        <p:nvSpPr>
          <p:cNvPr id="8" name="Rectangle 7"/>
          <p:cNvSpPr/>
          <p:nvPr/>
        </p:nvSpPr>
        <p:spPr>
          <a:xfrm>
            <a:off x="2071670" y="4558737"/>
            <a:ext cx="2143140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"Delivery Status Reporters" 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8925" y="2791422"/>
            <a:ext cx="2143140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"Maintenance Issue Handlers" 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1670" y="5344555"/>
            <a:ext cx="2140058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"Project External Status Viewers"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347" y="2791423"/>
            <a:ext cx="2143140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"Customer Feedback Handlers"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7686" y="4724400"/>
            <a:ext cx="2271714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"People Resource Owners and efficiency improvers"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00694" y="3434365"/>
            <a:ext cx="2143140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600" dirty="0" smtClean="0"/>
              <a:t>"Quality Scope Deciders"</a:t>
            </a:r>
            <a:endParaRPr lang="en-US" sz="1600" dirty="0"/>
          </a:p>
        </p:txBody>
      </p:sp>
      <p:sp>
        <p:nvSpPr>
          <p:cNvPr id="14" name="Rectangle 13"/>
          <p:cNvSpPr/>
          <p:nvPr/>
        </p:nvSpPr>
        <p:spPr>
          <a:xfrm>
            <a:off x="5143504" y="1214422"/>
            <a:ext cx="400049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Team member with development emphasis </a:t>
            </a:r>
          </a:p>
          <a:p>
            <a:pPr algn="l"/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Team member with testing emphasis </a:t>
            </a:r>
          </a:p>
          <a:p>
            <a:pPr algn="l"/>
            <a:r>
              <a:rPr lang="en-GB" dirty="0" smtClean="0">
                <a:solidFill>
                  <a:schemeClr val="accent2">
                    <a:lumMod val="75000"/>
                  </a:schemeClr>
                </a:solidFill>
              </a:rPr>
              <a:t>Team facilitator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5074" y="4019140"/>
            <a:ext cx="24641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Fix/no-fix decision-maker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0232" y="3929066"/>
            <a:ext cx="22145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dirty="0" smtClean="0"/>
              <a:t>Release-responsible</a:t>
            </a:r>
          </a:p>
          <a:p>
            <a:pPr algn="l"/>
            <a:r>
              <a:rPr lang="en-GB" dirty="0" smtClean="0"/>
              <a:t>Testing-responsible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14612" y="1214422"/>
            <a:ext cx="17145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dirty="0" smtClean="0"/>
              <a:t>External vendor</a:t>
            </a:r>
          </a:p>
          <a:p>
            <a:pPr algn="l"/>
            <a:r>
              <a:rPr lang="en-GB" dirty="0" smtClean="0"/>
              <a:t>External vendor facilitator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43108" y="6019404"/>
            <a:ext cx="1443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00298" y="3519074"/>
            <a:ext cx="22252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smtClean="0"/>
              <a:t>Maintenance 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6022" y="5643578"/>
            <a:ext cx="292419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GB" dirty="0" smtClean="0"/>
              <a:t>Process owner</a:t>
            </a:r>
          </a:p>
          <a:p>
            <a:pPr algn="l"/>
            <a:r>
              <a:rPr lang="en-GB" dirty="0" smtClean="0"/>
              <a:t>Process throughput improver</a:t>
            </a:r>
            <a:endParaRPr lang="en-US" dirty="0" smtClean="0"/>
          </a:p>
          <a:p>
            <a:pPr algn="l"/>
            <a:endParaRPr lang="en-GB" dirty="0" smtClean="0"/>
          </a:p>
        </p:txBody>
      </p:sp>
      <p:sp>
        <p:nvSpPr>
          <p:cNvPr id="21" name="Rectangle 20"/>
          <p:cNvSpPr/>
          <p:nvPr/>
        </p:nvSpPr>
        <p:spPr>
          <a:xfrm>
            <a:off x="142844" y="1518809"/>
            <a:ext cx="17859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GB" dirty="0" smtClean="0"/>
              <a:t>Customer-facing contact internal </a:t>
            </a:r>
          </a:p>
          <a:p>
            <a:pPr algn="l"/>
            <a:r>
              <a:rPr lang="en-GB" dirty="0" smtClean="0"/>
              <a:t>Customer-facing contact external</a:t>
            </a: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Traditional Flow of Customer Originated Problem Needs Changing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smtClean="0"/>
              <a:t>Customers require less specific patches if they </a:t>
            </a:r>
            <a:r>
              <a:rPr lang="fi-FI" b="1" dirty="0" smtClean="0"/>
              <a:t>know</a:t>
            </a:r>
            <a:r>
              <a:rPr lang="fi-FI" dirty="0" smtClean="0"/>
              <a:t> the fix is in the upcoming release</a:t>
            </a:r>
          </a:p>
          <a:p>
            <a:r>
              <a:rPr lang="fi-FI" dirty="0" smtClean="0"/>
              <a:t>Only way to manage that with reasonable overhead is decide on it and act now – fix it</a:t>
            </a:r>
          </a:p>
          <a:p>
            <a:r>
              <a:rPr lang="fi-FI" dirty="0" smtClean="0"/>
              <a:t>Thus, in agile maintenance feedback should find the teams better than in traditional teams</a:t>
            </a:r>
          </a:p>
          <a:p>
            <a:r>
              <a:rPr lang="fi-FI" dirty="0" smtClean="0"/>
              <a:t>Knowing does not mean acting: product owner own still the priorities</a:t>
            </a:r>
          </a:p>
          <a:p>
            <a:r>
              <a:rPr lang="fi-FI" dirty="0" smtClean="0"/>
              <a:t>Change of logic in deciding about maintenance</a:t>
            </a:r>
          </a:p>
          <a:p>
            <a:pPr lvl="1"/>
            <a:r>
              <a:rPr lang="fi-FI" dirty="0" smtClean="0"/>
              <a:t>First fix for next release</a:t>
            </a:r>
          </a:p>
          <a:p>
            <a:pPr lvl="1"/>
            <a:r>
              <a:rPr lang="fi-FI" dirty="0" smtClean="0"/>
              <a:t>Later, create a backported patch is requested by customer</a:t>
            </a:r>
          </a:p>
          <a:p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42844" y="1500174"/>
            <a:ext cx="6429420" cy="507209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GB" b="1" dirty="0" smtClean="0"/>
              <a:t>New Release Delivery Pipeline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6786578" y="1500174"/>
            <a:ext cx="2214546" cy="507209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GB" b="1" dirty="0" smtClean="0"/>
              <a:t>Maintenance Delivery Pipeline</a:t>
            </a:r>
            <a:endParaRPr 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5000628" y="620294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80 % of effort</a:t>
            </a:r>
            <a:endParaRPr lang="en-US" b="1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7429520" y="6202940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 smtClean="0"/>
              <a:t>20 % of effort</a:t>
            </a:r>
            <a:endParaRPr lang="en-US" b="1" i="1" dirty="0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Basic Rule: How Issues Get Worked On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428728" y="2786058"/>
            <a:ext cx="1714512" cy="1214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New Product Releases</a:t>
            </a:r>
          </a:p>
          <a:p>
            <a:pPr algn="ctr"/>
            <a:r>
              <a:rPr lang="en-GB" sz="1600" dirty="0" smtClean="0"/>
              <a:t>Major and Minor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000892" y="2857496"/>
            <a:ext cx="1714512" cy="1214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Maintenance Release</a:t>
            </a:r>
          </a:p>
          <a:p>
            <a:pPr algn="ctr"/>
            <a:r>
              <a:rPr lang="en-GB" sz="1600" dirty="0" err="1" smtClean="0"/>
              <a:t>Hotfixes</a:t>
            </a:r>
            <a:r>
              <a:rPr lang="en-GB" sz="1600" dirty="0" smtClean="0"/>
              <a:t>, Service Releases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42910" y="4357694"/>
            <a:ext cx="3143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/>
              <a:t>Fix important issues regardless of the input source: many maintenance-originated cases will not end up as patches if included in upcoming releases</a:t>
            </a:r>
            <a:endParaRPr lang="en-US" i="1" dirty="0"/>
          </a:p>
        </p:txBody>
      </p:sp>
      <p:sp>
        <p:nvSpPr>
          <p:cNvPr id="23" name="TextBox 22"/>
          <p:cNvSpPr txBox="1"/>
          <p:nvPr/>
        </p:nvSpPr>
        <p:spPr>
          <a:xfrm>
            <a:off x="6929454" y="4429132"/>
            <a:ext cx="1785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i="1" dirty="0" smtClean="0"/>
              <a:t>Fix selected individual problems and deliver the fix</a:t>
            </a:r>
            <a:endParaRPr lang="en-US" i="1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Backlog Management Tools vs. Issue Tracking Tools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 smtClean="0"/>
              <a:t>Backlog Management Tools emphasize fix-and-forget</a:t>
            </a:r>
          </a:p>
          <a:p>
            <a:pPr lvl="1"/>
            <a:r>
              <a:rPr lang="fi-FI" dirty="0" smtClean="0"/>
              <a:t>Mining out old activities may not be easy</a:t>
            </a:r>
          </a:p>
          <a:p>
            <a:r>
              <a:rPr lang="fi-FI" dirty="0" smtClean="0"/>
              <a:t>Activity-wise, bugs are backlog items</a:t>
            </a:r>
          </a:p>
          <a:p>
            <a:pPr lvl="1"/>
            <a:r>
              <a:rPr lang="fi-FI" dirty="0" smtClean="0"/>
              <a:t>Issues that will be fixed </a:t>
            </a:r>
            <a:r>
              <a:rPr lang="fi-FI" dirty="0" smtClean="0">
                <a:sym typeface="Wingdings" pitchFamily="2" charset="2"/>
              </a:rPr>
              <a:t> sprint backlog, if any left, cannot say item is done</a:t>
            </a:r>
          </a:p>
          <a:p>
            <a:pPr lvl="1"/>
            <a:r>
              <a:rPr lang="fi-FI" dirty="0" smtClean="0">
                <a:sym typeface="Wingdings" pitchFamily="2" charset="2"/>
              </a:rPr>
              <a:t>Issues that can go live for now  product backlog, only for those that are likely to be fixed later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Changing Issue Tracking Tool For Agile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half" idx="1"/>
          </p:nvPr>
        </p:nvGraphicFramePr>
        <p:xfrm>
          <a:off x="0" y="1295400"/>
          <a:ext cx="6324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5715000" y="1600200"/>
            <a:ext cx="2971800" cy="4525963"/>
          </a:xfrm>
        </p:spPr>
        <p:txBody>
          <a:bodyPr>
            <a:normAutofit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GB" sz="2800" dirty="0" smtClean="0">
                <a:cs typeface="Arial" charset="0"/>
              </a:rPr>
              <a:t>From controlling change to enabling change, from processes to people and interaction</a:t>
            </a:r>
            <a:endParaRPr lang="en-US" sz="2800" dirty="0" smtClean="0">
              <a:cs typeface="Arial" charset="0"/>
            </a:endParaRPr>
          </a:p>
          <a:p>
            <a:r>
              <a:rPr lang="fi-FI" dirty="0" smtClean="0"/>
              <a:t>Understanding how seconds and clicks turn to significant costs in scales</a:t>
            </a:r>
            <a:endParaRPr lang="fi-FI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Experiences on Traditional and Problematic Terms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i-FI" dirty="0" smtClean="0"/>
              <a:t>”Change Tracking System” </a:t>
            </a:r>
          </a:p>
          <a:p>
            <a:pPr lvl="1"/>
            <a:r>
              <a:rPr lang="fi-FI" dirty="0" smtClean="0"/>
              <a:t>At some point of life, no change was allowed without an issue report it was related to</a:t>
            </a:r>
          </a:p>
          <a:p>
            <a:pPr lvl="1"/>
            <a:r>
              <a:rPr lang="fi-FI" dirty="0" smtClean="0"/>
              <a:t>Used as the way for testers to know the changes</a:t>
            </a:r>
          </a:p>
          <a:p>
            <a:pPr lvl="1"/>
            <a:r>
              <a:rPr lang="fi-FI" dirty="0" smtClean="0"/>
              <a:t>With agile, this is done with configuration management comments and build system</a:t>
            </a:r>
          </a:p>
          <a:p>
            <a:r>
              <a:rPr lang="fi-FI" dirty="0" smtClean="0"/>
              <a:t>”Unscheduled”</a:t>
            </a:r>
          </a:p>
          <a:p>
            <a:pPr lvl="1"/>
            <a:r>
              <a:rPr lang="fi-FI" dirty="0" smtClean="0"/>
              <a:t>Moving from ”excluded by default” to ”included by default” counting of bugs</a:t>
            </a:r>
          </a:p>
          <a:p>
            <a:r>
              <a:rPr lang="fi-FI" dirty="0" smtClean="0"/>
              <a:t>”Change control board”</a:t>
            </a:r>
          </a:p>
          <a:p>
            <a:pPr lvl="1"/>
            <a:r>
              <a:rPr lang="fi-FI" dirty="0" smtClean="0"/>
              <a:t>Hinders change with an expensive committee that becomes a bottleneck</a:t>
            </a:r>
          </a:p>
          <a:p>
            <a:pPr lvl="1"/>
            <a:r>
              <a:rPr lang="fi-FI" dirty="0" smtClean="0"/>
              <a:t>Fixing outside visible queue saves effort</a:t>
            </a:r>
          </a:p>
          <a:p>
            <a:r>
              <a:rPr lang="fi-FI" dirty="0" smtClean="0"/>
              <a:t>”Priority”</a:t>
            </a:r>
          </a:p>
          <a:p>
            <a:pPr lvl="1"/>
            <a:r>
              <a:rPr lang="fi-FI" dirty="0" smtClean="0"/>
              <a:t>It’s actually fix or not – and stop the line for making the fix when one is known</a:t>
            </a:r>
          </a:p>
          <a:p>
            <a:pPr lvl="1"/>
            <a:r>
              <a:rPr lang="fi-FI" dirty="0" smtClean="0"/>
              <a:t>For issues that are intentionally left, some might be good in being prepared for. Most don’t need to. </a:t>
            </a:r>
          </a:p>
          <a:p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Bug Metrics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 smtClean="0"/>
              <a:t>Number of bugs that escape development</a:t>
            </a:r>
          </a:p>
          <a:p>
            <a:pPr lvl="1"/>
            <a:r>
              <a:rPr lang="fi-FI" dirty="0" smtClean="0"/>
              <a:t>Trailing indicator, getting late for feedback</a:t>
            </a:r>
          </a:p>
          <a:p>
            <a:r>
              <a:rPr lang="fi-FI" dirty="0" smtClean="0"/>
              <a:t>Continuous ability to release may provide groups that can provide added views</a:t>
            </a:r>
          </a:p>
          <a:p>
            <a:pPr lvl="1"/>
            <a:r>
              <a:rPr lang="fi-FI" dirty="0" smtClean="0"/>
              <a:t>Alpha / beta testing, giving new ideas and compatibility issue information back to development team from real users</a:t>
            </a:r>
          </a:p>
          <a:p>
            <a:r>
              <a:rPr lang="fi-FI" dirty="0" smtClean="0"/>
              <a:t>Counting escapes by iteration</a:t>
            </a:r>
          </a:p>
          <a:p>
            <a:pPr lvl="1"/>
            <a:r>
              <a:rPr lang="fi-FI" dirty="0" smtClean="0"/>
              <a:t>Finding the escapes requires focused effort in testing to find them</a:t>
            </a:r>
          </a:p>
          <a:p>
            <a:endParaRPr lang="fi-FI" dirty="0" smtClean="0"/>
          </a:p>
          <a:p>
            <a:endParaRPr lang="fi-FI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Regular Reflection Based on Bug Data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i-FI" dirty="0" smtClean="0"/>
              <a:t>A lot of people have commented need of fixing systemic problems through bug data trends</a:t>
            </a:r>
          </a:p>
          <a:p>
            <a:pPr lvl="1"/>
            <a:r>
              <a:rPr lang="fi-FI" dirty="0" smtClean="0"/>
              <a:t>How many of us have really experienced identifying a systemic problem from the bug reports in the database?</a:t>
            </a:r>
          </a:p>
          <a:p>
            <a:r>
              <a:rPr lang="fi-FI" dirty="0" smtClean="0"/>
              <a:t>Can also be, to an extent, handled with retrospectives when issues are still fresh</a:t>
            </a:r>
          </a:p>
          <a:p>
            <a:pPr lvl="1"/>
            <a:r>
              <a:rPr lang="fi-FI" dirty="0" smtClean="0"/>
              <a:t>Proper time of finding this issue</a:t>
            </a:r>
          </a:p>
          <a:p>
            <a:pPr lvl="1"/>
            <a:r>
              <a:rPr lang="fi-FI" dirty="0" smtClean="0"/>
              <a:t>Avoiding the same mistake </a:t>
            </a:r>
          </a:p>
          <a:p>
            <a:pPr lvl="1"/>
            <a:r>
              <a:rPr lang="fi-FI" dirty="0" smtClean="0"/>
              <a:t>How to avoid bugs of a type ever again: specifics to classes, eliminating root causes with temporal proximity of the analysis without classifying every detail</a:t>
            </a:r>
          </a:p>
          <a:p>
            <a:pPr lvl="1"/>
            <a:r>
              <a:rPr lang="fi-FI" dirty="0" smtClean="0"/>
              <a:t>Change of process to avoid customer cases based on live data (originating from real users, reflecting percieved priorities)</a:t>
            </a:r>
          </a:p>
          <a:p>
            <a:pPr lvl="1"/>
            <a:r>
              <a:rPr lang="fi-FI" dirty="0" smtClean="0"/>
              <a:t>Feedback for the team – did we do good</a:t>
            </a:r>
          </a:p>
          <a:p>
            <a:pPr lvl="1"/>
            <a:endParaRPr lang="fi-FI" dirty="0" smtClean="0"/>
          </a:p>
          <a:p>
            <a:pPr lvl="1"/>
            <a:endParaRPr lang="fi-FI" dirty="0" smtClean="0"/>
          </a:p>
          <a:p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Learning from Bugs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i-FI" dirty="0" smtClean="0"/>
              <a:t>Identifying root causes</a:t>
            </a:r>
          </a:p>
          <a:p>
            <a:pPr lvl="1"/>
            <a:r>
              <a:rPr lang="fi-FI" dirty="0" smtClean="0"/>
              <a:t>Why did this bug happen</a:t>
            </a:r>
          </a:p>
          <a:p>
            <a:r>
              <a:rPr lang="fi-FI" dirty="0" smtClean="0"/>
              <a:t>Identifying fastest possible feedback mechanism</a:t>
            </a:r>
          </a:p>
          <a:p>
            <a:pPr lvl="1"/>
            <a:r>
              <a:rPr lang="fi-FI" dirty="0" smtClean="0"/>
              <a:t>Could this be found with unit tests or does it include interaction of parts </a:t>
            </a:r>
          </a:p>
          <a:p>
            <a:r>
              <a:rPr lang="fi-FI" dirty="0" smtClean="0"/>
              <a:t>Identifying common mistakes</a:t>
            </a:r>
          </a:p>
          <a:p>
            <a:pPr lvl="1"/>
            <a:r>
              <a:rPr lang="fi-FI" dirty="0" smtClean="0"/>
              <a:t>Changing practices so that common mistakes become less common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3048000"/>
            <a:ext cx="8001000" cy="20574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Exercise: Let’s Try Out Bug Reporting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smtClean="0"/>
              <a:t>Choose one of the most complex problems you’ve encountered today</a:t>
            </a:r>
          </a:p>
          <a:p>
            <a:endParaRPr lang="fi-FI" dirty="0" smtClean="0"/>
          </a:p>
          <a:p>
            <a:pPr marL="914400" lvl="1" indent="-514350">
              <a:buFont typeface="+mj-lt"/>
              <a:buAutoNum type="arabicPeriod"/>
            </a:pPr>
            <a:r>
              <a:rPr lang="fi-FI" dirty="0" smtClean="0"/>
              <a:t>Write ”a traditional bug report” </a:t>
            </a:r>
          </a:p>
          <a:p>
            <a:pPr marL="914400" lvl="1" indent="-514350">
              <a:buFont typeface="+mj-lt"/>
              <a:buAutoNum type="arabicPeriod"/>
            </a:pPr>
            <a:r>
              <a:rPr lang="fi-FI" dirty="0" smtClean="0"/>
              <a:t>Give it to your colleague for reproducing the problem and comments</a:t>
            </a:r>
            <a:endParaRPr lang="fi-FI" dirty="0"/>
          </a:p>
        </p:txBody>
      </p:sp>
      <p:pic>
        <p:nvPicPr>
          <p:cNvPr id="5" name="Picture 2" descr="C:\Documents and Settings\Maaret\My Documents\My Pictures\Microsoft Clip Organizer\j0078702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5000636"/>
            <a:ext cx="1909450" cy="1704964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3810000" y="5326559"/>
            <a:ext cx="315278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Testing-Time</a:t>
            </a:r>
            <a:endParaRPr lang="en-US" sz="44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smtClean="0"/>
              <a:t>Wrap-Up – # Bug Reporting Exercise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 smtClean="0"/>
              <a:t>How long did it take to write a formal report?</a:t>
            </a:r>
          </a:p>
          <a:p>
            <a:r>
              <a:rPr lang="fi-FI" dirty="0" smtClean="0"/>
              <a:t>How does the time for this bug compare with your usual work bug reporting times?</a:t>
            </a:r>
          </a:p>
          <a:p>
            <a:r>
              <a:rPr lang="fi-FI" dirty="0" smtClean="0"/>
              <a:t>Was your colleague able to reproduce the bug based on your instructions?</a:t>
            </a:r>
          </a:p>
          <a:p>
            <a:r>
              <a:rPr lang="fi-FI" dirty="0" smtClean="0"/>
              <a:t>Would the guy in India be able to reproduce the bug based on your instructions?</a:t>
            </a:r>
          </a:p>
          <a:p>
            <a:r>
              <a:rPr lang="fi-FI" dirty="0" smtClean="0"/>
              <a:t>Would the project manager make right decisions about importance based on your report?</a:t>
            </a:r>
          </a:p>
          <a:p>
            <a:r>
              <a:rPr lang="fi-FI" dirty="0" smtClean="0"/>
              <a:t>Would business people undertand the implications of leaving this bug based on your report?</a:t>
            </a:r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smtClean="0"/>
              <a:t>IDEAS, THOUGHTS, </a:t>
            </a:r>
            <a:br>
              <a:rPr lang="fi-FI" dirty="0" smtClean="0"/>
            </a:br>
            <a:r>
              <a:rPr lang="fi-FI" dirty="0" smtClean="0"/>
              <a:t>QUESTIONS?</a:t>
            </a:r>
            <a:endParaRPr lang="fi-FI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pic>
        <p:nvPicPr>
          <p:cNvPr id="4" name="Picture 3" descr="C:\Documents and Settings\mpyhajar.CONFORMIQ\Application Data\Microsoft\Media Catalog\Downloaded Clips\cl1f\j0078711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71736" y="285728"/>
            <a:ext cx="1622425" cy="3933825"/>
          </a:xfrm>
          <a:prstGeom prst="rect">
            <a:avLst/>
          </a:prstGeom>
          <a:noFill/>
        </p:spPr>
      </p:pic>
      <p:pic>
        <p:nvPicPr>
          <p:cNvPr id="5" name="Picture 4" descr="C:\Documents and Settings\mpyhajar.CONFORMIQ\Application Data\Microsoft\Media Catalog\Downloaded Clips\cl1f\j0078625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15140" y="2357430"/>
            <a:ext cx="1295400" cy="3933825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1667</Words>
  <Application>Microsoft Office PowerPoint</Application>
  <PresentationFormat>On-screen Show (4:3)</PresentationFormat>
  <Paragraphs>274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Bug reporting – MORE STUFF</vt:lpstr>
      <vt:lpstr>Purposes of Traditional Issue Tracking </vt:lpstr>
      <vt:lpstr>Queues of Work Are Waste – And Bug Lists are Queues</vt:lpstr>
      <vt:lpstr>Categorizing Issues</vt:lpstr>
      <vt:lpstr>There’s Just Live and Not Live Issues</vt:lpstr>
      <vt:lpstr>New Lifecycle</vt:lpstr>
      <vt:lpstr>Simple Lifecycles: You Don’t Need to Control Every Detail</vt:lpstr>
      <vt:lpstr>Changes in Practices of Bug Reporting</vt:lpstr>
      <vt:lpstr>Concept of Triage</vt:lpstr>
      <vt:lpstr>Interest Groups / Stakeholders</vt:lpstr>
      <vt:lpstr>Traditional Flow of Customer Originated Problem Needs Changing</vt:lpstr>
      <vt:lpstr>Basic Rule: How Issues Get Worked On</vt:lpstr>
      <vt:lpstr>Backlog Management Tools vs. Issue Tracking Tools</vt:lpstr>
      <vt:lpstr>Changing Issue Tracking Tool For Agile</vt:lpstr>
      <vt:lpstr>Experiences on Traditional and Problematic Terms</vt:lpstr>
      <vt:lpstr>Bug Metrics</vt:lpstr>
      <vt:lpstr>Regular Reflection Based on Bug Data</vt:lpstr>
      <vt:lpstr>Learning from Bugs</vt:lpstr>
      <vt:lpstr>Exercise: Let’s Try Out Bug Reporting</vt:lpstr>
      <vt:lpstr>Wrap-Up – # Bug Reporting Exercise</vt:lpstr>
      <vt:lpstr>IDEAS, THOUGHTS,  QUESTIONS?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Bug reporting – MORE STUFF</dc:title>
  <dc:creator>Maaret Pyhäjärvi</dc:creator>
  <cp:lastModifiedBy>maarit</cp:lastModifiedBy>
  <cp:revision>2</cp:revision>
  <dcterms:created xsi:type="dcterms:W3CDTF">2006-08-16T00:00:00Z</dcterms:created>
  <dcterms:modified xsi:type="dcterms:W3CDTF">2011-04-06T03:57:06Z</dcterms:modified>
</cp:coreProperties>
</file>