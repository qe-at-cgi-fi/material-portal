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sldIdLst>
    <p:sldId id="256" r:id="rId5"/>
    <p:sldId id="737" r:id="rId6"/>
    <p:sldId id="337" r:id="rId7"/>
    <p:sldId id="269" r:id="rId8"/>
    <p:sldId id="736" r:id="rId9"/>
    <p:sldId id="725" r:id="rId10"/>
    <p:sldId id="710" r:id="rId11"/>
    <p:sldId id="705" r:id="rId12"/>
    <p:sldId id="810" r:id="rId13"/>
    <p:sldId id="811" r:id="rId14"/>
    <p:sldId id="803" r:id="rId15"/>
    <p:sldId id="809" r:id="rId16"/>
    <p:sldId id="707" r:id="rId17"/>
    <p:sldId id="729" r:id="rId18"/>
    <p:sldId id="706" r:id="rId19"/>
    <p:sldId id="749" r:id="rId20"/>
    <p:sldId id="812" r:id="rId21"/>
    <p:sldId id="742" r:id="rId22"/>
    <p:sldId id="708" r:id="rId23"/>
    <p:sldId id="709" r:id="rId24"/>
    <p:sldId id="813" r:id="rId25"/>
    <p:sldId id="733" r:id="rId26"/>
    <p:sldId id="748" r:id="rId27"/>
    <p:sldId id="735" r:id="rId28"/>
    <p:sldId id="559" r:id="rId29"/>
    <p:sldId id="702" r:id="rId3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yhajarvi Maaret" initials="PM" lastIdx="1" clrIdx="0">
    <p:extLst>
      <p:ext uri="{19B8F6BF-5375-455C-9EA6-DF929625EA0E}">
        <p15:presenceInfo xmlns:p15="http://schemas.microsoft.com/office/powerpoint/2012/main" userId="S::maaret.pyhajarvi@vaisala.com::ecc851b5-bf16-4ad7-80d9-5ddb8e10cea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F99FF"/>
    <a:srgbClr val="B48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5862" autoAdjust="0"/>
    <p:restoredTop sz="96327" autoAdjust="0"/>
  </p:normalViewPr>
  <p:slideViewPr>
    <p:cSldViewPr snapToGrid="0" snapToObjects="1">
      <p:cViewPr varScale="1">
        <p:scale>
          <a:sx n="160" d="100"/>
          <a:sy n="160" d="100"/>
        </p:scale>
        <p:origin x="36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B040096-F619-7E43-996A-8032D7F8C713}" type="datetimeFigureOut">
              <a:rPr lang="en-US" smtClean="0"/>
              <a:t>9/4/22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0C6101D-4955-2E49-AD11-CFDEC25BF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15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01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78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C8FEC-6B29-4D05-ABF2-B95F59EC172F}" type="slidenum">
              <a:rPr lang="fi-FI" smtClean="0"/>
              <a:pPr/>
              <a:t>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49154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B6EA1D-2977-49C8-BFB7-651D4E153B63}" type="slidenum">
              <a:rPr lang="fi-FI" smtClean="0"/>
              <a:pPr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066525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Software Testing as game is not a game where you win your opponent, but you win on results together! </a:t>
            </a:r>
            <a:r>
              <a:rPr lang="en-US"/>
              <a:t>The product not the programmer is the “opponent”.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A643-47AD-40D4-84D7-51F39DBF4F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46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25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42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17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A6E2D-F83A-453F-8801-4077225DDC8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73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A643-47AD-40D4-84D7-51F39DBF4F5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98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46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195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92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45"/>
            <a:ext cx="10363200" cy="1470025"/>
          </a:xfrm>
        </p:spPr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1827082"/>
            <a:ext cx="10363200" cy="1362075"/>
          </a:xfrm>
        </p:spPr>
        <p:txBody>
          <a:bodyPr anchor="t">
            <a:noAutofit/>
          </a:bodyPr>
          <a:lstStyle>
            <a:lvl1pPr algn="ctr">
              <a:defRPr sz="5400" b="1" cap="none">
                <a:latin typeface="Snell Roundhand"/>
                <a:cs typeface="Snell Roundhand"/>
              </a:defRPr>
            </a:lvl1pPr>
          </a:lstStyle>
          <a:p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Title</a:t>
            </a:r>
            <a:r>
              <a:rPr lang="fi-FI" dirty="0"/>
              <a:t>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8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9/4/22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9/4/22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9/4/22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26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7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26" y="1435104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 dirty="0"/>
              <a:t>Drag </a:t>
            </a:r>
            <a:r>
              <a:rPr lang="fi-FI" dirty="0" err="1"/>
              <a:t>picture</a:t>
            </a:r>
            <a:r>
              <a:rPr lang="fi-FI" dirty="0"/>
              <a:t> to </a:t>
            </a:r>
            <a:r>
              <a:rPr lang="fi-FI" dirty="0" err="1"/>
              <a:t>placeholder</a:t>
            </a:r>
            <a:r>
              <a:rPr lang="fi-FI" dirty="0"/>
              <a:t> or </a:t>
            </a:r>
            <a:r>
              <a:rPr lang="fi-FI" dirty="0" err="1"/>
              <a:t>click</a:t>
            </a:r>
            <a:r>
              <a:rPr lang="fi-FI" dirty="0"/>
              <a:t> </a:t>
            </a:r>
            <a:r>
              <a:rPr lang="fi-FI" dirty="0" err="1"/>
              <a:t>icon</a:t>
            </a:r>
            <a:r>
              <a:rPr lang="fi-FI" dirty="0"/>
              <a:t> to </a:t>
            </a:r>
            <a:r>
              <a:rPr lang="fi-FI" dirty="0" err="1"/>
              <a:t>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56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9/4/22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9/4/22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 dirty="0" err="1"/>
              <a:t>Click</a:t>
            </a:r>
            <a:r>
              <a:rPr lang="fi-FI" dirty="0"/>
              <a:t> to </a:t>
            </a:r>
            <a:r>
              <a:rPr lang="fi-FI" dirty="0" err="1"/>
              <a:t>edit</a:t>
            </a:r>
            <a:r>
              <a:rPr lang="fi-FI" dirty="0"/>
              <a:t> </a:t>
            </a:r>
            <a:r>
              <a:rPr lang="fi-FI" dirty="0" err="1"/>
              <a:t>Master</a:t>
            </a:r>
            <a:r>
              <a:rPr lang="fi-FI" dirty="0"/>
              <a:t> </a:t>
            </a:r>
            <a:r>
              <a:rPr lang="fi-FI" dirty="0" err="1"/>
              <a:t>text</a:t>
            </a:r>
            <a:r>
              <a:rPr lang="fi-FI" dirty="0"/>
              <a:t> </a:t>
            </a:r>
            <a:r>
              <a:rPr lang="fi-FI" dirty="0" err="1"/>
              <a:t>styles</a:t>
            </a:r>
            <a:endParaRPr lang="fi-FI" dirty="0"/>
          </a:p>
          <a:p>
            <a:pPr lvl="1"/>
            <a:r>
              <a:rPr lang="fi-FI" dirty="0"/>
              <a:t>Second </a:t>
            </a:r>
            <a:r>
              <a:rPr lang="fi-FI" dirty="0" err="1"/>
              <a:t>level</a:t>
            </a:r>
            <a:endParaRPr lang="fi-FI" dirty="0"/>
          </a:p>
          <a:p>
            <a:pPr lvl="2"/>
            <a:r>
              <a:rPr lang="fi-FI" dirty="0"/>
              <a:t>Third </a:t>
            </a:r>
            <a:r>
              <a:rPr lang="fi-FI" dirty="0" err="1"/>
              <a:t>level</a:t>
            </a:r>
            <a:endParaRPr lang="fi-FI" dirty="0"/>
          </a:p>
          <a:p>
            <a:pPr lvl="3"/>
            <a:r>
              <a:rPr lang="fi-FI" dirty="0" err="1"/>
              <a:t>Fourth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fi-FI" dirty="0"/>
          </a:p>
          <a:p>
            <a:pPr lvl="4"/>
            <a:r>
              <a:rPr lang="fi-FI" dirty="0" err="1"/>
              <a:t>Fifth</a:t>
            </a:r>
            <a:r>
              <a:rPr lang="fi-FI" dirty="0"/>
              <a:t> </a:t>
            </a:r>
            <a:r>
              <a:rPr lang="fi-FI" dirty="0" err="1"/>
              <a:t>level</a:t>
            </a:r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133040" y="6211008"/>
            <a:ext cx="1600951" cy="420195"/>
            <a:chOff x="7583140" y="6318687"/>
            <a:chExt cx="1200716" cy="420193"/>
          </a:xfrm>
        </p:grpSpPr>
        <p:sp>
          <p:nvSpPr>
            <p:cNvPr id="8" name="TextBox 7"/>
            <p:cNvSpPr txBox="1"/>
            <p:nvPr/>
          </p:nvSpPr>
          <p:spPr>
            <a:xfrm>
              <a:off x="7850524" y="6318687"/>
              <a:ext cx="933332" cy="369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>
                      <a:lumMod val="50000"/>
                    </a:schemeClr>
                  </a:solidFill>
                </a:rPr>
                <a:t>@maaretp </a:t>
              </a:r>
            </a:p>
          </p:txBody>
        </p:sp>
        <p:pic>
          <p:nvPicPr>
            <p:cNvPr id="9" name="Picture 8" descr="TwitterLogo_#55acee.png"/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40" y="6331262"/>
              <a:ext cx="317241" cy="4076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7711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4.jpe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C90087-8484-4648-961D-5F2491674F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4" r="30156"/>
          <a:stretch/>
        </p:blipFill>
        <p:spPr bwMode="auto">
          <a:xfrm rot="16200000" flipV="1">
            <a:off x="-2596663" y="2596661"/>
            <a:ext cx="6858002" cy="166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4336" y="1263974"/>
            <a:ext cx="10547664" cy="1470025"/>
          </a:xfrm>
        </p:spPr>
        <p:txBody>
          <a:bodyPr>
            <a:noAutofit/>
          </a:bodyPr>
          <a:lstStyle/>
          <a:p>
            <a:r>
              <a:rPr lang="en-US" sz="6000" dirty="0">
                <a:cs typeface="KG Manhattan Script"/>
              </a:rPr>
              <a:t>Hands-Off Exploratory Testing</a:t>
            </a:r>
            <a:br>
              <a:rPr lang="en-US" sz="6000" dirty="0">
                <a:cs typeface="KG Manhattan Script"/>
              </a:rPr>
            </a:br>
            <a:r>
              <a:rPr lang="en-US" sz="6000" dirty="0">
                <a:solidFill>
                  <a:schemeClr val="accent2"/>
                </a:solidFill>
                <a:latin typeface="KG No Matter What" panose="02000507000000020003" pitchFamily="2" charset="77"/>
                <a:cs typeface="KG Manhattan Script"/>
              </a:rPr>
              <a:t>How to Manage at Scale</a:t>
            </a:r>
            <a:endParaRPr lang="en-US" sz="8800" dirty="0">
              <a:solidFill>
                <a:schemeClr val="accent2"/>
              </a:solidFill>
              <a:latin typeface="KG No Matter What" panose="02000507000000020003" pitchFamily="2" charset="77"/>
              <a:cs typeface="KG Manhattan Scrip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22774" y="4098563"/>
            <a:ext cx="5251666" cy="7709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by Maaret Pyhäjärvi</a:t>
            </a:r>
          </a:p>
        </p:txBody>
      </p:sp>
      <p:pic>
        <p:nvPicPr>
          <p:cNvPr id="9" name="Picture 8" descr="VaisalaLogo.jp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444" y="4727223"/>
            <a:ext cx="1592572" cy="494149"/>
          </a:xfrm>
          <a:prstGeom prst="rect">
            <a:avLst/>
          </a:prstGeom>
        </p:spPr>
      </p:pic>
      <p:pic>
        <p:nvPicPr>
          <p:cNvPr id="6" name="Picture 5" descr="FairyGodmother.jpg">
            <a:extLst>
              <a:ext uri="{FF2B5EF4-FFF2-40B4-BE49-F238E27FC236}">
                <a16:creationId xmlns:a16="http://schemas.microsoft.com/office/drawing/2014/main" id="{0A82CDBB-6184-4297-B228-71001738031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586" y="3364329"/>
            <a:ext cx="3087414" cy="301039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17877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0999882-161E-4693-A929-34CF4149C786}"/>
              </a:ext>
            </a:extLst>
          </p:cNvPr>
          <p:cNvGrpSpPr/>
          <p:nvPr/>
        </p:nvGrpSpPr>
        <p:grpSpPr>
          <a:xfrm>
            <a:off x="5176529" y="335624"/>
            <a:ext cx="1616313" cy="6100850"/>
            <a:chOff x="5176529" y="335624"/>
            <a:chExt cx="1616313" cy="6100850"/>
          </a:xfrm>
        </p:grpSpPr>
        <p:pic>
          <p:nvPicPr>
            <p:cNvPr id="2" name="Picture 1" descr="i1.png"/>
            <p:cNvPicPr>
              <a:picLocks noChangeAspect="1"/>
            </p:cNvPicPr>
            <p:nvPr/>
          </p:nvPicPr>
          <p:blipFill>
            <a:blip r:embed="rId3" cstate="email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928040" y="4697042"/>
              <a:ext cx="1987923" cy="1490942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3" name="Picture 2" descr="i2.png"/>
            <p:cNvPicPr>
              <a:picLocks noChangeAspect="1"/>
            </p:cNvPicPr>
            <p:nvPr/>
          </p:nvPicPr>
          <p:blipFill>
            <a:blip r:embed="rId4" cstate="email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928039" y="2572038"/>
              <a:ext cx="1987924" cy="1490943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4" name="Picture 3" descr="i3.png"/>
            <p:cNvPicPr>
              <a:picLocks noChangeAspect="1"/>
            </p:cNvPicPr>
            <p:nvPr/>
          </p:nvPicPr>
          <p:blipFill>
            <a:blip r:embed="rId5" cstate="email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053409" y="584114"/>
              <a:ext cx="1987924" cy="1490943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6" name="TextBox 5"/>
          <p:cNvSpPr txBox="1"/>
          <p:nvPr/>
        </p:nvSpPr>
        <p:spPr>
          <a:xfrm>
            <a:off x="-1605280" y="473456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748225-ED57-42DD-A7F0-F405572DB345}"/>
              </a:ext>
            </a:extLst>
          </p:cNvPr>
          <p:cNvSpPr txBox="1"/>
          <p:nvPr/>
        </p:nvSpPr>
        <p:spPr>
          <a:xfrm>
            <a:off x="719832" y="1281698"/>
            <a:ext cx="37054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accent3"/>
                </a:solidFill>
                <a:latin typeface="KG No Matter What" panose="02000507000000020003" pitchFamily="2" charset="0"/>
              </a:rPr>
              <a:t>First Experience </a:t>
            </a:r>
            <a:r>
              <a:rPr lang="en-US" sz="5400" dirty="0">
                <a:latin typeface="KG No Matter What" panose="02000507000000020003" pitchFamily="2" charset="0"/>
              </a:rPr>
              <a:t>to </a:t>
            </a:r>
            <a:br>
              <a:rPr lang="en-US" sz="5400" dirty="0">
                <a:latin typeface="KG No Matter What" panose="02000507000000020003" pitchFamily="2" charset="0"/>
              </a:rPr>
            </a:br>
            <a:r>
              <a:rPr lang="en-US" sz="5400" dirty="0">
                <a:latin typeface="KG No Matter What" panose="02000507000000020003" pitchFamily="2" charset="0"/>
              </a:rPr>
              <a:t>Exploratory Testing?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66B6D-8FE9-46DC-AEA3-4DBD3E3B6529}"/>
              </a:ext>
            </a:extLst>
          </p:cNvPr>
          <p:cNvSpPr txBox="1"/>
          <p:nvPr/>
        </p:nvSpPr>
        <p:spPr>
          <a:xfrm>
            <a:off x="7298572" y="657711"/>
            <a:ext cx="47128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Spec =&gt; Tests </a:t>
            </a:r>
            <a:br>
              <a:rPr lang="en-US" sz="3200" dirty="0"/>
            </a:br>
            <a:r>
              <a:rPr lang="en-US" sz="3200" dirty="0"/>
              <a:t>+ </a:t>
            </a:r>
            <a:r>
              <a:rPr lang="en-US" sz="3200" dirty="0">
                <a:solidFill>
                  <a:schemeClr val="accent5"/>
                </a:solidFill>
              </a:rPr>
              <a:t>a Session to Find all Bugs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2CF19F-B243-4E3C-9DBD-C1EF5A2D74C6}"/>
              </a:ext>
            </a:extLst>
          </p:cNvPr>
          <p:cNvSpPr txBox="1"/>
          <p:nvPr/>
        </p:nvSpPr>
        <p:spPr>
          <a:xfrm>
            <a:off x="7298572" y="2791311"/>
            <a:ext cx="44789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Repeat list of test cases </a:t>
            </a:r>
            <a:br>
              <a:rPr lang="en-US" sz="3200" dirty="0"/>
            </a:br>
            <a:r>
              <a:rPr lang="en-US" sz="3200" dirty="0"/>
              <a:t>+ </a:t>
            </a:r>
            <a:r>
              <a:rPr lang="en-US" sz="3200" dirty="0">
                <a:solidFill>
                  <a:schemeClr val="accent5"/>
                </a:solidFill>
              </a:rPr>
              <a:t>a conference awakening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3A651B-D600-4223-AC8C-44D7F86BDA3B}"/>
              </a:ext>
            </a:extLst>
          </p:cNvPr>
          <p:cNvSpPr txBox="1"/>
          <p:nvPr/>
        </p:nvSpPr>
        <p:spPr>
          <a:xfrm>
            <a:off x="7298570" y="4836161"/>
            <a:ext cx="43047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4"/>
                </a:solidFill>
              </a:rPr>
              <a:t>Some tests, budget of time, QA on results</a:t>
            </a:r>
          </a:p>
        </p:txBody>
      </p:sp>
    </p:spTree>
    <p:extLst>
      <p:ext uri="{BB962C8B-B14F-4D97-AF65-F5344CB8AC3E}">
        <p14:creationId xmlns:p14="http://schemas.microsoft.com/office/powerpoint/2010/main" val="223882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430" y="154774"/>
            <a:ext cx="10515600" cy="1325563"/>
          </a:xfrm>
        </p:spPr>
        <p:txBody>
          <a:bodyPr>
            <a:normAutofit/>
          </a:bodyPr>
          <a:lstStyle/>
          <a:p>
            <a:r>
              <a:rPr lang="fi-FI" sz="4000" dirty="0">
                <a:latin typeface="+mn-lt"/>
              </a:rPr>
              <a:t>Exploratory Testing: </a:t>
            </a:r>
            <a:br>
              <a:rPr lang="fi-FI" sz="4000" dirty="0">
                <a:latin typeface="+mn-lt"/>
              </a:rPr>
            </a:br>
            <a:r>
              <a:rPr lang="fi-FI" sz="4000" dirty="0">
                <a:latin typeface="+mn-lt"/>
              </a:rPr>
              <a:t>Frame of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1230" y="2438400"/>
            <a:ext cx="2643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2800" dirty="0"/>
              <a:t>”A day’s work”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338886" y="2971800"/>
            <a:ext cx="4024314" cy="2143140"/>
            <a:chOff x="432" y="768"/>
            <a:chExt cx="5088" cy="3264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432" y="768"/>
              <a:ext cx="2496" cy="15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1400" b="1" dirty="0"/>
                <a:t>Vision (“Sandbox”)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024" y="768"/>
              <a:ext cx="2496" cy="15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1400" b="1" dirty="0"/>
                <a:t>Current Charter</a:t>
              </a: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432" y="2448"/>
              <a:ext cx="2496" cy="15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1400" b="1" dirty="0"/>
                <a:t>Other Charters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3024" y="2448"/>
              <a:ext cx="2496" cy="1584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/>
              <a:r>
                <a:rPr lang="en-GB" sz="1400" b="1" dirty="0"/>
                <a:t>Details</a:t>
              </a:r>
            </a:p>
          </p:txBody>
        </p:sp>
      </p:grpSp>
      <p:sp>
        <p:nvSpPr>
          <p:cNvPr id="11" name="Folded Corner 10"/>
          <p:cNvSpPr/>
          <p:nvPr/>
        </p:nvSpPr>
        <p:spPr>
          <a:xfrm>
            <a:off x="9014950" y="5464170"/>
            <a:ext cx="1500198" cy="833013"/>
          </a:xfrm>
          <a:prstGeom prst="foldedCorner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/>
              <a:t>Bug </a:t>
            </a:r>
            <a:br>
              <a:rPr lang="fi-FI" sz="2000" dirty="0"/>
            </a:br>
            <a:r>
              <a:rPr lang="fi-FI" sz="2000" dirty="0"/>
              <a:t>Reports</a:t>
            </a:r>
          </a:p>
        </p:txBody>
      </p:sp>
      <p:sp>
        <p:nvSpPr>
          <p:cNvPr id="12" name="Cloud 11"/>
          <p:cNvSpPr/>
          <p:nvPr/>
        </p:nvSpPr>
        <p:spPr>
          <a:xfrm>
            <a:off x="4953000" y="1417638"/>
            <a:ext cx="2571760" cy="1082668"/>
          </a:xfrm>
          <a:prstGeom prst="clou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/>
              <a:t>Perception of quality and </a:t>
            </a:r>
            <a:r>
              <a:rPr lang="fi-FI" dirty="0" err="1"/>
              <a:t>coverage</a:t>
            </a:r>
            <a:endParaRPr lang="fi-FI" dirty="0"/>
          </a:p>
        </p:txBody>
      </p:sp>
      <p:sp>
        <p:nvSpPr>
          <p:cNvPr id="13" name="Folded Corner 12"/>
          <p:cNvSpPr/>
          <p:nvPr/>
        </p:nvSpPr>
        <p:spPr>
          <a:xfrm>
            <a:off x="8534400" y="1381076"/>
            <a:ext cx="1600200" cy="1143000"/>
          </a:xfrm>
          <a:prstGeom prst="foldedCorner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/>
              <a:t>Quality </a:t>
            </a:r>
            <a:br>
              <a:rPr lang="fi-FI" sz="2000" dirty="0"/>
            </a:br>
            <a:r>
              <a:rPr lang="fi-FI" sz="2000" dirty="0"/>
              <a:t>Report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3124200" y="1500174"/>
            <a:ext cx="1571636" cy="928694"/>
          </a:xfrm>
          <a:prstGeom prst="wedgeRoundRectCallout">
            <a:avLst>
              <a:gd name="adj1" fmla="val 48984"/>
              <a:gd name="adj2" fmla="val 85474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/>
              <a:t>Debriefing</a:t>
            </a:r>
          </a:p>
        </p:txBody>
      </p:sp>
      <p:grpSp>
        <p:nvGrpSpPr>
          <p:cNvPr id="5" name="Group 19"/>
          <p:cNvGrpSpPr/>
          <p:nvPr/>
        </p:nvGrpSpPr>
        <p:grpSpPr>
          <a:xfrm>
            <a:off x="5029200" y="2819401"/>
            <a:ext cx="1071570" cy="1266403"/>
            <a:chOff x="4071934" y="4746507"/>
            <a:chExt cx="1071570" cy="1266403"/>
          </a:xfrm>
        </p:grpSpPr>
        <p:pic>
          <p:nvPicPr>
            <p:cNvPr id="3076" name="Picture 4" descr="C:\Documents and Settings\Maaret\My Documents\My Pictures\Microsoft Clip Organizer\j0078753.wm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61898" y="4746507"/>
              <a:ext cx="838730" cy="891773"/>
            </a:xfrm>
            <a:prstGeom prst="rect">
              <a:avLst/>
            </a:prstGeom>
            <a:noFill/>
          </p:spPr>
        </p:pic>
        <p:sp>
          <p:nvSpPr>
            <p:cNvPr id="18" name="TextBox 17"/>
            <p:cNvSpPr txBox="1"/>
            <p:nvPr/>
          </p:nvSpPr>
          <p:spPr>
            <a:xfrm>
              <a:off x="4071934" y="5643578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dirty="0"/>
                <a:t>Tester</a:t>
              </a:r>
            </a:p>
          </p:txBody>
        </p:sp>
      </p:grpSp>
      <p:grpSp>
        <p:nvGrpSpPr>
          <p:cNvPr id="10" name="Group 20"/>
          <p:cNvGrpSpPr/>
          <p:nvPr/>
        </p:nvGrpSpPr>
        <p:grpSpPr>
          <a:xfrm>
            <a:off x="1271606" y="1447800"/>
            <a:ext cx="1928794" cy="1983372"/>
            <a:chOff x="7000892" y="2449149"/>
            <a:chExt cx="1928794" cy="1983372"/>
          </a:xfrm>
        </p:grpSpPr>
        <p:pic>
          <p:nvPicPr>
            <p:cNvPr id="3077" name="Picture 5" descr="C:\Documents and Settings\Maaret\My Documents\My Pictures\Microsoft Clip Organizer\j0078713.wmf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641525" y="2449149"/>
              <a:ext cx="645251" cy="1376721"/>
            </a:xfrm>
            <a:prstGeom prst="rect">
              <a:avLst/>
            </a:prstGeom>
            <a:noFill/>
          </p:spPr>
        </p:pic>
        <p:sp>
          <p:nvSpPr>
            <p:cNvPr id="19" name="TextBox 18"/>
            <p:cNvSpPr txBox="1"/>
            <p:nvPr/>
          </p:nvSpPr>
          <p:spPr>
            <a:xfrm>
              <a:off x="7000892" y="3786190"/>
              <a:ext cx="19287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dirty="0"/>
                <a:t>Test </a:t>
              </a:r>
              <a:br>
                <a:rPr lang="fi-FI" dirty="0"/>
              </a:br>
              <a:r>
                <a:rPr lang="fi-FI" dirty="0"/>
                <a:t>Manager</a:t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128954" y="2438400"/>
            <a:ext cx="13828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1" dirty="0">
                <a:solidFill>
                  <a:srgbClr val="FF0000"/>
                </a:solidFill>
              </a:rPr>
              <a:t>P</a:t>
            </a:r>
            <a:r>
              <a:rPr lang="fi-FI" dirty="0"/>
              <a:t>ast</a:t>
            </a:r>
          </a:p>
          <a:p>
            <a:r>
              <a:rPr lang="fi-FI" b="1" dirty="0">
                <a:solidFill>
                  <a:srgbClr val="FF0000"/>
                </a:solidFill>
              </a:rPr>
              <a:t>R</a:t>
            </a:r>
            <a:r>
              <a:rPr lang="fi-FI" dirty="0"/>
              <a:t>esults</a:t>
            </a:r>
          </a:p>
          <a:p>
            <a:r>
              <a:rPr lang="fi-FI" b="1" dirty="0">
                <a:solidFill>
                  <a:srgbClr val="FF0000"/>
                </a:solidFill>
              </a:rPr>
              <a:t>O</a:t>
            </a:r>
            <a:r>
              <a:rPr lang="fi-FI" dirty="0"/>
              <a:t>bstacles</a:t>
            </a:r>
          </a:p>
          <a:p>
            <a:r>
              <a:rPr lang="fi-FI" b="1" dirty="0">
                <a:solidFill>
                  <a:srgbClr val="FF0000"/>
                </a:solidFill>
              </a:rPr>
              <a:t>O</a:t>
            </a:r>
            <a:r>
              <a:rPr lang="fi-FI" dirty="0"/>
              <a:t>utlook</a:t>
            </a:r>
          </a:p>
          <a:p>
            <a:r>
              <a:rPr lang="fi-FI" b="1" dirty="0">
                <a:solidFill>
                  <a:srgbClr val="FF0000"/>
                </a:solidFill>
              </a:rPr>
              <a:t>F</a:t>
            </a:r>
            <a:r>
              <a:rPr lang="fi-FI" dirty="0"/>
              <a:t>eelings</a:t>
            </a:r>
          </a:p>
        </p:txBody>
      </p:sp>
      <p:sp>
        <p:nvSpPr>
          <p:cNvPr id="23" name="Right Arrow 22"/>
          <p:cNvSpPr/>
          <p:nvPr/>
        </p:nvSpPr>
        <p:spPr>
          <a:xfrm rot="2826998">
            <a:off x="9033485" y="4918687"/>
            <a:ext cx="571504" cy="57150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4" name="Right Arrow 23"/>
          <p:cNvSpPr/>
          <p:nvPr/>
        </p:nvSpPr>
        <p:spPr>
          <a:xfrm>
            <a:off x="7810512" y="1643050"/>
            <a:ext cx="500066" cy="500066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5" name="Left Arrow 24"/>
          <p:cNvSpPr/>
          <p:nvPr/>
        </p:nvSpPr>
        <p:spPr>
          <a:xfrm rot="19350830">
            <a:off x="6515691" y="4915491"/>
            <a:ext cx="571504" cy="5715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6" name="TextBox 25"/>
          <p:cNvSpPr txBox="1"/>
          <p:nvPr/>
        </p:nvSpPr>
        <p:spPr>
          <a:xfrm>
            <a:off x="9982200" y="4419600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600" dirty="0"/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6000" y="4114800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600" dirty="0"/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6000" y="4724400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600" dirty="0"/>
              <a:t>x</a:t>
            </a:r>
          </a:p>
        </p:txBody>
      </p:sp>
      <p:grpSp>
        <p:nvGrpSpPr>
          <p:cNvPr id="15" name="Group 28"/>
          <p:cNvGrpSpPr/>
          <p:nvPr/>
        </p:nvGrpSpPr>
        <p:grpSpPr>
          <a:xfrm>
            <a:off x="3352800" y="4797152"/>
            <a:ext cx="3124200" cy="2104380"/>
            <a:chOff x="4648200" y="1436969"/>
            <a:chExt cx="4114800" cy="4261886"/>
          </a:xfrm>
        </p:grpSpPr>
        <p:sp>
          <p:nvSpPr>
            <p:cNvPr id="30" name="TextBox 29"/>
            <p:cNvSpPr txBox="1"/>
            <p:nvPr/>
          </p:nvSpPr>
          <p:spPr>
            <a:xfrm>
              <a:off x="4648200" y="1436969"/>
              <a:ext cx="4038599" cy="1059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sz="1400" b="1" dirty="0"/>
                <a:t>Charter backlog of the future testing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48400" y="25908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248400" y="27432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248400" y="28956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6248400" y="3047999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248400" y="3200399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248400" y="33528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248400" y="35052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248400" y="36576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248400" y="38100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6248400" y="39624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248400" y="41148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248400" y="42672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6248400" y="44196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248400" y="45720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248400" y="48006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248400" y="49530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248400" y="51054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248400" y="5257800"/>
              <a:ext cx="2438400" cy="7620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i-FI" sz="1200"/>
            </a:p>
          </p:txBody>
        </p:sp>
        <p:cxnSp>
          <p:nvCxnSpPr>
            <p:cNvPr id="49" name="Straight Connector 48"/>
            <p:cNvCxnSpPr/>
            <p:nvPr/>
          </p:nvCxnSpPr>
          <p:spPr>
            <a:xfrm>
              <a:off x="5334000" y="4724400"/>
              <a:ext cx="3429000" cy="0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4863443" y="4763870"/>
              <a:ext cx="1384958" cy="934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sz="1200" dirty="0"/>
                <a:t>Out of budget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648200" y="2438400"/>
              <a:ext cx="1371600" cy="969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sz="1200" dirty="0"/>
                <a:t>Next in importance!</a:t>
              </a:r>
            </a:p>
          </p:txBody>
        </p:sp>
        <p:cxnSp>
          <p:nvCxnSpPr>
            <p:cNvPr id="52" name="Straight Arrow Connector 51"/>
            <p:cNvCxnSpPr/>
            <p:nvPr/>
          </p:nvCxnSpPr>
          <p:spPr>
            <a:xfrm>
              <a:off x="5791200" y="2590800"/>
              <a:ext cx="3810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61"/>
          <p:cNvGrpSpPr/>
          <p:nvPr/>
        </p:nvGrpSpPr>
        <p:grpSpPr>
          <a:xfrm>
            <a:off x="1527448" y="4419601"/>
            <a:ext cx="3200400" cy="1526973"/>
            <a:chOff x="3432448" y="5254823"/>
            <a:chExt cx="3200400" cy="1526973"/>
          </a:xfrm>
        </p:grpSpPr>
        <p:grpSp>
          <p:nvGrpSpPr>
            <p:cNvPr id="17" name="Group 52"/>
            <p:cNvGrpSpPr/>
            <p:nvPr/>
          </p:nvGrpSpPr>
          <p:grpSpPr>
            <a:xfrm>
              <a:off x="3733800" y="5638797"/>
              <a:ext cx="1524000" cy="1142999"/>
              <a:chOff x="457200" y="4038600"/>
              <a:chExt cx="1981200" cy="1524000"/>
            </a:xfrm>
          </p:grpSpPr>
          <p:sp>
            <p:nvSpPr>
              <p:cNvPr id="54" name="Rectangle 53"/>
              <p:cNvSpPr/>
              <p:nvPr/>
            </p:nvSpPr>
            <p:spPr>
              <a:xfrm>
                <a:off x="914400" y="4038600"/>
                <a:ext cx="1524000" cy="1066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762000" y="4191000"/>
                <a:ext cx="1524000" cy="1066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609600" y="4343400"/>
                <a:ext cx="1524000" cy="1066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457200" y="4495800"/>
                <a:ext cx="1524000" cy="1066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533400" y="4724400"/>
                <a:ext cx="1295400" cy="76200"/>
              </a:xfrm>
              <a:prstGeom prst="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i-FI" sz="1400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685800" y="4800601"/>
                <a:ext cx="14807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i-FI" sz="1200" dirty="0"/>
                  <a:t>#, ?, x, +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685800" y="5105405"/>
                <a:ext cx="14807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i-FI" sz="1200" dirty="0"/>
                  <a:t>20:20:60</a:t>
                </a:r>
                <a:endParaRPr lang="fi-FI" sz="1400" dirty="0"/>
              </a:p>
            </p:txBody>
          </p:sp>
        </p:grpSp>
        <p:sp>
          <p:nvSpPr>
            <p:cNvPr id="61" name="TextBox 60"/>
            <p:cNvSpPr txBox="1"/>
            <p:nvPr/>
          </p:nvSpPr>
          <p:spPr>
            <a:xfrm>
              <a:off x="3432448" y="5254823"/>
              <a:ext cx="3200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i-FI" sz="1400" b="1" dirty="0"/>
                <a:t>Session sheets of the past testing</a:t>
              </a:r>
            </a:p>
          </p:txBody>
        </p:sp>
      </p:grpSp>
      <p:sp>
        <p:nvSpPr>
          <p:cNvPr id="63" name="Cloud 62"/>
          <p:cNvSpPr/>
          <p:nvPr/>
        </p:nvSpPr>
        <p:spPr>
          <a:xfrm>
            <a:off x="6705600" y="5638800"/>
            <a:ext cx="2126704" cy="838200"/>
          </a:xfrm>
          <a:prstGeom prst="cloud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/>
              <a:t>Idea of exploration</a:t>
            </a:r>
          </a:p>
        </p:txBody>
      </p:sp>
      <p:cxnSp>
        <p:nvCxnSpPr>
          <p:cNvPr id="64" name="Straight Arrow Connector 63"/>
          <p:cNvCxnSpPr/>
          <p:nvPr/>
        </p:nvCxnSpPr>
        <p:spPr>
          <a:xfrm rot="10800000">
            <a:off x="6477000" y="5410200"/>
            <a:ext cx="381000" cy="304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rot="10800000" flipV="1">
            <a:off x="6477000" y="6477000"/>
            <a:ext cx="381000" cy="152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1600200" y="3810000"/>
            <a:ext cx="1399456" cy="533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dirty="0"/>
              <a:t>Metrics summary</a:t>
            </a:r>
          </a:p>
        </p:txBody>
      </p:sp>
      <p:sp>
        <p:nvSpPr>
          <p:cNvPr id="66" name="Cloud Callout 65"/>
          <p:cNvSpPr/>
          <p:nvPr/>
        </p:nvSpPr>
        <p:spPr>
          <a:xfrm>
            <a:off x="192467" y="1618029"/>
            <a:ext cx="1399456" cy="838200"/>
          </a:xfrm>
          <a:prstGeom prst="cloudCallout">
            <a:avLst>
              <a:gd name="adj1" fmla="val 69344"/>
              <a:gd name="adj2" fmla="val 6287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1400" dirty="0"/>
              <a:t>Coaching</a:t>
            </a:r>
          </a:p>
        </p:txBody>
      </p:sp>
      <p:sp>
        <p:nvSpPr>
          <p:cNvPr id="70" name="Folded Corner 69"/>
          <p:cNvSpPr/>
          <p:nvPr/>
        </p:nvSpPr>
        <p:spPr>
          <a:xfrm>
            <a:off x="1847528" y="6021288"/>
            <a:ext cx="1512168" cy="360040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1600" dirty="0"/>
              <a:t>Playbooks</a:t>
            </a:r>
            <a:endParaRPr lang="fi-FI" dirty="0"/>
          </a:p>
        </p:txBody>
      </p:sp>
      <p:sp>
        <p:nvSpPr>
          <p:cNvPr id="69" name="Folded Corner 69"/>
          <p:cNvSpPr/>
          <p:nvPr/>
        </p:nvSpPr>
        <p:spPr>
          <a:xfrm>
            <a:off x="1847528" y="6453336"/>
            <a:ext cx="1512168" cy="360040"/>
          </a:xfrm>
          <a:prstGeom prst="foldedCorner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i-FI" sz="1200" dirty="0"/>
              <a:t>Coverage outlines</a:t>
            </a:r>
          </a:p>
        </p:txBody>
      </p:sp>
    </p:spTree>
    <p:extLst>
      <p:ext uri="{BB962C8B-B14F-4D97-AF65-F5344CB8AC3E}">
        <p14:creationId xmlns:p14="http://schemas.microsoft.com/office/powerpoint/2010/main" val="14475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/>
              <a:t>The Pieces in Management Framework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/>
              <a:t>A </a:t>
            </a:r>
            <a:r>
              <a:rPr lang="fi-FI" u="sng" dirty="0"/>
              <a:t>disciplined tester</a:t>
            </a:r>
            <a:r>
              <a:rPr lang="fi-FI" dirty="0"/>
              <a:t> replanning on various levels</a:t>
            </a:r>
          </a:p>
          <a:p>
            <a:r>
              <a:rPr lang="fi-FI" u="sng" dirty="0"/>
              <a:t>Session</a:t>
            </a:r>
            <a:r>
              <a:rPr lang="fi-FI" dirty="0"/>
              <a:t> with </a:t>
            </a:r>
            <a:r>
              <a:rPr lang="fi-FI" u="sng" dirty="0"/>
              <a:t>charter</a:t>
            </a:r>
            <a:r>
              <a:rPr lang="fi-FI" dirty="0"/>
              <a:t> that provides a </a:t>
            </a:r>
            <a:r>
              <a:rPr lang="fi-FI" u="sng" dirty="0"/>
              <a:t>report</a:t>
            </a:r>
            <a:r>
              <a:rPr lang="fi-FI" dirty="0"/>
              <a:t> </a:t>
            </a:r>
          </a:p>
          <a:p>
            <a:r>
              <a:rPr lang="fi-FI" dirty="0"/>
              <a:t>Classification of information created as </a:t>
            </a:r>
            <a:r>
              <a:rPr lang="fi-FI" u="sng" dirty="0"/>
              <a:t>metrics</a:t>
            </a:r>
          </a:p>
          <a:p>
            <a:r>
              <a:rPr lang="fi-FI" u="sng" dirty="0"/>
              <a:t>Prioritizing</a:t>
            </a:r>
            <a:r>
              <a:rPr lang="fi-FI" dirty="0"/>
              <a:t> of what test idea comes next</a:t>
            </a:r>
          </a:p>
          <a:p>
            <a:r>
              <a:rPr lang="fi-FI" dirty="0"/>
              <a:t>Supporting reporting by </a:t>
            </a:r>
            <a:r>
              <a:rPr lang="fi-FI" u="sng" dirty="0"/>
              <a:t>debriefing</a:t>
            </a:r>
          </a:p>
          <a:p>
            <a:r>
              <a:rPr lang="fi-FI" dirty="0"/>
              <a:t>Supporting skills development by </a:t>
            </a:r>
            <a:r>
              <a:rPr lang="fi-FI" u="sng" dirty="0"/>
              <a:t>coaching</a:t>
            </a:r>
            <a:r>
              <a:rPr lang="fi-FI" dirty="0"/>
              <a:t> or </a:t>
            </a:r>
            <a:r>
              <a:rPr lang="fi-FI" u="sng" dirty="0"/>
              <a:t>pairing</a:t>
            </a:r>
          </a:p>
          <a:p>
            <a:r>
              <a:rPr lang="fi-FI" dirty="0"/>
              <a:t>Creating a combined judgement of quality by </a:t>
            </a:r>
            <a:r>
              <a:rPr lang="fi-FI" u="sng" dirty="0"/>
              <a:t>quality reporting</a:t>
            </a:r>
          </a:p>
        </p:txBody>
      </p:sp>
    </p:spTree>
    <p:extLst>
      <p:ext uri="{BB962C8B-B14F-4D97-AF65-F5344CB8AC3E}">
        <p14:creationId xmlns:p14="http://schemas.microsoft.com/office/powerpoint/2010/main" val="3983502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2BFF6339-18A0-409D-BAC3-5ADBB9D009A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9"/>
            <a:ext cx="12192000" cy="68552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D681B70-8F43-4E76-A17E-66C6D7ACEE0B}"/>
              </a:ext>
            </a:extLst>
          </p:cNvPr>
          <p:cNvSpPr/>
          <p:nvPr/>
        </p:nvSpPr>
        <p:spPr>
          <a:xfrm>
            <a:off x="8153400" y="3863038"/>
            <a:ext cx="4038600" cy="2993572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Feedback on Results</a:t>
            </a:r>
          </a:p>
          <a:p>
            <a:pPr algn="ctr"/>
            <a:r>
              <a:rPr lang="en-US" sz="4400" dirty="0"/>
              <a:t>5 </a:t>
            </a:r>
            <a:r>
              <a:rPr lang="en-US" sz="4400" dirty="0">
                <a:sym typeface="Wingdings" panose="05000000000000000000" pitchFamily="2" charset="2"/>
              </a:rPr>
              <a:t> 29 bugs found</a:t>
            </a:r>
            <a:endParaRPr lang="en-US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1D95B-CB13-4F3F-826D-D8D81779BD55}"/>
              </a:ext>
            </a:extLst>
          </p:cNvPr>
          <p:cNvSpPr txBox="1"/>
          <p:nvPr/>
        </p:nvSpPr>
        <p:spPr>
          <a:xfrm rot="16200000">
            <a:off x="-2604408" y="2422463"/>
            <a:ext cx="6242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https://www.youtube.com/watch?v=KnKwB_WERtc</a:t>
            </a:r>
          </a:p>
        </p:txBody>
      </p:sp>
    </p:spTree>
    <p:extLst>
      <p:ext uri="{BB962C8B-B14F-4D97-AF65-F5344CB8AC3E}">
        <p14:creationId xmlns:p14="http://schemas.microsoft.com/office/powerpoint/2010/main" val="2121978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8327E-5E78-4631-927B-0FBE87AEF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926" y="257907"/>
            <a:ext cx="7449253" cy="63421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C8BC8E-7635-436E-A727-3D6C51B9EEF2}"/>
              </a:ext>
            </a:extLst>
          </p:cNvPr>
          <p:cNvSpPr txBox="1"/>
          <p:nvPr/>
        </p:nvSpPr>
        <p:spPr>
          <a:xfrm rot="16200000">
            <a:off x="8449071" y="2324022"/>
            <a:ext cx="527900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KG No Matter What" panose="02000507000000020003" pitchFamily="2" charset="0"/>
              </a:rPr>
              <a:t>An </a:t>
            </a:r>
            <a:r>
              <a:rPr lang="en-US" sz="8000" dirty="0">
                <a:solidFill>
                  <a:srgbClr val="01CE7D"/>
                </a:solidFill>
                <a:latin typeface="KG No Matter What" panose="02000507000000020003" pitchFamily="2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683685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2C540E-341F-6CE7-629D-7B1D85C7A818}"/>
              </a:ext>
            </a:extLst>
          </p:cNvPr>
          <p:cNvCxnSpPr/>
          <p:nvPr/>
        </p:nvCxnSpPr>
        <p:spPr>
          <a:xfrm>
            <a:off x="6096000" y="731520"/>
            <a:ext cx="0" cy="5184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886D9C3-5C5A-1D15-AB6F-EA52CFF592FA}"/>
              </a:ext>
            </a:extLst>
          </p:cNvPr>
          <p:cNvSpPr txBox="1"/>
          <p:nvPr/>
        </p:nvSpPr>
        <p:spPr>
          <a:xfrm>
            <a:off x="2226366" y="731520"/>
            <a:ext cx="16914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6600" dirty="0"/>
              <a:t>Solo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BB3B8-3A64-1F74-1E09-2EC9E70941F9}"/>
              </a:ext>
            </a:extLst>
          </p:cNvPr>
          <p:cNvSpPr txBox="1"/>
          <p:nvPr/>
        </p:nvSpPr>
        <p:spPr>
          <a:xfrm>
            <a:off x="7873118" y="787179"/>
            <a:ext cx="34291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6600" dirty="0"/>
              <a:t>Ensemble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18812C-8B5C-3FC5-971D-C84BD21FC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461" y="1895175"/>
            <a:ext cx="5563370" cy="47384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2E8DF1-5B99-D51F-2A55-2C45AC7F6948}"/>
              </a:ext>
            </a:extLst>
          </p:cNvPr>
          <p:cNvSpPr txBox="1"/>
          <p:nvPr/>
        </p:nvSpPr>
        <p:spPr>
          <a:xfrm>
            <a:off x="9355854" y="2601043"/>
            <a:ext cx="27095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>
                <a:solidFill>
                  <a:schemeClr val="bg1"/>
                </a:solidFill>
              </a:rPr>
              <a:t>19/23 bugs</a:t>
            </a:r>
          </a:p>
          <a:p>
            <a:r>
              <a:rPr lang="en-FI" sz="2400" dirty="0">
                <a:solidFill>
                  <a:schemeClr val="bg1"/>
                </a:solidFill>
              </a:rPr>
              <a:t>15 bugs with TA</a:t>
            </a:r>
          </a:p>
          <a:p>
            <a:r>
              <a:rPr lang="en-FI" sz="2400" dirty="0">
                <a:solidFill>
                  <a:schemeClr val="bg1"/>
                </a:solidFill>
              </a:rPr>
              <a:t> 21 TA x 3 browsers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C591C4-3144-8C91-E706-EAC431511B07}"/>
              </a:ext>
            </a:extLst>
          </p:cNvPr>
          <p:cNvSpPr txBox="1"/>
          <p:nvPr/>
        </p:nvSpPr>
        <p:spPr>
          <a:xfrm>
            <a:off x="1150430" y="2554877"/>
            <a:ext cx="31375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2400" dirty="0"/>
              <a:t>2/23 bugs</a:t>
            </a:r>
          </a:p>
          <a:p>
            <a:r>
              <a:rPr lang="en-FI" sz="2400" dirty="0"/>
              <a:t>1-4 TA x single browser</a:t>
            </a:r>
          </a:p>
        </p:txBody>
      </p:sp>
    </p:spTree>
    <p:extLst>
      <p:ext uri="{BB962C8B-B14F-4D97-AF65-F5344CB8AC3E}">
        <p14:creationId xmlns:p14="http://schemas.microsoft.com/office/powerpoint/2010/main" val="2616326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29AB9245-1BEA-FCAD-0E8B-8D3BFB75BF90}"/>
              </a:ext>
            </a:extLst>
          </p:cNvPr>
          <p:cNvGrpSpPr/>
          <p:nvPr/>
        </p:nvGrpSpPr>
        <p:grpSpPr>
          <a:xfrm>
            <a:off x="297109" y="1844856"/>
            <a:ext cx="7785346" cy="923330"/>
            <a:chOff x="297109" y="1844856"/>
            <a:chExt cx="7785346" cy="92333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4D7E192-0CBA-005D-021A-9168937F89BE}"/>
                </a:ext>
              </a:extLst>
            </p:cNvPr>
            <p:cNvCxnSpPr>
              <a:cxnSpLocks/>
            </p:cNvCxnSpPr>
            <p:nvPr/>
          </p:nvCxnSpPr>
          <p:spPr>
            <a:xfrm>
              <a:off x="2795752" y="2257286"/>
              <a:ext cx="5286703" cy="0"/>
            </a:xfrm>
            <a:prstGeom prst="line">
              <a:avLst/>
            </a:prstGeom>
            <a:ln>
              <a:solidFill>
                <a:schemeClr val="accent2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12FD5F8-5228-9DF9-1D95-C3713B12C830}"/>
                </a:ext>
              </a:extLst>
            </p:cNvPr>
            <p:cNvSpPr txBox="1"/>
            <p:nvPr/>
          </p:nvSpPr>
          <p:spPr>
            <a:xfrm>
              <a:off x="297109" y="1844856"/>
              <a:ext cx="214129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dirty="0"/>
                <a:t>Stakeholders happy, </a:t>
              </a:r>
              <a:br>
                <a:rPr lang="en-FI" dirty="0"/>
              </a:br>
              <a:r>
                <a:rPr lang="en-FI" dirty="0"/>
                <a:t>even delighted </a:t>
              </a:r>
            </a:p>
            <a:p>
              <a:r>
                <a:rPr lang="en-FI" dirty="0"/>
                <a:t>–Quality Information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0D61A9A-05FB-9411-11D7-FC2DE2C341A6}"/>
              </a:ext>
            </a:extLst>
          </p:cNvPr>
          <p:cNvGrpSpPr/>
          <p:nvPr/>
        </p:nvGrpSpPr>
        <p:grpSpPr>
          <a:xfrm>
            <a:off x="297109" y="3340642"/>
            <a:ext cx="7822135" cy="646331"/>
            <a:chOff x="297109" y="3340642"/>
            <a:chExt cx="7822135" cy="64633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C8F388A-C889-BEA8-4FBB-F953ABC4BBC1}"/>
                </a:ext>
              </a:extLst>
            </p:cNvPr>
            <p:cNvCxnSpPr>
              <a:cxnSpLocks/>
            </p:cNvCxnSpPr>
            <p:nvPr/>
          </p:nvCxnSpPr>
          <p:spPr>
            <a:xfrm>
              <a:off x="2832541" y="3805126"/>
              <a:ext cx="5286703" cy="0"/>
            </a:xfrm>
            <a:prstGeom prst="line">
              <a:avLst/>
            </a:prstGeom>
            <a:ln>
              <a:solidFill>
                <a:schemeClr val="accent3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A9DD9D-5C4C-1A60-E606-92FBCDDAF26E}"/>
                </a:ext>
              </a:extLst>
            </p:cNvPr>
            <p:cNvSpPr txBox="1"/>
            <p:nvPr/>
          </p:nvSpPr>
          <p:spPr>
            <a:xfrm>
              <a:off x="297109" y="3340642"/>
              <a:ext cx="21412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dirty="0"/>
                <a:t>Good Team’s Output</a:t>
              </a:r>
            </a:p>
            <a:p>
              <a:r>
                <a:rPr lang="en-FI" dirty="0"/>
                <a:t>–Quality Information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3642417-177C-65F0-3418-E2F9D68E861C}"/>
              </a:ext>
            </a:extLst>
          </p:cNvPr>
          <p:cNvGrpSpPr/>
          <p:nvPr/>
        </p:nvGrpSpPr>
        <p:grpSpPr>
          <a:xfrm>
            <a:off x="297109" y="5217486"/>
            <a:ext cx="7822135" cy="923330"/>
            <a:chOff x="297109" y="5217486"/>
            <a:chExt cx="7822135" cy="92333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389B11C-F3B0-E464-A5E0-062F5BB980BE}"/>
                </a:ext>
              </a:extLst>
            </p:cNvPr>
            <p:cNvCxnSpPr>
              <a:cxnSpLocks/>
            </p:cNvCxnSpPr>
            <p:nvPr/>
          </p:nvCxnSpPr>
          <p:spPr>
            <a:xfrm>
              <a:off x="2832541" y="5679151"/>
              <a:ext cx="5286703" cy="0"/>
            </a:xfrm>
            <a:prstGeom prst="line">
              <a:avLst/>
            </a:prstGeom>
            <a:ln>
              <a:solidFill>
                <a:schemeClr val="accent5"/>
              </a:solidFill>
              <a:prstDash val="dash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5704BE-3700-DDB0-969A-4D4724FFDB9A}"/>
                </a:ext>
              </a:extLst>
            </p:cNvPr>
            <p:cNvSpPr txBox="1"/>
            <p:nvPr/>
          </p:nvSpPr>
          <p:spPr>
            <a:xfrm>
              <a:off x="297109" y="5217486"/>
              <a:ext cx="214129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dirty="0"/>
                <a:t>Less than Good </a:t>
              </a:r>
              <a:br>
                <a:rPr lang="en-FI" dirty="0"/>
              </a:br>
              <a:r>
                <a:rPr lang="en-FI" dirty="0"/>
                <a:t>Team’s Output</a:t>
              </a:r>
            </a:p>
            <a:p>
              <a:r>
                <a:rPr lang="en-FI" dirty="0"/>
                <a:t>–Quality Information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FAC6F70-6A35-0E00-CD0D-C06D5EEF6B01}"/>
              </a:ext>
            </a:extLst>
          </p:cNvPr>
          <p:cNvGrpSpPr/>
          <p:nvPr/>
        </p:nvGrpSpPr>
        <p:grpSpPr>
          <a:xfrm>
            <a:off x="4792717" y="2257286"/>
            <a:ext cx="7054575" cy="1545021"/>
            <a:chOff x="4792717" y="2257286"/>
            <a:chExt cx="7054575" cy="154502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5BAC661-B4AE-F2DA-E779-6824ECD7C31C}"/>
                </a:ext>
              </a:extLst>
            </p:cNvPr>
            <p:cNvSpPr txBox="1"/>
            <p:nvPr/>
          </p:nvSpPr>
          <p:spPr>
            <a:xfrm>
              <a:off x="9670414" y="2768186"/>
              <a:ext cx="21768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sz="2800" b="1" dirty="0">
                  <a:solidFill>
                    <a:srgbClr val="00B050"/>
                  </a:solidFill>
                </a:rPr>
                <a:t>Results Gap</a:t>
              </a:r>
            </a:p>
          </p:txBody>
        </p:sp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42619699-BF7E-45A2-217B-E41CBFD8170E}"/>
                </a:ext>
              </a:extLst>
            </p:cNvPr>
            <p:cNvSpPr/>
            <p:nvPr/>
          </p:nvSpPr>
          <p:spPr>
            <a:xfrm>
              <a:off x="8439806" y="2257286"/>
              <a:ext cx="1061545" cy="1545021"/>
            </a:xfrm>
            <a:prstGeom prst="rightBrac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FI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B453BE-0A0B-BE4D-50F5-323EC3F028A8}"/>
                </a:ext>
              </a:extLst>
            </p:cNvPr>
            <p:cNvSpPr txBox="1"/>
            <p:nvPr/>
          </p:nvSpPr>
          <p:spPr>
            <a:xfrm>
              <a:off x="4792717" y="2846540"/>
              <a:ext cx="10100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i="1" dirty="0"/>
                <a:t>Surprise!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6432F6C-20AE-68C9-E456-F3EB515B2133}"/>
              </a:ext>
            </a:extLst>
          </p:cNvPr>
          <p:cNvGrpSpPr/>
          <p:nvPr/>
        </p:nvGrpSpPr>
        <p:grpSpPr>
          <a:xfrm>
            <a:off x="4112810" y="2215243"/>
            <a:ext cx="8015327" cy="3421860"/>
            <a:chOff x="4112810" y="2215243"/>
            <a:chExt cx="8015327" cy="3421860"/>
          </a:xfrm>
        </p:grpSpPr>
        <p:sp>
          <p:nvSpPr>
            <p:cNvPr id="14" name="Right Brace 13">
              <a:extLst>
                <a:ext uri="{FF2B5EF4-FFF2-40B4-BE49-F238E27FC236}">
                  <a16:creationId xmlns:a16="http://schemas.microsoft.com/office/drawing/2014/main" id="{0E328DCB-B33E-11DC-723D-AFCB386F7D4F}"/>
                </a:ext>
              </a:extLst>
            </p:cNvPr>
            <p:cNvSpPr/>
            <p:nvPr/>
          </p:nvSpPr>
          <p:spPr>
            <a:xfrm>
              <a:off x="8445060" y="2215243"/>
              <a:ext cx="1061545" cy="3421860"/>
            </a:xfrm>
            <a:prstGeom prst="rightBrace">
              <a:avLst>
                <a:gd name="adj1" fmla="val 8333"/>
                <a:gd name="adj2" fmla="val 68122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FI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9B3976-BCB8-9BC3-4541-5C39EC5DFB0D}"/>
                </a:ext>
              </a:extLst>
            </p:cNvPr>
            <p:cNvSpPr txBox="1"/>
            <p:nvPr/>
          </p:nvSpPr>
          <p:spPr>
            <a:xfrm>
              <a:off x="9670413" y="4240592"/>
              <a:ext cx="2457724" cy="11387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sz="2800" dirty="0">
                  <a:solidFill>
                    <a:schemeClr val="accent6"/>
                  </a:solidFill>
                </a:rPr>
                <a:t>Results Gap</a:t>
              </a:r>
              <a:br>
                <a:rPr lang="en-FI" sz="2800" dirty="0"/>
              </a:br>
              <a:r>
                <a:rPr lang="en-FI" sz="2000" dirty="0"/>
                <a:t>on a Team that thinks </a:t>
              </a:r>
            </a:p>
            <a:p>
              <a:r>
                <a:rPr lang="en-FI" sz="2000" dirty="0"/>
                <a:t>Testers == Testing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29D106D-2D17-62D8-5FDE-5581C119F958}"/>
                </a:ext>
              </a:extLst>
            </p:cNvPr>
            <p:cNvSpPr txBox="1"/>
            <p:nvPr/>
          </p:nvSpPr>
          <p:spPr>
            <a:xfrm>
              <a:off x="4112810" y="4625312"/>
              <a:ext cx="2536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FI" i="1" dirty="0"/>
                <a:t>Pick up the pizza boxes… 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73CBD95-0395-ABCE-EFB6-96578FDB5B26}"/>
              </a:ext>
            </a:extLst>
          </p:cNvPr>
          <p:cNvSpPr txBox="1"/>
          <p:nvPr/>
        </p:nvSpPr>
        <p:spPr>
          <a:xfrm>
            <a:off x="178676" y="350778"/>
            <a:ext cx="1186617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i-FI" sz="4400" dirty="0">
                <a:latin typeface="KG No Matter What" panose="02000507000000020003" pitchFamily="2" charset="77"/>
              </a:rPr>
              <a:t>”Find (some of) What Others May Have </a:t>
            </a:r>
            <a:r>
              <a:rPr lang="fi-FI" sz="4400" dirty="0">
                <a:solidFill>
                  <a:schemeClr val="accent6"/>
                </a:solidFill>
                <a:latin typeface="KG No Matter What" panose="02000507000000020003" pitchFamily="2" charset="77"/>
              </a:rPr>
              <a:t>Missed</a:t>
            </a:r>
            <a:r>
              <a:rPr lang="fi-FI" sz="4400" dirty="0">
                <a:latin typeface="KG No Matter What" panose="02000507000000020003" pitchFamily="2" charset="77"/>
              </a:rPr>
              <a:t>”</a:t>
            </a:r>
            <a:endParaRPr lang="en-US" sz="4400" dirty="0">
              <a:latin typeface="KG No Matter What" panose="02000507000000020003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2285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F99CE0-0397-2693-7FF7-3652861A97ED}"/>
              </a:ext>
            </a:extLst>
          </p:cNvPr>
          <p:cNvSpPr txBox="1"/>
          <p:nvPr/>
        </p:nvSpPr>
        <p:spPr>
          <a:xfrm>
            <a:off x="384773" y="706355"/>
            <a:ext cx="111521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8000" dirty="0">
                <a:latin typeface="Gill Sans MT" panose="020B0502020104020203" pitchFamily="34" charset="77"/>
              </a:rPr>
              <a:t>Discuss: How You Manage Exploratory Testing?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EC5EE-1711-7F3F-3B07-AF44735542BB}"/>
              </a:ext>
            </a:extLst>
          </p:cNvPr>
          <p:cNvSpPr txBox="1"/>
          <p:nvPr/>
        </p:nvSpPr>
        <p:spPr>
          <a:xfrm>
            <a:off x="2687541" y="3745064"/>
            <a:ext cx="605293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Y</a:t>
            </a:r>
            <a:r>
              <a:rPr lang="en-FI" sz="2800" dirty="0"/>
              <a:t>our 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I" sz="2800" dirty="0"/>
              <a:t>Single team of testers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I" sz="2800" dirty="0"/>
              <a:t>Single team with embedded testers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I" sz="2800" dirty="0"/>
              <a:t>Multiple teams with embedded testers</a:t>
            </a:r>
          </a:p>
        </p:txBody>
      </p:sp>
    </p:spTree>
    <p:extLst>
      <p:ext uri="{BB962C8B-B14F-4D97-AF65-F5344CB8AC3E}">
        <p14:creationId xmlns:p14="http://schemas.microsoft.com/office/powerpoint/2010/main" val="2282199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9BA59A1-43CF-830E-A2BF-51FB0082C1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37" b="4628"/>
          <a:stretch/>
        </p:blipFill>
        <p:spPr>
          <a:xfrm>
            <a:off x="0" y="19250"/>
            <a:ext cx="12192000" cy="68435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812344-1172-B88A-7525-39D98EB9B7D4}"/>
              </a:ext>
            </a:extLst>
          </p:cNvPr>
          <p:cNvSpPr txBox="1"/>
          <p:nvPr/>
        </p:nvSpPr>
        <p:spPr>
          <a:xfrm>
            <a:off x="269508" y="137780"/>
            <a:ext cx="85785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FI" sz="2800" dirty="0">
                <a:solidFill>
                  <a:schemeClr val="accent6"/>
                </a:solidFill>
              </a:rPr>
              <a:t>https://www.youtube.com/watch?v=WQnU2NkiIOw</a:t>
            </a:r>
          </a:p>
        </p:txBody>
      </p:sp>
    </p:spTree>
    <p:extLst>
      <p:ext uri="{BB962C8B-B14F-4D97-AF65-F5344CB8AC3E}">
        <p14:creationId xmlns:p14="http://schemas.microsoft.com/office/powerpoint/2010/main" val="1283065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F6E9A0-22CE-4DD4-9795-9AAB13C2B40F}"/>
              </a:ext>
            </a:extLst>
          </p:cNvPr>
          <p:cNvSpPr txBox="1"/>
          <p:nvPr/>
        </p:nvSpPr>
        <p:spPr>
          <a:xfrm>
            <a:off x="2219297" y="1157282"/>
            <a:ext cx="77534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KG No Matter What" panose="02000507000000020003" pitchFamily="2" charset="0"/>
              </a:rPr>
              <a:t>Exploratory Testing </a:t>
            </a:r>
            <a:r>
              <a:rPr lang="en-US" sz="8000" dirty="0">
                <a:solidFill>
                  <a:schemeClr val="accent2"/>
                </a:solidFill>
                <a:latin typeface="KG No Matter What" panose="02000507000000020003" pitchFamily="2" charset="0"/>
              </a:rPr>
              <a:t>the Verb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9827D0-C1FC-4703-AE88-53156407FD6F}"/>
              </a:ext>
            </a:extLst>
          </p:cNvPr>
          <p:cNvGrpSpPr/>
          <p:nvPr/>
        </p:nvGrpSpPr>
        <p:grpSpPr>
          <a:xfrm>
            <a:off x="980660" y="3861378"/>
            <a:ext cx="10204174" cy="1385740"/>
            <a:chOff x="1443869" y="3861378"/>
            <a:chExt cx="6561059" cy="138574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2999497-8F28-46C6-B908-CD049ADA2212}"/>
                </a:ext>
              </a:extLst>
            </p:cNvPr>
            <p:cNvSpPr/>
            <p:nvPr/>
          </p:nvSpPr>
          <p:spPr>
            <a:xfrm>
              <a:off x="3696877" y="3861378"/>
              <a:ext cx="2055043" cy="1385740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Doing Testing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EF075890-B8A9-48CB-9870-72B2F455F16D}"/>
                </a:ext>
              </a:extLst>
            </p:cNvPr>
            <p:cNvSpPr/>
            <p:nvPr/>
          </p:nvSpPr>
          <p:spPr>
            <a:xfrm>
              <a:off x="1443869" y="4046790"/>
              <a:ext cx="2055043" cy="1038050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INPUT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3AAB1BF3-F17B-494C-B521-DE91DFD7C9FC}"/>
                </a:ext>
              </a:extLst>
            </p:cNvPr>
            <p:cNvSpPr/>
            <p:nvPr/>
          </p:nvSpPr>
          <p:spPr>
            <a:xfrm>
              <a:off x="5949885" y="4046790"/>
              <a:ext cx="2055043" cy="1038050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7575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C1B90EA-6495-A2FA-F0B2-787C5939F080}"/>
              </a:ext>
            </a:extLst>
          </p:cNvPr>
          <p:cNvSpPr/>
          <p:nvPr/>
        </p:nvSpPr>
        <p:spPr>
          <a:xfrm>
            <a:off x="153528" y="3487675"/>
            <a:ext cx="11860132" cy="222636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FI" sz="2800" dirty="0"/>
              <a:t>Organization’s Expectations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F6E9A0-22CE-4DD4-9795-9AAB13C2B40F}"/>
              </a:ext>
            </a:extLst>
          </p:cNvPr>
          <p:cNvSpPr txBox="1"/>
          <p:nvPr/>
        </p:nvSpPr>
        <p:spPr>
          <a:xfrm>
            <a:off x="2219297" y="1157282"/>
            <a:ext cx="77534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KG No Matter What" panose="02000507000000020003" pitchFamily="2" charset="0"/>
              </a:rPr>
              <a:t>Exploratory Testing </a:t>
            </a:r>
            <a:r>
              <a:rPr lang="en-US" sz="8000" dirty="0">
                <a:solidFill>
                  <a:schemeClr val="accent1"/>
                </a:solidFill>
                <a:latin typeface="KG No Matter What" panose="02000507000000020003" pitchFamily="2" charset="0"/>
              </a:rPr>
              <a:t>the Noun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89827D0-C1FC-4703-AE88-53156407FD6F}"/>
              </a:ext>
            </a:extLst>
          </p:cNvPr>
          <p:cNvGrpSpPr/>
          <p:nvPr/>
        </p:nvGrpSpPr>
        <p:grpSpPr>
          <a:xfrm>
            <a:off x="980660" y="3861378"/>
            <a:ext cx="10204174" cy="1385740"/>
            <a:chOff x="1443869" y="3861378"/>
            <a:chExt cx="6561059" cy="138574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2999497-8F28-46C6-B908-CD049ADA2212}"/>
                </a:ext>
              </a:extLst>
            </p:cNvPr>
            <p:cNvSpPr/>
            <p:nvPr/>
          </p:nvSpPr>
          <p:spPr>
            <a:xfrm>
              <a:off x="3696877" y="3861378"/>
              <a:ext cx="2055043" cy="1385740"/>
            </a:xfrm>
            <a:prstGeom prst="round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Doing Testing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EF075890-B8A9-48CB-9870-72B2F455F16D}"/>
                </a:ext>
              </a:extLst>
            </p:cNvPr>
            <p:cNvSpPr/>
            <p:nvPr/>
          </p:nvSpPr>
          <p:spPr>
            <a:xfrm>
              <a:off x="1443869" y="4046790"/>
              <a:ext cx="2055043" cy="1038050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INPUT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3AAB1BF3-F17B-494C-B521-DE91DFD7C9FC}"/>
                </a:ext>
              </a:extLst>
            </p:cNvPr>
            <p:cNvSpPr/>
            <p:nvPr/>
          </p:nvSpPr>
          <p:spPr>
            <a:xfrm>
              <a:off x="5949885" y="4046790"/>
              <a:ext cx="2055043" cy="1038050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OUTPUT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2545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FC9354-43D0-2DEE-8D46-7FB6684E4815}"/>
              </a:ext>
            </a:extLst>
          </p:cNvPr>
          <p:cNvSpPr txBox="1"/>
          <p:nvPr/>
        </p:nvSpPr>
        <p:spPr>
          <a:xfrm>
            <a:off x="524786" y="667910"/>
            <a:ext cx="1053044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6600" dirty="0">
                <a:latin typeface="KG No Matter What" panose="02000507000000020003" pitchFamily="2" charset="77"/>
              </a:rPr>
              <a:t>Two </a:t>
            </a:r>
            <a:r>
              <a:rPr lang="en-FI" sz="6600" dirty="0">
                <a:solidFill>
                  <a:schemeClr val="accent2"/>
                </a:solidFill>
                <a:latin typeface="KG No Matter What" panose="02000507000000020003" pitchFamily="2" charset="77"/>
              </a:rPr>
              <a:t>Usual</a:t>
            </a:r>
            <a:r>
              <a:rPr lang="en-FI" sz="6600" dirty="0">
                <a:latin typeface="KG No Matter What" panose="02000507000000020003" pitchFamily="2" charset="77"/>
              </a:rPr>
              <a:t> Ways To Manage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B454D-DF92-F3E5-85A8-BAF872EA1995}"/>
              </a:ext>
            </a:extLst>
          </p:cNvPr>
          <p:cNvSpPr txBox="1"/>
          <p:nvPr/>
        </p:nvSpPr>
        <p:spPr>
          <a:xfrm>
            <a:off x="2129445" y="2282024"/>
            <a:ext cx="83999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400" dirty="0"/>
              <a:t>I) Exploratory Testing Team Sessions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ED08E-E55C-B33B-4157-AF3EB0521512}"/>
              </a:ext>
            </a:extLst>
          </p:cNvPr>
          <p:cNvSpPr txBox="1"/>
          <p:nvPr/>
        </p:nvSpPr>
        <p:spPr>
          <a:xfrm>
            <a:off x="2129445" y="3778195"/>
            <a:ext cx="80301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4400" dirty="0"/>
              <a:t>II) Session-based Test Management</a:t>
            </a:r>
          </a:p>
        </p:txBody>
      </p:sp>
    </p:spTree>
    <p:extLst>
      <p:ext uri="{BB962C8B-B14F-4D97-AF65-F5344CB8AC3E}">
        <p14:creationId xmlns:p14="http://schemas.microsoft.com/office/powerpoint/2010/main" val="137319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9CCA8B8-6A70-40C2-A24E-9026237BF1DA}"/>
              </a:ext>
            </a:extLst>
          </p:cNvPr>
          <p:cNvSpPr txBox="1"/>
          <p:nvPr/>
        </p:nvSpPr>
        <p:spPr>
          <a:xfrm>
            <a:off x="2007704" y="2274838"/>
            <a:ext cx="81765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atin typeface="KG No Matter What" panose="02000507000000020003" pitchFamily="2" charset="0"/>
              </a:rPr>
              <a:t>Optimizing the </a:t>
            </a:r>
            <a:r>
              <a:rPr lang="en-US" sz="8000" dirty="0">
                <a:solidFill>
                  <a:schemeClr val="accent2"/>
                </a:solidFill>
                <a:latin typeface="KG No Matter What" panose="02000507000000020003" pitchFamily="2" charset="0"/>
              </a:rPr>
              <a:t>value of testing</a:t>
            </a:r>
          </a:p>
        </p:txBody>
      </p:sp>
    </p:spTree>
    <p:extLst>
      <p:ext uri="{BB962C8B-B14F-4D97-AF65-F5344CB8AC3E}">
        <p14:creationId xmlns:p14="http://schemas.microsoft.com/office/powerpoint/2010/main" val="214418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F99CE0-0397-2693-7FF7-3652861A97ED}"/>
              </a:ext>
            </a:extLst>
          </p:cNvPr>
          <p:cNvSpPr txBox="1"/>
          <p:nvPr/>
        </p:nvSpPr>
        <p:spPr>
          <a:xfrm>
            <a:off x="4429518" y="1784384"/>
            <a:ext cx="33329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8000" dirty="0">
                <a:solidFill>
                  <a:schemeClr val="accent4"/>
                </a:solidFill>
                <a:latin typeface="KG No Matter What" panose="02000507000000020003" pitchFamily="2" charset="77"/>
              </a:rPr>
              <a:t>Agency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D51D8-7F3E-BEEA-8463-A97F372CC375}"/>
              </a:ext>
            </a:extLst>
          </p:cNvPr>
          <p:cNvSpPr txBox="1"/>
          <p:nvPr/>
        </p:nvSpPr>
        <p:spPr>
          <a:xfrm>
            <a:off x="3046675" y="3429000"/>
            <a:ext cx="609865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power to decide with knowledge and attitude that goes with power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51350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8DCECC-C2AA-4A17-B35B-4F46EE85D7F6}"/>
              </a:ext>
            </a:extLst>
          </p:cNvPr>
          <p:cNvSpPr txBox="1"/>
          <p:nvPr/>
        </p:nvSpPr>
        <p:spPr>
          <a:xfrm>
            <a:off x="2264309" y="560730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Exploratory Testing</a:t>
            </a:r>
            <a:endParaRPr lang="en-US" sz="7200" dirty="0">
              <a:solidFill>
                <a:schemeClr val="accent2"/>
              </a:solidFill>
              <a:latin typeface="KG No Matter What" panose="02000507000000020003" pitchFamily="2" charset="0"/>
            </a:endParaRP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3BACF1F7-9E08-466F-A491-77C16E90727F}"/>
              </a:ext>
            </a:extLst>
          </p:cNvPr>
          <p:cNvSpPr/>
          <p:nvPr/>
        </p:nvSpPr>
        <p:spPr>
          <a:xfrm>
            <a:off x="1890585" y="3139955"/>
            <a:ext cx="3679636" cy="1645920"/>
          </a:xfrm>
          <a:prstGeom prst="cloud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TEST DESIGN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11FF676D-A117-4659-8373-49DD3492AE76}"/>
              </a:ext>
            </a:extLst>
          </p:cNvPr>
          <p:cNvSpPr/>
          <p:nvPr/>
        </p:nvSpPr>
        <p:spPr>
          <a:xfrm>
            <a:off x="6621780" y="3052325"/>
            <a:ext cx="3679632" cy="1645920"/>
          </a:xfrm>
          <a:prstGeom prst="cloud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TEST 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6A3DC2-883A-4D5E-9861-485F4351B2AC}"/>
              </a:ext>
            </a:extLst>
          </p:cNvPr>
          <p:cNvSpPr txBox="1"/>
          <p:nvPr/>
        </p:nvSpPr>
        <p:spPr>
          <a:xfrm>
            <a:off x="5131632" y="4490961"/>
            <a:ext cx="19287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LEARNING, </a:t>
            </a: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AGENCY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02BFCA0-CC30-48CC-B3F8-5F8E61F409A0}"/>
              </a:ext>
            </a:extLst>
          </p:cNvPr>
          <p:cNvSpPr/>
          <p:nvPr/>
        </p:nvSpPr>
        <p:spPr>
          <a:xfrm>
            <a:off x="5793104" y="5446138"/>
            <a:ext cx="605791" cy="375645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D031A-0E63-433F-9B84-31EA392B9B29}"/>
              </a:ext>
            </a:extLst>
          </p:cNvPr>
          <p:cNvSpPr txBox="1"/>
          <p:nvPr/>
        </p:nvSpPr>
        <p:spPr>
          <a:xfrm>
            <a:off x="4434227" y="5992101"/>
            <a:ext cx="3376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IMPACTFUL RESULTS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3C83D67B-A4E4-45FD-80D4-2079B83747D6}"/>
              </a:ext>
            </a:extLst>
          </p:cNvPr>
          <p:cNvSpPr/>
          <p:nvPr/>
        </p:nvSpPr>
        <p:spPr>
          <a:xfrm>
            <a:off x="5730477" y="3566294"/>
            <a:ext cx="320511" cy="53809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6037D00-21C8-4125-A5EA-8EDDE4E37C3A}"/>
              </a:ext>
            </a:extLst>
          </p:cNvPr>
          <p:cNvSpPr/>
          <p:nvPr/>
        </p:nvSpPr>
        <p:spPr>
          <a:xfrm rot="10800000">
            <a:off x="6141013" y="3569849"/>
            <a:ext cx="320511" cy="538096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25069F-5ECF-4143-A466-D10D6CFAA77D}"/>
              </a:ext>
            </a:extLst>
          </p:cNvPr>
          <p:cNvSpPr/>
          <p:nvPr/>
        </p:nvSpPr>
        <p:spPr>
          <a:xfrm>
            <a:off x="4818951" y="3465253"/>
            <a:ext cx="354330" cy="35653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/>
              <a:t>M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07B5A0-E183-4A79-BC9A-8B4A00E37902}"/>
              </a:ext>
            </a:extLst>
          </p:cNvPr>
          <p:cNvSpPr/>
          <p:nvPr/>
        </p:nvSpPr>
        <p:spPr>
          <a:xfrm>
            <a:off x="4698936" y="3920548"/>
            <a:ext cx="354330" cy="35653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/>
              <a:t>A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DAFDF6-847C-4A2C-AC57-EC1F31BEEB6E}"/>
              </a:ext>
            </a:extLst>
          </p:cNvPr>
          <p:cNvSpPr/>
          <p:nvPr/>
        </p:nvSpPr>
        <p:spPr>
          <a:xfrm>
            <a:off x="9509901" y="3286988"/>
            <a:ext cx="354330" cy="35653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/>
              <a:t>M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5204E7-E47D-4A3B-B523-135C590EADF1}"/>
              </a:ext>
            </a:extLst>
          </p:cNvPr>
          <p:cNvSpPr/>
          <p:nvPr/>
        </p:nvSpPr>
        <p:spPr>
          <a:xfrm>
            <a:off x="9389886" y="3742283"/>
            <a:ext cx="354330" cy="356530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/>
              <a:t>A</a:t>
            </a:r>
            <a:endParaRPr lang="en-US" dirty="0"/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5649CD25-5A77-4A67-B5E5-D219EC9FDAEE}"/>
              </a:ext>
            </a:extLst>
          </p:cNvPr>
          <p:cNvSpPr/>
          <p:nvPr/>
        </p:nvSpPr>
        <p:spPr>
          <a:xfrm>
            <a:off x="4339221" y="2012162"/>
            <a:ext cx="3566896" cy="864954"/>
          </a:xfrm>
          <a:prstGeom prst="cloud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 design</a:t>
            </a:r>
          </a:p>
        </p:txBody>
      </p:sp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EE4A60A1-AA31-4499-BC9C-A6784BE0427D}"/>
              </a:ext>
            </a:extLst>
          </p:cNvPr>
          <p:cNvSpPr/>
          <p:nvPr/>
        </p:nvSpPr>
        <p:spPr>
          <a:xfrm rot="5400000">
            <a:off x="5841386" y="3010321"/>
            <a:ext cx="467318" cy="316230"/>
          </a:xfrm>
          <a:prstGeom prst="left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BB169D-79B1-9C8A-9696-DA2583CEE6F3}"/>
              </a:ext>
            </a:extLst>
          </p:cNvPr>
          <p:cNvSpPr txBox="1"/>
          <p:nvPr/>
        </p:nvSpPr>
        <p:spPr>
          <a:xfrm>
            <a:off x="7008934" y="5044257"/>
            <a:ext cx="44877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* power to decide with knowledge and attitude that goes with power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48246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F99CE0-0397-2693-7FF7-3652861A97ED}"/>
              </a:ext>
            </a:extLst>
          </p:cNvPr>
          <p:cNvSpPr txBox="1"/>
          <p:nvPr/>
        </p:nvSpPr>
        <p:spPr>
          <a:xfrm>
            <a:off x="519945" y="722258"/>
            <a:ext cx="111521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I" sz="8000" dirty="0">
                <a:latin typeface="Gill Sans MT" panose="020B0502020104020203" pitchFamily="34" charset="77"/>
              </a:rPr>
              <a:t>Discuss: Do You Have Agency?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EC5EE-1711-7F3F-3B07-AF44735542BB}"/>
              </a:ext>
            </a:extLst>
          </p:cNvPr>
          <p:cNvSpPr txBox="1"/>
          <p:nvPr/>
        </p:nvSpPr>
        <p:spPr>
          <a:xfrm>
            <a:off x="2687541" y="3745064"/>
            <a:ext cx="853047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FI" sz="2800" dirty="0"/>
              <a:t>What organizational expectations remove your agency?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FI" sz="2800" dirty="0"/>
              <a:t>What behaviors you have that increase your agency?</a:t>
            </a:r>
          </a:p>
        </p:txBody>
      </p:sp>
    </p:spTree>
    <p:extLst>
      <p:ext uri="{BB962C8B-B14F-4D97-AF65-F5344CB8AC3E}">
        <p14:creationId xmlns:p14="http://schemas.microsoft.com/office/powerpoint/2010/main" val="4200792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0CDFB0-0EA2-439B-B4C1-48F78C932997}"/>
              </a:ext>
            </a:extLst>
          </p:cNvPr>
          <p:cNvSpPr txBox="1"/>
          <p:nvPr/>
        </p:nvSpPr>
        <p:spPr>
          <a:xfrm>
            <a:off x="2219298" y="514787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Lesson Distilled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CE7FF-AC42-4B65-8163-012DAC0DC792}"/>
              </a:ext>
            </a:extLst>
          </p:cNvPr>
          <p:cNvSpPr txBox="1"/>
          <p:nvPr/>
        </p:nvSpPr>
        <p:spPr>
          <a:xfrm>
            <a:off x="801512" y="2393245"/>
            <a:ext cx="109633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3600" dirty="0"/>
              <a:t>Focus on results (Bugs, Test Automation)</a:t>
            </a:r>
          </a:p>
          <a:p>
            <a:pPr marL="342900" indent="-342900">
              <a:buAutoNum type="arabicParenR"/>
            </a:pPr>
            <a:r>
              <a:rPr lang="en-US" sz="3600" dirty="0"/>
              <a:t>Protect Agency</a:t>
            </a:r>
          </a:p>
          <a:p>
            <a:pPr marL="342900" indent="-342900">
              <a:buAutoNum type="arabicParenR"/>
            </a:pPr>
            <a:r>
              <a:rPr lang="en-US" sz="3600" dirty="0"/>
              <a:t>Limit scope / extend scope through network facilitation</a:t>
            </a:r>
          </a:p>
          <a:p>
            <a:pPr marL="342900" indent="-342900">
              <a:buAutoNum type="arabicParenR"/>
            </a:pPr>
            <a:r>
              <a:rPr lang="en-US" sz="3600" dirty="0"/>
              <a:t>Ideas that Guide Test Design in Scale</a:t>
            </a:r>
          </a:p>
        </p:txBody>
      </p:sp>
    </p:spTree>
    <p:extLst>
      <p:ext uri="{BB962C8B-B14F-4D97-AF65-F5344CB8AC3E}">
        <p14:creationId xmlns:p14="http://schemas.microsoft.com/office/powerpoint/2010/main" val="4060093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F99CE0-0397-2693-7FF7-3652861A97ED}"/>
              </a:ext>
            </a:extLst>
          </p:cNvPr>
          <p:cNvSpPr txBox="1"/>
          <p:nvPr/>
        </p:nvSpPr>
        <p:spPr>
          <a:xfrm>
            <a:off x="946847" y="2555661"/>
            <a:ext cx="107644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I" sz="8000" dirty="0">
                <a:solidFill>
                  <a:schemeClr val="accent4"/>
                </a:solidFill>
                <a:latin typeface="KG No Matter What" panose="02000507000000020003" pitchFamily="2" charset="77"/>
              </a:rPr>
              <a:t>Good Neighbor </a:t>
            </a:r>
            <a:r>
              <a:rPr lang="en-FI" sz="8000" dirty="0">
                <a:latin typeface="KG No Matter What" panose="02000507000000020003" pitchFamily="2" charset="77"/>
              </a:rPr>
              <a:t>Principle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BAADE-A335-4E2D-0955-2E894DD1E881}"/>
              </a:ext>
            </a:extLst>
          </p:cNvPr>
          <p:cNvSpPr txBox="1"/>
          <p:nvPr/>
        </p:nvSpPr>
        <p:spPr>
          <a:xfrm>
            <a:off x="1284362" y="4306913"/>
            <a:ext cx="96232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i="1" dirty="0">
                <a:solidFill>
                  <a:schemeClr val="bg1">
                    <a:lumMod val="65000"/>
                  </a:schemeClr>
                </a:solidFill>
              </a:rPr>
              <a:t>No centralized E2E testing team. </a:t>
            </a:r>
            <a:br>
              <a:rPr lang="en-US" sz="3200" i="1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3200" i="1" dirty="0">
                <a:solidFill>
                  <a:schemeClr val="bg1">
                    <a:lumMod val="65000"/>
                  </a:schemeClr>
                </a:solidFill>
              </a:rPr>
              <a:t>21 component teams that care about being good neighbors.  </a:t>
            </a:r>
          </a:p>
        </p:txBody>
      </p:sp>
    </p:spTree>
    <p:extLst>
      <p:ext uri="{BB962C8B-B14F-4D97-AF65-F5344CB8AC3E}">
        <p14:creationId xmlns:p14="http://schemas.microsoft.com/office/powerpoint/2010/main" val="3549066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F99CE0-0397-2693-7FF7-3652861A97ED}"/>
              </a:ext>
            </a:extLst>
          </p:cNvPr>
          <p:cNvSpPr txBox="1"/>
          <p:nvPr/>
        </p:nvSpPr>
        <p:spPr>
          <a:xfrm>
            <a:off x="1185048" y="2151727"/>
            <a:ext cx="982192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I" sz="8000" dirty="0">
                <a:solidFill>
                  <a:schemeClr val="accent4"/>
                </a:solidFill>
                <a:latin typeface="KG No Matter What" panose="02000507000000020003" pitchFamily="2" charset="77"/>
              </a:rPr>
              <a:t>Everything Continuous </a:t>
            </a:r>
            <a:br>
              <a:rPr lang="en-FI" sz="8000" dirty="0">
                <a:solidFill>
                  <a:schemeClr val="accent4"/>
                </a:solidFill>
                <a:latin typeface="KG No Matter What" panose="02000507000000020003" pitchFamily="2" charset="77"/>
              </a:rPr>
            </a:br>
            <a:r>
              <a:rPr lang="en-FI" sz="8000" dirty="0">
                <a:latin typeface="KG No Matter What" panose="02000507000000020003" pitchFamily="2" charset="77"/>
              </a:rPr>
              <a:t>Principle</a:t>
            </a:r>
            <a:endParaRPr lang="en-FI" sz="8000" dirty="0"/>
          </a:p>
        </p:txBody>
      </p:sp>
    </p:spTree>
    <p:extLst>
      <p:ext uri="{BB962C8B-B14F-4D97-AF65-F5344CB8AC3E}">
        <p14:creationId xmlns:p14="http://schemas.microsoft.com/office/powerpoint/2010/main" val="1514122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F99CE0-0397-2693-7FF7-3652861A97ED}"/>
              </a:ext>
            </a:extLst>
          </p:cNvPr>
          <p:cNvSpPr txBox="1"/>
          <p:nvPr/>
        </p:nvSpPr>
        <p:spPr>
          <a:xfrm>
            <a:off x="2690271" y="2151727"/>
            <a:ext cx="681148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FI" sz="8000" dirty="0">
                <a:solidFill>
                  <a:schemeClr val="accent4"/>
                </a:solidFill>
                <a:latin typeface="KG No Matter What" panose="02000507000000020003" pitchFamily="2" charset="77"/>
              </a:rPr>
              <a:t>Sustain Agency</a:t>
            </a:r>
            <a:br>
              <a:rPr lang="en-FI" sz="8000" dirty="0">
                <a:solidFill>
                  <a:schemeClr val="accent4"/>
                </a:solidFill>
                <a:latin typeface="KG No Matter What" panose="02000507000000020003" pitchFamily="2" charset="77"/>
              </a:rPr>
            </a:br>
            <a:r>
              <a:rPr lang="en-FI" sz="8000" dirty="0">
                <a:latin typeface="KG No Matter What" panose="02000507000000020003" pitchFamily="2" charset="77"/>
              </a:rPr>
              <a:t>Principle</a:t>
            </a:r>
            <a:endParaRPr lang="en-FI" sz="8000" dirty="0"/>
          </a:p>
        </p:txBody>
      </p:sp>
    </p:spTree>
    <p:extLst>
      <p:ext uri="{BB962C8B-B14F-4D97-AF65-F5344CB8AC3E}">
        <p14:creationId xmlns:p14="http://schemas.microsoft.com/office/powerpoint/2010/main" val="31321360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50D723-83AB-48A8-AED8-11691D496449}"/>
              </a:ext>
            </a:extLst>
          </p:cNvPr>
          <p:cNvSpPr txBox="1"/>
          <p:nvPr/>
        </p:nvSpPr>
        <p:spPr>
          <a:xfrm>
            <a:off x="1123951" y="690304"/>
            <a:ext cx="101669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Protect Agency</a:t>
            </a:r>
          </a:p>
          <a:p>
            <a:pPr algn="ctr"/>
            <a:endParaRPr lang="en-US" sz="3600" dirty="0">
              <a:solidFill>
                <a:srgbClr val="7030A0"/>
              </a:solidFill>
              <a:latin typeface="+mj-lt"/>
            </a:endParaRPr>
          </a:p>
          <a:p>
            <a:pPr algn="ctr"/>
            <a:r>
              <a:rPr lang="en-US" sz="3600" dirty="0">
                <a:solidFill>
                  <a:srgbClr val="7030A0"/>
                </a:solidFill>
                <a:latin typeface="+mj-lt"/>
              </a:rPr>
              <a:t>Continuous Releases: Shorter Increments 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over Session Based Test Management</a:t>
            </a:r>
          </a:p>
          <a:p>
            <a:pPr algn="ctr"/>
            <a:r>
              <a:rPr lang="en-US" sz="3600" dirty="0">
                <a:solidFill>
                  <a:srgbClr val="7030A0"/>
                </a:solidFill>
                <a:latin typeface="+mj-lt"/>
              </a:rPr>
              <a:t>Co-Design Workshops 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over Status Meetings</a:t>
            </a:r>
          </a:p>
          <a:p>
            <a:pPr algn="ctr"/>
            <a:r>
              <a:rPr lang="en-US" sz="3600" dirty="0">
                <a:solidFill>
                  <a:srgbClr val="7030A0"/>
                </a:solidFill>
                <a:latin typeface="+mj-lt"/>
              </a:rPr>
              <a:t>Pair/Ensemble Testing 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over Reviewing Test Ideas</a:t>
            </a:r>
          </a:p>
          <a:p>
            <a:pPr algn="ctr"/>
            <a:r>
              <a:rPr lang="en-US" sz="3600" dirty="0">
                <a:solidFill>
                  <a:srgbClr val="7030A0"/>
                </a:solidFill>
                <a:latin typeface="+mj-lt"/>
              </a:rPr>
              <a:t>Regular Review of Investment and Results</a:t>
            </a:r>
            <a:endParaRPr lang="en-US" sz="4000" dirty="0">
              <a:solidFill>
                <a:srgbClr val="7030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42167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50D723-83AB-48A8-AED8-11691D496449}"/>
              </a:ext>
            </a:extLst>
          </p:cNvPr>
          <p:cNvSpPr txBox="1"/>
          <p:nvPr/>
        </p:nvSpPr>
        <p:spPr>
          <a:xfrm>
            <a:off x="2219298" y="1090521"/>
            <a:ext cx="7753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Ideas for Scale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885B0-8221-4B2C-B57E-15692D8757DE}"/>
              </a:ext>
            </a:extLst>
          </p:cNvPr>
          <p:cNvSpPr txBox="1"/>
          <p:nvPr/>
        </p:nvSpPr>
        <p:spPr>
          <a:xfrm>
            <a:off x="1715911" y="2528711"/>
            <a:ext cx="989546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Small Continuous Changes ‘Nothing changes if you change nothing’</a:t>
            </a:r>
          </a:p>
          <a:p>
            <a:r>
              <a:rPr lang="en-US" sz="2800" dirty="0"/>
              <a:t>Cut the timeframe of consideration with releases</a:t>
            </a:r>
          </a:p>
          <a:p>
            <a:r>
              <a:rPr lang="en-US" sz="2800" dirty="0"/>
              <a:t>Moving to releases relying on automation starts with ONE test</a:t>
            </a:r>
          </a:p>
          <a:p>
            <a:r>
              <a:rPr lang="en-US" sz="2800" dirty="0"/>
              <a:t>Ask through power, ask directly, </a:t>
            </a:r>
            <a:r>
              <a:rPr lang="en-US" sz="2800" dirty="0">
                <a:solidFill>
                  <a:schemeClr val="accent2"/>
                </a:solidFill>
              </a:rPr>
              <a:t>avoid assigning tasks</a:t>
            </a:r>
          </a:p>
          <a:p>
            <a:r>
              <a:rPr lang="en-US" sz="2800" dirty="0"/>
              <a:t>Stay visible – communicate with summaries, enable access to info</a:t>
            </a:r>
          </a:p>
          <a:p>
            <a:r>
              <a:rPr lang="en-US" sz="2800" dirty="0"/>
              <a:t>Numbers as conversation starters</a:t>
            </a:r>
          </a:p>
          <a:p>
            <a:r>
              <a:rPr lang="en-US" sz="2800" dirty="0">
                <a:solidFill>
                  <a:schemeClr val="accent1"/>
                </a:solidFill>
              </a:rPr>
              <a:t>Grow don’t manage</a:t>
            </a:r>
          </a:p>
        </p:txBody>
      </p:sp>
    </p:spTree>
    <p:extLst>
      <p:ext uri="{BB962C8B-B14F-4D97-AF65-F5344CB8AC3E}">
        <p14:creationId xmlns:p14="http://schemas.microsoft.com/office/powerpoint/2010/main" val="3927504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50D723-83AB-48A8-AED8-11691D496449}"/>
              </a:ext>
            </a:extLst>
          </p:cNvPr>
          <p:cNvSpPr txBox="1"/>
          <p:nvPr/>
        </p:nvSpPr>
        <p:spPr>
          <a:xfrm>
            <a:off x="1672591" y="674401"/>
            <a:ext cx="8858249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KG No Matter What" panose="02000507000000020003" pitchFamily="2" charset="0"/>
              </a:rPr>
              <a:t>Grow as Testers</a:t>
            </a:r>
          </a:p>
          <a:p>
            <a:pPr algn="ctr"/>
            <a:endParaRPr lang="en-US" sz="3600" dirty="0">
              <a:solidFill>
                <a:srgbClr val="7030A0"/>
              </a:solidFill>
              <a:latin typeface="+mj-lt"/>
            </a:endParaRPr>
          </a:p>
          <a:p>
            <a:pPr algn="ctr"/>
            <a:r>
              <a:rPr lang="en-US" sz="3600" dirty="0">
                <a:solidFill>
                  <a:schemeClr val="accent5"/>
                </a:solidFill>
                <a:latin typeface="+mj-lt"/>
              </a:rPr>
              <a:t>Finding and Sharing New Information Matters</a:t>
            </a:r>
          </a:p>
          <a:p>
            <a:pPr algn="ctr"/>
            <a:r>
              <a:rPr lang="en-US" sz="3600" dirty="0">
                <a:solidFill>
                  <a:schemeClr val="accent5"/>
                </a:solidFill>
                <a:latin typeface="+mj-lt"/>
              </a:rPr>
              <a:t>Investment Awareness</a:t>
            </a:r>
          </a:p>
          <a:p>
            <a:pPr algn="ctr"/>
            <a:r>
              <a:rPr lang="en-US" sz="3600" dirty="0">
                <a:solidFill>
                  <a:schemeClr val="accent5"/>
                </a:solidFill>
                <a:latin typeface="+mj-lt"/>
              </a:rPr>
              <a:t>Time Dimensions: Now vs. Future</a:t>
            </a:r>
          </a:p>
          <a:p>
            <a:pPr algn="ctr"/>
            <a:r>
              <a:rPr lang="en-US" sz="3600" dirty="0">
                <a:solidFill>
                  <a:schemeClr val="accent5"/>
                </a:solidFill>
                <a:latin typeface="+mj-lt"/>
              </a:rPr>
              <a:t>From Reactive to Just-in-Time Reactive</a:t>
            </a:r>
          </a:p>
          <a:p>
            <a:pPr algn="ctr"/>
            <a:r>
              <a:rPr lang="en-US" sz="4000" dirty="0">
                <a:solidFill>
                  <a:schemeClr val="tx2"/>
                </a:solidFill>
                <a:latin typeface="+mj-lt"/>
              </a:rPr>
              <a:t>Learn to Learn *really well*</a:t>
            </a:r>
          </a:p>
        </p:txBody>
      </p:sp>
    </p:spTree>
    <p:extLst>
      <p:ext uri="{BB962C8B-B14F-4D97-AF65-F5344CB8AC3E}">
        <p14:creationId xmlns:p14="http://schemas.microsoft.com/office/powerpoint/2010/main" val="1034998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1.png"/>
          <p:cNvPicPr>
            <a:picLocks noChangeAspect="1"/>
          </p:cNvPicPr>
          <p:nvPr/>
        </p:nvPicPr>
        <p:blipFill>
          <a:blip r:embed="rId2" cstate="email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67844" y="2169415"/>
            <a:ext cx="3625431" cy="271907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 descr="i2.png"/>
          <p:cNvPicPr>
            <a:picLocks noChangeAspect="1"/>
          </p:cNvPicPr>
          <p:nvPr/>
        </p:nvPicPr>
        <p:blipFill>
          <a:blip r:embed="rId3" cstate="email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03227" y="2069155"/>
            <a:ext cx="3625432" cy="271907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 descr="i3.png"/>
          <p:cNvPicPr>
            <a:picLocks noChangeAspect="1"/>
          </p:cNvPicPr>
          <p:nvPr/>
        </p:nvPicPr>
        <p:blipFill>
          <a:blip r:embed="rId4" cstate="email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263341" y="2231712"/>
            <a:ext cx="3625432" cy="271907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/>
          <p:cNvSpPr txBox="1"/>
          <p:nvPr/>
        </p:nvSpPr>
        <p:spPr>
          <a:xfrm>
            <a:off x="1703543" y="5141765"/>
            <a:ext cx="26564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KG No Matter What" panose="02000507000000020003" pitchFamily="2" charset="0"/>
                <a:cs typeface="KG Manhattan Script"/>
              </a:rPr>
              <a:t>(Exploratory) </a:t>
            </a:r>
            <a:br>
              <a:rPr lang="en-US" sz="3200" dirty="0">
                <a:latin typeface="KG No Matter What" panose="02000507000000020003" pitchFamily="2" charset="0"/>
                <a:cs typeface="KG Manhattan Script"/>
              </a:rPr>
            </a:br>
            <a:r>
              <a:rPr lang="en-US" sz="3200" dirty="0">
                <a:solidFill>
                  <a:schemeClr val="accent2"/>
                </a:solidFill>
                <a:latin typeface="KG No Matter What" panose="02000507000000020003" pitchFamily="2" charset="0"/>
                <a:cs typeface="KG Manhattan Script"/>
              </a:rPr>
              <a:t>Tester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1553" y="5141765"/>
            <a:ext cx="245932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KG No Matter What" panose="02000507000000020003" pitchFamily="2" charset="0"/>
                <a:cs typeface="KG Manhattan Script"/>
              </a:rPr>
              <a:t>(Application)</a:t>
            </a:r>
          </a:p>
          <a:p>
            <a:pPr algn="ctr"/>
            <a:r>
              <a:rPr lang="en-US" sz="3200" dirty="0">
                <a:solidFill>
                  <a:srgbClr val="C0504D"/>
                </a:solidFill>
                <a:latin typeface="KG No Matter What" panose="02000507000000020003" pitchFamily="2" charset="0"/>
                <a:cs typeface="KG Manhattan Script"/>
              </a:rPr>
              <a:t>Programmer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8443" y="5141765"/>
            <a:ext cx="278794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latin typeface="KG No Matter What" panose="02000507000000020003" pitchFamily="2" charset="0"/>
                <a:cs typeface="KG Manhattan Script"/>
              </a:rPr>
              <a:t>Test </a:t>
            </a:r>
            <a:r>
              <a:rPr lang="en-US" sz="3200" dirty="0" err="1">
                <a:solidFill>
                  <a:srgbClr val="C0504D"/>
                </a:solidFill>
                <a:latin typeface="KG No Matter What" panose="02000507000000020003" pitchFamily="2" charset="0"/>
                <a:cs typeface="KG Manhattan Script"/>
              </a:rPr>
              <a:t>Automator</a:t>
            </a:r>
            <a:br>
              <a:rPr lang="en-US" sz="3200" dirty="0">
                <a:latin typeface="KG No Matter What" panose="02000507000000020003" pitchFamily="2" charset="0"/>
                <a:cs typeface="KG Manhattan Script"/>
              </a:rPr>
            </a:br>
            <a:r>
              <a:rPr lang="en-US" sz="3200" dirty="0">
                <a:latin typeface="KG No Matter What" panose="02000507000000020003" pitchFamily="2" charset="0"/>
                <a:cs typeface="KG Manhattan Script"/>
              </a:rPr>
              <a:t> / Programmer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605280" y="473456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041DE5-1A1D-49F0-AEEF-EC2100EE7505}"/>
              </a:ext>
            </a:extLst>
          </p:cNvPr>
          <p:cNvSpPr txBox="1"/>
          <p:nvPr/>
        </p:nvSpPr>
        <p:spPr>
          <a:xfrm>
            <a:off x="1992997" y="800959"/>
            <a:ext cx="8369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6"/>
                </a:solidFill>
                <a:latin typeface="KG No Matter What" panose="02000507000000020003" pitchFamily="2" charset="0"/>
              </a:rPr>
              <a:t>Testing is too important to be left for only testers! </a:t>
            </a:r>
          </a:p>
        </p:txBody>
      </p:sp>
    </p:spTree>
    <p:extLst>
      <p:ext uri="{BB962C8B-B14F-4D97-AF65-F5344CB8AC3E}">
        <p14:creationId xmlns:p14="http://schemas.microsoft.com/office/powerpoint/2010/main" val="2194813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Logo, company name&#10;&#10;Description automatically generated">
            <a:extLst>
              <a:ext uri="{FF2B5EF4-FFF2-40B4-BE49-F238E27FC236}">
                <a16:creationId xmlns:a16="http://schemas.microsoft.com/office/drawing/2014/main" id="{854A0A4B-2E30-48B7-9742-60083A5B38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25"/>
          <a:stretch/>
        </p:blipFill>
        <p:spPr>
          <a:xfrm>
            <a:off x="2919409" y="2198639"/>
            <a:ext cx="2114550" cy="1841234"/>
          </a:xfrm>
          <a:prstGeom prst="rect">
            <a:avLst/>
          </a:prstGeom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87CEA219-8AFB-4554-ADBB-FB7A931036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4" r="30156"/>
          <a:stretch/>
        </p:blipFill>
        <p:spPr bwMode="auto">
          <a:xfrm flipV="1">
            <a:off x="0" y="1527"/>
            <a:ext cx="12192000" cy="2210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1F1B449-2966-44CC-8220-B3564B2FA22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33960" y="2319660"/>
            <a:ext cx="1543445" cy="6629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6502B3-4FFD-461F-A833-8217BB9ED1EA}"/>
              </a:ext>
            </a:extLst>
          </p:cNvPr>
          <p:cNvSpPr txBox="1"/>
          <p:nvPr/>
        </p:nvSpPr>
        <p:spPr>
          <a:xfrm>
            <a:off x="3570919" y="3794128"/>
            <a:ext cx="81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2020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4CFDD0-2947-4C5C-AA84-6FDABC423187}"/>
              </a:ext>
            </a:extLst>
          </p:cNvPr>
          <p:cNvSpPr txBox="1"/>
          <p:nvPr/>
        </p:nvSpPr>
        <p:spPr>
          <a:xfrm>
            <a:off x="5687805" y="3779599"/>
            <a:ext cx="81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2016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B64645-B8ED-431F-A0F2-17DBFA31C515}"/>
              </a:ext>
            </a:extLst>
          </p:cNvPr>
          <p:cNvSpPr txBox="1"/>
          <p:nvPr/>
        </p:nvSpPr>
        <p:spPr>
          <a:xfrm>
            <a:off x="4794126" y="2966502"/>
            <a:ext cx="268585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MIATPP</a:t>
            </a:r>
            <a:r>
              <a:rPr lang="en-US" dirty="0">
                <a:latin typeface="Gill Sans MT" panose="020B0502020104020203" pitchFamily="34" charset="0"/>
              </a:rPr>
              <a:t> </a:t>
            </a:r>
            <a:br>
              <a:rPr lang="en-US" dirty="0">
                <a:latin typeface="Gill Sans MT" panose="020B0502020104020203" pitchFamily="34" charset="0"/>
              </a:rPr>
            </a:br>
            <a:r>
              <a:rPr lang="en-US" sz="1350" dirty="0">
                <a:latin typeface="Gill Sans Nova Light" panose="020B0604020202020204" pitchFamily="34" charset="0"/>
              </a:rPr>
              <a:t>Most Influential Agile Testing Professional Person</a:t>
            </a:r>
            <a:endParaRPr lang="en-US" dirty="0">
              <a:latin typeface="Gill Sans Nova Light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D680E0-9A77-4140-916C-51A66B525CBE}"/>
              </a:ext>
            </a:extLst>
          </p:cNvPr>
          <p:cNvSpPr txBox="1"/>
          <p:nvPr/>
        </p:nvSpPr>
        <p:spPr>
          <a:xfrm>
            <a:off x="5202904" y="4729812"/>
            <a:ext cx="41822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0"/>
              </a:rPr>
              <a:t>#PayToSpeak #TechVoices  </a:t>
            </a:r>
            <a:br>
              <a:rPr lang="en-US" sz="1200" dirty="0">
                <a:latin typeface="Gill Sans MT" panose="020B0502020104020203" pitchFamily="34" charset="0"/>
              </a:rPr>
            </a:br>
            <a:r>
              <a:rPr lang="en-US" sz="1200" dirty="0">
                <a:latin typeface="Gill Sans MT" panose="020B0502020104020203" pitchFamily="34" charset="0"/>
              </a:rPr>
              <a:t>#EnsembleTesting #EnsembleProgramming #StrongStylePairing  </a:t>
            </a:r>
            <a:br>
              <a:rPr lang="en-US" sz="1200" dirty="0">
                <a:latin typeface="Gill Sans MT" panose="020B0502020104020203" pitchFamily="34" charset="0"/>
              </a:rPr>
            </a:br>
            <a:r>
              <a:rPr lang="en-US" sz="1200" dirty="0">
                <a:latin typeface="Gill Sans MT" panose="020B0502020104020203" pitchFamily="34" charset="0"/>
              </a:rPr>
              <a:t>#ExploratoryTesting #TestAutomation</a:t>
            </a:r>
          </a:p>
          <a:p>
            <a:r>
              <a:rPr lang="en-US" sz="1200" dirty="0">
                <a:latin typeface="Gill Sans MT" panose="020B0502020104020203" pitchFamily="34" charset="0"/>
              </a:rPr>
              <a:t>#ModernAgile</a:t>
            </a:r>
          </a:p>
          <a:p>
            <a:r>
              <a:rPr lang="en-US" sz="1200" dirty="0">
                <a:latin typeface="Gill Sans MT" panose="020B0502020104020203" pitchFamily="34" charset="0"/>
              </a:rPr>
              <a:t>#AwesomeTesters</a:t>
            </a:r>
          </a:p>
        </p:txBody>
      </p:sp>
      <p:pic>
        <p:nvPicPr>
          <p:cNvPr id="21" name="Picture 20" descr="A close up of a person&#10;&#10;Description automatically generated">
            <a:extLst>
              <a:ext uri="{FF2B5EF4-FFF2-40B4-BE49-F238E27FC236}">
                <a16:creationId xmlns:a16="http://schemas.microsoft.com/office/drawing/2014/main" id="{2C439EBB-35AD-4B75-AC4F-AA29F499EDA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7" t="557" r="30917" b="-557"/>
          <a:stretch/>
        </p:blipFill>
        <p:spPr>
          <a:xfrm>
            <a:off x="395662" y="1219514"/>
            <a:ext cx="2438600" cy="241953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1E0E0D-67BB-4528-B6CB-6F1F9682DC8B}"/>
              </a:ext>
            </a:extLst>
          </p:cNvPr>
          <p:cNvSpPr/>
          <p:nvPr/>
        </p:nvSpPr>
        <p:spPr>
          <a:xfrm>
            <a:off x="144956" y="268448"/>
            <a:ext cx="60901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KG No Matter What" panose="02000507000000020003" pitchFamily="2" charset="0"/>
                <a:ea typeface="KG Manhattan Script" charset="0"/>
                <a:cs typeface="KG Manhattan Script" charset="0"/>
              </a:rPr>
              <a:t>Maaret Pyhäjärvi </a:t>
            </a:r>
            <a:r>
              <a:rPr lang="en-US" dirty="0">
                <a:solidFill>
                  <a:schemeClr val="accent6"/>
                </a:solidFill>
                <a:latin typeface="KG No Matter What" panose="02000507000000020003" pitchFamily="2" charset="0"/>
                <a:ea typeface="KG Manhattan Script" charset="0"/>
                <a:cs typeface="KG Manhattan Script" charset="0"/>
              </a:rPr>
              <a:t>(from Finland)</a:t>
            </a:r>
            <a:endParaRPr lang="en-US" sz="4400" dirty="0">
              <a:solidFill>
                <a:schemeClr val="accent6"/>
              </a:solidFill>
              <a:latin typeface="KG No Matter What" panose="02000507000000020003" pitchFamily="2" charset="0"/>
              <a:ea typeface="KG Manhattan Script" charset="0"/>
              <a:cs typeface="KG Manhattan Script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B441B-3FE2-45AE-91C8-0C2493091641}"/>
              </a:ext>
            </a:extLst>
          </p:cNvPr>
          <p:cNvSpPr/>
          <p:nvPr/>
        </p:nvSpPr>
        <p:spPr>
          <a:xfrm>
            <a:off x="987646" y="4147420"/>
            <a:ext cx="61588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Email: maaret@iki.fi</a:t>
            </a:r>
          </a:p>
          <a:p>
            <a:r>
              <a:rPr lang="en-US" sz="2000" dirty="0"/>
              <a:t>Twitter: @maaretp</a:t>
            </a:r>
            <a:br>
              <a:rPr lang="en-US" sz="2000" dirty="0"/>
            </a:br>
            <a:r>
              <a:rPr lang="en-US" sz="2000" dirty="0"/>
              <a:t>Web: maaretp.com</a:t>
            </a:r>
          </a:p>
          <a:p>
            <a:r>
              <a:rPr lang="en-US" sz="2000" dirty="0"/>
              <a:t>Blog: visible-quality.blogspot.fi</a:t>
            </a:r>
          </a:p>
          <a:p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(please connect with me through </a:t>
            </a:r>
            <a:b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Twitter or LinkedIn)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D120F171-EB66-4D15-89A4-1331C18F3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9441" y="1690650"/>
            <a:ext cx="1275852" cy="127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ICT 100 influencers list 2019 and 2020">
            <a:extLst>
              <a:ext uri="{FF2B5EF4-FFF2-40B4-BE49-F238E27FC236}">
                <a16:creationId xmlns:a16="http://schemas.microsoft.com/office/drawing/2014/main" id="{683E1077-B573-4074-8719-F8C2A0A189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770"/>
          <a:stretch/>
        </p:blipFill>
        <p:spPr bwMode="auto">
          <a:xfrm>
            <a:off x="7396849" y="2443840"/>
            <a:ext cx="1553783" cy="858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CBA6622-FF20-431C-8CB2-00646C3452B4}"/>
              </a:ext>
            </a:extLst>
          </p:cNvPr>
          <p:cNvSpPr txBox="1"/>
          <p:nvPr/>
        </p:nvSpPr>
        <p:spPr>
          <a:xfrm>
            <a:off x="7195322" y="3794128"/>
            <a:ext cx="2076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Gill Sans MT" panose="020B0502020104020203" pitchFamily="34" charset="0"/>
              </a:rPr>
              <a:t>2019, 2020, 2021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9128D1-CDD5-4252-8C81-0DE3E04CABC8}"/>
              </a:ext>
            </a:extLst>
          </p:cNvPr>
          <p:cNvSpPr txBox="1"/>
          <p:nvPr/>
        </p:nvSpPr>
        <p:spPr>
          <a:xfrm>
            <a:off x="9770076" y="2918156"/>
            <a:ext cx="245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Gill Sans MT" panose="020B0502020104020203" pitchFamily="34" charset="0"/>
              </a:rPr>
              <a:t>https://exploratorytestingacademy.com</a:t>
            </a:r>
          </a:p>
        </p:txBody>
      </p:sp>
      <p:pic>
        <p:nvPicPr>
          <p:cNvPr id="1028" name="Picture 4" descr="Software Testing Finland ry, non-profit">
            <a:extLst>
              <a:ext uri="{FF2B5EF4-FFF2-40B4-BE49-F238E27FC236}">
                <a16:creationId xmlns:a16="http://schemas.microsoft.com/office/drawing/2014/main" id="{ACDB99F5-F874-46A1-8E9D-B11F2846A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2586" y="3119256"/>
            <a:ext cx="1278372" cy="1278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53035E2-2B1D-4904-96E6-48FD25501EB8}"/>
              </a:ext>
            </a:extLst>
          </p:cNvPr>
          <p:cNvSpPr txBox="1"/>
          <p:nvPr/>
        </p:nvSpPr>
        <p:spPr>
          <a:xfrm>
            <a:off x="9739815" y="4377204"/>
            <a:ext cx="245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Gill Sans MT" panose="020B0502020104020203" pitchFamily="34" charset="0"/>
              </a:rPr>
              <a:t>Ohjelmistotestaus </a:t>
            </a:r>
            <a:r>
              <a:rPr lang="en-US" sz="1100" dirty="0" err="1">
                <a:latin typeface="Gill Sans MT" panose="020B0502020104020203" pitchFamily="34" charset="0"/>
              </a:rPr>
              <a:t>ry</a:t>
            </a:r>
            <a:endParaRPr lang="en-US" sz="1100" dirty="0">
              <a:latin typeface="Gill Sans MT" panose="020B0502020104020203" pitchFamily="34" charset="0"/>
            </a:endParaRPr>
          </a:p>
        </p:txBody>
      </p:sp>
      <p:pic>
        <p:nvPicPr>
          <p:cNvPr id="24" name="Picture 6" descr="Techvoices - diversity in conference speaking">
            <a:extLst>
              <a:ext uri="{FF2B5EF4-FFF2-40B4-BE49-F238E27FC236}">
                <a16:creationId xmlns:a16="http://schemas.microsoft.com/office/drawing/2014/main" id="{F7933A53-A678-4906-BDE6-28F46578E7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4"/>
          <a:stretch/>
        </p:blipFill>
        <p:spPr bwMode="auto">
          <a:xfrm>
            <a:off x="10336062" y="4749241"/>
            <a:ext cx="1414896" cy="112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2ADD894-780A-47B1-B9BE-52BD8B3C3632}"/>
              </a:ext>
            </a:extLst>
          </p:cNvPr>
          <p:cNvSpPr txBox="1"/>
          <p:nvPr/>
        </p:nvSpPr>
        <p:spPr>
          <a:xfrm>
            <a:off x="9797772" y="5888020"/>
            <a:ext cx="245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Gill Sans MT" panose="020B0502020104020203" pitchFamily="34" charset="0"/>
              </a:rPr>
              <a:t>https</a:t>
            </a:r>
            <a:r>
              <a:rPr lang="en-US" sz="1100" dirty="0">
                <a:latin typeface="Gill Sans MT" panose="020B0502020104020203" pitchFamily="34" charset="0"/>
                <a:sym typeface="Wingdings" panose="05000000000000000000" pitchFamily="2" charset="2"/>
              </a:rPr>
              <a:t>://techvoices.org</a:t>
            </a:r>
            <a:endParaRPr lang="en-US" sz="11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984428"/>
      </p:ext>
    </p:extLst>
  </p:cSld>
  <p:clrMapOvr>
    <a:masterClrMapping/>
  </p:clrMapOvr>
</p:sld>
</file>

<file path=ppt/theme/theme1.xml><?xml version="1.0" encoding="utf-8"?>
<a:theme xmlns:a="http://schemas.openxmlformats.org/drawingml/2006/main" name=" Black ">
  <a:themeElements>
    <a:clrScheme name="Panton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67D70"/>
      </a:accent1>
      <a:accent2>
        <a:srgbClr val="6868AC"/>
      </a:accent2>
      <a:accent3>
        <a:srgbClr val="B3906C"/>
      </a:accent3>
      <a:accent4>
        <a:srgbClr val="D65079"/>
      </a:accent4>
      <a:accent5>
        <a:srgbClr val="E187B8"/>
      </a:accent5>
      <a:accent6>
        <a:srgbClr val="E9435E"/>
      </a:accent6>
      <a:hlink>
        <a:srgbClr val="ECC371"/>
      </a:hlink>
      <a:folHlink>
        <a:srgbClr val="85A1AC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B4FFFB81B68097479F625752AD22F278" ma:contentTypeVersion="12" ma:contentTypeDescription="Luo uusi asiakirja." ma:contentTypeScope="" ma:versionID="345e189057f810c6d491803cbb6923d0">
  <xsd:schema xmlns:xsd="http://www.w3.org/2001/XMLSchema" xmlns:xs="http://www.w3.org/2001/XMLSchema" xmlns:p="http://schemas.microsoft.com/office/2006/metadata/properties" xmlns:ns3="a11aa9f6-e4af-4104-bf81-0f6d6144281c" xmlns:ns4="bea9ce00-4873-47f9-9210-f26416c244f0" targetNamespace="http://schemas.microsoft.com/office/2006/metadata/properties" ma:root="true" ma:fieldsID="0b496fba599b43c137ead1b28b9256d3" ns3:_="" ns4:_="">
    <xsd:import namespace="a11aa9f6-e4af-4104-bf81-0f6d6144281c"/>
    <xsd:import namespace="bea9ce00-4873-47f9-9210-f26416c244f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aa9f6-e4af-4104-bf81-0f6d614428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a9ce00-4873-47f9-9210-f26416c244f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Jakamisvihjeen hajautu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351D72-567A-4D55-9BE1-0D2D9DC49BDD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a11aa9f6-e4af-4104-bf81-0f6d6144281c"/>
    <ds:schemaRef ds:uri="bea9ce00-4873-47f9-9210-f26416c244f0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F99ABE4-35E7-441B-ABD3-FB9BF05EAB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1aa9f6-e4af-4104-bf81-0f6d6144281c"/>
    <ds:schemaRef ds:uri="bea9ce00-4873-47f9-9210-f26416c244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1DB8C8-6850-40A3-8A4F-7991EDE9EC6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16415</TotalTime>
  <Words>759</Words>
  <Application>Microsoft Macintosh PowerPoint</Application>
  <PresentationFormat>Widescreen</PresentationFormat>
  <Paragraphs>168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Gill Sans MT</vt:lpstr>
      <vt:lpstr>Gill Sans Nova Light</vt:lpstr>
      <vt:lpstr>KG No Matter What</vt:lpstr>
      <vt:lpstr>Snell Roundhand</vt:lpstr>
      <vt:lpstr> Black </vt:lpstr>
      <vt:lpstr>Hands-Off Exploratory Testing How to Manage at Scale</vt:lpstr>
      <vt:lpstr>PowerPoint Presentation</vt:lpstr>
      <vt:lpstr>Exploratory Testing:  Frame of Management</vt:lpstr>
      <vt:lpstr>The Pieces in Management Framework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Status or Why None of My Advice Will Work for You Today</dc:title>
  <dc:creator>Pyhajarvi Maaret</dc:creator>
  <cp:lastModifiedBy>Pyhajarvi Maaret</cp:lastModifiedBy>
  <cp:revision>243</cp:revision>
  <cp:lastPrinted>2021-09-01T18:37:22Z</cp:lastPrinted>
  <dcterms:created xsi:type="dcterms:W3CDTF">2020-12-11T16:45:29Z</dcterms:created>
  <dcterms:modified xsi:type="dcterms:W3CDTF">2022-09-04T11:03:54Z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0b42cd-dfeb-4e2e-9713-e8274ec9275c_Enabled">
    <vt:lpwstr>true</vt:lpwstr>
  </property>
  <property fmtid="{D5CDD505-2E9C-101B-9397-08002B2CF9AE}" pid="3" name="MSIP_Label_bd0b42cd-dfeb-4e2e-9713-e8274ec9275c_SetDate">
    <vt:lpwstr>2021-09-01T17:20:39Z</vt:lpwstr>
  </property>
  <property fmtid="{D5CDD505-2E9C-101B-9397-08002B2CF9AE}" pid="4" name="MSIP_Label_bd0b42cd-dfeb-4e2e-9713-e8274ec9275c_Method">
    <vt:lpwstr>Privileged</vt:lpwstr>
  </property>
  <property fmtid="{D5CDD505-2E9C-101B-9397-08002B2CF9AE}" pid="5" name="MSIP_Label_bd0b42cd-dfeb-4e2e-9713-e8274ec9275c_Name">
    <vt:lpwstr>bd0b42cd-dfeb-4e2e-9713-e8274ec9275c</vt:lpwstr>
  </property>
  <property fmtid="{D5CDD505-2E9C-101B-9397-08002B2CF9AE}" pid="6" name="MSIP_Label_bd0b42cd-dfeb-4e2e-9713-e8274ec9275c_SiteId">
    <vt:lpwstr>6d7393e0-41f5-4c2e-9b12-4c2be5da5c57</vt:lpwstr>
  </property>
  <property fmtid="{D5CDD505-2E9C-101B-9397-08002B2CF9AE}" pid="7" name="MSIP_Label_bd0b42cd-dfeb-4e2e-9713-e8274ec9275c_ActionId">
    <vt:lpwstr>fd7c5a54-2976-4306-8d7e-9415340c5d0f</vt:lpwstr>
  </property>
  <property fmtid="{D5CDD505-2E9C-101B-9397-08002B2CF9AE}" pid="8" name="MSIP_Label_bd0b42cd-dfeb-4e2e-9713-e8274ec9275c_ContentBits">
    <vt:lpwstr>0</vt:lpwstr>
  </property>
</Properties>
</file>