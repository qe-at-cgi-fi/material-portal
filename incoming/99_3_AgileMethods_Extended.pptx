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58" r:id="rId28"/>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9" autoAdjust="0"/>
  </p:normalViewPr>
  <p:slideViewPr>
    <p:cSldViewPr>
      <p:cViewPr varScale="1">
        <p:scale>
          <a:sx n="76" d="100"/>
          <a:sy n="76" d="100"/>
        </p:scale>
        <p:origin x="-1392"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DAB689-93D7-49A9-8773-078464F95291}" type="doc">
      <dgm:prSet loTypeId="urn:microsoft.com/office/officeart/2005/8/layout/gear1" loCatId="relationship" qsTypeId="urn:microsoft.com/office/officeart/2005/8/quickstyle/simple1" qsCatId="simple" csTypeId="urn:microsoft.com/office/officeart/2005/8/colors/accent1_2" csCatId="accent1" phldr="1"/>
      <dgm:spPr/>
    </dgm:pt>
    <dgm:pt modelId="{5673B51E-265D-4442-896A-6B58228A2705}">
      <dgm:prSet phldrT="[Text]"/>
      <dgm:spPr/>
      <dgm:t>
        <a:bodyPr/>
        <a:lstStyle/>
        <a:p>
          <a:r>
            <a:rPr lang="en-GB" dirty="0" smtClean="0"/>
            <a:t>Incremental Delivery</a:t>
          </a:r>
          <a:endParaRPr lang="en-US" dirty="0"/>
        </a:p>
      </dgm:t>
    </dgm:pt>
    <dgm:pt modelId="{BDC4B73C-3C37-4AA7-9554-65220EFE6ED5}" type="parTrans" cxnId="{6BB5C838-D73E-4681-A470-5A32CCE204DF}">
      <dgm:prSet/>
      <dgm:spPr/>
      <dgm:t>
        <a:bodyPr/>
        <a:lstStyle/>
        <a:p>
          <a:endParaRPr lang="en-US"/>
        </a:p>
      </dgm:t>
    </dgm:pt>
    <dgm:pt modelId="{3A2E624F-6552-436C-9776-147EB9CDD72D}" type="sibTrans" cxnId="{6BB5C838-D73E-4681-A470-5A32CCE204DF}">
      <dgm:prSet/>
      <dgm:spPr/>
      <dgm:t>
        <a:bodyPr/>
        <a:lstStyle/>
        <a:p>
          <a:endParaRPr lang="en-US"/>
        </a:p>
      </dgm:t>
    </dgm:pt>
    <dgm:pt modelId="{763F924C-633A-4634-8208-24C87669F186}">
      <dgm:prSet phldrT="[Text]"/>
      <dgm:spPr/>
      <dgm:t>
        <a:bodyPr/>
        <a:lstStyle/>
        <a:p>
          <a:r>
            <a:rPr lang="en-GB" dirty="0" smtClean="0"/>
            <a:t>Multi-team aspects</a:t>
          </a:r>
          <a:endParaRPr lang="en-US" dirty="0"/>
        </a:p>
      </dgm:t>
    </dgm:pt>
    <dgm:pt modelId="{BF308DC4-0AA5-4A08-B209-8B019DD3815E}" type="parTrans" cxnId="{B2055717-D6FB-4C5D-98B3-3BECBC2942D5}">
      <dgm:prSet/>
      <dgm:spPr/>
      <dgm:t>
        <a:bodyPr/>
        <a:lstStyle/>
        <a:p>
          <a:endParaRPr lang="en-US"/>
        </a:p>
      </dgm:t>
    </dgm:pt>
    <dgm:pt modelId="{72494B42-F658-4FAA-8846-DB7682084A9F}" type="sibTrans" cxnId="{B2055717-D6FB-4C5D-98B3-3BECBC2942D5}">
      <dgm:prSet/>
      <dgm:spPr/>
      <dgm:t>
        <a:bodyPr/>
        <a:lstStyle/>
        <a:p>
          <a:endParaRPr lang="en-US"/>
        </a:p>
      </dgm:t>
    </dgm:pt>
    <dgm:pt modelId="{27F0116F-F6D2-47FD-BBB8-F20E6EDA4FDE}">
      <dgm:prSet phldrT="[Text]"/>
      <dgm:spPr/>
      <dgm:t>
        <a:bodyPr/>
        <a:lstStyle/>
        <a:p>
          <a:r>
            <a:rPr lang="en-GB" dirty="0" smtClean="0"/>
            <a:t>Long-term planning</a:t>
          </a:r>
          <a:endParaRPr lang="en-US" dirty="0"/>
        </a:p>
      </dgm:t>
    </dgm:pt>
    <dgm:pt modelId="{D5D67958-FD0B-44D4-95D7-4043E206C48B}" type="parTrans" cxnId="{F1C656D7-B676-4CD2-8853-46E62FCE7832}">
      <dgm:prSet/>
      <dgm:spPr/>
      <dgm:t>
        <a:bodyPr/>
        <a:lstStyle/>
        <a:p>
          <a:endParaRPr lang="en-US"/>
        </a:p>
      </dgm:t>
    </dgm:pt>
    <dgm:pt modelId="{97464FFF-612C-457D-B132-6563C9B232D0}" type="sibTrans" cxnId="{F1C656D7-B676-4CD2-8853-46E62FCE7832}">
      <dgm:prSet/>
      <dgm:spPr/>
      <dgm:t>
        <a:bodyPr/>
        <a:lstStyle/>
        <a:p>
          <a:endParaRPr lang="en-US"/>
        </a:p>
      </dgm:t>
    </dgm:pt>
    <dgm:pt modelId="{D8941AE3-38BD-4C56-9D90-7450ACF64D0A}" type="pres">
      <dgm:prSet presAssocID="{59DAB689-93D7-49A9-8773-078464F95291}" presName="composite" presStyleCnt="0">
        <dgm:presLayoutVars>
          <dgm:chMax val="3"/>
          <dgm:animLvl val="lvl"/>
          <dgm:resizeHandles val="exact"/>
        </dgm:presLayoutVars>
      </dgm:prSet>
      <dgm:spPr/>
    </dgm:pt>
    <dgm:pt modelId="{02C18809-73E7-4C1B-8C6D-6C2EA6B5BC05}" type="pres">
      <dgm:prSet presAssocID="{5673B51E-265D-4442-896A-6B58228A2705}" presName="gear1" presStyleLbl="node1" presStyleIdx="0" presStyleCnt="3">
        <dgm:presLayoutVars>
          <dgm:chMax val="1"/>
          <dgm:bulletEnabled val="1"/>
        </dgm:presLayoutVars>
      </dgm:prSet>
      <dgm:spPr/>
      <dgm:t>
        <a:bodyPr/>
        <a:lstStyle/>
        <a:p>
          <a:endParaRPr lang="en-US"/>
        </a:p>
      </dgm:t>
    </dgm:pt>
    <dgm:pt modelId="{3EEA55B2-1759-4087-9F35-69A14AB52D49}" type="pres">
      <dgm:prSet presAssocID="{5673B51E-265D-4442-896A-6B58228A2705}" presName="gear1srcNode" presStyleLbl="node1" presStyleIdx="0" presStyleCnt="3"/>
      <dgm:spPr/>
      <dgm:t>
        <a:bodyPr/>
        <a:lstStyle/>
        <a:p>
          <a:endParaRPr lang="en-US"/>
        </a:p>
      </dgm:t>
    </dgm:pt>
    <dgm:pt modelId="{5260360A-BD75-4999-B995-1B6725C7C735}" type="pres">
      <dgm:prSet presAssocID="{5673B51E-265D-4442-896A-6B58228A2705}" presName="gear1dstNode" presStyleLbl="node1" presStyleIdx="0" presStyleCnt="3"/>
      <dgm:spPr/>
      <dgm:t>
        <a:bodyPr/>
        <a:lstStyle/>
        <a:p>
          <a:endParaRPr lang="en-US"/>
        </a:p>
      </dgm:t>
    </dgm:pt>
    <dgm:pt modelId="{9085361F-11BA-465F-A4DC-0FA9BD189574}" type="pres">
      <dgm:prSet presAssocID="{763F924C-633A-4634-8208-24C87669F186}" presName="gear2" presStyleLbl="node1" presStyleIdx="1" presStyleCnt="3">
        <dgm:presLayoutVars>
          <dgm:chMax val="1"/>
          <dgm:bulletEnabled val="1"/>
        </dgm:presLayoutVars>
      </dgm:prSet>
      <dgm:spPr/>
      <dgm:t>
        <a:bodyPr/>
        <a:lstStyle/>
        <a:p>
          <a:endParaRPr lang="en-US"/>
        </a:p>
      </dgm:t>
    </dgm:pt>
    <dgm:pt modelId="{0C670762-2FF9-4729-ADED-6221218F2B0B}" type="pres">
      <dgm:prSet presAssocID="{763F924C-633A-4634-8208-24C87669F186}" presName="gear2srcNode" presStyleLbl="node1" presStyleIdx="1" presStyleCnt="3"/>
      <dgm:spPr/>
      <dgm:t>
        <a:bodyPr/>
        <a:lstStyle/>
        <a:p>
          <a:endParaRPr lang="en-US"/>
        </a:p>
      </dgm:t>
    </dgm:pt>
    <dgm:pt modelId="{43A031C0-F834-4AD6-9DCD-0CE879618B24}" type="pres">
      <dgm:prSet presAssocID="{763F924C-633A-4634-8208-24C87669F186}" presName="gear2dstNode" presStyleLbl="node1" presStyleIdx="1" presStyleCnt="3"/>
      <dgm:spPr/>
      <dgm:t>
        <a:bodyPr/>
        <a:lstStyle/>
        <a:p>
          <a:endParaRPr lang="en-US"/>
        </a:p>
      </dgm:t>
    </dgm:pt>
    <dgm:pt modelId="{452C164D-57C2-4EC8-8FB9-FCB3F61C165E}" type="pres">
      <dgm:prSet presAssocID="{27F0116F-F6D2-47FD-BBB8-F20E6EDA4FDE}" presName="gear3" presStyleLbl="node1" presStyleIdx="2" presStyleCnt="3"/>
      <dgm:spPr/>
      <dgm:t>
        <a:bodyPr/>
        <a:lstStyle/>
        <a:p>
          <a:endParaRPr lang="en-US"/>
        </a:p>
      </dgm:t>
    </dgm:pt>
    <dgm:pt modelId="{04326C83-7E34-4777-8B43-FA864BD48A96}" type="pres">
      <dgm:prSet presAssocID="{27F0116F-F6D2-47FD-BBB8-F20E6EDA4FDE}" presName="gear3tx" presStyleLbl="node1" presStyleIdx="2" presStyleCnt="3">
        <dgm:presLayoutVars>
          <dgm:chMax val="1"/>
          <dgm:bulletEnabled val="1"/>
        </dgm:presLayoutVars>
      </dgm:prSet>
      <dgm:spPr/>
      <dgm:t>
        <a:bodyPr/>
        <a:lstStyle/>
        <a:p>
          <a:endParaRPr lang="en-US"/>
        </a:p>
      </dgm:t>
    </dgm:pt>
    <dgm:pt modelId="{2ABEAB76-B208-4B2C-BC4A-F9F125680085}" type="pres">
      <dgm:prSet presAssocID="{27F0116F-F6D2-47FD-BBB8-F20E6EDA4FDE}" presName="gear3srcNode" presStyleLbl="node1" presStyleIdx="2" presStyleCnt="3"/>
      <dgm:spPr/>
      <dgm:t>
        <a:bodyPr/>
        <a:lstStyle/>
        <a:p>
          <a:endParaRPr lang="en-US"/>
        </a:p>
      </dgm:t>
    </dgm:pt>
    <dgm:pt modelId="{9D44FA75-8BCE-41B8-9F19-EBD9A73F669F}" type="pres">
      <dgm:prSet presAssocID="{27F0116F-F6D2-47FD-BBB8-F20E6EDA4FDE}" presName="gear3dstNode" presStyleLbl="node1" presStyleIdx="2" presStyleCnt="3"/>
      <dgm:spPr/>
      <dgm:t>
        <a:bodyPr/>
        <a:lstStyle/>
        <a:p>
          <a:endParaRPr lang="en-US"/>
        </a:p>
      </dgm:t>
    </dgm:pt>
    <dgm:pt modelId="{3A48B8F1-1CBC-4F04-AD49-BCAD8BE53D0F}" type="pres">
      <dgm:prSet presAssocID="{3A2E624F-6552-436C-9776-147EB9CDD72D}" presName="connector1" presStyleLbl="sibTrans2D1" presStyleIdx="0" presStyleCnt="3"/>
      <dgm:spPr/>
      <dgm:t>
        <a:bodyPr/>
        <a:lstStyle/>
        <a:p>
          <a:endParaRPr lang="en-US"/>
        </a:p>
      </dgm:t>
    </dgm:pt>
    <dgm:pt modelId="{FD17EAEC-F0A0-441E-B1CF-411941AA3312}" type="pres">
      <dgm:prSet presAssocID="{72494B42-F658-4FAA-8846-DB7682084A9F}" presName="connector2" presStyleLbl="sibTrans2D1" presStyleIdx="1" presStyleCnt="3"/>
      <dgm:spPr/>
      <dgm:t>
        <a:bodyPr/>
        <a:lstStyle/>
        <a:p>
          <a:endParaRPr lang="en-US"/>
        </a:p>
      </dgm:t>
    </dgm:pt>
    <dgm:pt modelId="{681C2F2A-C39F-4FEE-AE6F-A2EA1A013B85}" type="pres">
      <dgm:prSet presAssocID="{97464FFF-612C-457D-B132-6563C9B232D0}" presName="connector3" presStyleLbl="sibTrans2D1" presStyleIdx="2" presStyleCnt="3"/>
      <dgm:spPr/>
      <dgm:t>
        <a:bodyPr/>
        <a:lstStyle/>
        <a:p>
          <a:endParaRPr lang="en-US"/>
        </a:p>
      </dgm:t>
    </dgm:pt>
  </dgm:ptLst>
  <dgm:cxnLst>
    <dgm:cxn modelId="{3E7FC299-4654-4CDF-99B0-05CE42ACE69F}" type="presOf" srcId="{763F924C-633A-4634-8208-24C87669F186}" destId="{43A031C0-F834-4AD6-9DCD-0CE879618B24}" srcOrd="2" destOrd="0" presId="urn:microsoft.com/office/officeart/2005/8/layout/gear1"/>
    <dgm:cxn modelId="{6A66412B-B023-4C84-B80F-39035FE466CF}" type="presOf" srcId="{763F924C-633A-4634-8208-24C87669F186}" destId="{9085361F-11BA-465F-A4DC-0FA9BD189574}" srcOrd="0" destOrd="0" presId="urn:microsoft.com/office/officeart/2005/8/layout/gear1"/>
    <dgm:cxn modelId="{B39D6D6F-AA66-433F-BD9A-E08B91063271}" type="presOf" srcId="{72494B42-F658-4FAA-8846-DB7682084A9F}" destId="{FD17EAEC-F0A0-441E-B1CF-411941AA3312}" srcOrd="0" destOrd="0" presId="urn:microsoft.com/office/officeart/2005/8/layout/gear1"/>
    <dgm:cxn modelId="{B16BE628-F858-4433-AF1D-E495A954CC91}" type="presOf" srcId="{97464FFF-612C-457D-B132-6563C9B232D0}" destId="{681C2F2A-C39F-4FEE-AE6F-A2EA1A013B85}" srcOrd="0" destOrd="0" presId="urn:microsoft.com/office/officeart/2005/8/layout/gear1"/>
    <dgm:cxn modelId="{CD8A0E2E-59BB-4261-9796-03DAC827A40B}" type="presOf" srcId="{27F0116F-F6D2-47FD-BBB8-F20E6EDA4FDE}" destId="{2ABEAB76-B208-4B2C-BC4A-F9F125680085}" srcOrd="2" destOrd="0" presId="urn:microsoft.com/office/officeart/2005/8/layout/gear1"/>
    <dgm:cxn modelId="{9A9DCA75-7D41-40DA-8241-A8209C4B9D9C}" type="presOf" srcId="{3A2E624F-6552-436C-9776-147EB9CDD72D}" destId="{3A48B8F1-1CBC-4F04-AD49-BCAD8BE53D0F}" srcOrd="0" destOrd="0" presId="urn:microsoft.com/office/officeart/2005/8/layout/gear1"/>
    <dgm:cxn modelId="{F1C656D7-B676-4CD2-8853-46E62FCE7832}" srcId="{59DAB689-93D7-49A9-8773-078464F95291}" destId="{27F0116F-F6D2-47FD-BBB8-F20E6EDA4FDE}" srcOrd="2" destOrd="0" parTransId="{D5D67958-FD0B-44D4-95D7-4043E206C48B}" sibTransId="{97464FFF-612C-457D-B132-6563C9B232D0}"/>
    <dgm:cxn modelId="{F70F5ADD-ECBA-4E8F-8094-8FF228D00DFF}" type="presOf" srcId="{27F0116F-F6D2-47FD-BBB8-F20E6EDA4FDE}" destId="{9D44FA75-8BCE-41B8-9F19-EBD9A73F669F}" srcOrd="3" destOrd="0" presId="urn:microsoft.com/office/officeart/2005/8/layout/gear1"/>
    <dgm:cxn modelId="{6BB5C838-D73E-4681-A470-5A32CCE204DF}" srcId="{59DAB689-93D7-49A9-8773-078464F95291}" destId="{5673B51E-265D-4442-896A-6B58228A2705}" srcOrd="0" destOrd="0" parTransId="{BDC4B73C-3C37-4AA7-9554-65220EFE6ED5}" sibTransId="{3A2E624F-6552-436C-9776-147EB9CDD72D}"/>
    <dgm:cxn modelId="{B2055717-D6FB-4C5D-98B3-3BECBC2942D5}" srcId="{59DAB689-93D7-49A9-8773-078464F95291}" destId="{763F924C-633A-4634-8208-24C87669F186}" srcOrd="1" destOrd="0" parTransId="{BF308DC4-0AA5-4A08-B209-8B019DD3815E}" sibTransId="{72494B42-F658-4FAA-8846-DB7682084A9F}"/>
    <dgm:cxn modelId="{E094CFE4-4F35-4576-9BF6-409D24E30F06}" type="presOf" srcId="{763F924C-633A-4634-8208-24C87669F186}" destId="{0C670762-2FF9-4729-ADED-6221218F2B0B}" srcOrd="1" destOrd="0" presId="urn:microsoft.com/office/officeart/2005/8/layout/gear1"/>
    <dgm:cxn modelId="{7451AE31-0483-4E58-A2B1-9BE702FD2BD4}" type="presOf" srcId="{27F0116F-F6D2-47FD-BBB8-F20E6EDA4FDE}" destId="{04326C83-7E34-4777-8B43-FA864BD48A96}" srcOrd="1" destOrd="0" presId="urn:microsoft.com/office/officeart/2005/8/layout/gear1"/>
    <dgm:cxn modelId="{16F94CD8-154E-4C7C-B7F5-9C87EF2C279C}" type="presOf" srcId="{59DAB689-93D7-49A9-8773-078464F95291}" destId="{D8941AE3-38BD-4C56-9D90-7450ACF64D0A}" srcOrd="0" destOrd="0" presId="urn:microsoft.com/office/officeart/2005/8/layout/gear1"/>
    <dgm:cxn modelId="{72DCC2DE-25DA-4B80-A530-ED157A0E7FBB}" type="presOf" srcId="{27F0116F-F6D2-47FD-BBB8-F20E6EDA4FDE}" destId="{452C164D-57C2-4EC8-8FB9-FCB3F61C165E}" srcOrd="0" destOrd="0" presId="urn:microsoft.com/office/officeart/2005/8/layout/gear1"/>
    <dgm:cxn modelId="{19103AC8-20C6-48AE-B0DF-D4D0A7DA027E}" type="presOf" srcId="{5673B51E-265D-4442-896A-6B58228A2705}" destId="{02C18809-73E7-4C1B-8C6D-6C2EA6B5BC05}" srcOrd="0" destOrd="0" presId="urn:microsoft.com/office/officeart/2005/8/layout/gear1"/>
    <dgm:cxn modelId="{F37EB071-FE37-423C-A615-02E6E0A56716}" type="presOf" srcId="{5673B51E-265D-4442-896A-6B58228A2705}" destId="{3EEA55B2-1759-4087-9F35-69A14AB52D49}" srcOrd="1" destOrd="0" presId="urn:microsoft.com/office/officeart/2005/8/layout/gear1"/>
    <dgm:cxn modelId="{EFA23FFD-4844-45E6-88B6-B43269BDAE21}" type="presOf" srcId="{5673B51E-265D-4442-896A-6B58228A2705}" destId="{5260360A-BD75-4999-B995-1B6725C7C735}" srcOrd="2" destOrd="0" presId="urn:microsoft.com/office/officeart/2005/8/layout/gear1"/>
    <dgm:cxn modelId="{14923528-3BCF-4BDD-A50B-256F7775105E}" type="presParOf" srcId="{D8941AE3-38BD-4C56-9D90-7450ACF64D0A}" destId="{02C18809-73E7-4C1B-8C6D-6C2EA6B5BC05}" srcOrd="0" destOrd="0" presId="urn:microsoft.com/office/officeart/2005/8/layout/gear1"/>
    <dgm:cxn modelId="{E34BC21A-9863-4016-847D-9A93B3998033}" type="presParOf" srcId="{D8941AE3-38BD-4C56-9D90-7450ACF64D0A}" destId="{3EEA55B2-1759-4087-9F35-69A14AB52D49}" srcOrd="1" destOrd="0" presId="urn:microsoft.com/office/officeart/2005/8/layout/gear1"/>
    <dgm:cxn modelId="{1F052007-A501-48E7-8EA2-6CF570F8E6E3}" type="presParOf" srcId="{D8941AE3-38BD-4C56-9D90-7450ACF64D0A}" destId="{5260360A-BD75-4999-B995-1B6725C7C735}" srcOrd="2" destOrd="0" presId="urn:microsoft.com/office/officeart/2005/8/layout/gear1"/>
    <dgm:cxn modelId="{FE0C6D33-7E6B-4DF1-843F-E2C611BCC836}" type="presParOf" srcId="{D8941AE3-38BD-4C56-9D90-7450ACF64D0A}" destId="{9085361F-11BA-465F-A4DC-0FA9BD189574}" srcOrd="3" destOrd="0" presId="urn:microsoft.com/office/officeart/2005/8/layout/gear1"/>
    <dgm:cxn modelId="{0C675578-6404-4B77-B5B3-3E504A150B59}" type="presParOf" srcId="{D8941AE3-38BD-4C56-9D90-7450ACF64D0A}" destId="{0C670762-2FF9-4729-ADED-6221218F2B0B}" srcOrd="4" destOrd="0" presId="urn:microsoft.com/office/officeart/2005/8/layout/gear1"/>
    <dgm:cxn modelId="{FCE0BF9B-9BCE-4F91-832E-36335A3F6069}" type="presParOf" srcId="{D8941AE3-38BD-4C56-9D90-7450ACF64D0A}" destId="{43A031C0-F834-4AD6-9DCD-0CE879618B24}" srcOrd="5" destOrd="0" presId="urn:microsoft.com/office/officeart/2005/8/layout/gear1"/>
    <dgm:cxn modelId="{FCF81BB2-E495-48B6-9C14-0BFFDF83DB5E}" type="presParOf" srcId="{D8941AE3-38BD-4C56-9D90-7450ACF64D0A}" destId="{452C164D-57C2-4EC8-8FB9-FCB3F61C165E}" srcOrd="6" destOrd="0" presId="urn:microsoft.com/office/officeart/2005/8/layout/gear1"/>
    <dgm:cxn modelId="{C16C158F-B28E-4F28-A3AE-15927C2F1509}" type="presParOf" srcId="{D8941AE3-38BD-4C56-9D90-7450ACF64D0A}" destId="{04326C83-7E34-4777-8B43-FA864BD48A96}" srcOrd="7" destOrd="0" presId="urn:microsoft.com/office/officeart/2005/8/layout/gear1"/>
    <dgm:cxn modelId="{62F96966-8031-40C5-92EB-D42055881E32}" type="presParOf" srcId="{D8941AE3-38BD-4C56-9D90-7450ACF64D0A}" destId="{2ABEAB76-B208-4B2C-BC4A-F9F125680085}" srcOrd="8" destOrd="0" presId="urn:microsoft.com/office/officeart/2005/8/layout/gear1"/>
    <dgm:cxn modelId="{3F3C217B-B8D5-4BAE-BAE8-E9A031B8062E}" type="presParOf" srcId="{D8941AE3-38BD-4C56-9D90-7450ACF64D0A}" destId="{9D44FA75-8BCE-41B8-9F19-EBD9A73F669F}" srcOrd="9" destOrd="0" presId="urn:microsoft.com/office/officeart/2005/8/layout/gear1"/>
    <dgm:cxn modelId="{D412729F-BFB0-495B-BA69-092B3D957949}" type="presParOf" srcId="{D8941AE3-38BD-4C56-9D90-7450ACF64D0A}" destId="{3A48B8F1-1CBC-4F04-AD49-BCAD8BE53D0F}" srcOrd="10" destOrd="0" presId="urn:microsoft.com/office/officeart/2005/8/layout/gear1"/>
    <dgm:cxn modelId="{83DB9C64-D892-4917-9A81-6A12538FA184}" type="presParOf" srcId="{D8941AE3-38BD-4C56-9D90-7450ACF64D0A}" destId="{FD17EAEC-F0A0-441E-B1CF-411941AA3312}" srcOrd="11" destOrd="0" presId="urn:microsoft.com/office/officeart/2005/8/layout/gear1"/>
    <dgm:cxn modelId="{53E75604-93C9-4C03-9E64-0FF857D53D10}" type="presParOf" srcId="{D8941AE3-38BD-4C56-9D90-7450ACF64D0A}" destId="{681C2F2A-C39F-4FEE-AE6F-A2EA1A013B85}" srcOrd="12" destOrd="0" presId="urn:microsoft.com/office/officeart/2005/8/layout/gear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4/6/2011</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31976446-81BF-4202-BEC9-4D0CE443E64B}" type="slidenum">
              <a:rPr lang="en-US"/>
              <a:pPr/>
              <a:t>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B3A9B4B-1EC1-4AE1-A480-F0A06DC8485A}" type="slidenum">
              <a:rPr lang="en-US"/>
              <a:pPr/>
              <a:t>5</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136BCF66-CFA8-467F-8DF8-CACC7DF23645}" type="slidenum">
              <a:rPr lang="en-US"/>
              <a:pPr/>
              <a:t>6</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7F14F1-B07C-4CB6-9B09-FBEF300756DD}"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Plan-driven vs. agile OR</a:t>
            </a:r>
            <a:r>
              <a:rPr lang="en-GB" baseline="0" dirty="0" smtClean="0"/>
              <a:t> lightweight just don’t tell the essential point. </a:t>
            </a:r>
            <a:endParaRPr lang="en-US" dirty="0"/>
          </a:p>
        </p:txBody>
      </p:sp>
      <p:sp>
        <p:nvSpPr>
          <p:cNvPr id="4" name="Slide Number Placeholder 3"/>
          <p:cNvSpPr>
            <a:spLocks noGrp="1"/>
          </p:cNvSpPr>
          <p:nvPr>
            <p:ph type="sldNum" sz="quarter" idx="10"/>
          </p:nvPr>
        </p:nvSpPr>
        <p:spPr/>
        <p:txBody>
          <a:bodyPr/>
          <a:lstStyle/>
          <a:p>
            <a:fld id="{64AC6368-C921-4798-B1A6-D8CCC015945C}"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737E74-3092-4BF7-BA38-C1916CE7D8FF}" type="slidenum">
              <a:rPr lang="en-GB"/>
              <a:pPr/>
              <a:t>13</a:t>
            </a:fld>
            <a:endParaRPr lang="en-GB"/>
          </a:p>
        </p:txBody>
      </p:sp>
      <p:sp>
        <p:nvSpPr>
          <p:cNvPr id="1305602" name="Rectangle 2"/>
          <p:cNvSpPr>
            <a:spLocks noGrp="1" noRot="1" noChangeAspect="1" noChangeArrowheads="1" noTextEdit="1"/>
          </p:cNvSpPr>
          <p:nvPr>
            <p:ph type="sldImg"/>
          </p:nvPr>
        </p:nvSpPr>
        <p:spPr>
          <a:ln/>
        </p:spPr>
      </p:sp>
      <p:sp>
        <p:nvSpPr>
          <p:cNvPr id="1305603" name="Rectangle 3"/>
          <p:cNvSpPr>
            <a:spLocks noGrp="1" noChangeArrowheads="1"/>
          </p:cNvSpPr>
          <p:nvPr>
            <p:ph type="body" idx="1"/>
          </p:nvPr>
        </p:nvSpPr>
        <p:spPr/>
        <p:txBody>
          <a:bodyPr/>
          <a:lstStyle/>
          <a:p>
            <a:r>
              <a:rPr lang="fi-FI"/>
              <a:t>well-understood and repeatable wouldn’t include people...</a:t>
            </a:r>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4AC6368-C921-4798-B1A6-D8CCC015945C}"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Development / Release</a:t>
            </a:r>
            <a:r>
              <a:rPr lang="en-GB" baseline="0" dirty="0" smtClean="0"/>
              <a:t> teams</a:t>
            </a:r>
            <a:endParaRPr lang="en-GB" dirty="0" smtClean="0"/>
          </a:p>
          <a:p>
            <a:r>
              <a:rPr lang="en-GB" dirty="0" smtClean="0"/>
              <a:t>Willing / able</a:t>
            </a:r>
            <a:endParaRPr lang="en-US" dirty="0"/>
          </a:p>
        </p:txBody>
      </p:sp>
      <p:sp>
        <p:nvSpPr>
          <p:cNvPr id="4" name="Slide Number Placeholder 3"/>
          <p:cNvSpPr>
            <a:spLocks noGrp="1"/>
          </p:cNvSpPr>
          <p:nvPr>
            <p:ph type="sldNum" sz="quarter" idx="10"/>
          </p:nvPr>
        </p:nvSpPr>
        <p:spPr/>
        <p:txBody>
          <a:bodyPr/>
          <a:lstStyle/>
          <a:p>
            <a:fld id="{64AC6368-C921-4798-B1A6-D8CCC015945C}"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19</a:t>
            </a:fld>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4AC6368-C921-4798-B1A6-D8CCC015945C}"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23</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24</a:t>
            </a:fld>
            <a:endParaRPr lang="fi-FI"/>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25</a:t>
            </a:fld>
            <a:endParaRPr lang="fi-FI"/>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26</a:t>
            </a:fld>
            <a:endParaRPr lang="fi-FI"/>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27</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4/6/2011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4/6/2011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4/6/2011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hyperlink" Target="http://creativecommons.org/licenses/by/1.0/fi/deed.en" TargetMode="External"/><Relationship Id="rId4" Type="http://schemas.openxmlformats.org/officeDocument/2006/relationships/hyperlink" Target="http://creativecommons.org/licenses/by/1.0/fi/"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6.wmf"/><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methods – More stuff</a:t>
            </a:r>
            <a:endParaRPr lang="fi-FI" dirty="0"/>
          </a:p>
        </p:txBody>
      </p:sp>
      <p:sp>
        <p:nvSpPr>
          <p:cNvPr id="3" name="Text Placeholder 2"/>
          <p:cNvSpPr>
            <a:spLocks noGrp="1"/>
          </p:cNvSpPr>
          <p:nvPr>
            <p:ph type="body" idx="1"/>
          </p:nvPr>
        </p:nvSpPr>
        <p:spPr/>
        <p:txBody>
          <a:bodyPr/>
          <a:lstStyle/>
          <a:p>
            <a:r>
              <a:rPr lang="fi-FI" dirty="0" smtClean="0"/>
              <a:t>The variance in agile methods – agile is not one</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sp>
        <p:nvSpPr>
          <p:cNvPr id="10" name="TextBox 9"/>
          <p:cNvSpPr txBox="1"/>
          <p:nvPr/>
        </p:nvSpPr>
        <p:spPr>
          <a:xfrm>
            <a:off x="228600" y="152400"/>
            <a:ext cx="5638800" cy="984885"/>
          </a:xfrm>
          <a:prstGeom prst="rect">
            <a:avLst/>
          </a:prstGeom>
          <a:noFill/>
        </p:spPr>
        <p:txBody>
          <a:bodyPr wrap="square" rtlCol="0">
            <a:spAutoFit/>
          </a:bodyPr>
          <a:lstStyle/>
          <a:p>
            <a:r>
              <a:rPr lang="fi-FI" sz="4000" b="1" dirty="0" smtClean="0">
                <a:solidFill>
                  <a:schemeClr val="accent1"/>
                </a:solidFill>
                <a:latin typeface="Freestyle Script" pitchFamily="66" charset="0"/>
                <a:cs typeface="Tunga" pitchFamily="2" charset="0"/>
              </a:rPr>
              <a:t>Ketterä testaus</a:t>
            </a:r>
          </a:p>
          <a:p>
            <a:r>
              <a:rPr lang="fi-FI" b="1" dirty="0" smtClean="0">
                <a:solidFill>
                  <a:schemeClr val="accent1"/>
                </a:solidFill>
                <a:latin typeface="Freestyle Script" pitchFamily="66" charset="0"/>
                <a:cs typeface="Tunga" pitchFamily="2" charset="0"/>
              </a:rPr>
              <a:t>v.13 (2011-04)</a:t>
            </a:r>
            <a:endParaRPr lang="fi-FI" sz="1600" b="1" dirty="0">
              <a:solidFill>
                <a:schemeClr val="accent1"/>
              </a:solidFill>
              <a:latin typeface="Freestyle Script" pitchFamily="66" charset="0"/>
              <a:cs typeface="Tunga"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Software Development</a:t>
            </a:r>
            <a:br>
              <a:rPr lang="fi-FI" dirty="0" smtClean="0"/>
            </a:br>
            <a:r>
              <a:rPr lang="fi-FI" sz="1200" dirty="0" smtClean="0"/>
              <a:t>Source: Alistair Cockburn</a:t>
            </a:r>
            <a:endParaRPr lang="fi-FI" sz="1200" dirty="0"/>
          </a:p>
        </p:txBody>
      </p:sp>
      <p:sp>
        <p:nvSpPr>
          <p:cNvPr id="3" name="Content Placeholder 2"/>
          <p:cNvSpPr>
            <a:spLocks noGrp="1"/>
          </p:cNvSpPr>
          <p:nvPr>
            <p:ph idx="1"/>
          </p:nvPr>
        </p:nvSpPr>
        <p:spPr/>
        <p:txBody>
          <a:bodyPr/>
          <a:lstStyle/>
          <a:p>
            <a:pPr>
              <a:lnSpc>
                <a:spcPct val="90000"/>
              </a:lnSpc>
            </a:pPr>
            <a:r>
              <a:rPr lang="en-US" sz="2200" i="1" dirty="0" smtClean="0"/>
              <a:t>It is a cooperative game of invention, experimentation and communication with limited resources.</a:t>
            </a:r>
            <a:endParaRPr lang="en-GB" sz="2200" i="1" dirty="0" smtClean="0"/>
          </a:p>
          <a:p>
            <a:pPr>
              <a:lnSpc>
                <a:spcPct val="90000"/>
              </a:lnSpc>
            </a:pPr>
            <a:endParaRPr lang="en-US" sz="2200" dirty="0" smtClean="0"/>
          </a:p>
          <a:p>
            <a:pPr>
              <a:lnSpc>
                <a:spcPct val="90000"/>
              </a:lnSpc>
            </a:pPr>
            <a:r>
              <a:rPr lang="en-US" sz="2200" dirty="0" smtClean="0"/>
              <a:t>People solving a </a:t>
            </a:r>
            <a:r>
              <a:rPr lang="en-US" sz="2200" b="1" dirty="0" smtClean="0"/>
              <a:t>problem that keeps changing</a:t>
            </a:r>
            <a:r>
              <a:rPr lang="en-US" sz="2200" dirty="0" smtClean="0"/>
              <a:t> and they don’t yet understand </a:t>
            </a:r>
          </a:p>
          <a:p>
            <a:pPr>
              <a:lnSpc>
                <a:spcPct val="90000"/>
              </a:lnSpc>
            </a:pPr>
            <a:r>
              <a:rPr lang="en-US" sz="2200" dirty="0" smtClean="0"/>
              <a:t>People creating a </a:t>
            </a:r>
            <a:r>
              <a:rPr lang="en-US" sz="2200" b="1" dirty="0" smtClean="0"/>
              <a:t>solution that keeps changing</a:t>
            </a:r>
            <a:r>
              <a:rPr lang="en-US" sz="2200" dirty="0" smtClean="0"/>
              <a:t> and they don’t really understand</a:t>
            </a:r>
          </a:p>
          <a:p>
            <a:pPr>
              <a:lnSpc>
                <a:spcPct val="90000"/>
              </a:lnSpc>
            </a:pPr>
            <a:r>
              <a:rPr lang="en-US" sz="2200" dirty="0" smtClean="0"/>
              <a:t>People expressing </a:t>
            </a:r>
            <a:r>
              <a:rPr lang="en-US" sz="2200" b="1" dirty="0" smtClean="0"/>
              <a:t>ideas that keep changing</a:t>
            </a:r>
            <a:r>
              <a:rPr lang="en-US" sz="2200" dirty="0" smtClean="0"/>
              <a:t> in restricted languages they don’t really understand</a:t>
            </a:r>
          </a:p>
          <a:p>
            <a:pPr>
              <a:lnSpc>
                <a:spcPct val="90000"/>
              </a:lnSpc>
            </a:pPr>
            <a:r>
              <a:rPr lang="en-US" sz="2200" dirty="0" smtClean="0"/>
              <a:t>Resources are limited and every choice has </a:t>
            </a:r>
            <a:r>
              <a:rPr lang="en-US" sz="2200" b="1" dirty="0" smtClean="0"/>
              <a:t>economic consequences</a:t>
            </a:r>
          </a:p>
          <a:p>
            <a:pPr>
              <a:lnSpc>
                <a:spcPct val="90000"/>
              </a:lnSpc>
            </a:pPr>
            <a:endParaRPr lang="en-US" sz="22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Extras</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sz="3200" dirty="0" smtClean="0"/>
              <a:t>Typical vs. truly iterative&amp;incremental</a:t>
            </a:r>
            <a:endParaRPr lang="fi-FI" sz="3200" dirty="0"/>
          </a:p>
        </p:txBody>
      </p:sp>
      <p:grpSp>
        <p:nvGrpSpPr>
          <p:cNvPr id="3" name="Group 19"/>
          <p:cNvGrpSpPr/>
          <p:nvPr/>
        </p:nvGrpSpPr>
        <p:grpSpPr>
          <a:xfrm>
            <a:off x="142844" y="1357298"/>
            <a:ext cx="6715171" cy="2500329"/>
            <a:chOff x="357158" y="1785926"/>
            <a:chExt cx="8459561" cy="3889519"/>
          </a:xfrm>
        </p:grpSpPr>
        <p:sp>
          <p:nvSpPr>
            <p:cNvPr id="18" name="Freeform 17"/>
            <p:cNvSpPr/>
            <p:nvPr/>
          </p:nvSpPr>
          <p:spPr>
            <a:xfrm>
              <a:off x="500034" y="4869902"/>
              <a:ext cx="8316685" cy="805543"/>
            </a:xfrm>
            <a:custGeom>
              <a:avLst/>
              <a:gdLst>
                <a:gd name="connsiteX0" fmla="*/ 0 w 8316685"/>
                <a:gd name="connsiteY0" fmla="*/ 794657 h 805543"/>
                <a:gd name="connsiteX1" fmla="*/ 10885 w 8316685"/>
                <a:gd name="connsiteY1" fmla="*/ 10885 h 805543"/>
                <a:gd name="connsiteX2" fmla="*/ 936171 w 8316685"/>
                <a:gd name="connsiteY2" fmla="*/ 283028 h 805543"/>
                <a:gd name="connsiteX3" fmla="*/ 1208314 w 8316685"/>
                <a:gd name="connsiteY3" fmla="*/ 141514 h 805543"/>
                <a:gd name="connsiteX4" fmla="*/ 1600200 w 8316685"/>
                <a:gd name="connsiteY4" fmla="*/ 293914 h 805543"/>
                <a:gd name="connsiteX5" fmla="*/ 2002971 w 8316685"/>
                <a:gd name="connsiteY5" fmla="*/ 195943 h 805543"/>
                <a:gd name="connsiteX6" fmla="*/ 2492828 w 8316685"/>
                <a:gd name="connsiteY6" fmla="*/ 152400 h 805543"/>
                <a:gd name="connsiteX7" fmla="*/ 2895600 w 8316685"/>
                <a:gd name="connsiteY7" fmla="*/ 65314 h 805543"/>
                <a:gd name="connsiteX8" fmla="*/ 3211285 w 8316685"/>
                <a:gd name="connsiteY8" fmla="*/ 304800 h 805543"/>
                <a:gd name="connsiteX9" fmla="*/ 3537857 w 8316685"/>
                <a:gd name="connsiteY9" fmla="*/ 76200 h 805543"/>
                <a:gd name="connsiteX10" fmla="*/ 3788228 w 8316685"/>
                <a:gd name="connsiteY10" fmla="*/ 21771 h 805543"/>
                <a:gd name="connsiteX11" fmla="*/ 4071257 w 8316685"/>
                <a:gd name="connsiteY11" fmla="*/ 718457 h 805543"/>
                <a:gd name="connsiteX12" fmla="*/ 8316685 w 8316685"/>
                <a:gd name="connsiteY12" fmla="*/ 0 h 805543"/>
                <a:gd name="connsiteX13" fmla="*/ 8316685 w 8316685"/>
                <a:gd name="connsiteY13" fmla="*/ 805543 h 805543"/>
                <a:gd name="connsiteX14" fmla="*/ 0 w 8316685"/>
                <a:gd name="connsiteY14" fmla="*/ 794657 h 805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16685" h="805543">
                  <a:moveTo>
                    <a:pt x="0" y="794657"/>
                  </a:moveTo>
                  <a:lnTo>
                    <a:pt x="10885" y="10885"/>
                  </a:lnTo>
                  <a:lnTo>
                    <a:pt x="936171" y="283028"/>
                  </a:lnTo>
                  <a:lnTo>
                    <a:pt x="1208314" y="141514"/>
                  </a:lnTo>
                  <a:lnTo>
                    <a:pt x="1600200" y="293914"/>
                  </a:lnTo>
                  <a:lnTo>
                    <a:pt x="2002971" y="195943"/>
                  </a:lnTo>
                  <a:lnTo>
                    <a:pt x="2492828" y="152400"/>
                  </a:lnTo>
                  <a:lnTo>
                    <a:pt x="2895600" y="65314"/>
                  </a:lnTo>
                  <a:lnTo>
                    <a:pt x="3211285" y="304800"/>
                  </a:lnTo>
                  <a:lnTo>
                    <a:pt x="3537857" y="76200"/>
                  </a:lnTo>
                  <a:lnTo>
                    <a:pt x="3788228" y="21771"/>
                  </a:lnTo>
                  <a:lnTo>
                    <a:pt x="4071257" y="718457"/>
                  </a:lnTo>
                  <a:lnTo>
                    <a:pt x="8316685" y="0"/>
                  </a:lnTo>
                  <a:lnTo>
                    <a:pt x="8316685" y="805543"/>
                  </a:lnTo>
                  <a:lnTo>
                    <a:pt x="0" y="794657"/>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fi-FI" sz="1400"/>
            </a:p>
          </p:txBody>
        </p:sp>
        <p:sp>
          <p:nvSpPr>
            <p:cNvPr id="14" name="Freeform 13"/>
            <p:cNvSpPr/>
            <p:nvPr/>
          </p:nvSpPr>
          <p:spPr>
            <a:xfrm>
              <a:off x="489856" y="3571876"/>
              <a:ext cx="8296985" cy="827315"/>
            </a:xfrm>
            <a:custGeom>
              <a:avLst/>
              <a:gdLst>
                <a:gd name="connsiteX0" fmla="*/ 0 w 8077200"/>
                <a:gd name="connsiteY0" fmla="*/ 816429 h 827315"/>
                <a:gd name="connsiteX1" fmla="*/ 1349829 w 8077200"/>
                <a:gd name="connsiteY1" fmla="*/ 805543 h 827315"/>
                <a:gd name="connsiteX2" fmla="*/ 3537857 w 8077200"/>
                <a:gd name="connsiteY2" fmla="*/ 729343 h 827315"/>
                <a:gd name="connsiteX3" fmla="*/ 5856514 w 8077200"/>
                <a:gd name="connsiteY3" fmla="*/ 119743 h 827315"/>
                <a:gd name="connsiteX4" fmla="*/ 7173686 w 8077200"/>
                <a:gd name="connsiteY4" fmla="*/ 0 h 827315"/>
                <a:gd name="connsiteX5" fmla="*/ 8077200 w 8077200"/>
                <a:gd name="connsiteY5" fmla="*/ 21772 h 827315"/>
                <a:gd name="connsiteX6" fmla="*/ 8077200 w 8077200"/>
                <a:gd name="connsiteY6" fmla="*/ 827315 h 827315"/>
                <a:gd name="connsiteX7" fmla="*/ 0 w 8077200"/>
                <a:gd name="connsiteY7" fmla="*/ 816429 h 82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7200" h="827315">
                  <a:moveTo>
                    <a:pt x="0" y="816429"/>
                  </a:moveTo>
                  <a:lnTo>
                    <a:pt x="1349829" y="805543"/>
                  </a:lnTo>
                  <a:lnTo>
                    <a:pt x="3537857" y="729343"/>
                  </a:lnTo>
                  <a:lnTo>
                    <a:pt x="5856514" y="119743"/>
                  </a:lnTo>
                  <a:lnTo>
                    <a:pt x="7173686" y="0"/>
                  </a:lnTo>
                  <a:lnTo>
                    <a:pt x="8077200" y="21772"/>
                  </a:lnTo>
                  <a:lnTo>
                    <a:pt x="8077200" y="827315"/>
                  </a:lnTo>
                  <a:lnTo>
                    <a:pt x="0" y="816429"/>
                  </a:lnTo>
                  <a:close/>
                </a:path>
              </a:pathLst>
            </a:cu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fi-FI" sz="1400"/>
            </a:p>
          </p:txBody>
        </p:sp>
        <p:sp>
          <p:nvSpPr>
            <p:cNvPr id="4" name="Rectangle 3"/>
            <p:cNvSpPr/>
            <p:nvPr/>
          </p:nvSpPr>
          <p:spPr>
            <a:xfrm>
              <a:off x="357158" y="1785926"/>
              <a:ext cx="3714776"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i-FI" sz="1400" dirty="0" smtClean="0"/>
                <a:t>Implementation</a:t>
              </a:r>
              <a:endParaRPr lang="fi-FI" sz="1400" dirty="0"/>
            </a:p>
          </p:txBody>
        </p:sp>
        <p:sp>
          <p:nvSpPr>
            <p:cNvPr id="5" name="Rectangle 4"/>
            <p:cNvSpPr/>
            <p:nvPr/>
          </p:nvSpPr>
          <p:spPr>
            <a:xfrm>
              <a:off x="3143240" y="1785926"/>
              <a:ext cx="2286016"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Fixing old bugs</a:t>
              </a:r>
              <a:endParaRPr lang="fi-FI" sz="1400" dirty="0"/>
            </a:p>
          </p:txBody>
        </p:sp>
        <p:sp>
          <p:nvSpPr>
            <p:cNvPr id="6" name="Rectangle 5"/>
            <p:cNvSpPr/>
            <p:nvPr/>
          </p:nvSpPr>
          <p:spPr>
            <a:xfrm>
              <a:off x="4071934" y="2214554"/>
              <a:ext cx="321471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Fixing new bugs</a:t>
              </a:r>
              <a:endParaRPr lang="fi-FI" sz="1400" dirty="0"/>
            </a:p>
          </p:txBody>
        </p:sp>
        <p:sp>
          <p:nvSpPr>
            <p:cNvPr id="7" name="Rectangle 6"/>
            <p:cNvSpPr/>
            <p:nvPr/>
          </p:nvSpPr>
          <p:spPr>
            <a:xfrm>
              <a:off x="4286248" y="2643182"/>
              <a:ext cx="2071702"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Testing of an unstable system</a:t>
              </a:r>
              <a:endParaRPr lang="fi-FI" sz="1400" dirty="0"/>
            </a:p>
          </p:txBody>
        </p:sp>
        <p:sp>
          <p:nvSpPr>
            <p:cNvPr id="8" name="Rectangle 7"/>
            <p:cNvSpPr/>
            <p:nvPr/>
          </p:nvSpPr>
          <p:spPr>
            <a:xfrm>
              <a:off x="6357950" y="2643182"/>
              <a:ext cx="2428892"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System testing as intended</a:t>
              </a:r>
              <a:endParaRPr lang="fi-FI" sz="1400" dirty="0"/>
            </a:p>
          </p:txBody>
        </p:sp>
        <p:cxnSp>
          <p:nvCxnSpPr>
            <p:cNvPr id="10" name="Straight Connector 9"/>
            <p:cNvCxnSpPr>
              <a:endCxn id="14" idx="6"/>
            </p:cNvCxnSpPr>
            <p:nvPr/>
          </p:nvCxnSpPr>
          <p:spPr>
            <a:xfrm flipV="1">
              <a:off x="500034" y="4399191"/>
              <a:ext cx="8286807" cy="1143"/>
            </a:xfrm>
            <a:prstGeom prst="line">
              <a:avLst/>
            </a:prstGeom>
          </p:spPr>
          <p:style>
            <a:lnRef idx="3">
              <a:schemeClr val="accent2"/>
            </a:lnRef>
            <a:fillRef idx="0">
              <a:schemeClr val="accent2"/>
            </a:fillRef>
            <a:effectRef idx="2">
              <a:schemeClr val="accent2"/>
            </a:effectRef>
            <a:fontRef idx="minor">
              <a:schemeClr val="tx1"/>
            </a:fontRef>
          </p:style>
        </p:cxnSp>
        <p:sp>
          <p:nvSpPr>
            <p:cNvPr id="11" name="TextBox 10"/>
            <p:cNvSpPr txBox="1"/>
            <p:nvPr/>
          </p:nvSpPr>
          <p:spPr>
            <a:xfrm>
              <a:off x="428595" y="3687542"/>
              <a:ext cx="4000528" cy="335145"/>
            </a:xfrm>
            <a:prstGeom prst="rect">
              <a:avLst/>
            </a:prstGeom>
            <a:noFill/>
          </p:spPr>
          <p:txBody>
            <a:bodyPr wrap="square" rtlCol="0">
              <a:spAutoFit/>
            </a:bodyPr>
            <a:lstStyle/>
            <a:p>
              <a:r>
                <a:rPr lang="fi-FI" sz="1400" dirty="0" smtClean="0"/>
                <a:t>Real knowledge about quality</a:t>
              </a:r>
              <a:endParaRPr lang="fi-FI" sz="1400" dirty="0"/>
            </a:p>
          </p:txBody>
        </p:sp>
        <p:sp>
          <p:nvSpPr>
            <p:cNvPr id="12" name="TextBox 11"/>
            <p:cNvSpPr txBox="1"/>
            <p:nvPr/>
          </p:nvSpPr>
          <p:spPr>
            <a:xfrm>
              <a:off x="428595" y="4500570"/>
              <a:ext cx="4000528" cy="335145"/>
            </a:xfrm>
            <a:prstGeom prst="rect">
              <a:avLst/>
            </a:prstGeom>
            <a:noFill/>
          </p:spPr>
          <p:txBody>
            <a:bodyPr wrap="square" rtlCol="0">
              <a:spAutoFit/>
            </a:bodyPr>
            <a:lstStyle/>
            <a:p>
              <a:r>
                <a:rPr lang="fi-FI" sz="1400" dirty="0" smtClean="0"/>
                <a:t>Perception about quality</a:t>
              </a:r>
              <a:endParaRPr lang="fi-FI" sz="1400" dirty="0"/>
            </a:p>
          </p:txBody>
        </p:sp>
        <p:cxnSp>
          <p:nvCxnSpPr>
            <p:cNvPr id="13" name="Straight Connector 12"/>
            <p:cNvCxnSpPr>
              <a:endCxn id="18" idx="13"/>
            </p:cNvCxnSpPr>
            <p:nvPr/>
          </p:nvCxnSpPr>
          <p:spPr>
            <a:xfrm>
              <a:off x="500034" y="5654132"/>
              <a:ext cx="8316685" cy="21313"/>
            </a:xfrm>
            <a:prstGeom prst="line">
              <a:avLst/>
            </a:prstGeom>
          </p:spPr>
          <p:style>
            <a:lnRef idx="3">
              <a:schemeClr val="accent2"/>
            </a:lnRef>
            <a:fillRef idx="0">
              <a:schemeClr val="accent2"/>
            </a:fillRef>
            <a:effectRef idx="2">
              <a:schemeClr val="accent2"/>
            </a:effectRef>
            <a:fontRef idx="minor">
              <a:schemeClr val="tx1"/>
            </a:fontRef>
          </p:style>
        </p:cxnSp>
      </p:grpSp>
      <p:sp>
        <p:nvSpPr>
          <p:cNvPr id="24" name="Rectangle 23"/>
          <p:cNvSpPr/>
          <p:nvPr/>
        </p:nvSpPr>
        <p:spPr>
          <a:xfrm>
            <a:off x="3286116" y="3999375"/>
            <a:ext cx="1857388" cy="5051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Implementation of partial functionality</a:t>
            </a:r>
            <a:endParaRPr lang="fi-FI" sz="1400" dirty="0"/>
          </a:p>
        </p:txBody>
      </p:sp>
      <p:sp>
        <p:nvSpPr>
          <p:cNvPr id="25" name="Rectangle 24"/>
          <p:cNvSpPr/>
          <p:nvPr/>
        </p:nvSpPr>
        <p:spPr>
          <a:xfrm>
            <a:off x="2285984" y="3999374"/>
            <a:ext cx="100013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Fixing old bugs</a:t>
            </a:r>
            <a:endParaRPr lang="fi-FI" sz="1400" dirty="0"/>
          </a:p>
        </p:txBody>
      </p:sp>
      <p:sp>
        <p:nvSpPr>
          <p:cNvPr id="28" name="Rectangle 27"/>
          <p:cNvSpPr/>
          <p:nvPr/>
        </p:nvSpPr>
        <p:spPr>
          <a:xfrm>
            <a:off x="2285985" y="4713755"/>
            <a:ext cx="657229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System testing with regression emphasis</a:t>
            </a:r>
            <a:endParaRPr lang="fi-FI" sz="1400" dirty="0"/>
          </a:p>
        </p:txBody>
      </p:sp>
      <p:cxnSp>
        <p:nvCxnSpPr>
          <p:cNvPr id="29" name="Straight Connector 28"/>
          <p:cNvCxnSpPr/>
          <p:nvPr/>
        </p:nvCxnSpPr>
        <p:spPr>
          <a:xfrm flipV="1">
            <a:off x="2327961" y="5894724"/>
            <a:ext cx="6578039" cy="735"/>
          </a:xfrm>
          <a:prstGeom prst="line">
            <a:avLst/>
          </a:prstGeom>
        </p:spPr>
        <p:style>
          <a:lnRef idx="3">
            <a:schemeClr val="accent2"/>
          </a:lnRef>
          <a:fillRef idx="0">
            <a:schemeClr val="accent2"/>
          </a:fillRef>
          <a:effectRef idx="2">
            <a:schemeClr val="accent2"/>
          </a:effectRef>
          <a:fontRef idx="minor">
            <a:schemeClr val="tx1"/>
          </a:fontRef>
        </p:style>
      </p:cxnSp>
      <p:sp>
        <p:nvSpPr>
          <p:cNvPr id="31" name="TextBox 30"/>
          <p:cNvSpPr txBox="1"/>
          <p:nvPr/>
        </p:nvSpPr>
        <p:spPr>
          <a:xfrm>
            <a:off x="2271253" y="5959894"/>
            <a:ext cx="3175606" cy="215444"/>
          </a:xfrm>
          <a:prstGeom prst="rect">
            <a:avLst/>
          </a:prstGeom>
          <a:noFill/>
        </p:spPr>
        <p:txBody>
          <a:bodyPr wrap="square" rtlCol="0">
            <a:spAutoFit/>
          </a:bodyPr>
          <a:lstStyle/>
          <a:p>
            <a:r>
              <a:rPr lang="fi-FI" sz="1400" dirty="0" smtClean="0"/>
              <a:t>Perception about quality</a:t>
            </a:r>
            <a:endParaRPr lang="fi-FI" sz="1400" dirty="0"/>
          </a:p>
        </p:txBody>
      </p:sp>
      <p:cxnSp>
        <p:nvCxnSpPr>
          <p:cNvPr id="32" name="Straight Connector 31"/>
          <p:cNvCxnSpPr/>
          <p:nvPr/>
        </p:nvCxnSpPr>
        <p:spPr>
          <a:xfrm>
            <a:off x="2327961" y="6701447"/>
            <a:ext cx="6601757" cy="13701"/>
          </a:xfrm>
          <a:prstGeom prst="line">
            <a:avLst/>
          </a:prstGeom>
        </p:spPr>
        <p:style>
          <a:lnRef idx="3">
            <a:schemeClr val="accent2"/>
          </a:lnRef>
          <a:fillRef idx="0">
            <a:schemeClr val="accent2"/>
          </a:fillRef>
          <a:effectRef idx="2">
            <a:schemeClr val="accent2"/>
          </a:effectRef>
          <a:fontRef idx="minor">
            <a:schemeClr val="tx1"/>
          </a:fontRef>
        </p:style>
      </p:cxnSp>
      <p:sp>
        <p:nvSpPr>
          <p:cNvPr id="36" name="Rectangle 35"/>
          <p:cNvSpPr/>
          <p:nvPr/>
        </p:nvSpPr>
        <p:spPr>
          <a:xfrm>
            <a:off x="5143504" y="3999374"/>
            <a:ext cx="1857388" cy="5051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Implementation of partial functionality</a:t>
            </a:r>
            <a:endParaRPr lang="fi-FI" sz="1400" dirty="0"/>
          </a:p>
        </p:txBody>
      </p:sp>
      <p:sp>
        <p:nvSpPr>
          <p:cNvPr id="37" name="Rectangle 36"/>
          <p:cNvSpPr/>
          <p:nvPr/>
        </p:nvSpPr>
        <p:spPr>
          <a:xfrm>
            <a:off x="7000892" y="3999374"/>
            <a:ext cx="1857388" cy="5051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Implementation of partial functionality</a:t>
            </a:r>
            <a:endParaRPr lang="fi-FI" sz="1400" dirty="0"/>
          </a:p>
        </p:txBody>
      </p:sp>
      <p:sp>
        <p:nvSpPr>
          <p:cNvPr id="26" name="Rectangle 25"/>
          <p:cNvSpPr/>
          <p:nvPr/>
        </p:nvSpPr>
        <p:spPr>
          <a:xfrm>
            <a:off x="2285984" y="4499441"/>
            <a:ext cx="6572296"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400" dirty="0" smtClean="0"/>
              <a:t>Fixing new bugs</a:t>
            </a:r>
            <a:endParaRPr lang="fi-FI" sz="1400" dirty="0"/>
          </a:p>
        </p:txBody>
      </p:sp>
      <p:sp>
        <p:nvSpPr>
          <p:cNvPr id="40" name="Freeform 39"/>
          <p:cNvSpPr/>
          <p:nvPr/>
        </p:nvSpPr>
        <p:spPr>
          <a:xfrm>
            <a:off x="2318657" y="5388429"/>
            <a:ext cx="6596743" cy="511628"/>
          </a:xfrm>
          <a:custGeom>
            <a:avLst/>
            <a:gdLst>
              <a:gd name="connsiteX0" fmla="*/ 0 w 6596743"/>
              <a:gd name="connsiteY0" fmla="*/ 478971 h 511628"/>
              <a:gd name="connsiteX1" fmla="*/ 402772 w 6596743"/>
              <a:gd name="connsiteY1" fmla="*/ 195942 h 511628"/>
              <a:gd name="connsiteX2" fmla="*/ 936172 w 6596743"/>
              <a:gd name="connsiteY2" fmla="*/ 130628 h 511628"/>
              <a:gd name="connsiteX3" fmla="*/ 1502229 w 6596743"/>
              <a:gd name="connsiteY3" fmla="*/ 0 h 511628"/>
              <a:gd name="connsiteX4" fmla="*/ 2220686 w 6596743"/>
              <a:gd name="connsiteY4" fmla="*/ 87085 h 511628"/>
              <a:gd name="connsiteX5" fmla="*/ 2601686 w 6596743"/>
              <a:gd name="connsiteY5" fmla="*/ 65314 h 511628"/>
              <a:gd name="connsiteX6" fmla="*/ 3135086 w 6596743"/>
              <a:gd name="connsiteY6" fmla="*/ 0 h 511628"/>
              <a:gd name="connsiteX7" fmla="*/ 3657600 w 6596743"/>
              <a:gd name="connsiteY7" fmla="*/ 21771 h 511628"/>
              <a:gd name="connsiteX8" fmla="*/ 4191000 w 6596743"/>
              <a:gd name="connsiteY8" fmla="*/ 65314 h 511628"/>
              <a:gd name="connsiteX9" fmla="*/ 4626429 w 6596743"/>
              <a:gd name="connsiteY9" fmla="*/ 10885 h 511628"/>
              <a:gd name="connsiteX10" fmla="*/ 5203372 w 6596743"/>
              <a:gd name="connsiteY10" fmla="*/ 76200 h 511628"/>
              <a:gd name="connsiteX11" fmla="*/ 5627914 w 6596743"/>
              <a:gd name="connsiteY11" fmla="*/ 54428 h 511628"/>
              <a:gd name="connsiteX12" fmla="*/ 5976257 w 6596743"/>
              <a:gd name="connsiteY12" fmla="*/ 0 h 511628"/>
              <a:gd name="connsiteX13" fmla="*/ 6411686 w 6596743"/>
              <a:gd name="connsiteY13" fmla="*/ 54428 h 511628"/>
              <a:gd name="connsiteX14" fmla="*/ 6574972 w 6596743"/>
              <a:gd name="connsiteY14" fmla="*/ 0 h 511628"/>
              <a:gd name="connsiteX15" fmla="*/ 6596743 w 6596743"/>
              <a:gd name="connsiteY15" fmla="*/ 0 h 511628"/>
              <a:gd name="connsiteX16" fmla="*/ 6596743 w 6596743"/>
              <a:gd name="connsiteY16" fmla="*/ 511628 h 511628"/>
              <a:gd name="connsiteX17" fmla="*/ 0 w 6596743"/>
              <a:gd name="connsiteY17" fmla="*/ 478971 h 511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96743" h="511628">
                <a:moveTo>
                  <a:pt x="0" y="478971"/>
                </a:moveTo>
                <a:lnTo>
                  <a:pt x="402772" y="195942"/>
                </a:lnTo>
                <a:lnTo>
                  <a:pt x="936172" y="130628"/>
                </a:lnTo>
                <a:lnTo>
                  <a:pt x="1502229" y="0"/>
                </a:lnTo>
                <a:cubicBezTo>
                  <a:pt x="1741661" y="29468"/>
                  <a:pt x="1979447" y="87085"/>
                  <a:pt x="2220686" y="87085"/>
                </a:cubicBezTo>
                <a:lnTo>
                  <a:pt x="2601686" y="65314"/>
                </a:lnTo>
                <a:lnTo>
                  <a:pt x="3135086" y="0"/>
                </a:lnTo>
                <a:lnTo>
                  <a:pt x="3657600" y="21771"/>
                </a:lnTo>
                <a:lnTo>
                  <a:pt x="4191000" y="65314"/>
                </a:lnTo>
                <a:lnTo>
                  <a:pt x="4626429" y="10885"/>
                </a:lnTo>
                <a:lnTo>
                  <a:pt x="5203372" y="76200"/>
                </a:lnTo>
                <a:lnTo>
                  <a:pt x="5627914" y="54428"/>
                </a:lnTo>
                <a:lnTo>
                  <a:pt x="5976257" y="0"/>
                </a:lnTo>
                <a:lnTo>
                  <a:pt x="6411686" y="54428"/>
                </a:lnTo>
                <a:lnTo>
                  <a:pt x="6574972" y="0"/>
                </a:lnTo>
                <a:lnTo>
                  <a:pt x="6596743" y="0"/>
                </a:lnTo>
                <a:lnTo>
                  <a:pt x="6596743" y="511628"/>
                </a:lnTo>
                <a:lnTo>
                  <a:pt x="0" y="478971"/>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fi-FI"/>
          </a:p>
        </p:txBody>
      </p:sp>
      <p:sp>
        <p:nvSpPr>
          <p:cNvPr id="41" name="Freeform 40"/>
          <p:cNvSpPr/>
          <p:nvPr/>
        </p:nvSpPr>
        <p:spPr>
          <a:xfrm>
            <a:off x="2340429" y="6226629"/>
            <a:ext cx="6596742" cy="500742"/>
          </a:xfrm>
          <a:custGeom>
            <a:avLst/>
            <a:gdLst>
              <a:gd name="connsiteX0" fmla="*/ 0 w 6596742"/>
              <a:gd name="connsiteY0" fmla="*/ 446314 h 500742"/>
              <a:gd name="connsiteX1" fmla="*/ 0 w 6596742"/>
              <a:gd name="connsiteY1" fmla="*/ 228600 h 500742"/>
              <a:gd name="connsiteX2" fmla="*/ 566057 w 6596742"/>
              <a:gd name="connsiteY2" fmla="*/ 108857 h 500742"/>
              <a:gd name="connsiteX3" fmla="*/ 881742 w 6596742"/>
              <a:gd name="connsiteY3" fmla="*/ 0 h 500742"/>
              <a:gd name="connsiteX4" fmla="*/ 1828800 w 6596742"/>
              <a:gd name="connsiteY4" fmla="*/ 130628 h 500742"/>
              <a:gd name="connsiteX5" fmla="*/ 2623457 w 6596742"/>
              <a:gd name="connsiteY5" fmla="*/ 10885 h 500742"/>
              <a:gd name="connsiteX6" fmla="*/ 3080657 w 6596742"/>
              <a:gd name="connsiteY6" fmla="*/ 141514 h 500742"/>
              <a:gd name="connsiteX7" fmla="*/ 3037114 w 6596742"/>
              <a:gd name="connsiteY7" fmla="*/ 195942 h 500742"/>
              <a:gd name="connsiteX8" fmla="*/ 2982685 w 6596742"/>
              <a:gd name="connsiteY8" fmla="*/ 261257 h 500742"/>
              <a:gd name="connsiteX9" fmla="*/ 2939142 w 6596742"/>
              <a:gd name="connsiteY9" fmla="*/ 261257 h 500742"/>
              <a:gd name="connsiteX10" fmla="*/ 3156857 w 6596742"/>
              <a:gd name="connsiteY10" fmla="*/ 97971 h 500742"/>
              <a:gd name="connsiteX11" fmla="*/ 3831771 w 6596742"/>
              <a:gd name="connsiteY11" fmla="*/ 32657 h 500742"/>
              <a:gd name="connsiteX12" fmla="*/ 4234542 w 6596742"/>
              <a:gd name="connsiteY12" fmla="*/ 195942 h 500742"/>
              <a:gd name="connsiteX13" fmla="*/ 4582885 w 6596742"/>
              <a:gd name="connsiteY13" fmla="*/ 21771 h 500742"/>
              <a:gd name="connsiteX14" fmla="*/ 5083628 w 6596742"/>
              <a:gd name="connsiteY14" fmla="*/ 10885 h 500742"/>
              <a:gd name="connsiteX15" fmla="*/ 5638800 w 6596742"/>
              <a:gd name="connsiteY15" fmla="*/ 43542 h 500742"/>
              <a:gd name="connsiteX16" fmla="*/ 5834742 w 6596742"/>
              <a:gd name="connsiteY16" fmla="*/ 130628 h 500742"/>
              <a:gd name="connsiteX17" fmla="*/ 6150428 w 6596742"/>
              <a:gd name="connsiteY17" fmla="*/ 10885 h 500742"/>
              <a:gd name="connsiteX18" fmla="*/ 6585857 w 6596742"/>
              <a:gd name="connsiteY18" fmla="*/ 10885 h 500742"/>
              <a:gd name="connsiteX19" fmla="*/ 6596742 w 6596742"/>
              <a:gd name="connsiteY19" fmla="*/ 500742 h 500742"/>
              <a:gd name="connsiteX20" fmla="*/ 0 w 6596742"/>
              <a:gd name="connsiteY20" fmla="*/ 446314 h 500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96742" h="500742">
                <a:moveTo>
                  <a:pt x="0" y="446314"/>
                </a:moveTo>
                <a:lnTo>
                  <a:pt x="0" y="228600"/>
                </a:lnTo>
                <a:lnTo>
                  <a:pt x="566057" y="108857"/>
                </a:lnTo>
                <a:lnTo>
                  <a:pt x="881742" y="0"/>
                </a:lnTo>
                <a:lnTo>
                  <a:pt x="1828800" y="130628"/>
                </a:lnTo>
                <a:lnTo>
                  <a:pt x="2623457" y="10885"/>
                </a:lnTo>
                <a:cubicBezTo>
                  <a:pt x="2775857" y="54428"/>
                  <a:pt x="2935977" y="76789"/>
                  <a:pt x="3080657" y="141514"/>
                </a:cubicBezTo>
                <a:cubicBezTo>
                  <a:pt x="3101865" y="151002"/>
                  <a:pt x="3050002" y="176610"/>
                  <a:pt x="3037114" y="195942"/>
                </a:cubicBezTo>
                <a:cubicBezTo>
                  <a:pt x="3016080" y="227493"/>
                  <a:pt x="3023532" y="249586"/>
                  <a:pt x="2982685" y="261257"/>
                </a:cubicBezTo>
                <a:cubicBezTo>
                  <a:pt x="2968729" y="265244"/>
                  <a:pt x="2953656" y="261257"/>
                  <a:pt x="2939142" y="261257"/>
                </a:cubicBezTo>
                <a:lnTo>
                  <a:pt x="3156857" y="97971"/>
                </a:lnTo>
                <a:lnTo>
                  <a:pt x="3831771" y="32657"/>
                </a:lnTo>
                <a:lnTo>
                  <a:pt x="4234542" y="195942"/>
                </a:lnTo>
                <a:lnTo>
                  <a:pt x="4582885" y="21771"/>
                </a:lnTo>
                <a:lnTo>
                  <a:pt x="5083628" y="10885"/>
                </a:lnTo>
                <a:lnTo>
                  <a:pt x="5638800" y="43542"/>
                </a:lnTo>
                <a:lnTo>
                  <a:pt x="5834742" y="130628"/>
                </a:lnTo>
                <a:lnTo>
                  <a:pt x="6150428" y="10885"/>
                </a:lnTo>
                <a:lnTo>
                  <a:pt x="6585857" y="10885"/>
                </a:lnTo>
                <a:lnTo>
                  <a:pt x="6596742" y="500742"/>
                </a:lnTo>
                <a:lnTo>
                  <a:pt x="0" y="446314"/>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 	</a:t>
            </a:r>
            <a:endParaRPr lang="fi-FI" dirty="0"/>
          </a:p>
        </p:txBody>
      </p:sp>
      <p:sp>
        <p:nvSpPr>
          <p:cNvPr id="30" name="TextBox 29"/>
          <p:cNvSpPr txBox="1"/>
          <p:nvPr/>
        </p:nvSpPr>
        <p:spPr>
          <a:xfrm>
            <a:off x="2285984" y="5142382"/>
            <a:ext cx="3175606" cy="215444"/>
          </a:xfrm>
          <a:prstGeom prst="rect">
            <a:avLst/>
          </a:prstGeom>
          <a:noFill/>
        </p:spPr>
        <p:txBody>
          <a:bodyPr wrap="square" rtlCol="0">
            <a:spAutoFit/>
          </a:bodyPr>
          <a:lstStyle/>
          <a:p>
            <a:r>
              <a:rPr lang="fi-FI" sz="1400" dirty="0" smtClean="0"/>
              <a:t>Real knowledge about quality</a:t>
            </a:r>
            <a:endParaRPr lang="fi-FI" sz="1400" dirty="0"/>
          </a:p>
        </p:txBody>
      </p:sp>
      <p:sp>
        <p:nvSpPr>
          <p:cNvPr id="42" name="TextBox 41"/>
          <p:cNvSpPr txBox="1"/>
          <p:nvPr/>
        </p:nvSpPr>
        <p:spPr>
          <a:xfrm>
            <a:off x="71406" y="4357694"/>
            <a:ext cx="2214578" cy="2169825"/>
          </a:xfrm>
          <a:prstGeom prst="rect">
            <a:avLst/>
          </a:prstGeom>
          <a:noFill/>
        </p:spPr>
        <p:txBody>
          <a:bodyPr wrap="square" rtlCol="0">
            <a:spAutoFit/>
          </a:bodyPr>
          <a:lstStyle/>
          <a:p>
            <a:r>
              <a:rPr lang="fi-FI" b="1" dirty="0" smtClean="0"/>
              <a:t>ITERATIVE &amp; INCREMENTAL</a:t>
            </a:r>
          </a:p>
          <a:p>
            <a:endParaRPr lang="fi-FI" dirty="0"/>
          </a:p>
          <a:p>
            <a:pPr>
              <a:lnSpc>
                <a:spcPct val="90000"/>
              </a:lnSpc>
              <a:buFont typeface="Arial" pitchFamily="34" charset="0"/>
              <a:buChar char="•"/>
            </a:pPr>
            <a:r>
              <a:rPr lang="fi-FI" sz="1400" dirty="0" smtClean="0"/>
              <a:t> </a:t>
            </a:r>
            <a:r>
              <a:rPr lang="en-US" sz="1400" dirty="0" smtClean="0"/>
              <a:t>Minimize the size of things under work and intermediate storage</a:t>
            </a:r>
          </a:p>
          <a:p>
            <a:pPr>
              <a:lnSpc>
                <a:spcPct val="90000"/>
              </a:lnSpc>
              <a:buFont typeface="Arial" pitchFamily="34" charset="0"/>
              <a:buChar char="•"/>
            </a:pPr>
            <a:r>
              <a:rPr lang="en-US" sz="1400" dirty="0" smtClean="0"/>
              <a:t> Maximize throughput</a:t>
            </a:r>
          </a:p>
          <a:p>
            <a:pPr>
              <a:lnSpc>
                <a:spcPct val="90000"/>
              </a:lnSpc>
              <a:buFont typeface="Arial" pitchFamily="34" charset="0"/>
              <a:buChar char="•"/>
            </a:pPr>
            <a:r>
              <a:rPr lang="en-US" sz="1400" dirty="0" smtClean="0"/>
              <a:t> Minimize waste</a:t>
            </a:r>
          </a:p>
          <a:p>
            <a:pPr>
              <a:buFont typeface="Arial" pitchFamily="34" charset="0"/>
              <a:buChar char="•"/>
            </a:pPr>
            <a:endParaRPr lang="fi-FI" dirty="0"/>
          </a:p>
        </p:txBody>
      </p:sp>
      <p:sp>
        <p:nvSpPr>
          <p:cNvPr id="43" name="TextBox 42"/>
          <p:cNvSpPr txBox="1"/>
          <p:nvPr/>
        </p:nvSpPr>
        <p:spPr>
          <a:xfrm>
            <a:off x="6929454" y="1285860"/>
            <a:ext cx="2286016" cy="2431435"/>
          </a:xfrm>
          <a:prstGeom prst="rect">
            <a:avLst/>
          </a:prstGeom>
          <a:noFill/>
        </p:spPr>
        <p:txBody>
          <a:bodyPr wrap="square" rtlCol="0">
            <a:spAutoFit/>
          </a:bodyPr>
          <a:lstStyle/>
          <a:p>
            <a:r>
              <a:rPr lang="fi-FI" b="1" dirty="0" smtClean="0"/>
              <a:t>TRADITIONAL</a:t>
            </a:r>
          </a:p>
          <a:p>
            <a:endParaRPr lang="fi-FI" dirty="0"/>
          </a:p>
          <a:p>
            <a:pPr>
              <a:buFont typeface="Arial" pitchFamily="34" charset="0"/>
              <a:buChar char="•"/>
            </a:pPr>
            <a:r>
              <a:rPr lang="fi-FI" dirty="0"/>
              <a:t> </a:t>
            </a:r>
            <a:r>
              <a:rPr lang="fi-FI" sz="1400" dirty="0" smtClean="0"/>
              <a:t>Everything worked at simultaneously</a:t>
            </a:r>
          </a:p>
          <a:p>
            <a:pPr>
              <a:buFont typeface="Arial" pitchFamily="34" charset="0"/>
              <a:buChar char="•"/>
            </a:pPr>
            <a:r>
              <a:rPr lang="fi-FI" sz="1400" dirty="0"/>
              <a:t> </a:t>
            </a:r>
            <a:r>
              <a:rPr lang="fi-FI" sz="1400" dirty="0" smtClean="0"/>
              <a:t>Throughput dependent on weakest area and as long as the project</a:t>
            </a:r>
          </a:p>
          <a:p>
            <a:pPr>
              <a:buFont typeface="Arial" pitchFamily="34" charset="0"/>
              <a:buChar char="•"/>
            </a:pPr>
            <a:r>
              <a:rPr lang="fi-FI" sz="1400" dirty="0"/>
              <a:t> </a:t>
            </a:r>
            <a:r>
              <a:rPr lang="fi-FI" sz="1400" dirty="0" smtClean="0"/>
              <a:t>Extra features added while waiting for slowest</a:t>
            </a:r>
            <a:endParaRPr lang="fi-FI" sz="1400" dirty="0"/>
          </a:p>
        </p:txBody>
      </p:sp>
      <p:cxnSp>
        <p:nvCxnSpPr>
          <p:cNvPr id="45" name="Straight Connector 44"/>
          <p:cNvCxnSpPr/>
          <p:nvPr/>
        </p:nvCxnSpPr>
        <p:spPr>
          <a:xfrm>
            <a:off x="71438" y="3929066"/>
            <a:ext cx="9001156" cy="1588"/>
          </a:xfrm>
          <a:prstGeom prst="line">
            <a:avLst/>
          </a:prstGeom>
          <a:ln>
            <a:prstDash val="sysDash"/>
          </a:ln>
        </p:spPr>
        <p:style>
          <a:lnRef idx="2">
            <a:schemeClr val="accent6"/>
          </a:lnRef>
          <a:fillRef idx="0">
            <a:schemeClr val="accent6"/>
          </a:fillRef>
          <a:effectRef idx="1">
            <a:schemeClr val="accent6"/>
          </a:effectRef>
          <a:fontRef idx="minor">
            <a:schemeClr val="tx1"/>
          </a:fontRef>
        </p:style>
      </p:cxnSp>
      <p:sp>
        <p:nvSpPr>
          <p:cNvPr id="33" name="Slide Number Placeholder 32"/>
          <p:cNvSpPr>
            <a:spLocks noGrp="1"/>
          </p:cNvSpPr>
          <p:nvPr>
            <p:ph type="sldNum" sz="quarter" idx="12"/>
          </p:nvPr>
        </p:nvSpPr>
        <p:spPr/>
        <p:txBody>
          <a:bodyPr/>
          <a:lstStyle/>
          <a:p>
            <a:fld id="{B6F15528-21DE-4FAA-801E-634DDDAF4B2B}" type="slidenum">
              <a:rPr lang="en-US" smtClean="0"/>
              <a:pPr/>
              <a:t>3</a:t>
            </a:fld>
            <a:endParaRPr lang="en-US"/>
          </a:p>
        </p:txBody>
      </p:sp>
      <p:sp>
        <p:nvSpPr>
          <p:cNvPr id="34" name="Footer Placeholder 33"/>
          <p:cNvSpPr>
            <a:spLocks noGrp="1"/>
          </p:cNvSpPr>
          <p:nvPr>
            <p:ph type="ftr" sz="quarter" idx="11"/>
          </p:nvPr>
        </p:nvSpPr>
        <p:spPr/>
        <p:txBody>
          <a:bodyPr/>
          <a:lstStyle/>
          <a:p>
            <a:r>
              <a:rPr lang="en-US" smtClean="0"/>
              <a:t>Extras</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fi-FI" dirty="0" smtClean="0"/>
              <a:t>Winston Royce introduced the Waterfall model in 1970 paper.</a:t>
            </a:r>
            <a:endParaRPr lang="en-US" dirty="0" smtClean="0"/>
          </a:p>
        </p:txBody>
      </p:sp>
      <p:pic>
        <p:nvPicPr>
          <p:cNvPr id="16387" name="Picture 3"/>
          <p:cNvPicPr>
            <a:picLocks noChangeAspect="1" noChangeArrowheads="1"/>
          </p:cNvPicPr>
          <p:nvPr/>
        </p:nvPicPr>
        <p:blipFill>
          <a:blip r:embed="rId3" cstate="print"/>
          <a:srcRect/>
          <a:stretch>
            <a:fillRect/>
          </a:stretch>
        </p:blipFill>
        <p:spPr bwMode="auto">
          <a:xfrm rot="5275003">
            <a:off x="3407592" y="-1159966"/>
            <a:ext cx="2427287" cy="8445500"/>
          </a:xfrm>
          <a:prstGeom prst="rect">
            <a:avLst/>
          </a:prstGeom>
          <a:noFill/>
          <a:ln w="12700">
            <a:noFill/>
            <a:miter lim="800000"/>
            <a:headEnd/>
            <a:tailEnd/>
          </a:ln>
        </p:spPr>
      </p:pic>
      <p:pic>
        <p:nvPicPr>
          <p:cNvPr id="16388" name="Picture 4"/>
          <p:cNvPicPr>
            <a:picLocks noChangeAspect="1" noChangeArrowheads="1"/>
          </p:cNvPicPr>
          <p:nvPr/>
        </p:nvPicPr>
        <p:blipFill>
          <a:blip r:embed="rId4" cstate="print"/>
          <a:srcRect/>
          <a:stretch>
            <a:fillRect/>
          </a:stretch>
        </p:blipFill>
        <p:spPr bwMode="auto">
          <a:xfrm rot="5400000">
            <a:off x="4336257" y="1648618"/>
            <a:ext cx="685800" cy="6983413"/>
          </a:xfrm>
          <a:prstGeom prst="rect">
            <a:avLst/>
          </a:prstGeom>
          <a:noFill/>
          <a:ln w="12700">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Extras</a:t>
            </a:r>
            <a:endParaRPr lang="en-US"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267494"/>
            <a:ext cx="9144000" cy="1399032"/>
          </a:xfrm>
        </p:spPr>
        <p:txBody>
          <a:bodyPr>
            <a:normAutofit fontScale="90000"/>
          </a:bodyPr>
          <a:lstStyle/>
          <a:p>
            <a:r>
              <a:rPr lang="fi-FI" dirty="0" smtClean="0"/>
              <a:t>What Winston Royce said about single pass waterfall process</a:t>
            </a:r>
            <a:endParaRPr lang="en-US" dirty="0" smtClean="0"/>
          </a:p>
        </p:txBody>
      </p:sp>
      <p:pic>
        <p:nvPicPr>
          <p:cNvPr id="111619" name="Picture 3"/>
          <p:cNvPicPr>
            <a:picLocks noChangeAspect="1" noChangeArrowheads="1"/>
          </p:cNvPicPr>
          <p:nvPr/>
        </p:nvPicPr>
        <p:blipFill>
          <a:blip r:embed="rId3" cstate="print"/>
          <a:srcRect/>
          <a:stretch>
            <a:fillRect/>
          </a:stretch>
        </p:blipFill>
        <p:spPr bwMode="auto">
          <a:xfrm rot="5400000">
            <a:off x="4002088" y="1771673"/>
            <a:ext cx="3632200" cy="5518150"/>
          </a:xfrm>
          <a:prstGeom prst="rect">
            <a:avLst/>
          </a:prstGeom>
          <a:noFill/>
          <a:ln w="12700">
            <a:noFill/>
            <a:miter lim="800000"/>
            <a:headEnd/>
            <a:tailEnd/>
          </a:ln>
        </p:spPr>
      </p:pic>
      <p:pic>
        <p:nvPicPr>
          <p:cNvPr id="111620" name="Picture 4"/>
          <p:cNvPicPr>
            <a:picLocks noChangeAspect="1" noChangeArrowheads="1"/>
          </p:cNvPicPr>
          <p:nvPr/>
        </p:nvPicPr>
        <p:blipFill>
          <a:blip r:embed="rId4" cstate="print"/>
          <a:srcRect/>
          <a:stretch>
            <a:fillRect/>
          </a:stretch>
        </p:blipFill>
        <p:spPr bwMode="auto">
          <a:xfrm>
            <a:off x="900113" y="1633561"/>
            <a:ext cx="5040312" cy="730250"/>
          </a:xfrm>
          <a:prstGeom prst="rect">
            <a:avLst/>
          </a:prstGeom>
          <a:noFill/>
          <a:ln w="12700">
            <a:noFill/>
            <a:miter lim="800000"/>
            <a:headEnd/>
            <a:tailEnd/>
          </a:ln>
        </p:spPr>
      </p:pic>
      <p:pic>
        <p:nvPicPr>
          <p:cNvPr id="111621" name="Picture 5"/>
          <p:cNvPicPr>
            <a:picLocks noChangeAspect="1" noChangeArrowheads="1"/>
          </p:cNvPicPr>
          <p:nvPr/>
        </p:nvPicPr>
        <p:blipFill>
          <a:blip r:embed="rId5" cstate="print"/>
          <a:srcRect/>
          <a:stretch>
            <a:fillRect/>
          </a:stretch>
        </p:blipFill>
        <p:spPr bwMode="auto">
          <a:xfrm rot="5400000">
            <a:off x="1959769" y="3742554"/>
            <a:ext cx="1768475" cy="4176713"/>
          </a:xfrm>
          <a:prstGeom prst="rect">
            <a:avLst/>
          </a:prstGeom>
          <a:noFill/>
          <a:ln w="12700">
            <a:noFill/>
            <a:miter lim="800000"/>
            <a:headEnd/>
            <a:tailEnd/>
          </a:ln>
        </p:spPr>
      </p:pic>
      <p:sp>
        <p:nvSpPr>
          <p:cNvPr id="111622" name="Line 6"/>
          <p:cNvSpPr>
            <a:spLocks noChangeShapeType="1"/>
          </p:cNvSpPr>
          <p:nvPr/>
        </p:nvSpPr>
        <p:spPr bwMode="auto">
          <a:xfrm>
            <a:off x="827088" y="5822973"/>
            <a:ext cx="4032250" cy="73025"/>
          </a:xfrm>
          <a:prstGeom prst="line">
            <a:avLst/>
          </a:prstGeom>
          <a:noFill/>
          <a:ln w="12700">
            <a:solidFill>
              <a:srgbClr val="FF0000"/>
            </a:solidFill>
            <a:round/>
            <a:headEnd/>
            <a:tailEnd/>
          </a:ln>
        </p:spPr>
        <p:txBody>
          <a:bodyPr/>
          <a:lstStyle/>
          <a:p>
            <a:endParaRPr lang="fi-FI"/>
          </a:p>
        </p:txBody>
      </p:sp>
      <p:sp>
        <p:nvSpPr>
          <p:cNvPr id="111623" name="Line 7"/>
          <p:cNvSpPr>
            <a:spLocks noChangeShapeType="1"/>
          </p:cNvSpPr>
          <p:nvPr/>
        </p:nvSpPr>
        <p:spPr bwMode="auto">
          <a:xfrm>
            <a:off x="823913" y="6010298"/>
            <a:ext cx="4032250" cy="73025"/>
          </a:xfrm>
          <a:prstGeom prst="line">
            <a:avLst/>
          </a:prstGeom>
          <a:noFill/>
          <a:ln w="12700">
            <a:solidFill>
              <a:srgbClr val="FF0000"/>
            </a:solidFill>
            <a:round/>
            <a:headEnd/>
            <a:tailEnd/>
          </a:ln>
        </p:spPr>
        <p:txBody>
          <a:bodyPr/>
          <a:lstStyle/>
          <a:p>
            <a:endParaRPr lang="fi-FI"/>
          </a:p>
        </p:txBody>
      </p:sp>
      <p:sp>
        <p:nvSpPr>
          <p:cNvPr id="111624" name="Line 8"/>
          <p:cNvSpPr>
            <a:spLocks noChangeShapeType="1"/>
          </p:cNvSpPr>
          <p:nvPr/>
        </p:nvSpPr>
        <p:spPr bwMode="auto">
          <a:xfrm>
            <a:off x="827088" y="6183336"/>
            <a:ext cx="4032250" cy="73025"/>
          </a:xfrm>
          <a:prstGeom prst="line">
            <a:avLst/>
          </a:prstGeom>
          <a:noFill/>
          <a:ln w="12700">
            <a:solidFill>
              <a:srgbClr val="FF0000"/>
            </a:solidFill>
            <a:round/>
            <a:headEnd/>
            <a:tailEnd/>
          </a:ln>
        </p:spPr>
        <p:txBody>
          <a:bodyPr/>
          <a:lstStyle/>
          <a:p>
            <a:endParaRPr lang="fi-FI"/>
          </a:p>
        </p:txBody>
      </p:sp>
      <p:sp>
        <p:nvSpPr>
          <p:cNvPr id="111625" name="Line 9"/>
          <p:cNvSpPr>
            <a:spLocks noChangeShapeType="1"/>
          </p:cNvSpPr>
          <p:nvPr/>
        </p:nvSpPr>
        <p:spPr bwMode="auto">
          <a:xfrm>
            <a:off x="823913" y="6367486"/>
            <a:ext cx="4032250" cy="73025"/>
          </a:xfrm>
          <a:prstGeom prst="line">
            <a:avLst/>
          </a:prstGeom>
          <a:noFill/>
          <a:ln w="12700">
            <a:solidFill>
              <a:srgbClr val="FF0000"/>
            </a:solidFill>
            <a:round/>
            <a:headEnd/>
            <a:tailEnd/>
          </a:ln>
        </p:spPr>
        <p:txBody>
          <a:bodyPr/>
          <a:lstStyle/>
          <a:p>
            <a:endParaRPr lang="fi-FI"/>
          </a:p>
        </p:txBody>
      </p:sp>
      <p:sp>
        <p:nvSpPr>
          <p:cNvPr id="111626" name="Line 10"/>
          <p:cNvSpPr>
            <a:spLocks noChangeShapeType="1"/>
          </p:cNvSpPr>
          <p:nvPr/>
        </p:nvSpPr>
        <p:spPr bwMode="auto">
          <a:xfrm>
            <a:off x="827088" y="6553223"/>
            <a:ext cx="4032250" cy="73025"/>
          </a:xfrm>
          <a:prstGeom prst="line">
            <a:avLst/>
          </a:prstGeom>
          <a:noFill/>
          <a:ln w="12700">
            <a:solidFill>
              <a:srgbClr val="FF0000"/>
            </a:solidFill>
            <a:round/>
            <a:headEnd/>
            <a:tailEnd/>
          </a:ln>
        </p:spPr>
        <p:txBody>
          <a:bodyPr/>
          <a:lstStyle/>
          <a:p>
            <a:endParaRPr lang="fi-FI"/>
          </a:p>
        </p:txBody>
      </p:sp>
      <p:sp>
        <p:nvSpPr>
          <p:cNvPr id="12" name="Footer Placeholder 11"/>
          <p:cNvSpPr>
            <a:spLocks noGrp="1"/>
          </p:cNvSpPr>
          <p:nvPr>
            <p:ph type="ftr" sz="quarter" idx="11"/>
          </p:nvPr>
        </p:nvSpPr>
        <p:spPr/>
        <p:txBody>
          <a:bodyPr/>
          <a:lstStyle/>
          <a:p>
            <a:r>
              <a:rPr lang="en-US" smtClean="0"/>
              <a:t>Extras</a:t>
            </a:r>
            <a:endParaRPr lang="en-US"/>
          </a:p>
        </p:txBody>
      </p:sp>
      <p:sp>
        <p:nvSpPr>
          <p:cNvPr id="13" name="Slide Number Placeholder 12"/>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620"/>
                                        </p:tgtEl>
                                        <p:attrNameLst>
                                          <p:attrName>style.visibility</p:attrName>
                                        </p:attrNameLst>
                                      </p:cBhvr>
                                      <p:to>
                                        <p:strVal val="visible"/>
                                      </p:to>
                                    </p:set>
                                    <p:anim calcmode="lin" valueType="num">
                                      <p:cBhvr additive="base">
                                        <p:cTn id="7" dur="500" fill="hold"/>
                                        <p:tgtEl>
                                          <p:spTgt spid="111620"/>
                                        </p:tgtEl>
                                        <p:attrNameLst>
                                          <p:attrName>ppt_x</p:attrName>
                                        </p:attrNameLst>
                                      </p:cBhvr>
                                      <p:tavLst>
                                        <p:tav tm="0">
                                          <p:val>
                                            <p:strVal val="#ppt_x"/>
                                          </p:val>
                                        </p:tav>
                                        <p:tav tm="100000">
                                          <p:val>
                                            <p:strVal val="#ppt_x"/>
                                          </p:val>
                                        </p:tav>
                                      </p:tavLst>
                                    </p:anim>
                                    <p:anim calcmode="lin" valueType="num">
                                      <p:cBhvr additive="base">
                                        <p:cTn id="8" dur="500" fill="hold"/>
                                        <p:tgtEl>
                                          <p:spTgt spid="1116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1619"/>
                                        </p:tgtEl>
                                        <p:attrNameLst>
                                          <p:attrName>style.visibility</p:attrName>
                                        </p:attrNameLst>
                                      </p:cBhvr>
                                      <p:to>
                                        <p:strVal val="visible"/>
                                      </p:to>
                                    </p:set>
                                    <p:anim calcmode="lin" valueType="num">
                                      <p:cBhvr additive="base">
                                        <p:cTn id="13" dur="500" fill="hold"/>
                                        <p:tgtEl>
                                          <p:spTgt spid="111619"/>
                                        </p:tgtEl>
                                        <p:attrNameLst>
                                          <p:attrName>ppt_x</p:attrName>
                                        </p:attrNameLst>
                                      </p:cBhvr>
                                      <p:tavLst>
                                        <p:tav tm="0">
                                          <p:val>
                                            <p:strVal val="#ppt_x"/>
                                          </p:val>
                                        </p:tav>
                                        <p:tav tm="100000">
                                          <p:val>
                                            <p:strVal val="#ppt_x"/>
                                          </p:val>
                                        </p:tav>
                                      </p:tavLst>
                                    </p:anim>
                                    <p:anim calcmode="lin" valueType="num">
                                      <p:cBhvr additive="base">
                                        <p:cTn id="14" dur="500" fill="hold"/>
                                        <p:tgtEl>
                                          <p:spTgt spid="1116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1621"/>
                                        </p:tgtEl>
                                        <p:attrNameLst>
                                          <p:attrName>style.visibility</p:attrName>
                                        </p:attrNameLst>
                                      </p:cBhvr>
                                      <p:to>
                                        <p:strVal val="visible"/>
                                      </p:to>
                                    </p:set>
                                    <p:anim calcmode="lin" valueType="num">
                                      <p:cBhvr additive="base">
                                        <p:cTn id="19" dur="500" fill="hold"/>
                                        <p:tgtEl>
                                          <p:spTgt spid="111621"/>
                                        </p:tgtEl>
                                        <p:attrNameLst>
                                          <p:attrName>ppt_x</p:attrName>
                                        </p:attrNameLst>
                                      </p:cBhvr>
                                      <p:tavLst>
                                        <p:tav tm="0">
                                          <p:val>
                                            <p:strVal val="#ppt_x"/>
                                          </p:val>
                                        </p:tav>
                                        <p:tav tm="100000">
                                          <p:val>
                                            <p:strVal val="#ppt_x"/>
                                          </p:val>
                                        </p:tav>
                                      </p:tavLst>
                                    </p:anim>
                                    <p:anim calcmode="lin" valueType="num">
                                      <p:cBhvr additive="base">
                                        <p:cTn id="20" dur="500" fill="hold"/>
                                        <p:tgtEl>
                                          <p:spTgt spid="1116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1622"/>
                                        </p:tgtEl>
                                        <p:attrNameLst>
                                          <p:attrName>style.visibility</p:attrName>
                                        </p:attrNameLst>
                                      </p:cBhvr>
                                      <p:to>
                                        <p:strVal val="visible"/>
                                      </p:to>
                                    </p:set>
                                    <p:animEffect transition="in" filter="wipe(left)">
                                      <p:cBhvr>
                                        <p:cTn id="25" dur="500"/>
                                        <p:tgtEl>
                                          <p:spTgt spid="111622"/>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11623"/>
                                        </p:tgtEl>
                                        <p:attrNameLst>
                                          <p:attrName>style.visibility</p:attrName>
                                        </p:attrNameLst>
                                      </p:cBhvr>
                                      <p:to>
                                        <p:strVal val="visible"/>
                                      </p:to>
                                    </p:set>
                                    <p:animEffect transition="in" filter="wipe(left)">
                                      <p:cBhvr>
                                        <p:cTn id="29" dur="500"/>
                                        <p:tgtEl>
                                          <p:spTgt spid="111623"/>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11624"/>
                                        </p:tgtEl>
                                        <p:attrNameLst>
                                          <p:attrName>style.visibility</p:attrName>
                                        </p:attrNameLst>
                                      </p:cBhvr>
                                      <p:to>
                                        <p:strVal val="visible"/>
                                      </p:to>
                                    </p:set>
                                    <p:animEffect transition="in" filter="wipe(left)">
                                      <p:cBhvr>
                                        <p:cTn id="33" dur="500"/>
                                        <p:tgtEl>
                                          <p:spTgt spid="111624"/>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111625"/>
                                        </p:tgtEl>
                                        <p:attrNameLst>
                                          <p:attrName>style.visibility</p:attrName>
                                        </p:attrNameLst>
                                      </p:cBhvr>
                                      <p:to>
                                        <p:strVal val="visible"/>
                                      </p:to>
                                    </p:set>
                                    <p:animEffect transition="in" filter="wipe(left)">
                                      <p:cBhvr>
                                        <p:cTn id="37" dur="500"/>
                                        <p:tgtEl>
                                          <p:spTgt spid="111625"/>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111626"/>
                                        </p:tgtEl>
                                        <p:attrNameLst>
                                          <p:attrName>style.visibility</p:attrName>
                                        </p:attrNameLst>
                                      </p:cBhvr>
                                      <p:to>
                                        <p:strVal val="visible"/>
                                      </p:to>
                                    </p:set>
                                    <p:animEffect transition="in" filter="wipe(left)">
                                      <p:cBhvr>
                                        <p:cTn id="41" dur="500"/>
                                        <p:tgtEl>
                                          <p:spTgt spid="111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2" grpId="0" animBg="1"/>
      <p:bldP spid="111623" grpId="0" animBg="1"/>
      <p:bldP spid="111624" grpId="0" animBg="1"/>
      <p:bldP spid="111625" grpId="0" animBg="1"/>
      <p:bldP spid="1116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fi-FI" dirty="0" smtClean="0"/>
              <a:t>What did Royce actually suggest?</a:t>
            </a:r>
            <a:endParaRPr lang="en-US" dirty="0" smtClean="0"/>
          </a:p>
        </p:txBody>
      </p:sp>
      <p:pic>
        <p:nvPicPr>
          <p:cNvPr id="18435" name="Picture 3"/>
          <p:cNvPicPr>
            <a:picLocks noChangeAspect="1" noChangeArrowheads="1"/>
          </p:cNvPicPr>
          <p:nvPr/>
        </p:nvPicPr>
        <p:blipFill>
          <a:blip r:embed="rId3" cstate="print"/>
          <a:srcRect/>
          <a:stretch>
            <a:fillRect/>
          </a:stretch>
        </p:blipFill>
        <p:spPr bwMode="auto">
          <a:xfrm>
            <a:off x="504825" y="1682773"/>
            <a:ext cx="8388350" cy="503237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Extras</a:t>
            </a:r>
            <a:endParaRPr lang="en-US"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What is Agile Development</a:t>
            </a:r>
            <a:endParaRPr lang="fi-FI" dirty="0"/>
          </a:p>
        </p:txBody>
      </p:sp>
      <p:sp>
        <p:nvSpPr>
          <p:cNvPr id="4" name="Content Placeholder 3"/>
          <p:cNvSpPr>
            <a:spLocks noGrp="1"/>
          </p:cNvSpPr>
          <p:nvPr>
            <p:ph idx="1"/>
          </p:nvPr>
        </p:nvSpPr>
        <p:spPr/>
        <p:txBody>
          <a:bodyPr>
            <a:normAutofit/>
          </a:bodyPr>
          <a:lstStyle/>
          <a:p>
            <a:r>
              <a:rPr lang="fi-FI" dirty="0" smtClean="0"/>
              <a:t>Self-organized and People-focused</a:t>
            </a:r>
          </a:p>
          <a:p>
            <a:pPr lvl="1"/>
            <a:r>
              <a:rPr lang="fi-FI" dirty="0" smtClean="0"/>
              <a:t>Collaboration, communication</a:t>
            </a:r>
          </a:p>
          <a:p>
            <a:r>
              <a:rPr lang="fi-FI" dirty="0" smtClean="0"/>
              <a:t>Iterative and Incremental</a:t>
            </a:r>
          </a:p>
          <a:p>
            <a:pPr lvl="1"/>
            <a:r>
              <a:rPr lang="fi-FI" dirty="0" smtClean="0"/>
              <a:t>Growing the system gradually</a:t>
            </a:r>
          </a:p>
          <a:p>
            <a:pPr lvl="1"/>
            <a:r>
              <a:rPr lang="fi-FI" dirty="0" smtClean="0"/>
              <a:t>Changing direction on regular reflection points</a:t>
            </a:r>
          </a:p>
          <a:p>
            <a:r>
              <a:rPr lang="fi-FI" dirty="0" smtClean="0"/>
              <a:t>Adaptive</a:t>
            </a:r>
          </a:p>
          <a:p>
            <a:pPr lvl="1"/>
            <a:r>
              <a:rPr lang="fi-FI" dirty="0" smtClean="0"/>
              <a:t>Changed goals will change development direction</a:t>
            </a:r>
          </a:p>
          <a:p>
            <a:pPr lvl="1"/>
            <a:r>
              <a:rPr lang="fi-FI" dirty="0" smtClean="0"/>
              <a:t>Delivering most value first</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Extras</a:t>
            </a:r>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52400" y="1524000"/>
            <a:ext cx="2133600" cy="52578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fi-FI" dirty="0" smtClean="0"/>
              <a:t>Agile Values</a:t>
            </a:r>
            <a:endParaRPr lang="en-US" dirty="0"/>
          </a:p>
        </p:txBody>
      </p:sp>
      <p:sp>
        <p:nvSpPr>
          <p:cNvPr id="4" name="Content Placeholder 3"/>
          <p:cNvSpPr>
            <a:spLocks noGrp="1"/>
          </p:cNvSpPr>
          <p:nvPr>
            <p:ph sz="half" idx="2"/>
          </p:nvPr>
        </p:nvSpPr>
        <p:spPr/>
        <p:txBody>
          <a:bodyPr>
            <a:normAutofit fontScale="92500" lnSpcReduction="20000"/>
          </a:bodyPr>
          <a:lstStyle/>
          <a:p>
            <a:r>
              <a:rPr lang="fi-FI" dirty="0" smtClean="0"/>
              <a:t>Agile is first and foremost derived from the Values</a:t>
            </a:r>
          </a:p>
          <a:p>
            <a:r>
              <a:rPr lang="fi-FI" dirty="0" smtClean="0"/>
              <a:t>Although we value things on left more, the things on the right are not completely avoided</a:t>
            </a:r>
          </a:p>
          <a:p>
            <a:pPr lvl="1"/>
            <a:r>
              <a:rPr lang="fi-FI" dirty="0" smtClean="0"/>
              <a:t>Think of a tradeoff: what if you can’t have it all, what you rather want</a:t>
            </a:r>
          </a:p>
          <a:p>
            <a:r>
              <a:rPr lang="fi-FI" dirty="0" smtClean="0"/>
              <a:t>Belief in people, people’s happiness and opportunities as a central message</a:t>
            </a:r>
          </a:p>
        </p:txBody>
      </p:sp>
      <p:sp>
        <p:nvSpPr>
          <p:cNvPr id="6" name="Right Arrow 5"/>
          <p:cNvSpPr/>
          <p:nvPr/>
        </p:nvSpPr>
        <p:spPr>
          <a:xfrm>
            <a:off x="2362201" y="19050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7" name="Right Arrow 6"/>
          <p:cNvSpPr/>
          <p:nvPr/>
        </p:nvSpPr>
        <p:spPr>
          <a:xfrm>
            <a:off x="2362201" y="32004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8" name="Right Arrow 7"/>
          <p:cNvSpPr/>
          <p:nvPr/>
        </p:nvSpPr>
        <p:spPr>
          <a:xfrm>
            <a:off x="2362201" y="44196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9" name="Right Arrow 8"/>
          <p:cNvSpPr/>
          <p:nvPr/>
        </p:nvSpPr>
        <p:spPr>
          <a:xfrm>
            <a:off x="2362201" y="56388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0" name="Right Arrow 9"/>
          <p:cNvSpPr/>
          <p:nvPr/>
        </p:nvSpPr>
        <p:spPr>
          <a:xfrm rot="10800000">
            <a:off x="152399" y="19050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11" name="Right Arrow 10"/>
          <p:cNvSpPr/>
          <p:nvPr/>
        </p:nvSpPr>
        <p:spPr>
          <a:xfrm rot="10800000">
            <a:off x="152399" y="32004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2" name="Right Arrow 11"/>
          <p:cNvSpPr/>
          <p:nvPr/>
        </p:nvSpPr>
        <p:spPr>
          <a:xfrm rot="10800000">
            <a:off x="152399" y="44196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3" name="Right Arrow 12"/>
          <p:cNvSpPr/>
          <p:nvPr/>
        </p:nvSpPr>
        <p:spPr>
          <a:xfrm rot="10800000">
            <a:off x="152399" y="5638800"/>
            <a:ext cx="2057401" cy="11430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5" name="Rectangle 14"/>
          <p:cNvSpPr/>
          <p:nvPr/>
        </p:nvSpPr>
        <p:spPr>
          <a:xfrm>
            <a:off x="228600" y="2133600"/>
            <a:ext cx="1981200" cy="646331"/>
          </a:xfrm>
          <a:prstGeom prst="rect">
            <a:avLst/>
          </a:prstGeom>
        </p:spPr>
        <p:txBody>
          <a:bodyPr wrap="square">
            <a:spAutoFit/>
          </a:bodyPr>
          <a:lstStyle/>
          <a:p>
            <a:pPr algn="r"/>
            <a:r>
              <a:rPr lang="en-GB" dirty="0" smtClean="0"/>
              <a:t>Individuals and Interactions</a:t>
            </a:r>
            <a:endParaRPr lang="en-US" dirty="0"/>
          </a:p>
        </p:txBody>
      </p:sp>
      <p:sp>
        <p:nvSpPr>
          <p:cNvPr id="16" name="Rectangle 15"/>
          <p:cNvSpPr/>
          <p:nvPr/>
        </p:nvSpPr>
        <p:spPr>
          <a:xfrm>
            <a:off x="2362201" y="2133600"/>
            <a:ext cx="1600200" cy="646331"/>
          </a:xfrm>
          <a:prstGeom prst="rect">
            <a:avLst/>
          </a:prstGeom>
        </p:spPr>
        <p:txBody>
          <a:bodyPr wrap="square">
            <a:spAutoFit/>
          </a:bodyPr>
          <a:lstStyle/>
          <a:p>
            <a:r>
              <a:rPr lang="en-GB" dirty="0" smtClean="0"/>
              <a:t>Processes and Tools</a:t>
            </a:r>
            <a:endParaRPr lang="en-US" dirty="0"/>
          </a:p>
        </p:txBody>
      </p:sp>
      <p:sp>
        <p:nvSpPr>
          <p:cNvPr id="17" name="Rectangle 16"/>
          <p:cNvSpPr/>
          <p:nvPr/>
        </p:nvSpPr>
        <p:spPr>
          <a:xfrm>
            <a:off x="838200" y="3429000"/>
            <a:ext cx="1371600" cy="646331"/>
          </a:xfrm>
          <a:prstGeom prst="rect">
            <a:avLst/>
          </a:prstGeom>
        </p:spPr>
        <p:txBody>
          <a:bodyPr wrap="square">
            <a:spAutoFit/>
          </a:bodyPr>
          <a:lstStyle/>
          <a:p>
            <a:pPr algn="r"/>
            <a:r>
              <a:rPr lang="en-GB" dirty="0" smtClean="0"/>
              <a:t>Working Software</a:t>
            </a:r>
            <a:endParaRPr lang="en-US" dirty="0"/>
          </a:p>
        </p:txBody>
      </p:sp>
      <p:sp>
        <p:nvSpPr>
          <p:cNvPr id="18" name="Rectangle 17"/>
          <p:cNvSpPr/>
          <p:nvPr/>
        </p:nvSpPr>
        <p:spPr>
          <a:xfrm>
            <a:off x="770929" y="4648200"/>
            <a:ext cx="1447383" cy="646331"/>
          </a:xfrm>
          <a:prstGeom prst="rect">
            <a:avLst/>
          </a:prstGeom>
        </p:spPr>
        <p:txBody>
          <a:bodyPr wrap="none">
            <a:spAutoFit/>
          </a:bodyPr>
          <a:lstStyle/>
          <a:p>
            <a:pPr algn="r"/>
            <a:r>
              <a:rPr lang="en-GB" dirty="0" smtClean="0"/>
              <a:t>Customer </a:t>
            </a:r>
            <a:br>
              <a:rPr lang="en-GB" dirty="0" smtClean="0"/>
            </a:br>
            <a:r>
              <a:rPr lang="en-GB" dirty="0" smtClean="0"/>
              <a:t>Collaboration</a:t>
            </a:r>
            <a:endParaRPr lang="en-US" dirty="0"/>
          </a:p>
        </p:txBody>
      </p:sp>
      <p:sp>
        <p:nvSpPr>
          <p:cNvPr id="19" name="Rectangle 18"/>
          <p:cNvSpPr/>
          <p:nvPr/>
        </p:nvSpPr>
        <p:spPr>
          <a:xfrm>
            <a:off x="1" y="5867400"/>
            <a:ext cx="2209800" cy="646331"/>
          </a:xfrm>
          <a:prstGeom prst="rect">
            <a:avLst/>
          </a:prstGeom>
        </p:spPr>
        <p:txBody>
          <a:bodyPr wrap="square">
            <a:spAutoFit/>
          </a:bodyPr>
          <a:lstStyle/>
          <a:p>
            <a:pPr algn="r"/>
            <a:r>
              <a:rPr lang="en-GB" dirty="0" smtClean="0"/>
              <a:t>Responding to Change</a:t>
            </a:r>
            <a:endParaRPr lang="en-US" dirty="0"/>
          </a:p>
        </p:txBody>
      </p:sp>
      <p:sp>
        <p:nvSpPr>
          <p:cNvPr id="20" name="Rectangle 19"/>
          <p:cNvSpPr/>
          <p:nvPr/>
        </p:nvSpPr>
        <p:spPr>
          <a:xfrm>
            <a:off x="2362200" y="3429000"/>
            <a:ext cx="1823781" cy="646331"/>
          </a:xfrm>
          <a:prstGeom prst="rect">
            <a:avLst/>
          </a:prstGeom>
        </p:spPr>
        <p:txBody>
          <a:bodyPr wrap="square">
            <a:spAutoFit/>
          </a:bodyPr>
          <a:lstStyle/>
          <a:p>
            <a:r>
              <a:rPr lang="en-GB" dirty="0" smtClean="0"/>
              <a:t>Comprehensive Documentation</a:t>
            </a:r>
            <a:endParaRPr lang="en-US" dirty="0"/>
          </a:p>
        </p:txBody>
      </p:sp>
      <p:sp>
        <p:nvSpPr>
          <p:cNvPr id="21" name="Rectangle 20"/>
          <p:cNvSpPr/>
          <p:nvPr/>
        </p:nvSpPr>
        <p:spPr>
          <a:xfrm>
            <a:off x="2327787" y="4648200"/>
            <a:ext cx="1290225" cy="646331"/>
          </a:xfrm>
          <a:prstGeom prst="rect">
            <a:avLst/>
          </a:prstGeom>
        </p:spPr>
        <p:txBody>
          <a:bodyPr wrap="none">
            <a:spAutoFit/>
          </a:bodyPr>
          <a:lstStyle/>
          <a:p>
            <a:r>
              <a:rPr lang="en-GB" dirty="0" smtClean="0"/>
              <a:t>Contract </a:t>
            </a:r>
            <a:br>
              <a:rPr lang="en-GB" dirty="0" smtClean="0"/>
            </a:br>
            <a:r>
              <a:rPr lang="en-GB" dirty="0" smtClean="0"/>
              <a:t>Negotiation</a:t>
            </a:r>
            <a:endParaRPr lang="en-US" dirty="0"/>
          </a:p>
        </p:txBody>
      </p:sp>
      <p:sp>
        <p:nvSpPr>
          <p:cNvPr id="22" name="Rectangle 21"/>
          <p:cNvSpPr/>
          <p:nvPr/>
        </p:nvSpPr>
        <p:spPr>
          <a:xfrm>
            <a:off x="2342707" y="5867400"/>
            <a:ext cx="1619693" cy="646331"/>
          </a:xfrm>
          <a:prstGeom prst="rect">
            <a:avLst/>
          </a:prstGeom>
        </p:spPr>
        <p:txBody>
          <a:bodyPr wrap="square">
            <a:spAutoFit/>
          </a:bodyPr>
          <a:lstStyle/>
          <a:p>
            <a:r>
              <a:rPr lang="en-GB" dirty="0" smtClean="0"/>
              <a:t>Following a Plan</a:t>
            </a:r>
            <a:endParaRPr lang="en-US" dirty="0"/>
          </a:p>
        </p:txBody>
      </p:sp>
      <p:sp>
        <p:nvSpPr>
          <p:cNvPr id="24" name="Slide Number Placeholder 23"/>
          <p:cNvSpPr>
            <a:spLocks noGrp="1"/>
          </p:cNvSpPr>
          <p:nvPr>
            <p:ph type="sldNum" sz="quarter" idx="12"/>
          </p:nvPr>
        </p:nvSpPr>
        <p:spPr/>
        <p:txBody>
          <a:bodyPr/>
          <a:lstStyle/>
          <a:p>
            <a:fld id="{B6F15528-21DE-4FAA-801E-634DDDAF4B2B}" type="slidenum">
              <a:rPr lang="en-US" smtClean="0"/>
              <a:pPr/>
              <a:t>8</a:t>
            </a:fld>
            <a:endParaRPr lang="en-US"/>
          </a:p>
        </p:txBody>
      </p:sp>
      <p:sp>
        <p:nvSpPr>
          <p:cNvPr id="26" name="TextBox 25"/>
          <p:cNvSpPr txBox="1"/>
          <p:nvPr/>
        </p:nvSpPr>
        <p:spPr>
          <a:xfrm>
            <a:off x="457200" y="1600200"/>
            <a:ext cx="1447800" cy="369332"/>
          </a:xfrm>
          <a:prstGeom prst="rect">
            <a:avLst/>
          </a:prstGeom>
          <a:noFill/>
        </p:spPr>
        <p:txBody>
          <a:bodyPr wrap="square" rtlCol="0">
            <a:spAutoFit/>
          </a:bodyPr>
          <a:lstStyle/>
          <a:p>
            <a:pPr algn="ctr"/>
            <a:r>
              <a:rPr lang="fi-FI" b="1" dirty="0" smtClean="0"/>
              <a:t>AGILE</a:t>
            </a:r>
            <a:endParaRPr lang="fi-FI" b="1" dirty="0"/>
          </a:p>
        </p:txBody>
      </p:sp>
      <p:sp>
        <p:nvSpPr>
          <p:cNvPr id="25" name="Footer Placeholder 24"/>
          <p:cNvSpPr>
            <a:spLocks noGrp="1"/>
          </p:cNvSpPr>
          <p:nvPr>
            <p:ph type="ftr" sz="quarter" idx="11"/>
          </p:nvPr>
        </p:nvSpPr>
        <p:spPr/>
        <p:txBody>
          <a:bodyPr/>
          <a:lstStyle/>
          <a:p>
            <a:r>
              <a:rPr lang="en-US" smtClean="0"/>
              <a:t>Extras</a:t>
            </a:r>
            <a:endParaRPr lang="en-US"/>
          </a:p>
        </p:txBody>
      </p:sp>
      <p:sp>
        <p:nvSpPr>
          <p:cNvPr id="27" name="TextBox 26"/>
          <p:cNvSpPr txBox="1"/>
          <p:nvPr/>
        </p:nvSpPr>
        <p:spPr>
          <a:xfrm>
            <a:off x="2286000" y="1600200"/>
            <a:ext cx="1905000" cy="369332"/>
          </a:xfrm>
          <a:prstGeom prst="rect">
            <a:avLst/>
          </a:prstGeom>
          <a:noFill/>
        </p:spPr>
        <p:txBody>
          <a:bodyPr wrap="square" rtlCol="0">
            <a:spAutoFit/>
          </a:bodyPr>
          <a:lstStyle/>
          <a:p>
            <a:pPr algn="ctr"/>
            <a:r>
              <a:rPr lang="fi-FI" b="1" dirty="0" smtClean="0"/>
              <a:t>PLAN-DRIVEN</a:t>
            </a:r>
            <a:endParaRPr lang="fi-FI"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Principles</a:t>
            </a:r>
            <a:endParaRPr lang="en-US" dirty="0"/>
          </a:p>
        </p:txBody>
      </p:sp>
      <p:sp>
        <p:nvSpPr>
          <p:cNvPr id="6" name="Content Placeholder 5"/>
          <p:cNvSpPr>
            <a:spLocks noGrp="1"/>
          </p:cNvSpPr>
          <p:nvPr>
            <p:ph idx="1"/>
          </p:nvPr>
        </p:nvSpPr>
        <p:spPr/>
        <p:txBody>
          <a:bodyPr>
            <a:normAutofit fontScale="70000" lnSpcReduction="20000"/>
          </a:bodyPr>
          <a:lstStyle/>
          <a:p>
            <a:r>
              <a:rPr lang="en-GB" sz="2800" dirty="0" smtClean="0"/>
              <a:t>Frequent added value for customer, measured by working software</a:t>
            </a:r>
          </a:p>
          <a:p>
            <a:r>
              <a:rPr lang="en-GB" sz="2800" dirty="0" smtClean="0"/>
              <a:t>Expect the changes, look at what is needed now in regular checkpoints</a:t>
            </a:r>
          </a:p>
          <a:p>
            <a:r>
              <a:rPr lang="en-GB" sz="2800" dirty="0" smtClean="0"/>
              <a:t>Doing things together: daily collaboration with business and technical perspectives to understand and achieve a common goal</a:t>
            </a:r>
          </a:p>
          <a:p>
            <a:r>
              <a:rPr lang="en-GB" sz="2800" dirty="0" smtClean="0"/>
              <a:t>Presence, trust and continuous communication, face-to-face</a:t>
            </a:r>
          </a:p>
          <a:p>
            <a:r>
              <a:rPr lang="en-GB" sz="2800" dirty="0" smtClean="0"/>
              <a:t>Building a motivated team with ability to deliver continuously, no overtime</a:t>
            </a:r>
          </a:p>
          <a:p>
            <a:r>
              <a:rPr lang="en-GB" sz="2800" dirty="0" smtClean="0"/>
              <a:t>Simplest possible solution done in a technically excellent level: No designs for future needs before they are here</a:t>
            </a:r>
          </a:p>
          <a:p>
            <a:r>
              <a:rPr lang="en-GB" sz="2800" dirty="0" smtClean="0"/>
              <a:t>Self-organized team finds appropriate architecture, learns to understand requirements in-depth, and finds best technical solutions that can be adapted as needs change</a:t>
            </a:r>
          </a:p>
          <a:p>
            <a:r>
              <a:rPr lang="en-GB" sz="2800" dirty="0" smtClean="0"/>
              <a:t>Continuous improvement in small parts, reflecting from near-term happenings</a:t>
            </a:r>
          </a:p>
          <a:p>
            <a:r>
              <a:rPr lang="en-GB" sz="2800" dirty="0" smtClean="0"/>
              <a:t>All activities from requirements to testing and delivery within one increment</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Extras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pPr fontAlgn="auto">
              <a:spcAft>
                <a:spcPts val="0"/>
              </a:spcAft>
              <a:defRPr/>
            </a:pPr>
            <a:r>
              <a:rPr lang="en-GB" dirty="0" smtClean="0"/>
              <a:t>Agile: Working Together</a:t>
            </a:r>
            <a:endParaRPr lang="en-US" dirty="0"/>
          </a:p>
        </p:txBody>
      </p:sp>
      <p:sp>
        <p:nvSpPr>
          <p:cNvPr id="8" name="Isosceles Triangle 7"/>
          <p:cNvSpPr/>
          <p:nvPr/>
        </p:nvSpPr>
        <p:spPr>
          <a:xfrm>
            <a:off x="357188" y="2143125"/>
            <a:ext cx="3929062" cy="1643063"/>
          </a:xfrm>
          <a:prstGeom prst="triangle">
            <a:avLst/>
          </a:prstGeom>
          <a:solidFill>
            <a:schemeClr val="accent1">
              <a:alpha val="80000"/>
            </a:schemeClr>
          </a:solidFill>
          <a:ln/>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GB" dirty="0" smtClean="0"/>
              <a:t>Development</a:t>
            </a:r>
            <a:endParaRPr lang="en-US" dirty="0"/>
          </a:p>
        </p:txBody>
      </p:sp>
      <p:sp>
        <p:nvSpPr>
          <p:cNvPr id="10" name="Isosceles Triangle 9"/>
          <p:cNvSpPr/>
          <p:nvPr/>
        </p:nvSpPr>
        <p:spPr>
          <a:xfrm>
            <a:off x="2786063" y="2143125"/>
            <a:ext cx="3929062" cy="1643063"/>
          </a:xfrm>
          <a:prstGeom prst="triangle">
            <a:avLst/>
          </a:prstGeom>
          <a:solidFill>
            <a:schemeClr val="accent3">
              <a:alpha val="80000"/>
            </a:schemeClr>
          </a:solidFill>
          <a:ln/>
        </p:spPr>
        <p:style>
          <a:lnRef idx="3">
            <a:schemeClr val="lt1"/>
          </a:lnRef>
          <a:fillRef idx="1">
            <a:schemeClr val="accent3"/>
          </a:fillRef>
          <a:effectRef idx="1">
            <a:schemeClr val="accent3"/>
          </a:effectRef>
          <a:fontRef idx="minor">
            <a:schemeClr val="lt1"/>
          </a:fontRef>
        </p:style>
        <p:txBody>
          <a:bodyPr anchor="ctr"/>
          <a:lstStyle/>
          <a:p>
            <a:pPr algn="ctr" fontAlgn="auto">
              <a:spcBef>
                <a:spcPts val="0"/>
              </a:spcBef>
              <a:spcAft>
                <a:spcPts val="0"/>
              </a:spcAft>
              <a:defRPr/>
            </a:pPr>
            <a:r>
              <a:rPr lang="en-GB" dirty="0" smtClean="0"/>
              <a:t>Customer</a:t>
            </a:r>
            <a:endParaRPr lang="en-US" dirty="0"/>
          </a:p>
        </p:txBody>
      </p:sp>
      <p:sp>
        <p:nvSpPr>
          <p:cNvPr id="11" name="TextBox 10"/>
          <p:cNvSpPr txBox="1"/>
          <p:nvPr/>
        </p:nvSpPr>
        <p:spPr>
          <a:xfrm>
            <a:off x="6572264" y="1871481"/>
            <a:ext cx="2500330" cy="1200329"/>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ctr" fontAlgn="auto">
              <a:spcBef>
                <a:spcPts val="0"/>
              </a:spcBef>
              <a:spcAft>
                <a:spcPts val="0"/>
              </a:spcAft>
              <a:defRPr/>
            </a:pPr>
            <a:r>
              <a:rPr lang="en-GB" dirty="0" smtClean="0"/>
              <a:t>Closing the gap between naturally distinct points of views with cross-functional teams</a:t>
            </a:r>
          </a:p>
        </p:txBody>
      </p:sp>
      <p:grpSp>
        <p:nvGrpSpPr>
          <p:cNvPr id="2" name="Group 21"/>
          <p:cNvGrpSpPr>
            <a:grpSpLocks/>
          </p:cNvGrpSpPr>
          <p:nvPr/>
        </p:nvGrpSpPr>
        <p:grpSpPr bwMode="auto">
          <a:xfrm>
            <a:off x="285750" y="4143374"/>
            <a:ext cx="8786813" cy="2500311"/>
            <a:chOff x="285720" y="4143381"/>
            <a:chExt cx="8786874" cy="2500329"/>
          </a:xfrm>
        </p:grpSpPr>
        <p:grpSp>
          <p:nvGrpSpPr>
            <p:cNvPr id="3" name="Group 17"/>
            <p:cNvGrpSpPr>
              <a:grpSpLocks/>
            </p:cNvGrpSpPr>
            <p:nvPr/>
          </p:nvGrpSpPr>
          <p:grpSpPr bwMode="auto">
            <a:xfrm>
              <a:off x="285720" y="4857760"/>
              <a:ext cx="4143404" cy="857256"/>
              <a:chOff x="285720" y="4857760"/>
              <a:chExt cx="4143404" cy="857256"/>
            </a:xfrm>
          </p:grpSpPr>
          <p:sp>
            <p:nvSpPr>
              <p:cNvPr id="12" name="Isosceles Triangle 11"/>
              <p:cNvSpPr/>
              <p:nvPr/>
            </p:nvSpPr>
            <p:spPr>
              <a:xfrm>
                <a:off x="285720" y="4857760"/>
                <a:ext cx="1857388" cy="857256"/>
              </a:xfrm>
              <a:prstGeom prst="triangle">
                <a:avLst>
                  <a:gd name="adj" fmla="val 50000"/>
                </a:avLst>
              </a:prstGeom>
              <a:solidFill>
                <a:schemeClr val="accent1">
                  <a:alpha val="80000"/>
                </a:schemeClr>
              </a:solidFill>
              <a:ln/>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GB" dirty="0" smtClean="0"/>
                  <a:t>Team</a:t>
                </a:r>
                <a:endParaRPr lang="en-US" dirty="0"/>
              </a:p>
            </p:txBody>
          </p:sp>
          <p:sp>
            <p:nvSpPr>
              <p:cNvPr id="13" name="Isosceles Triangle 12"/>
              <p:cNvSpPr/>
              <p:nvPr/>
            </p:nvSpPr>
            <p:spPr>
              <a:xfrm>
                <a:off x="1428728" y="4857760"/>
                <a:ext cx="1857388" cy="857256"/>
              </a:xfrm>
              <a:prstGeom prst="triangle">
                <a:avLst>
                  <a:gd name="adj" fmla="val 50000"/>
                </a:avLst>
              </a:prstGeom>
              <a:solidFill>
                <a:schemeClr val="accent1">
                  <a:alpha val="80000"/>
                </a:schemeClr>
              </a:solidFill>
              <a:ln/>
            </p:spPr>
            <p:style>
              <a:lnRef idx="3">
                <a:schemeClr val="lt1"/>
              </a:lnRef>
              <a:fillRef idx="1">
                <a:schemeClr val="accent1"/>
              </a:fillRef>
              <a:effectRef idx="1">
                <a:schemeClr val="accent1"/>
              </a:effectRef>
              <a:fontRef idx="minor">
                <a:schemeClr val="lt1"/>
              </a:fontRef>
            </p:style>
            <p:txBody>
              <a:bodyPr anchor="ctr"/>
              <a:lstStyle/>
              <a:p>
                <a:pPr algn="ctr">
                  <a:defRPr/>
                </a:pPr>
                <a:r>
                  <a:rPr lang="en-GB" dirty="0" smtClean="0"/>
                  <a:t>Team</a:t>
                </a:r>
                <a:endParaRPr lang="en-US" dirty="0"/>
              </a:p>
            </p:txBody>
          </p:sp>
          <p:sp>
            <p:nvSpPr>
              <p:cNvPr id="14" name="Isosceles Triangle 13"/>
              <p:cNvSpPr/>
              <p:nvPr/>
            </p:nvSpPr>
            <p:spPr>
              <a:xfrm>
                <a:off x="2571736" y="4857760"/>
                <a:ext cx="1857388" cy="857256"/>
              </a:xfrm>
              <a:prstGeom prst="triangle">
                <a:avLst>
                  <a:gd name="adj" fmla="val 50000"/>
                </a:avLst>
              </a:prstGeom>
              <a:solidFill>
                <a:schemeClr val="accent1">
                  <a:alpha val="80000"/>
                </a:schemeClr>
              </a:solidFill>
              <a:ln/>
            </p:spPr>
            <p:style>
              <a:lnRef idx="3">
                <a:schemeClr val="lt1"/>
              </a:lnRef>
              <a:fillRef idx="1">
                <a:schemeClr val="accent1"/>
              </a:fillRef>
              <a:effectRef idx="1">
                <a:schemeClr val="accent1"/>
              </a:effectRef>
              <a:fontRef idx="minor">
                <a:schemeClr val="lt1"/>
              </a:fontRef>
            </p:style>
            <p:txBody>
              <a:bodyPr anchor="ctr"/>
              <a:lstStyle/>
              <a:p>
                <a:pPr algn="ctr">
                  <a:defRPr/>
                </a:pPr>
                <a:r>
                  <a:rPr lang="en-GB" dirty="0" smtClean="0"/>
                  <a:t>Team</a:t>
                </a:r>
                <a:endParaRPr lang="en-US" dirty="0" smtClean="0"/>
              </a:p>
            </p:txBody>
          </p:sp>
        </p:grpSp>
        <p:grpSp>
          <p:nvGrpSpPr>
            <p:cNvPr id="4" name="Group 20"/>
            <p:cNvGrpSpPr>
              <a:grpSpLocks/>
            </p:cNvGrpSpPr>
            <p:nvPr/>
          </p:nvGrpSpPr>
          <p:grpSpPr bwMode="auto">
            <a:xfrm>
              <a:off x="2643174" y="4143381"/>
              <a:ext cx="6429420" cy="2500329"/>
              <a:chOff x="2643174" y="4143381"/>
              <a:chExt cx="6429420" cy="2500329"/>
            </a:xfrm>
          </p:grpSpPr>
          <p:grpSp>
            <p:nvGrpSpPr>
              <p:cNvPr id="5" name="Group 18"/>
              <p:cNvGrpSpPr>
                <a:grpSpLocks/>
              </p:cNvGrpSpPr>
              <p:nvPr/>
            </p:nvGrpSpPr>
            <p:grpSpPr bwMode="auto">
              <a:xfrm>
                <a:off x="2643174" y="5786454"/>
                <a:ext cx="4143404" cy="857256"/>
                <a:chOff x="2643174" y="5786454"/>
                <a:chExt cx="4143404" cy="857256"/>
              </a:xfrm>
            </p:grpSpPr>
            <p:sp>
              <p:nvSpPr>
                <p:cNvPr id="15" name="Isosceles Triangle 14"/>
                <p:cNvSpPr/>
                <p:nvPr/>
              </p:nvSpPr>
              <p:spPr>
                <a:xfrm>
                  <a:off x="2643174" y="5786454"/>
                  <a:ext cx="1857388" cy="857256"/>
                </a:xfrm>
                <a:prstGeom prst="triangle">
                  <a:avLst>
                    <a:gd name="adj" fmla="val 50000"/>
                  </a:avLst>
                </a:prstGeom>
                <a:solidFill>
                  <a:schemeClr val="accent3">
                    <a:alpha val="80000"/>
                  </a:schemeClr>
                </a:solidFill>
                <a:ln/>
              </p:spPr>
              <p:style>
                <a:lnRef idx="3">
                  <a:schemeClr val="lt1"/>
                </a:lnRef>
                <a:fillRef idx="1">
                  <a:schemeClr val="accent3"/>
                </a:fillRef>
                <a:effectRef idx="1">
                  <a:schemeClr val="accent3"/>
                </a:effectRef>
                <a:fontRef idx="minor">
                  <a:schemeClr val="lt1"/>
                </a:fontRef>
              </p:style>
              <p:txBody>
                <a:bodyPr anchor="ctr"/>
                <a:lstStyle/>
                <a:p>
                  <a:pPr algn="ctr" fontAlgn="auto">
                    <a:spcBef>
                      <a:spcPts val="0"/>
                    </a:spcBef>
                    <a:spcAft>
                      <a:spcPts val="0"/>
                    </a:spcAft>
                    <a:defRPr/>
                  </a:pPr>
                  <a:r>
                    <a:rPr lang="en-GB" dirty="0" smtClean="0"/>
                    <a:t>Team</a:t>
                  </a:r>
                  <a:endParaRPr lang="en-US" dirty="0"/>
                </a:p>
              </p:txBody>
            </p:sp>
            <p:sp>
              <p:nvSpPr>
                <p:cNvPr id="16" name="Isosceles Triangle 15"/>
                <p:cNvSpPr/>
                <p:nvPr/>
              </p:nvSpPr>
              <p:spPr>
                <a:xfrm>
                  <a:off x="3786182" y="5786454"/>
                  <a:ext cx="1857388" cy="857256"/>
                </a:xfrm>
                <a:prstGeom prst="triangle">
                  <a:avLst>
                    <a:gd name="adj" fmla="val 50000"/>
                  </a:avLst>
                </a:prstGeom>
                <a:solidFill>
                  <a:schemeClr val="accent3">
                    <a:alpha val="80000"/>
                  </a:schemeClr>
                </a:solidFill>
                <a:ln/>
              </p:spPr>
              <p:style>
                <a:lnRef idx="3">
                  <a:schemeClr val="lt1"/>
                </a:lnRef>
                <a:fillRef idx="1">
                  <a:schemeClr val="accent3"/>
                </a:fillRef>
                <a:effectRef idx="1">
                  <a:schemeClr val="accent3"/>
                </a:effectRef>
                <a:fontRef idx="minor">
                  <a:schemeClr val="lt1"/>
                </a:fontRef>
              </p:style>
              <p:txBody>
                <a:bodyPr anchor="ctr"/>
                <a:lstStyle/>
                <a:p>
                  <a:pPr algn="ctr" fontAlgn="auto">
                    <a:spcBef>
                      <a:spcPts val="0"/>
                    </a:spcBef>
                    <a:spcAft>
                      <a:spcPts val="0"/>
                    </a:spcAft>
                    <a:defRPr/>
                  </a:pPr>
                  <a:r>
                    <a:rPr lang="en-GB" dirty="0" smtClean="0"/>
                    <a:t>Team</a:t>
                  </a:r>
                  <a:endParaRPr lang="en-US" dirty="0"/>
                </a:p>
              </p:txBody>
            </p:sp>
            <p:sp>
              <p:nvSpPr>
                <p:cNvPr id="17" name="Isosceles Triangle 16"/>
                <p:cNvSpPr/>
                <p:nvPr/>
              </p:nvSpPr>
              <p:spPr>
                <a:xfrm>
                  <a:off x="4929190" y="5786454"/>
                  <a:ext cx="1857388" cy="857256"/>
                </a:xfrm>
                <a:prstGeom prst="triangle">
                  <a:avLst>
                    <a:gd name="adj" fmla="val 50000"/>
                  </a:avLst>
                </a:prstGeom>
                <a:solidFill>
                  <a:schemeClr val="accent3">
                    <a:alpha val="80000"/>
                  </a:schemeClr>
                </a:solidFill>
                <a:ln/>
              </p:spPr>
              <p:style>
                <a:lnRef idx="3">
                  <a:schemeClr val="lt1"/>
                </a:lnRef>
                <a:fillRef idx="1">
                  <a:schemeClr val="accent3"/>
                </a:fillRef>
                <a:effectRef idx="1">
                  <a:schemeClr val="accent3"/>
                </a:effectRef>
                <a:fontRef idx="minor">
                  <a:schemeClr val="lt1"/>
                </a:fontRef>
              </p:style>
              <p:txBody>
                <a:bodyPr anchor="ctr"/>
                <a:lstStyle/>
                <a:p>
                  <a:pPr algn="ctr" fontAlgn="auto">
                    <a:spcBef>
                      <a:spcPts val="0"/>
                    </a:spcBef>
                    <a:spcAft>
                      <a:spcPts val="0"/>
                    </a:spcAft>
                    <a:defRPr/>
                  </a:pPr>
                  <a:r>
                    <a:rPr lang="en-GB" dirty="0" smtClean="0"/>
                    <a:t>Team</a:t>
                  </a:r>
                  <a:endParaRPr lang="en-US" dirty="0"/>
                </a:p>
              </p:txBody>
            </p:sp>
          </p:grpSp>
          <p:sp>
            <p:nvSpPr>
              <p:cNvPr id="20" name="TextBox 19"/>
              <p:cNvSpPr txBox="1"/>
              <p:nvPr/>
            </p:nvSpPr>
            <p:spPr>
              <a:xfrm>
                <a:off x="6572264" y="4143381"/>
                <a:ext cx="2500330" cy="2031339"/>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ctr" fontAlgn="auto">
                  <a:spcBef>
                    <a:spcPts val="0"/>
                  </a:spcBef>
                  <a:spcAft>
                    <a:spcPts val="0"/>
                  </a:spcAft>
                  <a:defRPr/>
                </a:pPr>
                <a:r>
                  <a:rPr lang="en-GB" dirty="0" smtClean="0"/>
                  <a:t>In </a:t>
                </a:r>
                <a:r>
                  <a:rPr lang="en-GB" dirty="0" err="1" smtClean="0"/>
                  <a:t>larget</a:t>
                </a:r>
                <a:r>
                  <a:rPr lang="en-GB" dirty="0" smtClean="0"/>
                  <a:t> organization silos are bound to happen with need of several teams – need means to work for a common goal for multi-team setting. </a:t>
                </a:r>
              </a:p>
            </p:txBody>
          </p:sp>
        </p:grpSp>
      </p:grpSp>
      <p:sp>
        <p:nvSpPr>
          <p:cNvPr id="18" name="Slide Number Placeholder 17"/>
          <p:cNvSpPr>
            <a:spLocks noGrp="1"/>
          </p:cNvSpPr>
          <p:nvPr>
            <p:ph type="sldNum" sz="quarter" idx="12"/>
          </p:nvPr>
        </p:nvSpPr>
        <p:spPr/>
        <p:txBody>
          <a:bodyPr/>
          <a:lstStyle/>
          <a:p>
            <a:pPr>
              <a:defRPr/>
            </a:pPr>
            <a:fld id="{F24184EE-81FC-48C3-BA48-5D3014EB6C4A}" type="slidenum">
              <a:rPr lang="sv-SE"/>
              <a:pPr>
                <a:defRPr/>
              </a:pPr>
              <a:t>10</a:t>
            </a:fld>
            <a:endParaRPr lang="sv-SE"/>
          </a:p>
        </p:txBody>
      </p:sp>
      <p:sp>
        <p:nvSpPr>
          <p:cNvPr id="19" name="Footer Placeholder 18"/>
          <p:cNvSpPr>
            <a:spLocks noGrp="1"/>
          </p:cNvSpPr>
          <p:nvPr>
            <p:ph type="ftr" sz="quarter" idx="11"/>
          </p:nvPr>
        </p:nvSpPr>
        <p:spPr/>
        <p:txBody>
          <a:bodyPr/>
          <a:lstStyle/>
          <a:p>
            <a:r>
              <a:rPr lang="en-US" smtClean="0"/>
              <a:t>Extras</a:t>
            </a: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Agile as Being </a:t>
            </a:r>
            <a:br>
              <a:rPr lang="en-GB" dirty="0" smtClean="0"/>
            </a:br>
            <a:r>
              <a:rPr lang="en-GB" dirty="0" smtClean="0"/>
              <a:t>Adaptive</a:t>
            </a:r>
            <a:endParaRPr lang="en-US" dirty="0"/>
          </a:p>
        </p:txBody>
      </p:sp>
      <p:sp>
        <p:nvSpPr>
          <p:cNvPr id="3" name="Content Placeholder 2"/>
          <p:cNvSpPr>
            <a:spLocks noGrp="1"/>
          </p:cNvSpPr>
          <p:nvPr>
            <p:ph idx="1"/>
          </p:nvPr>
        </p:nvSpPr>
        <p:spPr/>
        <p:txBody>
          <a:bodyPr>
            <a:normAutofit fontScale="70000" lnSpcReduction="20000"/>
          </a:bodyPr>
          <a:lstStyle/>
          <a:p>
            <a:r>
              <a:rPr lang="en-GB" dirty="0" smtClean="0"/>
              <a:t>Adaptive processes focus on the uncertainty of future, and build ways of working to optimize investment under uncertainty</a:t>
            </a:r>
          </a:p>
          <a:p>
            <a:pPr lvl="1"/>
            <a:r>
              <a:rPr lang="en-GB" dirty="0" smtClean="0"/>
              <a:t>Realities we must live with change continuously</a:t>
            </a:r>
            <a:r>
              <a:rPr lang="en-US" dirty="0" smtClean="0"/>
              <a:t> so we need to make change easier and cheaper</a:t>
            </a:r>
            <a:endParaRPr lang="en-GB" dirty="0" smtClean="0"/>
          </a:p>
          <a:p>
            <a:r>
              <a:rPr lang="en-GB" dirty="0" smtClean="0"/>
              <a:t>Knowing what happens in short-term but leaving future intentionally vague</a:t>
            </a:r>
          </a:p>
          <a:p>
            <a:pPr lvl="1"/>
            <a:r>
              <a:rPr lang="en-GB" dirty="0" smtClean="0"/>
              <a:t>Not putting effort to trying to predict something, without dismissing the signals we get about future</a:t>
            </a:r>
          </a:p>
          <a:p>
            <a:pPr lvl="2"/>
            <a:r>
              <a:rPr lang="en-GB" dirty="0" smtClean="0"/>
              <a:t>can tell mission statement or statement of expected value vs. cost</a:t>
            </a:r>
          </a:p>
          <a:p>
            <a:pPr lvl="2"/>
            <a:r>
              <a:rPr lang="en-GB" dirty="0" smtClean="0"/>
              <a:t>Inability to describe exactly “what will be done in next September”: no plan of that beforehand</a:t>
            </a:r>
          </a:p>
          <a:p>
            <a:pPr lvl="1"/>
            <a:r>
              <a:rPr lang="en-GB" dirty="0" smtClean="0"/>
              <a:t>Detailed information what is to about to be done within ongoing iteration</a:t>
            </a:r>
          </a:p>
          <a:p>
            <a:r>
              <a:rPr lang="en-GB" dirty="0" smtClean="0"/>
              <a:t>There is a plan for short-term and vision for long-term in Agile</a:t>
            </a:r>
          </a:p>
          <a:p>
            <a:pPr lvl="1"/>
            <a:endParaRPr lang="en-GB" dirty="0" smtClean="0"/>
          </a:p>
          <a:p>
            <a:endParaRPr lang="en-US" dirty="0" smtClean="0"/>
          </a:p>
        </p:txBody>
      </p:sp>
      <p:sp>
        <p:nvSpPr>
          <p:cNvPr id="4" name="TextBox 3"/>
          <p:cNvSpPr txBox="1"/>
          <p:nvPr/>
        </p:nvSpPr>
        <p:spPr>
          <a:xfrm>
            <a:off x="6629400" y="457200"/>
            <a:ext cx="2214546" cy="923330"/>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GB" dirty="0" smtClean="0"/>
              <a:t>Discipline with a Different Emphasis!</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Extras</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026"/>
          <p:cNvSpPr>
            <a:spLocks noChangeArrowheads="1"/>
          </p:cNvSpPr>
          <p:nvPr/>
        </p:nvSpPr>
        <p:spPr bwMode="auto">
          <a:xfrm>
            <a:off x="4857752" y="1928802"/>
            <a:ext cx="4114800" cy="4786346"/>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lIns="90000" tIns="46800" rIns="90000" bIns="46800" anchor="ctr"/>
          <a:lstStyle/>
          <a:p>
            <a:endParaRPr lang="en-US" dirty="0"/>
          </a:p>
        </p:txBody>
      </p:sp>
      <p:sp>
        <p:nvSpPr>
          <p:cNvPr id="1264642" name="Rectangle 1026"/>
          <p:cNvSpPr>
            <a:spLocks noChangeArrowheads="1"/>
          </p:cNvSpPr>
          <p:nvPr/>
        </p:nvSpPr>
        <p:spPr bwMode="auto">
          <a:xfrm>
            <a:off x="533400" y="1928802"/>
            <a:ext cx="4114800" cy="4786346"/>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en-US" dirty="0"/>
          </a:p>
        </p:txBody>
      </p:sp>
      <p:sp>
        <p:nvSpPr>
          <p:cNvPr id="1264643" name="Rectangle 1027"/>
          <p:cNvSpPr>
            <a:spLocks noGrp="1" noChangeArrowheads="1"/>
          </p:cNvSpPr>
          <p:nvPr>
            <p:ph type="title"/>
          </p:nvPr>
        </p:nvSpPr>
        <p:spPr/>
        <p:txBody>
          <a:bodyPr/>
          <a:lstStyle/>
          <a:p>
            <a:r>
              <a:rPr lang="en-GB" dirty="0"/>
              <a:t>Disciplined Teams, Not Chaos!</a:t>
            </a:r>
          </a:p>
        </p:txBody>
      </p:sp>
      <p:sp>
        <p:nvSpPr>
          <p:cNvPr id="1264644" name="Rectangle 1028"/>
          <p:cNvSpPr>
            <a:spLocks noChangeArrowheads="1"/>
          </p:cNvSpPr>
          <p:nvPr/>
        </p:nvSpPr>
        <p:spPr bwMode="auto">
          <a:xfrm>
            <a:off x="838200" y="2514624"/>
            <a:ext cx="3429000" cy="1295400"/>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46800" rIns="90000" bIns="46800" anchor="ctr"/>
          <a:lstStyle/>
          <a:p>
            <a:pPr algn="ctr"/>
            <a:r>
              <a:rPr lang="en-GB" sz="1600" dirty="0"/>
              <a:t>Avoiding technical debt:</a:t>
            </a:r>
          </a:p>
          <a:p>
            <a:pPr algn="ctr"/>
            <a:r>
              <a:rPr lang="en-GB" sz="1600" dirty="0"/>
              <a:t>Make adaptable designs, maintainable code</a:t>
            </a:r>
          </a:p>
          <a:p>
            <a:pPr algn="ctr"/>
            <a:r>
              <a:rPr lang="en-GB" sz="1600" dirty="0"/>
              <a:t>If you take debt, you pay the interest. </a:t>
            </a:r>
          </a:p>
        </p:txBody>
      </p:sp>
      <p:sp>
        <p:nvSpPr>
          <p:cNvPr id="1264645" name="Rectangle 1029"/>
          <p:cNvSpPr>
            <a:spLocks noChangeArrowheads="1"/>
          </p:cNvSpPr>
          <p:nvPr/>
        </p:nvSpPr>
        <p:spPr bwMode="auto">
          <a:xfrm>
            <a:off x="5257800" y="2514624"/>
            <a:ext cx="3429000" cy="1295400"/>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46800" rIns="90000" bIns="46800" anchor="ctr"/>
          <a:lstStyle/>
          <a:p>
            <a:pPr algn="ctr"/>
            <a:r>
              <a:rPr lang="en-GB" sz="1600" dirty="0"/>
              <a:t>Hack together the feature as soon as possible, fix later other aspects than what was now focus.</a:t>
            </a:r>
          </a:p>
        </p:txBody>
      </p:sp>
      <p:sp>
        <p:nvSpPr>
          <p:cNvPr id="1264646" name="Text Box 1030"/>
          <p:cNvSpPr txBox="1">
            <a:spLocks noChangeArrowheads="1"/>
          </p:cNvSpPr>
          <p:nvPr/>
        </p:nvSpPr>
        <p:spPr bwMode="auto">
          <a:xfrm>
            <a:off x="1371600" y="1981224"/>
            <a:ext cx="2362200" cy="36671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b="1" dirty="0"/>
              <a:t>WHAT AGILE IS</a:t>
            </a:r>
          </a:p>
        </p:txBody>
      </p:sp>
      <p:sp>
        <p:nvSpPr>
          <p:cNvPr id="1264647" name="Text Box 1031"/>
          <p:cNvSpPr txBox="1">
            <a:spLocks noChangeArrowheads="1"/>
          </p:cNvSpPr>
          <p:nvPr/>
        </p:nvSpPr>
        <p:spPr bwMode="auto">
          <a:xfrm>
            <a:off x="5562600" y="1981224"/>
            <a:ext cx="2971800" cy="37151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b="1" dirty="0" smtClean="0"/>
              <a:t>MISCONCEIVED </a:t>
            </a:r>
            <a:r>
              <a:rPr lang="en-GB" b="1" dirty="0"/>
              <a:t>AGILE</a:t>
            </a:r>
          </a:p>
        </p:txBody>
      </p:sp>
      <p:sp>
        <p:nvSpPr>
          <p:cNvPr id="1264648" name="Rectangle 1032"/>
          <p:cNvSpPr>
            <a:spLocks noChangeArrowheads="1"/>
          </p:cNvSpPr>
          <p:nvPr/>
        </p:nvSpPr>
        <p:spPr bwMode="auto">
          <a:xfrm>
            <a:off x="838200" y="3919550"/>
            <a:ext cx="3429000" cy="1295400"/>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46800" rIns="90000" bIns="46800" anchor="ctr"/>
          <a:lstStyle/>
          <a:p>
            <a:pPr algn="ctr"/>
            <a:r>
              <a:rPr lang="en-GB" sz="1600" dirty="0"/>
              <a:t>Making good-enough quality, but considering various aspects: business value as well as team happiness.  </a:t>
            </a:r>
          </a:p>
        </p:txBody>
      </p:sp>
      <p:sp>
        <p:nvSpPr>
          <p:cNvPr id="1264649" name="Rectangle 1033"/>
          <p:cNvSpPr>
            <a:spLocks noChangeArrowheads="1"/>
          </p:cNvSpPr>
          <p:nvPr/>
        </p:nvSpPr>
        <p:spPr bwMode="auto">
          <a:xfrm>
            <a:off x="5257800" y="3919550"/>
            <a:ext cx="3429000" cy="1295400"/>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46800" rIns="90000" bIns="46800" anchor="ctr"/>
          <a:lstStyle/>
          <a:p>
            <a:pPr algn="ctr"/>
            <a:r>
              <a:rPr lang="en-GB" sz="1600" dirty="0"/>
              <a:t>Quality is working features and fixing all problems before declaring anything done. </a:t>
            </a:r>
          </a:p>
        </p:txBody>
      </p:sp>
      <p:sp>
        <p:nvSpPr>
          <p:cNvPr id="1264650" name="Rectangle 1034"/>
          <p:cNvSpPr>
            <a:spLocks noChangeArrowheads="1"/>
          </p:cNvSpPr>
          <p:nvPr/>
        </p:nvSpPr>
        <p:spPr bwMode="auto">
          <a:xfrm>
            <a:off x="838200" y="5286388"/>
            <a:ext cx="3429000" cy="1295400"/>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46800" rIns="90000" bIns="46800" anchor="ctr"/>
          <a:lstStyle/>
          <a:p>
            <a:pPr algn="ctr"/>
            <a:r>
              <a:rPr lang="en-GB" sz="1600" dirty="0"/>
              <a:t>Flexibility of features to include, ease of development work </a:t>
            </a:r>
            <a:r>
              <a:rPr lang="en-GB" sz="1600" b="1" dirty="0"/>
              <a:t>and</a:t>
            </a:r>
            <a:r>
              <a:rPr lang="en-GB" sz="1600" dirty="0"/>
              <a:t> accuracy of estimation</a:t>
            </a:r>
          </a:p>
        </p:txBody>
      </p:sp>
      <p:sp>
        <p:nvSpPr>
          <p:cNvPr id="1264651" name="Rectangle 1035"/>
          <p:cNvSpPr>
            <a:spLocks noChangeArrowheads="1"/>
          </p:cNvSpPr>
          <p:nvPr/>
        </p:nvSpPr>
        <p:spPr bwMode="auto">
          <a:xfrm>
            <a:off x="5257800" y="5286388"/>
            <a:ext cx="3429000" cy="1295400"/>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46800" rIns="90000" bIns="46800" anchor="ctr"/>
          <a:lstStyle/>
          <a:p>
            <a:pPr algn="ctr"/>
            <a:r>
              <a:rPr lang="en-GB" sz="1600" dirty="0"/>
              <a:t>Team developing something, then changing direction, without considerations of what this means for the longer-term expectations</a:t>
            </a:r>
          </a:p>
        </p:txBody>
      </p:sp>
      <p:sp>
        <p:nvSpPr>
          <p:cNvPr id="13" name="Slide Number Placeholder 12"/>
          <p:cNvSpPr>
            <a:spLocks noGrp="1"/>
          </p:cNvSpPr>
          <p:nvPr>
            <p:ph type="sldNum" sz="quarter" idx="12"/>
          </p:nvPr>
        </p:nvSpPr>
        <p:spPr/>
        <p:txBody>
          <a:bodyPr/>
          <a:lstStyle/>
          <a:p>
            <a:fld id="{B6F15528-21DE-4FAA-801E-634DDDAF4B2B}" type="slidenum">
              <a:rPr lang="en-US" smtClean="0"/>
              <a:pPr/>
              <a:t>12</a:t>
            </a:fld>
            <a:endParaRPr lang="en-US"/>
          </a:p>
        </p:txBody>
      </p:sp>
      <p:sp>
        <p:nvSpPr>
          <p:cNvPr id="14" name="Footer Placeholder 13"/>
          <p:cNvSpPr>
            <a:spLocks noGrp="1"/>
          </p:cNvSpPr>
          <p:nvPr>
            <p:ph type="ftr" sz="quarter" idx="11"/>
          </p:nvPr>
        </p:nvSpPr>
        <p:spPr/>
        <p:txBody>
          <a:bodyPr/>
          <a:lstStyle/>
          <a:p>
            <a:r>
              <a:rPr lang="en-US" smtClean="0"/>
              <a:t>Extras</a:t>
            </a:r>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578" name="Rectangle 2"/>
          <p:cNvSpPr>
            <a:spLocks noGrp="1" noChangeArrowheads="1"/>
          </p:cNvSpPr>
          <p:nvPr>
            <p:ph type="title"/>
          </p:nvPr>
        </p:nvSpPr>
        <p:spPr/>
        <p:txBody>
          <a:bodyPr/>
          <a:lstStyle/>
          <a:p>
            <a:r>
              <a:rPr lang="en-US"/>
              <a:t>Plan-Driven vs. Agile Methods</a:t>
            </a:r>
          </a:p>
        </p:txBody>
      </p:sp>
      <p:sp>
        <p:nvSpPr>
          <p:cNvPr id="1304579" name="Rectangle 3"/>
          <p:cNvSpPr>
            <a:spLocks noGrp="1" noChangeArrowheads="1"/>
          </p:cNvSpPr>
          <p:nvPr>
            <p:ph type="body" sz="half" idx="1"/>
          </p:nvPr>
        </p:nvSpPr>
        <p:spPr>
          <a:xfrm>
            <a:off x="609600" y="1676400"/>
            <a:ext cx="3887788" cy="4114800"/>
          </a:xfrm>
        </p:spPr>
        <p:txBody>
          <a:bodyPr/>
          <a:lstStyle/>
          <a:p>
            <a:pPr algn="ctr">
              <a:buNone/>
            </a:pPr>
            <a:r>
              <a:rPr lang="en-US" sz="2000" b="1" dirty="0"/>
              <a:t>Plan-driven</a:t>
            </a:r>
          </a:p>
          <a:p>
            <a:r>
              <a:rPr lang="en-US" sz="2000" dirty="0"/>
              <a:t>Well-understood, repeatable processes</a:t>
            </a:r>
          </a:p>
          <a:p>
            <a:r>
              <a:rPr lang="en-US" sz="2000" dirty="0"/>
              <a:t>Plan as the center of the project</a:t>
            </a:r>
          </a:p>
          <a:p>
            <a:r>
              <a:rPr lang="en-US" sz="2000" dirty="0"/>
              <a:t>Plan is made to achieve goals (requirements) </a:t>
            </a:r>
          </a:p>
          <a:p>
            <a:r>
              <a:rPr lang="en-US" sz="2000" dirty="0"/>
              <a:t>Follow-up on:</a:t>
            </a:r>
          </a:p>
          <a:p>
            <a:pPr lvl="1"/>
            <a:r>
              <a:rPr lang="en-US" sz="1800" dirty="0"/>
              <a:t>Progress</a:t>
            </a:r>
          </a:p>
          <a:p>
            <a:pPr lvl="1"/>
            <a:r>
              <a:rPr lang="en-US" sz="1800" dirty="0"/>
              <a:t>Deviations from planned</a:t>
            </a:r>
          </a:p>
          <a:p>
            <a:r>
              <a:rPr lang="en-US" sz="2000" dirty="0"/>
              <a:t>Corrective actions bring one back to the planned state</a:t>
            </a:r>
          </a:p>
        </p:txBody>
      </p:sp>
      <p:sp>
        <p:nvSpPr>
          <p:cNvPr id="1304580" name="Rectangle 4"/>
          <p:cNvSpPr>
            <a:spLocks noGrp="1" noChangeArrowheads="1"/>
          </p:cNvSpPr>
          <p:nvPr>
            <p:ph type="body" sz="half" idx="2"/>
          </p:nvPr>
        </p:nvSpPr>
        <p:spPr>
          <a:xfrm>
            <a:off x="4646613" y="1676400"/>
            <a:ext cx="3887787" cy="4114800"/>
          </a:xfrm>
        </p:spPr>
        <p:txBody>
          <a:bodyPr>
            <a:normAutofit/>
          </a:bodyPr>
          <a:lstStyle/>
          <a:p>
            <a:pPr algn="ctr">
              <a:buNone/>
            </a:pPr>
            <a:r>
              <a:rPr lang="en-US" sz="2000" b="1" dirty="0"/>
              <a:t>Agile</a:t>
            </a:r>
          </a:p>
          <a:p>
            <a:r>
              <a:rPr lang="en-US" sz="2000" dirty="0"/>
              <a:t>Complex and unanticipated processes</a:t>
            </a:r>
          </a:p>
          <a:p>
            <a:r>
              <a:rPr lang="en-US" sz="2000" dirty="0"/>
              <a:t>Results as the center of the project</a:t>
            </a:r>
          </a:p>
          <a:p>
            <a:r>
              <a:rPr lang="en-US" sz="2000" dirty="0"/>
              <a:t>Changes can’t and shouldn’t be avoided. </a:t>
            </a:r>
          </a:p>
          <a:p>
            <a:r>
              <a:rPr lang="en-US" sz="2000" dirty="0"/>
              <a:t>Nature of software development includes continuous learning. </a:t>
            </a:r>
          </a:p>
          <a:p>
            <a:pPr lvl="1"/>
            <a:r>
              <a:rPr lang="en-US" sz="1800" dirty="0"/>
              <a:t>Learning changes the plan</a:t>
            </a:r>
          </a:p>
          <a:p>
            <a:endParaRPr lang="en-US" sz="2000" dirty="0"/>
          </a:p>
          <a:p>
            <a:endParaRPr lang="en-US" sz="3200" dirty="0"/>
          </a:p>
        </p:txBody>
      </p:sp>
      <p:sp>
        <p:nvSpPr>
          <p:cNvPr id="1304581" name="Rectangle 5"/>
          <p:cNvSpPr>
            <a:spLocks noChangeArrowheads="1"/>
          </p:cNvSpPr>
          <p:nvPr/>
        </p:nvSpPr>
        <p:spPr bwMode="auto">
          <a:xfrm>
            <a:off x="1371600" y="5715000"/>
            <a:ext cx="6400800" cy="685800"/>
          </a:xfrm>
          <a:prstGeom prst="rect">
            <a:avLst/>
          </a:prstGeom>
          <a:solidFill>
            <a:schemeClr val="accent1"/>
          </a:solidFill>
          <a:ln w="9525">
            <a:solidFill>
              <a:schemeClr val="tx1"/>
            </a:solidFill>
            <a:miter lim="800000"/>
            <a:headEnd/>
            <a:tailEnd/>
          </a:ln>
          <a:effectLst>
            <a:outerShdw dist="107763" dir="18900000" algn="ctr" rotWithShape="0">
              <a:schemeClr val="bg2"/>
            </a:outerShdw>
          </a:effectLst>
        </p:spPr>
        <p:txBody>
          <a:bodyPr anchor="ctr"/>
          <a:lstStyle/>
          <a:p>
            <a:pPr algn="ctr" eaLnBrk="1" hangingPunct="1">
              <a:lnSpc>
                <a:spcPct val="90000"/>
              </a:lnSpc>
              <a:spcBef>
                <a:spcPct val="20000"/>
              </a:spcBef>
              <a:buClr>
                <a:schemeClr val="tx1"/>
              </a:buClr>
              <a:buSzPct val="75000"/>
              <a:buFont typeface="Wingdings" pitchFamily="2" charset="2"/>
              <a:buNone/>
            </a:pPr>
            <a:r>
              <a:rPr lang="fi-FI" sz="2000">
                <a:solidFill>
                  <a:schemeClr val="bg1"/>
                </a:solidFill>
                <a:latin typeface="Arial" pitchFamily="34" charset="0"/>
              </a:rPr>
              <a:t>Often compared </a:t>
            </a:r>
            <a:r>
              <a:rPr lang="fi-FI" sz="2000" i="1">
                <a:solidFill>
                  <a:schemeClr val="bg1"/>
                </a:solidFill>
                <a:latin typeface="Arial" pitchFamily="34" charset="0"/>
              </a:rPr>
              <a:t>heavy</a:t>
            </a:r>
            <a:r>
              <a:rPr lang="fi-FI" sz="2000">
                <a:solidFill>
                  <a:schemeClr val="bg1"/>
                </a:solidFill>
                <a:latin typeface="Arial" pitchFamily="34" charset="0"/>
              </a:rPr>
              <a:t> vs. </a:t>
            </a:r>
            <a:r>
              <a:rPr lang="fi-FI" sz="2000" i="1">
                <a:solidFill>
                  <a:schemeClr val="bg1"/>
                </a:solidFill>
                <a:latin typeface="Arial" pitchFamily="34" charset="0"/>
              </a:rPr>
              <a:t>light</a:t>
            </a:r>
            <a:r>
              <a:rPr lang="fi-FI" sz="2000">
                <a:solidFill>
                  <a:schemeClr val="bg1"/>
                </a:solidFill>
                <a:latin typeface="Arial" pitchFamily="34" charset="0"/>
              </a:rPr>
              <a:t> and </a:t>
            </a:r>
            <a:r>
              <a:rPr lang="fi-FI" sz="2000" i="1">
                <a:solidFill>
                  <a:schemeClr val="bg1"/>
                </a:solidFill>
                <a:latin typeface="Arial" pitchFamily="34" charset="0"/>
              </a:rPr>
              <a:t>formal</a:t>
            </a:r>
            <a:r>
              <a:rPr lang="fi-FI" sz="2000">
                <a:solidFill>
                  <a:schemeClr val="bg1"/>
                </a:solidFill>
                <a:latin typeface="Arial" pitchFamily="34" charset="0"/>
              </a:rPr>
              <a:t> vs. </a:t>
            </a:r>
            <a:r>
              <a:rPr lang="fi-FI" sz="2000" i="1">
                <a:solidFill>
                  <a:schemeClr val="bg1"/>
                </a:solidFill>
                <a:latin typeface="Arial" pitchFamily="34" charset="0"/>
              </a:rPr>
              <a:t>informal</a:t>
            </a:r>
            <a:r>
              <a:rPr lang="fi-FI" sz="2000">
                <a:solidFill>
                  <a:schemeClr val="bg1"/>
                </a:solidFill>
                <a:latin typeface="Arial" pitchFamily="34" charset="0"/>
              </a:rPr>
              <a:t> – these miss the main difference!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Footer Placeholder 6"/>
          <p:cNvSpPr>
            <a:spLocks noGrp="1"/>
          </p:cNvSpPr>
          <p:nvPr>
            <p:ph type="ftr" sz="quarter" idx="11"/>
          </p:nvPr>
        </p:nvSpPr>
        <p:spPr/>
        <p:txBody>
          <a:bodyPr/>
          <a:lstStyle/>
          <a:p>
            <a:r>
              <a:rPr lang="en-US" smtClean="0"/>
              <a:t>Extras</a:t>
            </a:r>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Suitability of Agile</a:t>
            </a:r>
            <a:endParaRPr lang="en-US" dirty="0"/>
          </a:p>
        </p:txBody>
      </p:sp>
      <p:sp>
        <p:nvSpPr>
          <p:cNvPr id="3" name="Content Placeholder 2"/>
          <p:cNvSpPr>
            <a:spLocks noGrp="1"/>
          </p:cNvSpPr>
          <p:nvPr>
            <p:ph sz="half" idx="1"/>
          </p:nvPr>
        </p:nvSpPr>
        <p:spPr/>
        <p:txBody>
          <a:bodyPr>
            <a:normAutofit/>
          </a:bodyPr>
          <a:lstStyle/>
          <a:p>
            <a:r>
              <a:rPr lang="en-GB" sz="2000" dirty="0" smtClean="0"/>
              <a:t>Organizational abilities to implement the agile values:</a:t>
            </a:r>
          </a:p>
          <a:p>
            <a:pPr lvl="1"/>
            <a:r>
              <a:rPr lang="en-GB" sz="1600" dirty="0" smtClean="0"/>
              <a:t>Culture, People, Communication</a:t>
            </a:r>
          </a:p>
          <a:p>
            <a:r>
              <a:rPr lang="en-GB" sz="2000" dirty="0" smtClean="0"/>
              <a:t>Key success factors:</a:t>
            </a:r>
          </a:p>
          <a:p>
            <a:pPr lvl="1"/>
            <a:r>
              <a:rPr lang="en-US" sz="1600" dirty="0" smtClean="0"/>
              <a:t>The culture of the organization must be supportive of negotiation</a:t>
            </a:r>
          </a:p>
          <a:p>
            <a:pPr lvl="1"/>
            <a:r>
              <a:rPr lang="en-US" sz="1600" dirty="0" smtClean="0"/>
              <a:t>People must be trusted</a:t>
            </a:r>
          </a:p>
          <a:p>
            <a:pPr lvl="1"/>
            <a:r>
              <a:rPr lang="en-US" sz="1600" dirty="0" smtClean="0"/>
              <a:t>Rather invest in fewer staff, with higher levels of competency</a:t>
            </a:r>
          </a:p>
          <a:p>
            <a:pPr lvl="1"/>
            <a:r>
              <a:rPr lang="en-US" sz="1600" dirty="0" smtClean="0"/>
              <a:t>Organizations must live with the decisions developers make</a:t>
            </a:r>
          </a:p>
          <a:p>
            <a:pPr lvl="1"/>
            <a:r>
              <a:rPr lang="en-US" sz="1600" dirty="0" smtClean="0"/>
              <a:t>Organizations need to have an environment that facilitates rapid communication between team members</a:t>
            </a:r>
          </a:p>
          <a:p>
            <a:pPr lvl="1"/>
            <a:endParaRPr lang="en-GB" sz="1600" dirty="0" smtClean="0"/>
          </a:p>
          <a:p>
            <a:pPr lvl="1"/>
            <a:endParaRPr lang="en-US" sz="1600" dirty="0"/>
          </a:p>
        </p:txBody>
      </p:sp>
      <p:sp>
        <p:nvSpPr>
          <p:cNvPr id="5" name="Content Placeholder 4"/>
          <p:cNvSpPr>
            <a:spLocks noGrp="1"/>
          </p:cNvSpPr>
          <p:nvPr>
            <p:ph sz="half" idx="2"/>
          </p:nvPr>
        </p:nvSpPr>
        <p:spPr/>
        <p:txBody>
          <a:bodyPr>
            <a:noAutofit/>
          </a:bodyPr>
          <a:lstStyle/>
          <a:p>
            <a:r>
              <a:rPr lang="en-GB" sz="2000" smtClean="0"/>
              <a:t>It could be just a way of organizing differently inside the project</a:t>
            </a:r>
          </a:p>
          <a:p>
            <a:pPr lvl="1"/>
            <a:r>
              <a:rPr lang="en-GB" sz="1600" smtClean="0"/>
              <a:t>Focus on incremental delivery that can be really shown</a:t>
            </a:r>
          </a:p>
          <a:p>
            <a:pPr lvl="1"/>
            <a:r>
              <a:rPr lang="en-GB" sz="1600" smtClean="0"/>
              <a:t>Most customer value first – avoiding late risks can be value for customer </a:t>
            </a:r>
          </a:p>
          <a:p>
            <a:pPr lvl="1"/>
            <a:r>
              <a:rPr lang="en-GB" sz="1600" smtClean="0"/>
              <a:t>Feature exists when it has been implemented. If schedule is critical, do that first. </a:t>
            </a:r>
          </a:p>
          <a:p>
            <a:r>
              <a:rPr lang="en-GB" sz="2000" smtClean="0"/>
              <a:t>Even though agile promises a lot, it does not promise that with same amount of people you can all of a sudden do things you can’t without it</a:t>
            </a:r>
          </a:p>
          <a:p>
            <a:pPr lvl="1"/>
            <a:r>
              <a:rPr lang="en-GB" sz="1600" smtClean="0"/>
              <a:t>It just shows in increments what is realistic to expect from the development</a:t>
            </a:r>
            <a:endParaRPr lang="en-GB" sz="1600" dirty="0" smtClean="0"/>
          </a:p>
        </p:txBody>
      </p:sp>
      <p:sp>
        <p:nvSpPr>
          <p:cNvPr id="8" name="Footer Placeholder 7"/>
          <p:cNvSpPr>
            <a:spLocks noGrp="1"/>
          </p:cNvSpPr>
          <p:nvPr>
            <p:ph type="ftr" sz="quarter" idx="11"/>
          </p:nvPr>
        </p:nvSpPr>
        <p:spPr/>
        <p:txBody>
          <a:bodyPr/>
          <a:lstStyle/>
          <a:p>
            <a:r>
              <a:rPr lang="en-US" smtClean="0"/>
              <a:t>Extras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a:p>
        </p:txBody>
      </p:sp>
      <p:sp>
        <p:nvSpPr>
          <p:cNvPr id="6" name="Rectangle 4"/>
          <p:cNvSpPr>
            <a:spLocks noChangeArrowheads="1"/>
          </p:cNvSpPr>
          <p:nvPr/>
        </p:nvSpPr>
        <p:spPr bwMode="auto">
          <a:xfrm>
            <a:off x="381000" y="5867400"/>
            <a:ext cx="4572000" cy="9144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46800" rIns="90000" bIns="46800" anchor="ctr"/>
          <a:lstStyle/>
          <a:p>
            <a:pPr algn="ctr"/>
            <a:r>
              <a:rPr lang="en-GB" sz="1400" dirty="0"/>
              <a:t>Agile requires reinventing many of things you always assumed no-brainers. It makes some of the pain more visible and thus more difficult to tolerate. Fix early, fix often.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smtClean="0"/>
              <a:t>Is My Agile Skin-Deep or Real?</a:t>
            </a:r>
            <a:endParaRPr lang="en-US" dirty="0"/>
          </a:p>
        </p:txBody>
      </p:sp>
      <p:sp>
        <p:nvSpPr>
          <p:cNvPr id="6" name="Content Placeholder 5"/>
          <p:cNvSpPr>
            <a:spLocks noGrp="1"/>
          </p:cNvSpPr>
          <p:nvPr>
            <p:ph idx="1"/>
          </p:nvPr>
        </p:nvSpPr>
        <p:spPr/>
        <p:txBody>
          <a:bodyPr>
            <a:normAutofit fontScale="85000" lnSpcReduction="20000"/>
          </a:bodyPr>
          <a:lstStyle/>
          <a:p>
            <a:r>
              <a:rPr lang="en-GB" dirty="0" smtClean="0"/>
              <a:t>Saying “we use agile practices” does not make the you agile</a:t>
            </a:r>
          </a:p>
          <a:p>
            <a:pPr lvl="1"/>
            <a:r>
              <a:rPr lang="en-GB" dirty="0" smtClean="0"/>
              <a:t>Consider, why you want to be agile: is it some particular benefit you associate with it, or do you just want to belong to the club?</a:t>
            </a:r>
          </a:p>
          <a:p>
            <a:r>
              <a:rPr lang="en-GB" dirty="0" smtClean="0"/>
              <a:t>Being agile is about choosing practices that fit the agile values and guarding the values, not the practices</a:t>
            </a:r>
          </a:p>
          <a:p>
            <a:r>
              <a:rPr lang="en-GB" dirty="0" smtClean="0"/>
              <a:t>Think:</a:t>
            </a:r>
          </a:p>
          <a:p>
            <a:pPr lvl="1"/>
            <a:r>
              <a:rPr lang="en-GB" dirty="0" smtClean="0"/>
              <a:t>Can you really, as cost-effectively as possible, change direction without feeling the need of complaining about redoing your plans? Can you really deliver what you had done until this point?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7" name="Footer Placeholder 6"/>
          <p:cNvSpPr>
            <a:spLocks noGrp="1"/>
          </p:cNvSpPr>
          <p:nvPr>
            <p:ph type="ftr" sz="quarter" idx="11"/>
          </p:nvPr>
        </p:nvSpPr>
        <p:spPr/>
        <p:txBody>
          <a:bodyPr/>
          <a:lstStyle/>
          <a:p>
            <a:r>
              <a:rPr lang="en-US" smtClean="0"/>
              <a:t>Extras</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378" name="AutoShape 2"/>
          <p:cNvSpPr>
            <a:spLocks noChangeArrowheads="1"/>
          </p:cNvSpPr>
          <p:nvPr/>
        </p:nvSpPr>
        <p:spPr bwMode="auto">
          <a:xfrm>
            <a:off x="457200" y="1828800"/>
            <a:ext cx="5638800" cy="4038600"/>
          </a:xfrm>
          <a:prstGeom prst="roundRect">
            <a:avLst>
              <a:gd name="adj" fmla="val 16667"/>
            </a:avLst>
          </a:prstGeom>
          <a:solidFill>
            <a:schemeClr val="bg1"/>
          </a:solidFill>
          <a:ln w="57150">
            <a:solidFill>
              <a:schemeClr val="tx2"/>
            </a:solidFill>
            <a:round/>
            <a:headEnd/>
            <a:tailEnd/>
          </a:ln>
          <a:effectLst/>
        </p:spPr>
        <p:txBody>
          <a:bodyPr lIns="90000" tIns="46800" rIns="90000" bIns="46800" anchor="b"/>
          <a:lstStyle/>
          <a:p>
            <a:pPr algn="ctr"/>
            <a:r>
              <a:rPr lang="en-GB" sz="1400"/>
              <a:t>Within whole organization</a:t>
            </a:r>
          </a:p>
        </p:txBody>
      </p:sp>
      <p:sp>
        <p:nvSpPr>
          <p:cNvPr id="1253379" name="AutoShape 3"/>
          <p:cNvSpPr>
            <a:spLocks noChangeArrowheads="1"/>
          </p:cNvSpPr>
          <p:nvPr/>
        </p:nvSpPr>
        <p:spPr bwMode="auto">
          <a:xfrm>
            <a:off x="457200" y="1828800"/>
            <a:ext cx="5257800" cy="3429000"/>
          </a:xfrm>
          <a:prstGeom prst="roundRect">
            <a:avLst>
              <a:gd name="adj" fmla="val 16667"/>
            </a:avLst>
          </a:prstGeom>
          <a:ln>
            <a:headEnd/>
            <a:tailEnd/>
          </a:ln>
        </p:spPr>
        <p:style>
          <a:lnRef idx="3">
            <a:schemeClr val="lt1"/>
          </a:lnRef>
          <a:fillRef idx="1">
            <a:schemeClr val="accent1"/>
          </a:fillRef>
          <a:effectRef idx="1">
            <a:schemeClr val="accent1"/>
          </a:effectRef>
          <a:fontRef idx="minor">
            <a:schemeClr val="lt1"/>
          </a:fontRef>
        </p:style>
        <p:txBody>
          <a:bodyPr lIns="90000" tIns="46800" rIns="90000" bIns="46800" anchor="b"/>
          <a:lstStyle/>
          <a:p>
            <a:pPr algn="ctr"/>
            <a:r>
              <a:rPr lang="en-GB" sz="1400"/>
              <a:t>Within whole R&amp;D organization</a:t>
            </a:r>
          </a:p>
        </p:txBody>
      </p:sp>
      <p:sp>
        <p:nvSpPr>
          <p:cNvPr id="1253380" name="AutoShape 4"/>
          <p:cNvSpPr>
            <a:spLocks noChangeArrowheads="1"/>
          </p:cNvSpPr>
          <p:nvPr/>
        </p:nvSpPr>
        <p:spPr bwMode="auto">
          <a:xfrm>
            <a:off x="609600" y="1905000"/>
            <a:ext cx="2514600" cy="2590800"/>
          </a:xfrm>
          <a:prstGeom prst="roundRect">
            <a:avLst>
              <a:gd name="adj" fmla="val 16667"/>
            </a:avLst>
          </a:prstGeom>
          <a:solidFill>
            <a:schemeClr val="bg1"/>
          </a:solidFill>
          <a:ln w="57150">
            <a:solidFill>
              <a:schemeClr val="accent2"/>
            </a:solidFill>
            <a:round/>
            <a:headEnd/>
            <a:tailEnd/>
          </a:ln>
          <a:effectLst/>
        </p:spPr>
        <p:txBody>
          <a:bodyPr lIns="90000" tIns="46800" rIns="90000" bIns="46800" anchor="b"/>
          <a:lstStyle/>
          <a:p>
            <a:pPr algn="ctr"/>
            <a:r>
              <a:rPr lang="en-GB" sz="1400"/>
              <a:t>Within a Development team with system testers</a:t>
            </a:r>
          </a:p>
        </p:txBody>
      </p:sp>
      <p:sp>
        <p:nvSpPr>
          <p:cNvPr id="1253381" name="Rectangle 5"/>
          <p:cNvSpPr>
            <a:spLocks noGrp="1" noChangeArrowheads="1"/>
          </p:cNvSpPr>
          <p:nvPr>
            <p:ph type="title"/>
          </p:nvPr>
        </p:nvSpPr>
        <p:spPr/>
        <p:txBody>
          <a:bodyPr/>
          <a:lstStyle/>
          <a:p>
            <a:r>
              <a:rPr lang="en-GB"/>
              <a:t>Scope of Aiming for Agile</a:t>
            </a:r>
          </a:p>
        </p:txBody>
      </p:sp>
      <p:sp>
        <p:nvSpPr>
          <p:cNvPr id="1253382" name="AutoShape 6"/>
          <p:cNvSpPr>
            <a:spLocks noChangeArrowheads="1"/>
          </p:cNvSpPr>
          <p:nvPr/>
        </p:nvSpPr>
        <p:spPr bwMode="auto">
          <a:xfrm>
            <a:off x="609600" y="1905000"/>
            <a:ext cx="1828800" cy="1905000"/>
          </a:xfrm>
          <a:prstGeom prst="roundRect">
            <a:avLst>
              <a:gd name="adj" fmla="val 16667"/>
            </a:avLst>
          </a:prstGeom>
          <a:ln>
            <a:headEnd/>
            <a:tailEnd/>
          </a:ln>
        </p:spPr>
        <p:style>
          <a:lnRef idx="3">
            <a:schemeClr val="lt1"/>
          </a:lnRef>
          <a:fillRef idx="1">
            <a:schemeClr val="accent4"/>
          </a:fillRef>
          <a:effectRef idx="1">
            <a:schemeClr val="accent4"/>
          </a:effectRef>
          <a:fontRef idx="minor">
            <a:schemeClr val="lt1"/>
          </a:fontRef>
        </p:style>
        <p:txBody>
          <a:bodyPr lIns="90000" tIns="46800" rIns="90000" bIns="46800" anchor="ctr"/>
          <a:lstStyle/>
          <a:p>
            <a:pPr algn="ctr"/>
            <a:r>
              <a:rPr lang="en-GB" sz="1400" dirty="0"/>
              <a:t>Within a Traditional Development team</a:t>
            </a:r>
          </a:p>
        </p:txBody>
      </p:sp>
      <p:sp>
        <p:nvSpPr>
          <p:cNvPr id="1253383" name="AutoShape 7"/>
          <p:cNvSpPr>
            <a:spLocks noChangeArrowheads="1"/>
          </p:cNvSpPr>
          <p:nvPr/>
        </p:nvSpPr>
        <p:spPr bwMode="auto">
          <a:xfrm>
            <a:off x="3733800" y="1981200"/>
            <a:ext cx="1828800" cy="1905000"/>
          </a:xfrm>
          <a:prstGeom prst="roundRect">
            <a:avLst>
              <a:gd name="adj" fmla="val 16667"/>
            </a:avLst>
          </a:prstGeom>
          <a:ln>
            <a:headEnd/>
            <a:tailEnd/>
          </a:ln>
        </p:spPr>
        <p:style>
          <a:lnRef idx="3">
            <a:schemeClr val="lt1"/>
          </a:lnRef>
          <a:fillRef idx="1">
            <a:schemeClr val="accent2"/>
          </a:fillRef>
          <a:effectRef idx="1">
            <a:schemeClr val="accent2"/>
          </a:effectRef>
          <a:fontRef idx="minor">
            <a:schemeClr val="lt1"/>
          </a:fontRef>
        </p:style>
        <p:txBody>
          <a:bodyPr lIns="90000" tIns="46800" rIns="90000" bIns="46800" anchor="ctr"/>
          <a:lstStyle/>
          <a:p>
            <a:pPr algn="ctr"/>
            <a:r>
              <a:rPr lang="en-GB" sz="1400"/>
              <a:t>Within a Traditional Testing team</a:t>
            </a:r>
          </a:p>
        </p:txBody>
      </p:sp>
      <p:sp>
        <p:nvSpPr>
          <p:cNvPr id="1253384" name="Text Box 8"/>
          <p:cNvSpPr txBox="1">
            <a:spLocks noChangeArrowheads="1"/>
          </p:cNvSpPr>
          <p:nvPr/>
        </p:nvSpPr>
        <p:spPr bwMode="auto">
          <a:xfrm>
            <a:off x="6553200" y="2479675"/>
            <a:ext cx="2438400" cy="3018391"/>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lIns="90000" tIns="46800" rIns="90000" bIns="46800">
            <a:spAutoFit/>
          </a:bodyPr>
          <a:lstStyle/>
          <a:p>
            <a:pPr algn="ctr">
              <a:spcBef>
                <a:spcPct val="50000"/>
              </a:spcBef>
            </a:pPr>
            <a:r>
              <a:rPr lang="en-GB" sz="2000" dirty="0"/>
              <a:t>Need to set expectations based on aimed </a:t>
            </a:r>
            <a:r>
              <a:rPr lang="en-GB" sz="2000" dirty="0" smtClean="0"/>
              <a:t>scope</a:t>
            </a:r>
            <a:endParaRPr lang="en-GB" sz="2000" dirty="0"/>
          </a:p>
          <a:p>
            <a:pPr algn="ctr">
              <a:spcBef>
                <a:spcPct val="50000"/>
              </a:spcBef>
            </a:pPr>
            <a:r>
              <a:rPr lang="en-GB" sz="2000" dirty="0"/>
              <a:t>Asking everyone to jump on right away would seem unrealistic expectation.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16</a:t>
            </a:fld>
            <a:endParaRPr lang="en-US"/>
          </a:p>
        </p:txBody>
      </p:sp>
      <p:sp>
        <p:nvSpPr>
          <p:cNvPr id="10" name="Footer Placeholder 9"/>
          <p:cNvSpPr>
            <a:spLocks noGrp="1"/>
          </p:cNvSpPr>
          <p:nvPr>
            <p:ph type="ftr" sz="quarter" idx="11"/>
          </p:nvPr>
        </p:nvSpPr>
        <p:spPr/>
        <p:txBody>
          <a:bodyPr/>
          <a:lstStyle/>
          <a:p>
            <a:r>
              <a:rPr lang="en-US" smtClean="0"/>
              <a:t>Extras</a:t>
            </a:r>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Management Framework of Agile</a:t>
            </a:r>
            <a:endParaRPr lang="en-US" dirty="0"/>
          </a:p>
        </p:txBody>
      </p:sp>
      <p:graphicFrame>
        <p:nvGraphicFramePr>
          <p:cNvPr id="4" name="Content Placeholder 3"/>
          <p:cNvGraphicFramePr>
            <a:graphicFrameLocks noGrp="1"/>
          </p:cNvGraphicFramePr>
          <p:nvPr>
            <p:ph idx="1"/>
          </p:nvPr>
        </p:nvGraphicFramePr>
        <p:xfrm>
          <a:off x="-32" y="1935163"/>
          <a:ext cx="8229600" cy="4389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42910" y="5371943"/>
            <a:ext cx="3214710" cy="1200329"/>
          </a:xfrm>
          <a:prstGeom prst="rect">
            <a:avLst/>
          </a:prstGeom>
          <a:noFill/>
        </p:spPr>
        <p:txBody>
          <a:bodyPr wrap="square" rtlCol="0">
            <a:spAutoFit/>
          </a:bodyPr>
          <a:lstStyle/>
          <a:p>
            <a:r>
              <a:rPr lang="en-GB" dirty="0" smtClean="0"/>
              <a:t>Self-organized teams</a:t>
            </a:r>
          </a:p>
          <a:p>
            <a:r>
              <a:rPr lang="en-GB" dirty="0" smtClean="0"/>
              <a:t>Regular feedback cycles</a:t>
            </a:r>
          </a:p>
          <a:p>
            <a:r>
              <a:rPr lang="en-GB" dirty="0" smtClean="0"/>
              <a:t>Different team compositions and goals</a:t>
            </a:r>
            <a:endParaRPr lang="en-US" dirty="0"/>
          </a:p>
        </p:txBody>
      </p:sp>
      <p:sp>
        <p:nvSpPr>
          <p:cNvPr id="6" name="TextBox 5"/>
          <p:cNvSpPr txBox="1"/>
          <p:nvPr/>
        </p:nvSpPr>
        <p:spPr>
          <a:xfrm>
            <a:off x="71406" y="2500306"/>
            <a:ext cx="2286016" cy="2308324"/>
          </a:xfrm>
          <a:prstGeom prst="rect">
            <a:avLst/>
          </a:prstGeom>
          <a:noFill/>
        </p:spPr>
        <p:txBody>
          <a:bodyPr wrap="square" rtlCol="0">
            <a:spAutoFit/>
          </a:bodyPr>
          <a:lstStyle/>
          <a:p>
            <a:r>
              <a:rPr lang="en-GB" dirty="0" smtClean="0"/>
              <a:t>Scaling teams together for a system delivery</a:t>
            </a:r>
          </a:p>
          <a:p>
            <a:r>
              <a:rPr lang="en-GB" dirty="0" smtClean="0"/>
              <a:t>Minimizing handoffs but keeping team concise</a:t>
            </a:r>
          </a:p>
          <a:p>
            <a:r>
              <a:rPr lang="en-GB" dirty="0" smtClean="0"/>
              <a:t>Setting the effort boxes for the teams </a:t>
            </a:r>
            <a:endParaRPr lang="en-US" dirty="0"/>
          </a:p>
        </p:txBody>
      </p:sp>
      <p:sp>
        <p:nvSpPr>
          <p:cNvPr id="7" name="TextBox 6"/>
          <p:cNvSpPr txBox="1"/>
          <p:nvPr/>
        </p:nvSpPr>
        <p:spPr>
          <a:xfrm>
            <a:off x="5214942" y="1928802"/>
            <a:ext cx="4714908" cy="1754326"/>
          </a:xfrm>
          <a:prstGeom prst="rect">
            <a:avLst/>
          </a:prstGeom>
          <a:noFill/>
        </p:spPr>
        <p:txBody>
          <a:bodyPr wrap="square" rtlCol="0">
            <a:spAutoFit/>
          </a:bodyPr>
          <a:lstStyle/>
          <a:p>
            <a:r>
              <a:rPr lang="en-GB" dirty="0" smtClean="0"/>
              <a:t>Vision and direction where the system </a:t>
            </a:r>
            <a:br>
              <a:rPr lang="en-GB" dirty="0" smtClean="0"/>
            </a:br>
            <a:r>
              <a:rPr lang="en-GB" dirty="0" smtClean="0"/>
              <a:t>under development should be heading</a:t>
            </a:r>
          </a:p>
          <a:p>
            <a:r>
              <a:rPr lang="en-GB" dirty="0" smtClean="0"/>
              <a:t>Tangible valuable pieces to deliver incrementally</a:t>
            </a:r>
          </a:p>
          <a:p>
            <a:r>
              <a:rPr lang="en-GB" dirty="0" smtClean="0"/>
              <a:t>Risk-taking in priority: only delivered </a:t>
            </a:r>
            <a:br>
              <a:rPr lang="en-GB" dirty="0" smtClean="0"/>
            </a:br>
            <a:r>
              <a:rPr lang="en-GB" dirty="0" smtClean="0"/>
              <a:t>exists for  complete delivery</a:t>
            </a:r>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17</a:t>
            </a:fld>
            <a:endParaRPr lang="en-US"/>
          </a:p>
        </p:txBody>
      </p:sp>
      <p:sp>
        <p:nvSpPr>
          <p:cNvPr id="9" name="Footer Placeholder 8"/>
          <p:cNvSpPr>
            <a:spLocks noGrp="1"/>
          </p:cNvSpPr>
          <p:nvPr>
            <p:ph type="ftr" sz="quarter" idx="11"/>
          </p:nvPr>
        </p:nvSpPr>
        <p:spPr/>
        <p:txBody>
          <a:bodyPr/>
          <a:lstStyle/>
          <a:p>
            <a:r>
              <a:rPr lang="en-US" smtClean="0"/>
              <a:t>Extras</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fontAlgn="auto">
              <a:spcAft>
                <a:spcPts val="0"/>
              </a:spcAft>
              <a:defRPr/>
            </a:pPr>
            <a:r>
              <a:rPr lang="en-GB" dirty="0" smtClean="0"/>
              <a:t>Ideas from Lean Development</a:t>
            </a:r>
            <a:endParaRPr lang="en-US" dirty="0"/>
          </a:p>
        </p:txBody>
      </p:sp>
      <p:sp>
        <p:nvSpPr>
          <p:cNvPr id="36866" name="Content Placeholder 3"/>
          <p:cNvSpPr>
            <a:spLocks noGrp="1"/>
          </p:cNvSpPr>
          <p:nvPr>
            <p:ph idx="1"/>
          </p:nvPr>
        </p:nvSpPr>
        <p:spPr/>
        <p:txBody>
          <a:bodyPr>
            <a:normAutofit/>
          </a:bodyPr>
          <a:lstStyle/>
          <a:p>
            <a:r>
              <a:rPr lang="en-GB" sz="2800" dirty="0" smtClean="0"/>
              <a:t>Stop-and-Fix</a:t>
            </a:r>
          </a:p>
          <a:p>
            <a:pPr lvl="1"/>
            <a:r>
              <a:rPr lang="en-GB" sz="2400" dirty="0" smtClean="0"/>
              <a:t>Fixing problems has highest  priority</a:t>
            </a:r>
          </a:p>
          <a:p>
            <a:r>
              <a:rPr lang="en-GB" sz="2800" dirty="0" smtClean="0"/>
              <a:t>Visual Management</a:t>
            </a:r>
          </a:p>
          <a:p>
            <a:pPr lvl="1"/>
            <a:r>
              <a:rPr lang="en-GB" sz="2400" dirty="0" smtClean="0"/>
              <a:t>War room – collocated team</a:t>
            </a:r>
          </a:p>
          <a:p>
            <a:pPr lvl="1"/>
            <a:r>
              <a:rPr lang="en-GB" sz="2400" dirty="0" smtClean="0"/>
              <a:t>Information radiator</a:t>
            </a:r>
          </a:p>
          <a:p>
            <a:pPr lvl="1"/>
            <a:r>
              <a:rPr lang="en-GB" sz="2400" dirty="0" smtClean="0"/>
              <a:t>Bug budget</a:t>
            </a:r>
          </a:p>
          <a:p>
            <a:pPr lvl="1"/>
            <a:r>
              <a:rPr lang="en-GB" sz="2400" dirty="0" smtClean="0"/>
              <a:t>Build status</a:t>
            </a:r>
            <a:endParaRPr lang="en-US" sz="2400" dirty="0" smtClean="0"/>
          </a:p>
        </p:txBody>
      </p:sp>
      <p:pic>
        <p:nvPicPr>
          <p:cNvPr id="36867" name="Picture 2" descr="C:\Documents and Settings\pyhama\My Documents\My Pictures\Microsoft Clip Organizer\j0078765.wmf"/>
          <p:cNvPicPr>
            <a:picLocks noChangeAspect="1" noChangeArrowheads="1"/>
          </p:cNvPicPr>
          <p:nvPr/>
        </p:nvPicPr>
        <p:blipFill>
          <a:blip r:embed="rId3" cstate="print"/>
          <a:srcRect/>
          <a:stretch>
            <a:fillRect/>
          </a:stretch>
        </p:blipFill>
        <p:spPr bwMode="auto">
          <a:xfrm>
            <a:off x="6072188" y="1928813"/>
            <a:ext cx="2822575" cy="2543175"/>
          </a:xfrm>
          <a:prstGeom prst="rect">
            <a:avLst/>
          </a:prstGeom>
          <a:noFill/>
          <a:ln w="9525">
            <a:noFill/>
            <a:miter lim="800000"/>
            <a:headEnd/>
            <a:tailEnd/>
          </a:ln>
        </p:spPr>
      </p:pic>
      <p:graphicFrame>
        <p:nvGraphicFramePr>
          <p:cNvPr id="5" name="Table 4"/>
          <p:cNvGraphicFramePr>
            <a:graphicFrameLocks noGrp="1"/>
          </p:cNvGraphicFramePr>
          <p:nvPr/>
        </p:nvGraphicFramePr>
        <p:xfrm>
          <a:off x="357188" y="5089525"/>
          <a:ext cx="3786215" cy="1626236"/>
        </p:xfrm>
        <a:graphic>
          <a:graphicData uri="http://schemas.openxmlformats.org/drawingml/2006/table">
            <a:tbl>
              <a:tblPr firstRow="1" bandRow="1">
                <a:tableStyleId>{5C22544A-7EE6-4342-B048-85BDC9FD1C3A}</a:tableStyleId>
              </a:tblPr>
              <a:tblGrid>
                <a:gridCol w="757243"/>
                <a:gridCol w="757243"/>
                <a:gridCol w="757243"/>
                <a:gridCol w="757243"/>
                <a:gridCol w="757243"/>
              </a:tblGrid>
              <a:tr h="406559">
                <a:tc>
                  <a:txBody>
                    <a:bodyPr/>
                    <a:lstStyle/>
                    <a:p>
                      <a:r>
                        <a:rPr lang="en-GB" dirty="0" smtClean="0"/>
                        <a:t>Mon</a:t>
                      </a:r>
                      <a:endParaRPr lang="en-US" dirty="0"/>
                    </a:p>
                  </a:txBody>
                  <a:tcPr/>
                </a:tc>
                <a:tc>
                  <a:txBody>
                    <a:bodyPr/>
                    <a:lstStyle/>
                    <a:p>
                      <a:r>
                        <a:rPr lang="en-GB" dirty="0" smtClean="0"/>
                        <a:t>Tue</a:t>
                      </a:r>
                      <a:endParaRPr lang="en-US" dirty="0"/>
                    </a:p>
                  </a:txBody>
                  <a:tcPr/>
                </a:tc>
                <a:tc>
                  <a:txBody>
                    <a:bodyPr/>
                    <a:lstStyle/>
                    <a:p>
                      <a:r>
                        <a:rPr lang="en-GB" dirty="0" smtClean="0"/>
                        <a:t>Wed</a:t>
                      </a:r>
                      <a:endParaRPr lang="en-US" dirty="0"/>
                    </a:p>
                  </a:txBody>
                  <a:tcPr/>
                </a:tc>
                <a:tc>
                  <a:txBody>
                    <a:bodyPr/>
                    <a:lstStyle/>
                    <a:p>
                      <a:r>
                        <a:rPr lang="en-GB" dirty="0" smtClean="0"/>
                        <a:t>Thu</a:t>
                      </a:r>
                      <a:endParaRPr lang="en-US" dirty="0"/>
                    </a:p>
                  </a:txBody>
                  <a:tcPr/>
                </a:tc>
                <a:tc>
                  <a:txBody>
                    <a:bodyPr/>
                    <a:lstStyle/>
                    <a:p>
                      <a:r>
                        <a:rPr lang="en-GB" dirty="0" smtClean="0"/>
                        <a:t>Fri</a:t>
                      </a:r>
                      <a:endParaRPr lang="en-US" dirty="0"/>
                    </a:p>
                  </a:txBody>
                  <a:tcPr/>
                </a:tc>
              </a:tr>
              <a:tr h="406559">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40655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40655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graphicFrame>
        <p:nvGraphicFramePr>
          <p:cNvPr id="6" name="Table 5"/>
          <p:cNvGraphicFramePr>
            <a:graphicFrameLocks noGrp="1"/>
          </p:cNvGraphicFramePr>
          <p:nvPr/>
        </p:nvGraphicFramePr>
        <p:xfrm>
          <a:off x="4572000" y="4643438"/>
          <a:ext cx="3929091" cy="1865721"/>
        </p:xfrm>
        <a:graphic>
          <a:graphicData uri="http://schemas.openxmlformats.org/drawingml/2006/table">
            <a:tbl>
              <a:tblPr firstRow="1" bandRow="1">
                <a:tableStyleId>{00A15C55-8517-42AA-B614-E9B94910E393}</a:tableStyleId>
              </a:tblPr>
              <a:tblGrid>
                <a:gridCol w="1309697"/>
                <a:gridCol w="1309697"/>
                <a:gridCol w="1309697"/>
              </a:tblGrid>
              <a:tr h="642942">
                <a:tc>
                  <a:txBody>
                    <a:bodyPr/>
                    <a:lstStyle/>
                    <a:p>
                      <a:r>
                        <a:rPr lang="en-GB" dirty="0" smtClean="0"/>
                        <a:t>Planned</a:t>
                      </a:r>
                      <a:endParaRPr lang="en-US" dirty="0"/>
                    </a:p>
                  </a:txBody>
                  <a:tcPr/>
                </a:tc>
                <a:tc>
                  <a:txBody>
                    <a:bodyPr/>
                    <a:lstStyle/>
                    <a:p>
                      <a:r>
                        <a:rPr lang="en-GB" dirty="0" smtClean="0"/>
                        <a:t>Ongoing</a:t>
                      </a:r>
                      <a:endParaRPr lang="en-US" dirty="0"/>
                    </a:p>
                  </a:txBody>
                  <a:tcPr/>
                </a:tc>
                <a:tc>
                  <a:txBody>
                    <a:bodyPr/>
                    <a:lstStyle/>
                    <a:p>
                      <a:r>
                        <a:rPr lang="en-GB" smtClean="0"/>
                        <a:t>Done</a:t>
                      </a:r>
                      <a:endParaRPr lang="en-US" dirty="0"/>
                    </a:p>
                  </a:txBody>
                  <a:tcPr/>
                </a:tc>
              </a:tr>
              <a:tr h="1222779">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7" name="Rectangle 6"/>
          <p:cNvSpPr/>
          <p:nvPr/>
        </p:nvSpPr>
        <p:spPr>
          <a:xfrm>
            <a:off x="4714875" y="5357813"/>
            <a:ext cx="428625"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4857750" y="5929313"/>
            <a:ext cx="428625"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5357813" y="5510213"/>
            <a:ext cx="428625"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6072188" y="5500688"/>
            <a:ext cx="428625"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6643688" y="5929313"/>
            <a:ext cx="428625"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7643813" y="5500688"/>
            <a:ext cx="428625"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Slide Number Placeholder 12"/>
          <p:cNvSpPr>
            <a:spLocks noGrp="1"/>
          </p:cNvSpPr>
          <p:nvPr>
            <p:ph type="sldNum" sz="quarter" idx="12"/>
          </p:nvPr>
        </p:nvSpPr>
        <p:spPr/>
        <p:txBody>
          <a:bodyPr/>
          <a:lstStyle/>
          <a:p>
            <a:pPr>
              <a:defRPr/>
            </a:pPr>
            <a:fld id="{3E3E25A7-4475-4E63-A488-6A5637D85134}" type="slidenum">
              <a:rPr lang="sv-SE"/>
              <a:pPr>
                <a:defRPr/>
              </a:pPr>
              <a:t>18</a:t>
            </a:fld>
            <a:endParaRPr lang="sv-SE"/>
          </a:p>
        </p:txBody>
      </p:sp>
      <p:sp>
        <p:nvSpPr>
          <p:cNvPr id="14" name="Footer Placeholder 13"/>
          <p:cNvSpPr>
            <a:spLocks noGrp="1"/>
          </p:cNvSpPr>
          <p:nvPr>
            <p:ph type="ftr" sz="quarter" idx="11"/>
          </p:nvPr>
        </p:nvSpPr>
        <p:spPr/>
        <p:txBody>
          <a:bodyPr/>
          <a:lstStyle/>
          <a:p>
            <a:r>
              <a:rPr lang="en-US" smtClean="0"/>
              <a:t>Extras</a:t>
            </a:r>
            <a:endParaRPr lang="en-US"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Weak Point of Scrum?</a:t>
            </a:r>
            <a:endParaRPr lang="fi-FI" dirty="0"/>
          </a:p>
        </p:txBody>
      </p:sp>
      <p:sp>
        <p:nvSpPr>
          <p:cNvPr id="3" name="Content Placeholder 2"/>
          <p:cNvSpPr>
            <a:spLocks noGrp="1"/>
          </p:cNvSpPr>
          <p:nvPr>
            <p:ph idx="1"/>
          </p:nvPr>
        </p:nvSpPr>
        <p:spPr/>
        <p:txBody>
          <a:bodyPr>
            <a:normAutofit fontScale="62500" lnSpcReduction="20000"/>
          </a:bodyPr>
          <a:lstStyle/>
          <a:p>
            <a:r>
              <a:rPr lang="fi-FI" dirty="0" smtClean="0">
                <a:solidFill>
                  <a:schemeClr val="tx2"/>
                </a:solidFill>
              </a:rPr>
              <a:t>This is only my perception...</a:t>
            </a:r>
          </a:p>
          <a:p>
            <a:r>
              <a:rPr lang="fi-FI" dirty="0" smtClean="0"/>
              <a:t>I believe scrum/agile is applicable in many kinds of organizations and projects</a:t>
            </a:r>
          </a:p>
          <a:p>
            <a:r>
              <a:rPr lang="fi-FI" dirty="0" smtClean="0"/>
              <a:t>I believe scrum/agile increases productivity with better focus on value</a:t>
            </a:r>
          </a:p>
          <a:p>
            <a:r>
              <a:rPr lang="fi-FI" dirty="0" smtClean="0"/>
              <a:t>I believe scrum/agile is great setting for the team to do productive work</a:t>
            </a:r>
          </a:p>
          <a:p>
            <a:r>
              <a:rPr lang="fi-FI" dirty="0" smtClean="0"/>
              <a:t>But...</a:t>
            </a:r>
          </a:p>
          <a:p>
            <a:pPr lvl="1"/>
            <a:r>
              <a:rPr lang="fi-FI" sz="3200" dirty="0" smtClean="0">
                <a:solidFill>
                  <a:srgbClr val="FF0000"/>
                </a:solidFill>
              </a:rPr>
              <a:t>The requirements on good scrum master and product owner are huge!</a:t>
            </a:r>
          </a:p>
          <a:p>
            <a:pPr lvl="1"/>
            <a:r>
              <a:rPr lang="fi-FI" dirty="0" smtClean="0"/>
              <a:t>The inspect-and-adapt process focuses on the team, where do you get the business analysis skills and the facilitations skills?</a:t>
            </a:r>
          </a:p>
          <a:p>
            <a:pPr lvl="1"/>
            <a:r>
              <a:rPr lang="fi-FI" dirty="0" smtClean="0">
                <a:solidFill>
                  <a:schemeClr val="accent1"/>
                </a:solidFill>
              </a:rPr>
              <a:t>My feeling is that scrum is set up from a techie point of view that assumes there are answers that must come from elsewhere... </a:t>
            </a:r>
          </a:p>
          <a:p>
            <a:r>
              <a:rPr lang="fi-FI" dirty="0" smtClean="0"/>
              <a:t>And... A concern I still have... </a:t>
            </a:r>
          </a:p>
          <a:p>
            <a:pPr lvl="1"/>
            <a:r>
              <a:rPr lang="fi-FI" dirty="0" smtClean="0"/>
              <a:t>Are people really happy being team members without a traditional career path?</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Footer Placeholder 4"/>
          <p:cNvSpPr>
            <a:spLocks noGrp="1"/>
          </p:cNvSpPr>
          <p:nvPr>
            <p:ph type="ftr" sz="quarter" idx="11"/>
          </p:nvPr>
        </p:nvSpPr>
        <p:spPr/>
        <p:txBody>
          <a:bodyPr/>
          <a:lstStyle/>
          <a:p>
            <a:r>
              <a:rPr lang="en-US" smtClean="0"/>
              <a:t>Extras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Business Value of Agile</a:t>
            </a:r>
            <a:endParaRPr lang="en-US" dirty="0"/>
          </a:p>
        </p:txBody>
      </p:sp>
      <p:sp>
        <p:nvSpPr>
          <p:cNvPr id="3" name="Text Placeholder 2"/>
          <p:cNvSpPr>
            <a:spLocks noGrp="1"/>
          </p:cNvSpPr>
          <p:nvPr>
            <p:ph type="body" idx="1"/>
          </p:nvPr>
        </p:nvSpPr>
        <p:spPr/>
        <p:txBody>
          <a:bodyPr/>
          <a:lstStyle/>
          <a:p>
            <a:r>
              <a:rPr lang="en-GB" dirty="0" smtClean="0"/>
              <a:t>Additional Materials</a:t>
            </a:r>
            <a:endParaRPr lang="en-US" dirty="0"/>
          </a:p>
        </p:txBody>
      </p:sp>
      <p:sp>
        <p:nvSpPr>
          <p:cNvPr id="4" name="Slide Number Placeholder 3"/>
          <p:cNvSpPr>
            <a:spLocks noGrp="1"/>
          </p:cNvSpPr>
          <p:nvPr>
            <p:ph type="sldNum" sz="quarter" idx="12"/>
          </p:nvPr>
        </p:nvSpPr>
        <p:spPr/>
        <p:txBody>
          <a:bodyPr/>
          <a:lstStyle/>
          <a:p>
            <a:fld id="{227F0B53-9592-4779-891F-997228E46E01}" type="slidenum">
              <a:rPr lang="sv-SE" smtClean="0"/>
              <a:pPr/>
              <a:t>20</a:t>
            </a:fld>
            <a:endParaRPr lang="sv-SE"/>
          </a:p>
        </p:txBody>
      </p:sp>
      <p:sp>
        <p:nvSpPr>
          <p:cNvPr id="5" name="Footer Placeholder 4"/>
          <p:cNvSpPr>
            <a:spLocks noGrp="1"/>
          </p:cNvSpPr>
          <p:nvPr>
            <p:ph type="ftr" sz="quarter" idx="11"/>
          </p:nvPr>
        </p:nvSpPr>
        <p:spPr/>
        <p:txBody>
          <a:bodyPr/>
          <a:lstStyle/>
          <a:p>
            <a:r>
              <a:rPr lang="en-US" smtClean="0"/>
              <a:t>Extras</a:t>
            </a:r>
            <a:endParaRPr lang="en-US"/>
          </a:p>
        </p:txBody>
      </p:sp>
      <p:pic>
        <p:nvPicPr>
          <p:cNvPr id="3074" name="Picture 2" descr="C:\Documents and Settings\Maaret\My Documents\My Pictures\Microsoft Clip Organizer\j0078817.wmf"/>
          <p:cNvPicPr>
            <a:picLocks noChangeAspect="1" noChangeArrowheads="1"/>
          </p:cNvPicPr>
          <p:nvPr/>
        </p:nvPicPr>
        <p:blipFill>
          <a:blip r:embed="rId3" cstate="print"/>
          <a:srcRect/>
          <a:stretch>
            <a:fillRect/>
          </a:stretch>
        </p:blipFill>
        <p:spPr bwMode="auto">
          <a:xfrm>
            <a:off x="3581400" y="1106488"/>
            <a:ext cx="4771453" cy="2474912"/>
          </a:xfrm>
          <a:prstGeom prst="rect">
            <a:avLst/>
          </a:prstGeom>
          <a:noFill/>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Being Agile Promises </a:t>
            </a:r>
            <a:r>
              <a:rPr lang="en-GB" sz="1600" dirty="0" smtClean="0"/>
              <a:t>(1/4) </a:t>
            </a:r>
            <a:endParaRPr lang="en-US" sz="1600" dirty="0"/>
          </a:p>
        </p:txBody>
      </p:sp>
      <p:graphicFrame>
        <p:nvGraphicFramePr>
          <p:cNvPr id="5" name="Content Placeholder 4"/>
          <p:cNvGraphicFramePr>
            <a:graphicFrameLocks noGrp="1"/>
          </p:cNvGraphicFramePr>
          <p:nvPr>
            <p:ph idx="1"/>
          </p:nvPr>
        </p:nvGraphicFramePr>
        <p:xfrm>
          <a:off x="457200" y="1882775"/>
          <a:ext cx="8229600" cy="3693160"/>
        </p:xfrm>
        <a:graphic>
          <a:graphicData uri="http://schemas.openxmlformats.org/drawingml/2006/table">
            <a:tbl>
              <a:tblPr firstRow="1" bandRow="1">
                <a:tableStyleId>{5C22544A-7EE6-4342-B048-85BDC9FD1C3A}</a:tableStyleId>
              </a:tblPr>
              <a:tblGrid>
                <a:gridCol w="82296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Value item / Targeted</a:t>
                      </a:r>
                      <a:r>
                        <a:rPr lang="en-GB" baseline="0" dirty="0" smtClean="0"/>
                        <a:t> benefit</a:t>
                      </a:r>
                      <a:endParaRPr lang="en-US" dirty="0" smtClean="0"/>
                    </a:p>
                  </a:txBody>
                  <a:tcPr/>
                </a:tc>
              </a:tr>
              <a:tr h="370840">
                <a:tc>
                  <a:txBody>
                    <a:bodyPr/>
                    <a:lstStyle/>
                    <a:p>
                      <a:r>
                        <a:rPr lang="en-US" sz="1800" b="1" dirty="0" smtClean="0"/>
                        <a:t>Features shown can be released for added customer value</a:t>
                      </a:r>
                    </a:p>
                    <a:p>
                      <a:r>
                        <a:rPr lang="en-US" sz="1600" b="0" dirty="0" smtClean="0"/>
                        <a:t>Feature shown in demo can be shortly after demo released to customers to provide the added value, and are not mere prototypes of work in progress. Value is delivered incrementally so that at any point the value can be judged enough for releasing, not delivering according to planned schedule but early.</a:t>
                      </a:r>
                      <a:endParaRPr lang="en-US" sz="1600" b="0" dirty="0"/>
                    </a:p>
                  </a:txBody>
                  <a:tcPr/>
                </a:tc>
              </a:tr>
              <a:tr h="370840">
                <a:tc>
                  <a:txBody>
                    <a:bodyPr/>
                    <a:lstStyle/>
                    <a:p>
                      <a:r>
                        <a:rPr lang="en-US" sz="1800" b="1" dirty="0" smtClean="0"/>
                        <a:t>Trust in R&amp;D from stakeholders through visibility</a:t>
                      </a:r>
                    </a:p>
                    <a:p>
                      <a:r>
                        <a:rPr lang="en-US" sz="1600" b="0" dirty="0" smtClean="0"/>
                        <a:t>Progress, status and plans in R&amp;D are visible to non-R&amp;D stakeholders, who can thus trust R&amp;D to deliver what is promised and not promise something that cannot be done. Overall relationship is handled in open collaboration, with shared goal to make the company succeed. </a:t>
                      </a:r>
                      <a:endParaRPr lang="en-US" sz="1600" b="0" dirty="0"/>
                    </a:p>
                  </a:txBody>
                  <a:tcPr/>
                </a:tc>
              </a:tr>
              <a:tr h="370840">
                <a:tc>
                  <a:txBody>
                    <a:bodyPr/>
                    <a:lstStyle/>
                    <a:p>
                      <a:r>
                        <a:rPr lang="en-US" sz="1800" b="1" dirty="0" smtClean="0"/>
                        <a:t>Being able to estimate when done when target scope is fixed</a:t>
                      </a:r>
                    </a:p>
                    <a:p>
                      <a:r>
                        <a:rPr lang="en-US" sz="1600" b="0" dirty="0" smtClean="0"/>
                        <a:t>Being able to continuously evaluate schedules and improve the accuracy of knowing when the release would be ready to go out</a:t>
                      </a:r>
                      <a:r>
                        <a:rPr lang="en-US" sz="1800" b="0" dirty="0" smtClean="0"/>
                        <a:t>.</a:t>
                      </a:r>
                      <a:endParaRPr lang="en-US" sz="1800" b="0" dirty="0"/>
                    </a:p>
                  </a:txBody>
                  <a:tcPr/>
                </a:tc>
              </a:tr>
            </a:tbl>
          </a:graphicData>
        </a:graphic>
      </p:graphicFrame>
      <p:sp>
        <p:nvSpPr>
          <p:cNvPr id="6" name="Slide Number Placeholder 5"/>
          <p:cNvSpPr>
            <a:spLocks noGrp="1"/>
          </p:cNvSpPr>
          <p:nvPr>
            <p:ph type="sldNum" sz="quarter" idx="12"/>
          </p:nvPr>
        </p:nvSpPr>
        <p:spPr/>
        <p:txBody>
          <a:bodyPr/>
          <a:lstStyle/>
          <a:p>
            <a:fld id="{227F0B53-9592-4779-891F-997228E46E01}" type="slidenum">
              <a:rPr lang="sv-SE" smtClean="0"/>
              <a:pPr/>
              <a:t>21</a:t>
            </a:fld>
            <a:endParaRPr lang="sv-SE"/>
          </a:p>
        </p:txBody>
      </p:sp>
      <p:sp>
        <p:nvSpPr>
          <p:cNvPr id="7" name="Footer Placeholder 6"/>
          <p:cNvSpPr>
            <a:spLocks noGrp="1"/>
          </p:cNvSpPr>
          <p:nvPr>
            <p:ph type="ftr" sz="quarter" idx="11"/>
          </p:nvPr>
        </p:nvSpPr>
        <p:spPr/>
        <p:txBody>
          <a:bodyPr/>
          <a:lstStyle/>
          <a:p>
            <a:r>
              <a:rPr lang="en-US" smtClean="0"/>
              <a:t>Extras</a:t>
            </a:r>
            <a:endParaRPr lang="en-US"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Being Agile Promises </a:t>
            </a:r>
            <a:r>
              <a:rPr lang="en-GB" sz="1600" dirty="0" smtClean="0"/>
              <a:t>(2/4) </a:t>
            </a:r>
            <a:endParaRPr lang="en-US" sz="1600" dirty="0"/>
          </a:p>
        </p:txBody>
      </p:sp>
      <p:graphicFrame>
        <p:nvGraphicFramePr>
          <p:cNvPr id="5" name="Content Placeholder 4"/>
          <p:cNvGraphicFramePr>
            <a:graphicFrameLocks noGrp="1"/>
          </p:cNvGraphicFramePr>
          <p:nvPr>
            <p:ph idx="1"/>
          </p:nvPr>
        </p:nvGraphicFramePr>
        <p:xfrm>
          <a:off x="457200" y="1882775"/>
          <a:ext cx="8229600" cy="3906520"/>
        </p:xfrm>
        <a:graphic>
          <a:graphicData uri="http://schemas.openxmlformats.org/drawingml/2006/table">
            <a:tbl>
              <a:tblPr firstRow="1" bandRow="1">
                <a:tableStyleId>{5C22544A-7EE6-4342-B048-85BDC9FD1C3A}</a:tableStyleId>
              </a:tblPr>
              <a:tblGrid>
                <a:gridCol w="82296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Value item / Targeted</a:t>
                      </a:r>
                      <a:r>
                        <a:rPr lang="en-GB" baseline="0" dirty="0" smtClean="0"/>
                        <a:t> benefit</a:t>
                      </a:r>
                      <a:endParaRPr lang="en-US" dirty="0" smtClean="0"/>
                    </a:p>
                  </a:txBody>
                  <a:tcPr/>
                </a:tc>
              </a:tr>
              <a:tr h="370840">
                <a:tc>
                  <a:txBody>
                    <a:bodyPr/>
                    <a:lstStyle/>
                    <a:p>
                      <a:r>
                        <a:rPr lang="en-US" sz="1800" b="1" dirty="0" smtClean="0"/>
                        <a:t>Shorter time-to-market for features</a:t>
                      </a:r>
                    </a:p>
                    <a:p>
                      <a:r>
                        <a:rPr lang="en-US" sz="1600" dirty="0" smtClean="0"/>
                        <a:t>From an emerging need to including the implementation into deliverables is short and can be adjusted to changing priorities so that relevant features can be included in short timeframe to be released.</a:t>
                      </a:r>
                      <a:endParaRPr lang="en-US" sz="1600" dirty="0"/>
                    </a:p>
                  </a:txBody>
                  <a:tcPr/>
                </a:tc>
              </a:tr>
              <a:tr h="370840">
                <a:tc>
                  <a:txBody>
                    <a:bodyPr/>
                    <a:lstStyle/>
                    <a:p>
                      <a:r>
                        <a:rPr lang="en-US" sz="1800" b="1" dirty="0" smtClean="0"/>
                        <a:t>Added productivity with shorter time to ROI</a:t>
                      </a:r>
                    </a:p>
                    <a:p>
                      <a:r>
                        <a:rPr lang="en-US" sz="1600" dirty="0" smtClean="0"/>
                        <a:t>Value for business is delivered continuously and with better focus, same investment results in more return. Features worked on are prepared for be releases as soon as possible for the benefit of our customers to start investment payback. While content-wise we may not deliver more for various segments, what ever is delivered pays back sooner.</a:t>
                      </a:r>
                      <a:endParaRPr lang="en-US" sz="1600" dirty="0"/>
                    </a:p>
                  </a:txBody>
                  <a:tcPr/>
                </a:tc>
              </a:tr>
              <a:tr h="370840">
                <a:tc>
                  <a:txBody>
                    <a:bodyPr/>
                    <a:lstStyle/>
                    <a:p>
                      <a:r>
                        <a:rPr lang="en-US" sz="1800" b="1" dirty="0" smtClean="0"/>
                        <a:t>Adaptability of plans</a:t>
                      </a:r>
                    </a:p>
                    <a:p>
                      <a:r>
                        <a:rPr lang="en-US" sz="1600" dirty="0" smtClean="0"/>
                        <a:t>As business environment and our understanding of what is needed changes, the current direction can be changed with change of priorities without throwing away significant parts of work done before the change. </a:t>
                      </a:r>
                      <a:endParaRPr lang="en-US" sz="1600" dirty="0"/>
                    </a:p>
                  </a:txBody>
                  <a:tcPr/>
                </a:tc>
              </a:tr>
            </a:tbl>
          </a:graphicData>
        </a:graphic>
      </p:graphicFrame>
      <p:sp>
        <p:nvSpPr>
          <p:cNvPr id="6" name="Slide Number Placeholder 5"/>
          <p:cNvSpPr>
            <a:spLocks noGrp="1"/>
          </p:cNvSpPr>
          <p:nvPr>
            <p:ph type="sldNum" sz="quarter" idx="12"/>
          </p:nvPr>
        </p:nvSpPr>
        <p:spPr/>
        <p:txBody>
          <a:bodyPr/>
          <a:lstStyle/>
          <a:p>
            <a:fld id="{227F0B53-9592-4779-891F-997228E46E01}" type="slidenum">
              <a:rPr lang="sv-SE" smtClean="0"/>
              <a:pPr/>
              <a:t>22</a:t>
            </a:fld>
            <a:endParaRPr lang="sv-SE"/>
          </a:p>
        </p:txBody>
      </p:sp>
      <p:sp>
        <p:nvSpPr>
          <p:cNvPr id="7" name="Footer Placeholder 6"/>
          <p:cNvSpPr>
            <a:spLocks noGrp="1"/>
          </p:cNvSpPr>
          <p:nvPr>
            <p:ph type="ftr" sz="quarter" idx="11"/>
          </p:nvPr>
        </p:nvSpPr>
        <p:spPr/>
        <p:txBody>
          <a:bodyPr/>
          <a:lstStyle/>
          <a:p>
            <a:r>
              <a:rPr lang="en-US" smtClean="0"/>
              <a:t>Extras</a:t>
            </a:r>
            <a:endParaRPr lang="en-US"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Being Agile Promises </a:t>
            </a:r>
            <a:r>
              <a:rPr lang="en-GB" sz="1600" dirty="0" smtClean="0"/>
              <a:t>(3/4) </a:t>
            </a:r>
            <a:endParaRPr lang="en-US" sz="1600" dirty="0"/>
          </a:p>
        </p:txBody>
      </p:sp>
      <p:graphicFrame>
        <p:nvGraphicFramePr>
          <p:cNvPr id="5" name="Content Placeholder 4"/>
          <p:cNvGraphicFramePr>
            <a:graphicFrameLocks noGrp="1"/>
          </p:cNvGraphicFramePr>
          <p:nvPr>
            <p:ph idx="1"/>
          </p:nvPr>
        </p:nvGraphicFramePr>
        <p:xfrm>
          <a:off x="457200" y="1701800"/>
          <a:ext cx="8229600" cy="4272280"/>
        </p:xfrm>
        <a:graphic>
          <a:graphicData uri="http://schemas.openxmlformats.org/drawingml/2006/table">
            <a:tbl>
              <a:tblPr firstRow="1" bandRow="1">
                <a:tableStyleId>{5C22544A-7EE6-4342-B048-85BDC9FD1C3A}</a:tableStyleId>
              </a:tblPr>
              <a:tblGrid>
                <a:gridCol w="82296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Value item / Targeted</a:t>
                      </a:r>
                      <a:r>
                        <a:rPr lang="en-GB" baseline="0" dirty="0" smtClean="0"/>
                        <a:t> benefit</a:t>
                      </a:r>
                      <a:endParaRPr lang="en-US" dirty="0" smtClean="0"/>
                    </a:p>
                  </a:txBody>
                  <a:tcPr/>
                </a:tc>
              </a:tr>
              <a:tr h="370840">
                <a:tc>
                  <a:txBody>
                    <a:bodyPr/>
                    <a:lstStyle/>
                    <a:p>
                      <a:r>
                        <a:rPr lang="en-US" sz="1800" b="1" dirty="0" smtClean="0"/>
                        <a:t>Focus on continuous delivery readiness and quality</a:t>
                      </a:r>
                    </a:p>
                    <a:p>
                      <a:r>
                        <a:rPr lang="en-US" sz="1600" dirty="0" smtClean="0"/>
                        <a:t>Features completed are good enough for releasing externally and quality of the old features is maintained on level that enables ability to release. </a:t>
                      </a:r>
                      <a:endParaRPr lang="en-US" sz="1600" dirty="0"/>
                    </a:p>
                  </a:txBody>
                  <a:tcPr/>
                </a:tc>
              </a:tr>
              <a:tr h="370840">
                <a:tc>
                  <a:txBody>
                    <a:bodyPr/>
                    <a:lstStyle/>
                    <a:p>
                      <a:r>
                        <a:rPr lang="en-US" sz="1800" b="1" dirty="0" smtClean="0"/>
                        <a:t>Knowledge of risks in timely fashion</a:t>
                      </a:r>
                    </a:p>
                    <a:p>
                      <a:r>
                        <a:rPr lang="en-US" sz="1600" dirty="0" smtClean="0"/>
                        <a:t>As the plan vs. reality is assessed incrementally, risk to schedule and scope can be controlled through choosing the high-priority items first thus lowering risk related to them, and plans continuously updated to match the status instead of imaginary planned status. </a:t>
                      </a:r>
                      <a:endParaRPr lang="en-US" sz="1600" dirty="0"/>
                    </a:p>
                  </a:txBody>
                  <a:tcPr/>
                </a:tc>
              </a:tr>
              <a:tr h="370840">
                <a:tc>
                  <a:txBody>
                    <a:bodyPr/>
                    <a:lstStyle/>
                    <a:p>
                      <a:r>
                        <a:rPr lang="en-US" b="1" dirty="0" smtClean="0"/>
                        <a:t>Customer collaboration improves deliveries</a:t>
                      </a:r>
                    </a:p>
                    <a:p>
                      <a:r>
                        <a:rPr lang="en-US" sz="1600" b="0" dirty="0" smtClean="0"/>
                        <a:t>Showing features to real users early and often results in better features at time of release through adapting the plan of what the feature should be like to better match the needs. </a:t>
                      </a:r>
                      <a:endParaRPr lang="en-US" sz="1600" b="0" dirty="0"/>
                    </a:p>
                  </a:txBody>
                  <a:tcPr/>
                </a:tc>
              </a:tr>
              <a:tr h="370840">
                <a:tc>
                  <a:txBody>
                    <a:bodyPr/>
                    <a:lstStyle/>
                    <a:p>
                      <a:r>
                        <a:rPr lang="en-US" b="1" dirty="0" smtClean="0"/>
                        <a:t>Teams focus on short-term commitment</a:t>
                      </a:r>
                    </a:p>
                    <a:p>
                      <a:r>
                        <a:rPr lang="en-US" sz="1600" dirty="0" smtClean="0"/>
                        <a:t>Only next upcoming month is planned and committed in detail. Planning for longer time includes unknowns and is done inaccurately, adding accuracy to plans through delivering increments towards the overall goal, avoiding wasted effort on trying to accurately plan further into future. </a:t>
                      </a:r>
                      <a:endParaRPr lang="en-US" sz="1600" dirty="0"/>
                    </a:p>
                  </a:txBody>
                  <a:tcPr/>
                </a:tc>
              </a:tr>
            </a:tbl>
          </a:graphicData>
        </a:graphic>
      </p:graphicFrame>
      <p:sp>
        <p:nvSpPr>
          <p:cNvPr id="6" name="Slide Number Placeholder 5"/>
          <p:cNvSpPr>
            <a:spLocks noGrp="1"/>
          </p:cNvSpPr>
          <p:nvPr>
            <p:ph type="sldNum" sz="quarter" idx="12"/>
          </p:nvPr>
        </p:nvSpPr>
        <p:spPr/>
        <p:txBody>
          <a:bodyPr/>
          <a:lstStyle/>
          <a:p>
            <a:fld id="{227F0B53-9592-4779-891F-997228E46E01}" type="slidenum">
              <a:rPr lang="sv-SE" smtClean="0"/>
              <a:pPr/>
              <a:t>23</a:t>
            </a:fld>
            <a:endParaRPr lang="sv-SE"/>
          </a:p>
        </p:txBody>
      </p:sp>
      <p:sp>
        <p:nvSpPr>
          <p:cNvPr id="7" name="Footer Placeholder 6"/>
          <p:cNvSpPr>
            <a:spLocks noGrp="1"/>
          </p:cNvSpPr>
          <p:nvPr>
            <p:ph type="ftr" sz="quarter" idx="11"/>
          </p:nvPr>
        </p:nvSpPr>
        <p:spPr/>
        <p:txBody>
          <a:bodyPr/>
          <a:lstStyle/>
          <a:p>
            <a:r>
              <a:rPr lang="en-US" smtClean="0"/>
              <a:t>Extras</a:t>
            </a:r>
            <a:endParaRPr 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Being Agile Promises </a:t>
            </a:r>
            <a:r>
              <a:rPr lang="en-GB" sz="1800" dirty="0" smtClean="0"/>
              <a:t>(4/4) </a:t>
            </a:r>
            <a:endParaRPr lang="en-US" sz="1800" dirty="0"/>
          </a:p>
        </p:txBody>
      </p:sp>
      <p:graphicFrame>
        <p:nvGraphicFramePr>
          <p:cNvPr id="5" name="Content Placeholder 4"/>
          <p:cNvGraphicFramePr>
            <a:graphicFrameLocks noGrp="1"/>
          </p:cNvGraphicFramePr>
          <p:nvPr>
            <p:ph idx="1"/>
          </p:nvPr>
        </p:nvGraphicFramePr>
        <p:xfrm>
          <a:off x="457200" y="1882775"/>
          <a:ext cx="8229600" cy="4333240"/>
        </p:xfrm>
        <a:graphic>
          <a:graphicData uri="http://schemas.openxmlformats.org/drawingml/2006/table">
            <a:tbl>
              <a:tblPr firstRow="1" bandRow="1">
                <a:tableStyleId>{5C22544A-7EE6-4342-B048-85BDC9FD1C3A}</a:tableStyleId>
              </a:tblPr>
              <a:tblGrid>
                <a:gridCol w="82296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Value item / Targeted</a:t>
                      </a:r>
                      <a:r>
                        <a:rPr lang="en-GB" baseline="0" dirty="0" smtClean="0"/>
                        <a:t> benefit</a:t>
                      </a:r>
                      <a:endParaRPr lang="en-US" dirty="0" smtClean="0"/>
                    </a:p>
                  </a:txBody>
                  <a:tcPr/>
                </a:tc>
              </a:tr>
              <a:tr h="370840">
                <a:tc>
                  <a:txBody>
                    <a:bodyPr/>
                    <a:lstStyle/>
                    <a:p>
                      <a:r>
                        <a:rPr lang="en-US" b="1" dirty="0" smtClean="0"/>
                        <a:t>ROI manager focuses on long-term reliability of the expectations</a:t>
                      </a:r>
                    </a:p>
                    <a:p>
                      <a:r>
                        <a:rPr lang="en-US" sz="1600" b="0" dirty="0" smtClean="0"/>
                        <a:t>Whoever is assigned responsible for prioritizing items for ROI, uses the team delivery capability as means to assess reliability of expectations in long-term plans over the increment timeframe. </a:t>
                      </a:r>
                      <a:endParaRPr lang="en-US" sz="1600" b="0" dirty="0"/>
                    </a:p>
                  </a:txBody>
                  <a:tcPr/>
                </a:tc>
              </a:tr>
              <a:tr h="370840">
                <a:tc>
                  <a:txBody>
                    <a:bodyPr/>
                    <a:lstStyle/>
                    <a:p>
                      <a:r>
                        <a:rPr lang="en-US" b="1" dirty="0" smtClean="0"/>
                        <a:t>Wellbeing in R&amp;D</a:t>
                      </a:r>
                    </a:p>
                    <a:p>
                      <a:r>
                        <a:rPr lang="en-US" sz="1600" dirty="0" smtClean="0"/>
                        <a:t>People working in R&amp;D are happy and motivated, guide their own work to match priorities of the business. Working practices fit the people adding motivation through removal of waste and continuous inspection and adaptation of practices. People have possibility to learn new things that they need for performing their work continuously better.</a:t>
                      </a:r>
                      <a:endParaRPr lang="en-US" sz="1600" dirty="0"/>
                    </a:p>
                  </a:txBody>
                  <a:tcPr/>
                </a:tc>
              </a:tr>
              <a:tr h="370840">
                <a:tc>
                  <a:txBody>
                    <a:bodyPr/>
                    <a:lstStyle/>
                    <a:p>
                      <a:r>
                        <a:rPr lang="en-US" b="1" dirty="0" smtClean="0"/>
                        <a:t>Product and process innovations in R&amp;D</a:t>
                      </a:r>
                    </a:p>
                    <a:p>
                      <a:r>
                        <a:rPr lang="en-US" dirty="0" smtClean="0"/>
                        <a:t>Providing more value requires continuous adaptation and innovative solutions, both for the products and the ways the products are built. </a:t>
                      </a:r>
                      <a:endParaRPr lang="en-US" dirty="0"/>
                    </a:p>
                  </a:txBody>
                  <a:tcPr/>
                </a:tc>
              </a:tr>
              <a:tr h="370840">
                <a:tc>
                  <a:txBody>
                    <a:bodyPr/>
                    <a:lstStyle/>
                    <a:p>
                      <a:r>
                        <a:rPr lang="en-US" b="1" dirty="0" smtClean="0"/>
                        <a:t>Doing the most valuable thing next</a:t>
                      </a:r>
                    </a:p>
                    <a:p>
                      <a:r>
                        <a:rPr lang="en-US" sz="1600" dirty="0" smtClean="0"/>
                        <a:t>How much or how fast a feature is delivered is not the issue, but the target is to always delivery best return for investment for us as company. </a:t>
                      </a:r>
                      <a:endParaRPr lang="en-US" sz="1600" dirty="0"/>
                    </a:p>
                  </a:txBody>
                  <a:tcPr/>
                </a:tc>
              </a:tr>
            </a:tbl>
          </a:graphicData>
        </a:graphic>
      </p:graphicFrame>
      <p:sp>
        <p:nvSpPr>
          <p:cNvPr id="6" name="Slide Number Placeholder 5"/>
          <p:cNvSpPr>
            <a:spLocks noGrp="1"/>
          </p:cNvSpPr>
          <p:nvPr>
            <p:ph type="sldNum" sz="quarter" idx="12"/>
          </p:nvPr>
        </p:nvSpPr>
        <p:spPr/>
        <p:txBody>
          <a:bodyPr/>
          <a:lstStyle/>
          <a:p>
            <a:fld id="{227F0B53-9592-4779-891F-997228E46E01}" type="slidenum">
              <a:rPr lang="sv-SE" smtClean="0"/>
              <a:pPr/>
              <a:t>24</a:t>
            </a:fld>
            <a:endParaRPr lang="sv-SE"/>
          </a:p>
        </p:txBody>
      </p:sp>
      <p:sp>
        <p:nvSpPr>
          <p:cNvPr id="7" name="Footer Placeholder 6"/>
          <p:cNvSpPr>
            <a:spLocks noGrp="1"/>
          </p:cNvSpPr>
          <p:nvPr>
            <p:ph type="ftr" sz="quarter" idx="11"/>
          </p:nvPr>
        </p:nvSpPr>
        <p:spPr/>
        <p:txBody>
          <a:bodyPr/>
          <a:lstStyle/>
          <a:p>
            <a:r>
              <a:rPr lang="en-US" smtClean="0"/>
              <a:t>Extras</a:t>
            </a:r>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Being Product Line Promises </a:t>
            </a:r>
            <a:r>
              <a:rPr lang="en-GB" sz="1600" dirty="0" smtClean="0"/>
              <a:t>(1/2) </a:t>
            </a:r>
            <a:endParaRPr lang="en-US" sz="1600" dirty="0"/>
          </a:p>
        </p:txBody>
      </p:sp>
      <p:graphicFrame>
        <p:nvGraphicFramePr>
          <p:cNvPr id="5" name="Content Placeholder 4"/>
          <p:cNvGraphicFramePr>
            <a:graphicFrameLocks noGrp="1"/>
          </p:cNvGraphicFramePr>
          <p:nvPr>
            <p:ph idx="1"/>
          </p:nvPr>
        </p:nvGraphicFramePr>
        <p:xfrm>
          <a:off x="457200" y="1882775"/>
          <a:ext cx="8229600" cy="3662680"/>
        </p:xfrm>
        <a:graphic>
          <a:graphicData uri="http://schemas.openxmlformats.org/drawingml/2006/table">
            <a:tbl>
              <a:tblPr firstRow="1" bandRow="1">
                <a:tableStyleId>{5C22544A-7EE6-4342-B048-85BDC9FD1C3A}</a:tableStyleId>
              </a:tblPr>
              <a:tblGrid>
                <a:gridCol w="8229600"/>
              </a:tblGrid>
              <a:tr h="370840">
                <a:tc>
                  <a:txBody>
                    <a:bodyPr/>
                    <a:lstStyle/>
                    <a:p>
                      <a:r>
                        <a:rPr lang="en-GB" dirty="0" smtClean="0"/>
                        <a:t>Value item / Targeted</a:t>
                      </a:r>
                      <a:r>
                        <a:rPr lang="en-GB" baseline="0" dirty="0" smtClean="0"/>
                        <a:t> benefit</a:t>
                      </a:r>
                      <a:endParaRPr lang="en-US" dirty="0"/>
                    </a:p>
                  </a:txBody>
                  <a:tcPr/>
                </a:tc>
              </a:tr>
              <a:tr h="370840">
                <a:tc>
                  <a:txBody>
                    <a:bodyPr/>
                    <a:lstStyle/>
                    <a:p>
                      <a:r>
                        <a:rPr lang="en-US" sz="1800" b="1" dirty="0" smtClean="0"/>
                        <a:t>Minimized overall cost of feature in R&amp;D for all market segments</a:t>
                      </a:r>
                    </a:p>
                    <a:p>
                      <a:r>
                        <a:rPr lang="en-US" sz="1600" dirty="0" smtClean="0"/>
                        <a:t>Product line is a mechanism of having same features available to all market segments through configuring them for respective use of the segment. Developing a feature for all segments as one is presumed cheaper for overall cost, while it may be slower for delivery. </a:t>
                      </a:r>
                      <a:endParaRPr lang="en-US" sz="1600" dirty="0"/>
                    </a:p>
                  </a:txBody>
                  <a:tcPr/>
                </a:tc>
              </a:tr>
              <a:tr h="370840">
                <a:tc>
                  <a:txBody>
                    <a:bodyPr/>
                    <a:lstStyle/>
                    <a:p>
                      <a:r>
                        <a:rPr lang="en-US" sz="1800" b="1" dirty="0" smtClean="0"/>
                        <a:t>Time-wise simultaneous delivery of feature to all segments</a:t>
                      </a:r>
                    </a:p>
                    <a:p>
                      <a:r>
                        <a:rPr lang="en-US" sz="1600" dirty="0" smtClean="0"/>
                        <a:t>Different market segments with their different products get a new feature timing-wise simultaneously, as it is continuously developed for all markets. If not simultaneous, at least very quickly after the other in different products. </a:t>
                      </a:r>
                      <a:endParaRPr lang="en-US" sz="1600" dirty="0"/>
                    </a:p>
                  </a:txBody>
                  <a:tcPr/>
                </a:tc>
              </a:tr>
              <a:tr h="370840">
                <a:tc>
                  <a:txBody>
                    <a:bodyPr/>
                    <a:lstStyle/>
                    <a:p>
                      <a:r>
                        <a:rPr lang="en-US" sz="1800" b="1" dirty="0" smtClean="0"/>
                        <a:t>Ability to plan inclusion of feature for other products in short timeframe</a:t>
                      </a:r>
                    </a:p>
                    <a:p>
                      <a:r>
                        <a:rPr lang="en-US" sz="1600" dirty="0" smtClean="0"/>
                        <a:t>Features available in one product can be with small investment and short timeframe be planned to be available in other products. When a feature is seen once in a product, the timeframe for next product with the feature is couple of months. </a:t>
                      </a:r>
                      <a:endParaRPr lang="en-US" sz="1800" dirty="0"/>
                    </a:p>
                  </a:txBody>
                  <a:tcPr/>
                </a:tc>
              </a:tr>
            </a:tbl>
          </a:graphicData>
        </a:graphic>
      </p:graphicFrame>
      <p:sp>
        <p:nvSpPr>
          <p:cNvPr id="6" name="Slide Number Placeholder 5"/>
          <p:cNvSpPr>
            <a:spLocks noGrp="1"/>
          </p:cNvSpPr>
          <p:nvPr>
            <p:ph type="sldNum" sz="quarter" idx="12"/>
          </p:nvPr>
        </p:nvSpPr>
        <p:spPr/>
        <p:txBody>
          <a:bodyPr/>
          <a:lstStyle/>
          <a:p>
            <a:fld id="{227F0B53-9592-4779-891F-997228E46E01}" type="slidenum">
              <a:rPr lang="sv-SE" smtClean="0"/>
              <a:pPr/>
              <a:t>25</a:t>
            </a:fld>
            <a:endParaRPr lang="sv-SE"/>
          </a:p>
        </p:txBody>
      </p:sp>
      <p:sp>
        <p:nvSpPr>
          <p:cNvPr id="7" name="Footer Placeholder 6"/>
          <p:cNvSpPr>
            <a:spLocks noGrp="1"/>
          </p:cNvSpPr>
          <p:nvPr>
            <p:ph type="ftr" sz="quarter" idx="11"/>
          </p:nvPr>
        </p:nvSpPr>
        <p:spPr/>
        <p:txBody>
          <a:bodyPr/>
          <a:lstStyle/>
          <a:p>
            <a:r>
              <a:rPr lang="en-US" smtClean="0"/>
              <a:t>Extras</a:t>
            </a:r>
            <a:endParaRPr 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Being Product Line Promises </a:t>
            </a:r>
            <a:r>
              <a:rPr lang="en-GB" sz="1600" dirty="0" smtClean="0"/>
              <a:t>(2/2) </a:t>
            </a:r>
            <a:endParaRPr lang="en-US" sz="1600" dirty="0"/>
          </a:p>
        </p:txBody>
      </p:sp>
      <p:graphicFrame>
        <p:nvGraphicFramePr>
          <p:cNvPr id="5" name="Content Placeholder 4"/>
          <p:cNvGraphicFramePr>
            <a:graphicFrameLocks noGrp="1"/>
          </p:cNvGraphicFramePr>
          <p:nvPr>
            <p:ph idx="1"/>
          </p:nvPr>
        </p:nvGraphicFramePr>
        <p:xfrm>
          <a:off x="457200" y="1882775"/>
          <a:ext cx="8229600" cy="3175000"/>
        </p:xfrm>
        <a:graphic>
          <a:graphicData uri="http://schemas.openxmlformats.org/drawingml/2006/table">
            <a:tbl>
              <a:tblPr firstRow="1" bandRow="1">
                <a:tableStyleId>{5C22544A-7EE6-4342-B048-85BDC9FD1C3A}</a:tableStyleId>
              </a:tblPr>
              <a:tblGrid>
                <a:gridCol w="8229600"/>
              </a:tblGrid>
              <a:tr h="370840">
                <a:tc>
                  <a:txBody>
                    <a:bodyPr/>
                    <a:lstStyle/>
                    <a:p>
                      <a:r>
                        <a:rPr lang="en-GB" dirty="0" smtClean="0"/>
                        <a:t>Value item / Targeted</a:t>
                      </a:r>
                      <a:r>
                        <a:rPr lang="en-GB" baseline="0" dirty="0" smtClean="0"/>
                        <a:t> benefit</a:t>
                      </a:r>
                      <a:endParaRPr lang="en-US" dirty="0"/>
                    </a:p>
                  </a:txBody>
                  <a:tcPr/>
                </a:tc>
              </a:tr>
              <a:tr h="370840">
                <a:tc>
                  <a:txBody>
                    <a:bodyPr/>
                    <a:lstStyle/>
                    <a:p>
                      <a:r>
                        <a:rPr lang="en-US" sz="1800" b="1" dirty="0" smtClean="0"/>
                        <a:t>Ability to add new releases to roadmap by packaging existing modules as releases</a:t>
                      </a:r>
                    </a:p>
                    <a:p>
                      <a:r>
                        <a:rPr lang="en-US" sz="1600" dirty="0" smtClean="0"/>
                        <a:t>When a new release for a segment is found necessary, e.g. as a maintenance release, this can be delivered cost-effectively and fast from already available modules with the changes included.</a:t>
                      </a:r>
                      <a:endParaRPr lang="en-US" sz="1600" dirty="0"/>
                    </a:p>
                  </a:txBody>
                  <a:tcPr/>
                </a:tc>
              </a:tr>
              <a:tr h="370840">
                <a:tc>
                  <a:txBody>
                    <a:bodyPr/>
                    <a:lstStyle/>
                    <a:p>
                      <a:r>
                        <a:rPr lang="en-US" sz="1800" b="1" dirty="0" smtClean="0"/>
                        <a:t>Improved quality through reuse of modules</a:t>
                      </a:r>
                    </a:p>
                    <a:p>
                      <a:r>
                        <a:rPr lang="en-US" sz="1600" dirty="0" smtClean="0"/>
                        <a:t>As a problem is fixed in a module available in several products, the overall quality experience improves for all products simultaneously.</a:t>
                      </a:r>
                      <a:endParaRPr lang="en-US" sz="1600" dirty="0"/>
                    </a:p>
                  </a:txBody>
                  <a:tcPr/>
                </a:tc>
              </a:tr>
              <a:tr h="370840">
                <a:tc>
                  <a:txBody>
                    <a:bodyPr/>
                    <a:lstStyle/>
                    <a:p>
                      <a:r>
                        <a:rPr lang="en-US" sz="1800" b="1" dirty="0" smtClean="0"/>
                        <a:t>Added productivity</a:t>
                      </a:r>
                    </a:p>
                    <a:p>
                      <a:r>
                        <a:rPr lang="en-US" sz="1600" dirty="0" smtClean="0"/>
                        <a:t>More output for the same input: same amount of resources is able to provide more value (releases, features, hotfixes, quality) over several segments, where previously the value was added per segment.</a:t>
                      </a:r>
                      <a:endParaRPr lang="en-US" sz="1600" dirty="0"/>
                    </a:p>
                  </a:txBody>
                  <a:tcPr/>
                </a:tc>
              </a:tr>
            </a:tbl>
          </a:graphicData>
        </a:graphic>
      </p:graphicFrame>
      <p:sp>
        <p:nvSpPr>
          <p:cNvPr id="6" name="Slide Number Placeholder 5"/>
          <p:cNvSpPr>
            <a:spLocks noGrp="1"/>
          </p:cNvSpPr>
          <p:nvPr>
            <p:ph type="sldNum" sz="quarter" idx="12"/>
          </p:nvPr>
        </p:nvSpPr>
        <p:spPr/>
        <p:txBody>
          <a:bodyPr/>
          <a:lstStyle/>
          <a:p>
            <a:fld id="{227F0B53-9592-4779-891F-997228E46E01}" type="slidenum">
              <a:rPr lang="sv-SE" smtClean="0"/>
              <a:pPr/>
              <a:t>26</a:t>
            </a:fld>
            <a:endParaRPr lang="sv-SE"/>
          </a:p>
        </p:txBody>
      </p:sp>
      <p:sp>
        <p:nvSpPr>
          <p:cNvPr id="7" name="Footer Placeholder 6"/>
          <p:cNvSpPr>
            <a:spLocks noGrp="1"/>
          </p:cNvSpPr>
          <p:nvPr>
            <p:ph type="ftr" sz="quarter" idx="11"/>
          </p:nvPr>
        </p:nvSpPr>
        <p:spPr/>
        <p:txBody>
          <a:bodyPr/>
          <a:lstStyle/>
          <a:p>
            <a:r>
              <a:rPr lang="en-US" smtClean="0"/>
              <a:t>Extras</a:t>
            </a:r>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IDEAS, Thoughts, </a:t>
            </a:r>
            <a:br>
              <a:rPr lang="fi-FI" dirty="0" smtClean="0"/>
            </a:br>
            <a:r>
              <a:rPr lang="fi-FI" dirty="0" smtClean="0"/>
              <a:t>Questions?</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1809</TotalTime>
  <Words>2491</Words>
  <Application>Microsoft Office PowerPoint</Application>
  <PresentationFormat>On-screen Show (4:3)</PresentationFormat>
  <Paragraphs>335</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Agile methods – More stuff</vt:lpstr>
      <vt:lpstr>Software Development Source: Alistair Cockburn</vt:lpstr>
      <vt:lpstr>Typical vs. truly iterative&amp;incremental</vt:lpstr>
      <vt:lpstr>Winston Royce introduced the Waterfall model in 1970 paper.</vt:lpstr>
      <vt:lpstr>What Winston Royce said about single pass waterfall process</vt:lpstr>
      <vt:lpstr>What did Royce actually suggest?</vt:lpstr>
      <vt:lpstr>What is Agile Development</vt:lpstr>
      <vt:lpstr>Agile Values</vt:lpstr>
      <vt:lpstr>Agile Principles</vt:lpstr>
      <vt:lpstr>Agile: Working Together</vt:lpstr>
      <vt:lpstr>Agile as Being  Adaptive</vt:lpstr>
      <vt:lpstr>Disciplined Teams, Not Chaos!</vt:lpstr>
      <vt:lpstr>Plan-Driven vs. Agile Methods</vt:lpstr>
      <vt:lpstr>Suitability of Agile</vt:lpstr>
      <vt:lpstr>Is My Agile Skin-Deep or Real?</vt:lpstr>
      <vt:lpstr>Scope of Aiming for Agile</vt:lpstr>
      <vt:lpstr>Management Framework of Agile</vt:lpstr>
      <vt:lpstr>Ideas from Lean Development</vt:lpstr>
      <vt:lpstr>Weak Point of Scrum?</vt:lpstr>
      <vt:lpstr>Business Value of Agile</vt:lpstr>
      <vt:lpstr>What Being Agile Promises (1/4) </vt:lpstr>
      <vt:lpstr>What Being Agile Promises (2/4) </vt:lpstr>
      <vt:lpstr>What Being Agile Promises (3/4) </vt:lpstr>
      <vt:lpstr>What Being Agile Promises (4/4) </vt:lpstr>
      <vt:lpstr>What Being Product Line Promises (1/2) </vt:lpstr>
      <vt:lpstr>What Being Product Line Promises (2/2) </vt:lpstr>
      <vt:lpstr>IDEAS, Thoughts,  Questions?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methods – More stuff</dc:title>
  <dc:creator>Maaret Pyhäjärvi</dc:creator>
  <cp:lastModifiedBy>maarit</cp:lastModifiedBy>
  <cp:revision>2</cp:revision>
  <dcterms:created xsi:type="dcterms:W3CDTF">2006-08-16T00:00:00Z</dcterms:created>
  <dcterms:modified xsi:type="dcterms:W3CDTF">2011-04-06T03:56:30Z</dcterms:modified>
</cp:coreProperties>
</file>