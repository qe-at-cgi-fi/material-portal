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6" r:id="rId5"/>
    <p:sldId id="874" r:id="rId6"/>
    <p:sldId id="834" r:id="rId7"/>
    <p:sldId id="869" r:id="rId8"/>
    <p:sldId id="518" r:id="rId9"/>
    <p:sldId id="878" r:id="rId10"/>
    <p:sldId id="702" r:id="rId11"/>
    <p:sldId id="470" r:id="rId12"/>
    <p:sldId id="469" r:id="rId13"/>
    <p:sldId id="337" r:id="rId14"/>
    <p:sldId id="269" r:id="rId15"/>
    <p:sldId id="499" r:id="rId16"/>
    <p:sldId id="500" r:id="rId17"/>
    <p:sldId id="501" r:id="rId18"/>
    <p:sldId id="523" r:id="rId19"/>
    <p:sldId id="502" r:id="rId20"/>
    <p:sldId id="892" r:id="rId21"/>
    <p:sldId id="506" r:id="rId22"/>
    <p:sldId id="505" r:id="rId23"/>
    <p:sldId id="530" r:id="rId24"/>
    <p:sldId id="531" r:id="rId25"/>
    <p:sldId id="532" r:id="rId26"/>
    <p:sldId id="533" r:id="rId27"/>
    <p:sldId id="534" r:id="rId28"/>
    <p:sldId id="535" r:id="rId29"/>
    <p:sldId id="536" r:id="rId30"/>
    <p:sldId id="537" r:id="rId31"/>
    <p:sldId id="538" r:id="rId32"/>
    <p:sldId id="539" r:id="rId33"/>
    <p:sldId id="540" r:id="rId34"/>
    <p:sldId id="541" r:id="rId35"/>
    <p:sldId id="560" r:id="rId36"/>
    <p:sldId id="561" r:id="rId37"/>
    <p:sldId id="562" r:id="rId3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99FF"/>
    <a:srgbClr val="B48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0" autoAdjust="0"/>
    <p:restoredTop sz="97030" autoAdjust="0"/>
  </p:normalViewPr>
  <p:slideViewPr>
    <p:cSldViewPr snapToGrid="0" snapToObjects="1">
      <p:cViewPr varScale="1">
        <p:scale>
          <a:sx n="160" d="100"/>
          <a:sy n="160" d="100"/>
        </p:scale>
        <p:origin x="57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B040096-F619-7E43-996A-8032D7F8C713}" type="datetimeFigureOut">
              <a:rPr lang="en-US" smtClean="0"/>
              <a:t>9/29/22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0C6101D-4955-2E49-AD11-CFDEC25BF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33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22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CODE – COMPONENT – CONTAINER -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35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20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92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49154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6EA1D-2977-49C8-BFB7-651D4E153B63}" type="slidenum">
              <a:rPr lang="fi-FI" smtClean="0"/>
              <a:pPr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6525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 freeze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facing the Unknown: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non-programmers fear code; programmers fear languages they don’t work in; everyone fears unknown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6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Extending an API – Can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 your building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blocks.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6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Intended use. </a:t>
            </a:r>
            <a:r>
              <a:rPr lang="en-US"/>
              <a:t>Misuse.</a:t>
            </a:r>
            <a:r>
              <a:rPr lang="en-US" baseline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6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6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5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39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6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Discoverability without automation</a:t>
            </a:r>
          </a:p>
          <a:p>
            <a:r>
              <a:rPr lang="en-US" dirty="0"/>
              <a:t>Copy-</a:t>
            </a:r>
            <a:r>
              <a:rPr lang="en-US" dirty="0" err="1"/>
              <a:t>pasteable</a:t>
            </a:r>
            <a:endParaRPr lang="en-US" dirty="0"/>
          </a:p>
          <a:p>
            <a:r>
              <a:rPr lang="en-US" dirty="0"/>
              <a:t>Just</a:t>
            </a:r>
            <a:r>
              <a:rPr lang="en-US" baseline="0" dirty="0"/>
              <a:t> the right amount</a:t>
            </a:r>
          </a:p>
          <a:p>
            <a:r>
              <a:rPr lang="en-US" baseline="0" dirty="0"/>
              <a:t>Available in the tooling where you use the API</a:t>
            </a:r>
          </a:p>
          <a:p>
            <a:r>
              <a:rPr lang="en-US" dirty="0"/>
              <a:t>Names should be</a:t>
            </a:r>
            <a:r>
              <a:rPr lang="en-US" baseline="0" dirty="0"/>
              <a:t> meaningful. Programmers are people too!</a:t>
            </a:r>
          </a:p>
          <a:p>
            <a:r>
              <a:rPr lang="en-US" baseline="0" dirty="0"/>
              <a:t>Ordering of parameters. TDD to create nicest possible signatures that make sense in </a:t>
            </a:r>
            <a:r>
              <a:rPr lang="en-US" baseline="0" dirty="0" err="1"/>
              <a:t>english</a:t>
            </a:r>
            <a:r>
              <a:rPr lang="en-US" baseline="0" dirty="0"/>
              <a:t>! </a:t>
            </a:r>
          </a:p>
          <a:p>
            <a:r>
              <a:rPr lang="en-US" baseline="0" dirty="0"/>
              <a:t>Consistent with language. Type of tools. Helping people using it with the memory loading.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5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developer support site with copy-</a:t>
            </a:r>
            <a:r>
              <a:rPr lang="en-US" baseline="0" dirty="0" err="1"/>
              <a:t>pasteable</a:t>
            </a:r>
            <a:r>
              <a:rPr lang="en-US" baseline="0" dirty="0"/>
              <a:t> examples</a:t>
            </a:r>
          </a:p>
          <a:p>
            <a:r>
              <a:rPr lang="en-US" baseline="0" dirty="0"/>
              <a:t>MTFHW (hello world) and MTFWA (working application)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5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Artifacts as discretionary output. </a:t>
            </a:r>
            <a:r>
              <a:rPr lang="fi-FI" sz="1200" b="1" dirty="0" err="1"/>
              <a:t>Search</a:t>
            </a:r>
            <a:r>
              <a:rPr lang="fi-FI" sz="1200" b="1" dirty="0"/>
              <a:t> "&lt;ns1:Koodi&gt;" (443 </a:t>
            </a:r>
            <a:r>
              <a:rPr lang="fi-FI" sz="1200" b="1" dirty="0" err="1"/>
              <a:t>hits</a:t>
            </a:r>
            <a:r>
              <a:rPr lang="fi-FI" sz="1200" b="1" dirty="0"/>
              <a:t> in 169 </a:t>
            </a:r>
            <a:r>
              <a:rPr lang="fi-FI" sz="1200" b="1" dirty="0" err="1"/>
              <a:t>files</a:t>
            </a:r>
            <a:r>
              <a:rPr lang="fi-FI" sz="1200" b="1" dirty="0"/>
              <a:t>) in VE</a:t>
            </a:r>
          </a:p>
          <a:p>
            <a:r>
              <a:rPr lang="fi-FI" sz="1200" dirty="0"/>
              <a:t>  Y:\ELLU\LAPA\Testaus\Kokonaiseläketurvan-ote\Ansaintatiedot-VE\HaeAnsaintatiedot-VE__ 20110307 14-22-15.xml (4 </a:t>
            </a:r>
            <a:r>
              <a:rPr lang="fi-FI" sz="1200" dirty="0" err="1"/>
              <a:t>hits</a:t>
            </a:r>
            <a:r>
              <a:rPr lang="fi-FI" sz="1200" dirty="0"/>
              <a:t>) </a:t>
            </a:r>
            <a:endParaRPr lang="en-US" sz="1200" dirty="0"/>
          </a:p>
          <a:p>
            <a:r>
              <a:rPr lang="fi-FI" sz="1200" dirty="0"/>
              <a:t>                Line 1313:                &lt;ns1:Koodi&gt;YL130I&lt;/ns1:Koodi&gt;</a:t>
            </a:r>
            <a:endParaRPr lang="en-US" sz="1200" dirty="0"/>
          </a:p>
          <a:p>
            <a:r>
              <a:rPr lang="fi-FI" sz="1200" dirty="0"/>
              <a:t>                Line 1317:                &lt;ns1:Koodi&gt;LAPA_172_011&lt;/ns1:Koodi&gt;</a:t>
            </a:r>
            <a:endParaRPr lang="en-US" sz="1200" dirty="0"/>
          </a:p>
          <a:p>
            <a:r>
              <a:rPr lang="fi-FI" sz="1200" dirty="0"/>
              <a:t>                Line 1321:                &lt;ns1:Koodi&gt;67&lt;/ns1:Koodi&gt;</a:t>
            </a:r>
            <a:endParaRPr lang="en-US" sz="1200" dirty="0"/>
          </a:p>
          <a:p>
            <a:r>
              <a:rPr lang="fi-FI" sz="1200" dirty="0"/>
              <a:t>                Line 1324:                &lt;ns1:Koodi&gt;67&lt;/ns1:Koodi&gt;</a:t>
            </a:r>
            <a:endParaRPr lang="en-US" sz="1200" dirty="0"/>
          </a:p>
          <a:p>
            <a:r>
              <a:rPr lang="fi-FI" sz="1200" dirty="0"/>
              <a:t> </a:t>
            </a:r>
            <a:r>
              <a:rPr lang="fi-FI" sz="1200" i="1" dirty="0">
                <a:solidFill>
                  <a:schemeClr val="accent1"/>
                </a:solidFill>
              </a:rPr>
              <a:t>A </a:t>
            </a:r>
            <a:r>
              <a:rPr lang="fi-FI" sz="1200" i="1" dirty="0" err="1">
                <a:solidFill>
                  <a:schemeClr val="accent1"/>
                </a:solidFill>
              </a:rPr>
              <a:t>lot</a:t>
            </a:r>
            <a:r>
              <a:rPr lang="fi-FI" sz="1200" i="1" dirty="0">
                <a:solidFill>
                  <a:schemeClr val="accent1"/>
                </a:solidFill>
              </a:rPr>
              <a:t> of </a:t>
            </a:r>
            <a:r>
              <a:rPr lang="fi-FI" sz="1200" i="1" dirty="0" err="1">
                <a:solidFill>
                  <a:schemeClr val="accent1"/>
                </a:solidFill>
              </a:rPr>
              <a:t>text</a:t>
            </a:r>
            <a:r>
              <a:rPr lang="fi-FI" sz="1200" i="1" dirty="0">
                <a:solidFill>
                  <a:schemeClr val="accent1"/>
                </a:solidFill>
              </a:rPr>
              <a:t> </a:t>
            </a:r>
            <a:r>
              <a:rPr lang="fi-FI" sz="1200" i="1" dirty="0" err="1">
                <a:solidFill>
                  <a:schemeClr val="accent1"/>
                </a:solidFill>
              </a:rPr>
              <a:t>cut</a:t>
            </a:r>
            <a:r>
              <a:rPr lang="fi-FI" sz="1200" i="1" dirty="0">
                <a:solidFill>
                  <a:schemeClr val="accent1"/>
                </a:solidFill>
              </a:rPr>
              <a:t> </a:t>
            </a:r>
            <a:r>
              <a:rPr lang="fi-FI" sz="1200" i="1" dirty="0" err="1">
                <a:solidFill>
                  <a:schemeClr val="accent1"/>
                </a:solidFill>
              </a:rPr>
              <a:t>away</a:t>
            </a:r>
            <a:r>
              <a:rPr lang="fi-FI" sz="1200" i="1" dirty="0">
                <a:solidFill>
                  <a:schemeClr val="accent1"/>
                </a:solidFill>
              </a:rPr>
              <a:t> </a:t>
            </a:r>
            <a:r>
              <a:rPr lang="fi-FI" sz="1200" i="1" dirty="0" err="1">
                <a:solidFill>
                  <a:schemeClr val="accent1"/>
                </a:solidFill>
              </a:rPr>
              <a:t>from</a:t>
            </a:r>
            <a:r>
              <a:rPr lang="fi-FI" sz="1200" i="1" dirty="0">
                <a:solidFill>
                  <a:schemeClr val="accent1"/>
                </a:solidFill>
              </a:rPr>
              <a:t> </a:t>
            </a:r>
            <a:r>
              <a:rPr lang="fi-FI" sz="1200" i="1" dirty="0" err="1">
                <a:solidFill>
                  <a:schemeClr val="accent1"/>
                </a:solidFill>
              </a:rPr>
              <a:t>here</a:t>
            </a:r>
            <a:r>
              <a:rPr lang="fi-FI" sz="1200" i="1" dirty="0">
                <a:solidFill>
                  <a:schemeClr val="accent1"/>
                </a:solidFill>
              </a:rPr>
              <a:t>…</a:t>
            </a:r>
            <a:endParaRPr lang="en-US" sz="1200" i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03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54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thing works, that’s when you put it to test automation. Meanwhile you’re ’scripting the case’ while getting the bug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54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5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5"/>
            <a:ext cx="10363200" cy="1470025"/>
          </a:xfrm>
        </p:spPr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827082"/>
            <a:ext cx="10363200" cy="1362075"/>
          </a:xfrm>
        </p:spPr>
        <p:txBody>
          <a:bodyPr anchor="t">
            <a:noAutofit/>
          </a:bodyPr>
          <a:lstStyle>
            <a:lvl1pPr algn="ctr">
              <a:defRPr sz="5400" b="1" cap="none">
                <a:latin typeface="Snell Roundhand"/>
                <a:cs typeface="Snell Roundhand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237" y="6340978"/>
            <a:ext cx="1687349" cy="420195"/>
            <a:chOff x="7224432" y="6318687"/>
            <a:chExt cx="1265512" cy="420193"/>
          </a:xfrm>
        </p:grpSpPr>
        <p:sp>
          <p:nvSpPr>
            <p:cNvPr id="8" name="TextBox 7"/>
            <p:cNvSpPr txBox="1"/>
            <p:nvPr/>
          </p:nvSpPr>
          <p:spPr>
            <a:xfrm>
              <a:off x="7556612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</a:t>
              </a:r>
              <a:r>
                <a:rPr lang="en-US" sz="1800" dirty="0" err="1">
                  <a:solidFill>
                    <a:schemeClr val="bg1">
                      <a:lumMod val="50000"/>
                    </a:schemeClr>
                  </a:solidFill>
                </a:rPr>
                <a:t>maaretp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</a:p>
          </p:txBody>
        </p:sp>
        <p:pic>
          <p:nvPicPr>
            <p:cNvPr id="9" name="Picture 8" descr="TwitterLogo_#55acee.png"/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4432" y="6331262"/>
              <a:ext cx="407618" cy="407618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 userDrawn="1"/>
        </p:nvSpPr>
        <p:spPr>
          <a:xfrm>
            <a:off x="9250733" y="6340971"/>
            <a:ext cx="1962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aseline="0" dirty="0">
                <a:solidFill>
                  <a:schemeClr val="bg1">
                    <a:lumMod val="50000"/>
                  </a:schemeClr>
                </a:solidFill>
              </a:rPr>
              <a:t>http://</a:t>
            </a:r>
            <a:r>
              <a:rPr lang="en-US" sz="1800" baseline="0" dirty="0" err="1">
                <a:solidFill>
                  <a:schemeClr val="bg1">
                    <a:lumMod val="50000"/>
                  </a:schemeClr>
                </a:solidFill>
              </a:rPr>
              <a:t>maaretp.com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C90087-8484-4648-961D-5F2491674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rot="16200000" flipV="1">
            <a:off x="-2596663" y="2596661"/>
            <a:ext cx="6858002" cy="166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336" y="1263974"/>
            <a:ext cx="8930105" cy="1470025"/>
          </a:xfrm>
        </p:spPr>
        <p:txBody>
          <a:bodyPr>
            <a:noAutofit/>
          </a:bodyPr>
          <a:lstStyle/>
          <a:p>
            <a:r>
              <a:rPr lang="en-US" sz="6600" dirty="0">
                <a:latin typeface="KG No Matter What" panose="02000507000000020003" pitchFamily="2" charset="77"/>
                <a:cs typeface="KG Manhattan Script"/>
              </a:rPr>
              <a:t>Exploring </a:t>
            </a:r>
            <a:br>
              <a:rPr lang="en-US" sz="6600" dirty="0">
                <a:latin typeface="KG No Matter What" panose="02000507000000020003" pitchFamily="2" charset="77"/>
                <a:cs typeface="KG Manhattan Script"/>
              </a:rPr>
            </a:br>
            <a:r>
              <a:rPr lang="en-US" sz="6600" dirty="0">
                <a:latin typeface="+mn-lt"/>
                <a:cs typeface="KG Manhattan Script"/>
              </a:rPr>
              <a:t>Programmatic Interfaces (APIs)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2774" y="4098563"/>
            <a:ext cx="5251666" cy="770963"/>
          </a:xfrm>
        </p:spPr>
        <p:txBody>
          <a:bodyPr>
            <a:normAutofit/>
          </a:bodyPr>
          <a:lstStyle/>
          <a:p>
            <a:r>
              <a:rPr lang="en-US" dirty="0"/>
              <a:t>by Maaret Pyhäjärvi</a:t>
            </a:r>
          </a:p>
        </p:txBody>
      </p:sp>
      <p:pic>
        <p:nvPicPr>
          <p:cNvPr id="9" name="Picture 8" descr="VaisalaLogo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44" y="4727223"/>
            <a:ext cx="1592572" cy="494149"/>
          </a:xfrm>
          <a:prstGeom prst="rect">
            <a:avLst/>
          </a:prstGeom>
        </p:spPr>
      </p:pic>
      <p:pic>
        <p:nvPicPr>
          <p:cNvPr id="6" name="Picture 5" descr="FairyGodmother.jpg">
            <a:extLst>
              <a:ext uri="{FF2B5EF4-FFF2-40B4-BE49-F238E27FC236}">
                <a16:creationId xmlns:a16="http://schemas.microsoft.com/office/drawing/2014/main" id="{0A82CDBB-6184-4297-B228-7100173803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86" y="3364329"/>
            <a:ext cx="3087414" cy="30103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787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9F3D5C-633E-E444-343D-9B855DB02896}"/>
              </a:ext>
            </a:extLst>
          </p:cNvPr>
          <p:cNvSpPr txBox="1"/>
          <p:nvPr/>
        </p:nvSpPr>
        <p:spPr>
          <a:xfrm>
            <a:off x="694481" y="578735"/>
            <a:ext cx="10743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200" dirty="0">
                <a:latin typeface="KG No Matter What" panose="02000507000000020003" pitchFamily="2" charset="77"/>
              </a:rPr>
              <a:t>We </a:t>
            </a:r>
            <a:r>
              <a:rPr lang="en-FI" sz="7200" dirty="0">
                <a:solidFill>
                  <a:schemeClr val="accent2"/>
                </a:solidFill>
                <a:latin typeface="KG No Matter What" panose="02000507000000020003" pitchFamily="2" charset="77"/>
              </a:rPr>
              <a:t>Learn to Test </a:t>
            </a:r>
            <a:r>
              <a:rPr lang="en-FI" sz="7200" dirty="0">
                <a:latin typeface="KG No Matter What" panose="02000507000000020003" pitchFamily="2" charset="77"/>
              </a:rPr>
              <a:t>by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70857-A5D7-A6A6-3471-431D13F1A2A5}"/>
              </a:ext>
            </a:extLst>
          </p:cNvPr>
          <p:cNvSpPr txBox="1"/>
          <p:nvPr/>
        </p:nvSpPr>
        <p:spPr>
          <a:xfrm>
            <a:off x="3206186" y="1620456"/>
            <a:ext cx="60535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3200" dirty="0">
                <a:solidFill>
                  <a:schemeClr val="bg1">
                    <a:lumMod val="85000"/>
                  </a:schemeClr>
                </a:solidFill>
              </a:rPr>
              <a:t>TestThisBox</a:t>
            </a:r>
            <a:br>
              <a:rPr lang="en-FI" sz="3200" dirty="0"/>
            </a:br>
            <a:r>
              <a:rPr lang="en-FI" sz="3200" dirty="0"/>
              <a:t>Gilded Rose</a:t>
            </a:r>
          </a:p>
          <a:p>
            <a:r>
              <a:rPr lang="en-FI" sz="3200" dirty="0"/>
              <a:t>Roman Numerals</a:t>
            </a:r>
          </a:p>
          <a:p>
            <a:r>
              <a:rPr lang="en-FI" sz="3200" dirty="0"/>
              <a:t>ApprovalTests</a:t>
            </a:r>
          </a:p>
          <a:p>
            <a:r>
              <a:rPr lang="en-FI" sz="3200" dirty="0">
                <a:solidFill>
                  <a:schemeClr val="bg1">
                    <a:lumMod val="85000"/>
                  </a:schemeClr>
                </a:solidFill>
              </a:rPr>
              <a:t>E-Primer</a:t>
            </a:r>
          </a:p>
          <a:p>
            <a:r>
              <a:rPr lang="en-FI" sz="3200" dirty="0">
                <a:solidFill>
                  <a:schemeClr val="bg1">
                    <a:lumMod val="85000"/>
                  </a:schemeClr>
                </a:solidFill>
              </a:rPr>
              <a:t>DFEditor</a:t>
            </a:r>
          </a:p>
          <a:p>
            <a:r>
              <a:rPr lang="en-FI" sz="3200" dirty="0">
                <a:solidFill>
                  <a:schemeClr val="bg1">
                    <a:lumMod val="85000"/>
                  </a:schemeClr>
                </a:solidFill>
              </a:rPr>
              <a:t>Freemind</a:t>
            </a:r>
          </a:p>
          <a:p>
            <a:r>
              <a:rPr lang="en-FI" sz="3200" dirty="0"/>
              <a:t>Zippopotamus</a:t>
            </a:r>
          </a:p>
          <a:p>
            <a:r>
              <a:rPr lang="en-FI" sz="3200" dirty="0"/>
              <a:t>React-Weather</a:t>
            </a:r>
          </a:p>
          <a:p>
            <a:r>
              <a:rPr lang="en-FI" sz="3200" dirty="0">
                <a:solidFill>
                  <a:srgbClr val="FF0000"/>
                </a:solidFill>
              </a:rPr>
              <a:t>Odoo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49DD7C-10C7-5AEA-6A7A-2CB7AE798345}"/>
              </a:ext>
            </a:extLst>
          </p:cNvPr>
          <p:cNvSpPr/>
          <p:nvPr/>
        </p:nvSpPr>
        <p:spPr>
          <a:xfrm>
            <a:off x="8391646" y="2245489"/>
            <a:ext cx="1701478" cy="166675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/>
              <a:t>Do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645E19-C187-D727-EA1C-87B09930314C}"/>
              </a:ext>
            </a:extLst>
          </p:cNvPr>
          <p:cNvSpPr/>
          <p:nvPr/>
        </p:nvSpPr>
        <p:spPr>
          <a:xfrm>
            <a:off x="9498197" y="3912243"/>
            <a:ext cx="1701478" cy="166675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2800" dirty="0"/>
              <a:t>Reflect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C51F751-BEED-3456-A1DD-2DFA7C1988CB}"/>
              </a:ext>
            </a:extLst>
          </p:cNvPr>
          <p:cNvCxnSpPr>
            <a:stCxn id="6" idx="6"/>
            <a:endCxn id="8" idx="0"/>
          </p:cNvCxnSpPr>
          <p:nvPr/>
        </p:nvCxnSpPr>
        <p:spPr>
          <a:xfrm>
            <a:off x="10093124" y="3078866"/>
            <a:ext cx="255812" cy="83337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6985B1E-023B-05F9-1C2D-43022C7EE7C9}"/>
              </a:ext>
            </a:extLst>
          </p:cNvPr>
          <p:cNvCxnSpPr>
            <a:stCxn id="8" idx="2"/>
          </p:cNvCxnSpPr>
          <p:nvPr/>
        </p:nvCxnSpPr>
        <p:spPr>
          <a:xfrm rot="10800000">
            <a:off x="9242385" y="3912244"/>
            <a:ext cx="255812" cy="83337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9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0999882-161E-4693-A929-34CF4149C786}"/>
              </a:ext>
            </a:extLst>
          </p:cNvPr>
          <p:cNvGrpSpPr/>
          <p:nvPr/>
        </p:nvGrpSpPr>
        <p:grpSpPr>
          <a:xfrm>
            <a:off x="5176529" y="335624"/>
            <a:ext cx="1616313" cy="6100850"/>
            <a:chOff x="5176529" y="335624"/>
            <a:chExt cx="1616313" cy="6100850"/>
          </a:xfrm>
        </p:grpSpPr>
        <p:pic>
          <p:nvPicPr>
            <p:cNvPr id="2" name="Picture 1" descr="i1.png"/>
            <p:cNvPicPr>
              <a:picLocks noChangeAspect="1"/>
            </p:cNvPicPr>
            <p:nvPr/>
          </p:nvPicPr>
          <p:blipFill>
            <a:blip r:embed="rId3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928040" y="4697042"/>
              <a:ext cx="1987923" cy="1490942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3" name="Picture 2" descr="i2.png"/>
            <p:cNvPicPr>
              <a:picLocks noChangeAspect="1"/>
            </p:cNvPicPr>
            <p:nvPr/>
          </p:nvPicPr>
          <p:blipFill>
            <a:blip r:embed="rId4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928039" y="2572038"/>
              <a:ext cx="1987924" cy="1490943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" name="Picture 3" descr="i3.png"/>
            <p:cNvPicPr>
              <a:picLocks noChangeAspect="1"/>
            </p:cNvPicPr>
            <p:nvPr/>
          </p:nvPicPr>
          <p:blipFill>
            <a:blip r:embed="rId5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53409" y="584114"/>
              <a:ext cx="1987924" cy="1490943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6" name="TextBox 5"/>
          <p:cNvSpPr txBox="1"/>
          <p:nvPr/>
        </p:nvSpPr>
        <p:spPr>
          <a:xfrm>
            <a:off x="-1605280" y="473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48225-ED57-42DD-A7F0-F405572DB345}"/>
              </a:ext>
            </a:extLst>
          </p:cNvPr>
          <p:cNvSpPr txBox="1"/>
          <p:nvPr/>
        </p:nvSpPr>
        <p:spPr>
          <a:xfrm>
            <a:off x="719832" y="1281698"/>
            <a:ext cx="37054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3"/>
                </a:solidFill>
                <a:latin typeface="KG No Matter What" panose="02000507000000020003" pitchFamily="2" charset="0"/>
              </a:rPr>
              <a:t>First Experience </a:t>
            </a:r>
            <a:r>
              <a:rPr lang="en-US" sz="5400" dirty="0">
                <a:latin typeface="KG No Matter What" panose="02000507000000020003" pitchFamily="2" charset="0"/>
              </a:rPr>
              <a:t>to </a:t>
            </a:r>
            <a:br>
              <a:rPr lang="en-US" sz="5400" dirty="0">
                <a:latin typeface="KG No Matter What" panose="02000507000000020003" pitchFamily="2" charset="0"/>
              </a:rPr>
            </a:br>
            <a:r>
              <a:rPr lang="en-US" sz="5400" dirty="0">
                <a:latin typeface="KG No Matter What" panose="02000507000000020003" pitchFamily="2" charset="0"/>
              </a:rPr>
              <a:t>Exploratory Testing?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66B6D-8FE9-46DC-AEA3-4DBD3E3B6529}"/>
              </a:ext>
            </a:extLst>
          </p:cNvPr>
          <p:cNvSpPr txBox="1"/>
          <p:nvPr/>
        </p:nvSpPr>
        <p:spPr>
          <a:xfrm>
            <a:off x="7298572" y="657711"/>
            <a:ext cx="47128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Spec =&gt; Tests </a:t>
            </a:r>
            <a:br>
              <a:rPr lang="en-US" sz="3200" dirty="0"/>
            </a:br>
            <a:r>
              <a:rPr lang="en-US" sz="3200" dirty="0"/>
              <a:t>+ </a:t>
            </a:r>
            <a:r>
              <a:rPr lang="en-US" sz="3200" dirty="0">
                <a:solidFill>
                  <a:schemeClr val="accent5"/>
                </a:solidFill>
              </a:rPr>
              <a:t>a Session to Find all Bugs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CF19F-B243-4E3C-9DBD-C1EF5A2D74C6}"/>
              </a:ext>
            </a:extLst>
          </p:cNvPr>
          <p:cNvSpPr txBox="1"/>
          <p:nvPr/>
        </p:nvSpPr>
        <p:spPr>
          <a:xfrm>
            <a:off x="7298572" y="2791311"/>
            <a:ext cx="44789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Repeat list of test cases </a:t>
            </a:r>
            <a:br>
              <a:rPr lang="en-US" sz="3200" dirty="0"/>
            </a:br>
            <a:r>
              <a:rPr lang="en-US" sz="3200" dirty="0"/>
              <a:t>+ </a:t>
            </a:r>
            <a:r>
              <a:rPr lang="en-US" sz="3200" dirty="0">
                <a:solidFill>
                  <a:schemeClr val="accent5"/>
                </a:solidFill>
              </a:rPr>
              <a:t>a conference awakening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A651B-D600-4223-AC8C-44D7F86BDA3B}"/>
              </a:ext>
            </a:extLst>
          </p:cNvPr>
          <p:cNvSpPr txBox="1"/>
          <p:nvPr/>
        </p:nvSpPr>
        <p:spPr>
          <a:xfrm>
            <a:off x="7298570" y="4836161"/>
            <a:ext cx="4304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Some tests, budget of time, QA on results</a:t>
            </a:r>
          </a:p>
        </p:txBody>
      </p:sp>
    </p:spTree>
    <p:extLst>
      <p:ext uri="{BB962C8B-B14F-4D97-AF65-F5344CB8AC3E}">
        <p14:creationId xmlns:p14="http://schemas.microsoft.com/office/powerpoint/2010/main" val="282342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0CBF8F2-ED60-1954-0796-94D54362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39576" cy="6073775"/>
          </a:xfrm>
          <a:prstGeom prst="rect">
            <a:avLst/>
          </a:prstGeom>
          <a:noFill/>
        </p:spPr>
      </p:pic>
      <p:pic>
        <p:nvPicPr>
          <p:cNvPr id="8" name="Picture 7" descr="Diagram&#10;&#10;Description automatically generated with low confidence">
            <a:extLst>
              <a:ext uri="{FF2B5EF4-FFF2-40B4-BE49-F238E27FC236}">
                <a16:creationId xmlns:a16="http://schemas.microsoft.com/office/drawing/2014/main" id="{C1B0BDDC-9C49-1CBA-F07B-2A027F3DB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126" y="0"/>
            <a:ext cx="4023874" cy="6073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687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438674038.8305.jpg"/>
          <p:cNvPicPr>
            <a:picLocks noChangeAspect="1"/>
          </p:cNvPicPr>
          <p:nvPr/>
        </p:nvPicPr>
        <p:blipFill>
          <a:blip r:embed="rId3" cstate="email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24" y="1"/>
            <a:ext cx="8783053" cy="641362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2553370" y="1430421"/>
            <a:ext cx="7299158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An </a:t>
            </a:r>
            <a:r>
              <a:rPr lang="en-US" sz="4400" dirty="0">
                <a:solidFill>
                  <a:schemeClr val="accent2"/>
                </a:solidFill>
              </a:rPr>
              <a:t>application programming interface </a:t>
            </a:r>
            <a:r>
              <a:rPr lang="en-US" sz="4400" dirty="0"/>
              <a:t>(API) is a set of routines, protocols, and tools for building software and applications. </a:t>
            </a:r>
          </a:p>
          <a:p>
            <a:pPr algn="ctr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3102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C555CA-96FD-6A66-FF99-759E7CC63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165100"/>
            <a:ext cx="63246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854A0A4B-2E30-48B7-9742-60083A5B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5"/>
          <a:stretch/>
        </p:blipFill>
        <p:spPr>
          <a:xfrm>
            <a:off x="3736836" y="2198639"/>
            <a:ext cx="2114550" cy="1841234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7CEA219-8AFB-4554-ADBB-FB7A93103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flipV="1">
            <a:off x="0" y="1527"/>
            <a:ext cx="12192000" cy="221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1F1B449-2966-44CC-8220-B3564B2FA2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1387" y="2319660"/>
            <a:ext cx="1543445" cy="662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6502B3-4FFD-461F-A833-8217BB9ED1EA}"/>
              </a:ext>
            </a:extLst>
          </p:cNvPr>
          <p:cNvSpPr txBox="1"/>
          <p:nvPr/>
        </p:nvSpPr>
        <p:spPr>
          <a:xfrm>
            <a:off x="4388346" y="3794128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CFDD0-2947-4C5C-AA84-6FDABC423187}"/>
              </a:ext>
            </a:extLst>
          </p:cNvPr>
          <p:cNvSpPr txBox="1"/>
          <p:nvPr/>
        </p:nvSpPr>
        <p:spPr>
          <a:xfrm>
            <a:off x="6505232" y="3779599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64645-B8ED-431F-A0F2-17DBFA31C515}"/>
              </a:ext>
            </a:extLst>
          </p:cNvPr>
          <p:cNvSpPr txBox="1"/>
          <p:nvPr/>
        </p:nvSpPr>
        <p:spPr>
          <a:xfrm>
            <a:off x="5611553" y="2966502"/>
            <a:ext cx="2685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MIATPP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br>
              <a:rPr lang="en-US" dirty="0">
                <a:latin typeface="Gill Sans MT" panose="020B0502020104020203" pitchFamily="34" charset="0"/>
              </a:rPr>
            </a:br>
            <a:r>
              <a:rPr lang="en-US" sz="1350" dirty="0">
                <a:latin typeface="Gill Sans Nova Light" panose="020B0604020202020204" pitchFamily="34" charset="0"/>
              </a:rPr>
              <a:t>Most Influential Agile Testing Professional Person</a:t>
            </a:r>
            <a:endParaRPr lang="en-US" dirty="0">
              <a:latin typeface="Gill Sans Nova Light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680E0-9A77-4140-916C-51A66B525CBE}"/>
              </a:ext>
            </a:extLst>
          </p:cNvPr>
          <p:cNvSpPr txBox="1"/>
          <p:nvPr/>
        </p:nvSpPr>
        <p:spPr>
          <a:xfrm>
            <a:off x="6509937" y="4421353"/>
            <a:ext cx="4182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0"/>
              </a:rPr>
              <a:t>#</a:t>
            </a:r>
            <a:r>
              <a:rPr lang="en-US" sz="1200" dirty="0" err="1">
                <a:latin typeface="Gill Sans MT" panose="020B0502020104020203" pitchFamily="34" charset="0"/>
              </a:rPr>
              <a:t>PayToSpeak</a:t>
            </a:r>
            <a:r>
              <a:rPr lang="en-US" sz="1200" dirty="0">
                <a:latin typeface="Gill Sans MT" panose="020B0502020104020203" pitchFamily="34" charset="0"/>
              </a:rPr>
              <a:t> #</a:t>
            </a:r>
            <a:r>
              <a:rPr lang="en-US" sz="1200" dirty="0" err="1">
                <a:latin typeface="Gill Sans MT" panose="020B0502020104020203" pitchFamily="34" charset="0"/>
              </a:rPr>
              <a:t>TechVoices</a:t>
            </a:r>
            <a:r>
              <a:rPr lang="en-US" sz="1200" dirty="0">
                <a:latin typeface="Gill Sans MT" panose="020B0502020104020203" pitchFamily="34" charset="0"/>
              </a:rPr>
              <a:t>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</a:t>
            </a:r>
            <a:r>
              <a:rPr lang="en-US" sz="1200" dirty="0" err="1">
                <a:latin typeface="Gill Sans MT" panose="020B0502020104020203" pitchFamily="34" charset="0"/>
              </a:rPr>
              <a:t>EnsembleTesting</a:t>
            </a:r>
            <a:r>
              <a:rPr lang="en-US" sz="1200" dirty="0">
                <a:latin typeface="Gill Sans MT" panose="020B0502020104020203" pitchFamily="34" charset="0"/>
              </a:rPr>
              <a:t> #</a:t>
            </a:r>
            <a:r>
              <a:rPr lang="en-US" sz="1200" dirty="0" err="1">
                <a:latin typeface="Gill Sans MT" panose="020B0502020104020203" pitchFamily="34" charset="0"/>
              </a:rPr>
              <a:t>EnsembleProgramming</a:t>
            </a:r>
            <a:r>
              <a:rPr lang="en-US" sz="1200" dirty="0">
                <a:latin typeface="Gill Sans MT" panose="020B0502020104020203" pitchFamily="34" charset="0"/>
              </a:rPr>
              <a:t> #</a:t>
            </a:r>
            <a:r>
              <a:rPr lang="en-US" sz="1200" dirty="0" err="1">
                <a:latin typeface="Gill Sans MT" panose="020B0502020104020203" pitchFamily="34" charset="0"/>
              </a:rPr>
              <a:t>StrongStylePairing</a:t>
            </a:r>
            <a:r>
              <a:rPr lang="en-US" sz="1200" dirty="0">
                <a:latin typeface="Gill Sans MT" panose="020B0502020104020203" pitchFamily="34" charset="0"/>
              </a:rPr>
              <a:t>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</a:t>
            </a:r>
            <a:r>
              <a:rPr lang="en-US" sz="1200" dirty="0" err="1">
                <a:latin typeface="Gill Sans MT" panose="020B0502020104020203" pitchFamily="34" charset="0"/>
              </a:rPr>
              <a:t>ExploratoryTesting</a:t>
            </a:r>
            <a:r>
              <a:rPr lang="en-US" sz="1200" dirty="0">
                <a:latin typeface="Gill Sans MT" panose="020B0502020104020203" pitchFamily="34" charset="0"/>
              </a:rPr>
              <a:t> #</a:t>
            </a:r>
            <a:r>
              <a:rPr lang="en-US" sz="1200" dirty="0" err="1">
                <a:latin typeface="Gill Sans MT" panose="020B0502020104020203" pitchFamily="34" charset="0"/>
              </a:rPr>
              <a:t>TestAutomation</a:t>
            </a:r>
            <a:endParaRPr lang="en-US" sz="1200" dirty="0">
              <a:latin typeface="Gill Sans MT" panose="020B0502020104020203" pitchFamily="34" charset="0"/>
            </a:endParaRPr>
          </a:p>
          <a:p>
            <a:r>
              <a:rPr lang="en-US" sz="1200" dirty="0">
                <a:latin typeface="Gill Sans MT" panose="020B0502020104020203" pitchFamily="34" charset="0"/>
              </a:rPr>
              <a:t>#ModernAgile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#AwesomeTesters</a:t>
            </a:r>
          </a:p>
        </p:txBody>
      </p:sp>
      <p:pic>
        <p:nvPicPr>
          <p:cNvPr id="21" name="Picture 20" descr="A close up of a person&#10;&#10;Description automatically generated">
            <a:extLst>
              <a:ext uri="{FF2B5EF4-FFF2-40B4-BE49-F238E27FC236}">
                <a16:creationId xmlns:a16="http://schemas.microsoft.com/office/drawing/2014/main" id="{2C439EBB-35AD-4B75-AC4F-AA29F499EDA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1E0E0D-67BB-4528-B6CB-6F1F9682DC8B}"/>
              </a:ext>
            </a:extLst>
          </p:cNvPr>
          <p:cNvSpPr/>
          <p:nvPr/>
        </p:nvSpPr>
        <p:spPr>
          <a:xfrm>
            <a:off x="144956" y="268448"/>
            <a:ext cx="60901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Maaret Pyhäjärvi </a:t>
            </a:r>
            <a:r>
              <a:rPr lang="en-US" dirty="0">
                <a:solidFill>
                  <a:srgbClr val="FF99FF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(from Finland)</a:t>
            </a:r>
            <a:endParaRPr lang="en-US" sz="4400" dirty="0">
              <a:solidFill>
                <a:srgbClr val="FF99FF"/>
              </a:solidFill>
              <a:latin typeface="KG No Matter What" panose="02000507000000020003" pitchFamily="2" charset="0"/>
              <a:ea typeface="KG Manhattan Script" charset="0"/>
              <a:cs typeface="KG Manhattan Script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B441B-3FE2-45AE-91C8-0C2493091641}"/>
              </a:ext>
            </a:extLst>
          </p:cNvPr>
          <p:cNvSpPr/>
          <p:nvPr/>
        </p:nvSpPr>
        <p:spPr>
          <a:xfrm>
            <a:off x="2026737" y="4257044"/>
            <a:ext cx="6158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Email: maaret@iki.fi</a:t>
            </a:r>
          </a:p>
          <a:p>
            <a:r>
              <a:rPr lang="en-US" sz="2000" dirty="0"/>
              <a:t>Twitter: @maaretp</a:t>
            </a:r>
            <a:br>
              <a:rPr lang="en-US" sz="2000" dirty="0"/>
            </a:br>
            <a:r>
              <a:rPr lang="en-US" sz="2000" dirty="0"/>
              <a:t>Web: maaretp.com</a:t>
            </a:r>
          </a:p>
          <a:p>
            <a:r>
              <a:rPr lang="en-US" sz="2000" dirty="0"/>
              <a:t>Blog: visible-quality.blogspot.fi</a:t>
            </a:r>
          </a:p>
          <a:p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(please connect with me through </a:t>
            </a:r>
            <a:b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Twitter or LinkedIn)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120F171-EB66-4D15-89A4-1331C18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053" y="1529805"/>
            <a:ext cx="1704358" cy="170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98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5511" y="406611"/>
            <a:ext cx="5739973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dirty="0"/>
              <a:t>DX</a:t>
            </a:r>
            <a:endParaRPr lang="fi-FI" sz="13800" dirty="0"/>
          </a:p>
          <a:p>
            <a:pPr algn="ctr"/>
            <a:r>
              <a:rPr lang="en-US" sz="4800" dirty="0"/>
              <a:t>Developer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D8549-0B16-747A-D7E7-66EC69A0D4FC}"/>
              </a:ext>
            </a:extLst>
          </p:cNvPr>
          <p:cNvSpPr txBox="1"/>
          <p:nvPr/>
        </p:nvSpPr>
        <p:spPr>
          <a:xfrm>
            <a:off x="2447451" y="3860893"/>
            <a:ext cx="24966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Building it the First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EF86E-9467-E1CB-0386-119F3E68C00B}"/>
              </a:ext>
            </a:extLst>
          </p:cNvPr>
          <p:cNvSpPr txBox="1"/>
          <p:nvPr/>
        </p:nvSpPr>
        <p:spPr>
          <a:xfrm>
            <a:off x="7271790" y="3866856"/>
            <a:ext cx="2713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Debugging and Maintaining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157259-3F96-EFAE-63B6-F1BA47C4CB49}"/>
              </a:ext>
            </a:extLst>
          </p:cNvPr>
          <p:cNvCxnSpPr/>
          <p:nvPr/>
        </p:nvCxnSpPr>
        <p:spPr>
          <a:xfrm>
            <a:off x="5977448" y="3420996"/>
            <a:ext cx="0" cy="28372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1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63534" y="397093"/>
            <a:ext cx="486493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2"/>
                </a:solidFill>
              </a:rPr>
              <a:t>REST APIs </a:t>
            </a:r>
            <a:r>
              <a:rPr lang="en-US" dirty="0">
                <a:solidFill>
                  <a:schemeClr val="accent2"/>
                </a:solidFill>
              </a:rPr>
              <a:t>(http(s))</a:t>
            </a:r>
            <a:br>
              <a:rPr lang="en-US" sz="3600" dirty="0">
                <a:solidFill>
                  <a:schemeClr val="accent2"/>
                </a:solidFill>
              </a:rPr>
            </a:br>
            <a:r>
              <a:rPr lang="en-US" sz="3600" dirty="0">
                <a:solidFill>
                  <a:schemeClr val="accent2"/>
                </a:solidFill>
              </a:rPr>
              <a:t>Streaming APIs </a:t>
            </a:r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ws</a:t>
            </a:r>
            <a:r>
              <a:rPr lang="en-US" sz="2000" dirty="0">
                <a:solidFill>
                  <a:schemeClr val="accent2"/>
                </a:solidFill>
              </a:rPr>
              <a:t>(s))</a:t>
            </a:r>
          </a:p>
          <a:p>
            <a:pPr algn="ctr"/>
            <a:endParaRPr lang="en-US" sz="2000" dirty="0"/>
          </a:p>
          <a:p>
            <a:pPr algn="ctr"/>
            <a:r>
              <a:rPr lang="en-US" sz="3600" dirty="0">
                <a:solidFill>
                  <a:srgbClr val="C0504D"/>
                </a:solidFill>
              </a:rPr>
              <a:t>Libraries</a:t>
            </a:r>
          </a:p>
          <a:p>
            <a:pPr algn="ctr"/>
            <a:r>
              <a:rPr lang="en-US" sz="3600" dirty="0"/>
              <a:t>Frameworks</a:t>
            </a:r>
          </a:p>
          <a:p>
            <a:pPr algn="ctr"/>
            <a:r>
              <a:rPr lang="en-US" sz="3600" dirty="0"/>
              <a:t>Languages</a:t>
            </a:r>
          </a:p>
          <a:p>
            <a:pPr algn="ctr"/>
            <a:endParaRPr lang="en-US" sz="2000" dirty="0"/>
          </a:p>
          <a:p>
            <a:pPr algn="ctr"/>
            <a:r>
              <a:rPr lang="en-US" sz="3600" dirty="0">
                <a:solidFill>
                  <a:srgbClr val="4F81BD"/>
                </a:solidFill>
              </a:rPr>
              <a:t>Methods</a:t>
            </a:r>
          </a:p>
          <a:p>
            <a:pPr algn="ctr"/>
            <a:endParaRPr lang="en-US" sz="2000" dirty="0"/>
          </a:p>
          <a:p>
            <a:pPr algn="ctr"/>
            <a:r>
              <a:rPr lang="en-US" sz="3600" dirty="0"/>
              <a:t>CLI</a:t>
            </a:r>
          </a:p>
          <a:p>
            <a:pPr algn="ctr"/>
            <a:endParaRPr lang="en-US" sz="2000" dirty="0"/>
          </a:p>
          <a:p>
            <a:pPr algn="ctr"/>
            <a:r>
              <a:rPr lang="en-US" sz="3600" dirty="0">
                <a:solidFill>
                  <a:schemeClr val="accent1"/>
                </a:solidFill>
              </a:rPr>
              <a:t>Protocols and Messages</a:t>
            </a:r>
          </a:p>
        </p:txBody>
      </p:sp>
    </p:spTree>
    <p:extLst>
      <p:ext uri="{BB962C8B-B14F-4D97-AF65-F5344CB8AC3E}">
        <p14:creationId xmlns:p14="http://schemas.microsoft.com/office/powerpoint/2010/main" val="410487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430" y="154774"/>
            <a:ext cx="10515600" cy="1325563"/>
          </a:xfrm>
        </p:spPr>
        <p:txBody>
          <a:bodyPr>
            <a:normAutofit/>
          </a:bodyPr>
          <a:lstStyle/>
          <a:p>
            <a:r>
              <a:rPr lang="fi-FI" sz="4000" dirty="0">
                <a:latin typeface="+mn-lt"/>
              </a:rPr>
              <a:t>Exploratory Testing: </a:t>
            </a:r>
            <a:br>
              <a:rPr lang="fi-FI" sz="4000" dirty="0">
                <a:latin typeface="+mn-lt"/>
              </a:rPr>
            </a:br>
            <a:r>
              <a:rPr lang="fi-FI" sz="4000" dirty="0">
                <a:latin typeface="+mn-lt"/>
              </a:rPr>
              <a:t>Frame of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1230" y="2438400"/>
            <a:ext cx="2643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/>
              <a:t>”A day’s work”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338886" y="2971800"/>
            <a:ext cx="4024314" cy="2143140"/>
            <a:chOff x="432" y="768"/>
            <a:chExt cx="5088" cy="3264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32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Vision (“Sandbox”)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024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Current Charter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32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Other Charters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24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Details</a:t>
              </a:r>
            </a:p>
          </p:txBody>
        </p:sp>
      </p:grpSp>
      <p:sp>
        <p:nvSpPr>
          <p:cNvPr id="11" name="Folded Corner 10"/>
          <p:cNvSpPr/>
          <p:nvPr/>
        </p:nvSpPr>
        <p:spPr>
          <a:xfrm>
            <a:off x="9014950" y="5464170"/>
            <a:ext cx="1500198" cy="833013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Bug </a:t>
            </a:r>
            <a:br>
              <a:rPr lang="fi-FI" sz="2000" dirty="0"/>
            </a:br>
            <a:r>
              <a:rPr lang="fi-FI" sz="2000" dirty="0"/>
              <a:t>Reports</a:t>
            </a:r>
          </a:p>
        </p:txBody>
      </p:sp>
      <p:sp>
        <p:nvSpPr>
          <p:cNvPr id="12" name="Cloud 11"/>
          <p:cNvSpPr/>
          <p:nvPr/>
        </p:nvSpPr>
        <p:spPr>
          <a:xfrm>
            <a:off x="4953000" y="1417638"/>
            <a:ext cx="2571760" cy="108266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Perception of quality and </a:t>
            </a:r>
            <a:r>
              <a:rPr lang="fi-FI" dirty="0" err="1"/>
              <a:t>coverage</a:t>
            </a:r>
            <a:endParaRPr lang="fi-FI" dirty="0"/>
          </a:p>
        </p:txBody>
      </p:sp>
      <p:sp>
        <p:nvSpPr>
          <p:cNvPr id="13" name="Folded Corner 12"/>
          <p:cNvSpPr/>
          <p:nvPr/>
        </p:nvSpPr>
        <p:spPr>
          <a:xfrm>
            <a:off x="8534400" y="1381076"/>
            <a:ext cx="1600200" cy="1143000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Quality </a:t>
            </a:r>
            <a:br>
              <a:rPr lang="fi-FI" sz="2000" dirty="0"/>
            </a:br>
            <a:r>
              <a:rPr lang="fi-FI" sz="2000" dirty="0"/>
              <a:t>Report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3124200" y="1500174"/>
            <a:ext cx="1571636" cy="928694"/>
          </a:xfrm>
          <a:prstGeom prst="wedgeRoundRectCallout">
            <a:avLst>
              <a:gd name="adj1" fmla="val 48984"/>
              <a:gd name="adj2" fmla="val 8547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Debriefing</a:t>
            </a:r>
          </a:p>
        </p:txBody>
      </p:sp>
      <p:grpSp>
        <p:nvGrpSpPr>
          <p:cNvPr id="5" name="Group 19"/>
          <p:cNvGrpSpPr/>
          <p:nvPr/>
        </p:nvGrpSpPr>
        <p:grpSpPr>
          <a:xfrm>
            <a:off x="5029200" y="2819401"/>
            <a:ext cx="1071570" cy="1266403"/>
            <a:chOff x="4071934" y="4746507"/>
            <a:chExt cx="1071570" cy="1266403"/>
          </a:xfrm>
        </p:grpSpPr>
        <p:pic>
          <p:nvPicPr>
            <p:cNvPr id="3076" name="Picture 4" descr="C:\Documents and Settings\Maaret\My Documents\My Pictures\Microsoft Clip Organizer\j0078753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61898" y="4746507"/>
              <a:ext cx="838730" cy="891773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4071934" y="564357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dirty="0"/>
                <a:t>Tester</a:t>
              </a:r>
            </a:p>
          </p:txBody>
        </p:sp>
      </p:grpSp>
      <p:grpSp>
        <p:nvGrpSpPr>
          <p:cNvPr id="10" name="Group 20"/>
          <p:cNvGrpSpPr/>
          <p:nvPr/>
        </p:nvGrpSpPr>
        <p:grpSpPr>
          <a:xfrm>
            <a:off x="1271606" y="1447800"/>
            <a:ext cx="1928794" cy="1983372"/>
            <a:chOff x="7000892" y="2449149"/>
            <a:chExt cx="1928794" cy="1983372"/>
          </a:xfrm>
        </p:grpSpPr>
        <p:pic>
          <p:nvPicPr>
            <p:cNvPr id="3077" name="Picture 5" descr="C:\Documents and Settings\Maaret\My Documents\My Pictures\Microsoft Clip Organizer\j0078713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41525" y="2449149"/>
              <a:ext cx="645251" cy="1376721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7000892" y="3786190"/>
              <a:ext cx="1928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dirty="0"/>
                <a:t>Test </a:t>
              </a:r>
              <a:br>
                <a:rPr lang="fi-FI" dirty="0"/>
              </a:br>
              <a:r>
                <a:rPr lang="fi-FI" dirty="0"/>
                <a:t>Manager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128954" y="2438400"/>
            <a:ext cx="1382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FF0000"/>
                </a:solidFill>
              </a:rPr>
              <a:t>P</a:t>
            </a:r>
            <a:r>
              <a:rPr lang="fi-FI" dirty="0"/>
              <a:t>ast</a:t>
            </a:r>
          </a:p>
          <a:p>
            <a:r>
              <a:rPr lang="fi-FI" b="1" dirty="0">
                <a:solidFill>
                  <a:srgbClr val="FF0000"/>
                </a:solidFill>
              </a:rPr>
              <a:t>R</a:t>
            </a:r>
            <a:r>
              <a:rPr lang="fi-FI" dirty="0"/>
              <a:t>esults</a:t>
            </a:r>
          </a:p>
          <a:p>
            <a:r>
              <a:rPr lang="fi-FI" b="1" dirty="0">
                <a:solidFill>
                  <a:srgbClr val="FF0000"/>
                </a:solidFill>
              </a:rPr>
              <a:t>O</a:t>
            </a:r>
            <a:r>
              <a:rPr lang="fi-FI" dirty="0"/>
              <a:t>bstacles</a:t>
            </a:r>
          </a:p>
          <a:p>
            <a:r>
              <a:rPr lang="fi-FI" b="1" dirty="0">
                <a:solidFill>
                  <a:srgbClr val="FF0000"/>
                </a:solidFill>
              </a:rPr>
              <a:t>O</a:t>
            </a:r>
            <a:r>
              <a:rPr lang="fi-FI" dirty="0"/>
              <a:t>utlook</a:t>
            </a:r>
          </a:p>
          <a:p>
            <a:r>
              <a:rPr lang="fi-FI" b="1" dirty="0">
                <a:solidFill>
                  <a:srgbClr val="FF0000"/>
                </a:solidFill>
              </a:rPr>
              <a:t>F</a:t>
            </a:r>
            <a:r>
              <a:rPr lang="fi-FI" dirty="0"/>
              <a:t>eelings</a:t>
            </a:r>
          </a:p>
        </p:txBody>
      </p:sp>
      <p:sp>
        <p:nvSpPr>
          <p:cNvPr id="23" name="Right Arrow 22"/>
          <p:cNvSpPr/>
          <p:nvPr/>
        </p:nvSpPr>
        <p:spPr>
          <a:xfrm rot="2826998">
            <a:off x="9033485" y="4918687"/>
            <a:ext cx="571504" cy="57150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4" name="Right Arrow 23"/>
          <p:cNvSpPr/>
          <p:nvPr/>
        </p:nvSpPr>
        <p:spPr>
          <a:xfrm>
            <a:off x="7810512" y="1643050"/>
            <a:ext cx="500066" cy="50006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5" name="Left Arrow 24"/>
          <p:cNvSpPr/>
          <p:nvPr/>
        </p:nvSpPr>
        <p:spPr>
          <a:xfrm rot="19350830">
            <a:off x="6515691" y="4915491"/>
            <a:ext cx="571504" cy="5715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6" name="TextBox 25"/>
          <p:cNvSpPr txBox="1"/>
          <p:nvPr/>
        </p:nvSpPr>
        <p:spPr>
          <a:xfrm>
            <a:off x="9982200" y="4419600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41148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0" y="47244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x</a:t>
            </a:r>
          </a:p>
        </p:txBody>
      </p:sp>
      <p:grpSp>
        <p:nvGrpSpPr>
          <p:cNvPr id="15" name="Group 28"/>
          <p:cNvGrpSpPr/>
          <p:nvPr/>
        </p:nvGrpSpPr>
        <p:grpSpPr>
          <a:xfrm>
            <a:off x="3352800" y="4797152"/>
            <a:ext cx="3124200" cy="2104380"/>
            <a:chOff x="4648200" y="1436969"/>
            <a:chExt cx="4114800" cy="4261886"/>
          </a:xfrm>
        </p:grpSpPr>
        <p:sp>
          <p:nvSpPr>
            <p:cNvPr id="30" name="TextBox 29"/>
            <p:cNvSpPr txBox="1"/>
            <p:nvPr/>
          </p:nvSpPr>
          <p:spPr>
            <a:xfrm>
              <a:off x="4648200" y="1436969"/>
              <a:ext cx="4038599" cy="1059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/>
                <a:t>Charter backlog of the future testing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8400" y="2590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48400" y="2743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8400" y="2895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8400" y="30479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32003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3352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48400" y="3505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248400" y="3657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8400" y="3810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248400" y="3962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48400" y="4114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48400" y="4267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248400" y="4419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248400" y="4572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248400" y="4800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8400" y="4953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248400" y="5105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8400" y="5257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5334000" y="4724400"/>
              <a:ext cx="3429000" cy="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863443" y="4763870"/>
              <a:ext cx="1384958" cy="934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/>
                <a:t>Out of budget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48200" y="2438400"/>
              <a:ext cx="1371600" cy="969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/>
                <a:t>Next in importance!</a:t>
              </a: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5791200" y="25908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61"/>
          <p:cNvGrpSpPr/>
          <p:nvPr/>
        </p:nvGrpSpPr>
        <p:grpSpPr>
          <a:xfrm>
            <a:off x="1527448" y="4419601"/>
            <a:ext cx="3200400" cy="1526973"/>
            <a:chOff x="3432448" y="5254823"/>
            <a:chExt cx="3200400" cy="1526973"/>
          </a:xfrm>
        </p:grpSpPr>
        <p:grpSp>
          <p:nvGrpSpPr>
            <p:cNvPr id="17" name="Group 52"/>
            <p:cNvGrpSpPr/>
            <p:nvPr/>
          </p:nvGrpSpPr>
          <p:grpSpPr>
            <a:xfrm>
              <a:off x="3733800" y="5638797"/>
              <a:ext cx="1524000" cy="1142999"/>
              <a:chOff x="457200" y="4038600"/>
              <a:chExt cx="1981200" cy="1524000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914400" y="40386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762000" y="41910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09600" y="43434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457200" y="44958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33400" y="4724400"/>
                <a:ext cx="1295400" cy="762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685800" y="4800601"/>
                <a:ext cx="1480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200" dirty="0"/>
                  <a:t>#, ?, x, +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85800" y="5105405"/>
                <a:ext cx="1480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200" dirty="0"/>
                  <a:t>20:20:60</a:t>
                </a:r>
                <a:endParaRPr lang="fi-FI" sz="1400" dirty="0"/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3432448" y="5254823"/>
              <a:ext cx="3200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/>
                <a:t>Session sheets of the past testing</a:t>
              </a:r>
            </a:p>
          </p:txBody>
        </p:sp>
      </p:grpSp>
      <p:sp>
        <p:nvSpPr>
          <p:cNvPr id="63" name="Cloud 62"/>
          <p:cNvSpPr/>
          <p:nvPr/>
        </p:nvSpPr>
        <p:spPr>
          <a:xfrm>
            <a:off x="6705600" y="5638800"/>
            <a:ext cx="2126704" cy="838200"/>
          </a:xfrm>
          <a:prstGeom prst="clou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Idea of exploration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 rot="10800000">
            <a:off x="6477000" y="54102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10800000" flipV="1">
            <a:off x="6477000" y="64770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600200" y="3810000"/>
            <a:ext cx="1399456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Metrics summary</a:t>
            </a:r>
          </a:p>
        </p:txBody>
      </p:sp>
      <p:sp>
        <p:nvSpPr>
          <p:cNvPr id="66" name="Cloud Callout 65"/>
          <p:cNvSpPr/>
          <p:nvPr/>
        </p:nvSpPr>
        <p:spPr>
          <a:xfrm>
            <a:off x="192467" y="1618029"/>
            <a:ext cx="1399456" cy="838200"/>
          </a:xfrm>
          <a:prstGeom prst="cloudCallout">
            <a:avLst>
              <a:gd name="adj1" fmla="val 69344"/>
              <a:gd name="adj2" fmla="val 6287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400" dirty="0"/>
              <a:t>Coaching</a:t>
            </a:r>
          </a:p>
        </p:txBody>
      </p:sp>
      <p:sp>
        <p:nvSpPr>
          <p:cNvPr id="70" name="Folded Corner 69"/>
          <p:cNvSpPr/>
          <p:nvPr/>
        </p:nvSpPr>
        <p:spPr>
          <a:xfrm>
            <a:off x="1847528" y="6021288"/>
            <a:ext cx="1512168" cy="360040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600" dirty="0"/>
              <a:t>Playbooks</a:t>
            </a:r>
            <a:endParaRPr lang="fi-FI" dirty="0"/>
          </a:p>
        </p:txBody>
      </p:sp>
      <p:sp>
        <p:nvSpPr>
          <p:cNvPr id="69" name="Folded Corner 69"/>
          <p:cNvSpPr/>
          <p:nvPr/>
        </p:nvSpPr>
        <p:spPr>
          <a:xfrm>
            <a:off x="1847528" y="6453336"/>
            <a:ext cx="1512168" cy="360040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200" dirty="0"/>
              <a:t>Coverage outlines</a:t>
            </a:r>
          </a:p>
        </p:txBody>
      </p:sp>
    </p:spTree>
    <p:extLst>
      <p:ext uri="{BB962C8B-B14F-4D97-AF65-F5344CB8AC3E}">
        <p14:creationId xmlns:p14="http://schemas.microsoft.com/office/powerpoint/2010/main" val="14475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/>
              <a:t>The Pieces in Management Framework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A </a:t>
            </a:r>
            <a:r>
              <a:rPr lang="fi-FI" u="sng" dirty="0"/>
              <a:t>disciplined tester</a:t>
            </a:r>
            <a:r>
              <a:rPr lang="fi-FI" dirty="0"/>
              <a:t> replanning on various levels</a:t>
            </a:r>
          </a:p>
          <a:p>
            <a:r>
              <a:rPr lang="fi-FI" u="sng" dirty="0"/>
              <a:t>Session</a:t>
            </a:r>
            <a:r>
              <a:rPr lang="fi-FI" dirty="0"/>
              <a:t> with </a:t>
            </a:r>
            <a:r>
              <a:rPr lang="fi-FI" u="sng" dirty="0"/>
              <a:t>charter</a:t>
            </a:r>
            <a:r>
              <a:rPr lang="fi-FI" dirty="0"/>
              <a:t> that provides a </a:t>
            </a:r>
            <a:r>
              <a:rPr lang="fi-FI" u="sng" dirty="0"/>
              <a:t>report</a:t>
            </a:r>
            <a:r>
              <a:rPr lang="fi-FI" dirty="0"/>
              <a:t> </a:t>
            </a:r>
          </a:p>
          <a:p>
            <a:r>
              <a:rPr lang="fi-FI" dirty="0"/>
              <a:t>Classification of information created as </a:t>
            </a:r>
            <a:r>
              <a:rPr lang="fi-FI" u="sng" dirty="0"/>
              <a:t>metrics</a:t>
            </a:r>
          </a:p>
          <a:p>
            <a:r>
              <a:rPr lang="fi-FI" u="sng" dirty="0"/>
              <a:t>Prioritizing</a:t>
            </a:r>
            <a:r>
              <a:rPr lang="fi-FI" dirty="0"/>
              <a:t> of what test idea comes next</a:t>
            </a:r>
          </a:p>
          <a:p>
            <a:r>
              <a:rPr lang="fi-FI" dirty="0"/>
              <a:t>Supporting reporting by </a:t>
            </a:r>
            <a:r>
              <a:rPr lang="fi-FI" u="sng" dirty="0"/>
              <a:t>debriefing</a:t>
            </a:r>
          </a:p>
          <a:p>
            <a:r>
              <a:rPr lang="fi-FI" dirty="0"/>
              <a:t>Supporting skills development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u="sng" dirty="0" err="1"/>
              <a:t>coaching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u="sng" dirty="0" err="1"/>
              <a:t>pairing</a:t>
            </a:r>
            <a:endParaRPr lang="fi-FI" u="sng" dirty="0"/>
          </a:p>
          <a:p>
            <a:r>
              <a:rPr lang="fi-FI" dirty="0"/>
              <a:t>Creating a combined judgement of quality by </a:t>
            </a:r>
            <a:r>
              <a:rPr lang="fi-FI" u="sng" dirty="0"/>
              <a:t>quality reporting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B56013-B943-42BA-886F-6F9D4EB85E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02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6101" y="1571787"/>
            <a:ext cx="8559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4"/>
                </a:solidFill>
              </a:rPr>
              <a:t>Gilded Rose</a:t>
            </a:r>
          </a:p>
          <a:p>
            <a:pPr algn="ctr"/>
            <a:r>
              <a:rPr lang="en-US" sz="7200" dirty="0"/>
              <a:t>By Emily Bache</a:t>
            </a:r>
            <a:br>
              <a:rPr lang="en-US" sz="7200" dirty="0"/>
            </a:br>
            <a:r>
              <a:rPr lang="en-US" sz="3600" dirty="0"/>
              <a:t>(available in 32 languages</a:t>
            </a:r>
            <a:r>
              <a:rPr lang="mr-IN" sz="3600" dirty="0"/>
              <a:t>…</a:t>
            </a:r>
            <a:r>
              <a:rPr lang="fi-FI" sz="3600" dirty="0"/>
              <a:t>)</a:t>
            </a:r>
            <a:br>
              <a:rPr lang="fi-FI" sz="3600" dirty="0"/>
            </a:br>
            <a:r>
              <a:rPr lang="fi-FI" sz="2400" dirty="0" err="1"/>
              <a:t>https://github.com/emilybache/GildedRose-Refactoring-Kata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3163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8-09-13 at 19.14.1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222" y="428280"/>
            <a:ext cx="8362975" cy="594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3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8-09-13 at 19.14.5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560" y="710937"/>
            <a:ext cx="8475827" cy="550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78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How</a:t>
            </a:r>
            <a:r>
              <a:rPr lang="fi-FI" dirty="0"/>
              <a:t> to </a:t>
            </a:r>
            <a:r>
              <a:rPr lang="fi-FI" dirty="0" err="1"/>
              <a:t>Explore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something with it</a:t>
            </a:r>
          </a:p>
          <a:p>
            <a:r>
              <a:rPr lang="en-US" dirty="0"/>
              <a:t>Find out what is the common thing to do with it</a:t>
            </a:r>
          </a:p>
          <a:p>
            <a:r>
              <a:rPr lang="en-US" dirty="0"/>
              <a:t>Find out what you could do with it</a:t>
            </a:r>
          </a:p>
          <a:p>
            <a:endParaRPr lang="en-US" dirty="0"/>
          </a:p>
          <a:p>
            <a:r>
              <a:rPr lang="en-US" dirty="0"/>
              <a:t>Reflect after anything and everything – make notes</a:t>
            </a:r>
          </a:p>
          <a:p>
            <a:pPr lvl="1"/>
            <a:r>
              <a:rPr lang="en-US" dirty="0"/>
              <a:t>What do we know from other connections?</a:t>
            </a:r>
          </a:p>
          <a:p>
            <a:pPr lvl="1"/>
            <a:r>
              <a:rPr lang="en-US" dirty="0"/>
              <a:t>What do we know from empirical evidence?</a:t>
            </a:r>
          </a:p>
          <a:p>
            <a:pPr lvl="1"/>
            <a:r>
              <a:rPr lang="en-US" dirty="0"/>
              <a:t>How do we turn it all into empirical evidence? 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27080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6253" y="2826736"/>
            <a:ext cx="46623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1640071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96299-3230-0AA7-6D79-21F99084B226}"/>
              </a:ext>
            </a:extLst>
          </p:cNvPr>
          <p:cNvSpPr txBox="1"/>
          <p:nvPr/>
        </p:nvSpPr>
        <p:spPr>
          <a:xfrm>
            <a:off x="2277533" y="2443202"/>
            <a:ext cx="24833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600" dirty="0"/>
              <a:t>Nouns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DCF0D-B053-21B7-1551-6BB3D769BA1E}"/>
              </a:ext>
            </a:extLst>
          </p:cNvPr>
          <p:cNvSpPr txBox="1"/>
          <p:nvPr/>
        </p:nvSpPr>
        <p:spPr>
          <a:xfrm>
            <a:off x="7813956" y="2456471"/>
            <a:ext cx="21005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600" dirty="0"/>
              <a:t>Verbs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E7430-8B4F-CEF5-9B5C-5B604E10DC75}"/>
              </a:ext>
            </a:extLst>
          </p:cNvPr>
          <p:cNvSpPr txBox="1"/>
          <p:nvPr/>
        </p:nvSpPr>
        <p:spPr>
          <a:xfrm>
            <a:off x="8357726" y="3640666"/>
            <a:ext cx="1012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“CRUD”</a:t>
            </a:r>
          </a:p>
        </p:txBody>
      </p:sp>
    </p:spTree>
    <p:extLst>
      <p:ext uri="{BB962C8B-B14F-4D97-AF65-F5344CB8AC3E}">
        <p14:creationId xmlns:p14="http://schemas.microsoft.com/office/powerpoint/2010/main" val="3548616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4668" y="878280"/>
            <a:ext cx="35411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Methods</a:t>
            </a:r>
          </a:p>
          <a:p>
            <a:r>
              <a:rPr lang="en-US" sz="3200" dirty="0"/>
              <a:t>HTTP GET</a:t>
            </a:r>
          </a:p>
          <a:p>
            <a:r>
              <a:rPr lang="en-US" sz="3200" dirty="0"/>
              <a:t>HTTP POST</a:t>
            </a:r>
          </a:p>
          <a:p>
            <a:r>
              <a:rPr lang="en-US" sz="3200" dirty="0"/>
              <a:t>HTTP PUT</a:t>
            </a:r>
          </a:p>
          <a:p>
            <a:r>
              <a:rPr lang="en-US" sz="3200" dirty="0"/>
              <a:t>HTTP DELETE</a:t>
            </a:r>
          </a:p>
          <a:p>
            <a:r>
              <a:rPr lang="en-US" sz="3200" dirty="0"/>
              <a:t>HTTP 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16535" y="2647995"/>
            <a:ext cx="37016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Status Codes</a:t>
            </a:r>
          </a:p>
          <a:p>
            <a:r>
              <a:rPr lang="en-US" sz="3200" dirty="0"/>
              <a:t>1xx: Informational</a:t>
            </a:r>
          </a:p>
          <a:p>
            <a:r>
              <a:rPr lang="en-US" sz="3200" dirty="0"/>
              <a:t>2xx: Success</a:t>
            </a:r>
          </a:p>
          <a:p>
            <a:r>
              <a:rPr lang="en-US" sz="3200" dirty="0"/>
              <a:t>3xx: Redirection	</a:t>
            </a:r>
          </a:p>
          <a:p>
            <a:r>
              <a:rPr lang="en-US" sz="3200" dirty="0"/>
              <a:t>4xx: Client Error</a:t>
            </a:r>
          </a:p>
          <a:p>
            <a:r>
              <a:rPr lang="en-US" sz="3200" dirty="0"/>
              <a:t>5xx: Server Error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71208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0257" y="5657566"/>
            <a:ext cx="7650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http://</a:t>
            </a:r>
            <a:r>
              <a:rPr lang="en-US" dirty="0" err="1"/>
              <a:t>qa-matters.com</a:t>
            </a:r>
            <a:r>
              <a:rPr lang="en-US" dirty="0"/>
              <a:t>/2016/07/30/</a:t>
            </a:r>
            <a:r>
              <a:rPr lang="en-US" dirty="0" err="1"/>
              <a:t>vader</a:t>
            </a:r>
            <a:r>
              <a:rPr lang="en-US" dirty="0"/>
              <a:t>-a-rest-</a:t>
            </a:r>
            <a:r>
              <a:rPr lang="en-US" dirty="0" err="1"/>
              <a:t>api</a:t>
            </a:r>
            <a:r>
              <a:rPr lang="en-US" dirty="0"/>
              <a:t>-test-heuristic/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59053" y="922212"/>
            <a:ext cx="834752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V</a:t>
            </a:r>
            <a:r>
              <a:rPr lang="en-US" sz="5400" dirty="0"/>
              <a:t>erbs</a:t>
            </a:r>
          </a:p>
          <a:p>
            <a:r>
              <a:rPr lang="en-US" sz="5400" b="1" dirty="0"/>
              <a:t>A</a:t>
            </a:r>
            <a:r>
              <a:rPr lang="en-US" sz="5400" dirty="0"/>
              <a:t>uthorization/authentication</a:t>
            </a:r>
          </a:p>
          <a:p>
            <a:r>
              <a:rPr lang="en-US" sz="5400" b="1" dirty="0"/>
              <a:t>D</a:t>
            </a:r>
            <a:r>
              <a:rPr lang="en-US" sz="5400" dirty="0"/>
              <a:t>ata</a:t>
            </a:r>
          </a:p>
          <a:p>
            <a:r>
              <a:rPr lang="en-US" sz="5400" b="1" dirty="0"/>
              <a:t>E</a:t>
            </a:r>
            <a:r>
              <a:rPr lang="en-US" sz="5400" dirty="0"/>
              <a:t>rrors</a:t>
            </a:r>
          </a:p>
          <a:p>
            <a:r>
              <a:rPr lang="en-US" sz="5400" b="1" dirty="0"/>
              <a:t>R</a:t>
            </a:r>
            <a:r>
              <a:rPr lang="en-US" sz="5400" dirty="0"/>
              <a:t>esponsiveness</a:t>
            </a:r>
          </a:p>
        </p:txBody>
      </p:sp>
    </p:spTree>
    <p:extLst>
      <p:ext uri="{BB962C8B-B14F-4D97-AF65-F5344CB8AC3E}">
        <p14:creationId xmlns:p14="http://schemas.microsoft.com/office/powerpoint/2010/main" val="2711580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46313" y="2442010"/>
            <a:ext cx="7772400" cy="1362075"/>
          </a:xfrm>
        </p:spPr>
        <p:txBody>
          <a:bodyPr>
            <a:noAutofit/>
          </a:bodyPr>
          <a:lstStyle/>
          <a:p>
            <a:r>
              <a:rPr lang="en-US" dirty="0">
                <a:latin typeface="KG Manhattan Script" charset="0"/>
                <a:ea typeface="KG Manhattan Script" charset="0"/>
                <a:cs typeface="KG Manhattan Script" charset="0"/>
              </a:rPr>
              <a:t>Patterns of Exploration for APIs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38810" y="4092569"/>
            <a:ext cx="2621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Lessons Distilled</a:t>
            </a:r>
          </a:p>
        </p:txBody>
      </p:sp>
    </p:spTree>
    <p:extLst>
      <p:ext uri="{BB962C8B-B14F-4D97-AF65-F5344CB8AC3E}">
        <p14:creationId xmlns:p14="http://schemas.microsoft.com/office/powerpoint/2010/main" val="391131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8505" y="2190835"/>
            <a:ext cx="77036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Working with limited </a:t>
            </a:r>
            <a:br>
              <a:rPr lang="en-US" sz="6600" dirty="0"/>
            </a:br>
            <a:r>
              <a:rPr lang="en-US" sz="6600" dirty="0"/>
              <a:t>understanding: </a:t>
            </a:r>
            <a:r>
              <a:rPr lang="en-US" sz="6600" dirty="0">
                <a:solidFill>
                  <a:srgbClr val="C0504D"/>
                </a:solidFill>
              </a:rPr>
              <a:t>Focus</a:t>
            </a:r>
            <a:r>
              <a:rPr lang="en-US" sz="6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59046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4682" y="1804756"/>
            <a:ext cx="757130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Calls and Operations.</a:t>
            </a:r>
            <a:br>
              <a:rPr lang="en-US" sz="6600" dirty="0"/>
            </a:br>
            <a:r>
              <a:rPr lang="en-US" sz="6600" dirty="0"/>
              <a:t>Inputs and Outputs.</a:t>
            </a:r>
          </a:p>
          <a:p>
            <a:pPr algn="ctr"/>
            <a:r>
              <a:rPr lang="en-US" sz="6600" dirty="0"/>
              <a:t>Exceptions. </a:t>
            </a:r>
          </a:p>
        </p:txBody>
      </p:sp>
    </p:spTree>
    <p:extLst>
      <p:ext uri="{BB962C8B-B14F-4D97-AF65-F5344CB8AC3E}">
        <p14:creationId xmlns:p14="http://schemas.microsoft.com/office/powerpoint/2010/main" val="2834404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1323" y="1821868"/>
            <a:ext cx="779803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Target of your testing </a:t>
            </a:r>
            <a:br>
              <a:rPr lang="en-US" sz="6600" dirty="0"/>
            </a:br>
            <a:r>
              <a:rPr lang="en-US" sz="6600" dirty="0"/>
              <a:t>vs. the </a:t>
            </a:r>
            <a:r>
              <a:rPr lang="en-US" sz="6600" dirty="0">
                <a:solidFill>
                  <a:schemeClr val="accent6"/>
                </a:solidFill>
              </a:rPr>
              <a:t>environment</a:t>
            </a:r>
            <a:r>
              <a:rPr lang="en-US" sz="6600" dirty="0"/>
              <a:t> </a:t>
            </a:r>
            <a:br>
              <a:rPr lang="en-US" sz="6600" dirty="0"/>
            </a:br>
            <a:r>
              <a:rPr lang="en-US" sz="6600" dirty="0"/>
              <a:t>it depends on</a:t>
            </a:r>
          </a:p>
        </p:txBody>
      </p:sp>
    </p:spTree>
    <p:extLst>
      <p:ext uri="{BB962C8B-B14F-4D97-AF65-F5344CB8AC3E}">
        <p14:creationId xmlns:p14="http://schemas.microsoft.com/office/powerpoint/2010/main" val="2128384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19367" y="557695"/>
            <a:ext cx="642195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Specific user with </a:t>
            </a:r>
            <a:br>
              <a:rPr lang="en-US" sz="6600" dirty="0"/>
            </a:br>
            <a:r>
              <a:rPr lang="en-US" sz="6600" dirty="0"/>
              <a:t>a specific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7442" y="3729357"/>
            <a:ext cx="3136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Building it the First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8315" y="3729357"/>
            <a:ext cx="35460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Debugging and Maintaining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986053" y="3037295"/>
            <a:ext cx="0" cy="28372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871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4572" y="1957155"/>
            <a:ext cx="705154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Why would anyone </a:t>
            </a:r>
            <a:br>
              <a:rPr lang="en-US" sz="6600" dirty="0"/>
            </a:br>
            <a:r>
              <a:rPr lang="en-US" sz="6600" dirty="0"/>
              <a:t>use this?</a:t>
            </a:r>
          </a:p>
        </p:txBody>
      </p:sp>
    </p:spTree>
    <p:extLst>
      <p:ext uri="{BB962C8B-B14F-4D97-AF65-F5344CB8AC3E}">
        <p14:creationId xmlns:p14="http://schemas.microsoft.com/office/powerpoint/2010/main" val="3121867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6768" y="2190836"/>
            <a:ext cx="5367124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Think</a:t>
            </a:r>
            <a:r>
              <a:rPr lang="en-US" sz="6600" dirty="0">
                <a:solidFill>
                  <a:schemeClr val="accent1"/>
                </a:solidFill>
              </a:rPr>
              <a:t> lifecycle</a:t>
            </a:r>
            <a:br>
              <a:rPr lang="en-US" sz="6600" dirty="0">
                <a:solidFill>
                  <a:schemeClr val="accent1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Versioning and Deprecation</a:t>
            </a:r>
            <a:endParaRPr lang="en-US" sz="5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947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06837" y="2190836"/>
            <a:ext cx="784699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Google for Concepts </a:t>
            </a:r>
            <a:br>
              <a:rPr lang="en-US" sz="6600" dirty="0"/>
            </a:br>
            <a:r>
              <a:rPr lang="en-US" sz="3600" dirty="0"/>
              <a:t>like “Conservative Overloading Strategy”</a:t>
            </a:r>
          </a:p>
        </p:txBody>
      </p:sp>
    </p:spTree>
    <p:extLst>
      <p:ext uri="{BB962C8B-B14F-4D97-AF65-F5344CB8AC3E}">
        <p14:creationId xmlns:p14="http://schemas.microsoft.com/office/powerpoint/2010/main" val="474882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16569" y="1794596"/>
            <a:ext cx="562756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Fast-track your </a:t>
            </a:r>
            <a:br>
              <a:rPr lang="en-US" sz="6600" dirty="0"/>
            </a:br>
            <a:r>
              <a:rPr lang="en-US" sz="6600" dirty="0"/>
              <a:t>understanding: </a:t>
            </a:r>
            <a:br>
              <a:rPr lang="en-US" sz="6600" dirty="0"/>
            </a:br>
            <a:r>
              <a:rPr lang="en-US" sz="6600" dirty="0">
                <a:solidFill>
                  <a:schemeClr val="accent5"/>
                </a:solidFill>
              </a:rPr>
              <a:t>collaborate</a:t>
            </a:r>
          </a:p>
        </p:txBody>
      </p:sp>
    </p:spTree>
    <p:extLst>
      <p:ext uri="{BB962C8B-B14F-4D97-AF65-F5344CB8AC3E}">
        <p14:creationId xmlns:p14="http://schemas.microsoft.com/office/powerpoint/2010/main" val="3502808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8434" y="2190835"/>
            <a:ext cx="868378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</a:rPr>
              <a:t>Documentation</a:t>
            </a:r>
            <a:r>
              <a:rPr lang="en-US" sz="6600" dirty="0"/>
              <a:t> Matters </a:t>
            </a:r>
            <a:br>
              <a:rPr lang="en-US" sz="6600" dirty="0"/>
            </a:br>
            <a:r>
              <a:rPr lang="en-US" sz="6600" dirty="0"/>
              <a:t>a Lot for APIs</a:t>
            </a:r>
          </a:p>
        </p:txBody>
      </p:sp>
    </p:spTree>
    <p:extLst>
      <p:ext uri="{BB962C8B-B14F-4D97-AF65-F5344CB8AC3E}">
        <p14:creationId xmlns:p14="http://schemas.microsoft.com/office/powerpoint/2010/main" val="3723489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1915" y="2190835"/>
            <a:ext cx="773683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Explore to </a:t>
            </a:r>
            <a:br>
              <a:rPr lang="en-US" sz="6600" dirty="0"/>
            </a:br>
            <a:r>
              <a:rPr lang="en-US" sz="6600" dirty="0"/>
              <a:t>create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263400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47926" y="2190835"/>
            <a:ext cx="836479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Some patterns become </a:t>
            </a:r>
            <a:br>
              <a:rPr lang="en-US" sz="6600" dirty="0"/>
            </a:br>
            <a:r>
              <a:rPr lang="en-US" sz="6600" dirty="0"/>
              <a:t>visible with repetition</a:t>
            </a:r>
          </a:p>
        </p:txBody>
      </p:sp>
      <p:sp>
        <p:nvSpPr>
          <p:cNvPr id="5" name="Suorakulmio 3"/>
          <p:cNvSpPr/>
          <p:nvPr/>
        </p:nvSpPr>
        <p:spPr>
          <a:xfrm>
            <a:off x="2022540" y="1802626"/>
            <a:ext cx="81369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52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3791" y="1511808"/>
            <a:ext cx="835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Existing automation allows for </a:t>
            </a:r>
            <a:r>
              <a:rPr lang="en-US" sz="7200" dirty="0">
                <a:solidFill>
                  <a:schemeClr val="accent1"/>
                </a:solidFill>
              </a:rPr>
              <a:t>exploration reach</a:t>
            </a:r>
          </a:p>
        </p:txBody>
      </p:sp>
    </p:spTree>
    <p:extLst>
      <p:ext uri="{BB962C8B-B14F-4D97-AF65-F5344CB8AC3E}">
        <p14:creationId xmlns:p14="http://schemas.microsoft.com/office/powerpoint/2010/main" val="24901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3791" y="1639059"/>
            <a:ext cx="8356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Creating automation forces </a:t>
            </a:r>
            <a:r>
              <a:rPr lang="en-US" sz="7200" dirty="0">
                <a:solidFill>
                  <a:schemeClr val="accent1"/>
                </a:solidFill>
              </a:rPr>
              <a:t>exploration of details</a:t>
            </a:r>
          </a:p>
        </p:txBody>
      </p:sp>
    </p:spTree>
    <p:extLst>
      <p:ext uri="{BB962C8B-B14F-4D97-AF65-F5344CB8AC3E}">
        <p14:creationId xmlns:p14="http://schemas.microsoft.com/office/powerpoint/2010/main" val="1955661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3791" y="1993475"/>
            <a:ext cx="83565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Failing automation is </a:t>
            </a:r>
            <a:r>
              <a:rPr lang="en-US" sz="7200" dirty="0">
                <a:solidFill>
                  <a:schemeClr val="accent1"/>
                </a:solidFill>
              </a:rPr>
              <a:t>invitation to explore</a:t>
            </a:r>
          </a:p>
        </p:txBody>
      </p:sp>
    </p:spTree>
    <p:extLst>
      <p:ext uri="{BB962C8B-B14F-4D97-AF65-F5344CB8AC3E}">
        <p14:creationId xmlns:p14="http://schemas.microsoft.com/office/powerpoint/2010/main" val="66218915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4FFFB81B68097479F625752AD22F278" ma:contentTypeVersion="12" ma:contentTypeDescription="Luo uusi asiakirja." ma:contentTypeScope="" ma:versionID="345e189057f810c6d491803cbb6923d0">
  <xsd:schema xmlns:xsd="http://www.w3.org/2001/XMLSchema" xmlns:xs="http://www.w3.org/2001/XMLSchema" xmlns:p="http://schemas.microsoft.com/office/2006/metadata/properties" xmlns:ns3="a11aa9f6-e4af-4104-bf81-0f6d6144281c" xmlns:ns4="bea9ce00-4873-47f9-9210-f26416c244f0" targetNamespace="http://schemas.microsoft.com/office/2006/metadata/properties" ma:root="true" ma:fieldsID="0b496fba599b43c137ead1b28b9256d3" ns3:_="" ns4:_="">
    <xsd:import namespace="a11aa9f6-e4af-4104-bf81-0f6d6144281c"/>
    <xsd:import namespace="bea9ce00-4873-47f9-9210-f26416c244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a9f6-e4af-4104-bf81-0f6d61442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9ce00-4873-47f9-9210-f26416c24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1DB8C8-6850-40A3-8A4F-7991EDE9EC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351D72-567A-4D55-9BE1-0D2D9DC49BD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11aa9f6-e4af-4104-bf81-0f6d6144281c"/>
    <ds:schemaRef ds:uri="bea9ce00-4873-47f9-9210-f26416c244f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F99ABE4-35E7-441B-ABD3-FB9BF05EAB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aa9f6-e4af-4104-bf81-0f6d6144281c"/>
    <ds:schemaRef ds:uri="bea9ce00-4873-47f9-9210-f26416c24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7636</TotalTime>
  <Words>876</Words>
  <Application>Microsoft Macintosh PowerPoint</Application>
  <PresentationFormat>Widescreen</PresentationFormat>
  <Paragraphs>180</Paragraphs>
  <Slides>34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Gill Sans MT</vt:lpstr>
      <vt:lpstr>Gill Sans Nova Light</vt:lpstr>
      <vt:lpstr>KG Manhattan Script</vt:lpstr>
      <vt:lpstr>KG No Matter What</vt:lpstr>
      <vt:lpstr>Snell Roundhand</vt:lpstr>
      <vt:lpstr> Black </vt:lpstr>
      <vt:lpstr>Exploring  Programmatic Interfaces (APIs)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Testing:  Frame of Management</vt:lpstr>
      <vt:lpstr>The Pieces in Management Framework</vt:lpstr>
      <vt:lpstr>PowerPoint Presentation</vt:lpstr>
      <vt:lpstr>PowerPoint Presentation</vt:lpstr>
      <vt:lpstr>PowerPoint Presentation</vt:lpstr>
      <vt:lpstr>How to Explore</vt:lpstr>
      <vt:lpstr>PowerPoint Presentation</vt:lpstr>
      <vt:lpstr>PowerPoint Presentation</vt:lpstr>
      <vt:lpstr>PowerPoint Presentation</vt:lpstr>
      <vt:lpstr>PowerPoint Presentation</vt:lpstr>
      <vt:lpstr>Patterns of Exploration for APIs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Status or Why None of My Advice Will Work for You Today</dc:title>
  <dc:creator>Pyhajarvi Maaret</dc:creator>
  <cp:lastModifiedBy>Pyhajarvi Maaret</cp:lastModifiedBy>
  <cp:revision>100</cp:revision>
  <cp:lastPrinted>2021-09-01T18:37:22Z</cp:lastPrinted>
  <dcterms:created xsi:type="dcterms:W3CDTF">2020-12-11T16:45:29Z</dcterms:created>
  <dcterms:modified xsi:type="dcterms:W3CDTF">2022-09-29T10:39:04Z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0b42cd-dfeb-4e2e-9713-e8274ec9275c_Enabled">
    <vt:lpwstr>true</vt:lpwstr>
  </property>
  <property fmtid="{D5CDD505-2E9C-101B-9397-08002B2CF9AE}" pid="3" name="MSIP_Label_bd0b42cd-dfeb-4e2e-9713-e8274ec9275c_SetDate">
    <vt:lpwstr>2021-09-01T17:20:39Z</vt:lpwstr>
  </property>
  <property fmtid="{D5CDD505-2E9C-101B-9397-08002B2CF9AE}" pid="4" name="MSIP_Label_bd0b42cd-dfeb-4e2e-9713-e8274ec9275c_Method">
    <vt:lpwstr>Privileged</vt:lpwstr>
  </property>
  <property fmtid="{D5CDD505-2E9C-101B-9397-08002B2CF9AE}" pid="5" name="MSIP_Label_bd0b42cd-dfeb-4e2e-9713-e8274ec9275c_Name">
    <vt:lpwstr>bd0b42cd-dfeb-4e2e-9713-e8274ec9275c</vt:lpwstr>
  </property>
  <property fmtid="{D5CDD505-2E9C-101B-9397-08002B2CF9AE}" pid="6" name="MSIP_Label_bd0b42cd-dfeb-4e2e-9713-e8274ec9275c_SiteId">
    <vt:lpwstr>6d7393e0-41f5-4c2e-9b12-4c2be5da5c57</vt:lpwstr>
  </property>
  <property fmtid="{D5CDD505-2E9C-101B-9397-08002B2CF9AE}" pid="7" name="MSIP_Label_bd0b42cd-dfeb-4e2e-9713-e8274ec9275c_ActionId">
    <vt:lpwstr>fd7c5a54-2976-4306-8d7e-9415340c5d0f</vt:lpwstr>
  </property>
  <property fmtid="{D5CDD505-2E9C-101B-9397-08002B2CF9AE}" pid="8" name="MSIP_Label_bd0b42cd-dfeb-4e2e-9713-e8274ec9275c_ContentBits">
    <vt:lpwstr>0</vt:lpwstr>
  </property>
</Properties>
</file>