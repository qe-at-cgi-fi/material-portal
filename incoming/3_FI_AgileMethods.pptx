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6" r:id="rId5"/>
    <p:sldId id="267" r:id="rId6"/>
    <p:sldId id="268" r:id="rId7"/>
    <p:sldId id="269" r:id="rId8"/>
    <p:sldId id="264" r:id="rId9"/>
    <p:sldId id="265" r:id="rId10"/>
    <p:sldId id="258" r:id="rId11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3309" autoAdjust="0"/>
  </p:normalViewPr>
  <p:slideViewPr>
    <p:cSldViewPr>
      <p:cViewPr varScale="1">
        <p:scale>
          <a:sx n="75" d="100"/>
          <a:sy n="75" d="100"/>
        </p:scale>
        <p:origin x="-206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29/05/17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47615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2</a:t>
            </a:fld>
            <a:endParaRPr lang="fi-FI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6C0F0-CF11-4FCF-A404-2F2FF520469E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1FDE1-331D-4D34-8F5E-B3A1897CA9F0}" type="slidenum">
              <a:rPr lang="en-US"/>
              <a:pPr/>
              <a:t>4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7890" y="4687253"/>
            <a:ext cx="4938395" cy="4440555"/>
          </a:xfrm>
        </p:spPr>
        <p:txBody>
          <a:bodyPr/>
          <a:lstStyle/>
          <a:p>
            <a:r>
              <a:rPr lang="fi-FI"/>
              <a:t>Abrahamsson@ICSE 2003</a:t>
            </a:r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31EE68-C4D1-4B12-9A8F-C570BF2D057F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Total Slides : 24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AC7B72-D4FF-407F-A560-64312B1DDC5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Story</a:t>
            </a:r>
            <a:r>
              <a:rPr lang="fi-FI" baseline="0" dirty="0" smtClean="0"/>
              <a:t> process steps (in example E&amp;A, Dev, Test, Depl) are not fixed but should reflect your process</a:t>
            </a:r>
          </a:p>
          <a:p>
            <a:r>
              <a:rPr lang="fi-FI" baseline="0" dirty="0" smtClean="0"/>
              <a:t>Stories must be minimum marketable features and may take weeks to build. </a:t>
            </a:r>
          </a:p>
          <a:p>
            <a:r>
              <a:rPr lang="fi-FI" baseline="0" dirty="0" smtClean="0"/>
              <a:t>Number of stories allowed on board: team members / 2</a:t>
            </a:r>
          </a:p>
          <a:p>
            <a:r>
              <a:rPr lang="fi-FI" baseline="0" dirty="0" smtClean="0"/>
              <a:t>Stories queue gets about half of the allowed places</a:t>
            </a:r>
          </a:p>
          <a:p>
            <a:r>
              <a:rPr lang="fi-FI" baseline="0" dirty="0" smtClean="0"/>
              <a:t>For steps you should use number of people that can perform the step / 2</a:t>
            </a:r>
          </a:p>
          <a:p>
            <a:endParaRPr lang="fi-FI" baseline="0" dirty="0" smtClean="0"/>
          </a:p>
          <a:p>
            <a:r>
              <a:rPr lang="fi-FI" dirty="0" smtClean="0"/>
              <a:t>MEASURING CYCLE TIME&gt;</a:t>
            </a:r>
          </a:p>
          <a:p>
            <a:r>
              <a:rPr lang="fi-FI" dirty="0" smtClean="0"/>
              <a:t>When a story enters the story queue, mark down the entry date</a:t>
            </a:r>
          </a:p>
          <a:p>
            <a:r>
              <a:rPr lang="fi-FI" dirty="0" smtClean="0"/>
              <a:t>Record dates of each story process step</a:t>
            </a:r>
          </a:p>
          <a:p>
            <a:endParaRPr lang="fi-FI" dirty="0" smtClean="0"/>
          </a:p>
          <a:p>
            <a:r>
              <a:rPr lang="fi-FI" dirty="0" smtClean="0"/>
              <a:t>Cycle time includes the time when the story sits idle in the buffers</a:t>
            </a:r>
          </a:p>
          <a:p>
            <a:r>
              <a:rPr lang="fi-FI" dirty="0" smtClean="0"/>
              <a:t>Pull system to optimize cycle time</a:t>
            </a:r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10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C693-0805-488A-A1FF-6303AF1D08E0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B9E4-9C01-4422-9211-86FAFFC21E1C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D716-FE60-49D1-B985-893FC84D40DE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46F6-258C-4543-879F-7FE6C0750D81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F438-9C3D-4271-AC06-3D2F4FB9C830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D28C-B51A-4F52-BFD1-AF96F466BEFD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53C1-2F04-43B4-B0A3-362C1C339171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4F73-396B-449A-8A39-37FC64150157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DC64-55D1-4DA1-A0A2-685B55C82FE7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B790-FCD4-4482-83C0-4119DB332D5A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B3A6-785F-4375-AE22-1427E7FD6055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63A4A-0E46-42AD-9627-65F92599900C}" type="datetime1">
              <a:rPr lang="en-US" smtClean="0"/>
              <a:pPr/>
              <a:t>29/05/17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Extras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Ketterät menetelmät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Ketterien menetelmien paletin moninaisuus 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Harjoitus: Ketterä sanastobingo</a:t>
            </a:r>
            <a:endParaRPr lang="fi-FI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 smtClean="0"/>
              <a:t>Valitse</a:t>
            </a:r>
            <a:r>
              <a:rPr lang="en-GB" dirty="0" smtClean="0"/>
              <a:t> </a:t>
            </a:r>
            <a:r>
              <a:rPr lang="en-GB" dirty="0" err="1" smtClean="0"/>
              <a:t>ketteryyteen</a:t>
            </a:r>
            <a:r>
              <a:rPr lang="en-GB" dirty="0" smtClean="0"/>
              <a:t> </a:t>
            </a:r>
            <a:r>
              <a:rPr lang="en-GB" dirty="0" err="1" smtClean="0"/>
              <a:t>liittyvien</a:t>
            </a:r>
            <a:r>
              <a:rPr lang="en-GB" dirty="0" smtClean="0"/>
              <a:t> </a:t>
            </a:r>
            <a:r>
              <a:rPr lang="en-GB" dirty="0" err="1" smtClean="0"/>
              <a:t>käsitteiden</a:t>
            </a:r>
            <a:r>
              <a:rPr lang="en-GB" dirty="0" smtClean="0"/>
              <a:t> </a:t>
            </a:r>
            <a:r>
              <a:rPr lang="en-GB" dirty="0" err="1" smtClean="0"/>
              <a:t>listalta</a:t>
            </a:r>
            <a:r>
              <a:rPr lang="en-GB" dirty="0" smtClean="0"/>
              <a:t> 9 </a:t>
            </a:r>
            <a:r>
              <a:rPr lang="en-GB" dirty="0" err="1" smtClean="0"/>
              <a:t>jotka</a:t>
            </a:r>
            <a:r>
              <a:rPr lang="en-GB" dirty="0" smtClean="0"/>
              <a:t> </a:t>
            </a:r>
            <a:r>
              <a:rPr lang="en-GB" b="1" dirty="0" err="1" smtClean="0"/>
              <a:t>tunnet</a:t>
            </a:r>
            <a:r>
              <a:rPr lang="en-GB" b="1" dirty="0" smtClean="0"/>
              <a:t> </a:t>
            </a:r>
            <a:r>
              <a:rPr lang="en-GB" b="1" dirty="0" err="1" smtClean="0"/>
              <a:t>heikoimmin</a:t>
            </a:r>
            <a:endParaRPr lang="en-GB" b="1" dirty="0" smtClean="0"/>
          </a:p>
          <a:p>
            <a:r>
              <a:rPr lang="en-GB" dirty="0" err="1" smtClean="0"/>
              <a:t>Kirjoita</a:t>
            </a:r>
            <a:r>
              <a:rPr lang="en-GB" dirty="0" smtClean="0"/>
              <a:t> </a:t>
            </a:r>
            <a:r>
              <a:rPr lang="en-GB" dirty="0" err="1" smtClean="0"/>
              <a:t>nämä</a:t>
            </a:r>
            <a:r>
              <a:rPr lang="en-GB" dirty="0" smtClean="0"/>
              <a:t> 9 </a:t>
            </a:r>
            <a:r>
              <a:rPr lang="en-GB" dirty="0" err="1" smtClean="0"/>
              <a:t>omaan</a:t>
            </a:r>
            <a:r>
              <a:rPr lang="en-GB" dirty="0" smtClean="0"/>
              <a:t> </a:t>
            </a:r>
            <a:r>
              <a:rPr lang="en-GB" dirty="0" err="1" smtClean="0"/>
              <a:t>ruudukkoosi</a:t>
            </a:r>
            <a:endParaRPr lang="en-GB" dirty="0" smtClean="0"/>
          </a:p>
          <a:p>
            <a:endParaRPr lang="fi-FI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Alan käymään läpi termejä oman käsitykseni mukaan helpoimmasta päästä</a:t>
            </a:r>
          </a:p>
          <a:p>
            <a:r>
              <a:rPr lang="fi-FI" dirty="0" smtClean="0"/>
              <a:t>Odotan kolmea keskeytystä ”BINGO!”</a:t>
            </a:r>
          </a:p>
          <a:p>
            <a:pPr lvl="1"/>
            <a:r>
              <a:rPr lang="fi-FI" dirty="0" smtClean="0"/>
              <a:t>Porukan ensimmäinen vaakarivi</a:t>
            </a:r>
          </a:p>
          <a:p>
            <a:pPr lvl="1"/>
            <a:r>
              <a:rPr lang="fi-FI" dirty="0" smtClean="0"/>
              <a:t>Porukan ensimmäinen pystyrivi</a:t>
            </a:r>
          </a:p>
          <a:p>
            <a:pPr lvl="1"/>
            <a:r>
              <a:rPr lang="fi-FI" dirty="0" smtClean="0"/>
              <a:t>Porukan ensimmäinen täysi taulukko</a:t>
            </a:r>
            <a:endParaRPr lang="fi-FI" dirty="0"/>
          </a:p>
        </p:txBody>
      </p:sp>
      <p:sp>
        <p:nvSpPr>
          <p:cNvPr id="8" name="Rectangle 7"/>
          <p:cNvSpPr/>
          <p:nvPr/>
        </p:nvSpPr>
        <p:spPr>
          <a:xfrm>
            <a:off x="304800" y="4495800"/>
            <a:ext cx="41910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b="1" dirty="0" smtClean="0">
                <a:latin typeface="Bradley Hand ITC" pitchFamily="66" charset="0"/>
              </a:rPr>
              <a:t>Palkitaan ensisijaisesti jos tarpeen tunnustaa ihan perustermienkin vieraus.</a:t>
            </a:r>
            <a:endParaRPr lang="fi-FI" sz="2400" b="1" dirty="0">
              <a:latin typeface="Bradley Hand ITC" pitchFamily="66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304800"/>
          <a:ext cx="8229600" cy="6324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743200"/>
                <a:gridCol w="2743200"/>
                <a:gridCol w="2743200"/>
              </a:tblGrid>
              <a:tr h="2108200"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/>
                    </a:p>
                  </a:txBody>
                  <a:tcPr/>
                </a:tc>
              </a:tr>
              <a:tr h="2108200">
                <a:tc>
                  <a:txBody>
                    <a:bodyPr/>
                    <a:lstStyle/>
                    <a:p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</a:tr>
              <a:tr h="2108200">
                <a:tc>
                  <a:txBody>
                    <a:bodyPr/>
                    <a:lstStyle/>
                    <a:p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i-FI"/>
          </a:p>
        </p:txBody>
      </p:sp>
      <p:pic>
        <p:nvPicPr>
          <p:cNvPr id="15363" name="Picture 3" descr="Agile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1143000"/>
            <a:ext cx="8915400" cy="5235575"/>
          </a:xfrm>
          <a:prstGeom prst="rect">
            <a:avLst/>
          </a:prstGeom>
          <a:noFill/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28600" y="0"/>
            <a:ext cx="8915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en-US" sz="3600" b="1">
                <a:solidFill>
                  <a:schemeClr val="tx2"/>
                </a:solidFill>
                <a:latin typeface="Arial" charset="0"/>
              </a:rPr>
              <a:t>Ketterien menetelmien maailma</a:t>
            </a:r>
          </a:p>
          <a:p>
            <a:pPr>
              <a:lnSpc>
                <a:spcPct val="90000"/>
              </a:lnSpc>
            </a:pPr>
            <a:r>
              <a:rPr lang="en-US" sz="1400" b="1">
                <a:solidFill>
                  <a:schemeClr val="tx2"/>
                </a:solidFill>
                <a:latin typeface="Arial" charset="0"/>
              </a:rPr>
              <a:t>Lähde: Abrahamsson, P. et al. 2003. New Directions on Agile Methods: A Comparative Analysis. In </a:t>
            </a:r>
            <a:r>
              <a:rPr lang="en-US" sz="1400" b="1" i="1">
                <a:solidFill>
                  <a:schemeClr val="tx2"/>
                </a:solidFill>
                <a:latin typeface="Arial" charset="0"/>
              </a:rPr>
              <a:t>ICSE 2003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.</a:t>
            </a:r>
            <a:r>
              <a:rPr lang="en-US" sz="1600" b="1">
                <a:solidFill>
                  <a:schemeClr val="tx2"/>
                </a:solidFill>
                <a:latin typeface="Arial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dirty="0" smtClean="0"/>
              <a:t>Scrum: </a:t>
            </a:r>
            <a:r>
              <a:rPr lang="en-GB" dirty="0" err="1" smtClean="0"/>
              <a:t>Mitä</a:t>
            </a:r>
            <a:r>
              <a:rPr lang="en-GB" dirty="0" smtClean="0"/>
              <a:t> se on?</a:t>
            </a:r>
            <a:endParaRPr lang="en-US" dirty="0"/>
          </a:p>
        </p:txBody>
      </p:sp>
      <p:pic>
        <p:nvPicPr>
          <p:cNvPr id="82946" name="Picture 10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325" y="1447800"/>
            <a:ext cx="8472488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428750" y="5715000"/>
            <a:ext cx="600075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/>
              <a:t>Scrum on </a:t>
            </a:r>
            <a:r>
              <a:rPr lang="en-GB" dirty="0" err="1" smtClean="0"/>
              <a:t>ketterän</a:t>
            </a:r>
            <a:r>
              <a:rPr lang="en-GB" dirty="0" smtClean="0"/>
              <a:t> </a:t>
            </a:r>
            <a:r>
              <a:rPr lang="en-GB" dirty="0" err="1" smtClean="0"/>
              <a:t>projektinhallinnan</a:t>
            </a:r>
            <a:r>
              <a:rPr lang="en-GB" dirty="0" smtClean="0"/>
              <a:t> </a:t>
            </a:r>
            <a:r>
              <a:rPr lang="en-GB" dirty="0" err="1" smtClean="0"/>
              <a:t>kehikko</a:t>
            </a:r>
            <a:r>
              <a:rPr lang="en-GB" dirty="0" smtClean="0"/>
              <a:t> </a:t>
            </a:r>
            <a:r>
              <a:rPr lang="en-GB" dirty="0" err="1" smtClean="0"/>
              <a:t>joka</a:t>
            </a:r>
            <a:r>
              <a:rPr lang="en-GB" dirty="0" smtClean="0"/>
              <a:t> </a:t>
            </a:r>
            <a:r>
              <a:rPr lang="en-GB" dirty="0" err="1" smtClean="0"/>
              <a:t>ei</a:t>
            </a:r>
            <a:r>
              <a:rPr lang="en-GB" dirty="0" smtClean="0"/>
              <a:t> </a:t>
            </a:r>
            <a:r>
              <a:rPr lang="en-GB" dirty="0" err="1" smtClean="0"/>
              <a:t>sano</a:t>
            </a:r>
            <a:r>
              <a:rPr lang="en-GB" dirty="0" smtClean="0"/>
              <a:t> </a:t>
            </a:r>
            <a:r>
              <a:rPr lang="en-GB" dirty="0" err="1" smtClean="0"/>
              <a:t>mitään</a:t>
            </a:r>
            <a:r>
              <a:rPr lang="en-GB" dirty="0" smtClean="0"/>
              <a:t> </a:t>
            </a:r>
            <a:r>
              <a:rPr lang="en-GB" dirty="0" err="1" smtClean="0"/>
              <a:t>toteutuksen</a:t>
            </a:r>
            <a:r>
              <a:rPr lang="en-GB" dirty="0" smtClean="0"/>
              <a:t> </a:t>
            </a:r>
            <a:r>
              <a:rPr lang="en-GB" dirty="0" err="1" smtClean="0"/>
              <a:t>eikä</a:t>
            </a:r>
            <a:r>
              <a:rPr lang="en-GB" dirty="0" smtClean="0"/>
              <a:t> </a:t>
            </a:r>
            <a:r>
              <a:rPr lang="en-GB" dirty="0" err="1" smtClean="0"/>
              <a:t>testauksen</a:t>
            </a:r>
            <a:r>
              <a:rPr lang="en-GB" dirty="0" smtClean="0"/>
              <a:t> </a:t>
            </a:r>
            <a:r>
              <a:rPr lang="en-GB" dirty="0" err="1" smtClean="0"/>
              <a:t>käytännöistä</a:t>
            </a: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32213C-BE20-4C04-9C96-3A41581FFB3E}" type="slidenum">
              <a:rPr lang="sv-SE"/>
              <a:pPr>
                <a:defRPr/>
              </a:pPr>
              <a:t>5</a:t>
            </a:fld>
            <a:endParaRPr lang="sv-SE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Extreme Programming: 12 </a:t>
            </a:r>
            <a:r>
              <a:rPr lang="en-US" dirty="0" err="1" smtClean="0"/>
              <a:t>käytäntöä</a:t>
            </a:r>
            <a:endParaRPr 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 algn="ctr"/>
            <a:r>
              <a:rPr lang="en-US" sz="2200" dirty="0" err="1" smtClean="0"/>
              <a:t>Pariohjelmointi</a:t>
            </a:r>
            <a:endParaRPr lang="en-US" sz="2200" dirty="0" smtClean="0"/>
          </a:p>
          <a:p>
            <a:pPr marL="514350" indent="-514350" algn="ctr"/>
            <a:r>
              <a:rPr lang="en-US" sz="2200" dirty="0" err="1" smtClean="0"/>
              <a:t>Koodin</a:t>
            </a:r>
            <a:r>
              <a:rPr lang="en-US" sz="2200" dirty="0" smtClean="0"/>
              <a:t> </a:t>
            </a:r>
            <a:r>
              <a:rPr lang="en-US" sz="2200" dirty="0" err="1" smtClean="0"/>
              <a:t>uudelleen</a:t>
            </a:r>
            <a:r>
              <a:rPr lang="en-US" sz="2200" dirty="0" smtClean="0"/>
              <a:t> </a:t>
            </a:r>
            <a:r>
              <a:rPr lang="en-US" sz="2200" dirty="0" err="1" smtClean="0"/>
              <a:t>järjestely</a:t>
            </a:r>
            <a:r>
              <a:rPr lang="en-US" sz="2200" dirty="0" smtClean="0"/>
              <a:t> (refactoring)</a:t>
            </a:r>
          </a:p>
          <a:p>
            <a:pPr marL="514350" indent="-514350" algn="ctr"/>
            <a:r>
              <a:rPr lang="en-US" sz="2200" dirty="0" err="1" smtClean="0"/>
              <a:t>Yksinkertainen</a:t>
            </a:r>
            <a:r>
              <a:rPr lang="en-US" sz="2200" dirty="0" smtClean="0"/>
              <a:t> </a:t>
            </a:r>
            <a:r>
              <a:rPr lang="en-US" sz="2200" dirty="0" err="1" smtClean="0"/>
              <a:t>suunnitelma</a:t>
            </a:r>
            <a:r>
              <a:rPr lang="en-US" sz="2200" dirty="0" smtClean="0"/>
              <a:t> (design)</a:t>
            </a:r>
          </a:p>
          <a:p>
            <a:pPr marL="514350" indent="-514350" algn="ctr"/>
            <a:r>
              <a:rPr lang="en-US" sz="2200" dirty="0" err="1" smtClean="0"/>
              <a:t>Yhteinen</a:t>
            </a:r>
            <a:r>
              <a:rPr lang="en-US" sz="2200" dirty="0" smtClean="0"/>
              <a:t> </a:t>
            </a:r>
            <a:r>
              <a:rPr lang="en-US" sz="2200" dirty="0" err="1" smtClean="0"/>
              <a:t>koodiomistajuus</a:t>
            </a:r>
            <a:endParaRPr lang="en-US" sz="2200" dirty="0" smtClean="0"/>
          </a:p>
          <a:p>
            <a:pPr marL="514350" indent="-514350" algn="ctr"/>
            <a:r>
              <a:rPr lang="en-US" sz="2200" dirty="0" err="1" smtClean="0"/>
              <a:t>Jatkuva</a:t>
            </a:r>
            <a:r>
              <a:rPr lang="en-US" sz="2200" dirty="0" smtClean="0"/>
              <a:t> </a:t>
            </a:r>
            <a:r>
              <a:rPr lang="en-US" sz="2200" dirty="0" err="1" smtClean="0"/>
              <a:t>integrointi</a:t>
            </a:r>
            <a:endParaRPr lang="en-US" sz="2200" dirty="0" smtClean="0"/>
          </a:p>
          <a:p>
            <a:pPr marL="514350" indent="-514350" algn="ctr"/>
            <a:r>
              <a:rPr lang="en-US" sz="2200" dirty="0" err="1" smtClean="0"/>
              <a:t>Läsnäoleva</a:t>
            </a:r>
            <a:r>
              <a:rPr lang="en-US" sz="2200" dirty="0" smtClean="0"/>
              <a:t> </a:t>
            </a:r>
            <a:r>
              <a:rPr lang="en-US" sz="2200" dirty="0" err="1" smtClean="0"/>
              <a:t>asiakas</a:t>
            </a:r>
            <a:endParaRPr lang="en-US" sz="2200" dirty="0" smtClean="0"/>
          </a:p>
          <a:p>
            <a:pPr marL="514350" indent="-514350" algn="ctr"/>
            <a:r>
              <a:rPr lang="en-US" sz="2200" dirty="0" err="1" smtClean="0"/>
              <a:t>Pienet</a:t>
            </a:r>
            <a:r>
              <a:rPr lang="en-US" sz="2200" dirty="0" smtClean="0"/>
              <a:t> </a:t>
            </a:r>
            <a:r>
              <a:rPr lang="en-US" sz="2200" dirty="0" err="1" smtClean="0"/>
              <a:t>julkaisut</a:t>
            </a:r>
            <a:endParaRPr lang="en-US" sz="2200" dirty="0" smtClean="0"/>
          </a:p>
          <a:p>
            <a:pPr marL="514350" indent="-514350" algn="ctr"/>
            <a:r>
              <a:rPr lang="en-US" sz="2200" dirty="0" smtClean="0"/>
              <a:t>40-tuntinen </a:t>
            </a:r>
            <a:r>
              <a:rPr lang="en-US" sz="2200" dirty="0" err="1" smtClean="0"/>
              <a:t>työviikko</a:t>
            </a:r>
            <a:endParaRPr lang="en-US" sz="2200" dirty="0" smtClean="0"/>
          </a:p>
          <a:p>
            <a:pPr marL="514350" indent="-514350" algn="ctr"/>
            <a:r>
              <a:rPr lang="en-US" sz="2200" dirty="0" err="1" smtClean="0"/>
              <a:t>Koodausstandardi</a:t>
            </a:r>
            <a:endParaRPr lang="en-US" sz="2200" dirty="0" smtClean="0"/>
          </a:p>
          <a:p>
            <a:pPr marL="514350" indent="-514350" algn="ctr"/>
            <a:r>
              <a:rPr lang="en-US" sz="2200" dirty="0" err="1" smtClean="0"/>
              <a:t>Järjestelmän</a:t>
            </a:r>
            <a:r>
              <a:rPr lang="en-US" sz="2200" dirty="0" smtClean="0"/>
              <a:t> </a:t>
            </a:r>
            <a:r>
              <a:rPr lang="en-US" sz="2200" dirty="0" err="1" smtClean="0"/>
              <a:t>vertauskuva</a:t>
            </a:r>
            <a:r>
              <a:rPr lang="en-US" sz="2200" dirty="0" smtClean="0"/>
              <a:t> (metaphor)</a:t>
            </a:r>
          </a:p>
          <a:p>
            <a:pPr marL="514350" indent="-514350" algn="ctr"/>
            <a:r>
              <a:rPr lang="en-US" sz="2200" dirty="0" err="1" smtClean="0"/>
              <a:t>Suunnittelupeli</a:t>
            </a:r>
            <a:endParaRPr lang="en-US" sz="2200" dirty="0" smtClean="0"/>
          </a:p>
          <a:p>
            <a:pPr marL="514350" indent="-514350" algn="ctr"/>
            <a:r>
              <a:rPr lang="en-US" sz="2200" dirty="0" err="1" smtClean="0"/>
              <a:t>Testaus</a:t>
            </a:r>
            <a:endParaRPr lang="en-US" sz="2200" dirty="0" smtClean="0"/>
          </a:p>
          <a:p>
            <a:pPr algn="ctr"/>
            <a:endParaRPr lang="en-US" sz="2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Lean Software Development</a:t>
            </a:r>
            <a:endParaRPr lang="fi-FI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Lean -ajattelu</a:t>
            </a:r>
            <a:endParaRPr lang="fi-FI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fi-FI" dirty="0" smtClean="0"/>
              <a:t>Lean ohjelmistokehityksessä</a:t>
            </a:r>
            <a:endParaRPr lang="fi-FI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Kokonaisuuden optimointi</a:t>
            </a:r>
          </a:p>
          <a:p>
            <a:r>
              <a:rPr lang="fi-FI" dirty="0" smtClean="0"/>
              <a:t>Nopeat toimitukset</a:t>
            </a:r>
          </a:p>
          <a:p>
            <a:r>
              <a:rPr lang="fi-FI" dirty="0" smtClean="0"/>
              <a:t>Jätteen poistaminen</a:t>
            </a:r>
          </a:p>
          <a:p>
            <a:r>
              <a:rPr lang="fi-FI" dirty="0" smtClean="0"/>
              <a:t>Luodaan tietoa</a:t>
            </a:r>
          </a:p>
          <a:p>
            <a:r>
              <a:rPr lang="fi-FI" dirty="0" smtClean="0"/>
              <a:t>Viivästetty sitoumus</a:t>
            </a:r>
          </a:p>
          <a:p>
            <a:r>
              <a:rPr lang="fi-FI" dirty="0" smtClean="0"/>
              <a:t>Rakennetaan laatua mukaan</a:t>
            </a:r>
          </a:p>
          <a:p>
            <a:r>
              <a:rPr lang="fi-FI" dirty="0" smtClean="0"/>
              <a:t>Kunnioitetaan ihmisiä</a:t>
            </a:r>
            <a:endParaRPr lang="fi-FI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fi-FI" sz="2000" dirty="0" smtClean="0"/>
              <a:t>Arvoketjunäkökulma kaikkiin aktiviteetteihin, ei vain ohjelmistokehitys</a:t>
            </a:r>
          </a:p>
          <a:p>
            <a:r>
              <a:rPr lang="fi-FI" sz="2000" dirty="0" smtClean="0"/>
              <a:t>Keskittyy pieneen joukkoon ominaisuuksia joista suurin lisäarvo</a:t>
            </a:r>
          </a:p>
          <a:p>
            <a:r>
              <a:rPr lang="fi-FI" sz="2000" dirty="0" smtClean="0"/>
              <a:t>Jatkuva arvotoimitus ja nopea takaisinmaksuaika</a:t>
            </a:r>
          </a:p>
          <a:p>
            <a:r>
              <a:rPr lang="fi-FI" sz="2000" dirty="0" smtClean="0"/>
              <a:t>Itseohjautuvat tiimit</a:t>
            </a:r>
          </a:p>
          <a:p>
            <a:r>
              <a:rPr lang="fi-FI" sz="2000" dirty="0" smtClean="0"/>
              <a:t>Keskittyminen läpimenoon, ei resurssien käyttöasteeseen</a:t>
            </a:r>
          </a:p>
          <a:p>
            <a:r>
              <a:rPr lang="fi-FI" sz="2000" dirty="0" smtClean="0"/>
              <a:t>Sitoumus jatkuvaan prosessikehitykseen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Kanban kehitystapa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Kanban on imuohjaukseen perustuva aikataulutusmekanismi jolla rajoitetaan välivarastoja – Juuri oikeaan tarpeeseen -kehitys</a:t>
            </a:r>
          </a:p>
          <a:p>
            <a:r>
              <a:rPr lang="fi-FI" dirty="0" smtClean="0"/>
              <a:t>Keskeneräistä työtä rajoitetaan siten että se sopii kokonaistiimin läpimenokapasiteettiin</a:t>
            </a:r>
          </a:p>
          <a:p>
            <a:r>
              <a:rPr lang="en-US" dirty="0" err="1" smtClean="0"/>
              <a:t>Kanban</a:t>
            </a:r>
            <a:r>
              <a:rPr lang="en-US" dirty="0" smtClean="0"/>
              <a:t> </a:t>
            </a:r>
            <a:r>
              <a:rPr lang="en-US" dirty="0" err="1" smtClean="0"/>
              <a:t>kehitystavassa</a:t>
            </a:r>
            <a:r>
              <a:rPr lang="en-US" dirty="0" smtClean="0"/>
              <a:t>: </a:t>
            </a:r>
          </a:p>
          <a:p>
            <a:pPr lvl="1"/>
            <a:r>
              <a:rPr lang="en-US" dirty="0" err="1" smtClean="0"/>
              <a:t>Aikarajattu</a:t>
            </a:r>
            <a:r>
              <a:rPr lang="en-US" dirty="0" smtClean="0"/>
              <a:t> </a:t>
            </a:r>
            <a:r>
              <a:rPr lang="en-US" dirty="0" err="1" smtClean="0"/>
              <a:t>kehitystapa</a:t>
            </a:r>
            <a:r>
              <a:rPr lang="en-US" dirty="0" smtClean="0"/>
              <a:t> on </a:t>
            </a:r>
            <a:r>
              <a:rPr lang="en-US" dirty="0" err="1" smtClean="0"/>
              <a:t>poissa</a:t>
            </a:r>
            <a:endParaRPr lang="en-US" dirty="0" smtClean="0"/>
          </a:p>
          <a:p>
            <a:pPr lvl="1"/>
            <a:r>
              <a:rPr lang="en-US" dirty="0" err="1" smtClean="0"/>
              <a:t>Tarinat</a:t>
            </a:r>
            <a:r>
              <a:rPr lang="en-US" dirty="0" smtClean="0"/>
              <a:t> </a:t>
            </a:r>
            <a:r>
              <a:rPr lang="en-US" dirty="0" err="1" smtClean="0"/>
              <a:t>ovat</a:t>
            </a:r>
            <a:r>
              <a:rPr lang="en-US" dirty="0" smtClean="0"/>
              <a:t> </a:t>
            </a:r>
            <a:r>
              <a:rPr lang="en-US" dirty="0" err="1" smtClean="0"/>
              <a:t>suurempia</a:t>
            </a:r>
            <a:r>
              <a:rPr lang="en-US" dirty="0" smtClean="0"/>
              <a:t> </a:t>
            </a:r>
            <a:r>
              <a:rPr lang="en-US" dirty="0" err="1" smtClean="0"/>
              <a:t>ja</a:t>
            </a:r>
            <a:r>
              <a:rPr lang="en-US" dirty="0" smtClean="0"/>
              <a:t> </a:t>
            </a:r>
            <a:r>
              <a:rPr lang="en-US" dirty="0" err="1" smtClean="0"/>
              <a:t>niitä</a:t>
            </a:r>
            <a:r>
              <a:rPr lang="en-US" dirty="0" smtClean="0"/>
              <a:t> on </a:t>
            </a:r>
            <a:r>
              <a:rPr lang="en-US" dirty="0" err="1" smtClean="0"/>
              <a:t>vähemmän</a:t>
            </a:r>
            <a:endParaRPr lang="en-US" dirty="0" smtClean="0"/>
          </a:p>
          <a:p>
            <a:pPr lvl="1"/>
            <a:r>
              <a:rPr lang="en-US" dirty="0" err="1" smtClean="0"/>
              <a:t>Työmääräarviointi</a:t>
            </a:r>
            <a:r>
              <a:rPr lang="en-US" dirty="0" smtClean="0"/>
              <a:t> on </a:t>
            </a:r>
            <a:r>
              <a:rPr lang="en-US" dirty="0" err="1" smtClean="0"/>
              <a:t>vapaaehtoista</a:t>
            </a:r>
            <a:r>
              <a:rPr lang="en-US" dirty="0" smtClean="0"/>
              <a:t> tai </a:t>
            </a:r>
            <a:r>
              <a:rPr lang="en-US" dirty="0" err="1" smtClean="0"/>
              <a:t>sitä</a:t>
            </a:r>
            <a:r>
              <a:rPr lang="en-US" dirty="0" smtClean="0"/>
              <a:t> </a:t>
            </a:r>
            <a:r>
              <a:rPr lang="en-US" dirty="0" err="1" smtClean="0"/>
              <a:t>ei</a:t>
            </a:r>
            <a:r>
              <a:rPr lang="en-US" dirty="0" smtClean="0"/>
              <a:t> </a:t>
            </a:r>
            <a:r>
              <a:rPr lang="en-US" dirty="0" err="1" smtClean="0"/>
              <a:t>tehdä</a:t>
            </a:r>
            <a:endParaRPr lang="en-US" dirty="0" smtClean="0"/>
          </a:p>
          <a:p>
            <a:pPr lvl="1"/>
            <a:r>
              <a:rPr lang="en-US" dirty="0" err="1" smtClean="0"/>
              <a:t>Nopeus</a:t>
            </a:r>
            <a:r>
              <a:rPr lang="en-US" dirty="0" smtClean="0"/>
              <a:t> </a:t>
            </a:r>
            <a:r>
              <a:rPr lang="en-US" dirty="0" err="1" smtClean="0"/>
              <a:t>korvataan</a:t>
            </a:r>
            <a:r>
              <a:rPr lang="en-US" dirty="0" smtClean="0"/>
              <a:t> </a:t>
            </a:r>
            <a:r>
              <a:rPr lang="en-US" dirty="0" err="1" smtClean="0"/>
              <a:t>kiertoajan</a:t>
            </a:r>
            <a:r>
              <a:rPr lang="en-US" dirty="0" smtClean="0"/>
              <a:t> </a:t>
            </a:r>
            <a:r>
              <a:rPr lang="en-US" dirty="0" err="1" smtClean="0"/>
              <a:t>mittauksella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Esimerkki Kanban taulusta</a:t>
            </a:r>
            <a:endParaRPr lang="fi-FI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2057400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Tavoitteet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76400" y="2057400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Tarinajono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24200" y="199138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Kuvaus &amp; hyväksyntä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4400" y="2057400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Kehitys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67400" y="2057400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Testaus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34200" y="198120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Käyttöön-</a:t>
            </a:r>
            <a:br>
              <a:rPr lang="fi-FI" sz="1400" dirty="0" smtClean="0">
                <a:latin typeface="Comic Sans MS" pitchFamily="66" charset="0"/>
              </a:rPr>
            </a:br>
            <a:r>
              <a:rPr lang="fi-FI" sz="1400" dirty="0" smtClean="0">
                <a:latin typeface="Comic Sans MS" pitchFamily="66" charset="0"/>
              </a:rPr>
              <a:t>otto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77200" y="206758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VALMIS!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1524000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Comic Sans MS" pitchFamily="66" charset="0"/>
              </a:rPr>
              <a:t>Pikatie</a:t>
            </a:r>
            <a:r>
              <a:rPr lang="fi-FI" sz="1400" dirty="0" smtClean="0">
                <a:latin typeface="Comic Sans MS" pitchFamily="66" charset="0"/>
                <a:sym typeface="Wingdings" pitchFamily="2" charset="2"/>
              </a:rPr>
              <a:t> </a:t>
            </a:r>
            <a:endParaRPr lang="fi-FI" sz="1400" dirty="0">
              <a:latin typeface="Comic Sans MS" pitchFamily="66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81200" y="1447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14" name="Rectangle 13"/>
          <p:cNvSpPr/>
          <p:nvPr/>
        </p:nvSpPr>
        <p:spPr>
          <a:xfrm>
            <a:off x="2057400" y="1524000"/>
            <a:ext cx="685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" name="TextBox 14"/>
          <p:cNvSpPr txBox="1"/>
          <p:nvPr/>
        </p:nvSpPr>
        <p:spPr>
          <a:xfrm>
            <a:off x="2133600" y="60198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 smtClean="0">
                <a:latin typeface="Comic Sans MS" pitchFamily="66" charset="0"/>
              </a:rPr>
              <a:t>5</a:t>
            </a:r>
            <a:endParaRPr lang="fi-FI" sz="2800" dirty="0"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81400" y="60198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 smtClean="0">
                <a:latin typeface="Comic Sans MS" pitchFamily="66" charset="0"/>
              </a:rPr>
              <a:t>3</a:t>
            </a:r>
            <a:endParaRPr lang="fi-FI" sz="2800" dirty="0"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53000" y="60198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 smtClean="0">
                <a:latin typeface="Comic Sans MS" pitchFamily="66" charset="0"/>
              </a:rPr>
              <a:t>5</a:t>
            </a:r>
            <a:endParaRPr lang="fi-FI" sz="2800" dirty="0"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60198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 smtClean="0">
                <a:latin typeface="Comic Sans MS" pitchFamily="66" charset="0"/>
              </a:rPr>
              <a:t>3</a:t>
            </a:r>
            <a:endParaRPr lang="fi-FI" sz="2800" dirty="0">
              <a:latin typeface="Comic Sans MS" pitchFamily="66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39000" y="602998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 smtClean="0">
                <a:latin typeface="Comic Sans MS" pitchFamily="66" charset="0"/>
              </a:rPr>
              <a:t>1</a:t>
            </a:r>
            <a:endParaRPr lang="fi-FI" sz="2800" dirty="0">
              <a:latin typeface="Comic Sans MS" pitchFamily="66" charset="0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609600" y="2514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5867400" y="3962400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4800600" y="3962400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3657600" y="3962400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2400300" y="4000500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H="1">
            <a:off x="990599" y="4038599"/>
            <a:ext cx="41148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-419100" y="4076700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52800" y="1447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31" name="Rectangle 30"/>
          <p:cNvSpPr/>
          <p:nvPr/>
        </p:nvSpPr>
        <p:spPr>
          <a:xfrm>
            <a:off x="4724400" y="1447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32" name="Rectangle 31"/>
          <p:cNvSpPr/>
          <p:nvPr/>
        </p:nvSpPr>
        <p:spPr>
          <a:xfrm>
            <a:off x="5943600" y="1447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33" name="Rectangle 32"/>
          <p:cNvSpPr/>
          <p:nvPr/>
        </p:nvSpPr>
        <p:spPr>
          <a:xfrm>
            <a:off x="7010400" y="1447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35" name="Rectangle 34"/>
          <p:cNvSpPr/>
          <p:nvPr/>
        </p:nvSpPr>
        <p:spPr>
          <a:xfrm>
            <a:off x="3352800" y="32004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37" name="Rectangle 36"/>
          <p:cNvSpPr/>
          <p:nvPr/>
        </p:nvSpPr>
        <p:spPr>
          <a:xfrm>
            <a:off x="1905000" y="2590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38" name="Rectangle 37"/>
          <p:cNvSpPr/>
          <p:nvPr/>
        </p:nvSpPr>
        <p:spPr>
          <a:xfrm>
            <a:off x="1981200" y="26670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9" name="Rectangle 38"/>
          <p:cNvSpPr/>
          <p:nvPr/>
        </p:nvSpPr>
        <p:spPr>
          <a:xfrm>
            <a:off x="1905000" y="32004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40" name="Rectangle 39"/>
          <p:cNvSpPr/>
          <p:nvPr/>
        </p:nvSpPr>
        <p:spPr>
          <a:xfrm>
            <a:off x="1981200" y="3276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1" name="Rectangle 40"/>
          <p:cNvSpPr/>
          <p:nvPr/>
        </p:nvSpPr>
        <p:spPr>
          <a:xfrm>
            <a:off x="1905000" y="38100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42" name="Rectangle 41"/>
          <p:cNvSpPr/>
          <p:nvPr/>
        </p:nvSpPr>
        <p:spPr>
          <a:xfrm>
            <a:off x="1981200" y="38862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3" name="Rectangle 42"/>
          <p:cNvSpPr/>
          <p:nvPr/>
        </p:nvSpPr>
        <p:spPr>
          <a:xfrm>
            <a:off x="1905000" y="44196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44" name="Rectangle 43"/>
          <p:cNvSpPr/>
          <p:nvPr/>
        </p:nvSpPr>
        <p:spPr>
          <a:xfrm>
            <a:off x="1981200" y="44958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5" name="Rectangle 44"/>
          <p:cNvSpPr/>
          <p:nvPr/>
        </p:nvSpPr>
        <p:spPr>
          <a:xfrm>
            <a:off x="1905000" y="50292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46" name="Rectangle 45"/>
          <p:cNvSpPr/>
          <p:nvPr/>
        </p:nvSpPr>
        <p:spPr>
          <a:xfrm>
            <a:off x="1981200" y="51054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7" name="Rectangle 46"/>
          <p:cNvSpPr/>
          <p:nvPr/>
        </p:nvSpPr>
        <p:spPr>
          <a:xfrm>
            <a:off x="3352800" y="2590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48" name="Rectangle 47"/>
          <p:cNvSpPr/>
          <p:nvPr/>
        </p:nvSpPr>
        <p:spPr>
          <a:xfrm>
            <a:off x="3429000" y="26670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9" name="Rectangle 48"/>
          <p:cNvSpPr/>
          <p:nvPr/>
        </p:nvSpPr>
        <p:spPr>
          <a:xfrm>
            <a:off x="3352800" y="51816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50" name="Rectangle 49"/>
          <p:cNvSpPr/>
          <p:nvPr/>
        </p:nvSpPr>
        <p:spPr>
          <a:xfrm>
            <a:off x="3429000" y="52578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1" name="Rectangle 50"/>
          <p:cNvSpPr/>
          <p:nvPr/>
        </p:nvSpPr>
        <p:spPr>
          <a:xfrm>
            <a:off x="4724400" y="2590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52" name="Rectangle 51"/>
          <p:cNvSpPr/>
          <p:nvPr/>
        </p:nvSpPr>
        <p:spPr>
          <a:xfrm>
            <a:off x="4800600" y="26670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3" name="Rectangle 52"/>
          <p:cNvSpPr/>
          <p:nvPr/>
        </p:nvSpPr>
        <p:spPr>
          <a:xfrm>
            <a:off x="4724400" y="32004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54" name="Rectangle 53"/>
          <p:cNvSpPr/>
          <p:nvPr/>
        </p:nvSpPr>
        <p:spPr>
          <a:xfrm>
            <a:off x="4800600" y="3276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5" name="Rectangle 54"/>
          <p:cNvSpPr/>
          <p:nvPr/>
        </p:nvSpPr>
        <p:spPr>
          <a:xfrm>
            <a:off x="4724400" y="38100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56" name="Rectangle 55"/>
          <p:cNvSpPr/>
          <p:nvPr/>
        </p:nvSpPr>
        <p:spPr>
          <a:xfrm>
            <a:off x="4800600" y="38862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7" name="Rectangle 56"/>
          <p:cNvSpPr/>
          <p:nvPr/>
        </p:nvSpPr>
        <p:spPr>
          <a:xfrm>
            <a:off x="4724400" y="44196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58" name="Rectangle 57"/>
          <p:cNvSpPr/>
          <p:nvPr/>
        </p:nvSpPr>
        <p:spPr>
          <a:xfrm>
            <a:off x="4800600" y="44958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9" name="Rectangle 58"/>
          <p:cNvSpPr/>
          <p:nvPr/>
        </p:nvSpPr>
        <p:spPr>
          <a:xfrm>
            <a:off x="4724400" y="51816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61" name="Rectangle 60"/>
          <p:cNvSpPr/>
          <p:nvPr/>
        </p:nvSpPr>
        <p:spPr>
          <a:xfrm>
            <a:off x="5867400" y="2590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62" name="Rectangle 61"/>
          <p:cNvSpPr/>
          <p:nvPr/>
        </p:nvSpPr>
        <p:spPr>
          <a:xfrm>
            <a:off x="5943600" y="26670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3" name="Rectangle 62"/>
          <p:cNvSpPr/>
          <p:nvPr/>
        </p:nvSpPr>
        <p:spPr>
          <a:xfrm>
            <a:off x="5867400" y="32004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64" name="Rectangle 63"/>
          <p:cNvSpPr/>
          <p:nvPr/>
        </p:nvSpPr>
        <p:spPr>
          <a:xfrm>
            <a:off x="5943600" y="3276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5" name="Rectangle 64"/>
          <p:cNvSpPr/>
          <p:nvPr/>
        </p:nvSpPr>
        <p:spPr>
          <a:xfrm>
            <a:off x="5867400" y="51816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67" name="Rectangle 66"/>
          <p:cNvSpPr/>
          <p:nvPr/>
        </p:nvSpPr>
        <p:spPr>
          <a:xfrm>
            <a:off x="7010400" y="2590800"/>
            <a:ext cx="838200" cy="76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smtClean="0"/>
              <a:t> </a:t>
            </a:r>
            <a:endParaRPr lang="fi-FI" dirty="0"/>
          </a:p>
        </p:txBody>
      </p:sp>
      <p:sp>
        <p:nvSpPr>
          <p:cNvPr id="68" name="Rectangle 67"/>
          <p:cNvSpPr/>
          <p:nvPr/>
        </p:nvSpPr>
        <p:spPr>
          <a:xfrm>
            <a:off x="7086600" y="26670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9" name="Rectangle 68"/>
          <p:cNvSpPr/>
          <p:nvPr/>
        </p:nvSpPr>
        <p:spPr>
          <a:xfrm>
            <a:off x="8001000" y="27432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0" name="Rectangle 69"/>
          <p:cNvSpPr/>
          <p:nvPr/>
        </p:nvSpPr>
        <p:spPr>
          <a:xfrm>
            <a:off x="8229600" y="2895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1" name="Rectangle 70"/>
          <p:cNvSpPr/>
          <p:nvPr/>
        </p:nvSpPr>
        <p:spPr>
          <a:xfrm>
            <a:off x="8001000" y="31242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2" name="Rectangle 71"/>
          <p:cNvSpPr/>
          <p:nvPr/>
        </p:nvSpPr>
        <p:spPr>
          <a:xfrm>
            <a:off x="8153400" y="3657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3" name="Rectangle 72"/>
          <p:cNvSpPr/>
          <p:nvPr/>
        </p:nvSpPr>
        <p:spPr>
          <a:xfrm>
            <a:off x="8001000" y="38100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4" name="Rectangle 73"/>
          <p:cNvSpPr/>
          <p:nvPr/>
        </p:nvSpPr>
        <p:spPr>
          <a:xfrm>
            <a:off x="8229600" y="4038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5" name="Rectangle 74"/>
          <p:cNvSpPr/>
          <p:nvPr/>
        </p:nvSpPr>
        <p:spPr>
          <a:xfrm>
            <a:off x="8001000" y="4419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6" name="Rectangle 75"/>
          <p:cNvSpPr/>
          <p:nvPr/>
        </p:nvSpPr>
        <p:spPr>
          <a:xfrm>
            <a:off x="8153400" y="5181600"/>
            <a:ext cx="685800" cy="457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99" name="Straight Connector 98"/>
          <p:cNvCxnSpPr/>
          <p:nvPr/>
        </p:nvCxnSpPr>
        <p:spPr>
          <a:xfrm>
            <a:off x="3048000" y="51054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0" y="2690336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Bradley Hand ITC" pitchFamily="66" charset="0"/>
              </a:rPr>
              <a:t>Täällä odotat </a:t>
            </a:r>
            <a:br>
              <a:rPr lang="fi-FI" sz="1400" dirty="0" smtClean="0">
                <a:latin typeface="Bradley Hand ITC" pitchFamily="66" charset="0"/>
              </a:rPr>
            </a:br>
            <a:r>
              <a:rPr lang="fi-FI" sz="1400" b="1" dirty="0" smtClean="0">
                <a:latin typeface="Bradley Hand ITC" pitchFamily="66" charset="0"/>
              </a:rPr>
              <a:t>14 </a:t>
            </a:r>
            <a:r>
              <a:rPr lang="fi-FI" sz="1400" dirty="0" smtClean="0">
                <a:latin typeface="Bradley Hand ITC" pitchFamily="66" charset="0"/>
              </a:rPr>
              <a:t>päivää</a:t>
            </a:r>
            <a:endParaRPr lang="fi-FI" sz="1400" dirty="0">
              <a:latin typeface="Bradley Hand ITC" pitchFamily="66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0" y="525780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dirty="0" smtClean="0">
                <a:latin typeface="Bradley Hand ITC" pitchFamily="66" charset="0"/>
              </a:rPr>
              <a:t>Täällä odotat</a:t>
            </a:r>
            <a:br>
              <a:rPr lang="fi-FI" sz="1400" dirty="0" smtClean="0">
                <a:latin typeface="Bradley Hand ITC" pitchFamily="66" charset="0"/>
              </a:rPr>
            </a:br>
            <a:r>
              <a:rPr lang="fi-FI" sz="1400" b="1" dirty="0" smtClean="0">
                <a:latin typeface="Bradley Hand ITC" pitchFamily="66" charset="0"/>
              </a:rPr>
              <a:t>21</a:t>
            </a:r>
            <a:r>
              <a:rPr lang="fi-FI" sz="1400" dirty="0" smtClean="0">
                <a:latin typeface="Bradley Hand ITC" pitchFamily="66" charset="0"/>
              </a:rPr>
              <a:t> päivää</a:t>
            </a:r>
            <a:endParaRPr lang="fi-FI" sz="1400" dirty="0">
              <a:latin typeface="Bradley Hand ITC" pitchFamily="66" charset="0"/>
            </a:endParaRPr>
          </a:p>
        </p:txBody>
      </p:sp>
      <p:sp>
        <p:nvSpPr>
          <p:cNvPr id="102" name="Right Arrow 101"/>
          <p:cNvSpPr/>
          <p:nvPr/>
        </p:nvSpPr>
        <p:spPr>
          <a:xfrm>
            <a:off x="1295400" y="2819400"/>
            <a:ext cx="304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3" name="Right Arrow 102"/>
          <p:cNvSpPr/>
          <p:nvPr/>
        </p:nvSpPr>
        <p:spPr>
          <a:xfrm>
            <a:off x="1295400" y="5410200"/>
            <a:ext cx="304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4" name="Rectangle 103"/>
          <p:cNvSpPr/>
          <p:nvPr/>
        </p:nvSpPr>
        <p:spPr>
          <a:xfrm>
            <a:off x="609600" y="4495800"/>
            <a:ext cx="6858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5" name="Rectangle 104"/>
          <p:cNvSpPr/>
          <p:nvPr/>
        </p:nvSpPr>
        <p:spPr>
          <a:xfrm>
            <a:off x="609600" y="3962400"/>
            <a:ext cx="6858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6" name="Rectangle 105"/>
          <p:cNvSpPr/>
          <p:nvPr/>
        </p:nvSpPr>
        <p:spPr>
          <a:xfrm>
            <a:off x="609600" y="3429000"/>
            <a:ext cx="6858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7" name="Slide Number Placeholder 7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Ideoita, ajatuksia, </a:t>
            </a:r>
            <a:br>
              <a:rPr lang="fi-FI" dirty="0" smtClean="0"/>
            </a:br>
            <a:r>
              <a:rPr lang="fi-FI" dirty="0" smtClean="0"/>
              <a:t>kysymyksiä?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</TotalTime>
  <Words>480</Words>
  <Application>Microsoft Macintosh PowerPoint</Application>
  <PresentationFormat>On-screen Show (4:3)</PresentationFormat>
  <Paragraphs>129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Ketterät menetelmät</vt:lpstr>
      <vt:lpstr>Harjoitus: Ketterä sanastobingo</vt:lpstr>
      <vt:lpstr>PowerPoint Presentation</vt:lpstr>
      <vt:lpstr>PowerPoint Presentation</vt:lpstr>
      <vt:lpstr>Scrum: Mitä se on?</vt:lpstr>
      <vt:lpstr>Extreme Programming: 12 käytäntöä</vt:lpstr>
      <vt:lpstr>Lean Software Development</vt:lpstr>
      <vt:lpstr>Kanban kehitystapa</vt:lpstr>
      <vt:lpstr>Esimerkki Kanban taulusta</vt:lpstr>
      <vt:lpstr>Ideoita, ajatuksia,  kysymyksiä?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Ketterät menetelmät</dc:title>
  <dc:creator>Maaret Pyhäjärvi</dc:creator>
  <cp:lastModifiedBy>Maaret Pyhäjärvi</cp:lastModifiedBy>
  <cp:revision>22</cp:revision>
  <dcterms:created xsi:type="dcterms:W3CDTF">2006-08-16T00:00:00Z</dcterms:created>
  <dcterms:modified xsi:type="dcterms:W3CDTF">2017-05-29T07:19:53Z</dcterms:modified>
</cp:coreProperties>
</file>