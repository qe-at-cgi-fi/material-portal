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0" r:id="rId3"/>
    <p:sldId id="271" r:id="rId4"/>
    <p:sldId id="272" r:id="rId5"/>
    <p:sldId id="273" r:id="rId6"/>
    <p:sldId id="274" r:id="rId7"/>
    <p:sldId id="275" r:id="rId8"/>
    <p:sldId id="278" r:id="rId9"/>
    <p:sldId id="279" r:id="rId10"/>
    <p:sldId id="280" r:id="rId11"/>
    <p:sldId id="281" r:id="rId12"/>
    <p:sldId id="282" r:id="rId13"/>
    <p:sldId id="283" r:id="rId14"/>
    <p:sldId id="258" r:id="rId15"/>
    <p:sldId id="259" r:id="rId16"/>
    <p:sldId id="260" r:id="rId17"/>
    <p:sldId id="261" r:id="rId18"/>
    <p:sldId id="262" r:id="rId19"/>
    <p:sldId id="263" r:id="rId20"/>
    <p:sldId id="264" r:id="rId21"/>
    <p:sldId id="265" r:id="rId22"/>
    <p:sldId id="266" r:id="rId23"/>
    <p:sldId id="267" r:id="rId24"/>
    <p:sldId id="293" r:id="rId25"/>
    <p:sldId id="294" r:id="rId26"/>
    <p:sldId id="257" r:id="rId27"/>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3309" autoAdjust="0"/>
  </p:normalViewPr>
  <p:slideViewPr>
    <p:cSldViewPr>
      <p:cViewPr varScale="1">
        <p:scale>
          <a:sx n="60" d="100"/>
          <a:sy n="60" d="100"/>
        </p:scale>
        <p:origin x="-1644"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12/16/2013</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F10A20-95BC-41F9-BAA7-1E47366A71FB}" type="slidenum">
              <a:rPr lang="en-GB"/>
              <a:pPr/>
              <a:t>5</a:t>
            </a:fld>
            <a:endParaRPr lang="en-GB"/>
          </a:p>
        </p:txBody>
      </p:sp>
      <p:sp>
        <p:nvSpPr>
          <p:cNvPr id="1313794" name="Rectangle 2"/>
          <p:cNvSpPr>
            <a:spLocks noGrp="1" noRot="1" noChangeAspect="1" noChangeArrowheads="1" noTextEdit="1"/>
          </p:cNvSpPr>
          <p:nvPr>
            <p:ph type="sldImg"/>
          </p:nvPr>
        </p:nvSpPr>
        <p:spPr>
          <a:ln/>
        </p:spPr>
      </p:sp>
      <p:sp>
        <p:nvSpPr>
          <p:cNvPr id="1313795" name="Rectangle 3"/>
          <p:cNvSpPr>
            <a:spLocks noGrp="1" noChangeArrowheads="1"/>
          </p:cNvSpPr>
          <p:nvPr>
            <p:ph type="body" idx="1"/>
          </p:nvPr>
        </p:nvSpPr>
        <p:spPr/>
        <p:txBody>
          <a:bodyPr/>
          <a:lstStyle/>
          <a:p>
            <a:r>
              <a:rPr lang="fi-FI"/>
              <a:t>technical thinking: ability to model technology and understand causes and effects.</a:t>
            </a:r>
          </a:p>
          <a:p>
            <a:r>
              <a:rPr lang="fi-FI"/>
              <a:t>creative thinking: ability to generate ideas and see possibilities. You will only test in ways your imagination allows to to think of</a:t>
            </a:r>
          </a:p>
          <a:p>
            <a:r>
              <a:rPr lang="en-GB"/>
              <a:t>Critical thinking: ability to evaluate ideas and make inferences. Ability to detect and eliminate errors from your own thinking</a:t>
            </a:r>
          </a:p>
          <a:p>
            <a:r>
              <a:rPr lang="en-GB"/>
              <a:t>Practical thinking: ability to put ideas into practice- Skills in applying tools and techniques.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4B60F6-60CB-4F65-AF8F-989DD081B83B}" type="slidenum">
              <a:rPr lang="en-GB"/>
              <a:pPr/>
              <a:t>6</a:t>
            </a:fld>
            <a:endParaRPr lang="en-GB"/>
          </a:p>
        </p:txBody>
      </p:sp>
      <p:sp>
        <p:nvSpPr>
          <p:cNvPr id="1315842" name="Rectangle 2"/>
          <p:cNvSpPr>
            <a:spLocks noGrp="1" noRot="1" noChangeAspect="1" noChangeArrowheads="1" noTextEdit="1"/>
          </p:cNvSpPr>
          <p:nvPr>
            <p:ph type="sldImg"/>
          </p:nvPr>
        </p:nvSpPr>
        <p:spPr>
          <a:ln/>
        </p:spPr>
      </p:sp>
      <p:sp>
        <p:nvSpPr>
          <p:cNvPr id="1315843" name="Rectangle 3"/>
          <p:cNvSpPr>
            <a:spLocks noGrp="1" noChangeArrowheads="1"/>
          </p:cNvSpPr>
          <p:nvPr>
            <p:ph type="body" idx="1"/>
          </p:nvPr>
        </p:nvSpPr>
        <p:spPr/>
        <p:txBody>
          <a:bodyPr/>
          <a:lstStyle/>
          <a:p>
            <a:r>
              <a:rPr lang="fi-FI"/>
              <a:t>Assimilation = tulkinta</a:t>
            </a:r>
          </a:p>
          <a:p>
            <a:r>
              <a:rPr lang="fi-FI"/>
              <a:t>confirmation = vahvistus</a:t>
            </a:r>
          </a:p>
          <a:p>
            <a:r>
              <a:rPr lang="fi-FI"/>
              <a:t>prominence = läheisyys, painoarvo</a:t>
            </a:r>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A93E635D-2C8F-4D65-A2B1-153CAA13DC96}" type="slidenum">
              <a:rPr lang="en-GB" smtClean="0"/>
              <a:pPr/>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D141AC6-7FD4-43C5-8C12-563E356A961F}"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fi-FI" dirty="0" smtClean="0"/>
              <a:t>Ketteryys</a:t>
            </a:r>
            <a:r>
              <a:rPr lang="fi-FI" baseline="0" dirty="0" smtClean="0"/>
              <a:t> ei ole sitä että otetaan speksit pois ja pidetään muuten kaikki ennallaan</a:t>
            </a:r>
          </a:p>
          <a:p>
            <a:endParaRPr lang="fi-FI" baseline="0" dirty="0" smtClean="0"/>
          </a:p>
          <a:p>
            <a:r>
              <a:rPr lang="fi-FI" baseline="0" dirty="0" smtClean="0"/>
              <a:t>Kustannus/hyöty: kattavuus, jäljitettävyys ja niiden todellinen arvo. </a:t>
            </a:r>
          </a:p>
          <a:p>
            <a:endParaRPr lang="fi-FI" baseline="0" dirty="0" smtClean="0"/>
          </a:p>
          <a:p>
            <a:r>
              <a:rPr lang="fi-FI" dirty="0" smtClean="0"/>
              <a:t>The foolishness of focusing on ”coverage” and ”traceability”</a:t>
            </a:r>
          </a:p>
          <a:p>
            <a:pPr lvl="1"/>
            <a:r>
              <a:rPr lang="fi-FI" dirty="0" smtClean="0"/>
              <a:t>Think what these could mean: 100 % requirements coverage, 100 % code coverage, 40-70 % regression coverage</a:t>
            </a:r>
          </a:p>
          <a:p>
            <a:pPr lvl="1"/>
            <a:r>
              <a:rPr lang="fi-FI" dirty="0" smtClean="0"/>
              <a:t>Exercise of changing 100 % requirements coverage to 10 % requirements coverage – just update the requirements list from a testing perspective</a:t>
            </a:r>
          </a:p>
          <a:p>
            <a:r>
              <a:rPr lang="fi-FI" dirty="0" smtClean="0"/>
              <a:t>The amazing emphasis on requirements and positive testing</a:t>
            </a:r>
          </a:p>
          <a:p>
            <a:pPr lvl="1"/>
            <a:r>
              <a:rPr lang="fi-FI" dirty="0" smtClean="0"/>
              <a:t>Testing just what is mentioned, nothing else – no imagination for points of failure</a:t>
            </a:r>
          </a:p>
          <a:p>
            <a:pPr lvl="1"/>
            <a:r>
              <a:rPr lang="fi-FI" dirty="0" smtClean="0"/>
              <a:t>Missing all aspects of recovery, performance, reliability, interoperability</a:t>
            </a:r>
          </a:p>
          <a:p>
            <a:pPr lvl="1"/>
            <a:r>
              <a:rPr lang="fi-FI" dirty="0" smtClean="0"/>
              <a:t>Focusing on just ”our parts”, not the best of the customer/user</a:t>
            </a:r>
          </a:p>
          <a:p>
            <a:r>
              <a:rPr lang="fi-FI" dirty="0" smtClean="0"/>
              <a:t>The foolishness of focusing on ”repeatability”</a:t>
            </a:r>
          </a:p>
          <a:p>
            <a:pPr lvl="1"/>
            <a:r>
              <a:rPr lang="fi-FI" dirty="0" smtClean="0"/>
              <a:t>Optimizing missing bugs in complex systems</a:t>
            </a:r>
          </a:p>
          <a:p>
            <a:pPr lvl="1"/>
            <a:r>
              <a:rPr lang="fi-FI" dirty="0" smtClean="0"/>
              <a:t>Cost a lot in time and effort</a:t>
            </a:r>
          </a:p>
          <a:p>
            <a:pPr lvl="1"/>
            <a:r>
              <a:rPr lang="fi-FI" dirty="0" smtClean="0"/>
              <a:t>Repeatable steps, instead of repeatable goals...</a:t>
            </a:r>
          </a:p>
          <a:p>
            <a:r>
              <a:rPr lang="fi-FI" dirty="0" smtClean="0"/>
              <a:t>The foolishness of assuming testers are interchangeable</a:t>
            </a:r>
          </a:p>
          <a:p>
            <a:pPr lvl="1"/>
            <a:r>
              <a:rPr lang="fi-FI" dirty="0" smtClean="0"/>
              <a:t>Causing unnecessary stress to people who are uncomfortable with change of systems to test</a:t>
            </a:r>
          </a:p>
          <a:p>
            <a:pPr lvl="1"/>
            <a:r>
              <a:rPr lang="fi-FI" dirty="0" smtClean="0"/>
              <a:t>Trying to find places to put the added hours: estimates are for an almost-expert</a:t>
            </a:r>
          </a:p>
          <a:p>
            <a:r>
              <a:rPr lang="fi-FI" dirty="0" smtClean="0"/>
              <a:t>The uncomprehensibleness of summing task hours to gain completion</a:t>
            </a:r>
          </a:p>
          <a:p>
            <a:pPr lvl="1"/>
            <a:r>
              <a:rPr lang="fi-FI" dirty="0" smtClean="0"/>
              <a:t>Summing up hours from several people to a task does not make the task go forward as expected</a:t>
            </a:r>
          </a:p>
          <a:p>
            <a:pPr lvl="1"/>
            <a:r>
              <a:rPr lang="fi-FI" dirty="0" smtClean="0"/>
              <a:t>Cancelling long-expected training to get 15 md more effort does not save the project that is resourcing-challenged</a:t>
            </a:r>
          </a:p>
          <a:p>
            <a:r>
              <a:rPr lang="fi-FI" dirty="0" smtClean="0"/>
              <a:t>The lost power in lack of self-organized teams</a:t>
            </a:r>
          </a:p>
          <a:p>
            <a:pPr lvl="1"/>
            <a:r>
              <a:rPr lang="fi-FI" dirty="0" smtClean="0"/>
              <a:t>When PjM does not trust anyone’s judgement, she becomes a bottleneck for all progress</a:t>
            </a:r>
          </a:p>
          <a:p>
            <a:r>
              <a:rPr lang="fi-FI" dirty="0" smtClean="0"/>
              <a:t>The lost opportunity in collaboration</a:t>
            </a:r>
          </a:p>
          <a:p>
            <a:pPr lvl="1"/>
            <a:r>
              <a:rPr lang="fi-FI" dirty="0" smtClean="0"/>
              <a:t>Assuming too much about what and why customer wants – and protecting oneself over customer needs</a:t>
            </a:r>
          </a:p>
          <a:p>
            <a:pPr lvl="1"/>
            <a:r>
              <a:rPr lang="fi-FI" dirty="0" smtClean="0"/>
              <a:t>From technical-style common requirements to change in various systems, the resulting requirements don’t serve the uncommunicated vision</a:t>
            </a:r>
          </a:p>
          <a:p>
            <a:r>
              <a:rPr lang="fi-FI" dirty="0" smtClean="0"/>
              <a:t>The niceness of monthly fixed resourcing</a:t>
            </a:r>
          </a:p>
          <a:p>
            <a:pPr lvl="1"/>
            <a:r>
              <a:rPr lang="fi-FI" dirty="0" smtClean="0"/>
              <a:t>People would benefit from ability to focus and agile rhythm provided that much better</a:t>
            </a:r>
          </a:p>
          <a:p>
            <a:pPr lvl="1"/>
            <a:endParaRPr lang="fi-FI" dirty="0" smtClean="0"/>
          </a:p>
          <a:p>
            <a:endParaRPr lang="fi-FI" dirty="0"/>
          </a:p>
        </p:txBody>
      </p:sp>
      <p:sp>
        <p:nvSpPr>
          <p:cNvPr id="4" name="Slide Number Placeholder 3"/>
          <p:cNvSpPr>
            <a:spLocks noGrp="1"/>
          </p:cNvSpPr>
          <p:nvPr>
            <p:ph type="sldNum" sz="quarter" idx="10"/>
          </p:nvPr>
        </p:nvSpPr>
        <p:spPr/>
        <p:txBody>
          <a:bodyPr/>
          <a:lstStyle/>
          <a:p>
            <a:fld id="{70E74A22-D303-43AE-99DF-D23F412A331B}"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6A4FF2-9CCA-4CB7-ACFE-B5BD2D357D55}" type="slidenum">
              <a:rPr lang="en-US"/>
              <a:pPr/>
              <a:t>11</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xfrm>
            <a:off x="896842" y="4687884"/>
            <a:ext cx="4940492" cy="4440240"/>
          </a:xfrm>
        </p:spPr>
        <p:txBody>
          <a:bodyPr/>
          <a:lstStyle/>
          <a:p>
            <a:pPr algn="just" fontAlgn="t">
              <a:lnSpc>
                <a:spcPct val="80000"/>
              </a:lnSpc>
            </a:pPr>
            <a:r>
              <a:rPr lang="en-GB" sz="800"/>
              <a:t>#2</a:t>
            </a:r>
            <a:r>
              <a:rPr lang="en-GB" sz="800">
                <a:solidFill>
                  <a:srgbClr val="000000"/>
                </a:solidFill>
              </a:rPr>
              <a:t> </a:t>
            </a:r>
          </a:p>
          <a:p>
            <a:pPr algn="just" fontAlgn="t">
              <a:lnSpc>
                <a:spcPct val="80000"/>
              </a:lnSpc>
            </a:pPr>
            <a:r>
              <a:rPr lang="en-GB" sz="800">
                <a:solidFill>
                  <a:srgbClr val="000000"/>
                </a:solidFill>
              </a:rPr>
              <a:t>Testausprosessi ei ole itsenäinen kokonaisuus. Testausprosessin  toiminnan ja tehokkuuden kannalta oleellista on kyky vastata muiden ohjelmistojen kehitykseen liittyvien prosessien muutoksiin ja tarjota näin kokonaisuudelle paras mahdollinen palvelu. Testauksen tilannemalli (muokattu [Kaner et al 2002], kuva alla) kuvaa testausprosessin kannalta keskeisimmät liittymät. Testausprosessin määrittelyn ja kehittämisen kannalta kunakin ajanhetkenä on käytännössä kiinnitetty asioita, joiden muuttaminen ei ole suoraan testausta tekevien ihmisten vallassa. Nämä </a:t>
            </a:r>
            <a:r>
              <a:rPr lang="en-GB" sz="800" b="1">
                <a:solidFill>
                  <a:srgbClr val="000000"/>
                </a:solidFill>
              </a:rPr>
              <a:t>annetut </a:t>
            </a:r>
            <a:r>
              <a:rPr lang="en-GB" sz="800">
                <a:solidFill>
                  <a:srgbClr val="000000"/>
                </a:solidFill>
              </a:rPr>
              <a:t>asiat sekä mahdollistavat että rajoittavat testausprosessin toteutuksen </a:t>
            </a:r>
            <a:r>
              <a:rPr lang="en-GB" sz="800" b="1">
                <a:solidFill>
                  <a:srgbClr val="000000"/>
                </a:solidFill>
              </a:rPr>
              <a:t>valintoja</a:t>
            </a:r>
            <a:r>
              <a:rPr lang="en-GB" sz="800">
                <a:solidFill>
                  <a:srgbClr val="000000"/>
                </a:solidFill>
              </a:rPr>
              <a:t>. Valinnat tulee tehdä siten että ne hyödyntävät olemassaolevaa ja niiltä osin kuin tämä ei ole riittävää, voidaan pyytää perustellusti muutoksia annettuihin asioihin.  </a:t>
            </a:r>
          </a:p>
          <a:p>
            <a:pPr>
              <a:lnSpc>
                <a:spcPct val="80000"/>
              </a:lnSpc>
            </a:pPr>
            <a:endParaRPr lang="fi-FI" sz="800"/>
          </a:p>
          <a:p>
            <a:pPr algn="just" fontAlgn="t">
              <a:lnSpc>
                <a:spcPct val="80000"/>
              </a:lnSpc>
            </a:pPr>
            <a:r>
              <a:rPr lang="en-GB" sz="800">
                <a:solidFill>
                  <a:srgbClr val="000000"/>
                </a:solidFill>
              </a:rPr>
              <a:t>Suoraan testausprosessin käytössä olevat annetut asiat ovat testausryhmä ja testausympäristöt ja -välineet. Näin ollen testausprosessia kehitettäessä on usein luonnollista rakentaa testauksen perustaa ensisijaisesti näitä kehittämällä. Test Management Approach [Pol et al 2000] (TMap, Sogeti Nederland B.V:n rekisteröimä tavaramerkki) katsoo testausta erillisen testausryhmän näkökulmasta tunnistaen neljä testauksen kivijalkaa: Elinkaarimalli, Tekniikat, Organisaatio ja Infrastruktuuri. Näistä kivijaloista elinkaarimalli sekä tekniikat ovat tämän mallin kannalta osa Testausprosessia. Infrastruktuuri vastaa tämän mallin Testausympäristöjä ja -välineitä. Organisaatio on ensisijaisesti tämän mallin testausryhmä, mutta yhdistää myös ryhmän kommunikointia muihin sidosryhmiin.  TMap on mainio jäsennys testaukselle ja sen tarpeellisille osille, kuitenkin perustuen tehtyihin oletuksiin "oikeasta testauksesta". TMap toimii hyvänä tarkastuslistana, jonka suhteen, kuten kaikkien tarkastuslistojen suhteen, tulee pitää ohjeena jatkuva ajattelemien. </a:t>
            </a:r>
          </a:p>
          <a:p>
            <a:pPr algn="just" fontAlgn="t">
              <a:lnSpc>
                <a:spcPct val="80000"/>
              </a:lnSpc>
            </a:pPr>
            <a:endParaRPr lang="fi-FI" sz="800">
              <a:solidFill>
                <a:srgbClr val="000000"/>
              </a:solidFill>
            </a:endParaRPr>
          </a:p>
          <a:p>
            <a:pPr algn="just" fontAlgn="t">
              <a:lnSpc>
                <a:spcPct val="80000"/>
              </a:lnSpc>
            </a:pPr>
            <a:r>
              <a:rPr lang="en-GB" sz="800">
                <a:solidFill>
                  <a:srgbClr val="000000"/>
                </a:solidFill>
              </a:rPr>
              <a:t>Kokonaistestausprosessissa erillinen testausryhmä ei ole ainoa testaaja. Testausta osaltaan tekevät ohjelmiston kehittäjät omistaen laadun käytännön tasolla mahdollisen erillisen testaajan tarjotessa virhetietoa kokonaisuuden tueksi. Tosiasia on, että kehittäjät voivat poistaa omista virheistään merkittävän osan. Toisaalta testausta tekevät myös vaatimusten suunnittelijat. Testaus on oleellisesti jokaisen tehtävän osalta viimeinen varmistus - onhan tämä tehty niin virheettömästi kuin mahdollista, haluten nähdä olemassaolevat virheet.  Myös projektipäälliköllä ja testauspäälliköllä sekä asiakkaan ja käyttäjän edustajalla on oma roolinsa testauksessa. Eri roolien suhteen testauksen käytännöt voivat erota merkittävästikin kokonaisprosessissa ja kunkin roolin suhteen kokonaisprosessi muodostuu osaprosesseista. Näiden roolien suhteen ei ole yksiselitteistä ratkaisua työnjaolle. </a:t>
            </a:r>
          </a:p>
          <a:p>
            <a:pPr>
              <a:lnSpc>
                <a:spcPct val="80000"/>
              </a:lnSpc>
            </a:pPr>
            <a:endParaRPr lang="en-GB" sz="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4AC6368-C921-4798-B1A6-D8CCC015945C}"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07EFC6FC-4970-4A06-A11D-8003F3F71E1F}"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0D11A6-FFF6-49FA-8DD5-7E386FE71C86}" type="slidenum">
              <a:rPr lang="en-US"/>
              <a:pPr/>
              <a:t>14</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xfrm>
            <a:off x="897890" y="4687253"/>
            <a:ext cx="4938395" cy="4440555"/>
          </a:xfrm>
        </p:spPr>
        <p:txBody>
          <a:bodyPr/>
          <a:lstStyle/>
          <a:p>
            <a:r>
              <a:rPr lang="en-GB"/>
              <a:t>Hyvin suunniteltu ei ole puoliksi tehty.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A75C4B-0338-4A27-87E0-3FE989EDC8FD}" type="slidenum">
              <a:rPr lang="en-US"/>
              <a:pPr/>
              <a:t>15</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xfrm>
            <a:off x="897890" y="4687253"/>
            <a:ext cx="4938395" cy="4440555"/>
          </a:xfrm>
        </p:spPr>
        <p:txBody>
          <a:bodyPr/>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3DD7C-78EB-4DB8-BFF9-7F010261A084}" type="slidenum">
              <a:rPr lang="en-US"/>
              <a:pPr/>
              <a:t>16</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xfrm>
            <a:off x="897890" y="4687253"/>
            <a:ext cx="4938395" cy="4440555"/>
          </a:xfrm>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57C2DC-86D3-4E1E-9965-AB1BC21B8E81}" type="slidenum">
              <a:rPr lang="en-US"/>
              <a:pPr/>
              <a:t>17</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xfrm>
            <a:off x="897890" y="4687253"/>
            <a:ext cx="4938395" cy="4440555"/>
          </a:xfrm>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ADB918-FE37-4E96-8C19-D5B678AA6AF9}" type="slidenum">
              <a:rPr lang="en-US"/>
              <a:pPr/>
              <a:t>18</a:t>
            </a:fld>
            <a:endParaRPr lang="en-US"/>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xfrm>
            <a:off x="897890" y="4687253"/>
            <a:ext cx="4938395" cy="4440555"/>
          </a:xfrm>
        </p:spPr>
        <p:txBody>
          <a:bodyPr/>
          <a:lstStyle/>
          <a:p>
            <a:r>
              <a:rPr lang="en-GB"/>
              <a:t>Skill = taito</a:t>
            </a:r>
          </a:p>
          <a:p>
            <a:r>
              <a:rPr lang="en-GB"/>
              <a:t>Arviointi: voidaan arvioida huippukäytäntöjä vastaan.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C4162C-0B02-4834-936F-1857E0D3D138}" type="slidenum">
              <a:rPr lang="en-US"/>
              <a:pPr/>
              <a:t>19</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xfrm>
            <a:off x="897890" y="4687253"/>
            <a:ext cx="4938395" cy="4440555"/>
          </a:xfrm>
        </p:spPr>
        <p:txBody>
          <a:bodyPr/>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317703-8B1D-402A-B896-832568959271}" type="slidenum">
              <a:rPr lang="en-US"/>
              <a:pPr/>
              <a:t>20</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xfrm>
            <a:off x="897890" y="4687253"/>
            <a:ext cx="4938395" cy="4440555"/>
          </a:xfrm>
        </p:spPr>
        <p:txBody>
          <a:bodyPr/>
          <a:lstStyle/>
          <a:p>
            <a:r>
              <a:rPr lang="fi-FI"/>
              <a:t>I think that it might be possible, that an agile-minded testing group works fine with a plan driven development effort, as it follows the development in an agile fashion, whereas plan-driven testing group can’t accommondate the change needed for development to be agile and testing useful. </a:t>
            </a:r>
            <a:endParaRPr lang="en-GB"/>
          </a:p>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DB5766-5B86-43F0-B72D-6CEEF1B2F516}" type="slidenum">
              <a:rPr lang="en-US"/>
              <a:pPr/>
              <a:t>21</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xfrm>
            <a:off x="897890" y="4687253"/>
            <a:ext cx="4938395" cy="4440555"/>
          </a:xfrm>
        </p:spPr>
        <p:txBody>
          <a:bodyPr/>
          <a:lstStyle/>
          <a:p>
            <a:r>
              <a:rPr lang="fi-FI"/>
              <a:t>I think that it might be possible, that an agile-minded testing group works fine with a plan driven development effort, as it follows the development in an agile fashion, whereas plan-driven testing group can’t accommondate the change needed for development to be agile and testing useful. </a:t>
            </a:r>
          </a:p>
          <a:p>
            <a:endParaRPr lang="fi-FI"/>
          </a:p>
          <a:p>
            <a:r>
              <a:rPr lang="fi-FI"/>
              <a:t>Juha’s extermnal – not try to connect to same rythm</a:t>
            </a:r>
            <a:endParaRPr lang="en-GB"/>
          </a:p>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4C443C2-6315-49E5-9F42-A59DB4100169}"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4C443C2-6315-49E5-9F42-A59DB4100169}"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2FEEA-F2C7-445F-BC8B-4F88D43BDD06}" type="slidenum">
              <a:rPr lang="en-GB"/>
              <a:pPr/>
              <a:t>24</a:t>
            </a:fld>
            <a:endParaRPr lang="en-GB"/>
          </a:p>
        </p:txBody>
      </p:sp>
      <p:sp>
        <p:nvSpPr>
          <p:cNvPr id="1098754" name="Rectangle 2"/>
          <p:cNvSpPr>
            <a:spLocks noGrp="1" noRot="1" noChangeAspect="1" noChangeArrowheads="1" noTextEdit="1"/>
          </p:cNvSpPr>
          <p:nvPr>
            <p:ph type="sldImg"/>
          </p:nvPr>
        </p:nvSpPr>
        <p:spPr>
          <a:ln/>
        </p:spPr>
      </p:sp>
      <p:sp>
        <p:nvSpPr>
          <p:cNvPr id="1098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A322ABE-ACB5-477C-AF5F-E90F627331B4}" type="slidenum">
              <a:rPr lang="en-GB" smtClean="0"/>
              <a:pPr/>
              <a:t>25</a:t>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26</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C947EE-F6F9-47C7-A8E6-8D41D986A2EE}" type="datetime1">
              <a:rPr lang="en-US" smtClean="0"/>
              <a:pPr/>
              <a:t>12/16/2013</a:t>
            </a:fld>
            <a:endParaRPr lang="en-US"/>
          </a:p>
        </p:txBody>
      </p:sp>
      <p:sp>
        <p:nvSpPr>
          <p:cNvPr id="5" name="Footer Placeholder 4"/>
          <p:cNvSpPr>
            <a:spLocks noGrp="1"/>
          </p:cNvSpPr>
          <p:nvPr>
            <p:ph type="ftr" sz="quarter" idx="11"/>
          </p:nvPr>
        </p:nvSpPr>
        <p:spPr/>
        <p:txBody>
          <a:bodyPr/>
          <a:lstStyle/>
          <a:p>
            <a:r>
              <a:rPr lang="en-US" smtClean="0"/>
              <a:t>Extras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73CBFF-775E-41AD-B4DB-FD34D5B39752}" type="datetime1">
              <a:rPr lang="en-US" smtClean="0"/>
              <a:pPr/>
              <a:t>12/16/2013</a:t>
            </a:fld>
            <a:endParaRPr lang="en-US"/>
          </a:p>
        </p:txBody>
      </p:sp>
      <p:sp>
        <p:nvSpPr>
          <p:cNvPr id="5" name="Footer Placeholder 4"/>
          <p:cNvSpPr>
            <a:spLocks noGrp="1"/>
          </p:cNvSpPr>
          <p:nvPr>
            <p:ph type="ftr" sz="quarter" idx="11"/>
          </p:nvPr>
        </p:nvSpPr>
        <p:spPr/>
        <p:txBody>
          <a:bodyPr/>
          <a:lstStyle/>
          <a:p>
            <a:r>
              <a:rPr lang="en-US" smtClean="0"/>
              <a:t>Extras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0556B09-9F1B-4F17-8EE2-E773C77C9404}" type="datetime1">
              <a:rPr lang="en-US" smtClean="0"/>
              <a:pPr/>
              <a:t>12/16/2013</a:t>
            </a:fld>
            <a:endParaRPr lang="en-US"/>
          </a:p>
        </p:txBody>
      </p:sp>
      <p:sp>
        <p:nvSpPr>
          <p:cNvPr id="5" name="Footer Placeholder 4"/>
          <p:cNvSpPr>
            <a:spLocks noGrp="1"/>
          </p:cNvSpPr>
          <p:nvPr>
            <p:ph type="ftr" sz="quarter" idx="11"/>
          </p:nvPr>
        </p:nvSpPr>
        <p:spPr/>
        <p:txBody>
          <a:bodyPr/>
          <a:lstStyle/>
          <a:p>
            <a:r>
              <a:rPr lang="en-US" smtClean="0"/>
              <a:t>Extras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DE52BE3-2C97-41B9-A54C-1A747CE058F7}" type="datetime1">
              <a:rPr lang="en-US" smtClean="0"/>
              <a:pPr/>
              <a:t>12/16/2013</a:t>
            </a:fld>
            <a:endParaRPr lang="en-US"/>
          </a:p>
        </p:txBody>
      </p:sp>
      <p:sp>
        <p:nvSpPr>
          <p:cNvPr id="6" name="Footer Placeholder 5"/>
          <p:cNvSpPr>
            <a:spLocks noGrp="1"/>
          </p:cNvSpPr>
          <p:nvPr>
            <p:ph type="ftr" sz="quarter" idx="11"/>
          </p:nvPr>
        </p:nvSpPr>
        <p:spPr/>
        <p:txBody>
          <a:bodyPr/>
          <a:lstStyle/>
          <a:p>
            <a:r>
              <a:rPr lang="en-US" smtClean="0"/>
              <a:t>Extras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E7ECFF-9B3C-435F-9D21-2833B16236BA}" type="datetime1">
              <a:rPr lang="en-US" smtClean="0"/>
              <a:pPr/>
              <a:t>12/16/2013</a:t>
            </a:fld>
            <a:endParaRPr lang="en-US"/>
          </a:p>
        </p:txBody>
      </p:sp>
      <p:sp>
        <p:nvSpPr>
          <p:cNvPr id="8" name="Footer Placeholder 7"/>
          <p:cNvSpPr>
            <a:spLocks noGrp="1"/>
          </p:cNvSpPr>
          <p:nvPr>
            <p:ph type="ftr" sz="quarter" idx="11"/>
          </p:nvPr>
        </p:nvSpPr>
        <p:spPr/>
        <p:txBody>
          <a:bodyPr/>
          <a:lstStyle/>
          <a:p>
            <a:r>
              <a:rPr lang="en-US" smtClean="0"/>
              <a:t>Extras</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2B22287-3953-459C-BCCE-8594FCBC79E6}" type="datetime1">
              <a:rPr lang="en-US" smtClean="0"/>
              <a:pPr/>
              <a:t>12/16/2013</a:t>
            </a:fld>
            <a:endParaRPr lang="en-US"/>
          </a:p>
        </p:txBody>
      </p:sp>
      <p:sp>
        <p:nvSpPr>
          <p:cNvPr id="4" name="Footer Placeholder 3"/>
          <p:cNvSpPr>
            <a:spLocks noGrp="1"/>
          </p:cNvSpPr>
          <p:nvPr>
            <p:ph type="ftr" sz="quarter" idx="11"/>
          </p:nvPr>
        </p:nvSpPr>
        <p:spPr/>
        <p:txBody>
          <a:bodyPr/>
          <a:lstStyle/>
          <a:p>
            <a:r>
              <a:rPr lang="en-US" smtClean="0"/>
              <a:t>Extras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4CAAE1-0905-4745-9DF0-CD2FEDF523EE}" type="datetime1">
              <a:rPr lang="en-US" smtClean="0"/>
              <a:pPr/>
              <a:t>12/16/2013</a:t>
            </a:fld>
            <a:endParaRPr lang="en-US"/>
          </a:p>
        </p:txBody>
      </p:sp>
      <p:sp>
        <p:nvSpPr>
          <p:cNvPr id="3" name="Footer Placeholder 2"/>
          <p:cNvSpPr>
            <a:spLocks noGrp="1"/>
          </p:cNvSpPr>
          <p:nvPr>
            <p:ph type="ftr" sz="quarter" idx="11"/>
          </p:nvPr>
        </p:nvSpPr>
        <p:spPr/>
        <p:txBody>
          <a:bodyPr/>
          <a:lstStyle/>
          <a:p>
            <a:r>
              <a:rPr lang="en-US" smtClean="0"/>
              <a:t>Extras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E05DD8-1407-4FE8-8AD6-054EDD81F0E5}" type="datetime1">
              <a:rPr lang="en-US" smtClean="0"/>
              <a:pPr/>
              <a:t>12/16/2013</a:t>
            </a:fld>
            <a:endParaRPr lang="en-US"/>
          </a:p>
        </p:txBody>
      </p:sp>
      <p:sp>
        <p:nvSpPr>
          <p:cNvPr id="6" name="Footer Placeholder 5"/>
          <p:cNvSpPr>
            <a:spLocks noGrp="1"/>
          </p:cNvSpPr>
          <p:nvPr>
            <p:ph type="ftr" sz="quarter" idx="11"/>
          </p:nvPr>
        </p:nvSpPr>
        <p:spPr/>
        <p:txBody>
          <a:bodyPr/>
          <a:lstStyle/>
          <a:p>
            <a:r>
              <a:rPr lang="en-US" smtClean="0"/>
              <a:t>Extras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83C5C6-B209-4E61-A1F0-7F2E93A5C9DE}" type="datetime1">
              <a:rPr lang="en-US" smtClean="0"/>
              <a:pPr/>
              <a:t>12/16/2013</a:t>
            </a:fld>
            <a:endParaRPr lang="en-US"/>
          </a:p>
        </p:txBody>
      </p:sp>
      <p:sp>
        <p:nvSpPr>
          <p:cNvPr id="6" name="Footer Placeholder 5"/>
          <p:cNvSpPr>
            <a:spLocks noGrp="1"/>
          </p:cNvSpPr>
          <p:nvPr>
            <p:ph type="ftr" sz="quarter" idx="11"/>
          </p:nvPr>
        </p:nvSpPr>
        <p:spPr/>
        <p:txBody>
          <a:bodyPr/>
          <a:lstStyle/>
          <a:p>
            <a:r>
              <a:rPr lang="en-US" smtClean="0"/>
              <a:t>Extras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CE5C02-AC9D-4141-A209-B34C1B2B773E}" type="datetime1">
              <a:rPr lang="en-US" smtClean="0"/>
              <a:pPr/>
              <a:t>12/16/2013</a:t>
            </a:fld>
            <a:endParaRPr lang="en-US"/>
          </a:p>
        </p:txBody>
      </p:sp>
      <p:sp>
        <p:nvSpPr>
          <p:cNvPr id="5" name="Footer Placeholder 4"/>
          <p:cNvSpPr>
            <a:spLocks noGrp="1"/>
          </p:cNvSpPr>
          <p:nvPr>
            <p:ph type="ftr" sz="quarter" idx="11"/>
          </p:nvPr>
        </p:nvSpPr>
        <p:spPr/>
        <p:txBody>
          <a:bodyPr/>
          <a:lstStyle/>
          <a:p>
            <a:r>
              <a:rPr lang="en-US" smtClean="0"/>
              <a:t>Extras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29364C-DC93-46FC-8966-15D5595668BB}" type="datetime1">
              <a:rPr lang="en-US" smtClean="0"/>
              <a:pPr/>
              <a:t>12/16/2013</a:t>
            </a:fld>
            <a:endParaRPr lang="en-US"/>
          </a:p>
        </p:txBody>
      </p:sp>
      <p:sp>
        <p:nvSpPr>
          <p:cNvPr id="5" name="Footer Placeholder 4"/>
          <p:cNvSpPr>
            <a:spLocks noGrp="1"/>
          </p:cNvSpPr>
          <p:nvPr>
            <p:ph type="ftr" sz="quarter" idx="11"/>
          </p:nvPr>
        </p:nvSpPr>
        <p:spPr/>
        <p:txBody>
          <a:bodyPr/>
          <a:lstStyle/>
          <a:p>
            <a:r>
              <a:rPr lang="en-US" smtClean="0"/>
              <a:t>Extras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143000"/>
          </a:xfrm>
        </p:spPr>
        <p:txBody>
          <a:bodyPr/>
          <a:lstStyle/>
          <a:p>
            <a:r>
              <a:rPr lang="en-US" smtClean="0"/>
              <a:t>Click to edit Master title style</a:t>
            </a:r>
            <a:endParaRPr lang="fi-FI"/>
          </a:p>
        </p:txBody>
      </p:sp>
      <p:sp>
        <p:nvSpPr>
          <p:cNvPr id="3" name="Table Placeholder 2"/>
          <p:cNvSpPr>
            <a:spLocks noGrp="1"/>
          </p:cNvSpPr>
          <p:nvPr>
            <p:ph type="tbl" idx="1"/>
          </p:nvPr>
        </p:nvSpPr>
        <p:spPr>
          <a:xfrm>
            <a:off x="685800" y="1371600"/>
            <a:ext cx="7772400" cy="5029200"/>
          </a:xfrm>
        </p:spPr>
        <p:txBody>
          <a:bodyPr/>
          <a:lstStyle/>
          <a:p>
            <a:endParaRPr lang="fi-FI"/>
          </a:p>
        </p:txBody>
      </p:sp>
      <p:sp>
        <p:nvSpPr>
          <p:cNvPr id="4" name="Date Placeholder 3"/>
          <p:cNvSpPr>
            <a:spLocks noGrp="1"/>
          </p:cNvSpPr>
          <p:nvPr>
            <p:ph type="dt" sz="half" idx="10"/>
          </p:nvPr>
        </p:nvSpPr>
        <p:spPr>
          <a:xfrm>
            <a:off x="2819400" y="6553200"/>
            <a:ext cx="3429000" cy="152400"/>
          </a:xfrm>
        </p:spPr>
        <p:txBody>
          <a:bodyPr/>
          <a:lstStyle>
            <a:lvl1pPr>
              <a:defRPr/>
            </a:lvl1pPr>
          </a:lstStyle>
          <a:p>
            <a:fld id="{3948F56E-43BF-408A-8083-D2EE186C885D}" type="datetime1">
              <a:rPr lang="en-US" smtClean="0"/>
              <a:pPr/>
              <a:t>12/16/2013</a:t>
            </a:fld>
            <a:endParaRPr lang="en-US"/>
          </a:p>
        </p:txBody>
      </p:sp>
      <p:sp>
        <p:nvSpPr>
          <p:cNvPr id="5" name="Slide Number Placeholder 4"/>
          <p:cNvSpPr>
            <a:spLocks noGrp="1"/>
          </p:cNvSpPr>
          <p:nvPr>
            <p:ph type="sldNum" sz="quarter" idx="11"/>
          </p:nvPr>
        </p:nvSpPr>
        <p:spPr>
          <a:xfrm>
            <a:off x="6553200" y="6553200"/>
            <a:ext cx="1905000" cy="152400"/>
          </a:xfrm>
        </p:spPr>
        <p:txBody>
          <a:bodyPr/>
          <a:lstStyle>
            <a:lvl1pPr>
              <a:defRPr/>
            </a:lvl1pPr>
          </a:lstStyle>
          <a:p>
            <a:fld id="{BE1B1E6B-0BAA-43EA-8D22-DA929425F976}"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9C254-BB4F-4080-9A4A-86C6F9CE95CE}" type="datetime1">
              <a:rPr lang="en-US" smtClean="0"/>
              <a:pPr/>
              <a:t>12/16/2013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Extras</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wmf"/><Relationship Id="rId5" Type="http://schemas.openxmlformats.org/officeDocument/2006/relationships/hyperlink" Target="http://creativecommons.org/licenses/by/1.0/fi/deed.en" TargetMode="External"/><Relationship Id="rId4" Type="http://schemas.openxmlformats.org/officeDocument/2006/relationships/hyperlink" Target="http://creativecommons.org/licenses/by/1.0/f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Testing and Agile – MORE </a:t>
            </a:r>
            <a:br>
              <a:rPr lang="fi-FI" dirty="0" smtClean="0"/>
            </a:br>
            <a:r>
              <a:rPr lang="fi-FI" dirty="0" smtClean="0"/>
              <a:t>STUFF</a:t>
            </a:r>
            <a:endParaRPr lang="fi-FI" dirty="0"/>
          </a:p>
        </p:txBody>
      </p:sp>
      <p:sp>
        <p:nvSpPr>
          <p:cNvPr id="3" name="Text Placeholder 2"/>
          <p:cNvSpPr>
            <a:spLocks noGrp="1"/>
          </p:cNvSpPr>
          <p:nvPr>
            <p:ph type="body" idx="1"/>
          </p:nvPr>
        </p:nvSpPr>
        <p:spPr/>
        <p:txBody>
          <a:bodyPr/>
          <a:lstStyle/>
          <a:p>
            <a:r>
              <a:rPr lang="fi-FI" dirty="0" smtClean="0"/>
              <a:t>Agile and Testing is not quite the same as Agile Testing</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026" name="Picture 2" descr="C:\Documents and Settings\Maaret\My Documents\My Pictures\Microsoft Clip Organizer\j0078791.wmf"/>
          <p:cNvPicPr>
            <a:picLocks noChangeAspect="1" noChangeArrowheads="1"/>
          </p:cNvPicPr>
          <p:nvPr/>
        </p:nvPicPr>
        <p:blipFill>
          <a:blip r:embed="rId6" cstate="print"/>
          <a:srcRect/>
          <a:stretch>
            <a:fillRect/>
          </a:stretch>
        </p:blipFill>
        <p:spPr bwMode="auto">
          <a:xfrm>
            <a:off x="6477000" y="228600"/>
            <a:ext cx="2308225" cy="4569343"/>
          </a:xfrm>
          <a:prstGeom prst="rect">
            <a:avLst/>
          </a:prstGeom>
          <a:noFill/>
        </p:spPr>
      </p:pic>
      <p:sp>
        <p:nvSpPr>
          <p:cNvPr id="11" name="TextBox 10"/>
          <p:cNvSpPr txBox="1"/>
          <p:nvPr/>
        </p:nvSpPr>
        <p:spPr>
          <a:xfrm>
            <a:off x="228600" y="152400"/>
            <a:ext cx="5638800" cy="984885"/>
          </a:xfrm>
          <a:prstGeom prst="rect">
            <a:avLst/>
          </a:prstGeom>
          <a:noFill/>
        </p:spPr>
        <p:txBody>
          <a:bodyPr wrap="square" rtlCol="0">
            <a:spAutoFit/>
          </a:bodyPr>
          <a:lstStyle/>
          <a:p>
            <a:r>
              <a:rPr lang="fi-FI" sz="4000" b="1" dirty="0" smtClean="0">
                <a:solidFill>
                  <a:schemeClr val="accent1"/>
                </a:solidFill>
                <a:latin typeface="Freestyle Script" pitchFamily="66" charset="0"/>
                <a:cs typeface="Tunga" pitchFamily="2" charset="0"/>
              </a:rPr>
              <a:t>Ketterä testaus</a:t>
            </a:r>
          </a:p>
          <a:p>
            <a:r>
              <a:rPr lang="fi-FI" b="1" dirty="0" smtClean="0">
                <a:solidFill>
                  <a:schemeClr val="accent1"/>
                </a:solidFill>
                <a:latin typeface="Freestyle Script" pitchFamily="66" charset="0"/>
                <a:cs typeface="Tunga" pitchFamily="2" charset="0"/>
              </a:rPr>
              <a:t>v.13 (2011-04)</a:t>
            </a:r>
            <a:endParaRPr lang="fi-FI" sz="1600" b="1" dirty="0">
              <a:solidFill>
                <a:schemeClr val="accent1"/>
              </a:solidFill>
              <a:latin typeface="Freestyle Script" pitchFamily="66" charset="0"/>
              <a:cs typeface="Tunga"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What is Agile </a:t>
            </a:r>
            <a:br>
              <a:rPr lang="fi-FI" dirty="0" smtClean="0"/>
            </a:br>
            <a:r>
              <a:rPr lang="fi-FI" dirty="0" smtClean="0"/>
              <a:t>Testing</a:t>
            </a:r>
            <a:endParaRPr lang="fi-FI" dirty="0"/>
          </a:p>
        </p:txBody>
      </p:sp>
      <p:sp>
        <p:nvSpPr>
          <p:cNvPr id="3" name="Content Placeholder 2"/>
          <p:cNvSpPr>
            <a:spLocks noGrp="1"/>
          </p:cNvSpPr>
          <p:nvPr>
            <p:ph idx="1"/>
          </p:nvPr>
        </p:nvSpPr>
        <p:spPr/>
        <p:txBody>
          <a:bodyPr>
            <a:normAutofit/>
          </a:bodyPr>
          <a:lstStyle/>
          <a:p>
            <a:r>
              <a:rPr lang="en-US" dirty="0" smtClean="0"/>
              <a:t>Testing practice that follows the agile manifesto, treating development as the </a:t>
            </a:r>
            <a:r>
              <a:rPr lang="fi-FI" dirty="0" smtClean="0"/>
              <a:t>customer of testing</a:t>
            </a:r>
          </a:p>
          <a:p>
            <a:pPr lvl="1"/>
            <a:r>
              <a:rPr lang="en-US" dirty="0" smtClean="0"/>
              <a:t>In this light the context-driven manifesto provides a set of principles for agile testing</a:t>
            </a:r>
          </a:p>
          <a:p>
            <a:r>
              <a:rPr lang="en-US" dirty="0" smtClean="0"/>
              <a:t>Testing practice for projects using agile </a:t>
            </a:r>
            <a:r>
              <a:rPr lang="fi-FI" dirty="0" smtClean="0"/>
              <a:t>methodologies.</a:t>
            </a:r>
          </a:p>
          <a:p>
            <a:pPr lvl="1"/>
            <a:r>
              <a:rPr lang="en-US" dirty="0" smtClean="0"/>
              <a:t>What is the role of the tester on an agile project?</a:t>
            </a:r>
            <a:endParaRPr lang="fi-FI" dirty="0"/>
          </a:p>
        </p:txBody>
      </p:sp>
      <p:sp>
        <p:nvSpPr>
          <p:cNvPr id="4" name="Rectangle 4"/>
          <p:cNvSpPr>
            <a:spLocks noChangeArrowheads="1"/>
          </p:cNvSpPr>
          <p:nvPr/>
        </p:nvSpPr>
        <p:spPr bwMode="auto">
          <a:xfrm>
            <a:off x="6553200" y="457200"/>
            <a:ext cx="2514600" cy="914400"/>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46800" rIns="90000" bIns="46800" anchor="ctr"/>
          <a:lstStyle/>
          <a:p>
            <a:pPr algn="ctr"/>
            <a:r>
              <a:rPr lang="en-GB" b="1" dirty="0"/>
              <a:t>My definition: Any testing that fits the Agile Values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Value of Testing</a:t>
            </a:r>
            <a:endParaRPr lang="fi-FI" dirty="0"/>
          </a:p>
        </p:txBody>
      </p:sp>
      <p:sp>
        <p:nvSpPr>
          <p:cNvPr id="6" name="Content Placeholder 5"/>
          <p:cNvSpPr>
            <a:spLocks noGrp="1"/>
          </p:cNvSpPr>
          <p:nvPr>
            <p:ph idx="1"/>
          </p:nvPr>
        </p:nvSpPr>
        <p:spPr/>
        <p:txBody>
          <a:bodyPr>
            <a:normAutofit lnSpcReduction="10000"/>
          </a:bodyPr>
          <a:lstStyle/>
          <a:p>
            <a:r>
              <a:rPr lang="fi-FI" dirty="0" smtClean="0"/>
              <a:t>Testing provides </a:t>
            </a:r>
            <a:r>
              <a:rPr lang="fi-FI" b="1" dirty="0" smtClean="0"/>
              <a:t>information </a:t>
            </a:r>
            <a:r>
              <a:rPr lang="fi-FI" dirty="0" smtClean="0"/>
              <a:t>about the status of software and system under development to inform decisions</a:t>
            </a:r>
          </a:p>
          <a:p>
            <a:endParaRPr lang="fi-FI" sz="2200" dirty="0" smtClean="0"/>
          </a:p>
          <a:p>
            <a:r>
              <a:rPr lang="fi-FI" dirty="0" smtClean="0"/>
              <a:t>The deliverable from testing is not ”tested software”</a:t>
            </a:r>
          </a:p>
          <a:p>
            <a:pPr lvl="1"/>
            <a:r>
              <a:rPr lang="fi-FI" dirty="0" smtClean="0"/>
              <a:t>The information about status from various angles has relevance throughout the development</a:t>
            </a:r>
          </a:p>
          <a:p>
            <a:pPr lvl="1"/>
            <a:r>
              <a:rPr lang="fi-FI" dirty="0" smtClean="0"/>
              <a:t>Quantity and Quality cannot really be completely separed in software readiness</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Role of Testing</a:t>
            </a:r>
            <a:br>
              <a:rPr lang="fi-FI" dirty="0" smtClean="0"/>
            </a:br>
            <a:r>
              <a:rPr lang="fi-FI" sz="1300" dirty="0" smtClean="0"/>
              <a:t>Source: Kaner, Bach, Pettichord: Lessons Learned in Software Testing</a:t>
            </a:r>
            <a:endParaRPr lang="fi-FI" sz="1300" dirty="0"/>
          </a:p>
        </p:txBody>
      </p:sp>
      <p:sp>
        <p:nvSpPr>
          <p:cNvPr id="3" name="Content Placeholder 2"/>
          <p:cNvSpPr>
            <a:spLocks noGrp="1"/>
          </p:cNvSpPr>
          <p:nvPr>
            <p:ph idx="1"/>
          </p:nvPr>
        </p:nvSpPr>
        <p:spPr/>
        <p:txBody>
          <a:bodyPr>
            <a:normAutofit lnSpcReduction="10000"/>
          </a:bodyPr>
          <a:lstStyle/>
          <a:p>
            <a:r>
              <a:rPr lang="fi-FI" dirty="0" smtClean="0"/>
              <a:t>”Testing is the headlights of the project”</a:t>
            </a:r>
          </a:p>
          <a:p>
            <a:pPr lvl="1"/>
            <a:r>
              <a:rPr lang="fi-FI" dirty="0" smtClean="0"/>
              <a:t>Knowing where you are and where you’re heading</a:t>
            </a:r>
          </a:p>
          <a:p>
            <a:r>
              <a:rPr lang="fi-FI" dirty="0" smtClean="0"/>
              <a:t>Testing provides information for the team</a:t>
            </a:r>
          </a:p>
          <a:p>
            <a:pPr lvl="1"/>
            <a:r>
              <a:rPr lang="fi-FI" dirty="0" smtClean="0"/>
              <a:t>Allows team to make informed decisions</a:t>
            </a:r>
          </a:p>
          <a:p>
            <a:r>
              <a:rPr lang="fi-FI" dirty="0" smtClean="0"/>
              <a:t>”A bug is anything that could bug a user”</a:t>
            </a:r>
          </a:p>
          <a:p>
            <a:pPr lvl="1"/>
            <a:r>
              <a:rPr lang="fi-FI" dirty="0" smtClean="0"/>
              <a:t>Testers don’t decide but provide information</a:t>
            </a:r>
          </a:p>
          <a:p>
            <a:r>
              <a:rPr lang="fi-FI" dirty="0" smtClean="0"/>
              <a:t>Testing is not just finding bugs</a:t>
            </a:r>
          </a:p>
          <a:p>
            <a:pPr lvl="1"/>
            <a:r>
              <a:rPr lang="fi-FI" dirty="0" smtClean="0"/>
              <a:t>Finding ways of setting quality goals instead of just focusing on mistakes</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2770" name="Rectangle 2"/>
          <p:cNvSpPr>
            <a:spLocks noGrp="1" noChangeArrowheads="1"/>
          </p:cNvSpPr>
          <p:nvPr>
            <p:ph type="title"/>
          </p:nvPr>
        </p:nvSpPr>
        <p:spPr/>
        <p:txBody>
          <a:bodyPr/>
          <a:lstStyle/>
          <a:p>
            <a:r>
              <a:rPr lang="fi-FI"/>
              <a:t>Thinking like a Tester</a:t>
            </a:r>
            <a:endParaRPr lang="en-GB"/>
          </a:p>
        </p:txBody>
      </p:sp>
      <p:sp>
        <p:nvSpPr>
          <p:cNvPr id="1312771" name="Text Box 3"/>
          <p:cNvSpPr txBox="1">
            <a:spLocks noChangeArrowheads="1"/>
          </p:cNvSpPr>
          <p:nvPr/>
        </p:nvSpPr>
        <p:spPr bwMode="auto">
          <a:xfrm>
            <a:off x="0" y="2381280"/>
            <a:ext cx="16764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Conjecture and refutation</a:t>
            </a:r>
            <a:endParaRPr lang="en-GB"/>
          </a:p>
        </p:txBody>
      </p:sp>
      <p:sp>
        <p:nvSpPr>
          <p:cNvPr id="1312772" name="Text Box 4"/>
          <p:cNvSpPr txBox="1">
            <a:spLocks noChangeArrowheads="1"/>
          </p:cNvSpPr>
          <p:nvPr/>
        </p:nvSpPr>
        <p:spPr bwMode="auto">
          <a:xfrm>
            <a:off x="457200" y="3019455"/>
            <a:ext cx="22098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Summarizing based partial evidence</a:t>
            </a:r>
            <a:endParaRPr lang="en-GB"/>
          </a:p>
        </p:txBody>
      </p:sp>
      <p:sp>
        <p:nvSpPr>
          <p:cNvPr id="1312773" name="Text Box 5"/>
          <p:cNvSpPr txBox="1">
            <a:spLocks noChangeArrowheads="1"/>
          </p:cNvSpPr>
          <p:nvPr/>
        </p:nvSpPr>
        <p:spPr bwMode="auto">
          <a:xfrm>
            <a:off x="6705600" y="2135218"/>
            <a:ext cx="2209800" cy="366712"/>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Technical thinking</a:t>
            </a:r>
            <a:endParaRPr lang="en-GB"/>
          </a:p>
        </p:txBody>
      </p:sp>
      <p:sp>
        <p:nvSpPr>
          <p:cNvPr id="1312774" name="Text Box 6"/>
          <p:cNvSpPr txBox="1">
            <a:spLocks noChangeArrowheads="1"/>
          </p:cNvSpPr>
          <p:nvPr/>
        </p:nvSpPr>
        <p:spPr bwMode="auto">
          <a:xfrm>
            <a:off x="6172200" y="2501930"/>
            <a:ext cx="2209800" cy="366713"/>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Creative thinking</a:t>
            </a:r>
            <a:endParaRPr lang="en-GB"/>
          </a:p>
        </p:txBody>
      </p:sp>
      <p:sp>
        <p:nvSpPr>
          <p:cNvPr id="1312775" name="Text Box 7"/>
          <p:cNvSpPr txBox="1">
            <a:spLocks noChangeArrowheads="1"/>
          </p:cNvSpPr>
          <p:nvPr/>
        </p:nvSpPr>
        <p:spPr bwMode="auto">
          <a:xfrm>
            <a:off x="6477000" y="2882930"/>
            <a:ext cx="2209800" cy="366713"/>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Critical thinking</a:t>
            </a:r>
            <a:endParaRPr lang="en-GB"/>
          </a:p>
        </p:txBody>
      </p:sp>
      <p:sp>
        <p:nvSpPr>
          <p:cNvPr id="1312776" name="Text Box 8"/>
          <p:cNvSpPr txBox="1">
            <a:spLocks noChangeArrowheads="1"/>
          </p:cNvSpPr>
          <p:nvPr/>
        </p:nvSpPr>
        <p:spPr bwMode="auto">
          <a:xfrm>
            <a:off x="6324600" y="3263930"/>
            <a:ext cx="2209800" cy="366713"/>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Practical thinking</a:t>
            </a:r>
            <a:endParaRPr lang="en-GB"/>
          </a:p>
        </p:txBody>
      </p:sp>
      <p:sp>
        <p:nvSpPr>
          <p:cNvPr id="1312777" name="Text Box 9"/>
          <p:cNvSpPr txBox="1">
            <a:spLocks noChangeArrowheads="1"/>
          </p:cNvSpPr>
          <p:nvPr/>
        </p:nvSpPr>
        <p:spPr bwMode="auto">
          <a:xfrm>
            <a:off x="6324600" y="4529168"/>
            <a:ext cx="2209800" cy="366712"/>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Recognize biases</a:t>
            </a:r>
            <a:endParaRPr lang="en-GB"/>
          </a:p>
        </p:txBody>
      </p:sp>
      <p:sp>
        <p:nvSpPr>
          <p:cNvPr id="1312778" name="Text Box 10"/>
          <p:cNvSpPr txBox="1">
            <a:spLocks noChangeArrowheads="1"/>
          </p:cNvSpPr>
          <p:nvPr/>
        </p:nvSpPr>
        <p:spPr bwMode="auto">
          <a:xfrm>
            <a:off x="381000" y="4362480"/>
            <a:ext cx="22098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Making models – mental and physical</a:t>
            </a:r>
            <a:endParaRPr lang="en-GB"/>
          </a:p>
        </p:txBody>
      </p:sp>
      <p:sp>
        <p:nvSpPr>
          <p:cNvPr id="1312779" name="Text Box 11"/>
          <p:cNvSpPr txBox="1">
            <a:spLocks noChangeArrowheads="1"/>
          </p:cNvSpPr>
          <p:nvPr/>
        </p:nvSpPr>
        <p:spPr bwMode="auto">
          <a:xfrm>
            <a:off x="1371600" y="1752600"/>
            <a:ext cx="2133600" cy="915987"/>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dirty="0" err="1"/>
              <a:t>Knowing</a:t>
            </a:r>
            <a:r>
              <a:rPr lang="fi-FI" dirty="0"/>
              <a:t> </a:t>
            </a:r>
            <a:r>
              <a:rPr lang="fi-FI" dirty="0" err="1"/>
              <a:t>how</a:t>
            </a:r>
            <a:r>
              <a:rPr lang="fi-FI" dirty="0"/>
              <a:t> </a:t>
            </a:r>
            <a:r>
              <a:rPr lang="fi-FI" dirty="0" err="1"/>
              <a:t>we</a:t>
            </a:r>
            <a:r>
              <a:rPr lang="fi-FI" dirty="0"/>
              <a:t> </a:t>
            </a:r>
            <a:r>
              <a:rPr lang="fi-FI" dirty="0" err="1"/>
              <a:t>know</a:t>
            </a:r>
            <a:r>
              <a:rPr lang="fi-FI" dirty="0"/>
              <a:t> </a:t>
            </a:r>
            <a:r>
              <a:rPr lang="fi-FI" dirty="0" err="1"/>
              <a:t>what</a:t>
            </a:r>
            <a:r>
              <a:rPr lang="fi-FI" dirty="0"/>
              <a:t> </a:t>
            </a:r>
            <a:r>
              <a:rPr lang="fi-FI" dirty="0" err="1"/>
              <a:t>we</a:t>
            </a:r>
            <a:r>
              <a:rPr lang="fi-FI" dirty="0"/>
              <a:t> </a:t>
            </a:r>
            <a:r>
              <a:rPr lang="fi-FI" dirty="0" err="1"/>
              <a:t>know</a:t>
            </a:r>
            <a:endParaRPr lang="en-GB" dirty="0"/>
          </a:p>
        </p:txBody>
      </p:sp>
      <p:grpSp>
        <p:nvGrpSpPr>
          <p:cNvPr id="2" name="Group 12"/>
          <p:cNvGrpSpPr>
            <a:grpSpLocks/>
          </p:cNvGrpSpPr>
          <p:nvPr/>
        </p:nvGrpSpPr>
        <p:grpSpPr bwMode="auto">
          <a:xfrm>
            <a:off x="285720" y="2428868"/>
            <a:ext cx="8572565" cy="4357719"/>
            <a:chOff x="-100" y="1080"/>
            <a:chExt cx="5840" cy="3192"/>
          </a:xfrm>
        </p:grpSpPr>
        <p:pic>
          <p:nvPicPr>
            <p:cNvPr id="1312781" name="Picture 13" descr="C:\Documents and Settings\pyhama\Application Data\Microsoft\Media Catalog\Downloaded Clips\cl0\hm00350_.wmf"/>
            <p:cNvPicPr>
              <a:picLocks noChangeAspect="1" noChangeArrowheads="1"/>
            </p:cNvPicPr>
            <p:nvPr/>
          </p:nvPicPr>
          <p:blipFill>
            <a:blip r:embed="rId3" cstate="print"/>
            <a:srcRect/>
            <a:stretch>
              <a:fillRect/>
            </a:stretch>
          </p:blipFill>
          <p:spPr bwMode="auto">
            <a:xfrm>
              <a:off x="1736" y="1080"/>
              <a:ext cx="2248" cy="2568"/>
            </a:xfrm>
            <a:prstGeom prst="rect">
              <a:avLst/>
            </a:prstGeom>
            <a:noFill/>
          </p:spPr>
        </p:pic>
        <p:sp>
          <p:nvSpPr>
            <p:cNvPr id="1312782" name="Rectangle 14"/>
            <p:cNvSpPr>
              <a:spLocks noChangeArrowheads="1"/>
            </p:cNvSpPr>
            <p:nvPr/>
          </p:nvSpPr>
          <p:spPr bwMode="auto">
            <a:xfrm>
              <a:off x="-100" y="2964"/>
              <a:ext cx="1849" cy="1256"/>
            </a:xfrm>
            <a:prstGeom prst="rect">
              <a:avLst/>
            </a:prstGeom>
            <a:solidFill>
              <a:schemeClr val="accent1"/>
            </a:solidFill>
            <a:ln w="12700">
              <a:noFill/>
              <a:miter lim="800000"/>
              <a:headEnd/>
              <a:tailEnd/>
            </a:ln>
            <a:effectLst/>
          </p:spPr>
          <p:txBody>
            <a:bodyPr wrap="none" lIns="90000" tIns="46800" rIns="90000" bIns="46800" anchor="ctr"/>
            <a:lstStyle/>
            <a:p>
              <a:pPr algn="ctr"/>
              <a:r>
                <a:rPr lang="fi-FI" sz="1600" b="1" dirty="0" err="1">
                  <a:solidFill>
                    <a:schemeClr val="bg1"/>
                  </a:solidFill>
                </a:rPr>
                <a:t>Left</a:t>
              </a:r>
              <a:r>
                <a:rPr lang="fi-FI" sz="1600" b="1" dirty="0">
                  <a:solidFill>
                    <a:schemeClr val="bg1"/>
                  </a:solidFill>
                </a:rPr>
                <a:t> </a:t>
              </a:r>
              <a:r>
                <a:rPr lang="fi-FI" sz="1600" b="1" dirty="0" err="1">
                  <a:solidFill>
                    <a:schemeClr val="bg1"/>
                  </a:solidFill>
                </a:rPr>
                <a:t>brain</a:t>
              </a:r>
              <a:endParaRPr lang="fi-FI" sz="1600" b="1" dirty="0">
                <a:solidFill>
                  <a:schemeClr val="bg1"/>
                </a:solidFill>
              </a:endParaRPr>
            </a:p>
            <a:p>
              <a:pPr algn="ctr">
                <a:buFontTx/>
                <a:buChar char="•"/>
              </a:pPr>
              <a:r>
                <a:rPr lang="en-GB" sz="1600" b="1" dirty="0">
                  <a:solidFill>
                    <a:schemeClr val="bg1"/>
                  </a:solidFill>
                </a:rPr>
                <a:t> </a:t>
              </a:r>
              <a:r>
                <a:rPr lang="en-GB" sz="1600" dirty="0">
                  <a:solidFill>
                    <a:schemeClr val="bg1"/>
                  </a:solidFill>
                </a:rPr>
                <a:t>Logical</a:t>
              </a:r>
            </a:p>
            <a:p>
              <a:pPr algn="ctr">
                <a:buFontTx/>
                <a:buChar char="•"/>
              </a:pPr>
              <a:r>
                <a:rPr lang="en-GB" sz="1600" dirty="0">
                  <a:solidFill>
                    <a:schemeClr val="bg1"/>
                  </a:solidFill>
                </a:rPr>
                <a:t> Sequential</a:t>
              </a:r>
            </a:p>
            <a:p>
              <a:pPr algn="ctr">
                <a:buFontTx/>
                <a:buChar char="•"/>
              </a:pPr>
              <a:r>
                <a:rPr lang="en-GB" sz="1600" dirty="0">
                  <a:solidFill>
                    <a:schemeClr val="bg1"/>
                  </a:solidFill>
                </a:rPr>
                <a:t> Rational</a:t>
              </a:r>
            </a:p>
            <a:p>
              <a:pPr algn="ctr">
                <a:buFontTx/>
                <a:buChar char="•"/>
              </a:pPr>
              <a:r>
                <a:rPr lang="en-GB" sz="1600" dirty="0">
                  <a:solidFill>
                    <a:schemeClr val="bg1"/>
                  </a:solidFill>
                </a:rPr>
                <a:t> Analytical</a:t>
              </a:r>
            </a:p>
            <a:p>
              <a:pPr algn="ctr">
                <a:buFontTx/>
                <a:buChar char="•"/>
              </a:pPr>
              <a:r>
                <a:rPr lang="en-GB" sz="1600" dirty="0">
                  <a:solidFill>
                    <a:schemeClr val="bg1"/>
                  </a:solidFill>
                </a:rPr>
                <a:t> Objective</a:t>
              </a:r>
            </a:p>
            <a:p>
              <a:pPr algn="ctr">
                <a:buFontTx/>
                <a:buChar char="•"/>
              </a:pPr>
              <a:r>
                <a:rPr lang="en-GB" sz="1600" dirty="0">
                  <a:solidFill>
                    <a:schemeClr val="bg1"/>
                  </a:solidFill>
                </a:rPr>
                <a:t> Looks at parts</a:t>
              </a:r>
            </a:p>
          </p:txBody>
        </p:sp>
        <p:sp>
          <p:nvSpPr>
            <p:cNvPr id="1312783" name="Rectangle 15"/>
            <p:cNvSpPr>
              <a:spLocks noChangeArrowheads="1"/>
            </p:cNvSpPr>
            <p:nvPr/>
          </p:nvSpPr>
          <p:spPr bwMode="auto">
            <a:xfrm>
              <a:off x="3891" y="2964"/>
              <a:ext cx="1849" cy="1256"/>
            </a:xfrm>
            <a:prstGeom prst="rect">
              <a:avLst/>
            </a:prstGeom>
            <a:solidFill>
              <a:schemeClr val="accent1"/>
            </a:solidFill>
            <a:ln w="12700">
              <a:noFill/>
              <a:miter lim="800000"/>
              <a:headEnd/>
              <a:tailEnd/>
            </a:ln>
            <a:effectLst/>
          </p:spPr>
          <p:txBody>
            <a:bodyPr wrap="none" lIns="90000" tIns="46800" rIns="90000" bIns="46800" anchor="ctr"/>
            <a:lstStyle/>
            <a:p>
              <a:pPr algn="ctr"/>
              <a:r>
                <a:rPr lang="fi-FI" sz="1600" b="1">
                  <a:solidFill>
                    <a:schemeClr val="bg1"/>
                  </a:solidFill>
                </a:rPr>
                <a:t>Right brain</a:t>
              </a:r>
            </a:p>
            <a:p>
              <a:pPr algn="ctr">
                <a:buFontTx/>
                <a:buChar char="•"/>
              </a:pPr>
              <a:r>
                <a:rPr lang="en-GB" sz="1600" b="1">
                  <a:solidFill>
                    <a:schemeClr val="bg1"/>
                  </a:solidFill>
                </a:rPr>
                <a:t> </a:t>
              </a:r>
              <a:r>
                <a:rPr lang="en-GB" sz="1600">
                  <a:solidFill>
                    <a:schemeClr val="bg1"/>
                  </a:solidFill>
                </a:rPr>
                <a:t>Random</a:t>
              </a:r>
            </a:p>
            <a:p>
              <a:pPr algn="ctr">
                <a:buFontTx/>
                <a:buChar char="•"/>
              </a:pPr>
              <a:r>
                <a:rPr lang="en-GB" sz="1600">
                  <a:solidFill>
                    <a:schemeClr val="bg1"/>
                  </a:solidFill>
                </a:rPr>
                <a:t> Intuitive</a:t>
              </a:r>
            </a:p>
            <a:p>
              <a:pPr algn="ctr">
                <a:buFontTx/>
                <a:buChar char="•"/>
              </a:pPr>
              <a:r>
                <a:rPr lang="en-GB" sz="1600">
                  <a:solidFill>
                    <a:schemeClr val="bg1"/>
                  </a:solidFill>
                </a:rPr>
                <a:t> Holistic</a:t>
              </a:r>
            </a:p>
            <a:p>
              <a:pPr algn="ctr">
                <a:buFontTx/>
                <a:buChar char="•"/>
              </a:pPr>
              <a:r>
                <a:rPr lang="en-GB" sz="1600">
                  <a:solidFill>
                    <a:schemeClr val="bg1"/>
                  </a:solidFill>
                </a:rPr>
                <a:t> Synthesizing</a:t>
              </a:r>
            </a:p>
            <a:p>
              <a:pPr algn="ctr">
                <a:buFontTx/>
                <a:buChar char="•"/>
              </a:pPr>
              <a:r>
                <a:rPr lang="en-GB" sz="1600">
                  <a:solidFill>
                    <a:schemeClr val="bg1"/>
                  </a:solidFill>
                </a:rPr>
                <a:t> Subjective</a:t>
              </a:r>
            </a:p>
            <a:p>
              <a:pPr algn="ctr">
                <a:buFontTx/>
                <a:buChar char="•"/>
              </a:pPr>
              <a:r>
                <a:rPr lang="en-GB" sz="1600">
                  <a:solidFill>
                    <a:schemeClr val="bg1"/>
                  </a:solidFill>
                </a:rPr>
                <a:t> Looks at wholes </a:t>
              </a:r>
            </a:p>
          </p:txBody>
        </p:sp>
        <p:sp>
          <p:nvSpPr>
            <p:cNvPr id="1312784" name="Rectangle 16"/>
            <p:cNvSpPr>
              <a:spLocks noChangeArrowheads="1"/>
            </p:cNvSpPr>
            <p:nvPr/>
          </p:nvSpPr>
          <p:spPr bwMode="auto">
            <a:xfrm>
              <a:off x="1872" y="3696"/>
              <a:ext cx="1968" cy="576"/>
            </a:xfrm>
            <a:prstGeom prst="rect">
              <a:avLst/>
            </a:prstGeom>
            <a:solidFill>
              <a:schemeClr val="bg1"/>
            </a:solidFill>
            <a:ln w="12700">
              <a:solidFill>
                <a:schemeClr val="accent2"/>
              </a:solidFill>
              <a:miter lim="800000"/>
              <a:headEnd/>
              <a:tailEnd/>
            </a:ln>
            <a:effectLst>
              <a:outerShdw dist="107763" dir="18900000" algn="ctr" rotWithShape="0">
                <a:schemeClr val="bg2"/>
              </a:outerShdw>
            </a:effectLst>
          </p:spPr>
          <p:txBody>
            <a:bodyPr lIns="90000" tIns="46800" rIns="90000" bIns="46800" anchor="ctr"/>
            <a:lstStyle/>
            <a:p>
              <a:pPr algn="ctr"/>
              <a:r>
                <a:rPr lang="fi-FI" sz="1600"/>
                <a:t>If you want to be a good tester, learn to think like one, not just copy the visible behavior. </a:t>
              </a:r>
              <a:endParaRPr lang="en-GB" sz="1600"/>
            </a:p>
          </p:txBody>
        </p:sp>
      </p:grpSp>
      <p:sp>
        <p:nvSpPr>
          <p:cNvPr id="1312785" name="Text Box 17"/>
          <p:cNvSpPr txBox="1">
            <a:spLocks noChangeArrowheads="1"/>
          </p:cNvSpPr>
          <p:nvPr/>
        </p:nvSpPr>
        <p:spPr bwMode="auto">
          <a:xfrm>
            <a:off x="3276600" y="1663730"/>
            <a:ext cx="26670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Recognizing unwanted software behavior</a:t>
            </a:r>
            <a:endParaRPr lang="en-GB"/>
          </a:p>
        </p:txBody>
      </p:sp>
      <p:sp>
        <p:nvSpPr>
          <p:cNvPr id="1312786" name="Text Box 18"/>
          <p:cNvSpPr txBox="1">
            <a:spLocks noChangeArrowheads="1"/>
          </p:cNvSpPr>
          <p:nvPr/>
        </p:nvSpPr>
        <p:spPr bwMode="auto">
          <a:xfrm>
            <a:off x="152400" y="3721130"/>
            <a:ext cx="25908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Making predictions about system stability</a:t>
            </a:r>
            <a:endParaRPr lang="en-GB"/>
          </a:p>
        </p:txBody>
      </p:sp>
      <p:sp>
        <p:nvSpPr>
          <p:cNvPr id="1312787" name="Text Box 19"/>
          <p:cNvSpPr txBox="1">
            <a:spLocks noChangeArrowheads="1"/>
          </p:cNvSpPr>
          <p:nvPr/>
        </p:nvSpPr>
        <p:spPr bwMode="auto">
          <a:xfrm>
            <a:off x="6477000" y="3797330"/>
            <a:ext cx="22098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Technical and domain knowledge</a:t>
            </a:r>
            <a:endParaRPr lang="en-GB"/>
          </a:p>
        </p:txBody>
      </p:sp>
      <p:sp>
        <p:nvSpPr>
          <p:cNvPr id="1312788" name="Text Box 20"/>
          <p:cNvSpPr txBox="1">
            <a:spLocks noChangeArrowheads="1"/>
          </p:cNvSpPr>
          <p:nvPr/>
        </p:nvSpPr>
        <p:spPr bwMode="auto">
          <a:xfrm>
            <a:off x="5562600" y="1390680"/>
            <a:ext cx="2438400" cy="641350"/>
          </a:xfrm>
          <a:prstGeom prst="rect">
            <a:avLst/>
          </a:prstGeom>
          <a:noFill/>
          <a:ln w="12700">
            <a:noFill/>
            <a:miter lim="800000"/>
            <a:headEnd/>
            <a:tailEnd/>
          </a:ln>
          <a:effectLst/>
        </p:spPr>
        <p:txBody>
          <a:bodyPr lIns="90000" tIns="46800" rIns="90000" bIns="46800">
            <a:spAutoFit/>
          </a:bodyPr>
          <a:lstStyle/>
          <a:p>
            <a:pPr algn="ctr">
              <a:spcBef>
                <a:spcPct val="50000"/>
              </a:spcBef>
            </a:pPr>
            <a:r>
              <a:rPr lang="fi-FI"/>
              <a:t>General systems thinking</a:t>
            </a:r>
            <a:endParaRPr lang="en-GB"/>
          </a:p>
        </p:txBody>
      </p:sp>
      <p:sp>
        <p:nvSpPr>
          <p:cNvPr id="21" name="Slide Number Placeholder 20"/>
          <p:cNvSpPr>
            <a:spLocks noGrp="1"/>
          </p:cNvSpPr>
          <p:nvPr>
            <p:ph type="sldNum" sz="quarter" idx="12"/>
          </p:nvPr>
        </p:nvSpPr>
        <p:spPr/>
        <p:txBody>
          <a:bodyPr/>
          <a:lstStyle/>
          <a:p>
            <a:fld id="{227F0B53-9592-4779-891F-997228E46E01}" type="slidenum">
              <a:rPr lang="sv-SE" smtClean="0"/>
              <a:pPr/>
              <a:t>5</a:t>
            </a:fld>
            <a:endParaRPr lang="sv-SE"/>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12779"/>
                                        </p:tgtEl>
                                        <p:attrNameLst>
                                          <p:attrName>style.visibility</p:attrName>
                                        </p:attrNameLst>
                                      </p:cBhvr>
                                      <p:to>
                                        <p:strVal val="visible"/>
                                      </p:to>
                                    </p:set>
                                    <p:anim calcmode="lin" valueType="num">
                                      <p:cBhvr additive="base">
                                        <p:cTn id="7" dur="500" fill="hold"/>
                                        <p:tgtEl>
                                          <p:spTgt spid="1312779"/>
                                        </p:tgtEl>
                                        <p:attrNameLst>
                                          <p:attrName>ppt_x</p:attrName>
                                        </p:attrNameLst>
                                      </p:cBhvr>
                                      <p:tavLst>
                                        <p:tav tm="0">
                                          <p:val>
                                            <p:strVal val="0-#ppt_w/2"/>
                                          </p:val>
                                        </p:tav>
                                        <p:tav tm="100000">
                                          <p:val>
                                            <p:strVal val="#ppt_x"/>
                                          </p:val>
                                        </p:tav>
                                      </p:tavLst>
                                    </p:anim>
                                    <p:anim calcmode="lin" valueType="num">
                                      <p:cBhvr additive="base">
                                        <p:cTn id="8" dur="500" fill="hold"/>
                                        <p:tgtEl>
                                          <p:spTgt spid="13127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12771"/>
                                        </p:tgtEl>
                                        <p:attrNameLst>
                                          <p:attrName>style.visibility</p:attrName>
                                        </p:attrNameLst>
                                      </p:cBhvr>
                                      <p:to>
                                        <p:strVal val="visible"/>
                                      </p:to>
                                    </p:set>
                                    <p:anim calcmode="lin" valueType="num">
                                      <p:cBhvr additive="base">
                                        <p:cTn id="13" dur="500" fill="hold"/>
                                        <p:tgtEl>
                                          <p:spTgt spid="1312771"/>
                                        </p:tgtEl>
                                        <p:attrNameLst>
                                          <p:attrName>ppt_x</p:attrName>
                                        </p:attrNameLst>
                                      </p:cBhvr>
                                      <p:tavLst>
                                        <p:tav tm="0">
                                          <p:val>
                                            <p:strVal val="0-#ppt_w/2"/>
                                          </p:val>
                                        </p:tav>
                                        <p:tav tm="100000">
                                          <p:val>
                                            <p:strVal val="#ppt_x"/>
                                          </p:val>
                                        </p:tav>
                                      </p:tavLst>
                                    </p:anim>
                                    <p:anim calcmode="lin" valueType="num">
                                      <p:cBhvr additive="base">
                                        <p:cTn id="14" dur="500" fill="hold"/>
                                        <p:tgtEl>
                                          <p:spTgt spid="13127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12772"/>
                                        </p:tgtEl>
                                        <p:attrNameLst>
                                          <p:attrName>style.visibility</p:attrName>
                                        </p:attrNameLst>
                                      </p:cBhvr>
                                      <p:to>
                                        <p:strVal val="visible"/>
                                      </p:to>
                                    </p:set>
                                    <p:anim calcmode="lin" valueType="num">
                                      <p:cBhvr additive="base">
                                        <p:cTn id="19" dur="500" fill="hold"/>
                                        <p:tgtEl>
                                          <p:spTgt spid="1312772"/>
                                        </p:tgtEl>
                                        <p:attrNameLst>
                                          <p:attrName>ppt_x</p:attrName>
                                        </p:attrNameLst>
                                      </p:cBhvr>
                                      <p:tavLst>
                                        <p:tav tm="0">
                                          <p:val>
                                            <p:strVal val="0-#ppt_w/2"/>
                                          </p:val>
                                        </p:tav>
                                        <p:tav tm="100000">
                                          <p:val>
                                            <p:strVal val="#ppt_x"/>
                                          </p:val>
                                        </p:tav>
                                      </p:tavLst>
                                    </p:anim>
                                    <p:anim calcmode="lin" valueType="num">
                                      <p:cBhvr additive="base">
                                        <p:cTn id="20" dur="500" fill="hold"/>
                                        <p:tgtEl>
                                          <p:spTgt spid="131277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12786"/>
                                        </p:tgtEl>
                                        <p:attrNameLst>
                                          <p:attrName>style.visibility</p:attrName>
                                        </p:attrNameLst>
                                      </p:cBhvr>
                                      <p:to>
                                        <p:strVal val="visible"/>
                                      </p:to>
                                    </p:set>
                                    <p:anim calcmode="lin" valueType="num">
                                      <p:cBhvr additive="base">
                                        <p:cTn id="25" dur="500" fill="hold"/>
                                        <p:tgtEl>
                                          <p:spTgt spid="1312786"/>
                                        </p:tgtEl>
                                        <p:attrNameLst>
                                          <p:attrName>ppt_x</p:attrName>
                                        </p:attrNameLst>
                                      </p:cBhvr>
                                      <p:tavLst>
                                        <p:tav tm="0">
                                          <p:val>
                                            <p:strVal val="0-#ppt_w/2"/>
                                          </p:val>
                                        </p:tav>
                                        <p:tav tm="100000">
                                          <p:val>
                                            <p:strVal val="#ppt_x"/>
                                          </p:val>
                                        </p:tav>
                                      </p:tavLst>
                                    </p:anim>
                                    <p:anim calcmode="lin" valueType="num">
                                      <p:cBhvr additive="base">
                                        <p:cTn id="26" dur="500" fill="hold"/>
                                        <p:tgtEl>
                                          <p:spTgt spid="131278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12778"/>
                                        </p:tgtEl>
                                        <p:attrNameLst>
                                          <p:attrName>style.visibility</p:attrName>
                                        </p:attrNameLst>
                                      </p:cBhvr>
                                      <p:to>
                                        <p:strVal val="visible"/>
                                      </p:to>
                                    </p:set>
                                    <p:anim calcmode="lin" valueType="num">
                                      <p:cBhvr additive="base">
                                        <p:cTn id="31" dur="500" fill="hold"/>
                                        <p:tgtEl>
                                          <p:spTgt spid="1312778"/>
                                        </p:tgtEl>
                                        <p:attrNameLst>
                                          <p:attrName>ppt_x</p:attrName>
                                        </p:attrNameLst>
                                      </p:cBhvr>
                                      <p:tavLst>
                                        <p:tav tm="0">
                                          <p:val>
                                            <p:strVal val="0-#ppt_w/2"/>
                                          </p:val>
                                        </p:tav>
                                        <p:tav tm="100000">
                                          <p:val>
                                            <p:strVal val="#ppt_x"/>
                                          </p:val>
                                        </p:tav>
                                      </p:tavLst>
                                    </p:anim>
                                    <p:anim calcmode="lin" valueType="num">
                                      <p:cBhvr additive="base">
                                        <p:cTn id="32" dur="500" fill="hold"/>
                                        <p:tgtEl>
                                          <p:spTgt spid="131277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12773"/>
                                        </p:tgtEl>
                                        <p:attrNameLst>
                                          <p:attrName>style.visibility</p:attrName>
                                        </p:attrNameLst>
                                      </p:cBhvr>
                                      <p:to>
                                        <p:strVal val="visible"/>
                                      </p:to>
                                    </p:set>
                                    <p:anim calcmode="lin" valueType="num">
                                      <p:cBhvr additive="base">
                                        <p:cTn id="37" dur="500" fill="hold"/>
                                        <p:tgtEl>
                                          <p:spTgt spid="1312773"/>
                                        </p:tgtEl>
                                        <p:attrNameLst>
                                          <p:attrName>ppt_x</p:attrName>
                                        </p:attrNameLst>
                                      </p:cBhvr>
                                      <p:tavLst>
                                        <p:tav tm="0">
                                          <p:val>
                                            <p:strVal val="0-#ppt_w/2"/>
                                          </p:val>
                                        </p:tav>
                                        <p:tav tm="100000">
                                          <p:val>
                                            <p:strVal val="#ppt_x"/>
                                          </p:val>
                                        </p:tav>
                                      </p:tavLst>
                                    </p:anim>
                                    <p:anim calcmode="lin" valueType="num">
                                      <p:cBhvr additive="base">
                                        <p:cTn id="38" dur="500" fill="hold"/>
                                        <p:tgtEl>
                                          <p:spTgt spid="131277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12774"/>
                                        </p:tgtEl>
                                        <p:attrNameLst>
                                          <p:attrName>style.visibility</p:attrName>
                                        </p:attrNameLst>
                                      </p:cBhvr>
                                      <p:to>
                                        <p:strVal val="visible"/>
                                      </p:to>
                                    </p:set>
                                    <p:anim calcmode="lin" valueType="num">
                                      <p:cBhvr additive="base">
                                        <p:cTn id="43" dur="500" fill="hold"/>
                                        <p:tgtEl>
                                          <p:spTgt spid="1312774"/>
                                        </p:tgtEl>
                                        <p:attrNameLst>
                                          <p:attrName>ppt_x</p:attrName>
                                        </p:attrNameLst>
                                      </p:cBhvr>
                                      <p:tavLst>
                                        <p:tav tm="0">
                                          <p:val>
                                            <p:strVal val="0-#ppt_w/2"/>
                                          </p:val>
                                        </p:tav>
                                        <p:tav tm="100000">
                                          <p:val>
                                            <p:strVal val="#ppt_x"/>
                                          </p:val>
                                        </p:tav>
                                      </p:tavLst>
                                    </p:anim>
                                    <p:anim calcmode="lin" valueType="num">
                                      <p:cBhvr additive="base">
                                        <p:cTn id="44" dur="500" fill="hold"/>
                                        <p:tgtEl>
                                          <p:spTgt spid="131277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12777"/>
                                        </p:tgtEl>
                                        <p:attrNameLst>
                                          <p:attrName>style.visibility</p:attrName>
                                        </p:attrNameLst>
                                      </p:cBhvr>
                                      <p:to>
                                        <p:strVal val="visible"/>
                                      </p:to>
                                    </p:set>
                                    <p:anim calcmode="lin" valueType="num">
                                      <p:cBhvr additive="base">
                                        <p:cTn id="49" dur="500" fill="hold"/>
                                        <p:tgtEl>
                                          <p:spTgt spid="1312777"/>
                                        </p:tgtEl>
                                        <p:attrNameLst>
                                          <p:attrName>ppt_x</p:attrName>
                                        </p:attrNameLst>
                                      </p:cBhvr>
                                      <p:tavLst>
                                        <p:tav tm="0">
                                          <p:val>
                                            <p:strVal val="0-#ppt_w/2"/>
                                          </p:val>
                                        </p:tav>
                                        <p:tav tm="100000">
                                          <p:val>
                                            <p:strVal val="#ppt_x"/>
                                          </p:val>
                                        </p:tav>
                                      </p:tavLst>
                                    </p:anim>
                                    <p:anim calcmode="lin" valueType="num">
                                      <p:cBhvr additive="base">
                                        <p:cTn id="50" dur="500" fill="hold"/>
                                        <p:tgtEl>
                                          <p:spTgt spid="131277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312776"/>
                                        </p:tgtEl>
                                        <p:attrNameLst>
                                          <p:attrName>style.visibility</p:attrName>
                                        </p:attrNameLst>
                                      </p:cBhvr>
                                      <p:to>
                                        <p:strVal val="visible"/>
                                      </p:to>
                                    </p:set>
                                    <p:anim calcmode="lin" valueType="num">
                                      <p:cBhvr additive="base">
                                        <p:cTn id="55" dur="500" fill="hold"/>
                                        <p:tgtEl>
                                          <p:spTgt spid="1312776"/>
                                        </p:tgtEl>
                                        <p:attrNameLst>
                                          <p:attrName>ppt_x</p:attrName>
                                        </p:attrNameLst>
                                      </p:cBhvr>
                                      <p:tavLst>
                                        <p:tav tm="0">
                                          <p:val>
                                            <p:strVal val="0-#ppt_w/2"/>
                                          </p:val>
                                        </p:tav>
                                        <p:tav tm="100000">
                                          <p:val>
                                            <p:strVal val="#ppt_x"/>
                                          </p:val>
                                        </p:tav>
                                      </p:tavLst>
                                    </p:anim>
                                    <p:anim calcmode="lin" valueType="num">
                                      <p:cBhvr additive="base">
                                        <p:cTn id="56" dur="500" fill="hold"/>
                                        <p:tgtEl>
                                          <p:spTgt spid="131277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312775"/>
                                        </p:tgtEl>
                                        <p:attrNameLst>
                                          <p:attrName>style.visibility</p:attrName>
                                        </p:attrNameLst>
                                      </p:cBhvr>
                                      <p:to>
                                        <p:strVal val="visible"/>
                                      </p:to>
                                    </p:set>
                                    <p:anim calcmode="lin" valueType="num">
                                      <p:cBhvr additive="base">
                                        <p:cTn id="61" dur="500" fill="hold"/>
                                        <p:tgtEl>
                                          <p:spTgt spid="1312775"/>
                                        </p:tgtEl>
                                        <p:attrNameLst>
                                          <p:attrName>ppt_x</p:attrName>
                                        </p:attrNameLst>
                                      </p:cBhvr>
                                      <p:tavLst>
                                        <p:tav tm="0">
                                          <p:val>
                                            <p:strVal val="0-#ppt_w/2"/>
                                          </p:val>
                                        </p:tav>
                                        <p:tav tm="100000">
                                          <p:val>
                                            <p:strVal val="#ppt_x"/>
                                          </p:val>
                                        </p:tav>
                                      </p:tavLst>
                                    </p:anim>
                                    <p:anim calcmode="lin" valueType="num">
                                      <p:cBhvr additive="base">
                                        <p:cTn id="62" dur="500" fill="hold"/>
                                        <p:tgtEl>
                                          <p:spTgt spid="131277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312785"/>
                                        </p:tgtEl>
                                        <p:attrNameLst>
                                          <p:attrName>style.visibility</p:attrName>
                                        </p:attrNameLst>
                                      </p:cBhvr>
                                      <p:to>
                                        <p:strVal val="visible"/>
                                      </p:to>
                                    </p:set>
                                    <p:anim calcmode="lin" valueType="num">
                                      <p:cBhvr additive="base">
                                        <p:cTn id="67" dur="500" fill="hold"/>
                                        <p:tgtEl>
                                          <p:spTgt spid="1312785"/>
                                        </p:tgtEl>
                                        <p:attrNameLst>
                                          <p:attrName>ppt_x</p:attrName>
                                        </p:attrNameLst>
                                      </p:cBhvr>
                                      <p:tavLst>
                                        <p:tav tm="0">
                                          <p:val>
                                            <p:strVal val="0-#ppt_w/2"/>
                                          </p:val>
                                        </p:tav>
                                        <p:tav tm="100000">
                                          <p:val>
                                            <p:strVal val="#ppt_x"/>
                                          </p:val>
                                        </p:tav>
                                      </p:tavLst>
                                    </p:anim>
                                    <p:anim calcmode="lin" valueType="num">
                                      <p:cBhvr additive="base">
                                        <p:cTn id="68" dur="500" fill="hold"/>
                                        <p:tgtEl>
                                          <p:spTgt spid="131278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312787"/>
                                        </p:tgtEl>
                                        <p:attrNameLst>
                                          <p:attrName>style.visibility</p:attrName>
                                        </p:attrNameLst>
                                      </p:cBhvr>
                                      <p:to>
                                        <p:strVal val="visible"/>
                                      </p:to>
                                    </p:set>
                                    <p:anim calcmode="lin" valueType="num">
                                      <p:cBhvr additive="base">
                                        <p:cTn id="73" dur="500" fill="hold"/>
                                        <p:tgtEl>
                                          <p:spTgt spid="1312787"/>
                                        </p:tgtEl>
                                        <p:attrNameLst>
                                          <p:attrName>ppt_x</p:attrName>
                                        </p:attrNameLst>
                                      </p:cBhvr>
                                      <p:tavLst>
                                        <p:tav tm="0">
                                          <p:val>
                                            <p:strVal val="0-#ppt_w/2"/>
                                          </p:val>
                                        </p:tav>
                                        <p:tav tm="100000">
                                          <p:val>
                                            <p:strVal val="#ppt_x"/>
                                          </p:val>
                                        </p:tav>
                                      </p:tavLst>
                                    </p:anim>
                                    <p:anim calcmode="lin" valueType="num">
                                      <p:cBhvr additive="base">
                                        <p:cTn id="74" dur="500" fill="hold"/>
                                        <p:tgtEl>
                                          <p:spTgt spid="131278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312788"/>
                                        </p:tgtEl>
                                        <p:attrNameLst>
                                          <p:attrName>style.visibility</p:attrName>
                                        </p:attrNameLst>
                                      </p:cBhvr>
                                      <p:to>
                                        <p:strVal val="visible"/>
                                      </p:to>
                                    </p:set>
                                    <p:anim calcmode="lin" valueType="num">
                                      <p:cBhvr additive="base">
                                        <p:cTn id="79" dur="500" fill="hold"/>
                                        <p:tgtEl>
                                          <p:spTgt spid="1312788"/>
                                        </p:tgtEl>
                                        <p:attrNameLst>
                                          <p:attrName>ppt_x</p:attrName>
                                        </p:attrNameLst>
                                      </p:cBhvr>
                                      <p:tavLst>
                                        <p:tav tm="0">
                                          <p:val>
                                            <p:strVal val="0-#ppt_w/2"/>
                                          </p:val>
                                        </p:tav>
                                        <p:tav tm="100000">
                                          <p:val>
                                            <p:strVal val="#ppt_x"/>
                                          </p:val>
                                        </p:tav>
                                      </p:tavLst>
                                    </p:anim>
                                    <p:anim calcmode="lin" valueType="num">
                                      <p:cBhvr additive="base">
                                        <p:cTn id="80" dur="500" fill="hold"/>
                                        <p:tgtEl>
                                          <p:spTgt spid="13127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2771" grpId="0" autoUpdateAnimBg="0"/>
      <p:bldP spid="1312772" grpId="0" autoUpdateAnimBg="0"/>
      <p:bldP spid="1312773" grpId="0" autoUpdateAnimBg="0"/>
      <p:bldP spid="1312774" grpId="0" autoUpdateAnimBg="0"/>
      <p:bldP spid="1312775" grpId="0" autoUpdateAnimBg="0"/>
      <p:bldP spid="1312776" grpId="0" autoUpdateAnimBg="0"/>
      <p:bldP spid="1312777" grpId="0" autoUpdateAnimBg="0"/>
      <p:bldP spid="1312778" grpId="0" autoUpdateAnimBg="0"/>
      <p:bldP spid="1312779" grpId="0" autoUpdateAnimBg="0"/>
      <p:bldP spid="1312785" grpId="0" autoUpdateAnimBg="0"/>
      <p:bldP spid="1312786" grpId="0" autoUpdateAnimBg="0"/>
      <p:bldP spid="1312787" grpId="0" autoUpdateAnimBg="0"/>
      <p:bldP spid="131278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4818" name="Rectangle 2"/>
          <p:cNvSpPr>
            <a:spLocks noGrp="1" noChangeArrowheads="1"/>
          </p:cNvSpPr>
          <p:nvPr>
            <p:ph type="title"/>
          </p:nvPr>
        </p:nvSpPr>
        <p:spPr/>
        <p:txBody>
          <a:bodyPr>
            <a:normAutofit fontScale="90000"/>
          </a:bodyPr>
          <a:lstStyle/>
          <a:p>
            <a:r>
              <a:rPr lang="en-GB"/>
              <a:t>Becoming Aware of Biases for Communication</a:t>
            </a:r>
            <a:br>
              <a:rPr lang="en-GB"/>
            </a:br>
            <a:r>
              <a:rPr lang="en-GB" sz="1200"/>
              <a:t>Source: </a:t>
            </a:r>
            <a:r>
              <a:rPr lang="fi-FI" sz="1200"/>
              <a:t>Kaner et al. 2002. Lessons Learned in Software Testing</a:t>
            </a:r>
            <a:endParaRPr lang="en-GB" sz="1200"/>
          </a:p>
        </p:txBody>
      </p:sp>
      <p:sp>
        <p:nvSpPr>
          <p:cNvPr id="1314819" name="Rectangle 3"/>
          <p:cNvSpPr>
            <a:spLocks noGrp="1" noChangeArrowheads="1"/>
          </p:cNvSpPr>
          <p:nvPr>
            <p:ph idx="1"/>
          </p:nvPr>
        </p:nvSpPr>
        <p:spPr/>
        <p:txBody>
          <a:bodyPr/>
          <a:lstStyle/>
          <a:p>
            <a:pPr>
              <a:lnSpc>
                <a:spcPct val="110000"/>
              </a:lnSpc>
            </a:pPr>
            <a:r>
              <a:rPr lang="fi-FI" sz="1800" b="1"/>
              <a:t>Assimilation bias</a:t>
            </a:r>
            <a:r>
              <a:rPr lang="fi-FI" sz="1800"/>
              <a:t> – interpreting future test results as confirming opinion of the product</a:t>
            </a:r>
          </a:p>
          <a:p>
            <a:pPr>
              <a:lnSpc>
                <a:spcPct val="110000"/>
              </a:lnSpc>
            </a:pPr>
            <a:r>
              <a:rPr lang="fi-FI" sz="1800" b="1"/>
              <a:t>Confirmation bias</a:t>
            </a:r>
            <a:r>
              <a:rPr lang="fi-FI" sz="1800"/>
              <a:t> – paying more attention to confirming result</a:t>
            </a:r>
          </a:p>
          <a:p>
            <a:pPr>
              <a:lnSpc>
                <a:spcPct val="110000"/>
              </a:lnSpc>
            </a:pPr>
            <a:r>
              <a:rPr lang="fi-FI" sz="1800" b="1"/>
              <a:t>Availability bias</a:t>
            </a:r>
            <a:r>
              <a:rPr lang="fi-FI" sz="1800"/>
              <a:t> – user behavior observer can easily remember is seen as more likely</a:t>
            </a:r>
          </a:p>
          <a:p>
            <a:pPr>
              <a:lnSpc>
                <a:spcPct val="110000"/>
              </a:lnSpc>
            </a:pPr>
            <a:r>
              <a:rPr lang="fi-FI" sz="1800" b="1"/>
              <a:t>Primacy bias</a:t>
            </a:r>
            <a:r>
              <a:rPr lang="fi-FI" sz="1800"/>
              <a:t> – First observation is more important </a:t>
            </a:r>
          </a:p>
          <a:p>
            <a:pPr>
              <a:lnSpc>
                <a:spcPct val="110000"/>
              </a:lnSpc>
            </a:pPr>
            <a:r>
              <a:rPr lang="fi-FI" sz="1800" b="1"/>
              <a:t>Recency bias</a:t>
            </a:r>
            <a:r>
              <a:rPr lang="fi-FI" sz="1800"/>
              <a:t> – Most recent observation is more important</a:t>
            </a:r>
          </a:p>
          <a:p>
            <a:pPr>
              <a:lnSpc>
                <a:spcPct val="110000"/>
              </a:lnSpc>
            </a:pPr>
            <a:r>
              <a:rPr lang="fi-FI" sz="1800" b="1"/>
              <a:t>Framing effect</a:t>
            </a:r>
            <a:r>
              <a:rPr lang="fi-FI" sz="1800"/>
              <a:t> – Reaction to bug report depends on how its phrased, regardless of meaning</a:t>
            </a:r>
          </a:p>
          <a:p>
            <a:pPr>
              <a:lnSpc>
                <a:spcPct val="110000"/>
              </a:lnSpc>
            </a:pPr>
            <a:r>
              <a:rPr lang="fi-FI" sz="1800" b="1"/>
              <a:t>Prominence bias</a:t>
            </a:r>
            <a:r>
              <a:rPr lang="fi-FI" sz="1800"/>
              <a:t> – More weight on users opinions that observer knows</a:t>
            </a:r>
          </a:p>
          <a:p>
            <a:pPr>
              <a:lnSpc>
                <a:spcPct val="110000"/>
              </a:lnSpc>
            </a:pPr>
            <a:r>
              <a:rPr lang="fi-FI" sz="1800" b="1"/>
              <a:t>Representativeness bias</a:t>
            </a:r>
            <a:r>
              <a:rPr lang="fi-FI" sz="1800"/>
              <a:t> – Small problem implies small cause, large problem implies large cause</a:t>
            </a:r>
            <a:endParaRPr lang="en-GB" sz="1800"/>
          </a:p>
        </p:txBody>
      </p:sp>
      <p:sp>
        <p:nvSpPr>
          <p:cNvPr id="4" name="Slide Number Placeholder 3"/>
          <p:cNvSpPr>
            <a:spLocks noGrp="1"/>
          </p:cNvSpPr>
          <p:nvPr>
            <p:ph type="sldNum" sz="quarter" idx="12"/>
          </p:nvPr>
        </p:nvSpPr>
        <p:spPr/>
        <p:txBody>
          <a:bodyPr/>
          <a:lstStyle/>
          <a:p>
            <a:fld id="{227F0B53-9592-4779-891F-997228E46E01}" type="slidenum">
              <a:rPr lang="sv-SE" smtClean="0"/>
              <a:pPr/>
              <a:t>6</a:t>
            </a:fld>
            <a:endParaRPr lang="sv-SE"/>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4162" name="Rectangle 2"/>
          <p:cNvSpPr>
            <a:spLocks noGrp="1" noChangeArrowheads="1"/>
          </p:cNvSpPr>
          <p:nvPr>
            <p:ph type="title"/>
          </p:nvPr>
        </p:nvSpPr>
        <p:spPr/>
        <p:txBody>
          <a:bodyPr>
            <a:normAutofit fontScale="90000"/>
          </a:bodyPr>
          <a:lstStyle/>
          <a:p>
            <a:r>
              <a:rPr lang="en-GB"/>
              <a:t>Discussion: What Makes Testing Agile?</a:t>
            </a:r>
          </a:p>
        </p:txBody>
      </p:sp>
      <p:sp>
        <p:nvSpPr>
          <p:cNvPr id="1244163" name="Rectangle 3"/>
          <p:cNvSpPr>
            <a:spLocks noGrp="1" noChangeArrowheads="1"/>
          </p:cNvSpPr>
          <p:nvPr>
            <p:ph type="body" idx="1"/>
          </p:nvPr>
        </p:nvSpPr>
        <p:spPr>
          <a:xfrm>
            <a:off x="609600" y="1676400"/>
            <a:ext cx="3276600" cy="4114800"/>
          </a:xfrm>
        </p:spPr>
        <p:txBody>
          <a:bodyPr>
            <a:normAutofit fontScale="85000" lnSpcReduction="20000"/>
          </a:bodyPr>
          <a:lstStyle/>
          <a:p>
            <a:r>
              <a:rPr lang="en-GB"/>
              <a:t>Consider examples of practices in testing that</a:t>
            </a:r>
          </a:p>
          <a:p>
            <a:pPr lvl="1"/>
            <a:r>
              <a:rPr lang="en-GB"/>
              <a:t>Would make testing plan-driven</a:t>
            </a:r>
          </a:p>
          <a:p>
            <a:pPr lvl="1"/>
            <a:r>
              <a:rPr lang="en-GB"/>
              <a:t>Would make testing agile</a:t>
            </a:r>
          </a:p>
          <a:p>
            <a:r>
              <a:rPr lang="en-GB"/>
              <a:t>Anyone care to share experiences on living with Agile testing?</a:t>
            </a:r>
          </a:p>
        </p:txBody>
      </p:sp>
      <p:graphicFrame>
        <p:nvGraphicFramePr>
          <p:cNvPr id="1244164" name="Object 4"/>
          <p:cNvGraphicFramePr>
            <a:graphicFrameLocks noChangeAspect="1"/>
          </p:cNvGraphicFramePr>
          <p:nvPr/>
        </p:nvGraphicFramePr>
        <p:xfrm>
          <a:off x="4038600" y="1600200"/>
          <a:ext cx="5105400" cy="3829050"/>
        </p:xfrm>
        <a:graphic>
          <a:graphicData uri="http://schemas.openxmlformats.org/presentationml/2006/ole">
            <p:oleObj spid="_x0000_s38914" name="Slide" r:id="rId4" imgW="4572000" imgH="3429000" progId="PowerPoint.Slide.8">
              <p:embed/>
            </p:oleObj>
          </a:graphicData>
        </a:graphic>
      </p:graphicFrame>
      <p:pic>
        <p:nvPicPr>
          <p:cNvPr id="1244165" name="Picture 5"/>
          <p:cNvPicPr>
            <a:picLocks noChangeAspect="1" noChangeArrowheads="1"/>
          </p:cNvPicPr>
          <p:nvPr/>
        </p:nvPicPr>
        <p:blipFill>
          <a:blip r:embed="rId5" cstate="print"/>
          <a:srcRect/>
          <a:stretch>
            <a:fillRect/>
          </a:stretch>
        </p:blipFill>
        <p:spPr bwMode="auto">
          <a:xfrm>
            <a:off x="3810000" y="5029200"/>
            <a:ext cx="827088" cy="1597025"/>
          </a:xfrm>
          <a:prstGeom prst="rect">
            <a:avLst/>
          </a:prstGeom>
          <a:noFill/>
          <a:ln w="12700">
            <a:noFill/>
            <a:miter lim="800000"/>
            <a:headEnd/>
            <a:tailEnd/>
          </a:ln>
          <a:effectLst/>
        </p:spPr>
      </p:pic>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Testing Practices</a:t>
            </a:r>
            <a:endParaRPr lang="fi-FI" dirty="0"/>
          </a:p>
        </p:txBody>
      </p:sp>
      <p:sp>
        <p:nvSpPr>
          <p:cNvPr id="3" name="Content Placeholder 2"/>
          <p:cNvSpPr>
            <a:spLocks noGrp="1"/>
          </p:cNvSpPr>
          <p:nvPr>
            <p:ph idx="1"/>
          </p:nvPr>
        </p:nvSpPr>
        <p:spPr/>
        <p:txBody>
          <a:bodyPr>
            <a:normAutofit fontScale="92500" lnSpcReduction="20000"/>
          </a:bodyPr>
          <a:lstStyle/>
          <a:p>
            <a:r>
              <a:rPr lang="fi-FI" dirty="0" smtClean="0"/>
              <a:t>Conversational test creation</a:t>
            </a:r>
          </a:p>
          <a:p>
            <a:pPr lvl="1"/>
            <a:r>
              <a:rPr lang="fi-FI" dirty="0" smtClean="0"/>
              <a:t>Working together with customer and team to find out what to test</a:t>
            </a:r>
          </a:p>
          <a:p>
            <a:r>
              <a:rPr lang="fi-FI" dirty="0" smtClean="0"/>
              <a:t>Specification by example</a:t>
            </a:r>
          </a:p>
          <a:p>
            <a:pPr lvl="1"/>
            <a:r>
              <a:rPr lang="fi-FI" dirty="0" smtClean="0"/>
              <a:t>Definition of scope in examples that can be executed to show completeness</a:t>
            </a:r>
          </a:p>
          <a:p>
            <a:r>
              <a:rPr lang="fi-FI" dirty="0" smtClean="0"/>
              <a:t>Providing test interfaces</a:t>
            </a:r>
          </a:p>
          <a:p>
            <a:pPr lvl="1"/>
            <a:r>
              <a:rPr lang="fi-FI" dirty="0" smtClean="0"/>
              <a:t>Making testing possible</a:t>
            </a:r>
          </a:p>
          <a:p>
            <a:r>
              <a:rPr lang="fi-FI" dirty="0" smtClean="0"/>
              <a:t>Exploratory testing</a:t>
            </a:r>
          </a:p>
          <a:p>
            <a:pPr lvl="1"/>
            <a:r>
              <a:rPr lang="fi-FI" dirty="0" smtClean="0"/>
              <a:t>Learn about bugs, missing features and opportunities for improvement</a:t>
            </a:r>
          </a:p>
          <a:p>
            <a:pPr lvl="1"/>
            <a:endParaRPr lang="fi-FI" dirty="0" smtClean="0"/>
          </a:p>
          <a:p>
            <a:endParaRPr lang="fi-FI" dirty="0" smtClean="0"/>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smtClean="0"/>
              <a:t>Incomprehensible Ways of Working After Agile</a:t>
            </a:r>
            <a:endParaRPr lang="fi-FI" dirty="0"/>
          </a:p>
        </p:txBody>
      </p:sp>
      <p:sp>
        <p:nvSpPr>
          <p:cNvPr id="3" name="Content Placeholder 2"/>
          <p:cNvSpPr>
            <a:spLocks noGrp="1"/>
          </p:cNvSpPr>
          <p:nvPr>
            <p:ph sz="half" idx="1"/>
          </p:nvPr>
        </p:nvSpPr>
        <p:spPr/>
        <p:txBody>
          <a:bodyPr>
            <a:normAutofit/>
          </a:bodyPr>
          <a:lstStyle/>
          <a:p>
            <a:r>
              <a:rPr lang="fi-FI" sz="1400" dirty="0" smtClean="0"/>
              <a:t>Focus on ”coverage” and ”traceability”</a:t>
            </a:r>
          </a:p>
          <a:p>
            <a:pPr lvl="1"/>
            <a:r>
              <a:rPr lang="fi-FI" sz="1200" dirty="0" smtClean="0"/>
              <a:t>Coverage in relation to a document is easy to change from 100 % to 10 % just with a bit different viewpoint</a:t>
            </a:r>
          </a:p>
          <a:p>
            <a:pPr lvl="1"/>
            <a:r>
              <a:rPr lang="fi-FI" sz="1200" dirty="0" smtClean="0"/>
              <a:t>Creating and maintaining the links must provide value – collaboration in teams is a powerful way to achieve similar results without the extensive cost</a:t>
            </a:r>
          </a:p>
          <a:p>
            <a:r>
              <a:rPr lang="fi-FI" sz="1400" dirty="0" smtClean="0"/>
              <a:t>Overemphasizing requirements and positive testing</a:t>
            </a:r>
          </a:p>
          <a:p>
            <a:pPr lvl="1"/>
            <a:r>
              <a:rPr lang="fi-FI" sz="1200" dirty="0" smtClean="0"/>
              <a:t>Testing only what is mentioned: use of imagination not required not encouraged</a:t>
            </a:r>
          </a:p>
          <a:p>
            <a:pPr lvl="1"/>
            <a:r>
              <a:rPr lang="fi-FI" sz="1200" dirty="0" smtClean="0"/>
              <a:t>Functionality-focus forgetting (or limiting out) non-functional aspects</a:t>
            </a:r>
          </a:p>
          <a:p>
            <a:pPr lvl="1"/>
            <a:r>
              <a:rPr lang="fi-FI" sz="1200" dirty="0" smtClean="0"/>
              <a:t>Focus on ”our pieces only” instead of the whole</a:t>
            </a:r>
          </a:p>
          <a:p>
            <a:r>
              <a:rPr lang="fi-FI" sz="1400" dirty="0" smtClean="0"/>
              <a:t>Focus on ”repeatability”</a:t>
            </a:r>
          </a:p>
          <a:p>
            <a:pPr lvl="1"/>
            <a:r>
              <a:rPr lang="fi-FI" sz="1200" dirty="0" smtClean="0"/>
              <a:t>Optimizing missing bugs instead of finding them</a:t>
            </a:r>
          </a:p>
          <a:p>
            <a:pPr lvl="1"/>
            <a:r>
              <a:rPr lang="fi-FI" sz="1200" dirty="0" smtClean="0"/>
              <a:t>Emphasis on repeatable steps (”stupid tester assumed”) instead of repeatable goals</a:t>
            </a:r>
          </a:p>
        </p:txBody>
      </p:sp>
      <p:sp>
        <p:nvSpPr>
          <p:cNvPr id="4" name="Content Placeholder 3"/>
          <p:cNvSpPr>
            <a:spLocks noGrp="1"/>
          </p:cNvSpPr>
          <p:nvPr>
            <p:ph sz="half" idx="2"/>
          </p:nvPr>
        </p:nvSpPr>
        <p:spPr/>
        <p:txBody>
          <a:bodyPr>
            <a:noAutofit/>
          </a:bodyPr>
          <a:lstStyle/>
          <a:p>
            <a:r>
              <a:rPr lang="fi-FI" sz="1400" smtClean="0"/>
              <a:t>Assuming all testers are equal in skills</a:t>
            </a:r>
          </a:p>
          <a:p>
            <a:pPr lvl="1"/>
            <a:r>
              <a:rPr lang="fi-FI" sz="1200" smtClean="0"/>
              <a:t>All can’t do the same things and everyone cannot test</a:t>
            </a:r>
          </a:p>
          <a:p>
            <a:pPr lvl="1"/>
            <a:r>
              <a:rPr lang="fi-FI" sz="1200" smtClean="0"/>
              <a:t>As bad is assuming only testers can test, so if your role name is different, you can’t do it</a:t>
            </a:r>
          </a:p>
          <a:p>
            <a:pPr lvl="1"/>
            <a:r>
              <a:rPr lang="fi-FI" sz="1200" smtClean="0"/>
              <a:t>Effort estimates don’t allow for the differences</a:t>
            </a:r>
          </a:p>
          <a:p>
            <a:r>
              <a:rPr lang="fi-FI" sz="1400" smtClean="0"/>
              <a:t>Counting readiness from effort estimates</a:t>
            </a:r>
          </a:p>
          <a:p>
            <a:pPr lvl="1"/>
            <a:r>
              <a:rPr lang="fi-FI" sz="1200" smtClean="0"/>
              <a:t>When time is used, job is done. Regardless of results. </a:t>
            </a:r>
          </a:p>
          <a:p>
            <a:pPr lvl="1"/>
            <a:r>
              <a:rPr lang="fi-FI" sz="1200" smtClean="0"/>
              <a:t>No followup on work remaining, since there’s little ownership on the estimates on the people doing the work</a:t>
            </a:r>
          </a:p>
          <a:p>
            <a:r>
              <a:rPr lang="fi-FI" sz="1400" smtClean="0"/>
              <a:t>Lack of self-organization and collaboration</a:t>
            </a:r>
          </a:p>
          <a:p>
            <a:pPr lvl="1"/>
            <a:r>
              <a:rPr lang="fi-FI" sz="1200" smtClean="0"/>
              <a:t>Waiting for decisions that really should not become bottlenecks</a:t>
            </a:r>
          </a:p>
          <a:p>
            <a:pPr lvl="1"/>
            <a:r>
              <a:rPr lang="fi-FI" sz="1200" smtClean="0"/>
              <a:t>Instead of discussion, assume you know what the other wants since there’s requirements written and read on each side</a:t>
            </a:r>
          </a:p>
          <a:p>
            <a:r>
              <a:rPr lang="fi-FI" sz="1400" smtClean="0"/>
              <a:t>Being torn between different tasks</a:t>
            </a:r>
          </a:p>
          <a:p>
            <a:pPr lvl="1"/>
            <a:r>
              <a:rPr lang="fi-FI" sz="1200" smtClean="0"/>
              <a:t>When plan is delayed, do something else – completely different, in hope that someone else removes my problem</a:t>
            </a:r>
          </a:p>
          <a:p>
            <a:pPr lvl="1"/>
            <a:r>
              <a:rPr lang="fi-FI" sz="1200" smtClean="0"/>
              <a:t>In monthly cycle resourcing there is ability to focus for a timeframe</a:t>
            </a:r>
          </a:p>
          <a:p>
            <a:endParaRPr lang="fi-FI" sz="1400" smtClean="0"/>
          </a:p>
          <a:p>
            <a:endParaRPr lang="fi-FI" sz="1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Learning Agile in Steps </a:t>
            </a:r>
            <a:br>
              <a:rPr lang="fi-FI" dirty="0" smtClean="0"/>
            </a:br>
            <a:r>
              <a:rPr lang="fi-FI" sz="2200" dirty="0" smtClean="0"/>
              <a:t>Example of Maaret’s order of significant realizations</a:t>
            </a:r>
            <a:endParaRPr lang="fi-FI" dirty="0"/>
          </a:p>
        </p:txBody>
      </p:sp>
      <p:sp>
        <p:nvSpPr>
          <p:cNvPr id="3" name="TextBox 2"/>
          <p:cNvSpPr txBox="1"/>
          <p:nvPr/>
        </p:nvSpPr>
        <p:spPr>
          <a:xfrm>
            <a:off x="142844" y="1643050"/>
            <a:ext cx="2928958" cy="369332"/>
          </a:xfrm>
          <a:prstGeom prst="rect">
            <a:avLst/>
          </a:prstGeom>
          <a:noFill/>
        </p:spPr>
        <p:txBody>
          <a:bodyPr wrap="square" rtlCol="0">
            <a:spAutoFit/>
          </a:bodyPr>
          <a:lstStyle/>
          <a:p>
            <a:pPr algn="ctr"/>
            <a:r>
              <a:rPr lang="fi-FI" b="1" dirty="0" smtClean="0"/>
              <a:t>Waterfall and V-model</a:t>
            </a:r>
            <a:endParaRPr lang="fi-FI" b="1" dirty="0"/>
          </a:p>
        </p:txBody>
      </p:sp>
      <p:sp>
        <p:nvSpPr>
          <p:cNvPr id="4" name="TextBox 3"/>
          <p:cNvSpPr txBox="1"/>
          <p:nvPr/>
        </p:nvSpPr>
        <p:spPr>
          <a:xfrm>
            <a:off x="3071802" y="1500174"/>
            <a:ext cx="2928958" cy="369332"/>
          </a:xfrm>
          <a:prstGeom prst="rect">
            <a:avLst/>
          </a:prstGeom>
          <a:noFill/>
        </p:spPr>
        <p:txBody>
          <a:bodyPr wrap="square" rtlCol="0">
            <a:spAutoFit/>
          </a:bodyPr>
          <a:lstStyle/>
          <a:p>
            <a:pPr algn="ctr"/>
            <a:r>
              <a:rPr lang="fi-FI" b="1" dirty="0" smtClean="0"/>
              <a:t>Iterative and Incremental</a:t>
            </a:r>
            <a:endParaRPr lang="fi-FI" b="1" dirty="0"/>
          </a:p>
        </p:txBody>
      </p:sp>
      <p:sp>
        <p:nvSpPr>
          <p:cNvPr id="5" name="TextBox 4"/>
          <p:cNvSpPr txBox="1"/>
          <p:nvPr/>
        </p:nvSpPr>
        <p:spPr>
          <a:xfrm>
            <a:off x="5929322" y="1630908"/>
            <a:ext cx="2928958" cy="369332"/>
          </a:xfrm>
          <a:prstGeom prst="rect">
            <a:avLst/>
          </a:prstGeom>
          <a:noFill/>
        </p:spPr>
        <p:txBody>
          <a:bodyPr wrap="square" rtlCol="0">
            <a:spAutoFit/>
          </a:bodyPr>
          <a:lstStyle/>
          <a:p>
            <a:pPr algn="ctr"/>
            <a:r>
              <a:rPr lang="fi-FI" b="1" dirty="0" smtClean="0"/>
              <a:t>Agile</a:t>
            </a:r>
            <a:endParaRPr lang="fi-FI" b="1" dirty="0"/>
          </a:p>
        </p:txBody>
      </p:sp>
      <p:cxnSp>
        <p:nvCxnSpPr>
          <p:cNvPr id="7" name="Straight Connector 6"/>
          <p:cNvCxnSpPr/>
          <p:nvPr/>
        </p:nvCxnSpPr>
        <p:spPr>
          <a:xfrm rot="5400000">
            <a:off x="571472" y="3929066"/>
            <a:ext cx="5000660" cy="1588"/>
          </a:xfrm>
          <a:prstGeom prst="line">
            <a:avLst/>
          </a:prstGeom>
        </p:spPr>
        <p:style>
          <a:lnRef idx="2">
            <a:schemeClr val="accent6"/>
          </a:lnRef>
          <a:fillRef idx="0">
            <a:schemeClr val="accent6"/>
          </a:fillRef>
          <a:effectRef idx="1">
            <a:schemeClr val="accent6"/>
          </a:effectRef>
          <a:fontRef idx="minor">
            <a:schemeClr val="tx1"/>
          </a:fontRef>
        </p:style>
      </p:cxnSp>
      <p:cxnSp>
        <p:nvCxnSpPr>
          <p:cNvPr id="8" name="Straight Connector 7"/>
          <p:cNvCxnSpPr/>
          <p:nvPr/>
        </p:nvCxnSpPr>
        <p:spPr>
          <a:xfrm rot="5400000">
            <a:off x="3571074" y="3928272"/>
            <a:ext cx="5000660" cy="1588"/>
          </a:xfrm>
          <a:prstGeom prst="line">
            <a:avLst/>
          </a:prstGeom>
        </p:spPr>
        <p:style>
          <a:lnRef idx="2">
            <a:schemeClr val="accent6"/>
          </a:lnRef>
          <a:fillRef idx="0">
            <a:schemeClr val="accent6"/>
          </a:fillRef>
          <a:effectRef idx="1">
            <a:schemeClr val="accent6"/>
          </a:effectRef>
          <a:fontRef idx="minor">
            <a:schemeClr val="tx1"/>
          </a:fontRef>
        </p:style>
      </p:cxnSp>
      <p:sp>
        <p:nvSpPr>
          <p:cNvPr id="9" name="Cloud 8"/>
          <p:cNvSpPr/>
          <p:nvPr/>
        </p:nvSpPr>
        <p:spPr>
          <a:xfrm>
            <a:off x="500034" y="2357430"/>
            <a:ext cx="2071702" cy="1285884"/>
          </a:xfrm>
          <a:prstGeom prst="cloud">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fi-FI" sz="1400" dirty="0" smtClean="0"/>
              <a:t>Thinking system and bigger scale than assigned</a:t>
            </a:r>
            <a:endParaRPr lang="fi-FI" sz="1400" dirty="0"/>
          </a:p>
        </p:txBody>
      </p:sp>
      <p:sp>
        <p:nvSpPr>
          <p:cNvPr id="10" name="Cloud 9"/>
          <p:cNvSpPr/>
          <p:nvPr/>
        </p:nvSpPr>
        <p:spPr>
          <a:xfrm>
            <a:off x="3428992" y="2143116"/>
            <a:ext cx="2071702" cy="928694"/>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1400" dirty="0" smtClean="0"/>
              <a:t>Planning ahead is too easy</a:t>
            </a:r>
            <a:endParaRPr lang="fi-FI" sz="1400" dirty="0"/>
          </a:p>
        </p:txBody>
      </p:sp>
      <p:sp>
        <p:nvSpPr>
          <p:cNvPr id="11" name="Cloud 10"/>
          <p:cNvSpPr/>
          <p:nvPr/>
        </p:nvSpPr>
        <p:spPr>
          <a:xfrm>
            <a:off x="3143240" y="3143248"/>
            <a:ext cx="2857520" cy="1214446"/>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1400" dirty="0" smtClean="0"/>
              <a:t>Flexibility by dropping stuff, change of direction a dream</a:t>
            </a:r>
            <a:endParaRPr lang="fi-FI" sz="1400" dirty="0"/>
          </a:p>
        </p:txBody>
      </p:sp>
      <p:sp>
        <p:nvSpPr>
          <p:cNvPr id="12" name="Right Arrow 11"/>
          <p:cNvSpPr/>
          <p:nvPr/>
        </p:nvSpPr>
        <p:spPr>
          <a:xfrm>
            <a:off x="2786050" y="2714620"/>
            <a:ext cx="642942" cy="642942"/>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fi-FI" dirty="0" smtClean="0"/>
              <a:t>1</a:t>
            </a:r>
            <a:endParaRPr lang="fi-FI" dirty="0"/>
          </a:p>
        </p:txBody>
      </p:sp>
      <p:sp>
        <p:nvSpPr>
          <p:cNvPr id="13" name="Right Arrow 12"/>
          <p:cNvSpPr/>
          <p:nvPr/>
        </p:nvSpPr>
        <p:spPr>
          <a:xfrm>
            <a:off x="5786446" y="4429132"/>
            <a:ext cx="642942" cy="642942"/>
          </a:xfrm>
          <a:prstGeom prst="righ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dirty="0" smtClean="0"/>
              <a:t>2</a:t>
            </a:r>
            <a:endParaRPr lang="fi-FI" dirty="0"/>
          </a:p>
        </p:txBody>
      </p:sp>
      <p:sp>
        <p:nvSpPr>
          <p:cNvPr id="14" name="Right Arrow 13"/>
          <p:cNvSpPr/>
          <p:nvPr/>
        </p:nvSpPr>
        <p:spPr>
          <a:xfrm rot="10800000">
            <a:off x="2714613" y="5343123"/>
            <a:ext cx="642942" cy="642942"/>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fi-FI" dirty="0"/>
          </a:p>
        </p:txBody>
      </p:sp>
      <p:sp>
        <p:nvSpPr>
          <p:cNvPr id="16" name="Cloud 15"/>
          <p:cNvSpPr/>
          <p:nvPr/>
        </p:nvSpPr>
        <p:spPr>
          <a:xfrm>
            <a:off x="6143636" y="2071678"/>
            <a:ext cx="2357422" cy="928694"/>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400" dirty="0" smtClean="0"/>
              <a:t>Everyone must have skills in testing</a:t>
            </a:r>
            <a:endParaRPr lang="fi-FI" sz="1400" dirty="0"/>
          </a:p>
        </p:txBody>
      </p:sp>
      <p:sp>
        <p:nvSpPr>
          <p:cNvPr id="17" name="Cloud 16"/>
          <p:cNvSpPr/>
          <p:nvPr/>
        </p:nvSpPr>
        <p:spPr>
          <a:xfrm>
            <a:off x="214282" y="3929066"/>
            <a:ext cx="2286016" cy="1285884"/>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Central role of coverage in all its vagueness</a:t>
            </a:r>
            <a:endParaRPr lang="fi-FI" sz="1400" dirty="0"/>
          </a:p>
        </p:txBody>
      </p:sp>
      <p:sp>
        <p:nvSpPr>
          <p:cNvPr id="18" name="Cloud 17"/>
          <p:cNvSpPr/>
          <p:nvPr/>
        </p:nvSpPr>
        <p:spPr>
          <a:xfrm>
            <a:off x="6858016" y="2928934"/>
            <a:ext cx="2286016" cy="1071570"/>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400" dirty="0" smtClean="0"/>
              <a:t>Emphasized ROI on testing</a:t>
            </a:r>
            <a:endParaRPr lang="fi-FI" sz="1400" dirty="0"/>
          </a:p>
        </p:txBody>
      </p:sp>
      <p:sp>
        <p:nvSpPr>
          <p:cNvPr id="19" name="Cloud 18"/>
          <p:cNvSpPr/>
          <p:nvPr/>
        </p:nvSpPr>
        <p:spPr>
          <a:xfrm>
            <a:off x="571472" y="5286388"/>
            <a:ext cx="2071702" cy="1285884"/>
          </a:xfrm>
          <a:prstGeom prst="cloud">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fi-FI" sz="1400" dirty="0" smtClean="0"/>
              <a:t>Traditional test case approach lack of value</a:t>
            </a:r>
            <a:endParaRPr lang="fi-FI" sz="1400" dirty="0"/>
          </a:p>
        </p:txBody>
      </p:sp>
      <p:sp>
        <p:nvSpPr>
          <p:cNvPr id="20" name="Cloud 19"/>
          <p:cNvSpPr/>
          <p:nvPr/>
        </p:nvSpPr>
        <p:spPr>
          <a:xfrm>
            <a:off x="4000496" y="5500702"/>
            <a:ext cx="2000264" cy="928694"/>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1400" dirty="0" smtClean="0"/>
              <a:t>Limited possibilities of automation</a:t>
            </a:r>
            <a:endParaRPr lang="fi-FI" sz="1400" dirty="0"/>
          </a:p>
        </p:txBody>
      </p:sp>
      <p:sp>
        <p:nvSpPr>
          <p:cNvPr id="21" name="Cloud 20"/>
          <p:cNvSpPr/>
          <p:nvPr/>
        </p:nvSpPr>
        <p:spPr>
          <a:xfrm>
            <a:off x="3286116" y="4429132"/>
            <a:ext cx="1714512" cy="1143008"/>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fi-FI" sz="1400" dirty="0" smtClean="0"/>
              <a:t>Regular (system) integration</a:t>
            </a:r>
            <a:endParaRPr lang="fi-FI" sz="1400" dirty="0"/>
          </a:p>
        </p:txBody>
      </p:sp>
      <p:sp>
        <p:nvSpPr>
          <p:cNvPr id="22" name="Cloud 21"/>
          <p:cNvSpPr/>
          <p:nvPr/>
        </p:nvSpPr>
        <p:spPr>
          <a:xfrm>
            <a:off x="6143636" y="5000636"/>
            <a:ext cx="2786082" cy="785818"/>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400" dirty="0" smtClean="0"/>
              <a:t>Continuous (system) integration</a:t>
            </a:r>
            <a:endParaRPr lang="fi-FI" sz="1400" dirty="0"/>
          </a:p>
        </p:txBody>
      </p:sp>
      <p:sp>
        <p:nvSpPr>
          <p:cNvPr id="23" name="Cloud 22"/>
          <p:cNvSpPr/>
          <p:nvPr/>
        </p:nvSpPr>
        <p:spPr>
          <a:xfrm>
            <a:off x="6938978" y="5795978"/>
            <a:ext cx="2062178" cy="847732"/>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400" dirty="0" smtClean="0"/>
              <a:t>Central role of testing in place</a:t>
            </a:r>
            <a:endParaRPr lang="fi-FI" sz="1400" dirty="0"/>
          </a:p>
        </p:txBody>
      </p:sp>
      <p:sp>
        <p:nvSpPr>
          <p:cNvPr id="24" name="Cloud 23"/>
          <p:cNvSpPr/>
          <p:nvPr/>
        </p:nvSpPr>
        <p:spPr>
          <a:xfrm>
            <a:off x="6357950" y="4081466"/>
            <a:ext cx="2745634" cy="847732"/>
          </a:xfrm>
          <a:prstGeom prst="clou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fi-FI" sz="1400" dirty="0" smtClean="0"/>
              <a:t>Per change planning and new forms of test specs</a:t>
            </a:r>
            <a:endParaRPr lang="fi-FI" sz="1400" dirty="0"/>
          </a:p>
        </p:txBody>
      </p:sp>
      <p:sp>
        <p:nvSpPr>
          <p:cNvPr id="25" name="Slide Number Placeholder 24"/>
          <p:cNvSpPr>
            <a:spLocks noGrp="1"/>
          </p:cNvSpPr>
          <p:nvPr>
            <p:ph type="sldNum" sz="quarter" idx="12"/>
          </p:nvPr>
        </p:nvSpPr>
        <p:spPr/>
        <p:txBody>
          <a:bodyPr/>
          <a:lstStyle/>
          <a:p>
            <a:fld id="{B6F15528-21DE-4FAA-801E-634DDDAF4B2B}" type="slidenum">
              <a:rPr lang="en-US" smtClean="0"/>
              <a:pPr/>
              <a:t>10</a:t>
            </a:fld>
            <a:endParaRPr lang="en-US"/>
          </a:p>
        </p:txBody>
      </p:sp>
      <p:sp>
        <p:nvSpPr>
          <p:cNvPr id="27" name="TextBox 26"/>
          <p:cNvSpPr txBox="1"/>
          <p:nvPr/>
        </p:nvSpPr>
        <p:spPr>
          <a:xfrm>
            <a:off x="2971800" y="5486400"/>
            <a:ext cx="381000" cy="369332"/>
          </a:xfrm>
          <a:prstGeom prst="rect">
            <a:avLst/>
          </a:prstGeom>
          <a:noFill/>
        </p:spPr>
        <p:txBody>
          <a:bodyPr wrap="square" rtlCol="0">
            <a:spAutoFit/>
          </a:bodyPr>
          <a:lstStyle/>
          <a:p>
            <a:r>
              <a:rPr lang="fi-FI" dirty="0" smtClean="0">
                <a:solidFill>
                  <a:schemeClr val="bg1"/>
                </a:solidFill>
              </a:rPr>
              <a:t>3</a:t>
            </a:r>
            <a:endParaRPr lang="fi-FI" dirty="0">
              <a:solidFill>
                <a:schemeClr val="bg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The Context Model of Testing</a:t>
            </a:r>
          </a:p>
        </p:txBody>
      </p:sp>
      <p:graphicFrame>
        <p:nvGraphicFramePr>
          <p:cNvPr id="94211" name="Object 3"/>
          <p:cNvGraphicFramePr>
            <a:graphicFrameLocks noChangeAspect="1"/>
          </p:cNvGraphicFramePr>
          <p:nvPr/>
        </p:nvGraphicFramePr>
        <p:xfrm>
          <a:off x="731838" y="1409700"/>
          <a:ext cx="7878762" cy="4498975"/>
        </p:xfrm>
        <a:graphic>
          <a:graphicData uri="http://schemas.openxmlformats.org/presentationml/2006/ole">
            <p:oleObj spid="_x0000_s39938" name="Visio" r:id="rId4" imgW="7090920" imgH="4077360" progId="">
              <p:embed/>
            </p:oleObj>
          </a:graphicData>
        </a:graphic>
      </p:graphicFrame>
      <p:sp>
        <p:nvSpPr>
          <p:cNvPr id="94212" name="Text Box 4"/>
          <p:cNvSpPr txBox="1">
            <a:spLocks noChangeArrowheads="1"/>
          </p:cNvSpPr>
          <p:nvPr/>
        </p:nvSpPr>
        <p:spPr bwMode="auto">
          <a:xfrm>
            <a:off x="3581400" y="6134100"/>
            <a:ext cx="5562600" cy="274638"/>
          </a:xfrm>
          <a:prstGeom prst="rect">
            <a:avLst/>
          </a:prstGeom>
          <a:noFill/>
          <a:ln w="9525">
            <a:noFill/>
            <a:miter lim="800000"/>
            <a:headEnd/>
            <a:tailEnd/>
          </a:ln>
          <a:effectLst/>
        </p:spPr>
        <p:txBody>
          <a:bodyPr>
            <a:spAutoFit/>
          </a:bodyPr>
          <a:lstStyle/>
          <a:p>
            <a:pPr algn="r" eaLnBrk="1" hangingPunct="1">
              <a:spcBef>
                <a:spcPct val="50000"/>
              </a:spcBef>
            </a:pPr>
            <a:r>
              <a:rPr lang="fi-FI" sz="1200">
                <a:latin typeface="Arial" charset="0"/>
              </a:rPr>
              <a:t>Adapted from  [Kaner et al. 2002]</a:t>
            </a:r>
            <a:endParaRPr lang="en-GB" sz="1200">
              <a:latin typeface="Arial"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smtClean="0"/>
              <a:t>Agile Characteristics in Testing</a:t>
            </a:r>
            <a:endParaRPr lang="en-US" dirty="0"/>
          </a:p>
        </p:txBody>
      </p:sp>
      <p:sp>
        <p:nvSpPr>
          <p:cNvPr id="8" name="Content Placeholder 7"/>
          <p:cNvSpPr>
            <a:spLocks noGrp="1"/>
          </p:cNvSpPr>
          <p:nvPr>
            <p:ph sz="half" idx="1"/>
          </p:nvPr>
        </p:nvSpPr>
        <p:spPr/>
        <p:txBody>
          <a:bodyPr>
            <a:normAutofit fontScale="85000" lnSpcReduction="20000"/>
          </a:bodyPr>
          <a:lstStyle/>
          <a:p>
            <a:r>
              <a:rPr lang="en-GB" dirty="0" smtClean="0"/>
              <a:t>Communication</a:t>
            </a:r>
          </a:p>
          <a:p>
            <a:pPr lvl="1"/>
            <a:r>
              <a:rPr lang="en-GB" dirty="0" smtClean="0"/>
              <a:t>Open discussion amongst people in various roles</a:t>
            </a:r>
          </a:p>
          <a:p>
            <a:pPr lvl="1"/>
            <a:r>
              <a:rPr lang="en-GB" dirty="0" smtClean="0"/>
              <a:t>Common goal enables collaboration</a:t>
            </a:r>
          </a:p>
          <a:p>
            <a:pPr lvl="1"/>
            <a:r>
              <a:rPr lang="en-GB" dirty="0" smtClean="0"/>
              <a:t>Only relevant documentation, each case should be assessed carefully</a:t>
            </a:r>
          </a:p>
          <a:p>
            <a:endParaRPr lang="en-GB" dirty="0" smtClean="0"/>
          </a:p>
          <a:p>
            <a:r>
              <a:rPr lang="en-GB" dirty="0" smtClean="0"/>
              <a:t>Decision-making</a:t>
            </a:r>
          </a:p>
          <a:p>
            <a:pPr lvl="1"/>
            <a:r>
              <a:rPr lang="en-GB" dirty="0" smtClean="0"/>
              <a:t>Team decides on how things are done and negotiates what and in what order</a:t>
            </a:r>
          </a:p>
          <a:p>
            <a:pPr lvl="1"/>
            <a:endParaRPr lang="en-GB" dirty="0" smtClean="0"/>
          </a:p>
        </p:txBody>
      </p:sp>
      <p:sp>
        <p:nvSpPr>
          <p:cNvPr id="9" name="Content Placeholder 8"/>
          <p:cNvSpPr>
            <a:spLocks noGrp="1"/>
          </p:cNvSpPr>
          <p:nvPr>
            <p:ph sz="half" idx="2"/>
          </p:nvPr>
        </p:nvSpPr>
        <p:spPr/>
        <p:txBody>
          <a:bodyPr>
            <a:normAutofit fontScale="85000" lnSpcReduction="20000"/>
          </a:bodyPr>
          <a:lstStyle/>
          <a:p>
            <a:r>
              <a:rPr lang="en-GB" dirty="0" smtClean="0"/>
              <a:t>Proof of testing</a:t>
            </a:r>
          </a:p>
          <a:p>
            <a:pPr lvl="1"/>
            <a:r>
              <a:rPr lang="en-GB" dirty="0" smtClean="0"/>
              <a:t>Lack of bugs found in later phases of system lifecycle is the required evidence of testing</a:t>
            </a:r>
          </a:p>
          <a:p>
            <a:pPr lvl="1"/>
            <a:endParaRPr lang="en-GB" dirty="0" smtClean="0"/>
          </a:p>
          <a:p>
            <a:r>
              <a:rPr lang="en-GB" dirty="0" smtClean="0"/>
              <a:t>Expectations of testing</a:t>
            </a:r>
          </a:p>
          <a:p>
            <a:pPr lvl="1"/>
            <a:r>
              <a:rPr lang="en-GB" dirty="0" smtClean="0"/>
              <a:t>Thinking end to end and outside the box</a:t>
            </a:r>
          </a:p>
          <a:p>
            <a:pPr lvl="1"/>
            <a:r>
              <a:rPr lang="en-GB" dirty="0" smtClean="0"/>
              <a:t>Taking time to think and reflect without being specifically told so</a:t>
            </a:r>
          </a:p>
          <a:p>
            <a:pPr lvl="1"/>
            <a:r>
              <a:rPr lang="en-GB" dirty="0" smtClean="0"/>
              <a:t>Change of plan within iteration for best possible value for the goals and outside them</a:t>
            </a:r>
            <a:endParaRPr lang="en-US" dirty="0" smtClean="0"/>
          </a:p>
          <a:p>
            <a:pPr lvl="1"/>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Context-Driven Testing Principles</a:t>
            </a:r>
            <a:br>
              <a:rPr lang="fi-FI" dirty="0" smtClean="0"/>
            </a:br>
            <a:r>
              <a:rPr lang="fi-FI" sz="1300" dirty="0" smtClean="0"/>
              <a:t>http://www.context-driven-testing.com</a:t>
            </a:r>
            <a:endParaRPr lang="fi-FI" sz="1300" dirty="0"/>
          </a:p>
        </p:txBody>
      </p:sp>
      <p:sp>
        <p:nvSpPr>
          <p:cNvPr id="3" name="Content Placeholder 2"/>
          <p:cNvSpPr>
            <a:spLocks noGrp="1"/>
          </p:cNvSpPr>
          <p:nvPr>
            <p:ph idx="1"/>
          </p:nvPr>
        </p:nvSpPr>
        <p:spPr/>
        <p:txBody>
          <a:bodyPr>
            <a:normAutofit fontScale="70000" lnSpcReduction="20000"/>
          </a:bodyPr>
          <a:lstStyle/>
          <a:p>
            <a:pPr marL="578358" indent="-514350">
              <a:buFont typeface="+mj-lt"/>
              <a:buAutoNum type="arabicPeriod"/>
            </a:pPr>
            <a:r>
              <a:rPr lang="en-US" dirty="0" smtClean="0"/>
              <a:t>The value of any practice depends on its context.</a:t>
            </a:r>
          </a:p>
          <a:p>
            <a:pPr marL="578358" indent="-514350">
              <a:buFont typeface="+mj-lt"/>
              <a:buAutoNum type="arabicPeriod"/>
            </a:pPr>
            <a:r>
              <a:rPr lang="en-US" dirty="0" smtClean="0"/>
              <a:t>There are good practices in context, but there are no best </a:t>
            </a:r>
            <a:r>
              <a:rPr lang="fi-FI" dirty="0" smtClean="0"/>
              <a:t>practices.</a:t>
            </a:r>
          </a:p>
          <a:p>
            <a:pPr marL="578358" indent="-514350">
              <a:buFont typeface="+mj-lt"/>
              <a:buAutoNum type="arabicPeriod"/>
            </a:pPr>
            <a:r>
              <a:rPr lang="en-US" dirty="0" smtClean="0"/>
              <a:t>People, working together, are the most important part of any </a:t>
            </a:r>
            <a:r>
              <a:rPr lang="fi-FI" dirty="0" smtClean="0"/>
              <a:t>project’s context.</a:t>
            </a:r>
          </a:p>
          <a:p>
            <a:pPr marL="578358" indent="-514350">
              <a:buFont typeface="+mj-lt"/>
              <a:buAutoNum type="arabicPeriod"/>
            </a:pPr>
            <a:r>
              <a:rPr lang="en-US" dirty="0" smtClean="0"/>
              <a:t>Projects unfold over time in ways that are often not </a:t>
            </a:r>
            <a:r>
              <a:rPr lang="fi-FI" dirty="0" smtClean="0"/>
              <a:t>predictable.</a:t>
            </a:r>
          </a:p>
          <a:p>
            <a:pPr marL="578358" indent="-514350">
              <a:buFont typeface="+mj-lt"/>
              <a:buAutoNum type="arabicPeriod"/>
            </a:pPr>
            <a:r>
              <a:rPr lang="en-US" dirty="0" smtClean="0"/>
              <a:t>The product is a solution. If the problem isn’t solved, the </a:t>
            </a:r>
            <a:r>
              <a:rPr lang="fi-FI" dirty="0" smtClean="0"/>
              <a:t>product doesn’t work.</a:t>
            </a:r>
          </a:p>
          <a:p>
            <a:pPr marL="578358" indent="-514350">
              <a:buFont typeface="+mj-lt"/>
              <a:buAutoNum type="arabicPeriod"/>
            </a:pPr>
            <a:r>
              <a:rPr lang="en-US" dirty="0" smtClean="0"/>
              <a:t>Good software testing is a challenging intellectual process.</a:t>
            </a:r>
          </a:p>
          <a:p>
            <a:pPr marL="578358" indent="-514350">
              <a:buFont typeface="+mj-lt"/>
              <a:buAutoNum type="arabicPeriod"/>
            </a:pPr>
            <a:r>
              <a:rPr lang="en-US" dirty="0" smtClean="0"/>
              <a:t>Only through judgment and skill, exercised cooperatively throughout the entire project, are we able to do the right things at the right times to effectively test our products.</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85800" y="228600"/>
            <a:ext cx="7772400" cy="1143000"/>
          </a:xfrm>
        </p:spPr>
        <p:txBody>
          <a:bodyPr>
            <a:normAutofit fontScale="90000"/>
          </a:bodyPr>
          <a:lstStyle/>
          <a:p>
            <a:r>
              <a:rPr lang="en-US" dirty="0" smtClean="0"/>
              <a:t>Plan-driven vs. Agile in Test (1/6)</a:t>
            </a:r>
            <a:br>
              <a:rPr lang="en-US" dirty="0" smtClean="0"/>
            </a:br>
            <a:r>
              <a:rPr lang="en-US" sz="1400" dirty="0" smtClean="0"/>
              <a:t>Source: Pyhäjärvi, M. &amp; </a:t>
            </a:r>
            <a:r>
              <a:rPr lang="en-US" sz="1400" dirty="0" err="1" smtClean="0"/>
              <a:t>Rautiainen</a:t>
            </a:r>
            <a:r>
              <a:rPr lang="en-US" sz="1400" dirty="0" smtClean="0"/>
              <a:t>, K. 2004. Integrating Testing and Implementation into Development. Engineering Management Journal, June ‘04</a:t>
            </a:r>
            <a:r>
              <a:rPr lang="en-US" sz="1800" dirty="0" smtClean="0"/>
              <a:t> </a:t>
            </a:r>
            <a:endParaRPr lang="en-US" sz="1800" dirty="0"/>
          </a:p>
        </p:txBody>
      </p:sp>
      <p:graphicFrame>
        <p:nvGraphicFramePr>
          <p:cNvPr id="58424" name="Group 56"/>
          <p:cNvGraphicFramePr>
            <a:graphicFrameLocks noGrp="1"/>
          </p:cNvGraphicFramePr>
          <p:nvPr>
            <p:ph type="tbl" idx="1"/>
          </p:nvPr>
        </p:nvGraphicFramePr>
        <p:xfrm>
          <a:off x="685800" y="1903413"/>
          <a:ext cx="7772400" cy="4058858"/>
        </p:xfrm>
        <a:graphic>
          <a:graphicData uri="http://schemas.openxmlformats.org/drawingml/2006/table">
            <a:tbl>
              <a:tblPr/>
              <a:tblGrid>
                <a:gridCol w="1752600"/>
                <a:gridCol w="2951163"/>
                <a:gridCol w="3068637"/>
              </a:tblGrid>
              <a:tr h="357188">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smtClean="0">
                        <a:ln>
                          <a:noFill/>
                        </a:ln>
                        <a:solidFill>
                          <a:schemeClr val="bg1"/>
                        </a:solidFill>
                        <a:effectLst/>
                        <a:latin typeface="+mn-lt"/>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823913">
                <a:tc>
                  <a:txBody>
                    <a:bodyPr/>
                    <a:lstStyle/>
                    <a:p>
                      <a:r>
                        <a:rPr lang="en-US" dirty="0" smtClean="0">
                          <a:solidFill>
                            <a:schemeClr val="tx1"/>
                          </a:solidFill>
                        </a:rPr>
                        <a:t>Order of </a:t>
                      </a:r>
                      <a:r>
                        <a:rPr lang="en-US" smtClean="0">
                          <a:solidFill>
                            <a:schemeClr val="tx1"/>
                          </a:solidFill>
                        </a:rPr>
                        <a:t>test execution</a:t>
                      </a:r>
                      <a:endParaRPr lang="en-US" dirty="0">
                        <a:solidFill>
                          <a:schemeClr val="tx1"/>
                        </a:solidFill>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r>
                        <a:rPr lang="en-GB" dirty="0" smtClean="0">
                          <a:solidFill>
                            <a:schemeClr val="bg1"/>
                          </a:solidFill>
                        </a:rPr>
                        <a:t>Low-level</a:t>
                      </a:r>
                      <a:r>
                        <a:rPr lang="en-GB" baseline="0" dirty="0" smtClean="0">
                          <a:solidFill>
                            <a:schemeClr val="bg1"/>
                          </a:solidFill>
                        </a:rPr>
                        <a:t> tests are executed before high-level tests.</a:t>
                      </a:r>
                      <a:endParaRPr lang="en-US" dirty="0">
                        <a:solidFill>
                          <a:schemeClr val="bg1"/>
                        </a:solidFill>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r>
                        <a:rPr lang="en-GB" dirty="0" smtClean="0">
                          <a:solidFill>
                            <a:schemeClr val="bg1"/>
                          </a:solidFill>
                        </a:rPr>
                        <a:t>Testing takes place on all levels in an order that makes most</a:t>
                      </a:r>
                      <a:r>
                        <a:rPr lang="en-GB" baseline="0" dirty="0" smtClean="0">
                          <a:solidFill>
                            <a:schemeClr val="bg1"/>
                          </a:solidFill>
                        </a:rPr>
                        <a:t> sense.</a:t>
                      </a:r>
                      <a:endParaRPr lang="en-US" dirty="0">
                        <a:solidFill>
                          <a:schemeClr val="bg1"/>
                        </a:solidFill>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r>
              <a:tr h="1252538">
                <a:tc>
                  <a:txBody>
                    <a:bodyPr/>
                    <a:lstStyle/>
                    <a:p>
                      <a:r>
                        <a:rPr lang="en-GB" dirty="0" smtClean="0">
                          <a:solidFill>
                            <a:schemeClr val="tx1"/>
                          </a:solidFill>
                        </a:rPr>
                        <a:t>Role of test documentation</a:t>
                      </a:r>
                      <a:endParaRPr lang="en-US" dirty="0">
                        <a:solidFill>
                          <a:schemeClr val="tx1"/>
                        </a:solidFill>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r>
                        <a:rPr lang="en-GB" dirty="0" smtClean="0">
                          <a:solidFill>
                            <a:schemeClr val="bg1"/>
                          </a:solidFill>
                        </a:rPr>
                        <a:t>Without documentation, testing was not done. Aim of comprehensive unambiguous</a:t>
                      </a:r>
                      <a:r>
                        <a:rPr lang="en-GB" baseline="0" dirty="0" smtClean="0">
                          <a:solidFill>
                            <a:schemeClr val="bg1"/>
                          </a:solidFill>
                        </a:rPr>
                        <a:t> documentation.</a:t>
                      </a:r>
                      <a:endParaRPr lang="en-US" dirty="0">
                        <a:solidFill>
                          <a:schemeClr val="bg1"/>
                        </a:solidFill>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r>
                        <a:rPr lang="en-GB" dirty="0" smtClean="0">
                          <a:solidFill>
                            <a:schemeClr val="bg1"/>
                          </a:solidFill>
                        </a:rPr>
                        <a:t>Testing is documented to the extent needed,</a:t>
                      </a:r>
                      <a:r>
                        <a:rPr lang="en-GB" baseline="0" dirty="0" smtClean="0">
                          <a:solidFill>
                            <a:schemeClr val="bg1"/>
                          </a:solidFill>
                        </a:rPr>
                        <a:t> weighing together costs and benefits</a:t>
                      </a:r>
                      <a:endParaRPr lang="en-US" dirty="0">
                        <a:solidFill>
                          <a:schemeClr val="bg1"/>
                        </a:solidFill>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r>
              <a:tr h="1071563">
                <a:tc>
                  <a:txBody>
                    <a:bodyPr/>
                    <a:lstStyle/>
                    <a:p>
                      <a:r>
                        <a:rPr lang="en-GB" dirty="0" smtClean="0">
                          <a:solidFill>
                            <a:schemeClr val="tx1"/>
                          </a:solidFill>
                        </a:rPr>
                        <a:t>What constitutes start of testing</a:t>
                      </a:r>
                      <a:endParaRPr lang="en-US" dirty="0">
                        <a:solidFill>
                          <a:schemeClr val="tx1"/>
                        </a:solidFill>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Starting test planning with late execution is testing.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 planning is not start of testing, if execution can’t be combined in an exploratory fashion.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5" name="Slide Number Placeholder 4"/>
          <p:cNvSpPr>
            <a:spLocks noGrp="1"/>
          </p:cNvSpPr>
          <p:nvPr>
            <p:ph type="sldNum" sz="quarter" idx="11"/>
          </p:nvPr>
        </p:nvSpPr>
        <p:spPr/>
        <p:txBody>
          <a:bodyPr/>
          <a:lstStyle/>
          <a:p>
            <a:fld id="{BE1B1E6B-0BAA-43EA-8D22-DA929425F976}"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52" name="Group 36"/>
          <p:cNvGraphicFramePr>
            <a:graphicFrameLocks noGrp="1"/>
          </p:cNvGraphicFramePr>
          <p:nvPr>
            <p:ph type="tbl" idx="1"/>
          </p:nvPr>
        </p:nvGraphicFramePr>
        <p:xfrm>
          <a:off x="685800" y="1919288"/>
          <a:ext cx="7772400" cy="3826765"/>
        </p:xfrm>
        <a:graphic>
          <a:graphicData uri="http://schemas.openxmlformats.org/drawingml/2006/table">
            <a:tbl>
              <a:tblPr/>
              <a:tblGrid>
                <a:gridCol w="1635125"/>
                <a:gridCol w="3068638"/>
                <a:gridCol w="3068637"/>
              </a:tblGrid>
              <a:tr h="350838">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8080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Focus in controlling the testing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V-model and size of testable items on each level.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Depth of testing for the system currently at hand based on its maturity.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1295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View of test strategy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Seen as something above test project plans, combining several projects.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Seen as the projects tangible testing approach combining test techniques to quality criteria, project environment and product elements.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7461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Test design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Early test design emphasized.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On-time test design emphasized.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60440" name="Rectangle 24"/>
          <p:cNvSpPr>
            <a:spLocks noGrp="1" noChangeArrowheads="1"/>
          </p:cNvSpPr>
          <p:nvPr>
            <p:ph type="title"/>
          </p:nvPr>
        </p:nvSpPr>
        <p:spPr>
          <a:xfrm>
            <a:off x="685800" y="228600"/>
            <a:ext cx="7772400" cy="1143000"/>
          </a:xfrm>
          <a:noFill/>
          <a:ln/>
        </p:spPr>
        <p:txBody>
          <a:bodyPr>
            <a:normAutofit fontScale="90000"/>
          </a:bodyPr>
          <a:lstStyle/>
          <a:p>
            <a:r>
              <a:rPr lang="en-US" dirty="0" smtClean="0"/>
              <a:t>Plan-driven vs. Agile in Test (2/6</a:t>
            </a:r>
            <a:r>
              <a:rPr lang="en-US" dirty="0"/>
              <a:t>)</a:t>
            </a:r>
            <a:br>
              <a:rPr lang="en-US" dirty="0"/>
            </a:br>
            <a:r>
              <a:rPr lang="en-US" sz="1400" dirty="0" smtClean="0"/>
              <a:t> Source : </a:t>
            </a:r>
            <a:r>
              <a:rPr lang="en-US" sz="1400" dirty="0"/>
              <a:t>Pyhäjärvi, M. &amp; </a:t>
            </a:r>
            <a:r>
              <a:rPr lang="en-US" sz="1400" dirty="0" err="1"/>
              <a:t>Rautiainen</a:t>
            </a:r>
            <a:r>
              <a:rPr lang="en-US" sz="1400" dirty="0"/>
              <a:t>, K. 2004. Integrating Testing and Implementation into Development. Engineering Management Journal, June ‘04</a:t>
            </a:r>
            <a:r>
              <a:rPr lang="en-US" sz="1800" dirty="0"/>
              <a:t> </a:t>
            </a:r>
          </a:p>
        </p:txBody>
      </p:sp>
      <p:sp>
        <p:nvSpPr>
          <p:cNvPr id="5" name="Slide Number Placeholder 4"/>
          <p:cNvSpPr>
            <a:spLocks noGrp="1"/>
          </p:cNvSpPr>
          <p:nvPr>
            <p:ph type="sldNum" sz="quarter" idx="11"/>
          </p:nvPr>
        </p:nvSpPr>
        <p:spPr/>
        <p:txBody>
          <a:bodyPr/>
          <a:lstStyle/>
          <a:p>
            <a:fld id="{BE1B1E6B-0BAA-43EA-8D22-DA929425F976}"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519" name="Group 55"/>
          <p:cNvGraphicFramePr>
            <a:graphicFrameLocks noGrp="1"/>
          </p:cNvGraphicFramePr>
          <p:nvPr>
            <p:ph type="tbl" idx="1"/>
          </p:nvPr>
        </p:nvGraphicFramePr>
        <p:xfrm>
          <a:off x="685800" y="1903413"/>
          <a:ext cx="7772400" cy="4269360"/>
        </p:xfrm>
        <a:graphic>
          <a:graphicData uri="http://schemas.openxmlformats.org/drawingml/2006/table">
            <a:tbl>
              <a:tblPr/>
              <a:tblGrid>
                <a:gridCol w="1654175"/>
                <a:gridCol w="3049588"/>
                <a:gridCol w="3068637"/>
              </a:tblGrid>
              <a:tr h="336550">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1238250">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fi-FI" sz="1800" b="0" i="0" u="none" strike="noStrike" cap="none" normalizeH="0" baseline="0" dirty="0" smtClean="0">
                          <a:ln>
                            <a:noFill/>
                          </a:ln>
                          <a:solidFill>
                            <a:schemeClr val="tx1"/>
                          </a:solidFill>
                          <a:effectLst/>
                          <a:latin typeface="+mn-lt"/>
                        </a:rPr>
                        <a:t>Test cases</a:t>
                      </a:r>
                      <a:endParaRPr kumimoji="0" lang="en-US"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en-US" sz="1800" b="0" i="0" u="none" strike="noStrike" cap="none" normalizeH="0" baseline="0" dirty="0" smtClean="0">
                          <a:ln>
                            <a:noFill/>
                          </a:ln>
                          <a:solidFill>
                            <a:schemeClr val="bg1"/>
                          </a:solidFill>
                          <a:effectLst/>
                          <a:latin typeface="+mn-lt"/>
                        </a:rPr>
                        <a:t>Test case can be executed and interpreted by someone other than who designed it. The test case must define the expected output.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en-US" sz="1800" b="0" i="0" u="none" strike="noStrike" cap="none" normalizeH="0" baseline="0" dirty="0" smtClean="0">
                          <a:ln>
                            <a:noFill/>
                          </a:ln>
                          <a:solidFill>
                            <a:schemeClr val="bg1"/>
                          </a:solidFill>
                          <a:effectLst/>
                          <a:latin typeface="+mn-lt"/>
                        </a:rPr>
                        <a:t>Questions to the software that may also be open-ended, even though thinking of the hypothesis is important, documentation need varies.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774700">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cap="none" normalizeH="0" baseline="0" dirty="0" smtClean="0">
                          <a:ln>
                            <a:noFill/>
                          </a:ln>
                          <a:solidFill>
                            <a:schemeClr val="tx1"/>
                          </a:solidFill>
                          <a:effectLst/>
                          <a:latin typeface="+mn-lt"/>
                        </a:rPr>
                        <a:t>Test techniques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Preferably mathematical form, enables same results for different users.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Preferably heuristic form, enables useful results for different users.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774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Level of test-first design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 design first by tester to find faults in high-level requirements.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 first design by developer.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62488" name="Rectangle 24"/>
          <p:cNvSpPr>
            <a:spLocks noGrp="1" noChangeArrowheads="1"/>
          </p:cNvSpPr>
          <p:nvPr>
            <p:ph type="title"/>
          </p:nvPr>
        </p:nvSpPr>
        <p:spPr>
          <a:xfrm>
            <a:off x="685800" y="228600"/>
            <a:ext cx="7772400" cy="1143000"/>
          </a:xfrm>
          <a:noFill/>
          <a:ln/>
        </p:spPr>
        <p:txBody>
          <a:bodyPr>
            <a:normAutofit fontScale="90000"/>
          </a:bodyPr>
          <a:lstStyle/>
          <a:p>
            <a:r>
              <a:rPr lang="en-US" dirty="0" smtClean="0"/>
              <a:t>Plan-driven vs. Agile in Test (3/6</a:t>
            </a:r>
            <a:r>
              <a:rPr lang="en-US" dirty="0"/>
              <a:t>)</a:t>
            </a:r>
            <a:br>
              <a:rPr lang="en-US" dirty="0"/>
            </a:br>
            <a:r>
              <a:rPr lang="en-US" sz="1400" dirty="0" smtClean="0"/>
              <a:t> Source : </a:t>
            </a:r>
            <a:r>
              <a:rPr lang="en-US" sz="1400" dirty="0"/>
              <a:t>Pyhäjärvi, M. &amp; </a:t>
            </a:r>
            <a:r>
              <a:rPr lang="en-US" sz="1400" dirty="0" err="1"/>
              <a:t>Rautiainen</a:t>
            </a:r>
            <a:r>
              <a:rPr lang="en-US" sz="1400" dirty="0"/>
              <a:t>, K. 2004. Integrating Testing and Implementation into Development. Engineering Management Journal, June ‘04</a:t>
            </a:r>
            <a:r>
              <a:rPr lang="en-US" sz="1800" dirty="0"/>
              <a:t> </a:t>
            </a:r>
          </a:p>
        </p:txBody>
      </p:sp>
      <p:sp>
        <p:nvSpPr>
          <p:cNvPr id="5" name="Slide Number Placeholder 4"/>
          <p:cNvSpPr>
            <a:spLocks noGrp="1"/>
          </p:cNvSpPr>
          <p:nvPr>
            <p:ph type="sldNum" sz="quarter" idx="11"/>
          </p:nvPr>
        </p:nvSpPr>
        <p:spPr/>
        <p:txBody>
          <a:bodyPr/>
          <a:lstStyle/>
          <a:p>
            <a:fld id="{BE1B1E6B-0BAA-43EA-8D22-DA929425F976}"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57" name="Group 45"/>
          <p:cNvGraphicFramePr>
            <a:graphicFrameLocks noGrp="1"/>
          </p:cNvGraphicFramePr>
          <p:nvPr>
            <p:ph type="tbl" idx="1"/>
          </p:nvPr>
        </p:nvGraphicFramePr>
        <p:xfrm>
          <a:off x="685800" y="1893888"/>
          <a:ext cx="7772400" cy="3860421"/>
        </p:xfrm>
        <a:graphic>
          <a:graphicData uri="http://schemas.openxmlformats.org/drawingml/2006/table">
            <a:tbl>
              <a:tblPr/>
              <a:tblGrid>
                <a:gridCol w="1635125"/>
                <a:gridCol w="3068638"/>
                <a:gridCol w="3068637"/>
              </a:tblGrid>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1150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i-FI" sz="1800" b="0" i="0" u="none" strike="noStrike" cap="none" normalizeH="0" baseline="0" dirty="0" smtClean="0">
                          <a:ln>
                            <a:noFill/>
                          </a:ln>
                          <a:solidFill>
                            <a:schemeClr val="tx1"/>
                          </a:solidFill>
                          <a:effectLst/>
                          <a:latin typeface="+mn-lt"/>
                        </a:rPr>
                        <a:t>Culture</a:t>
                      </a:r>
                      <a:endParaRPr kumimoji="0" lang="en-US" sz="1800" b="0" i="0" u="none" strike="noStrike" cap="none" normalizeH="0" baseline="0" dirty="0" smtClean="0">
                        <a:ln>
                          <a:noFill/>
                        </a:ln>
                        <a:solidFill>
                          <a:schemeClr val="tx1"/>
                        </a:solidFill>
                        <a:effectLst/>
                        <a:latin typeface="+mn-lt"/>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bg1"/>
                          </a:solidFill>
                          <a:effectLst/>
                          <a:latin typeface="+mn-lt"/>
                        </a:rPr>
                        <a:t>Control, in form of emphasizing entry and exit criteria in testing.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bg1"/>
                          </a:solidFill>
                          <a:effectLst/>
                          <a:latin typeface="+mn-lt"/>
                        </a:rPr>
                        <a:t>Collaboration, in form of emphasizing testing as service providing value constantly.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11525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Types of processes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Step-by-step processes, requiring as little interpretation as possible.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bg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Backward-forward processes, leaving room for deciding when each process phase should be done.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817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Role emphasis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Emphasizes test manager and his skills.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pPr>
                      <a:r>
                        <a:rPr kumimoji="0" lang="en-US" sz="1800" b="0" i="0" u="none" strike="noStrike" cap="none" normalizeH="0" baseline="0" dirty="0" smtClean="0">
                          <a:ln>
                            <a:noFill/>
                          </a:ln>
                          <a:solidFill>
                            <a:schemeClr val="bg1"/>
                          </a:solidFill>
                          <a:effectLst/>
                          <a:latin typeface="+mn-lt"/>
                        </a:rPr>
                        <a:t>Emphasizes each tester and his skills.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64536" name="Rectangle 24"/>
          <p:cNvSpPr>
            <a:spLocks noGrp="1" noChangeArrowheads="1"/>
          </p:cNvSpPr>
          <p:nvPr>
            <p:ph type="title"/>
          </p:nvPr>
        </p:nvSpPr>
        <p:spPr>
          <a:xfrm>
            <a:off x="685800" y="228600"/>
            <a:ext cx="7772400" cy="1143000"/>
          </a:xfrm>
          <a:noFill/>
          <a:ln/>
        </p:spPr>
        <p:txBody>
          <a:bodyPr>
            <a:normAutofit fontScale="90000"/>
          </a:bodyPr>
          <a:lstStyle/>
          <a:p>
            <a:r>
              <a:rPr lang="en-US" dirty="0" smtClean="0"/>
              <a:t>Plan-driven vs. Agile in Test (4/6</a:t>
            </a:r>
            <a:r>
              <a:rPr lang="en-US" dirty="0"/>
              <a:t>)</a:t>
            </a:r>
            <a:br>
              <a:rPr lang="en-US" dirty="0"/>
            </a:br>
            <a:r>
              <a:rPr lang="en-US" sz="1400" dirty="0" smtClean="0"/>
              <a:t> Source : </a:t>
            </a:r>
            <a:r>
              <a:rPr lang="en-US" sz="1400" dirty="0"/>
              <a:t>Pyhäjärvi, M. &amp; </a:t>
            </a:r>
            <a:r>
              <a:rPr lang="en-US" sz="1400" dirty="0" err="1"/>
              <a:t>Rautiainen</a:t>
            </a:r>
            <a:r>
              <a:rPr lang="en-US" sz="1400" dirty="0"/>
              <a:t>, K. 2004. Integrating Testing and Implementation into Development. Engineering Management Journal, June ‘04</a:t>
            </a:r>
            <a:r>
              <a:rPr lang="en-US" sz="1800" dirty="0"/>
              <a:t> </a:t>
            </a:r>
          </a:p>
        </p:txBody>
      </p:sp>
      <p:sp>
        <p:nvSpPr>
          <p:cNvPr id="5" name="Slide Number Placeholder 4"/>
          <p:cNvSpPr>
            <a:spLocks noGrp="1"/>
          </p:cNvSpPr>
          <p:nvPr>
            <p:ph type="sldNum" sz="quarter" idx="11"/>
          </p:nvPr>
        </p:nvSpPr>
        <p:spPr/>
        <p:txBody>
          <a:bodyPr/>
          <a:lstStyle/>
          <a:p>
            <a:fld id="{BE1B1E6B-0BAA-43EA-8D22-DA929425F976}"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613" name="Group 53"/>
          <p:cNvGraphicFramePr>
            <a:graphicFrameLocks noGrp="1"/>
          </p:cNvGraphicFramePr>
          <p:nvPr>
            <p:ph type="tbl" idx="1"/>
          </p:nvPr>
        </p:nvGraphicFramePr>
        <p:xfrm>
          <a:off x="685800" y="1889125"/>
          <a:ext cx="7772400" cy="4058223"/>
        </p:xfrm>
        <a:graphic>
          <a:graphicData uri="http://schemas.openxmlformats.org/drawingml/2006/table">
            <a:tbl>
              <a:tblPr/>
              <a:tblGrid>
                <a:gridCol w="1635125"/>
                <a:gridCol w="3068638"/>
                <a:gridCol w="3068637"/>
              </a:tblGrid>
              <a:tr h="365125">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7762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Focus of improvement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Focus on developing methods.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bg1"/>
                          </a:solidFill>
                          <a:effectLst/>
                          <a:latin typeface="+mn-lt"/>
                        </a:rPr>
                        <a:t>Focus on developing skills.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8413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View on practices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Best practices exist and should be applied.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All so-called best practices are just heuristics, rules of thumb.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1598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Pacing testing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Testing to be planned is described as off-synch testing, responding to development in larger increments.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Testing to be planned is mixed off-synch and in-synch, with emphasis on in-synch testing and usually intuition-based describing the off-synch activities.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66584" name="Rectangle 24"/>
          <p:cNvSpPr>
            <a:spLocks noGrp="1" noChangeArrowheads="1"/>
          </p:cNvSpPr>
          <p:nvPr>
            <p:ph type="title"/>
          </p:nvPr>
        </p:nvSpPr>
        <p:spPr>
          <a:xfrm>
            <a:off x="685800" y="228600"/>
            <a:ext cx="7772400" cy="1143000"/>
          </a:xfrm>
          <a:noFill/>
          <a:ln/>
        </p:spPr>
        <p:txBody>
          <a:bodyPr>
            <a:normAutofit fontScale="90000"/>
          </a:bodyPr>
          <a:lstStyle/>
          <a:p>
            <a:r>
              <a:rPr lang="en-US" dirty="0" smtClean="0"/>
              <a:t>Plan-driven vs. Agile in Test (5/6)</a:t>
            </a:r>
            <a:br>
              <a:rPr lang="en-US" dirty="0" smtClean="0"/>
            </a:br>
            <a:r>
              <a:rPr lang="en-US" sz="1400" dirty="0" smtClean="0"/>
              <a:t> Source : Pyhäjärvi, M. &amp; </a:t>
            </a:r>
            <a:r>
              <a:rPr lang="en-US" sz="1400" dirty="0" err="1" smtClean="0"/>
              <a:t>Rautiainen</a:t>
            </a:r>
            <a:r>
              <a:rPr lang="en-US" sz="1400" dirty="0" smtClean="0"/>
              <a:t>, K. 2004. Integrating Testing and Implementation into Development. Engineering Management Journal, June ‘04</a:t>
            </a:r>
            <a:r>
              <a:rPr lang="en-US" sz="1800" dirty="0" smtClean="0"/>
              <a:t> </a:t>
            </a:r>
            <a:endParaRPr lang="en-US" sz="1800" dirty="0"/>
          </a:p>
        </p:txBody>
      </p:sp>
      <p:sp>
        <p:nvSpPr>
          <p:cNvPr id="5" name="Slide Number Placeholder 4"/>
          <p:cNvSpPr>
            <a:spLocks noGrp="1"/>
          </p:cNvSpPr>
          <p:nvPr>
            <p:ph type="sldNum" sz="quarter" idx="11"/>
          </p:nvPr>
        </p:nvSpPr>
        <p:spPr/>
        <p:txBody>
          <a:bodyPr/>
          <a:lstStyle/>
          <a:p>
            <a:fld id="{BE1B1E6B-0BAA-43EA-8D22-DA929425F976}"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49" name="Group 41"/>
          <p:cNvGraphicFramePr>
            <a:graphicFrameLocks noGrp="1"/>
          </p:cNvGraphicFramePr>
          <p:nvPr>
            <p:ph type="tbl" idx="1"/>
          </p:nvPr>
        </p:nvGraphicFramePr>
        <p:xfrm>
          <a:off x="685800" y="1857375"/>
          <a:ext cx="7772400" cy="2987676"/>
        </p:xfrm>
        <a:graphic>
          <a:graphicData uri="http://schemas.openxmlformats.org/drawingml/2006/table">
            <a:tbl>
              <a:tblPr/>
              <a:tblGrid>
                <a:gridCol w="1635125"/>
                <a:gridCol w="3068638"/>
                <a:gridCol w="3068637"/>
              </a:tblGrid>
              <a:tr h="411163">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sz="2000" b="1" dirty="0" smtClean="0">
                          <a:solidFill>
                            <a:schemeClr val="bg1"/>
                          </a:solidFill>
                        </a:rPr>
                        <a:t>Aspect of Testing</a:t>
                      </a:r>
                      <a:endParaRPr lang="en-US" sz="2000" b="1" dirty="0" smtClean="0">
                        <a:solidFill>
                          <a:schemeClr val="bg1"/>
                        </a:solidFill>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en-GB" b="1" dirty="0" smtClean="0">
                          <a:solidFill>
                            <a:schemeClr val="bg1"/>
                          </a:solidFill>
                        </a:rPr>
                        <a:t>Traditional Testing</a:t>
                      </a:r>
                      <a:endParaRPr lang="en-US" b="1" dirty="0" smtClean="0">
                        <a:solidFill>
                          <a:schemeClr val="bg1"/>
                        </a:solidFill>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smtClean="0">
                          <a:ln>
                            <a:noFill/>
                          </a:ln>
                          <a:solidFill>
                            <a:schemeClr val="bg1"/>
                          </a:solidFill>
                          <a:effectLst/>
                          <a:latin typeface="+mn-lt"/>
                        </a:rPr>
                        <a:t>Agile (exploratory) testing</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1274763">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tx1"/>
                          </a:solidFill>
                          <a:effectLst/>
                          <a:latin typeface="+mn-lt"/>
                        </a:rPr>
                        <a:t>Requirements specification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bg1"/>
                          </a:solidFill>
                          <a:effectLst/>
                          <a:latin typeface="+mn-lt"/>
                        </a:rPr>
                        <a:t>If you don’t have a specification, you can’t test. Thus you should require unambiguous requirements.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20000"/>
                        </a:lnSpc>
                        <a:spcBef>
                          <a:spcPct val="20000"/>
                        </a:spcBef>
                        <a:spcAft>
                          <a:spcPct val="20000"/>
                        </a:spcAft>
                        <a:buClrTx/>
                        <a:buSzTx/>
                        <a:buFont typeface="Times" pitchFamily="18" charset="0"/>
                        <a:buNone/>
                        <a:tabLst/>
                        <a:defRPr/>
                      </a:pPr>
                      <a:r>
                        <a:rPr kumimoji="0" lang="en-US" sz="1800" b="0" i="0" u="none" strike="noStrike" cap="none" normalizeH="0" baseline="0" dirty="0" smtClean="0">
                          <a:ln>
                            <a:noFill/>
                          </a:ln>
                          <a:solidFill>
                            <a:schemeClr val="bg1"/>
                          </a:solidFill>
                          <a:effectLst/>
                          <a:latin typeface="+mn-lt"/>
                        </a:rPr>
                        <a:t>Requirements are useful fiction at best. Documentation is always only fiction – if it’s useful, excellent.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r>
              <a:tr h="8763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tx1"/>
                          </a:solidFill>
                          <a:effectLst/>
                          <a:latin typeface="+mn-lt"/>
                        </a:rPr>
                        <a:t>Validation and testing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Testing is verification and validation is done if needed.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smtClean="0">
                          <a:ln>
                            <a:noFill/>
                          </a:ln>
                          <a:solidFill>
                            <a:schemeClr val="bg1"/>
                          </a:solidFill>
                          <a:effectLst/>
                          <a:latin typeface="+mn-lt"/>
                        </a:rPr>
                        <a:t>Validation is an essential part of testing.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folHlink"/>
                    </a:solidFill>
                  </a:tcPr>
                </a:tc>
              </a:tr>
            </a:tbl>
          </a:graphicData>
        </a:graphic>
      </p:graphicFrame>
      <p:sp>
        <p:nvSpPr>
          <p:cNvPr id="68628" name="Rectangle 20"/>
          <p:cNvSpPr>
            <a:spLocks noGrp="1" noChangeArrowheads="1"/>
          </p:cNvSpPr>
          <p:nvPr>
            <p:ph type="title"/>
          </p:nvPr>
        </p:nvSpPr>
        <p:spPr>
          <a:xfrm>
            <a:off x="685800" y="228600"/>
            <a:ext cx="7772400" cy="1143000"/>
          </a:xfrm>
          <a:noFill/>
          <a:ln/>
        </p:spPr>
        <p:txBody>
          <a:bodyPr>
            <a:normAutofit fontScale="90000"/>
          </a:bodyPr>
          <a:lstStyle/>
          <a:p>
            <a:r>
              <a:rPr lang="en-US" dirty="0" smtClean="0"/>
              <a:t>Plan-driven vs. Agile in Test (6/6</a:t>
            </a:r>
            <a:r>
              <a:rPr lang="en-US" dirty="0"/>
              <a:t>)</a:t>
            </a:r>
            <a:br>
              <a:rPr lang="en-US" dirty="0"/>
            </a:br>
            <a:r>
              <a:rPr lang="en-US" sz="1400" dirty="0" smtClean="0"/>
              <a:t>Source: </a:t>
            </a:r>
            <a:r>
              <a:rPr lang="en-US" sz="1400" dirty="0"/>
              <a:t>Pyhäjärvi, M. &amp; </a:t>
            </a:r>
            <a:r>
              <a:rPr lang="en-US" sz="1400" dirty="0" err="1"/>
              <a:t>Rautiainen</a:t>
            </a:r>
            <a:r>
              <a:rPr lang="en-US" sz="1400" dirty="0"/>
              <a:t>, K. 2004. Integrating Testing and Implementation into Development. Engineering Management Journal, June ‘04</a:t>
            </a:r>
            <a:r>
              <a:rPr lang="en-US" sz="1800" dirty="0"/>
              <a:t> </a:t>
            </a:r>
          </a:p>
        </p:txBody>
      </p:sp>
      <p:sp>
        <p:nvSpPr>
          <p:cNvPr id="5" name="Slide Number Placeholder 4"/>
          <p:cNvSpPr>
            <a:spLocks noGrp="1"/>
          </p:cNvSpPr>
          <p:nvPr>
            <p:ph type="sldNum" sz="quarter" idx="11"/>
          </p:nvPr>
        </p:nvSpPr>
        <p:spPr/>
        <p:txBody>
          <a:bodyPr/>
          <a:lstStyle/>
          <a:p>
            <a:fld id="{BE1B1E6B-0BAA-43EA-8D22-DA929425F976}"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dirty="0" smtClean="0"/>
              <a:t>Combining Two of a Kind</a:t>
            </a:r>
            <a:endParaRPr lang="en-GB" dirty="0"/>
          </a:p>
        </p:txBody>
      </p:sp>
      <p:sp>
        <p:nvSpPr>
          <p:cNvPr id="72707" name="Rectangle 3"/>
          <p:cNvSpPr>
            <a:spLocks noChangeArrowheads="1"/>
          </p:cNvSpPr>
          <p:nvPr/>
        </p:nvSpPr>
        <p:spPr bwMode="auto">
          <a:xfrm>
            <a:off x="908050" y="1628775"/>
            <a:ext cx="3808413" cy="3933825"/>
          </a:xfrm>
          <a:prstGeom prst="rect">
            <a:avLst/>
          </a:prstGeom>
          <a:solidFill>
            <a:schemeClr val="accent2"/>
          </a:solidFill>
          <a:ln w="9525">
            <a:noFill/>
            <a:miter lim="800000"/>
            <a:headEnd/>
            <a:tailEnd/>
          </a:ln>
          <a:effectLst/>
        </p:spPr>
        <p:txBody>
          <a:bodyPr wrap="none" anchor="ctr"/>
          <a:lstStyle/>
          <a:p>
            <a:pPr algn="ctr"/>
            <a:endParaRPr lang="en-GB" sz="1400"/>
          </a:p>
        </p:txBody>
      </p:sp>
      <p:sp>
        <p:nvSpPr>
          <p:cNvPr id="72708" name="Rectangle 4"/>
          <p:cNvSpPr>
            <a:spLocks noChangeArrowheads="1"/>
          </p:cNvSpPr>
          <p:nvPr/>
        </p:nvSpPr>
        <p:spPr bwMode="auto">
          <a:xfrm>
            <a:off x="4724400" y="1628775"/>
            <a:ext cx="3808413" cy="3933825"/>
          </a:xfrm>
          <a:prstGeom prst="rect">
            <a:avLst/>
          </a:prstGeom>
          <a:solidFill>
            <a:schemeClr val="accent2"/>
          </a:solidFill>
          <a:ln w="9525">
            <a:noFill/>
            <a:miter lim="800000"/>
            <a:headEnd/>
            <a:tailEnd/>
          </a:ln>
          <a:effectLst/>
        </p:spPr>
        <p:txBody>
          <a:bodyPr wrap="none" anchor="ctr"/>
          <a:lstStyle/>
          <a:p>
            <a:endParaRPr lang="fi-FI"/>
          </a:p>
        </p:txBody>
      </p:sp>
      <p:sp>
        <p:nvSpPr>
          <p:cNvPr id="72709" name="Rectangle 5"/>
          <p:cNvSpPr>
            <a:spLocks noChangeArrowheads="1"/>
          </p:cNvSpPr>
          <p:nvPr/>
        </p:nvSpPr>
        <p:spPr bwMode="auto">
          <a:xfrm>
            <a:off x="1136650" y="2717800"/>
            <a:ext cx="3290888" cy="7874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fontAlgn="b"/>
            <a:r>
              <a:rPr lang="fi-FI" dirty="0" smtClean="0">
                <a:solidFill>
                  <a:schemeClr val="bg1"/>
                </a:solidFill>
              </a:rPr>
              <a:t>Testing group</a:t>
            </a:r>
            <a:endParaRPr lang="en-GB" dirty="0" smtClean="0">
              <a:solidFill>
                <a:schemeClr val="bg1"/>
              </a:solidFill>
            </a:endParaRPr>
          </a:p>
        </p:txBody>
      </p:sp>
      <p:sp>
        <p:nvSpPr>
          <p:cNvPr id="72710" name="Rectangle 6"/>
          <p:cNvSpPr>
            <a:spLocks noChangeArrowheads="1"/>
          </p:cNvSpPr>
          <p:nvPr/>
        </p:nvSpPr>
        <p:spPr bwMode="auto">
          <a:xfrm>
            <a:off x="4953000" y="4318000"/>
            <a:ext cx="3201988" cy="7874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fontAlgn="b"/>
            <a:r>
              <a:rPr lang="fi-FI" dirty="0" smtClean="0">
                <a:solidFill>
                  <a:schemeClr val="bg1"/>
                </a:solidFill>
              </a:rPr>
              <a:t>Testing group</a:t>
            </a:r>
            <a:endParaRPr lang="en-GB" dirty="0">
              <a:solidFill>
                <a:schemeClr val="bg1"/>
              </a:solidFill>
            </a:endParaRPr>
          </a:p>
        </p:txBody>
      </p:sp>
      <p:sp>
        <p:nvSpPr>
          <p:cNvPr id="72711" name="Rectangle 7"/>
          <p:cNvSpPr>
            <a:spLocks noChangeArrowheads="1"/>
          </p:cNvSpPr>
          <p:nvPr/>
        </p:nvSpPr>
        <p:spPr bwMode="auto">
          <a:xfrm>
            <a:off x="1155700" y="1700213"/>
            <a:ext cx="3271838" cy="43338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r>
              <a:rPr lang="fi-FI" b="1" dirty="0" smtClean="0">
                <a:solidFill>
                  <a:schemeClr val="bg1"/>
                </a:solidFill>
              </a:rPr>
              <a:t>Plan-driven</a:t>
            </a:r>
            <a:endParaRPr lang="en-GB" b="1" dirty="0">
              <a:solidFill>
                <a:schemeClr val="bg1"/>
              </a:solidFill>
            </a:endParaRPr>
          </a:p>
        </p:txBody>
      </p:sp>
      <p:sp>
        <p:nvSpPr>
          <p:cNvPr id="72712" name="Rectangle 8"/>
          <p:cNvSpPr>
            <a:spLocks noChangeArrowheads="1"/>
          </p:cNvSpPr>
          <p:nvPr/>
        </p:nvSpPr>
        <p:spPr bwMode="auto">
          <a:xfrm>
            <a:off x="4953000" y="1700213"/>
            <a:ext cx="3248025" cy="43338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r>
              <a:rPr lang="fi-FI" b="1" smtClean="0">
                <a:solidFill>
                  <a:schemeClr val="bg1"/>
                </a:solidFill>
              </a:rPr>
              <a:t>Agile</a:t>
            </a:r>
            <a:endParaRPr lang="en-GB" b="1" dirty="0">
              <a:solidFill>
                <a:schemeClr val="bg1"/>
              </a:solidFill>
            </a:endParaRPr>
          </a:p>
        </p:txBody>
      </p:sp>
      <p:sp>
        <p:nvSpPr>
          <p:cNvPr id="72713" name="Rectangle 9"/>
          <p:cNvSpPr>
            <a:spLocks noChangeArrowheads="1"/>
          </p:cNvSpPr>
          <p:nvPr/>
        </p:nvSpPr>
        <p:spPr bwMode="auto">
          <a:xfrm>
            <a:off x="1136650" y="4318000"/>
            <a:ext cx="3290888" cy="7874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fontAlgn="b"/>
            <a:r>
              <a:rPr lang="fi-FI" dirty="0" smtClean="0">
                <a:solidFill>
                  <a:schemeClr val="bg1"/>
                </a:solidFill>
              </a:rPr>
              <a:t>Development group</a:t>
            </a:r>
            <a:endParaRPr lang="en-GB" dirty="0" smtClean="0">
              <a:solidFill>
                <a:schemeClr val="bg1"/>
              </a:solidFill>
            </a:endParaRPr>
          </a:p>
        </p:txBody>
      </p:sp>
      <p:sp>
        <p:nvSpPr>
          <p:cNvPr id="72714" name="Rectangle 10"/>
          <p:cNvSpPr>
            <a:spLocks noChangeArrowheads="1"/>
          </p:cNvSpPr>
          <p:nvPr/>
        </p:nvSpPr>
        <p:spPr bwMode="auto">
          <a:xfrm>
            <a:off x="4953000" y="2717800"/>
            <a:ext cx="3201988" cy="7874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fontAlgn="b"/>
            <a:r>
              <a:rPr lang="fi-FI" dirty="0" smtClean="0">
                <a:solidFill>
                  <a:schemeClr val="bg1"/>
                </a:solidFill>
              </a:rPr>
              <a:t>Development group</a:t>
            </a:r>
            <a:endParaRPr lang="en-GB" dirty="0">
              <a:solidFill>
                <a:schemeClr val="bg1"/>
              </a:solidFill>
            </a:endParaRPr>
          </a:p>
        </p:txBody>
      </p:sp>
      <p:sp>
        <p:nvSpPr>
          <p:cNvPr id="72715" name="Rectangle 11"/>
          <p:cNvSpPr>
            <a:spLocks noChangeArrowheads="1"/>
          </p:cNvSpPr>
          <p:nvPr/>
        </p:nvSpPr>
        <p:spPr bwMode="auto">
          <a:xfrm>
            <a:off x="1060450" y="2268538"/>
            <a:ext cx="3462338" cy="3032125"/>
          </a:xfrm>
          <a:prstGeom prst="rect">
            <a:avLst/>
          </a:prstGeom>
          <a:noFill/>
          <a:ln w="38100">
            <a:solidFill>
              <a:srgbClr val="FF0000"/>
            </a:solidFill>
            <a:prstDash val="sysDot"/>
            <a:miter lim="800000"/>
            <a:headEnd/>
            <a:tailEnd/>
          </a:ln>
          <a:effectLst/>
        </p:spPr>
        <p:txBody>
          <a:bodyPr wrap="none"/>
          <a:lstStyle/>
          <a:p>
            <a:r>
              <a:rPr lang="fi-FI" sz="1800" b="1"/>
              <a:t>Projekti 1</a:t>
            </a:r>
            <a:endParaRPr lang="en-GB" sz="1800" b="1"/>
          </a:p>
        </p:txBody>
      </p:sp>
      <p:sp>
        <p:nvSpPr>
          <p:cNvPr id="72716" name="Rectangle 12"/>
          <p:cNvSpPr>
            <a:spLocks noChangeArrowheads="1"/>
          </p:cNvSpPr>
          <p:nvPr/>
        </p:nvSpPr>
        <p:spPr bwMode="auto">
          <a:xfrm>
            <a:off x="4800600" y="2270125"/>
            <a:ext cx="3462338" cy="3030538"/>
          </a:xfrm>
          <a:prstGeom prst="rect">
            <a:avLst/>
          </a:prstGeom>
          <a:noFill/>
          <a:ln w="38100">
            <a:solidFill>
              <a:srgbClr val="FF0000"/>
            </a:solidFill>
            <a:prstDash val="sysDot"/>
            <a:miter lim="800000"/>
            <a:headEnd/>
            <a:tailEnd/>
          </a:ln>
          <a:effectLst/>
        </p:spPr>
        <p:txBody>
          <a:bodyPr wrap="none"/>
          <a:lstStyle/>
          <a:p>
            <a:r>
              <a:rPr lang="fi-FI" sz="1800" b="1"/>
              <a:t>Projekti 2</a:t>
            </a:r>
            <a:endParaRPr lang="en-GB" sz="1800" b="1"/>
          </a:p>
        </p:txBody>
      </p:sp>
      <p:sp>
        <p:nvSpPr>
          <p:cNvPr id="72717" name="Text Box 13"/>
          <p:cNvSpPr txBox="1">
            <a:spLocks noChangeArrowheads="1"/>
          </p:cNvSpPr>
          <p:nvPr/>
        </p:nvSpPr>
        <p:spPr bwMode="auto">
          <a:xfrm>
            <a:off x="2484438" y="3479800"/>
            <a:ext cx="519112" cy="762000"/>
          </a:xfrm>
          <a:prstGeom prst="rect">
            <a:avLst/>
          </a:prstGeom>
          <a:noFill/>
          <a:ln w="9525">
            <a:noFill/>
            <a:miter lim="800000"/>
            <a:headEnd/>
            <a:tailEnd/>
          </a:ln>
          <a:effectLst/>
        </p:spPr>
        <p:txBody>
          <a:bodyPr>
            <a:spAutoFit/>
          </a:bodyPr>
          <a:lstStyle/>
          <a:p>
            <a:pPr algn="r">
              <a:spcBef>
                <a:spcPct val="50000"/>
              </a:spcBef>
            </a:pPr>
            <a:r>
              <a:rPr lang="fi-FI" sz="4400" b="1"/>
              <a:t>+</a:t>
            </a:r>
            <a:endParaRPr lang="en-GB" sz="4400" b="1"/>
          </a:p>
        </p:txBody>
      </p:sp>
      <p:sp>
        <p:nvSpPr>
          <p:cNvPr id="72718" name="Text Box 14"/>
          <p:cNvSpPr txBox="1">
            <a:spLocks noChangeArrowheads="1"/>
          </p:cNvSpPr>
          <p:nvPr/>
        </p:nvSpPr>
        <p:spPr bwMode="auto">
          <a:xfrm>
            <a:off x="6213475" y="3479800"/>
            <a:ext cx="519113" cy="762000"/>
          </a:xfrm>
          <a:prstGeom prst="rect">
            <a:avLst/>
          </a:prstGeom>
          <a:noFill/>
          <a:ln w="9525">
            <a:noFill/>
            <a:miter lim="800000"/>
            <a:headEnd/>
            <a:tailEnd/>
          </a:ln>
          <a:effectLst/>
        </p:spPr>
        <p:txBody>
          <a:bodyPr>
            <a:spAutoFit/>
          </a:bodyPr>
          <a:lstStyle/>
          <a:p>
            <a:pPr algn="r">
              <a:spcBef>
                <a:spcPct val="50000"/>
              </a:spcBef>
            </a:pPr>
            <a:r>
              <a:rPr lang="fi-FI" sz="4400" b="1"/>
              <a:t>+</a:t>
            </a:r>
            <a:endParaRPr lang="en-GB" sz="4400" b="1"/>
          </a:p>
        </p:txBody>
      </p:sp>
      <p:sp>
        <p:nvSpPr>
          <p:cNvPr id="16" name="Slide Number Placeholder 1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fi-FI" dirty="0" smtClean="0">
                <a:latin typeface="+mn-lt"/>
              </a:rPr>
              <a:t>Mix and Match?</a:t>
            </a:r>
            <a:endParaRPr lang="en-GB" dirty="0">
              <a:latin typeface="+mn-lt"/>
            </a:endParaRPr>
          </a:p>
        </p:txBody>
      </p:sp>
      <p:sp>
        <p:nvSpPr>
          <p:cNvPr id="74767" name="Rectangle 15"/>
          <p:cNvSpPr>
            <a:spLocks noChangeArrowheads="1"/>
          </p:cNvSpPr>
          <p:nvPr/>
        </p:nvSpPr>
        <p:spPr bwMode="auto">
          <a:xfrm>
            <a:off x="908050" y="1628775"/>
            <a:ext cx="3808413" cy="3933825"/>
          </a:xfrm>
          <a:prstGeom prst="rect">
            <a:avLst/>
          </a:prstGeom>
          <a:solidFill>
            <a:schemeClr val="accent2"/>
          </a:solidFill>
          <a:ln w="9525">
            <a:noFill/>
            <a:miter lim="800000"/>
            <a:headEnd/>
            <a:tailEnd/>
          </a:ln>
          <a:effectLst/>
        </p:spPr>
        <p:txBody>
          <a:bodyPr wrap="none" anchor="ctr"/>
          <a:lstStyle/>
          <a:p>
            <a:pPr algn="ctr"/>
            <a:endParaRPr lang="en-GB" sz="1400"/>
          </a:p>
        </p:txBody>
      </p:sp>
      <p:sp>
        <p:nvSpPr>
          <p:cNvPr id="74768" name="Rectangle 16"/>
          <p:cNvSpPr>
            <a:spLocks noChangeArrowheads="1"/>
          </p:cNvSpPr>
          <p:nvPr/>
        </p:nvSpPr>
        <p:spPr bwMode="auto">
          <a:xfrm>
            <a:off x="4724400" y="1628775"/>
            <a:ext cx="3808413" cy="3933825"/>
          </a:xfrm>
          <a:prstGeom prst="rect">
            <a:avLst/>
          </a:prstGeom>
          <a:solidFill>
            <a:schemeClr val="accent2"/>
          </a:solidFill>
          <a:ln w="9525">
            <a:noFill/>
            <a:miter lim="800000"/>
            <a:headEnd/>
            <a:tailEnd/>
          </a:ln>
          <a:effectLst/>
        </p:spPr>
        <p:txBody>
          <a:bodyPr wrap="none" anchor="ctr"/>
          <a:lstStyle/>
          <a:p>
            <a:endParaRPr lang="fi-FI"/>
          </a:p>
        </p:txBody>
      </p:sp>
      <p:sp>
        <p:nvSpPr>
          <p:cNvPr id="74769" name="Rectangle 17"/>
          <p:cNvSpPr>
            <a:spLocks noChangeArrowheads="1"/>
          </p:cNvSpPr>
          <p:nvPr/>
        </p:nvSpPr>
        <p:spPr bwMode="auto">
          <a:xfrm>
            <a:off x="1136650" y="2717800"/>
            <a:ext cx="3290888" cy="7874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fontAlgn="b"/>
            <a:r>
              <a:rPr lang="fi-FI" dirty="0" smtClean="0">
                <a:solidFill>
                  <a:schemeClr val="bg1"/>
                </a:solidFill>
              </a:rPr>
              <a:t>Testing group</a:t>
            </a:r>
            <a:endParaRPr lang="en-GB" dirty="0" smtClean="0">
              <a:solidFill>
                <a:schemeClr val="bg1"/>
              </a:solidFill>
            </a:endParaRPr>
          </a:p>
        </p:txBody>
      </p:sp>
      <p:sp>
        <p:nvSpPr>
          <p:cNvPr id="74770" name="Rectangle 18"/>
          <p:cNvSpPr>
            <a:spLocks noChangeArrowheads="1"/>
          </p:cNvSpPr>
          <p:nvPr/>
        </p:nvSpPr>
        <p:spPr bwMode="auto">
          <a:xfrm>
            <a:off x="4953000" y="4318000"/>
            <a:ext cx="3201988" cy="7874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fontAlgn="b"/>
            <a:r>
              <a:rPr lang="fi-FI" dirty="0" smtClean="0">
                <a:solidFill>
                  <a:schemeClr val="bg1"/>
                </a:solidFill>
              </a:rPr>
              <a:t>Testing group</a:t>
            </a:r>
            <a:endParaRPr lang="en-GB" dirty="0">
              <a:solidFill>
                <a:schemeClr val="bg1"/>
              </a:solidFill>
            </a:endParaRPr>
          </a:p>
        </p:txBody>
      </p:sp>
      <p:sp>
        <p:nvSpPr>
          <p:cNvPr id="74771" name="Rectangle 19"/>
          <p:cNvSpPr>
            <a:spLocks noChangeArrowheads="1"/>
          </p:cNvSpPr>
          <p:nvPr/>
        </p:nvSpPr>
        <p:spPr bwMode="auto">
          <a:xfrm>
            <a:off x="1155700" y="1700213"/>
            <a:ext cx="3271838" cy="43338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r>
              <a:rPr lang="fi-FI" b="1" dirty="0" smtClean="0">
                <a:solidFill>
                  <a:schemeClr val="bg1"/>
                </a:solidFill>
              </a:rPr>
              <a:t>Plan-driven</a:t>
            </a:r>
            <a:endParaRPr lang="en-GB" b="1" dirty="0">
              <a:solidFill>
                <a:schemeClr val="bg1"/>
              </a:solidFill>
            </a:endParaRPr>
          </a:p>
        </p:txBody>
      </p:sp>
      <p:sp>
        <p:nvSpPr>
          <p:cNvPr id="74772" name="Rectangle 20"/>
          <p:cNvSpPr>
            <a:spLocks noChangeArrowheads="1"/>
          </p:cNvSpPr>
          <p:nvPr/>
        </p:nvSpPr>
        <p:spPr bwMode="auto">
          <a:xfrm>
            <a:off x="4953000" y="1700213"/>
            <a:ext cx="3248025" cy="43338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r>
              <a:rPr lang="fi-FI" b="1" dirty="0" smtClean="0">
                <a:solidFill>
                  <a:schemeClr val="bg1"/>
                </a:solidFill>
              </a:rPr>
              <a:t>Agile</a:t>
            </a:r>
            <a:endParaRPr lang="en-GB" b="1" dirty="0">
              <a:solidFill>
                <a:schemeClr val="bg1"/>
              </a:solidFill>
            </a:endParaRPr>
          </a:p>
        </p:txBody>
      </p:sp>
      <p:sp>
        <p:nvSpPr>
          <p:cNvPr id="74773" name="Rectangle 21"/>
          <p:cNvSpPr>
            <a:spLocks noChangeArrowheads="1"/>
          </p:cNvSpPr>
          <p:nvPr/>
        </p:nvSpPr>
        <p:spPr bwMode="auto">
          <a:xfrm>
            <a:off x="1136650" y="4318000"/>
            <a:ext cx="3290888" cy="7874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fontAlgn="b"/>
            <a:r>
              <a:rPr lang="fi-FI" dirty="0" smtClean="0">
                <a:solidFill>
                  <a:schemeClr val="bg1"/>
                </a:solidFill>
              </a:rPr>
              <a:t>Development group</a:t>
            </a:r>
            <a:endParaRPr lang="en-GB" dirty="0">
              <a:solidFill>
                <a:schemeClr val="bg1"/>
              </a:solidFill>
            </a:endParaRPr>
          </a:p>
        </p:txBody>
      </p:sp>
      <p:sp>
        <p:nvSpPr>
          <p:cNvPr id="74774" name="Rectangle 22"/>
          <p:cNvSpPr>
            <a:spLocks noChangeArrowheads="1"/>
          </p:cNvSpPr>
          <p:nvPr/>
        </p:nvSpPr>
        <p:spPr bwMode="auto">
          <a:xfrm>
            <a:off x="4953000" y="2717800"/>
            <a:ext cx="3201988" cy="78740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fontAlgn="b"/>
            <a:r>
              <a:rPr lang="fi-FI" dirty="0" smtClean="0">
                <a:solidFill>
                  <a:schemeClr val="bg1"/>
                </a:solidFill>
              </a:rPr>
              <a:t>Development group</a:t>
            </a:r>
            <a:endParaRPr lang="en-GB" dirty="0">
              <a:solidFill>
                <a:schemeClr val="bg1"/>
              </a:solidFill>
            </a:endParaRPr>
          </a:p>
        </p:txBody>
      </p:sp>
      <p:sp>
        <p:nvSpPr>
          <p:cNvPr id="74775" name="Rectangle 23"/>
          <p:cNvSpPr>
            <a:spLocks noChangeArrowheads="1"/>
          </p:cNvSpPr>
          <p:nvPr/>
        </p:nvSpPr>
        <p:spPr bwMode="auto">
          <a:xfrm>
            <a:off x="1060450" y="2268538"/>
            <a:ext cx="7256463" cy="1447800"/>
          </a:xfrm>
          <a:prstGeom prst="rect">
            <a:avLst/>
          </a:prstGeom>
          <a:noFill/>
          <a:ln w="38100">
            <a:solidFill>
              <a:srgbClr val="FF0000"/>
            </a:solidFill>
            <a:prstDash val="sysDot"/>
            <a:miter lim="800000"/>
            <a:headEnd/>
            <a:tailEnd/>
          </a:ln>
          <a:effectLst/>
        </p:spPr>
        <p:txBody>
          <a:bodyPr wrap="none"/>
          <a:lstStyle/>
          <a:p>
            <a:r>
              <a:rPr lang="fi-FI" sz="1800" b="1"/>
              <a:t>Projekti 1</a:t>
            </a:r>
            <a:endParaRPr lang="en-GB" sz="1800" b="1"/>
          </a:p>
        </p:txBody>
      </p:sp>
      <p:sp>
        <p:nvSpPr>
          <p:cNvPr id="74776" name="Rectangle 24"/>
          <p:cNvSpPr>
            <a:spLocks noChangeArrowheads="1"/>
          </p:cNvSpPr>
          <p:nvPr/>
        </p:nvSpPr>
        <p:spPr bwMode="auto">
          <a:xfrm>
            <a:off x="1042988" y="3860800"/>
            <a:ext cx="7273925" cy="1439863"/>
          </a:xfrm>
          <a:prstGeom prst="rect">
            <a:avLst/>
          </a:prstGeom>
          <a:noFill/>
          <a:ln w="38100">
            <a:solidFill>
              <a:srgbClr val="FF0000"/>
            </a:solidFill>
            <a:prstDash val="sysDot"/>
            <a:miter lim="800000"/>
            <a:headEnd/>
            <a:tailEnd/>
          </a:ln>
          <a:effectLst/>
        </p:spPr>
        <p:txBody>
          <a:bodyPr wrap="none"/>
          <a:lstStyle/>
          <a:p>
            <a:r>
              <a:rPr lang="fi-FI" sz="1800" b="1"/>
              <a:t>Projekti 2</a:t>
            </a:r>
            <a:endParaRPr lang="en-GB" sz="1800" b="1"/>
          </a:p>
        </p:txBody>
      </p:sp>
      <p:sp>
        <p:nvSpPr>
          <p:cNvPr id="74766" name="Text Box 14"/>
          <p:cNvSpPr txBox="1">
            <a:spLocks noChangeArrowheads="1"/>
          </p:cNvSpPr>
          <p:nvPr/>
        </p:nvSpPr>
        <p:spPr bwMode="auto">
          <a:xfrm>
            <a:off x="4427538" y="4292600"/>
            <a:ext cx="457200" cy="762000"/>
          </a:xfrm>
          <a:prstGeom prst="rect">
            <a:avLst/>
          </a:prstGeom>
          <a:noFill/>
          <a:ln w="9525">
            <a:noFill/>
            <a:miter lim="800000"/>
            <a:headEnd/>
            <a:tailEnd/>
          </a:ln>
          <a:effectLst/>
        </p:spPr>
        <p:txBody>
          <a:bodyPr>
            <a:spAutoFit/>
          </a:bodyPr>
          <a:lstStyle/>
          <a:p>
            <a:pPr algn="r">
              <a:spcBef>
                <a:spcPct val="50000"/>
              </a:spcBef>
            </a:pPr>
            <a:r>
              <a:rPr lang="fi-FI" sz="4400" b="1"/>
              <a:t>?</a:t>
            </a:r>
            <a:endParaRPr lang="en-GB" sz="4400" b="1"/>
          </a:p>
        </p:txBody>
      </p:sp>
      <p:sp>
        <p:nvSpPr>
          <p:cNvPr id="74765" name="AutoShape 13"/>
          <p:cNvSpPr>
            <a:spLocks noChangeArrowheads="1"/>
          </p:cNvSpPr>
          <p:nvPr/>
        </p:nvSpPr>
        <p:spPr bwMode="auto">
          <a:xfrm>
            <a:off x="4356100" y="2781300"/>
            <a:ext cx="762000" cy="685800"/>
          </a:xfrm>
          <a:prstGeom prst="irregularSeal1">
            <a:avLst/>
          </a:prstGeom>
          <a:solidFill>
            <a:srgbClr val="FF0000"/>
          </a:solidFill>
          <a:ln w="9525">
            <a:solidFill>
              <a:srgbClr val="000000"/>
            </a:solidFill>
            <a:miter lim="800000"/>
            <a:headEnd/>
            <a:tailEnd/>
          </a:ln>
          <a:effectLst/>
        </p:spPr>
        <p:txBody>
          <a:bodyPr wrap="none" anchor="ctr"/>
          <a:lstStyle/>
          <a:p>
            <a:endParaRPr lang="fi-FI"/>
          </a:p>
        </p:txBody>
      </p:sp>
      <p:sp>
        <p:nvSpPr>
          <p:cNvPr id="16" name="Slide Number Placeholder 1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72" name="Rectangle 16"/>
          <p:cNvSpPr>
            <a:spLocks noGrp="1" noChangeArrowheads="1"/>
          </p:cNvSpPr>
          <p:nvPr>
            <p:ph type="title"/>
          </p:nvPr>
        </p:nvSpPr>
        <p:spPr/>
        <p:txBody>
          <a:bodyPr/>
          <a:lstStyle/>
          <a:p>
            <a:r>
              <a:rPr lang="fi-FI" smtClean="0"/>
              <a:t> </a:t>
            </a:r>
            <a:endParaRPr lang="en-US"/>
          </a:p>
        </p:txBody>
      </p:sp>
      <p:sp>
        <p:nvSpPr>
          <p:cNvPr id="70658" name="Rectangle 2"/>
          <p:cNvSpPr>
            <a:spLocks noChangeArrowheads="1"/>
          </p:cNvSpPr>
          <p:nvPr/>
        </p:nvSpPr>
        <p:spPr bwMode="auto">
          <a:xfrm>
            <a:off x="381000" y="1752600"/>
            <a:ext cx="3352800" cy="4572000"/>
          </a:xfrm>
          <a:prstGeom prst="rect">
            <a:avLst/>
          </a:prstGeom>
          <a:solidFill>
            <a:srgbClr val="6D6FC7"/>
          </a:solidFill>
          <a:ln w="9525">
            <a:noFill/>
            <a:miter lim="800000"/>
            <a:headEnd/>
            <a:tailEnd/>
          </a:ln>
          <a:effectLst/>
        </p:spPr>
        <p:txBody>
          <a:bodyPr wrap="none" anchor="ctr"/>
          <a:lstStyle/>
          <a:p>
            <a:pPr algn="ctr"/>
            <a:endParaRPr lang="en-GB" sz="1200">
              <a:solidFill>
                <a:schemeClr val="bg1"/>
              </a:solidFill>
            </a:endParaRPr>
          </a:p>
        </p:txBody>
      </p:sp>
      <p:sp>
        <p:nvSpPr>
          <p:cNvPr id="70659" name="Rectangle 3"/>
          <p:cNvSpPr>
            <a:spLocks noChangeArrowheads="1"/>
          </p:cNvSpPr>
          <p:nvPr/>
        </p:nvSpPr>
        <p:spPr bwMode="auto">
          <a:xfrm>
            <a:off x="5486400" y="1752600"/>
            <a:ext cx="3352800" cy="4572000"/>
          </a:xfrm>
          <a:prstGeom prst="rect">
            <a:avLst/>
          </a:prstGeom>
          <a:solidFill>
            <a:srgbClr val="6D6FC7"/>
          </a:solidFill>
          <a:ln w="9525">
            <a:noFill/>
            <a:miter lim="800000"/>
            <a:headEnd/>
            <a:tailEnd/>
          </a:ln>
          <a:effectLst/>
        </p:spPr>
        <p:txBody>
          <a:bodyPr wrap="none" anchor="ctr"/>
          <a:lstStyle/>
          <a:p>
            <a:endParaRPr lang="fi-FI">
              <a:solidFill>
                <a:schemeClr val="bg1"/>
              </a:solidFill>
            </a:endParaRPr>
          </a:p>
        </p:txBody>
      </p:sp>
      <p:sp>
        <p:nvSpPr>
          <p:cNvPr id="70660" name="Rectangle 4"/>
          <p:cNvSpPr>
            <a:spLocks noChangeArrowheads="1"/>
          </p:cNvSpPr>
          <p:nvPr/>
        </p:nvSpPr>
        <p:spPr bwMode="auto">
          <a:xfrm>
            <a:off x="457200" y="2209800"/>
            <a:ext cx="3178175" cy="1003300"/>
          </a:xfrm>
          <a:prstGeom prst="rect">
            <a:avLst/>
          </a:prstGeom>
          <a:solidFill>
            <a:schemeClr val="accent1"/>
          </a:solidFill>
          <a:ln w="9525">
            <a:noFill/>
            <a:miter lim="800000"/>
            <a:headEnd/>
            <a:tailEnd/>
          </a:ln>
          <a:effectLst/>
        </p:spPr>
        <p:txBody>
          <a:bodyPr anchor="ctr"/>
          <a:lstStyle/>
          <a:p>
            <a:pPr fontAlgn="b"/>
            <a:r>
              <a:rPr lang="en-GB" sz="1600">
                <a:solidFill>
                  <a:schemeClr val="bg1"/>
                </a:solidFill>
                <a:cs typeface="Arial" charset="0"/>
              </a:rPr>
              <a:t>Menetelmät kehittyneet hallitsemaan suuria tuotteita ja tiimejä; vaikeita räätälöidä pieniin projekteihin.</a:t>
            </a:r>
            <a:endParaRPr lang="en-GB" sz="1600">
              <a:solidFill>
                <a:schemeClr val="bg1"/>
              </a:solidFill>
            </a:endParaRPr>
          </a:p>
        </p:txBody>
      </p:sp>
      <p:sp>
        <p:nvSpPr>
          <p:cNvPr id="70661" name="Rectangle 5"/>
          <p:cNvSpPr>
            <a:spLocks noChangeArrowheads="1"/>
          </p:cNvSpPr>
          <p:nvPr/>
        </p:nvSpPr>
        <p:spPr bwMode="auto">
          <a:xfrm>
            <a:off x="457200" y="3284538"/>
            <a:ext cx="3178175" cy="1223962"/>
          </a:xfrm>
          <a:prstGeom prst="rect">
            <a:avLst/>
          </a:prstGeom>
          <a:solidFill>
            <a:schemeClr val="accent1"/>
          </a:solidFill>
          <a:ln w="9525">
            <a:noFill/>
            <a:miter lim="800000"/>
            <a:headEnd/>
            <a:tailEnd/>
          </a:ln>
          <a:effectLst/>
        </p:spPr>
        <p:txBody>
          <a:bodyPr anchor="ctr"/>
          <a:lstStyle/>
          <a:p>
            <a:pPr fontAlgn="b"/>
            <a:r>
              <a:rPr lang="en-GB" sz="1600">
                <a:solidFill>
                  <a:schemeClr val="bg1"/>
                </a:solidFill>
                <a:cs typeface="Arial" charset="0"/>
              </a:rPr>
              <a:t>Menetelmät kehittyneet hallitsemaan kriittisiä tuotteita; vaikeita räätälöidä alas tehokkaasti alhaisen kriittisyysasteen tuotteisiin.</a:t>
            </a:r>
          </a:p>
        </p:txBody>
      </p:sp>
      <p:sp>
        <p:nvSpPr>
          <p:cNvPr id="70662" name="Rectangle 6"/>
          <p:cNvSpPr>
            <a:spLocks noChangeArrowheads="1"/>
          </p:cNvSpPr>
          <p:nvPr/>
        </p:nvSpPr>
        <p:spPr bwMode="auto">
          <a:xfrm>
            <a:off x="5562600" y="2209800"/>
            <a:ext cx="3227388" cy="1003300"/>
          </a:xfrm>
          <a:prstGeom prst="rect">
            <a:avLst/>
          </a:prstGeom>
          <a:solidFill>
            <a:schemeClr val="folHlink"/>
          </a:solidFill>
          <a:ln w="9525">
            <a:noFill/>
            <a:miter lim="800000"/>
            <a:headEnd/>
            <a:tailEnd/>
          </a:ln>
          <a:effectLst/>
        </p:spPr>
        <p:txBody>
          <a:bodyPr anchor="ctr"/>
          <a:lstStyle/>
          <a:p>
            <a:pPr fontAlgn="b"/>
            <a:r>
              <a:rPr lang="en-GB" sz="1600" dirty="0" err="1">
                <a:solidFill>
                  <a:schemeClr val="bg1"/>
                </a:solidFill>
                <a:cs typeface="Arial" charset="0"/>
              </a:rPr>
              <a:t>Sopii</a:t>
            </a:r>
            <a:r>
              <a:rPr lang="en-GB" sz="1600" dirty="0">
                <a:solidFill>
                  <a:schemeClr val="bg1"/>
                </a:solidFill>
                <a:cs typeface="Arial" charset="0"/>
              </a:rPr>
              <a:t> </a:t>
            </a:r>
            <a:r>
              <a:rPr lang="en-GB" sz="1600" dirty="0" err="1">
                <a:solidFill>
                  <a:schemeClr val="bg1"/>
                </a:solidFill>
                <a:cs typeface="Arial" charset="0"/>
              </a:rPr>
              <a:t>hyvin</a:t>
            </a:r>
            <a:r>
              <a:rPr lang="en-GB" sz="1600" dirty="0">
                <a:solidFill>
                  <a:schemeClr val="bg1"/>
                </a:solidFill>
                <a:cs typeface="Arial" charset="0"/>
              </a:rPr>
              <a:t> </a:t>
            </a:r>
            <a:r>
              <a:rPr lang="en-GB" sz="1600" dirty="0" err="1">
                <a:solidFill>
                  <a:schemeClr val="bg1"/>
                </a:solidFill>
                <a:cs typeface="Arial" charset="0"/>
              </a:rPr>
              <a:t>pieniin</a:t>
            </a:r>
            <a:r>
              <a:rPr lang="en-GB" sz="1600" dirty="0">
                <a:solidFill>
                  <a:schemeClr val="bg1"/>
                </a:solidFill>
                <a:cs typeface="Arial" charset="0"/>
              </a:rPr>
              <a:t> </a:t>
            </a:r>
            <a:r>
              <a:rPr lang="en-GB" sz="1600" dirty="0" err="1">
                <a:solidFill>
                  <a:schemeClr val="bg1"/>
                </a:solidFill>
                <a:cs typeface="Arial" charset="0"/>
              </a:rPr>
              <a:t>tuotteisiin</a:t>
            </a:r>
            <a:r>
              <a:rPr lang="en-GB" sz="1600" dirty="0">
                <a:solidFill>
                  <a:schemeClr val="bg1"/>
                </a:solidFill>
                <a:cs typeface="Arial" charset="0"/>
              </a:rPr>
              <a:t> </a:t>
            </a:r>
            <a:r>
              <a:rPr lang="en-GB" sz="1600" dirty="0" err="1">
                <a:solidFill>
                  <a:schemeClr val="bg1"/>
                </a:solidFill>
                <a:cs typeface="Arial" charset="0"/>
              </a:rPr>
              <a:t>ja</a:t>
            </a:r>
            <a:r>
              <a:rPr lang="en-GB" sz="1600" dirty="0">
                <a:solidFill>
                  <a:schemeClr val="bg1"/>
                </a:solidFill>
                <a:cs typeface="Arial" charset="0"/>
              </a:rPr>
              <a:t> </a:t>
            </a:r>
            <a:r>
              <a:rPr lang="en-GB" sz="1600" dirty="0" err="1">
                <a:solidFill>
                  <a:schemeClr val="bg1"/>
                </a:solidFill>
                <a:cs typeface="Arial" charset="0"/>
              </a:rPr>
              <a:t>tiimeihin</a:t>
            </a:r>
            <a:r>
              <a:rPr lang="en-GB" sz="1600" dirty="0">
                <a:solidFill>
                  <a:schemeClr val="bg1"/>
                </a:solidFill>
                <a:cs typeface="Arial" charset="0"/>
              </a:rPr>
              <a:t>; </a:t>
            </a:r>
            <a:r>
              <a:rPr lang="en-GB" sz="1600" dirty="0" err="1">
                <a:solidFill>
                  <a:schemeClr val="bg1"/>
                </a:solidFill>
                <a:cs typeface="Arial" charset="0"/>
              </a:rPr>
              <a:t>luottamus</a:t>
            </a:r>
            <a:r>
              <a:rPr lang="en-GB" sz="1600" dirty="0">
                <a:solidFill>
                  <a:schemeClr val="bg1"/>
                </a:solidFill>
                <a:cs typeface="Arial" charset="0"/>
              </a:rPr>
              <a:t> </a:t>
            </a:r>
            <a:r>
              <a:rPr lang="en-GB" sz="1600" dirty="0" err="1">
                <a:solidFill>
                  <a:schemeClr val="bg1"/>
                </a:solidFill>
                <a:cs typeface="Arial" charset="0"/>
              </a:rPr>
              <a:t>kirjoittamattomaan</a:t>
            </a:r>
            <a:r>
              <a:rPr lang="en-GB" sz="1600" dirty="0">
                <a:solidFill>
                  <a:schemeClr val="bg1"/>
                </a:solidFill>
                <a:cs typeface="Arial" charset="0"/>
              </a:rPr>
              <a:t> </a:t>
            </a:r>
            <a:r>
              <a:rPr lang="en-GB" sz="1600" dirty="0" err="1">
                <a:solidFill>
                  <a:schemeClr val="bg1"/>
                </a:solidFill>
                <a:cs typeface="Arial" charset="0"/>
              </a:rPr>
              <a:t>tietoon</a:t>
            </a:r>
            <a:r>
              <a:rPr lang="en-GB" sz="1600" dirty="0">
                <a:solidFill>
                  <a:schemeClr val="bg1"/>
                </a:solidFill>
                <a:cs typeface="Arial" charset="0"/>
              </a:rPr>
              <a:t> </a:t>
            </a:r>
            <a:r>
              <a:rPr lang="en-GB" sz="1600" dirty="0" err="1">
                <a:solidFill>
                  <a:schemeClr val="bg1"/>
                </a:solidFill>
                <a:cs typeface="Arial" charset="0"/>
              </a:rPr>
              <a:t>rajoittaa</a:t>
            </a:r>
            <a:r>
              <a:rPr lang="en-GB" sz="1600" dirty="0">
                <a:solidFill>
                  <a:schemeClr val="bg1"/>
                </a:solidFill>
                <a:cs typeface="Arial" charset="0"/>
              </a:rPr>
              <a:t> </a:t>
            </a:r>
            <a:r>
              <a:rPr lang="en-GB" sz="1600" dirty="0" err="1">
                <a:solidFill>
                  <a:schemeClr val="bg1"/>
                </a:solidFill>
                <a:cs typeface="Arial" charset="0"/>
              </a:rPr>
              <a:t>skaalattavuutta</a:t>
            </a:r>
            <a:r>
              <a:rPr lang="en-GB" sz="1600" dirty="0">
                <a:solidFill>
                  <a:schemeClr val="bg1"/>
                </a:solidFill>
                <a:cs typeface="Arial" charset="0"/>
              </a:rPr>
              <a:t>.</a:t>
            </a:r>
          </a:p>
        </p:txBody>
      </p:sp>
      <p:sp>
        <p:nvSpPr>
          <p:cNvPr id="70663" name="Rectangle 7"/>
          <p:cNvSpPr>
            <a:spLocks noChangeArrowheads="1"/>
          </p:cNvSpPr>
          <p:nvPr/>
        </p:nvSpPr>
        <p:spPr bwMode="auto">
          <a:xfrm>
            <a:off x="5562600" y="3284538"/>
            <a:ext cx="3227388" cy="1223962"/>
          </a:xfrm>
          <a:prstGeom prst="rect">
            <a:avLst/>
          </a:prstGeom>
          <a:solidFill>
            <a:schemeClr val="folHlink"/>
          </a:solidFill>
          <a:ln w="9525">
            <a:noFill/>
            <a:miter lim="800000"/>
            <a:headEnd/>
            <a:tailEnd/>
          </a:ln>
          <a:effectLst/>
        </p:spPr>
        <p:txBody>
          <a:bodyPr anchor="ctr"/>
          <a:lstStyle/>
          <a:p>
            <a:pPr fontAlgn="b"/>
            <a:r>
              <a:rPr lang="en-GB" sz="1600">
                <a:solidFill>
                  <a:schemeClr val="bg1"/>
                </a:solidFill>
                <a:cs typeface="Arial" charset="0"/>
              </a:rPr>
              <a:t>Ei ole testattu turvallisuuskriittisille tuotteille: mahdollisia vaikeuksia yksinkertaisen suunnittelun ja dokumentaation puutteen vuoksi.</a:t>
            </a:r>
          </a:p>
        </p:txBody>
      </p:sp>
      <p:sp>
        <p:nvSpPr>
          <p:cNvPr id="70664" name="Rectangle 8"/>
          <p:cNvSpPr>
            <a:spLocks noChangeArrowheads="1"/>
          </p:cNvSpPr>
          <p:nvPr/>
        </p:nvSpPr>
        <p:spPr bwMode="auto">
          <a:xfrm>
            <a:off x="5573713" y="4581525"/>
            <a:ext cx="3227387" cy="1655763"/>
          </a:xfrm>
          <a:prstGeom prst="rect">
            <a:avLst/>
          </a:prstGeom>
          <a:solidFill>
            <a:schemeClr val="folHlink"/>
          </a:solidFill>
          <a:ln w="9525">
            <a:noFill/>
            <a:miter lim="800000"/>
            <a:headEnd/>
            <a:tailEnd/>
          </a:ln>
          <a:effectLst/>
        </p:spPr>
        <p:txBody>
          <a:bodyPr anchor="ctr"/>
          <a:lstStyle/>
          <a:p>
            <a:pPr fontAlgn="b"/>
            <a:r>
              <a:rPr lang="en-GB" sz="1600">
                <a:solidFill>
                  <a:schemeClr val="bg1"/>
                </a:solidFill>
                <a:cs typeface="Arial" charset="0"/>
              </a:rPr>
              <a:t>Yksinkertainen suunnittelu ja jatkuva uudelleenjärjestely sopivat loistavasti hyvin dynaamisille ympäristöille, mutta synnyttävät mahdollisesti kallista uusintatyötä hyvin vakaissa ympäristöissä.</a:t>
            </a:r>
            <a:endParaRPr lang="en-GB" sz="1600">
              <a:solidFill>
                <a:schemeClr val="bg1"/>
              </a:solidFill>
            </a:endParaRPr>
          </a:p>
        </p:txBody>
      </p:sp>
      <p:sp>
        <p:nvSpPr>
          <p:cNvPr id="70665" name="Rectangle 9"/>
          <p:cNvSpPr>
            <a:spLocks noChangeArrowheads="1"/>
          </p:cNvSpPr>
          <p:nvPr/>
        </p:nvSpPr>
        <p:spPr bwMode="auto">
          <a:xfrm>
            <a:off x="457200" y="1828800"/>
            <a:ext cx="3035300" cy="304800"/>
          </a:xfrm>
          <a:prstGeom prst="rect">
            <a:avLst/>
          </a:prstGeom>
          <a:solidFill>
            <a:schemeClr val="accent1"/>
          </a:solidFill>
          <a:ln w="9525">
            <a:noFill/>
            <a:miter lim="800000"/>
            <a:headEnd/>
            <a:tailEnd/>
          </a:ln>
          <a:effectLst/>
        </p:spPr>
        <p:txBody>
          <a:bodyPr wrap="none" anchor="ctr"/>
          <a:lstStyle/>
          <a:p>
            <a:r>
              <a:rPr lang="fi-FI" sz="1800" b="1" dirty="0">
                <a:solidFill>
                  <a:schemeClr val="bg1"/>
                </a:solidFill>
              </a:rPr>
              <a:t>Suunnitelmaohjatut</a:t>
            </a:r>
            <a:endParaRPr lang="en-GB" sz="1800" b="1" dirty="0">
              <a:solidFill>
                <a:schemeClr val="bg1"/>
              </a:solidFill>
            </a:endParaRPr>
          </a:p>
        </p:txBody>
      </p:sp>
      <p:sp>
        <p:nvSpPr>
          <p:cNvPr id="70666" name="Rectangle 10"/>
          <p:cNvSpPr>
            <a:spLocks noChangeArrowheads="1"/>
          </p:cNvSpPr>
          <p:nvPr/>
        </p:nvSpPr>
        <p:spPr bwMode="auto">
          <a:xfrm>
            <a:off x="5562600" y="1828800"/>
            <a:ext cx="2971800" cy="304800"/>
          </a:xfrm>
          <a:prstGeom prst="rect">
            <a:avLst/>
          </a:prstGeom>
          <a:solidFill>
            <a:schemeClr val="folHlink"/>
          </a:solidFill>
          <a:ln w="9525">
            <a:noFill/>
            <a:miter lim="800000"/>
            <a:headEnd/>
            <a:tailEnd/>
          </a:ln>
          <a:effectLst/>
        </p:spPr>
        <p:txBody>
          <a:bodyPr wrap="none" anchor="ctr"/>
          <a:lstStyle/>
          <a:p>
            <a:r>
              <a:rPr lang="fi-FI" sz="1800" b="1">
                <a:solidFill>
                  <a:schemeClr val="bg1"/>
                </a:solidFill>
              </a:rPr>
              <a:t>Ketterät</a:t>
            </a:r>
            <a:endParaRPr lang="en-GB" sz="1800" b="1">
              <a:solidFill>
                <a:schemeClr val="bg1"/>
              </a:solidFill>
            </a:endParaRPr>
          </a:p>
        </p:txBody>
      </p:sp>
      <p:sp>
        <p:nvSpPr>
          <p:cNvPr id="70668" name="Rectangle 12"/>
          <p:cNvSpPr>
            <a:spLocks noChangeArrowheads="1"/>
          </p:cNvSpPr>
          <p:nvPr/>
        </p:nvSpPr>
        <p:spPr bwMode="auto">
          <a:xfrm>
            <a:off x="468313" y="4581525"/>
            <a:ext cx="3167062" cy="1655763"/>
          </a:xfrm>
          <a:prstGeom prst="rect">
            <a:avLst/>
          </a:prstGeom>
          <a:solidFill>
            <a:schemeClr val="accent1"/>
          </a:solidFill>
          <a:ln w="9525">
            <a:noFill/>
            <a:miter lim="800000"/>
            <a:headEnd/>
            <a:tailEnd/>
          </a:ln>
          <a:effectLst/>
        </p:spPr>
        <p:txBody>
          <a:bodyPr anchor="ctr"/>
          <a:lstStyle/>
          <a:p>
            <a:r>
              <a:rPr lang="en-GB" sz="1600">
                <a:solidFill>
                  <a:schemeClr val="bg1"/>
                </a:solidFill>
                <a:cs typeface="Arial" charset="0"/>
              </a:rPr>
              <a:t>Yksityiskohtaiset suunnitelmat ja “iso suunnitelma edellä” erinomainen hyvin vakaaseen ympäristöön, mutta synnyttää kallista uusintatyötä dynaamisissa ympäristöissä.</a:t>
            </a:r>
            <a:endParaRPr lang="en-GB" sz="1600">
              <a:solidFill>
                <a:schemeClr val="bg1"/>
              </a:solidFill>
            </a:endParaRPr>
          </a:p>
        </p:txBody>
      </p:sp>
      <p:sp>
        <p:nvSpPr>
          <p:cNvPr id="70669" name="AutoShape 13"/>
          <p:cNvSpPr>
            <a:spLocks noChangeArrowheads="1"/>
          </p:cNvSpPr>
          <p:nvPr/>
        </p:nvSpPr>
        <p:spPr bwMode="auto">
          <a:xfrm>
            <a:off x="3851275" y="2543175"/>
            <a:ext cx="1524000" cy="381000"/>
          </a:xfrm>
          <a:prstGeom prst="roundRect">
            <a:avLst>
              <a:gd name="adj" fmla="val 16667"/>
            </a:avLst>
          </a:prstGeom>
          <a:solidFill>
            <a:srgbClr val="FF9933"/>
          </a:solidFill>
          <a:ln w="38100">
            <a:solidFill>
              <a:srgbClr val="000000"/>
            </a:solidFill>
            <a:round/>
            <a:headEnd/>
            <a:tailEnd/>
          </a:ln>
          <a:effectLst/>
        </p:spPr>
        <p:txBody>
          <a:bodyPr wrap="none" anchor="ctr"/>
          <a:lstStyle/>
          <a:p>
            <a:pPr algn="ctr"/>
            <a:r>
              <a:rPr lang="fi-FI" sz="1800">
                <a:solidFill>
                  <a:schemeClr val="bg1"/>
                </a:solidFill>
              </a:rPr>
              <a:t>Koko</a:t>
            </a:r>
            <a:endParaRPr lang="en-GB" sz="1800">
              <a:solidFill>
                <a:schemeClr val="bg1"/>
              </a:solidFill>
            </a:endParaRPr>
          </a:p>
        </p:txBody>
      </p:sp>
      <p:sp>
        <p:nvSpPr>
          <p:cNvPr id="70670" name="AutoShape 14"/>
          <p:cNvSpPr>
            <a:spLocks noChangeArrowheads="1"/>
          </p:cNvSpPr>
          <p:nvPr/>
        </p:nvSpPr>
        <p:spPr bwMode="auto">
          <a:xfrm>
            <a:off x="3851275" y="3868738"/>
            <a:ext cx="1524000" cy="381000"/>
          </a:xfrm>
          <a:prstGeom prst="roundRect">
            <a:avLst>
              <a:gd name="adj" fmla="val 16667"/>
            </a:avLst>
          </a:prstGeom>
          <a:solidFill>
            <a:srgbClr val="FF9933"/>
          </a:solidFill>
          <a:ln w="38100">
            <a:solidFill>
              <a:srgbClr val="000000"/>
            </a:solidFill>
            <a:round/>
            <a:headEnd/>
            <a:tailEnd/>
          </a:ln>
          <a:effectLst/>
        </p:spPr>
        <p:txBody>
          <a:bodyPr wrap="none" anchor="ctr"/>
          <a:lstStyle/>
          <a:p>
            <a:pPr algn="ctr"/>
            <a:r>
              <a:rPr lang="fi-FI" sz="1800">
                <a:solidFill>
                  <a:schemeClr val="bg1"/>
                </a:solidFill>
              </a:rPr>
              <a:t>Kriittisyys</a:t>
            </a:r>
            <a:endParaRPr lang="en-GB" sz="1800">
              <a:solidFill>
                <a:schemeClr val="bg1"/>
              </a:solidFill>
            </a:endParaRPr>
          </a:p>
        </p:txBody>
      </p:sp>
      <p:sp>
        <p:nvSpPr>
          <p:cNvPr id="70671" name="AutoShape 15"/>
          <p:cNvSpPr>
            <a:spLocks noChangeArrowheads="1"/>
          </p:cNvSpPr>
          <p:nvPr/>
        </p:nvSpPr>
        <p:spPr bwMode="auto">
          <a:xfrm>
            <a:off x="3876675" y="5157788"/>
            <a:ext cx="1524000" cy="381000"/>
          </a:xfrm>
          <a:prstGeom prst="roundRect">
            <a:avLst>
              <a:gd name="adj" fmla="val 16667"/>
            </a:avLst>
          </a:prstGeom>
          <a:solidFill>
            <a:srgbClr val="FF9933"/>
          </a:solidFill>
          <a:ln w="38100">
            <a:solidFill>
              <a:srgbClr val="000000"/>
            </a:solidFill>
            <a:round/>
            <a:headEnd/>
            <a:tailEnd/>
          </a:ln>
          <a:effectLst/>
        </p:spPr>
        <p:txBody>
          <a:bodyPr wrap="none" anchor="ctr"/>
          <a:lstStyle/>
          <a:p>
            <a:pPr algn="ctr"/>
            <a:r>
              <a:rPr lang="fi-FI" sz="1800">
                <a:solidFill>
                  <a:schemeClr val="bg1"/>
                </a:solidFill>
              </a:rPr>
              <a:t>Dynaamisuus</a:t>
            </a:r>
            <a:endParaRPr lang="en-GB" sz="1800">
              <a:solidFill>
                <a:schemeClr val="bg1"/>
              </a:solidFill>
            </a:endParaRPr>
          </a:p>
        </p:txBody>
      </p:sp>
      <p:sp>
        <p:nvSpPr>
          <p:cNvPr id="70673" name="Rectangle 17"/>
          <p:cNvSpPr>
            <a:spLocks noChangeArrowheads="1"/>
          </p:cNvSpPr>
          <p:nvPr/>
        </p:nvSpPr>
        <p:spPr bwMode="auto">
          <a:xfrm>
            <a:off x="685800" y="260350"/>
            <a:ext cx="7772400" cy="1143000"/>
          </a:xfrm>
          <a:prstGeom prst="rect">
            <a:avLst/>
          </a:prstGeom>
          <a:noFill/>
          <a:ln w="9525">
            <a:noFill/>
            <a:miter lim="800000"/>
            <a:headEnd/>
            <a:tailEnd/>
          </a:ln>
          <a:effectLst/>
        </p:spPr>
        <p:txBody>
          <a:bodyPr anchor="ctr"/>
          <a:lstStyle/>
          <a:p>
            <a:pPr algn="ctr"/>
            <a:r>
              <a:rPr lang="en-US" sz="4000" b="1" dirty="0" err="1">
                <a:solidFill>
                  <a:schemeClr val="tx2"/>
                </a:solidFill>
                <a:latin typeface="+mj-lt"/>
              </a:rPr>
              <a:t>Viisi</a:t>
            </a:r>
            <a:r>
              <a:rPr lang="en-US" sz="4000" b="1" dirty="0">
                <a:solidFill>
                  <a:schemeClr val="tx2"/>
                </a:solidFill>
                <a:latin typeface="+mj-lt"/>
              </a:rPr>
              <a:t> </a:t>
            </a:r>
            <a:r>
              <a:rPr lang="en-US" sz="4000" b="1" dirty="0" err="1">
                <a:solidFill>
                  <a:schemeClr val="tx2"/>
                </a:solidFill>
                <a:latin typeface="+mj-lt"/>
              </a:rPr>
              <a:t>kriittistä</a:t>
            </a:r>
            <a:r>
              <a:rPr lang="en-US" sz="4000" b="1" dirty="0">
                <a:solidFill>
                  <a:schemeClr val="tx2"/>
                </a:solidFill>
                <a:latin typeface="+mj-lt"/>
              </a:rPr>
              <a:t> </a:t>
            </a:r>
            <a:r>
              <a:rPr lang="en-US" sz="4000" b="1" dirty="0" err="1">
                <a:solidFill>
                  <a:schemeClr val="tx2"/>
                </a:solidFill>
                <a:latin typeface="+mj-lt"/>
              </a:rPr>
              <a:t>tekijää</a:t>
            </a:r>
            <a:r>
              <a:rPr lang="en-US" sz="4000" b="1" dirty="0">
                <a:solidFill>
                  <a:schemeClr val="tx2"/>
                </a:solidFill>
                <a:latin typeface="+mj-lt"/>
              </a:rPr>
              <a:t> (1/2)</a:t>
            </a:r>
            <a:br>
              <a:rPr lang="en-US" sz="4000" b="1" dirty="0">
                <a:solidFill>
                  <a:schemeClr val="tx2"/>
                </a:solidFill>
                <a:latin typeface="+mj-lt"/>
              </a:rPr>
            </a:br>
            <a:r>
              <a:rPr lang="en-US" sz="1400" b="1" dirty="0" err="1">
                <a:solidFill>
                  <a:schemeClr val="tx2"/>
                </a:solidFill>
                <a:latin typeface="+mj-lt"/>
              </a:rPr>
              <a:t>Lähde</a:t>
            </a:r>
            <a:r>
              <a:rPr lang="en-US" sz="1400" b="1" dirty="0">
                <a:solidFill>
                  <a:schemeClr val="tx2"/>
                </a:solidFill>
                <a:latin typeface="+mj-lt"/>
              </a:rPr>
              <a:t>: Boehm, B., and R. Turner. 2003. Using Risk to Balance Agile and Plan-driven Methods. IEEE Computer 36, no. 6.  </a:t>
            </a:r>
          </a:p>
        </p:txBody>
      </p:sp>
      <p:sp>
        <p:nvSpPr>
          <p:cNvPr id="18" name="Slide Number Placeholder 17"/>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381000" y="1752600"/>
            <a:ext cx="3327400" cy="4572000"/>
          </a:xfrm>
          <a:prstGeom prst="rect">
            <a:avLst/>
          </a:prstGeom>
          <a:solidFill>
            <a:srgbClr val="6D6FC7"/>
          </a:solidFill>
          <a:ln w="9525">
            <a:noFill/>
            <a:miter lim="800000"/>
            <a:headEnd/>
            <a:tailEnd/>
          </a:ln>
          <a:effectLst/>
        </p:spPr>
        <p:txBody>
          <a:bodyPr wrap="none" anchor="ctr"/>
          <a:lstStyle/>
          <a:p>
            <a:pPr algn="ctr"/>
            <a:endParaRPr lang="en-GB" sz="1200">
              <a:solidFill>
                <a:schemeClr val="bg1"/>
              </a:solidFill>
            </a:endParaRPr>
          </a:p>
        </p:txBody>
      </p:sp>
      <p:sp>
        <p:nvSpPr>
          <p:cNvPr id="71683" name="Rectangle 3"/>
          <p:cNvSpPr>
            <a:spLocks noChangeArrowheads="1"/>
          </p:cNvSpPr>
          <p:nvPr/>
        </p:nvSpPr>
        <p:spPr bwMode="auto">
          <a:xfrm>
            <a:off x="5486400" y="1752600"/>
            <a:ext cx="3352800" cy="4572000"/>
          </a:xfrm>
          <a:prstGeom prst="rect">
            <a:avLst/>
          </a:prstGeom>
          <a:solidFill>
            <a:srgbClr val="6D6FC7"/>
          </a:solidFill>
          <a:ln w="9525">
            <a:noFill/>
            <a:miter lim="800000"/>
            <a:headEnd/>
            <a:tailEnd/>
          </a:ln>
          <a:effectLst/>
        </p:spPr>
        <p:txBody>
          <a:bodyPr wrap="none" anchor="ctr"/>
          <a:lstStyle/>
          <a:p>
            <a:endParaRPr lang="fi-FI">
              <a:solidFill>
                <a:schemeClr val="bg1"/>
              </a:solidFill>
            </a:endParaRPr>
          </a:p>
        </p:txBody>
      </p:sp>
      <p:sp>
        <p:nvSpPr>
          <p:cNvPr id="71684" name="Rectangle 4"/>
          <p:cNvSpPr>
            <a:spLocks noChangeArrowheads="1"/>
          </p:cNvSpPr>
          <p:nvPr/>
        </p:nvSpPr>
        <p:spPr bwMode="auto">
          <a:xfrm>
            <a:off x="457200" y="2205038"/>
            <a:ext cx="3178175" cy="2087562"/>
          </a:xfrm>
          <a:prstGeom prst="rect">
            <a:avLst/>
          </a:prstGeom>
          <a:solidFill>
            <a:schemeClr val="accent1"/>
          </a:solidFill>
          <a:ln w="9525">
            <a:noFill/>
            <a:miter lim="800000"/>
            <a:headEnd/>
            <a:tailEnd/>
          </a:ln>
          <a:effectLst/>
        </p:spPr>
        <p:txBody>
          <a:bodyPr anchor="ctr"/>
          <a:lstStyle/>
          <a:p>
            <a:pPr fontAlgn="b"/>
            <a:r>
              <a:rPr lang="en-GB" sz="1600">
                <a:solidFill>
                  <a:schemeClr val="bg1"/>
                </a:solidFill>
                <a:cs typeface="Arial" charset="0"/>
              </a:rPr>
              <a:t>Tarvitaan kriittinen määrä sopivia tason 2 ja 3 asiantuntijoita projektin määrittelyvaiheessa, mutta voidaan tehdä töitä vähemmällä myöhemmin projektissa – ellei ympäristö ole hyvin dynaaminen. Voi usein sisältää joitakin tason 1B ihmisiä.</a:t>
            </a:r>
          </a:p>
        </p:txBody>
      </p:sp>
      <p:sp>
        <p:nvSpPr>
          <p:cNvPr id="71685" name="Rectangle 5"/>
          <p:cNvSpPr>
            <a:spLocks noChangeArrowheads="1"/>
          </p:cNvSpPr>
          <p:nvPr/>
        </p:nvSpPr>
        <p:spPr bwMode="auto">
          <a:xfrm>
            <a:off x="457200" y="4437063"/>
            <a:ext cx="3178175" cy="1811337"/>
          </a:xfrm>
          <a:prstGeom prst="rect">
            <a:avLst/>
          </a:prstGeom>
          <a:solidFill>
            <a:schemeClr val="accent1"/>
          </a:solidFill>
          <a:ln w="9525">
            <a:noFill/>
            <a:miter lim="800000"/>
            <a:headEnd/>
            <a:tailEnd/>
          </a:ln>
          <a:effectLst/>
        </p:spPr>
        <p:txBody>
          <a:bodyPr anchor="ctr"/>
          <a:lstStyle/>
          <a:p>
            <a:pPr fontAlgn="b"/>
            <a:r>
              <a:rPr lang="en-GB" sz="1600">
                <a:solidFill>
                  <a:schemeClr val="bg1"/>
                </a:solidFill>
                <a:cs typeface="Arial" charset="0"/>
              </a:rPr>
              <a:t>Kukoistaa kulttuurissa, jossa ihmiset tuntevat olonsa mukavaksi ja tärkeiksi kun heidän roolinsa on määritelty selkeiden käytäntöjen ja toimitatapojen avulla. Voimakas pyrkimys järjestykseen.</a:t>
            </a:r>
            <a:endParaRPr lang="en-GB" sz="1600">
              <a:solidFill>
                <a:schemeClr val="bg1"/>
              </a:solidFill>
            </a:endParaRPr>
          </a:p>
        </p:txBody>
      </p:sp>
      <p:sp>
        <p:nvSpPr>
          <p:cNvPr id="71686" name="Rectangle 6"/>
          <p:cNvSpPr>
            <a:spLocks noChangeArrowheads="1"/>
          </p:cNvSpPr>
          <p:nvPr/>
        </p:nvSpPr>
        <p:spPr bwMode="auto">
          <a:xfrm>
            <a:off x="5562600" y="4437063"/>
            <a:ext cx="3186113" cy="1811337"/>
          </a:xfrm>
          <a:prstGeom prst="rect">
            <a:avLst/>
          </a:prstGeom>
          <a:solidFill>
            <a:schemeClr val="folHlink"/>
          </a:solidFill>
          <a:ln w="9525">
            <a:noFill/>
            <a:miter lim="800000"/>
            <a:headEnd/>
            <a:tailEnd/>
          </a:ln>
          <a:effectLst/>
        </p:spPr>
        <p:txBody>
          <a:bodyPr anchor="ctr"/>
          <a:lstStyle/>
          <a:p>
            <a:pPr fontAlgn="b"/>
            <a:r>
              <a:rPr lang="en-GB" sz="1600">
                <a:solidFill>
                  <a:schemeClr val="bg1"/>
                </a:solidFill>
                <a:cs typeface="Arial" charset="0"/>
              </a:rPr>
              <a:t>Kukoistaa kulttuurissa, jossa ihmiset tuntevat olonsa mukavaksi ja tärkeiksi, kun heillä on paljon vapautta. Voimakas pyrkimys kaaokseen.</a:t>
            </a:r>
          </a:p>
        </p:txBody>
      </p:sp>
      <p:sp>
        <p:nvSpPr>
          <p:cNvPr id="71688" name="Rectangle 8"/>
          <p:cNvSpPr>
            <a:spLocks noChangeArrowheads="1"/>
          </p:cNvSpPr>
          <p:nvPr/>
        </p:nvSpPr>
        <p:spPr bwMode="auto">
          <a:xfrm>
            <a:off x="5562600" y="2205038"/>
            <a:ext cx="3186113" cy="2087562"/>
          </a:xfrm>
          <a:prstGeom prst="rect">
            <a:avLst/>
          </a:prstGeom>
          <a:solidFill>
            <a:schemeClr val="folHlink"/>
          </a:solidFill>
          <a:ln w="9525">
            <a:noFill/>
            <a:miter lim="800000"/>
            <a:headEnd/>
            <a:tailEnd/>
          </a:ln>
          <a:effectLst/>
        </p:spPr>
        <p:txBody>
          <a:bodyPr anchor="ctr"/>
          <a:lstStyle/>
          <a:p>
            <a:pPr fontAlgn="b"/>
            <a:r>
              <a:rPr lang="en-GB" sz="1600">
                <a:solidFill>
                  <a:schemeClr val="bg1"/>
                </a:solidFill>
                <a:cs typeface="Arial" charset="0"/>
              </a:rPr>
              <a:t>Vaatii jatkuvaa mukanaoloa kriittiseltä määrältä sopivia tason 2 ja 3 asiantuntijoilta; riskialtista käyttää ei-ketteriä tason 1B ihmisiä.</a:t>
            </a:r>
          </a:p>
        </p:txBody>
      </p:sp>
      <p:sp>
        <p:nvSpPr>
          <p:cNvPr id="71689" name="AutoShape 9"/>
          <p:cNvSpPr>
            <a:spLocks noChangeArrowheads="1"/>
          </p:cNvSpPr>
          <p:nvPr/>
        </p:nvSpPr>
        <p:spPr bwMode="auto">
          <a:xfrm>
            <a:off x="3851275" y="2903538"/>
            <a:ext cx="1524000" cy="381000"/>
          </a:xfrm>
          <a:prstGeom prst="roundRect">
            <a:avLst>
              <a:gd name="adj" fmla="val 16667"/>
            </a:avLst>
          </a:prstGeom>
          <a:solidFill>
            <a:srgbClr val="FF9933"/>
          </a:solidFill>
          <a:ln w="38100">
            <a:solidFill>
              <a:srgbClr val="000000"/>
            </a:solidFill>
            <a:round/>
            <a:headEnd/>
            <a:tailEnd/>
          </a:ln>
          <a:effectLst/>
        </p:spPr>
        <p:txBody>
          <a:bodyPr wrap="none" anchor="ctr"/>
          <a:lstStyle/>
          <a:p>
            <a:pPr algn="ctr"/>
            <a:r>
              <a:rPr lang="fi-FI" sz="2000">
                <a:solidFill>
                  <a:schemeClr val="bg1"/>
                </a:solidFill>
              </a:rPr>
              <a:t>Henkilöstö</a:t>
            </a:r>
            <a:endParaRPr lang="en-GB" sz="2000">
              <a:solidFill>
                <a:schemeClr val="bg1"/>
              </a:solidFill>
            </a:endParaRPr>
          </a:p>
        </p:txBody>
      </p:sp>
      <p:sp>
        <p:nvSpPr>
          <p:cNvPr id="71690" name="AutoShape 10"/>
          <p:cNvSpPr>
            <a:spLocks noChangeArrowheads="1"/>
          </p:cNvSpPr>
          <p:nvPr/>
        </p:nvSpPr>
        <p:spPr bwMode="auto">
          <a:xfrm>
            <a:off x="3851275" y="5084763"/>
            <a:ext cx="1524000" cy="381000"/>
          </a:xfrm>
          <a:prstGeom prst="roundRect">
            <a:avLst>
              <a:gd name="adj" fmla="val 16667"/>
            </a:avLst>
          </a:prstGeom>
          <a:solidFill>
            <a:srgbClr val="FF9933"/>
          </a:solidFill>
          <a:ln w="38100">
            <a:solidFill>
              <a:srgbClr val="000000"/>
            </a:solidFill>
            <a:round/>
            <a:headEnd/>
            <a:tailEnd/>
          </a:ln>
          <a:effectLst/>
        </p:spPr>
        <p:txBody>
          <a:bodyPr wrap="none" anchor="ctr"/>
          <a:lstStyle/>
          <a:p>
            <a:pPr algn="ctr"/>
            <a:r>
              <a:rPr lang="fi-FI" sz="2000">
                <a:solidFill>
                  <a:schemeClr val="bg1"/>
                </a:solidFill>
              </a:rPr>
              <a:t>Kulttuuri</a:t>
            </a:r>
            <a:endParaRPr lang="en-GB" sz="2000">
              <a:solidFill>
                <a:schemeClr val="bg1"/>
              </a:solidFill>
            </a:endParaRPr>
          </a:p>
        </p:txBody>
      </p:sp>
      <p:sp>
        <p:nvSpPr>
          <p:cNvPr id="71691" name="Rectangle 11"/>
          <p:cNvSpPr>
            <a:spLocks noChangeArrowheads="1"/>
          </p:cNvSpPr>
          <p:nvPr/>
        </p:nvSpPr>
        <p:spPr bwMode="auto">
          <a:xfrm>
            <a:off x="457200" y="1828800"/>
            <a:ext cx="3035300" cy="304800"/>
          </a:xfrm>
          <a:prstGeom prst="rect">
            <a:avLst/>
          </a:prstGeom>
          <a:solidFill>
            <a:schemeClr val="accent1"/>
          </a:solidFill>
          <a:ln w="9525">
            <a:noFill/>
            <a:miter lim="800000"/>
            <a:headEnd/>
            <a:tailEnd/>
          </a:ln>
          <a:effectLst/>
        </p:spPr>
        <p:txBody>
          <a:bodyPr wrap="none" anchor="ctr"/>
          <a:lstStyle/>
          <a:p>
            <a:r>
              <a:rPr lang="fi-FI" sz="1800" b="1">
                <a:solidFill>
                  <a:schemeClr val="bg1"/>
                </a:solidFill>
              </a:rPr>
              <a:t>Suunnitelmaohjatut</a:t>
            </a:r>
            <a:endParaRPr lang="en-GB" sz="1800" b="1">
              <a:solidFill>
                <a:schemeClr val="bg1"/>
              </a:solidFill>
            </a:endParaRPr>
          </a:p>
        </p:txBody>
      </p:sp>
      <p:sp>
        <p:nvSpPr>
          <p:cNvPr id="71692" name="Rectangle 12"/>
          <p:cNvSpPr>
            <a:spLocks noChangeArrowheads="1"/>
          </p:cNvSpPr>
          <p:nvPr/>
        </p:nvSpPr>
        <p:spPr bwMode="auto">
          <a:xfrm>
            <a:off x="5562600" y="1828800"/>
            <a:ext cx="2971800" cy="304800"/>
          </a:xfrm>
          <a:prstGeom prst="rect">
            <a:avLst/>
          </a:prstGeom>
          <a:solidFill>
            <a:schemeClr val="folHlink"/>
          </a:solidFill>
          <a:ln w="9525">
            <a:noFill/>
            <a:miter lim="800000"/>
            <a:headEnd/>
            <a:tailEnd/>
          </a:ln>
          <a:effectLst/>
        </p:spPr>
        <p:txBody>
          <a:bodyPr wrap="none" anchor="ctr"/>
          <a:lstStyle/>
          <a:p>
            <a:r>
              <a:rPr lang="fi-FI" sz="1800" b="1">
                <a:solidFill>
                  <a:schemeClr val="bg1"/>
                </a:solidFill>
              </a:rPr>
              <a:t>Ketterät</a:t>
            </a:r>
            <a:endParaRPr lang="en-GB" sz="1800" b="1">
              <a:solidFill>
                <a:schemeClr val="bg1"/>
              </a:solidFill>
            </a:endParaRPr>
          </a:p>
        </p:txBody>
      </p:sp>
      <p:sp>
        <p:nvSpPr>
          <p:cNvPr id="71694" name="Rectangle 14"/>
          <p:cNvSpPr>
            <a:spLocks noGrp="1" noChangeArrowheads="1"/>
          </p:cNvSpPr>
          <p:nvPr>
            <p:ph type="title"/>
          </p:nvPr>
        </p:nvSpPr>
        <p:spPr/>
        <p:txBody>
          <a:bodyPr/>
          <a:lstStyle/>
          <a:p>
            <a:r>
              <a:rPr lang="fi-FI"/>
              <a:t> </a:t>
            </a:r>
            <a:endParaRPr lang="en-US"/>
          </a:p>
        </p:txBody>
      </p:sp>
      <p:sp>
        <p:nvSpPr>
          <p:cNvPr id="71696" name="Rectangle 16"/>
          <p:cNvSpPr>
            <a:spLocks noChangeArrowheads="1"/>
          </p:cNvSpPr>
          <p:nvPr/>
        </p:nvSpPr>
        <p:spPr bwMode="auto">
          <a:xfrm>
            <a:off x="685800" y="260350"/>
            <a:ext cx="7772400" cy="1143000"/>
          </a:xfrm>
          <a:prstGeom prst="rect">
            <a:avLst/>
          </a:prstGeom>
          <a:noFill/>
          <a:ln w="9525">
            <a:noFill/>
            <a:miter lim="800000"/>
            <a:headEnd/>
            <a:tailEnd/>
          </a:ln>
          <a:effectLst/>
        </p:spPr>
        <p:txBody>
          <a:bodyPr anchor="ctr"/>
          <a:lstStyle/>
          <a:p>
            <a:pPr algn="ctr"/>
            <a:r>
              <a:rPr lang="en-US" sz="4000" b="1" dirty="0" err="1" smtClean="0">
                <a:solidFill>
                  <a:schemeClr val="tx2"/>
                </a:solidFill>
                <a:latin typeface="+mj-lt"/>
              </a:rPr>
              <a:t>Viisi</a:t>
            </a:r>
            <a:r>
              <a:rPr lang="en-US" sz="4000" b="1" dirty="0" smtClean="0">
                <a:solidFill>
                  <a:schemeClr val="tx2"/>
                </a:solidFill>
                <a:latin typeface="+mj-lt"/>
              </a:rPr>
              <a:t> </a:t>
            </a:r>
            <a:r>
              <a:rPr lang="en-US" sz="4000" b="1" dirty="0" err="1" smtClean="0">
                <a:solidFill>
                  <a:schemeClr val="tx2"/>
                </a:solidFill>
                <a:latin typeface="+mj-lt"/>
              </a:rPr>
              <a:t>kriittistä</a:t>
            </a:r>
            <a:r>
              <a:rPr lang="en-US" sz="4000" b="1" dirty="0" smtClean="0">
                <a:solidFill>
                  <a:schemeClr val="tx2"/>
                </a:solidFill>
                <a:latin typeface="+mj-lt"/>
              </a:rPr>
              <a:t> </a:t>
            </a:r>
            <a:r>
              <a:rPr lang="en-US" sz="4000" b="1" dirty="0" err="1" smtClean="0">
                <a:solidFill>
                  <a:schemeClr val="tx2"/>
                </a:solidFill>
                <a:latin typeface="+mj-lt"/>
              </a:rPr>
              <a:t>tekijää</a:t>
            </a:r>
            <a:r>
              <a:rPr lang="en-US" sz="4000" b="1" dirty="0" smtClean="0">
                <a:solidFill>
                  <a:schemeClr val="tx2"/>
                </a:solidFill>
                <a:latin typeface="+mj-lt"/>
              </a:rPr>
              <a:t> (2/2)</a:t>
            </a:r>
            <a:br>
              <a:rPr lang="en-US" sz="4000" b="1" dirty="0" smtClean="0">
                <a:solidFill>
                  <a:schemeClr val="tx2"/>
                </a:solidFill>
                <a:latin typeface="+mj-lt"/>
              </a:rPr>
            </a:br>
            <a:r>
              <a:rPr lang="en-US" sz="1400" b="1" dirty="0" err="1" smtClean="0">
                <a:solidFill>
                  <a:schemeClr val="tx2"/>
                </a:solidFill>
                <a:latin typeface="+mj-lt"/>
              </a:rPr>
              <a:t>Lähde</a:t>
            </a:r>
            <a:r>
              <a:rPr lang="en-US" sz="1400" b="1" dirty="0" smtClean="0">
                <a:solidFill>
                  <a:schemeClr val="tx2"/>
                </a:solidFill>
                <a:latin typeface="+mj-lt"/>
              </a:rPr>
              <a:t>: Boehm, B., and R. Turner. 2003. Using Risk to Balance Agile and Plan-driven Methods. IEEE Computer 36, no. 6.  </a:t>
            </a:r>
            <a:endParaRPr lang="en-US" sz="1400" b="1" dirty="0">
              <a:solidFill>
                <a:schemeClr val="tx2"/>
              </a:solidFill>
              <a:latin typeface="+mj-lt"/>
            </a:endParaRPr>
          </a:p>
        </p:txBody>
      </p:sp>
      <p:sp>
        <p:nvSpPr>
          <p:cNvPr id="15" name="Slide Number Placeholder 14"/>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30" name="Rectangle 2"/>
          <p:cNvSpPr>
            <a:spLocks noGrp="1" noChangeArrowheads="1"/>
          </p:cNvSpPr>
          <p:nvPr>
            <p:ph type="title"/>
          </p:nvPr>
        </p:nvSpPr>
        <p:spPr>
          <a:xfrm>
            <a:off x="685800" y="404813"/>
            <a:ext cx="8207375" cy="1152525"/>
          </a:xfrm>
        </p:spPr>
        <p:txBody>
          <a:bodyPr>
            <a:normAutofit fontScale="90000"/>
          </a:bodyPr>
          <a:lstStyle/>
          <a:p>
            <a:r>
              <a:rPr lang="en-US"/>
              <a:t>One Approach to Several Projects Is Sub-Optimal for All</a:t>
            </a:r>
            <a:br>
              <a:rPr lang="en-US"/>
            </a:br>
            <a:r>
              <a:rPr lang="en-US" sz="1400"/>
              <a:t>Source: Boehm, B., and R. Turner. 2003. Using Risk to Balance Agile and Plan-driven Methods. IEEE Computer 36, no. 6.</a:t>
            </a:r>
          </a:p>
        </p:txBody>
      </p:sp>
      <p:graphicFrame>
        <p:nvGraphicFramePr>
          <p:cNvPr id="1203200" name="Object 1024"/>
          <p:cNvGraphicFramePr>
            <a:graphicFrameLocks noChangeAspect="1"/>
          </p:cNvGraphicFramePr>
          <p:nvPr/>
        </p:nvGraphicFramePr>
        <p:xfrm>
          <a:off x="1066800" y="1814513"/>
          <a:ext cx="5313363" cy="4433887"/>
        </p:xfrm>
        <a:graphic>
          <a:graphicData uri="http://schemas.openxmlformats.org/presentationml/2006/ole">
            <p:oleObj spid="_x0000_s100354" name="Visio" r:id="rId4" imgW="4987080" imgH="4161600" progId="">
              <p:embed/>
            </p:oleObj>
          </a:graphicData>
        </a:graphic>
      </p:graphicFrame>
      <p:sp>
        <p:nvSpPr>
          <p:cNvPr id="1097732" name="Oval 4"/>
          <p:cNvSpPr>
            <a:spLocks noChangeArrowheads="1"/>
          </p:cNvSpPr>
          <p:nvPr/>
        </p:nvSpPr>
        <p:spPr bwMode="auto">
          <a:xfrm>
            <a:off x="2819400" y="3886200"/>
            <a:ext cx="152400" cy="152400"/>
          </a:xfrm>
          <a:prstGeom prst="ellipse">
            <a:avLst/>
          </a:prstGeom>
          <a:solidFill>
            <a:srgbClr val="FF6699"/>
          </a:solidFill>
          <a:ln w="9525">
            <a:solidFill>
              <a:schemeClr val="tx1"/>
            </a:solidFill>
            <a:round/>
            <a:headEnd/>
            <a:tailEnd/>
          </a:ln>
          <a:effectLst/>
        </p:spPr>
        <p:txBody>
          <a:bodyPr wrap="none" anchor="ctr"/>
          <a:lstStyle/>
          <a:p>
            <a:endParaRPr lang="fi-FI"/>
          </a:p>
        </p:txBody>
      </p:sp>
      <p:sp>
        <p:nvSpPr>
          <p:cNvPr id="1097733" name="Oval 5"/>
          <p:cNvSpPr>
            <a:spLocks noChangeArrowheads="1"/>
          </p:cNvSpPr>
          <p:nvPr/>
        </p:nvSpPr>
        <p:spPr bwMode="auto">
          <a:xfrm>
            <a:off x="3581400" y="3733800"/>
            <a:ext cx="152400" cy="152400"/>
          </a:xfrm>
          <a:prstGeom prst="ellipse">
            <a:avLst/>
          </a:prstGeom>
          <a:solidFill>
            <a:srgbClr val="FF6699"/>
          </a:solidFill>
          <a:ln w="9525">
            <a:solidFill>
              <a:schemeClr val="tx1"/>
            </a:solidFill>
            <a:round/>
            <a:headEnd/>
            <a:tailEnd/>
          </a:ln>
          <a:effectLst/>
        </p:spPr>
        <p:txBody>
          <a:bodyPr wrap="none" anchor="ctr"/>
          <a:lstStyle/>
          <a:p>
            <a:endParaRPr lang="fi-FI"/>
          </a:p>
        </p:txBody>
      </p:sp>
      <p:sp>
        <p:nvSpPr>
          <p:cNvPr id="1097734" name="Oval 6"/>
          <p:cNvSpPr>
            <a:spLocks noChangeArrowheads="1"/>
          </p:cNvSpPr>
          <p:nvPr/>
        </p:nvSpPr>
        <p:spPr bwMode="auto">
          <a:xfrm>
            <a:off x="5029200" y="3657600"/>
            <a:ext cx="152400" cy="152400"/>
          </a:xfrm>
          <a:prstGeom prst="ellipse">
            <a:avLst/>
          </a:prstGeom>
          <a:solidFill>
            <a:srgbClr val="FF6699"/>
          </a:solidFill>
          <a:ln w="9525">
            <a:solidFill>
              <a:schemeClr val="tx1"/>
            </a:solidFill>
            <a:round/>
            <a:headEnd/>
            <a:tailEnd/>
          </a:ln>
          <a:effectLst/>
        </p:spPr>
        <p:txBody>
          <a:bodyPr wrap="none" anchor="ctr"/>
          <a:lstStyle/>
          <a:p>
            <a:endParaRPr lang="fi-FI"/>
          </a:p>
        </p:txBody>
      </p:sp>
      <p:sp>
        <p:nvSpPr>
          <p:cNvPr id="1097735" name="Oval 7"/>
          <p:cNvSpPr>
            <a:spLocks noChangeArrowheads="1"/>
          </p:cNvSpPr>
          <p:nvPr/>
        </p:nvSpPr>
        <p:spPr bwMode="auto">
          <a:xfrm>
            <a:off x="4495800" y="5334000"/>
            <a:ext cx="152400" cy="152400"/>
          </a:xfrm>
          <a:prstGeom prst="ellipse">
            <a:avLst/>
          </a:prstGeom>
          <a:solidFill>
            <a:srgbClr val="FF6699"/>
          </a:solidFill>
          <a:ln w="9525">
            <a:solidFill>
              <a:schemeClr val="tx1"/>
            </a:solidFill>
            <a:round/>
            <a:headEnd/>
            <a:tailEnd/>
          </a:ln>
          <a:effectLst/>
        </p:spPr>
        <p:txBody>
          <a:bodyPr wrap="none" anchor="ctr"/>
          <a:lstStyle/>
          <a:p>
            <a:endParaRPr lang="fi-FI"/>
          </a:p>
        </p:txBody>
      </p:sp>
      <p:sp>
        <p:nvSpPr>
          <p:cNvPr id="1097736" name="Oval 8"/>
          <p:cNvSpPr>
            <a:spLocks noChangeArrowheads="1"/>
          </p:cNvSpPr>
          <p:nvPr/>
        </p:nvSpPr>
        <p:spPr bwMode="auto">
          <a:xfrm>
            <a:off x="3352800" y="4419600"/>
            <a:ext cx="152400" cy="152400"/>
          </a:xfrm>
          <a:prstGeom prst="ellipse">
            <a:avLst/>
          </a:prstGeom>
          <a:solidFill>
            <a:srgbClr val="FF6699"/>
          </a:solidFill>
          <a:ln w="9525">
            <a:solidFill>
              <a:schemeClr val="tx1"/>
            </a:solidFill>
            <a:round/>
            <a:headEnd/>
            <a:tailEnd/>
          </a:ln>
          <a:effectLst/>
        </p:spPr>
        <p:txBody>
          <a:bodyPr wrap="none" anchor="ctr"/>
          <a:lstStyle/>
          <a:p>
            <a:endParaRPr lang="fi-FI"/>
          </a:p>
        </p:txBody>
      </p:sp>
      <p:sp>
        <p:nvSpPr>
          <p:cNvPr id="1097737" name="Oval 9"/>
          <p:cNvSpPr>
            <a:spLocks noChangeArrowheads="1"/>
          </p:cNvSpPr>
          <p:nvPr/>
        </p:nvSpPr>
        <p:spPr bwMode="auto">
          <a:xfrm>
            <a:off x="2514600" y="3733800"/>
            <a:ext cx="152400" cy="152400"/>
          </a:xfrm>
          <a:prstGeom prst="ellipse">
            <a:avLst/>
          </a:prstGeom>
          <a:solidFill>
            <a:srgbClr val="FFCC00"/>
          </a:solidFill>
          <a:ln w="9525">
            <a:solidFill>
              <a:schemeClr val="tx1"/>
            </a:solidFill>
            <a:round/>
            <a:headEnd/>
            <a:tailEnd/>
          </a:ln>
          <a:effectLst/>
        </p:spPr>
        <p:txBody>
          <a:bodyPr wrap="none" anchor="ctr"/>
          <a:lstStyle/>
          <a:p>
            <a:endParaRPr lang="fi-FI"/>
          </a:p>
        </p:txBody>
      </p:sp>
      <p:sp>
        <p:nvSpPr>
          <p:cNvPr id="1097738" name="Oval 10"/>
          <p:cNvSpPr>
            <a:spLocks noChangeArrowheads="1"/>
          </p:cNvSpPr>
          <p:nvPr/>
        </p:nvSpPr>
        <p:spPr bwMode="auto">
          <a:xfrm>
            <a:off x="3581400" y="2971800"/>
            <a:ext cx="152400" cy="152400"/>
          </a:xfrm>
          <a:prstGeom prst="ellipse">
            <a:avLst/>
          </a:prstGeom>
          <a:solidFill>
            <a:srgbClr val="FFCC00"/>
          </a:solidFill>
          <a:ln w="9525">
            <a:solidFill>
              <a:schemeClr val="tx1"/>
            </a:solidFill>
            <a:round/>
            <a:headEnd/>
            <a:tailEnd/>
          </a:ln>
          <a:effectLst/>
        </p:spPr>
        <p:txBody>
          <a:bodyPr wrap="none" anchor="ctr"/>
          <a:lstStyle/>
          <a:p>
            <a:endParaRPr lang="fi-FI"/>
          </a:p>
        </p:txBody>
      </p:sp>
      <p:sp>
        <p:nvSpPr>
          <p:cNvPr id="1097739" name="Oval 11"/>
          <p:cNvSpPr>
            <a:spLocks noChangeArrowheads="1"/>
          </p:cNvSpPr>
          <p:nvPr/>
        </p:nvSpPr>
        <p:spPr bwMode="auto">
          <a:xfrm>
            <a:off x="4648200" y="3810000"/>
            <a:ext cx="152400" cy="152400"/>
          </a:xfrm>
          <a:prstGeom prst="ellipse">
            <a:avLst/>
          </a:prstGeom>
          <a:solidFill>
            <a:srgbClr val="FFCC00"/>
          </a:solidFill>
          <a:ln w="9525">
            <a:solidFill>
              <a:schemeClr val="tx1"/>
            </a:solidFill>
            <a:round/>
            <a:headEnd/>
            <a:tailEnd/>
          </a:ln>
          <a:effectLst/>
        </p:spPr>
        <p:txBody>
          <a:bodyPr wrap="none" anchor="ctr"/>
          <a:lstStyle/>
          <a:p>
            <a:endParaRPr lang="fi-FI"/>
          </a:p>
        </p:txBody>
      </p:sp>
      <p:sp>
        <p:nvSpPr>
          <p:cNvPr id="1097740" name="Oval 12"/>
          <p:cNvSpPr>
            <a:spLocks noChangeArrowheads="1"/>
          </p:cNvSpPr>
          <p:nvPr/>
        </p:nvSpPr>
        <p:spPr bwMode="auto">
          <a:xfrm>
            <a:off x="3048000" y="4876800"/>
            <a:ext cx="152400" cy="152400"/>
          </a:xfrm>
          <a:prstGeom prst="ellipse">
            <a:avLst/>
          </a:prstGeom>
          <a:solidFill>
            <a:srgbClr val="FFCC00"/>
          </a:solidFill>
          <a:ln w="9525">
            <a:solidFill>
              <a:schemeClr val="tx1"/>
            </a:solidFill>
            <a:round/>
            <a:headEnd/>
            <a:tailEnd/>
          </a:ln>
          <a:effectLst/>
        </p:spPr>
        <p:txBody>
          <a:bodyPr wrap="none" anchor="ctr"/>
          <a:lstStyle/>
          <a:p>
            <a:endParaRPr lang="fi-FI"/>
          </a:p>
        </p:txBody>
      </p:sp>
      <p:sp>
        <p:nvSpPr>
          <p:cNvPr id="1097741" name="Oval 13"/>
          <p:cNvSpPr>
            <a:spLocks noChangeArrowheads="1"/>
          </p:cNvSpPr>
          <p:nvPr/>
        </p:nvSpPr>
        <p:spPr bwMode="auto">
          <a:xfrm>
            <a:off x="4419600" y="5334000"/>
            <a:ext cx="152400" cy="152400"/>
          </a:xfrm>
          <a:prstGeom prst="ellipse">
            <a:avLst/>
          </a:prstGeom>
          <a:solidFill>
            <a:srgbClr val="FFCC00"/>
          </a:solidFill>
          <a:ln w="9525">
            <a:solidFill>
              <a:schemeClr val="tx1"/>
            </a:solidFill>
            <a:round/>
            <a:headEnd/>
            <a:tailEnd/>
          </a:ln>
          <a:effectLst/>
        </p:spPr>
        <p:txBody>
          <a:bodyPr wrap="none" anchor="ctr"/>
          <a:lstStyle/>
          <a:p>
            <a:endParaRPr lang="fi-FI"/>
          </a:p>
        </p:txBody>
      </p:sp>
      <p:sp>
        <p:nvSpPr>
          <p:cNvPr id="1097742" name="Freeform 14"/>
          <p:cNvSpPr>
            <a:spLocks/>
          </p:cNvSpPr>
          <p:nvPr/>
        </p:nvSpPr>
        <p:spPr bwMode="auto">
          <a:xfrm>
            <a:off x="2590800" y="3048000"/>
            <a:ext cx="2133600" cy="2362200"/>
          </a:xfrm>
          <a:custGeom>
            <a:avLst/>
            <a:gdLst/>
            <a:ahLst/>
            <a:cxnLst>
              <a:cxn ang="0">
                <a:pos x="336" y="1200"/>
              </a:cxn>
              <a:cxn ang="0">
                <a:pos x="0" y="480"/>
              </a:cxn>
              <a:cxn ang="0">
                <a:pos x="672" y="0"/>
              </a:cxn>
              <a:cxn ang="0">
                <a:pos x="1344" y="528"/>
              </a:cxn>
              <a:cxn ang="0">
                <a:pos x="1200" y="1488"/>
              </a:cxn>
              <a:cxn ang="0">
                <a:pos x="336" y="1200"/>
              </a:cxn>
            </a:cxnLst>
            <a:rect l="0" t="0" r="r" b="b"/>
            <a:pathLst>
              <a:path w="1344" h="1488">
                <a:moveTo>
                  <a:pt x="336" y="1200"/>
                </a:moveTo>
                <a:lnTo>
                  <a:pt x="0" y="480"/>
                </a:lnTo>
                <a:lnTo>
                  <a:pt x="672" y="0"/>
                </a:lnTo>
                <a:lnTo>
                  <a:pt x="1344" y="528"/>
                </a:lnTo>
                <a:lnTo>
                  <a:pt x="1200" y="1488"/>
                </a:lnTo>
                <a:lnTo>
                  <a:pt x="336" y="1200"/>
                </a:lnTo>
                <a:close/>
              </a:path>
            </a:pathLst>
          </a:custGeom>
          <a:solidFill>
            <a:srgbClr val="FFCC00">
              <a:alpha val="50000"/>
            </a:srgbClr>
          </a:solidFill>
          <a:ln w="9525">
            <a:solidFill>
              <a:schemeClr val="tx1"/>
            </a:solidFill>
            <a:round/>
            <a:headEnd/>
            <a:tailEnd/>
          </a:ln>
          <a:effectLst/>
        </p:spPr>
        <p:txBody>
          <a:bodyPr/>
          <a:lstStyle/>
          <a:p>
            <a:endParaRPr lang="fi-FI"/>
          </a:p>
        </p:txBody>
      </p:sp>
      <p:sp>
        <p:nvSpPr>
          <p:cNvPr id="1097743" name="Freeform 15"/>
          <p:cNvSpPr>
            <a:spLocks/>
          </p:cNvSpPr>
          <p:nvPr/>
        </p:nvSpPr>
        <p:spPr bwMode="auto">
          <a:xfrm>
            <a:off x="2895600" y="3733800"/>
            <a:ext cx="2209800" cy="1676400"/>
          </a:xfrm>
          <a:custGeom>
            <a:avLst/>
            <a:gdLst/>
            <a:ahLst/>
            <a:cxnLst>
              <a:cxn ang="0">
                <a:pos x="336" y="480"/>
              </a:cxn>
              <a:cxn ang="0">
                <a:pos x="0" y="144"/>
              </a:cxn>
              <a:cxn ang="0">
                <a:pos x="480" y="48"/>
              </a:cxn>
              <a:cxn ang="0">
                <a:pos x="1392" y="0"/>
              </a:cxn>
              <a:cxn ang="0">
                <a:pos x="1056" y="1056"/>
              </a:cxn>
              <a:cxn ang="0">
                <a:pos x="336" y="480"/>
              </a:cxn>
            </a:cxnLst>
            <a:rect l="0" t="0" r="r" b="b"/>
            <a:pathLst>
              <a:path w="1392" h="1056">
                <a:moveTo>
                  <a:pt x="336" y="480"/>
                </a:moveTo>
                <a:lnTo>
                  <a:pt x="0" y="144"/>
                </a:lnTo>
                <a:lnTo>
                  <a:pt x="480" y="48"/>
                </a:lnTo>
                <a:lnTo>
                  <a:pt x="1392" y="0"/>
                </a:lnTo>
                <a:lnTo>
                  <a:pt x="1056" y="1056"/>
                </a:lnTo>
                <a:lnTo>
                  <a:pt x="336" y="480"/>
                </a:lnTo>
                <a:close/>
              </a:path>
            </a:pathLst>
          </a:custGeom>
          <a:solidFill>
            <a:srgbClr val="FF6699">
              <a:alpha val="50000"/>
            </a:srgbClr>
          </a:solidFill>
          <a:ln w="9525">
            <a:solidFill>
              <a:schemeClr val="tx1"/>
            </a:solidFill>
            <a:round/>
            <a:headEnd/>
            <a:tailEnd/>
          </a:ln>
          <a:effectLst/>
        </p:spPr>
        <p:txBody>
          <a:bodyPr/>
          <a:lstStyle/>
          <a:p>
            <a:endParaRPr lang="fi-FI"/>
          </a:p>
        </p:txBody>
      </p:sp>
      <p:sp>
        <p:nvSpPr>
          <p:cNvPr id="1097744" name="Rectangle 16"/>
          <p:cNvSpPr>
            <a:spLocks noChangeArrowheads="1"/>
          </p:cNvSpPr>
          <p:nvPr/>
        </p:nvSpPr>
        <p:spPr bwMode="auto">
          <a:xfrm>
            <a:off x="5867400" y="4343400"/>
            <a:ext cx="3048000" cy="1905000"/>
          </a:xfrm>
          <a:prstGeom prst="rect">
            <a:avLst/>
          </a:prstGeom>
          <a:solidFill>
            <a:schemeClr val="accent1"/>
          </a:solidFill>
          <a:ln w="9525">
            <a:solidFill>
              <a:schemeClr val="tx1"/>
            </a:solidFill>
            <a:miter lim="800000"/>
            <a:headEnd/>
            <a:tailEnd/>
          </a:ln>
          <a:effectLst>
            <a:outerShdw dist="107763" dir="18900000" algn="ctr" rotWithShape="0">
              <a:schemeClr val="bg2"/>
            </a:outerShdw>
          </a:effectLst>
        </p:spPr>
        <p:txBody>
          <a:bodyPr anchor="ctr"/>
          <a:lstStyle/>
          <a:p>
            <a:pPr algn="ctr" eaLnBrk="1" hangingPunct="1"/>
            <a:r>
              <a:rPr lang="fi-FI" sz="2000">
                <a:latin typeface="Arial" pitchFamily="34" charset="0"/>
              </a:rPr>
              <a:t>Mapping to analyze need of plan-driven vs. agile approach.</a:t>
            </a:r>
          </a:p>
          <a:p>
            <a:pPr algn="ctr" eaLnBrk="1" hangingPunct="1"/>
            <a:r>
              <a:rPr lang="fi-FI" sz="2000" b="1">
                <a:latin typeface="Arial" pitchFamily="34" charset="0"/>
                <a:sym typeface="Wingdings" pitchFamily="2" charset="2"/>
              </a:rPr>
              <a:t> Seemingly similar are actually very different</a:t>
            </a:r>
            <a:r>
              <a:rPr lang="fi-FI" sz="2000">
                <a:latin typeface="Arial" pitchFamily="34" charset="0"/>
              </a:rPr>
              <a:t> </a:t>
            </a:r>
            <a:endParaRPr lang="en-GB" sz="2000">
              <a:latin typeface="Arial" pitchFamily="34" charset="0"/>
            </a:endParaRPr>
          </a:p>
        </p:txBody>
      </p:sp>
      <p:sp>
        <p:nvSpPr>
          <p:cNvPr id="17" name="Slide Number Placeholder 16"/>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Rectangle 2"/>
          <p:cNvSpPr>
            <a:spLocks noGrp="1" noChangeArrowheads="1"/>
          </p:cNvSpPr>
          <p:nvPr>
            <p:ph type="title"/>
          </p:nvPr>
        </p:nvSpPr>
        <p:spPr/>
        <p:txBody>
          <a:bodyPr/>
          <a:lstStyle/>
          <a:p>
            <a:r>
              <a:rPr lang="en-US"/>
              <a:t>Conclusions</a:t>
            </a:r>
          </a:p>
        </p:txBody>
      </p:sp>
      <p:sp>
        <p:nvSpPr>
          <p:cNvPr id="1099779" name="Rectangle 3"/>
          <p:cNvSpPr>
            <a:spLocks noGrp="1" noChangeArrowheads="1"/>
          </p:cNvSpPr>
          <p:nvPr>
            <p:ph type="body" idx="1"/>
          </p:nvPr>
        </p:nvSpPr>
        <p:spPr/>
        <p:txBody>
          <a:bodyPr>
            <a:normAutofit/>
          </a:bodyPr>
          <a:lstStyle/>
          <a:p>
            <a:r>
              <a:rPr lang="en-US" dirty="0"/>
              <a:t>Plan-driven and agile methods – including testing – have different home grounds</a:t>
            </a:r>
          </a:p>
          <a:p>
            <a:r>
              <a:rPr lang="en-US" dirty="0"/>
              <a:t>Different mindset has its impact on testing</a:t>
            </a:r>
          </a:p>
          <a:p>
            <a:r>
              <a:rPr lang="en-US" dirty="0"/>
              <a:t>Development and testing pieces in the puzzle should fit together</a:t>
            </a:r>
          </a:p>
          <a:p>
            <a:r>
              <a:rPr lang="en-US" dirty="0"/>
              <a:t>Getting into the agile mindset has proved a challenge in practice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1836</TotalTime>
  <Words>2597</Words>
  <Application>Microsoft Office PowerPoint</Application>
  <PresentationFormat>Näytössä katseltava diaesitys (4:3)</PresentationFormat>
  <Paragraphs>378</Paragraphs>
  <Slides>26</Slides>
  <Notes>26</Notes>
  <HiddenSlides>1</HiddenSlides>
  <MMClips>0</MMClips>
  <ScaleCrop>false</ScaleCrop>
  <HeadingPairs>
    <vt:vector size="6" baseType="variant">
      <vt:variant>
        <vt:lpstr>Teema</vt:lpstr>
      </vt:variant>
      <vt:variant>
        <vt:i4>1</vt:i4>
      </vt:variant>
      <vt:variant>
        <vt:lpstr>Upotetut OLE-palvelimet</vt:lpstr>
      </vt:variant>
      <vt:variant>
        <vt:i4>2</vt:i4>
      </vt:variant>
      <vt:variant>
        <vt:lpstr>Dian otsikot</vt:lpstr>
      </vt:variant>
      <vt:variant>
        <vt:i4>26</vt:i4>
      </vt:variant>
    </vt:vector>
  </HeadingPairs>
  <TitlesOfParts>
    <vt:vector size="29" baseType="lpstr">
      <vt:lpstr>Office Theme</vt:lpstr>
      <vt:lpstr>Slide</vt:lpstr>
      <vt:lpstr>Visio</vt:lpstr>
      <vt:lpstr>Testing and Agile – MORE  STUFF</vt:lpstr>
      <vt:lpstr>What is Agile  Testing</vt:lpstr>
      <vt:lpstr>Value of Testing</vt:lpstr>
      <vt:lpstr>Role of Testing Source: Kaner, Bach, Pettichord: Lessons Learned in Software Testing</vt:lpstr>
      <vt:lpstr>Thinking like a Tester</vt:lpstr>
      <vt:lpstr>Becoming Aware of Biases for Communication Source: Kaner et al. 2002. Lessons Learned in Software Testing</vt:lpstr>
      <vt:lpstr>Discussion: What Makes Testing Agile?</vt:lpstr>
      <vt:lpstr>Testing Practices</vt:lpstr>
      <vt:lpstr>Incomprehensible Ways of Working After Agile</vt:lpstr>
      <vt:lpstr>Learning Agile in Steps  Example of Maaret’s order of significant realizations</vt:lpstr>
      <vt:lpstr>The Context Model of Testing</vt:lpstr>
      <vt:lpstr>Agile Characteristics in Testing</vt:lpstr>
      <vt:lpstr>Context-Driven Testing Principles http://www.context-driven-testing.com</vt:lpstr>
      <vt:lpstr>Plan-driven vs. Agile in Test (1/6) Source: Pyhäjärvi, M. &amp; Rautiainen, K. 2004. Integrating Testing and Implementation into Development. Engineering Management Journal, June ‘04 </vt:lpstr>
      <vt:lpstr>Plan-driven vs. Agile in Test (2/6)  Source : Pyhäjärvi, M. &amp; Rautiainen, K. 2004. Integrating Testing and Implementation into Development. Engineering Management Journal, June ‘04 </vt:lpstr>
      <vt:lpstr>Plan-driven vs. Agile in Test (3/6)  Source : Pyhäjärvi, M. &amp; Rautiainen, K. 2004. Integrating Testing and Implementation into Development. Engineering Management Journal, June ‘04 </vt:lpstr>
      <vt:lpstr>Plan-driven vs. Agile in Test (4/6)  Source : Pyhäjärvi, M. &amp; Rautiainen, K. 2004. Integrating Testing and Implementation into Development. Engineering Management Journal, June ‘04 </vt:lpstr>
      <vt:lpstr>Plan-driven vs. Agile in Test (5/6)  Source : Pyhäjärvi, M. &amp; Rautiainen, K. 2004. Integrating Testing and Implementation into Development. Engineering Management Journal, June ‘04 </vt:lpstr>
      <vt:lpstr>Plan-driven vs. Agile in Test (6/6) Source: Pyhäjärvi, M. &amp; Rautiainen, K. 2004. Integrating Testing and Implementation into Development. Engineering Management Journal, June ‘04 </vt:lpstr>
      <vt:lpstr>Combining Two of a Kind</vt:lpstr>
      <vt:lpstr>Mix and Match?</vt:lpstr>
      <vt:lpstr> </vt:lpstr>
      <vt:lpstr> </vt:lpstr>
      <vt:lpstr>One Approach to Several Projects Is Sub-Optimal for All Source: Boehm, B., and R. Turner. 2003. Using Risk to Balance Agile and Plan-driven Methods. IEEE Computer 36, no. 6.</vt:lpstr>
      <vt:lpstr>Conclusions</vt:lpstr>
      <vt:lpstr>Ideoita, ajatuksia,  kysymyksiä?</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and Agile – MORE  STUFF</dc:title>
  <dc:creator>Maaret Pyhäjärvi</dc:creator>
  <cp:lastModifiedBy>Pyhäjärvi Maaret</cp:lastModifiedBy>
  <cp:revision>3</cp:revision>
  <dcterms:created xsi:type="dcterms:W3CDTF">2006-08-16T00:00:00Z</dcterms:created>
  <dcterms:modified xsi:type="dcterms:W3CDTF">2013-12-16T20:32:13Z</dcterms:modified>
</cp:coreProperties>
</file>