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57" r:id="rId20"/>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25" d="100"/>
          <a:sy n="25" d="100"/>
        </p:scale>
        <p:origin x="-960"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interSettings" Target="printerSettings/printerSettings1.bin"/><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A8132E-2202-4B43-83F2-727875ECBFF3}" type="doc">
      <dgm:prSet loTypeId="urn:microsoft.com/office/officeart/2005/8/layout/hierarchy1" loCatId="hierarchy" qsTypeId="urn:microsoft.com/office/officeart/2005/8/quickstyle/simple1" qsCatId="simple" csTypeId="urn:microsoft.com/office/officeart/2005/8/colors/colorful1#6" csCatId="colorful" phldr="1"/>
      <dgm:spPr/>
      <dgm:t>
        <a:bodyPr/>
        <a:lstStyle/>
        <a:p>
          <a:endParaRPr lang="fi-FI"/>
        </a:p>
      </dgm:t>
    </dgm:pt>
    <dgm:pt modelId="{46525BBE-2421-4B87-8C53-12E225AD687E}">
      <dgm:prSet phldrT="[Text]"/>
      <dgm:spPr/>
      <dgm:t>
        <a:bodyPr/>
        <a:lstStyle/>
        <a:p>
          <a:r>
            <a:rPr lang="fi-FI" dirty="0" smtClean="0"/>
            <a:t>All work</a:t>
          </a:r>
          <a:endParaRPr lang="fi-FI" dirty="0"/>
        </a:p>
      </dgm:t>
    </dgm:pt>
    <dgm:pt modelId="{38FE0111-0465-489B-AD50-32AD39798A0A}" type="parTrans" cxnId="{C470BE0E-40BC-4691-9480-1F176D71F1D9}">
      <dgm:prSet/>
      <dgm:spPr/>
      <dgm:t>
        <a:bodyPr/>
        <a:lstStyle/>
        <a:p>
          <a:endParaRPr lang="fi-FI"/>
        </a:p>
      </dgm:t>
    </dgm:pt>
    <dgm:pt modelId="{3F572AA4-539F-4FB9-B121-B83BD2442CE2}" type="sibTrans" cxnId="{C470BE0E-40BC-4691-9480-1F176D71F1D9}">
      <dgm:prSet/>
      <dgm:spPr/>
      <dgm:t>
        <a:bodyPr/>
        <a:lstStyle/>
        <a:p>
          <a:endParaRPr lang="fi-FI"/>
        </a:p>
      </dgm:t>
    </dgm:pt>
    <dgm:pt modelId="{F581A7D3-DD25-46DB-A0F3-8A93819E50B1}">
      <dgm:prSet phldrT="[Text]"/>
      <dgm:spPr/>
      <dgm:t>
        <a:bodyPr/>
        <a:lstStyle/>
        <a:p>
          <a:r>
            <a:rPr lang="fi-FI" dirty="0" smtClean="0"/>
            <a:t>Non-session</a:t>
          </a:r>
          <a:endParaRPr lang="fi-FI" dirty="0"/>
        </a:p>
      </dgm:t>
    </dgm:pt>
    <dgm:pt modelId="{4B052969-D602-4227-91F3-8E649ADB199F}" type="parTrans" cxnId="{09397284-5CDF-43F0-BB03-6CEE8160A115}">
      <dgm:prSet/>
      <dgm:spPr/>
      <dgm:t>
        <a:bodyPr/>
        <a:lstStyle/>
        <a:p>
          <a:endParaRPr lang="fi-FI"/>
        </a:p>
      </dgm:t>
    </dgm:pt>
    <dgm:pt modelId="{9ACE5EAA-62AD-4A22-9CE5-BB92BB07AF5F}" type="sibTrans" cxnId="{09397284-5CDF-43F0-BB03-6CEE8160A115}">
      <dgm:prSet/>
      <dgm:spPr/>
      <dgm:t>
        <a:bodyPr/>
        <a:lstStyle/>
        <a:p>
          <a:endParaRPr lang="fi-FI"/>
        </a:p>
      </dgm:t>
    </dgm:pt>
    <dgm:pt modelId="{E73EF49D-67A7-4DA9-84EE-FCB734D30047}">
      <dgm:prSet phldrT="[Text]"/>
      <dgm:spPr/>
      <dgm:t>
        <a:bodyPr/>
        <a:lstStyle/>
        <a:p>
          <a:r>
            <a:rPr lang="fi-FI" dirty="0" smtClean="0"/>
            <a:t>Session</a:t>
          </a:r>
          <a:endParaRPr lang="fi-FI" dirty="0"/>
        </a:p>
      </dgm:t>
    </dgm:pt>
    <dgm:pt modelId="{622FA09A-03D1-4CC2-B727-983667A6F17B}" type="parTrans" cxnId="{5F84920F-F5FD-4E4D-96B7-8729F75BAFF2}">
      <dgm:prSet/>
      <dgm:spPr/>
      <dgm:t>
        <a:bodyPr/>
        <a:lstStyle/>
        <a:p>
          <a:endParaRPr lang="fi-FI"/>
        </a:p>
      </dgm:t>
    </dgm:pt>
    <dgm:pt modelId="{BB807A3E-A275-4DCD-A022-BB732F9ECF40}" type="sibTrans" cxnId="{5F84920F-F5FD-4E4D-96B7-8729F75BAFF2}">
      <dgm:prSet/>
      <dgm:spPr/>
      <dgm:t>
        <a:bodyPr/>
        <a:lstStyle/>
        <a:p>
          <a:endParaRPr lang="fi-FI"/>
        </a:p>
      </dgm:t>
    </dgm:pt>
    <dgm:pt modelId="{F0A81098-4F3A-40DB-8153-08B12938B5E4}">
      <dgm:prSet phldrT="[Text]"/>
      <dgm:spPr/>
      <dgm:t>
        <a:bodyPr/>
        <a:lstStyle/>
        <a:p>
          <a:r>
            <a:rPr lang="fi-FI" dirty="0" smtClean="0"/>
            <a:t>Opportunity</a:t>
          </a:r>
          <a:endParaRPr lang="fi-FI" dirty="0"/>
        </a:p>
      </dgm:t>
    </dgm:pt>
    <dgm:pt modelId="{4C1EF469-945A-44BB-B7A1-FF658332AFB8}" type="parTrans" cxnId="{E368FB0E-3892-4FA5-9A38-4490AC8B30C5}">
      <dgm:prSet/>
      <dgm:spPr/>
      <dgm:t>
        <a:bodyPr/>
        <a:lstStyle/>
        <a:p>
          <a:endParaRPr lang="fi-FI"/>
        </a:p>
      </dgm:t>
    </dgm:pt>
    <dgm:pt modelId="{87BEDB6F-307B-4565-925D-AD760D18E0FD}" type="sibTrans" cxnId="{E368FB0E-3892-4FA5-9A38-4490AC8B30C5}">
      <dgm:prSet/>
      <dgm:spPr/>
      <dgm:t>
        <a:bodyPr/>
        <a:lstStyle/>
        <a:p>
          <a:endParaRPr lang="fi-FI"/>
        </a:p>
      </dgm:t>
    </dgm:pt>
    <dgm:pt modelId="{B59E2045-5B10-461F-A0D0-93823AEA5A82}">
      <dgm:prSet phldrT="[Text]"/>
      <dgm:spPr/>
      <dgm:t>
        <a:bodyPr/>
        <a:lstStyle/>
        <a:p>
          <a:r>
            <a:rPr lang="fi-FI" dirty="0" smtClean="0"/>
            <a:t>On Charter</a:t>
          </a:r>
          <a:endParaRPr lang="fi-FI" dirty="0"/>
        </a:p>
      </dgm:t>
    </dgm:pt>
    <dgm:pt modelId="{746E9E75-F899-4945-A8EB-5158403DA5D2}" type="parTrans" cxnId="{8291F6A0-0816-4127-A6BF-49FC1A3CF8EF}">
      <dgm:prSet/>
      <dgm:spPr/>
      <dgm:t>
        <a:bodyPr/>
        <a:lstStyle/>
        <a:p>
          <a:endParaRPr lang="fi-FI"/>
        </a:p>
      </dgm:t>
    </dgm:pt>
    <dgm:pt modelId="{D281A66A-2F56-4406-B87E-FD7BB2D1D76A}" type="sibTrans" cxnId="{8291F6A0-0816-4127-A6BF-49FC1A3CF8EF}">
      <dgm:prSet/>
      <dgm:spPr/>
      <dgm:t>
        <a:bodyPr/>
        <a:lstStyle/>
        <a:p>
          <a:endParaRPr lang="fi-FI"/>
        </a:p>
      </dgm:t>
    </dgm:pt>
    <dgm:pt modelId="{26D89541-DCA2-4AF7-861C-FA872D58749E}">
      <dgm:prSet phldrT="[Text]"/>
      <dgm:spPr/>
      <dgm:t>
        <a:bodyPr/>
        <a:lstStyle/>
        <a:p>
          <a:r>
            <a:rPr lang="fi-FI" dirty="0" smtClean="0"/>
            <a:t>Test</a:t>
          </a:r>
          <a:endParaRPr lang="fi-FI" dirty="0"/>
        </a:p>
      </dgm:t>
    </dgm:pt>
    <dgm:pt modelId="{D684BAEE-53FF-4566-B236-05DA4559433E}" type="parTrans" cxnId="{E5748D60-C6F1-4D01-932D-E5907A9D628F}">
      <dgm:prSet/>
      <dgm:spPr/>
      <dgm:t>
        <a:bodyPr/>
        <a:lstStyle/>
        <a:p>
          <a:endParaRPr lang="fi-FI"/>
        </a:p>
      </dgm:t>
    </dgm:pt>
    <dgm:pt modelId="{F48FABA6-6E12-44D9-AA4D-E30503DE26AE}" type="sibTrans" cxnId="{E5748D60-C6F1-4D01-932D-E5907A9D628F}">
      <dgm:prSet/>
      <dgm:spPr/>
      <dgm:t>
        <a:bodyPr/>
        <a:lstStyle/>
        <a:p>
          <a:endParaRPr lang="fi-FI"/>
        </a:p>
      </dgm:t>
    </dgm:pt>
    <dgm:pt modelId="{3DBCB692-3287-4DE3-BE51-F1636C687C6B}">
      <dgm:prSet phldrT="[Text]"/>
      <dgm:spPr/>
      <dgm:t>
        <a:bodyPr/>
        <a:lstStyle/>
        <a:p>
          <a:r>
            <a:rPr lang="fi-FI" dirty="0" smtClean="0"/>
            <a:t>Bug</a:t>
          </a:r>
          <a:endParaRPr lang="fi-FI" dirty="0"/>
        </a:p>
      </dgm:t>
    </dgm:pt>
    <dgm:pt modelId="{B229A4BE-931E-4B90-A220-5348F9C919F0}" type="parTrans" cxnId="{30D16BC2-4653-487D-B38D-5EA1863872A6}">
      <dgm:prSet/>
      <dgm:spPr/>
      <dgm:t>
        <a:bodyPr/>
        <a:lstStyle/>
        <a:p>
          <a:endParaRPr lang="fi-FI"/>
        </a:p>
      </dgm:t>
    </dgm:pt>
    <dgm:pt modelId="{61E7ABDE-3A4B-43DE-8E68-6112006F3146}" type="sibTrans" cxnId="{30D16BC2-4653-487D-B38D-5EA1863872A6}">
      <dgm:prSet/>
      <dgm:spPr/>
      <dgm:t>
        <a:bodyPr/>
        <a:lstStyle/>
        <a:p>
          <a:endParaRPr lang="fi-FI"/>
        </a:p>
      </dgm:t>
    </dgm:pt>
    <dgm:pt modelId="{F59E8EDA-6003-47D5-8159-BD86B3F01920}">
      <dgm:prSet phldrT="[Text]"/>
      <dgm:spPr/>
      <dgm:t>
        <a:bodyPr/>
        <a:lstStyle/>
        <a:p>
          <a:r>
            <a:rPr lang="fi-FI" dirty="0" smtClean="0"/>
            <a:t>Setup</a:t>
          </a:r>
          <a:endParaRPr lang="fi-FI" dirty="0"/>
        </a:p>
      </dgm:t>
    </dgm:pt>
    <dgm:pt modelId="{AEE5D77D-54EC-4315-B8C9-46E0D9B59D36}" type="parTrans" cxnId="{0EC27FB4-4084-4B36-B57B-388FC1DE3B1F}">
      <dgm:prSet/>
      <dgm:spPr/>
      <dgm:t>
        <a:bodyPr/>
        <a:lstStyle/>
        <a:p>
          <a:endParaRPr lang="fi-FI"/>
        </a:p>
      </dgm:t>
    </dgm:pt>
    <dgm:pt modelId="{1AC90F02-4119-4085-86EE-97F88A0A252B}" type="sibTrans" cxnId="{0EC27FB4-4084-4B36-B57B-388FC1DE3B1F}">
      <dgm:prSet/>
      <dgm:spPr/>
      <dgm:t>
        <a:bodyPr/>
        <a:lstStyle/>
        <a:p>
          <a:endParaRPr lang="fi-FI"/>
        </a:p>
      </dgm:t>
    </dgm:pt>
    <dgm:pt modelId="{30E471A8-F2C7-444A-99DC-1019C88B89E0}" type="pres">
      <dgm:prSet presAssocID="{17A8132E-2202-4B43-83F2-727875ECBFF3}" presName="hierChild1" presStyleCnt="0">
        <dgm:presLayoutVars>
          <dgm:chPref val="1"/>
          <dgm:dir/>
          <dgm:animOne val="branch"/>
          <dgm:animLvl val="lvl"/>
          <dgm:resizeHandles/>
        </dgm:presLayoutVars>
      </dgm:prSet>
      <dgm:spPr/>
      <dgm:t>
        <a:bodyPr/>
        <a:lstStyle/>
        <a:p>
          <a:endParaRPr lang="fi-FI"/>
        </a:p>
      </dgm:t>
    </dgm:pt>
    <dgm:pt modelId="{9BD38117-B55D-45F5-9AC2-2A0B331DDF85}" type="pres">
      <dgm:prSet presAssocID="{46525BBE-2421-4B87-8C53-12E225AD687E}" presName="hierRoot1" presStyleCnt="0"/>
      <dgm:spPr/>
    </dgm:pt>
    <dgm:pt modelId="{A784AC44-2EED-49E4-90E7-C70E52501DE3}" type="pres">
      <dgm:prSet presAssocID="{46525BBE-2421-4B87-8C53-12E225AD687E}" presName="composite" presStyleCnt="0"/>
      <dgm:spPr/>
    </dgm:pt>
    <dgm:pt modelId="{EB93DC8A-60FF-48F5-BB07-A49C7B20221D}" type="pres">
      <dgm:prSet presAssocID="{46525BBE-2421-4B87-8C53-12E225AD687E}" presName="background" presStyleLbl="node0" presStyleIdx="0" presStyleCnt="1"/>
      <dgm:spPr/>
    </dgm:pt>
    <dgm:pt modelId="{4984DF48-7C73-4EDD-A5C6-A9A65BAEA802}" type="pres">
      <dgm:prSet presAssocID="{46525BBE-2421-4B87-8C53-12E225AD687E}" presName="text" presStyleLbl="fgAcc0" presStyleIdx="0" presStyleCnt="1">
        <dgm:presLayoutVars>
          <dgm:chPref val="3"/>
        </dgm:presLayoutVars>
      </dgm:prSet>
      <dgm:spPr/>
      <dgm:t>
        <a:bodyPr/>
        <a:lstStyle/>
        <a:p>
          <a:endParaRPr lang="fi-FI"/>
        </a:p>
      </dgm:t>
    </dgm:pt>
    <dgm:pt modelId="{6D8F33C8-E8CE-4F8E-99D6-38E2A19AD41E}" type="pres">
      <dgm:prSet presAssocID="{46525BBE-2421-4B87-8C53-12E225AD687E}" presName="hierChild2" presStyleCnt="0"/>
      <dgm:spPr/>
    </dgm:pt>
    <dgm:pt modelId="{57087E67-C2F1-4B92-A28E-74D6C325334B}" type="pres">
      <dgm:prSet presAssocID="{4B052969-D602-4227-91F3-8E649ADB199F}" presName="Name10" presStyleLbl="parChTrans1D2" presStyleIdx="0" presStyleCnt="2"/>
      <dgm:spPr/>
      <dgm:t>
        <a:bodyPr/>
        <a:lstStyle/>
        <a:p>
          <a:endParaRPr lang="fi-FI"/>
        </a:p>
      </dgm:t>
    </dgm:pt>
    <dgm:pt modelId="{E3D424E4-CAE0-46D3-90E7-A3D69236B9EE}" type="pres">
      <dgm:prSet presAssocID="{F581A7D3-DD25-46DB-A0F3-8A93819E50B1}" presName="hierRoot2" presStyleCnt="0"/>
      <dgm:spPr/>
    </dgm:pt>
    <dgm:pt modelId="{C0D25248-336F-4DEF-928F-8F877064198C}" type="pres">
      <dgm:prSet presAssocID="{F581A7D3-DD25-46DB-A0F3-8A93819E50B1}" presName="composite2" presStyleCnt="0"/>
      <dgm:spPr/>
    </dgm:pt>
    <dgm:pt modelId="{FF740AB7-1EE2-4A7B-8A1E-2236D644EF4A}" type="pres">
      <dgm:prSet presAssocID="{F581A7D3-DD25-46DB-A0F3-8A93819E50B1}" presName="background2" presStyleLbl="node2" presStyleIdx="0" presStyleCnt="2"/>
      <dgm:spPr/>
    </dgm:pt>
    <dgm:pt modelId="{EE567158-AEB3-482E-8D2F-7B421A1DDB93}" type="pres">
      <dgm:prSet presAssocID="{F581A7D3-DD25-46DB-A0F3-8A93819E50B1}" presName="text2" presStyleLbl="fgAcc2" presStyleIdx="0" presStyleCnt="2">
        <dgm:presLayoutVars>
          <dgm:chPref val="3"/>
        </dgm:presLayoutVars>
      </dgm:prSet>
      <dgm:spPr/>
      <dgm:t>
        <a:bodyPr/>
        <a:lstStyle/>
        <a:p>
          <a:endParaRPr lang="fi-FI"/>
        </a:p>
      </dgm:t>
    </dgm:pt>
    <dgm:pt modelId="{BA7AE9FE-3127-495F-8BE1-B98F5823062D}" type="pres">
      <dgm:prSet presAssocID="{F581A7D3-DD25-46DB-A0F3-8A93819E50B1}" presName="hierChild3" presStyleCnt="0"/>
      <dgm:spPr/>
    </dgm:pt>
    <dgm:pt modelId="{38B6AA9D-A589-4186-9D58-1E8153DF43B1}" type="pres">
      <dgm:prSet presAssocID="{622FA09A-03D1-4CC2-B727-983667A6F17B}" presName="Name10" presStyleLbl="parChTrans1D2" presStyleIdx="1" presStyleCnt="2"/>
      <dgm:spPr/>
      <dgm:t>
        <a:bodyPr/>
        <a:lstStyle/>
        <a:p>
          <a:endParaRPr lang="fi-FI"/>
        </a:p>
      </dgm:t>
    </dgm:pt>
    <dgm:pt modelId="{E5D14D57-5E83-4AC2-8CC0-83FF2BC9ECB8}" type="pres">
      <dgm:prSet presAssocID="{E73EF49D-67A7-4DA9-84EE-FCB734D30047}" presName="hierRoot2" presStyleCnt="0"/>
      <dgm:spPr/>
    </dgm:pt>
    <dgm:pt modelId="{43F8DB41-A180-49A0-94C5-5F1BF53F010E}" type="pres">
      <dgm:prSet presAssocID="{E73EF49D-67A7-4DA9-84EE-FCB734D30047}" presName="composite2" presStyleCnt="0"/>
      <dgm:spPr/>
    </dgm:pt>
    <dgm:pt modelId="{125177D6-5FC5-40F9-9D7C-2508809D5A80}" type="pres">
      <dgm:prSet presAssocID="{E73EF49D-67A7-4DA9-84EE-FCB734D30047}" presName="background2" presStyleLbl="node2" presStyleIdx="1" presStyleCnt="2"/>
      <dgm:spPr/>
    </dgm:pt>
    <dgm:pt modelId="{05CE1821-A04E-456F-9FE8-EC4A6AA3315B}" type="pres">
      <dgm:prSet presAssocID="{E73EF49D-67A7-4DA9-84EE-FCB734D30047}" presName="text2" presStyleLbl="fgAcc2" presStyleIdx="1" presStyleCnt="2">
        <dgm:presLayoutVars>
          <dgm:chPref val="3"/>
        </dgm:presLayoutVars>
      </dgm:prSet>
      <dgm:spPr/>
      <dgm:t>
        <a:bodyPr/>
        <a:lstStyle/>
        <a:p>
          <a:endParaRPr lang="fi-FI"/>
        </a:p>
      </dgm:t>
    </dgm:pt>
    <dgm:pt modelId="{5C1E6681-6CB5-4E8E-ADBB-C8E334F05CAF}" type="pres">
      <dgm:prSet presAssocID="{E73EF49D-67A7-4DA9-84EE-FCB734D30047}" presName="hierChild3" presStyleCnt="0"/>
      <dgm:spPr/>
    </dgm:pt>
    <dgm:pt modelId="{00866B4E-9CAA-48D9-B2A5-2915EAAF8A42}" type="pres">
      <dgm:prSet presAssocID="{4C1EF469-945A-44BB-B7A1-FF658332AFB8}" presName="Name17" presStyleLbl="parChTrans1D3" presStyleIdx="0" presStyleCnt="2"/>
      <dgm:spPr/>
      <dgm:t>
        <a:bodyPr/>
        <a:lstStyle/>
        <a:p>
          <a:endParaRPr lang="fi-FI"/>
        </a:p>
      </dgm:t>
    </dgm:pt>
    <dgm:pt modelId="{FD9CBDC6-747B-4914-A9EF-AF1B5E86CF13}" type="pres">
      <dgm:prSet presAssocID="{F0A81098-4F3A-40DB-8153-08B12938B5E4}" presName="hierRoot3" presStyleCnt="0"/>
      <dgm:spPr/>
    </dgm:pt>
    <dgm:pt modelId="{201DFE89-5FBA-4FCC-BBA4-E0E3530B2011}" type="pres">
      <dgm:prSet presAssocID="{F0A81098-4F3A-40DB-8153-08B12938B5E4}" presName="composite3" presStyleCnt="0"/>
      <dgm:spPr/>
    </dgm:pt>
    <dgm:pt modelId="{43DD84E0-B057-40DE-B520-65E803EE798F}" type="pres">
      <dgm:prSet presAssocID="{F0A81098-4F3A-40DB-8153-08B12938B5E4}" presName="background3" presStyleLbl="node3" presStyleIdx="0" presStyleCnt="2"/>
      <dgm:spPr/>
    </dgm:pt>
    <dgm:pt modelId="{9992FC2C-F675-4B7D-B5E3-5B3D133E15F7}" type="pres">
      <dgm:prSet presAssocID="{F0A81098-4F3A-40DB-8153-08B12938B5E4}" presName="text3" presStyleLbl="fgAcc3" presStyleIdx="0" presStyleCnt="2">
        <dgm:presLayoutVars>
          <dgm:chPref val="3"/>
        </dgm:presLayoutVars>
      </dgm:prSet>
      <dgm:spPr/>
      <dgm:t>
        <a:bodyPr/>
        <a:lstStyle/>
        <a:p>
          <a:endParaRPr lang="fi-FI"/>
        </a:p>
      </dgm:t>
    </dgm:pt>
    <dgm:pt modelId="{898A32D0-B240-490A-A03D-79B0AFF21620}" type="pres">
      <dgm:prSet presAssocID="{F0A81098-4F3A-40DB-8153-08B12938B5E4}" presName="hierChild4" presStyleCnt="0"/>
      <dgm:spPr/>
    </dgm:pt>
    <dgm:pt modelId="{2AEDADA0-D87F-46A1-9B2C-60005314B98B}" type="pres">
      <dgm:prSet presAssocID="{746E9E75-F899-4945-A8EB-5158403DA5D2}" presName="Name17" presStyleLbl="parChTrans1D3" presStyleIdx="1" presStyleCnt="2"/>
      <dgm:spPr/>
      <dgm:t>
        <a:bodyPr/>
        <a:lstStyle/>
        <a:p>
          <a:endParaRPr lang="fi-FI"/>
        </a:p>
      </dgm:t>
    </dgm:pt>
    <dgm:pt modelId="{B40F16FA-6B62-4DB0-A767-3C8AF1A2CD77}" type="pres">
      <dgm:prSet presAssocID="{B59E2045-5B10-461F-A0D0-93823AEA5A82}" presName="hierRoot3" presStyleCnt="0"/>
      <dgm:spPr/>
    </dgm:pt>
    <dgm:pt modelId="{8C20DAFF-74C0-47A1-B4D5-95FDC963EB94}" type="pres">
      <dgm:prSet presAssocID="{B59E2045-5B10-461F-A0D0-93823AEA5A82}" presName="composite3" presStyleCnt="0"/>
      <dgm:spPr/>
    </dgm:pt>
    <dgm:pt modelId="{BE957B1C-D459-41AA-9DC2-2C9A627BEEB1}" type="pres">
      <dgm:prSet presAssocID="{B59E2045-5B10-461F-A0D0-93823AEA5A82}" presName="background3" presStyleLbl="node3" presStyleIdx="1" presStyleCnt="2"/>
      <dgm:spPr/>
    </dgm:pt>
    <dgm:pt modelId="{C3D24882-D1A7-4332-80DA-AD9D14732D7A}" type="pres">
      <dgm:prSet presAssocID="{B59E2045-5B10-461F-A0D0-93823AEA5A82}" presName="text3" presStyleLbl="fgAcc3" presStyleIdx="1" presStyleCnt="2">
        <dgm:presLayoutVars>
          <dgm:chPref val="3"/>
        </dgm:presLayoutVars>
      </dgm:prSet>
      <dgm:spPr/>
      <dgm:t>
        <a:bodyPr/>
        <a:lstStyle/>
        <a:p>
          <a:endParaRPr lang="fi-FI"/>
        </a:p>
      </dgm:t>
    </dgm:pt>
    <dgm:pt modelId="{C6422E62-077B-461C-9085-E2F50F088A37}" type="pres">
      <dgm:prSet presAssocID="{B59E2045-5B10-461F-A0D0-93823AEA5A82}" presName="hierChild4" presStyleCnt="0"/>
      <dgm:spPr/>
    </dgm:pt>
    <dgm:pt modelId="{CD50A198-9666-4800-85ED-26E4A82606FF}" type="pres">
      <dgm:prSet presAssocID="{D684BAEE-53FF-4566-B236-05DA4559433E}" presName="Name23" presStyleLbl="parChTrans1D4" presStyleIdx="0" presStyleCnt="3"/>
      <dgm:spPr/>
      <dgm:t>
        <a:bodyPr/>
        <a:lstStyle/>
        <a:p>
          <a:endParaRPr lang="fi-FI"/>
        </a:p>
      </dgm:t>
    </dgm:pt>
    <dgm:pt modelId="{3F837A6F-3E2D-472F-BDC4-69B0CF167DDE}" type="pres">
      <dgm:prSet presAssocID="{26D89541-DCA2-4AF7-861C-FA872D58749E}" presName="hierRoot4" presStyleCnt="0"/>
      <dgm:spPr/>
    </dgm:pt>
    <dgm:pt modelId="{3CC774FE-3372-4515-BBBF-5FA4578FB2A6}" type="pres">
      <dgm:prSet presAssocID="{26D89541-DCA2-4AF7-861C-FA872D58749E}" presName="composite4" presStyleCnt="0"/>
      <dgm:spPr/>
    </dgm:pt>
    <dgm:pt modelId="{1A120276-0121-453C-A479-36E47DD4EEA2}" type="pres">
      <dgm:prSet presAssocID="{26D89541-DCA2-4AF7-861C-FA872D58749E}" presName="background4" presStyleLbl="node4" presStyleIdx="0" presStyleCnt="3"/>
      <dgm:spPr/>
    </dgm:pt>
    <dgm:pt modelId="{3772B0DC-B522-46CC-B168-6F22D74216FE}" type="pres">
      <dgm:prSet presAssocID="{26D89541-DCA2-4AF7-861C-FA872D58749E}" presName="text4" presStyleLbl="fgAcc4" presStyleIdx="0" presStyleCnt="3">
        <dgm:presLayoutVars>
          <dgm:chPref val="3"/>
        </dgm:presLayoutVars>
      </dgm:prSet>
      <dgm:spPr/>
      <dgm:t>
        <a:bodyPr/>
        <a:lstStyle/>
        <a:p>
          <a:endParaRPr lang="fi-FI"/>
        </a:p>
      </dgm:t>
    </dgm:pt>
    <dgm:pt modelId="{678C9A56-BAA8-4F07-BB16-1BC48DD1E58E}" type="pres">
      <dgm:prSet presAssocID="{26D89541-DCA2-4AF7-861C-FA872D58749E}" presName="hierChild5" presStyleCnt="0"/>
      <dgm:spPr/>
    </dgm:pt>
    <dgm:pt modelId="{E14668E2-8B2A-4D40-91F3-A35B8DB82572}" type="pres">
      <dgm:prSet presAssocID="{B229A4BE-931E-4B90-A220-5348F9C919F0}" presName="Name23" presStyleLbl="parChTrans1D4" presStyleIdx="1" presStyleCnt="3"/>
      <dgm:spPr/>
      <dgm:t>
        <a:bodyPr/>
        <a:lstStyle/>
        <a:p>
          <a:endParaRPr lang="fi-FI"/>
        </a:p>
      </dgm:t>
    </dgm:pt>
    <dgm:pt modelId="{F6EEF369-9440-4C13-BFC7-DE2350450CCD}" type="pres">
      <dgm:prSet presAssocID="{3DBCB692-3287-4DE3-BE51-F1636C687C6B}" presName="hierRoot4" presStyleCnt="0"/>
      <dgm:spPr/>
    </dgm:pt>
    <dgm:pt modelId="{B48039ED-57A9-4CC1-9951-7C1569D8E3DC}" type="pres">
      <dgm:prSet presAssocID="{3DBCB692-3287-4DE3-BE51-F1636C687C6B}" presName="composite4" presStyleCnt="0"/>
      <dgm:spPr/>
    </dgm:pt>
    <dgm:pt modelId="{ABD6A268-D4D2-46C7-8A01-80854D1267E5}" type="pres">
      <dgm:prSet presAssocID="{3DBCB692-3287-4DE3-BE51-F1636C687C6B}" presName="background4" presStyleLbl="node4" presStyleIdx="1" presStyleCnt="3"/>
      <dgm:spPr/>
    </dgm:pt>
    <dgm:pt modelId="{8FBDC12D-2FC5-4943-AE78-D9AB2916352C}" type="pres">
      <dgm:prSet presAssocID="{3DBCB692-3287-4DE3-BE51-F1636C687C6B}" presName="text4" presStyleLbl="fgAcc4" presStyleIdx="1" presStyleCnt="3">
        <dgm:presLayoutVars>
          <dgm:chPref val="3"/>
        </dgm:presLayoutVars>
      </dgm:prSet>
      <dgm:spPr/>
      <dgm:t>
        <a:bodyPr/>
        <a:lstStyle/>
        <a:p>
          <a:endParaRPr lang="fi-FI"/>
        </a:p>
      </dgm:t>
    </dgm:pt>
    <dgm:pt modelId="{75785165-2689-43E4-9B52-B8BC032661DB}" type="pres">
      <dgm:prSet presAssocID="{3DBCB692-3287-4DE3-BE51-F1636C687C6B}" presName="hierChild5" presStyleCnt="0"/>
      <dgm:spPr/>
    </dgm:pt>
    <dgm:pt modelId="{4F6948F5-390C-4ECA-A4CD-A25C17796A5A}" type="pres">
      <dgm:prSet presAssocID="{AEE5D77D-54EC-4315-B8C9-46E0D9B59D36}" presName="Name23" presStyleLbl="parChTrans1D4" presStyleIdx="2" presStyleCnt="3"/>
      <dgm:spPr/>
      <dgm:t>
        <a:bodyPr/>
        <a:lstStyle/>
        <a:p>
          <a:endParaRPr lang="fi-FI"/>
        </a:p>
      </dgm:t>
    </dgm:pt>
    <dgm:pt modelId="{5C8FD73C-4237-423B-8B6D-FDEBCC77B68F}" type="pres">
      <dgm:prSet presAssocID="{F59E8EDA-6003-47D5-8159-BD86B3F01920}" presName="hierRoot4" presStyleCnt="0"/>
      <dgm:spPr/>
    </dgm:pt>
    <dgm:pt modelId="{90AC182C-8EC0-4AC4-A579-1CF19EC8E386}" type="pres">
      <dgm:prSet presAssocID="{F59E8EDA-6003-47D5-8159-BD86B3F01920}" presName="composite4" presStyleCnt="0"/>
      <dgm:spPr/>
    </dgm:pt>
    <dgm:pt modelId="{EEF14110-40B3-4F19-8C23-B08C6918B06B}" type="pres">
      <dgm:prSet presAssocID="{F59E8EDA-6003-47D5-8159-BD86B3F01920}" presName="background4" presStyleLbl="node4" presStyleIdx="2" presStyleCnt="3"/>
      <dgm:spPr/>
    </dgm:pt>
    <dgm:pt modelId="{5F3E1055-1A7B-4D71-B884-9D6E8B07E3DC}" type="pres">
      <dgm:prSet presAssocID="{F59E8EDA-6003-47D5-8159-BD86B3F01920}" presName="text4" presStyleLbl="fgAcc4" presStyleIdx="2" presStyleCnt="3">
        <dgm:presLayoutVars>
          <dgm:chPref val="3"/>
        </dgm:presLayoutVars>
      </dgm:prSet>
      <dgm:spPr/>
      <dgm:t>
        <a:bodyPr/>
        <a:lstStyle/>
        <a:p>
          <a:endParaRPr lang="fi-FI"/>
        </a:p>
      </dgm:t>
    </dgm:pt>
    <dgm:pt modelId="{EA353199-D676-4C8A-8AAB-EA056BC153D2}" type="pres">
      <dgm:prSet presAssocID="{F59E8EDA-6003-47D5-8159-BD86B3F01920}" presName="hierChild5" presStyleCnt="0"/>
      <dgm:spPr/>
    </dgm:pt>
  </dgm:ptLst>
  <dgm:cxnLst>
    <dgm:cxn modelId="{4E12261D-FA10-4AE4-A9F8-E23618B9E5B1}" type="presOf" srcId="{AEE5D77D-54EC-4315-B8C9-46E0D9B59D36}" destId="{4F6948F5-390C-4ECA-A4CD-A25C17796A5A}" srcOrd="0" destOrd="0" presId="urn:microsoft.com/office/officeart/2005/8/layout/hierarchy1"/>
    <dgm:cxn modelId="{1AD0C5CE-8BC2-470C-A33D-C31E0B36FD3F}" type="presOf" srcId="{746E9E75-F899-4945-A8EB-5158403DA5D2}" destId="{2AEDADA0-D87F-46A1-9B2C-60005314B98B}" srcOrd="0" destOrd="0" presId="urn:microsoft.com/office/officeart/2005/8/layout/hierarchy1"/>
    <dgm:cxn modelId="{E53DA539-7DF5-47EE-8B8C-91A447374E5C}" type="presOf" srcId="{4C1EF469-945A-44BB-B7A1-FF658332AFB8}" destId="{00866B4E-9CAA-48D9-B2A5-2915EAAF8A42}" srcOrd="0" destOrd="0" presId="urn:microsoft.com/office/officeart/2005/8/layout/hierarchy1"/>
    <dgm:cxn modelId="{30D16BC2-4653-487D-B38D-5EA1863872A6}" srcId="{B59E2045-5B10-461F-A0D0-93823AEA5A82}" destId="{3DBCB692-3287-4DE3-BE51-F1636C687C6B}" srcOrd="1" destOrd="0" parTransId="{B229A4BE-931E-4B90-A220-5348F9C919F0}" sibTransId="{61E7ABDE-3A4B-43DE-8E68-6112006F3146}"/>
    <dgm:cxn modelId="{43C32D18-0B85-4797-BFEB-2140620DFCB8}" type="presOf" srcId="{D684BAEE-53FF-4566-B236-05DA4559433E}" destId="{CD50A198-9666-4800-85ED-26E4A82606FF}" srcOrd="0" destOrd="0" presId="urn:microsoft.com/office/officeart/2005/8/layout/hierarchy1"/>
    <dgm:cxn modelId="{6B1430B9-22AC-466F-93B7-EB602A473E36}" type="presOf" srcId="{E73EF49D-67A7-4DA9-84EE-FCB734D30047}" destId="{05CE1821-A04E-456F-9FE8-EC4A6AA3315B}" srcOrd="0" destOrd="0" presId="urn:microsoft.com/office/officeart/2005/8/layout/hierarchy1"/>
    <dgm:cxn modelId="{0634F026-C157-4B6C-941B-EF645212D19F}" type="presOf" srcId="{4B052969-D602-4227-91F3-8E649ADB199F}" destId="{57087E67-C2F1-4B92-A28E-74D6C325334B}" srcOrd="0" destOrd="0" presId="urn:microsoft.com/office/officeart/2005/8/layout/hierarchy1"/>
    <dgm:cxn modelId="{53B75BA5-7060-4754-B6B7-3286D47E7D33}" type="presOf" srcId="{622FA09A-03D1-4CC2-B727-983667A6F17B}" destId="{38B6AA9D-A589-4186-9D58-1E8153DF43B1}" srcOrd="0" destOrd="0" presId="urn:microsoft.com/office/officeart/2005/8/layout/hierarchy1"/>
    <dgm:cxn modelId="{09397284-5CDF-43F0-BB03-6CEE8160A115}" srcId="{46525BBE-2421-4B87-8C53-12E225AD687E}" destId="{F581A7D3-DD25-46DB-A0F3-8A93819E50B1}" srcOrd="0" destOrd="0" parTransId="{4B052969-D602-4227-91F3-8E649ADB199F}" sibTransId="{9ACE5EAA-62AD-4A22-9CE5-BB92BB07AF5F}"/>
    <dgm:cxn modelId="{E210943F-27A6-457F-916F-B6C57558DE7B}" type="presOf" srcId="{B59E2045-5B10-461F-A0D0-93823AEA5A82}" destId="{C3D24882-D1A7-4332-80DA-AD9D14732D7A}" srcOrd="0" destOrd="0" presId="urn:microsoft.com/office/officeart/2005/8/layout/hierarchy1"/>
    <dgm:cxn modelId="{9194F760-F398-44D9-B860-7AC8D8404C36}" type="presOf" srcId="{17A8132E-2202-4B43-83F2-727875ECBFF3}" destId="{30E471A8-F2C7-444A-99DC-1019C88B89E0}" srcOrd="0" destOrd="0" presId="urn:microsoft.com/office/officeart/2005/8/layout/hierarchy1"/>
    <dgm:cxn modelId="{B98604B9-939C-4A42-BF10-4B8A15ADF517}" type="presOf" srcId="{46525BBE-2421-4B87-8C53-12E225AD687E}" destId="{4984DF48-7C73-4EDD-A5C6-A9A65BAEA802}" srcOrd="0" destOrd="0" presId="urn:microsoft.com/office/officeart/2005/8/layout/hierarchy1"/>
    <dgm:cxn modelId="{E368FB0E-3892-4FA5-9A38-4490AC8B30C5}" srcId="{E73EF49D-67A7-4DA9-84EE-FCB734D30047}" destId="{F0A81098-4F3A-40DB-8153-08B12938B5E4}" srcOrd="0" destOrd="0" parTransId="{4C1EF469-945A-44BB-B7A1-FF658332AFB8}" sibTransId="{87BEDB6F-307B-4565-925D-AD760D18E0FD}"/>
    <dgm:cxn modelId="{58C4D9CF-AE07-43E7-806D-C5F1B785852D}" type="presOf" srcId="{F0A81098-4F3A-40DB-8153-08B12938B5E4}" destId="{9992FC2C-F675-4B7D-B5E3-5B3D133E15F7}" srcOrd="0" destOrd="0" presId="urn:microsoft.com/office/officeart/2005/8/layout/hierarchy1"/>
    <dgm:cxn modelId="{0EC27FB4-4084-4B36-B57B-388FC1DE3B1F}" srcId="{B59E2045-5B10-461F-A0D0-93823AEA5A82}" destId="{F59E8EDA-6003-47D5-8159-BD86B3F01920}" srcOrd="2" destOrd="0" parTransId="{AEE5D77D-54EC-4315-B8C9-46E0D9B59D36}" sibTransId="{1AC90F02-4119-4085-86EE-97F88A0A252B}"/>
    <dgm:cxn modelId="{FDEEE3C0-7F7B-48DC-9125-5A9B8D9C122C}" type="presOf" srcId="{F581A7D3-DD25-46DB-A0F3-8A93819E50B1}" destId="{EE567158-AEB3-482E-8D2F-7B421A1DDB93}" srcOrd="0" destOrd="0" presId="urn:microsoft.com/office/officeart/2005/8/layout/hierarchy1"/>
    <dgm:cxn modelId="{5F84920F-F5FD-4E4D-96B7-8729F75BAFF2}" srcId="{46525BBE-2421-4B87-8C53-12E225AD687E}" destId="{E73EF49D-67A7-4DA9-84EE-FCB734D30047}" srcOrd="1" destOrd="0" parTransId="{622FA09A-03D1-4CC2-B727-983667A6F17B}" sibTransId="{BB807A3E-A275-4DCD-A022-BB732F9ECF40}"/>
    <dgm:cxn modelId="{C470BE0E-40BC-4691-9480-1F176D71F1D9}" srcId="{17A8132E-2202-4B43-83F2-727875ECBFF3}" destId="{46525BBE-2421-4B87-8C53-12E225AD687E}" srcOrd="0" destOrd="0" parTransId="{38FE0111-0465-489B-AD50-32AD39798A0A}" sibTransId="{3F572AA4-539F-4FB9-B121-B83BD2442CE2}"/>
    <dgm:cxn modelId="{E5748D60-C6F1-4D01-932D-E5907A9D628F}" srcId="{B59E2045-5B10-461F-A0D0-93823AEA5A82}" destId="{26D89541-DCA2-4AF7-861C-FA872D58749E}" srcOrd="0" destOrd="0" parTransId="{D684BAEE-53FF-4566-B236-05DA4559433E}" sibTransId="{F48FABA6-6E12-44D9-AA4D-E30503DE26AE}"/>
    <dgm:cxn modelId="{A6809D4B-C382-4446-8B6C-97B142F9683E}" type="presOf" srcId="{F59E8EDA-6003-47D5-8159-BD86B3F01920}" destId="{5F3E1055-1A7B-4D71-B884-9D6E8B07E3DC}" srcOrd="0" destOrd="0" presId="urn:microsoft.com/office/officeart/2005/8/layout/hierarchy1"/>
    <dgm:cxn modelId="{A919CACF-DD96-449F-BEC8-2FBE931FC96B}" type="presOf" srcId="{B229A4BE-931E-4B90-A220-5348F9C919F0}" destId="{E14668E2-8B2A-4D40-91F3-A35B8DB82572}" srcOrd="0" destOrd="0" presId="urn:microsoft.com/office/officeart/2005/8/layout/hierarchy1"/>
    <dgm:cxn modelId="{005666E1-01AA-480B-A5CF-813420B4D98E}" type="presOf" srcId="{26D89541-DCA2-4AF7-861C-FA872D58749E}" destId="{3772B0DC-B522-46CC-B168-6F22D74216FE}" srcOrd="0" destOrd="0" presId="urn:microsoft.com/office/officeart/2005/8/layout/hierarchy1"/>
    <dgm:cxn modelId="{91579469-B961-452F-8CFC-66453DE4A94F}" type="presOf" srcId="{3DBCB692-3287-4DE3-BE51-F1636C687C6B}" destId="{8FBDC12D-2FC5-4943-AE78-D9AB2916352C}" srcOrd="0" destOrd="0" presId="urn:microsoft.com/office/officeart/2005/8/layout/hierarchy1"/>
    <dgm:cxn modelId="{8291F6A0-0816-4127-A6BF-49FC1A3CF8EF}" srcId="{E73EF49D-67A7-4DA9-84EE-FCB734D30047}" destId="{B59E2045-5B10-461F-A0D0-93823AEA5A82}" srcOrd="1" destOrd="0" parTransId="{746E9E75-F899-4945-A8EB-5158403DA5D2}" sibTransId="{D281A66A-2F56-4406-B87E-FD7BB2D1D76A}"/>
    <dgm:cxn modelId="{CC801573-D13C-458E-8EA8-338B5CCD57D4}" type="presParOf" srcId="{30E471A8-F2C7-444A-99DC-1019C88B89E0}" destId="{9BD38117-B55D-45F5-9AC2-2A0B331DDF85}" srcOrd="0" destOrd="0" presId="urn:microsoft.com/office/officeart/2005/8/layout/hierarchy1"/>
    <dgm:cxn modelId="{AEBD9432-0782-46DB-ABF3-696AAAED431F}" type="presParOf" srcId="{9BD38117-B55D-45F5-9AC2-2A0B331DDF85}" destId="{A784AC44-2EED-49E4-90E7-C70E52501DE3}" srcOrd="0" destOrd="0" presId="urn:microsoft.com/office/officeart/2005/8/layout/hierarchy1"/>
    <dgm:cxn modelId="{C33C6A95-EE43-4E53-A3C4-7FD6240E29F0}" type="presParOf" srcId="{A784AC44-2EED-49E4-90E7-C70E52501DE3}" destId="{EB93DC8A-60FF-48F5-BB07-A49C7B20221D}" srcOrd="0" destOrd="0" presId="urn:microsoft.com/office/officeart/2005/8/layout/hierarchy1"/>
    <dgm:cxn modelId="{5DACAF9C-E66C-4868-BFB0-7C307438D422}" type="presParOf" srcId="{A784AC44-2EED-49E4-90E7-C70E52501DE3}" destId="{4984DF48-7C73-4EDD-A5C6-A9A65BAEA802}" srcOrd="1" destOrd="0" presId="urn:microsoft.com/office/officeart/2005/8/layout/hierarchy1"/>
    <dgm:cxn modelId="{89E618D0-77FF-4C29-BF0C-40ED20BEDC5F}" type="presParOf" srcId="{9BD38117-B55D-45F5-9AC2-2A0B331DDF85}" destId="{6D8F33C8-E8CE-4F8E-99D6-38E2A19AD41E}" srcOrd="1" destOrd="0" presId="urn:microsoft.com/office/officeart/2005/8/layout/hierarchy1"/>
    <dgm:cxn modelId="{CEF13C56-1CA9-4728-A83D-11BCC9BC4E5D}" type="presParOf" srcId="{6D8F33C8-E8CE-4F8E-99D6-38E2A19AD41E}" destId="{57087E67-C2F1-4B92-A28E-74D6C325334B}" srcOrd="0" destOrd="0" presId="urn:microsoft.com/office/officeart/2005/8/layout/hierarchy1"/>
    <dgm:cxn modelId="{F573FF0E-31CD-43CA-B353-5B244A3FAB3A}" type="presParOf" srcId="{6D8F33C8-E8CE-4F8E-99D6-38E2A19AD41E}" destId="{E3D424E4-CAE0-46D3-90E7-A3D69236B9EE}" srcOrd="1" destOrd="0" presId="urn:microsoft.com/office/officeart/2005/8/layout/hierarchy1"/>
    <dgm:cxn modelId="{5ECEA7CB-42D1-48F4-9549-DD4B47739733}" type="presParOf" srcId="{E3D424E4-CAE0-46D3-90E7-A3D69236B9EE}" destId="{C0D25248-336F-4DEF-928F-8F877064198C}" srcOrd="0" destOrd="0" presId="urn:microsoft.com/office/officeart/2005/8/layout/hierarchy1"/>
    <dgm:cxn modelId="{D4E4E392-54B2-45A1-BA38-94E76888C81A}" type="presParOf" srcId="{C0D25248-336F-4DEF-928F-8F877064198C}" destId="{FF740AB7-1EE2-4A7B-8A1E-2236D644EF4A}" srcOrd="0" destOrd="0" presId="urn:microsoft.com/office/officeart/2005/8/layout/hierarchy1"/>
    <dgm:cxn modelId="{94FA7FC6-3394-4D83-ABF8-370416FB8D64}" type="presParOf" srcId="{C0D25248-336F-4DEF-928F-8F877064198C}" destId="{EE567158-AEB3-482E-8D2F-7B421A1DDB93}" srcOrd="1" destOrd="0" presId="urn:microsoft.com/office/officeart/2005/8/layout/hierarchy1"/>
    <dgm:cxn modelId="{FB51F891-58AB-4800-811C-6E66BD1DB7CA}" type="presParOf" srcId="{E3D424E4-CAE0-46D3-90E7-A3D69236B9EE}" destId="{BA7AE9FE-3127-495F-8BE1-B98F5823062D}" srcOrd="1" destOrd="0" presId="urn:microsoft.com/office/officeart/2005/8/layout/hierarchy1"/>
    <dgm:cxn modelId="{E4A3CD95-C6F8-4D64-9AD9-9E071802F51F}" type="presParOf" srcId="{6D8F33C8-E8CE-4F8E-99D6-38E2A19AD41E}" destId="{38B6AA9D-A589-4186-9D58-1E8153DF43B1}" srcOrd="2" destOrd="0" presId="urn:microsoft.com/office/officeart/2005/8/layout/hierarchy1"/>
    <dgm:cxn modelId="{320FA252-2ABE-46EA-A159-24E04EF262A8}" type="presParOf" srcId="{6D8F33C8-E8CE-4F8E-99D6-38E2A19AD41E}" destId="{E5D14D57-5E83-4AC2-8CC0-83FF2BC9ECB8}" srcOrd="3" destOrd="0" presId="urn:microsoft.com/office/officeart/2005/8/layout/hierarchy1"/>
    <dgm:cxn modelId="{18C60876-4133-4238-8B3E-A9F7F7B536F9}" type="presParOf" srcId="{E5D14D57-5E83-4AC2-8CC0-83FF2BC9ECB8}" destId="{43F8DB41-A180-49A0-94C5-5F1BF53F010E}" srcOrd="0" destOrd="0" presId="urn:microsoft.com/office/officeart/2005/8/layout/hierarchy1"/>
    <dgm:cxn modelId="{FAC8D0D5-6902-4CAE-9FC5-D670E1371804}" type="presParOf" srcId="{43F8DB41-A180-49A0-94C5-5F1BF53F010E}" destId="{125177D6-5FC5-40F9-9D7C-2508809D5A80}" srcOrd="0" destOrd="0" presId="urn:microsoft.com/office/officeart/2005/8/layout/hierarchy1"/>
    <dgm:cxn modelId="{E98E175F-17A3-498C-B138-3BD15F00250E}" type="presParOf" srcId="{43F8DB41-A180-49A0-94C5-5F1BF53F010E}" destId="{05CE1821-A04E-456F-9FE8-EC4A6AA3315B}" srcOrd="1" destOrd="0" presId="urn:microsoft.com/office/officeart/2005/8/layout/hierarchy1"/>
    <dgm:cxn modelId="{04345A96-0078-4AFD-910E-5448AA1B33CB}" type="presParOf" srcId="{E5D14D57-5E83-4AC2-8CC0-83FF2BC9ECB8}" destId="{5C1E6681-6CB5-4E8E-ADBB-C8E334F05CAF}" srcOrd="1" destOrd="0" presId="urn:microsoft.com/office/officeart/2005/8/layout/hierarchy1"/>
    <dgm:cxn modelId="{2910B88D-1B7D-4E9C-A5A7-EA9661448758}" type="presParOf" srcId="{5C1E6681-6CB5-4E8E-ADBB-C8E334F05CAF}" destId="{00866B4E-9CAA-48D9-B2A5-2915EAAF8A42}" srcOrd="0" destOrd="0" presId="urn:microsoft.com/office/officeart/2005/8/layout/hierarchy1"/>
    <dgm:cxn modelId="{FC71FF44-76D5-430E-89CA-BA8461C8CA9F}" type="presParOf" srcId="{5C1E6681-6CB5-4E8E-ADBB-C8E334F05CAF}" destId="{FD9CBDC6-747B-4914-A9EF-AF1B5E86CF13}" srcOrd="1" destOrd="0" presId="urn:microsoft.com/office/officeart/2005/8/layout/hierarchy1"/>
    <dgm:cxn modelId="{8849EC22-DD8F-4822-8D23-38ED1F0224C5}" type="presParOf" srcId="{FD9CBDC6-747B-4914-A9EF-AF1B5E86CF13}" destId="{201DFE89-5FBA-4FCC-BBA4-E0E3530B2011}" srcOrd="0" destOrd="0" presId="urn:microsoft.com/office/officeart/2005/8/layout/hierarchy1"/>
    <dgm:cxn modelId="{DB27B4C4-6EFC-4655-BFFC-EFEE3E640AE4}" type="presParOf" srcId="{201DFE89-5FBA-4FCC-BBA4-E0E3530B2011}" destId="{43DD84E0-B057-40DE-B520-65E803EE798F}" srcOrd="0" destOrd="0" presId="urn:microsoft.com/office/officeart/2005/8/layout/hierarchy1"/>
    <dgm:cxn modelId="{E48E04DB-B01D-4128-8032-9E5C63947CB4}" type="presParOf" srcId="{201DFE89-5FBA-4FCC-BBA4-E0E3530B2011}" destId="{9992FC2C-F675-4B7D-B5E3-5B3D133E15F7}" srcOrd="1" destOrd="0" presId="urn:microsoft.com/office/officeart/2005/8/layout/hierarchy1"/>
    <dgm:cxn modelId="{D6085223-D907-401E-91C1-A69BE0884A97}" type="presParOf" srcId="{FD9CBDC6-747B-4914-A9EF-AF1B5E86CF13}" destId="{898A32D0-B240-490A-A03D-79B0AFF21620}" srcOrd="1" destOrd="0" presId="urn:microsoft.com/office/officeart/2005/8/layout/hierarchy1"/>
    <dgm:cxn modelId="{FDFD445F-BF46-44B7-A79B-DD63CBB4966C}" type="presParOf" srcId="{5C1E6681-6CB5-4E8E-ADBB-C8E334F05CAF}" destId="{2AEDADA0-D87F-46A1-9B2C-60005314B98B}" srcOrd="2" destOrd="0" presId="urn:microsoft.com/office/officeart/2005/8/layout/hierarchy1"/>
    <dgm:cxn modelId="{158AFD76-29B4-4A72-8F6F-A17285CE1FB8}" type="presParOf" srcId="{5C1E6681-6CB5-4E8E-ADBB-C8E334F05CAF}" destId="{B40F16FA-6B62-4DB0-A767-3C8AF1A2CD77}" srcOrd="3" destOrd="0" presId="urn:microsoft.com/office/officeart/2005/8/layout/hierarchy1"/>
    <dgm:cxn modelId="{69E48551-9628-4067-B89B-7E9A1141A547}" type="presParOf" srcId="{B40F16FA-6B62-4DB0-A767-3C8AF1A2CD77}" destId="{8C20DAFF-74C0-47A1-B4D5-95FDC963EB94}" srcOrd="0" destOrd="0" presId="urn:microsoft.com/office/officeart/2005/8/layout/hierarchy1"/>
    <dgm:cxn modelId="{1276588F-26D4-4265-A68D-9B538A570E75}" type="presParOf" srcId="{8C20DAFF-74C0-47A1-B4D5-95FDC963EB94}" destId="{BE957B1C-D459-41AA-9DC2-2C9A627BEEB1}" srcOrd="0" destOrd="0" presId="urn:microsoft.com/office/officeart/2005/8/layout/hierarchy1"/>
    <dgm:cxn modelId="{12D648BA-F62A-4BC1-9FB5-02882EF3C42C}" type="presParOf" srcId="{8C20DAFF-74C0-47A1-B4D5-95FDC963EB94}" destId="{C3D24882-D1A7-4332-80DA-AD9D14732D7A}" srcOrd="1" destOrd="0" presId="urn:microsoft.com/office/officeart/2005/8/layout/hierarchy1"/>
    <dgm:cxn modelId="{8E330776-DD75-4ABF-903C-BCFEB09BEF80}" type="presParOf" srcId="{B40F16FA-6B62-4DB0-A767-3C8AF1A2CD77}" destId="{C6422E62-077B-461C-9085-E2F50F088A37}" srcOrd="1" destOrd="0" presId="urn:microsoft.com/office/officeart/2005/8/layout/hierarchy1"/>
    <dgm:cxn modelId="{CB87A542-C3A7-4EF1-823F-53E219C0D748}" type="presParOf" srcId="{C6422E62-077B-461C-9085-E2F50F088A37}" destId="{CD50A198-9666-4800-85ED-26E4A82606FF}" srcOrd="0" destOrd="0" presId="urn:microsoft.com/office/officeart/2005/8/layout/hierarchy1"/>
    <dgm:cxn modelId="{3325813D-EE7B-4358-B0C2-EA8A74AA1B65}" type="presParOf" srcId="{C6422E62-077B-461C-9085-E2F50F088A37}" destId="{3F837A6F-3E2D-472F-BDC4-69B0CF167DDE}" srcOrd="1" destOrd="0" presId="urn:microsoft.com/office/officeart/2005/8/layout/hierarchy1"/>
    <dgm:cxn modelId="{C898F7DC-0A7C-4E7E-9163-3596E063D2FF}" type="presParOf" srcId="{3F837A6F-3E2D-472F-BDC4-69B0CF167DDE}" destId="{3CC774FE-3372-4515-BBBF-5FA4578FB2A6}" srcOrd="0" destOrd="0" presId="urn:microsoft.com/office/officeart/2005/8/layout/hierarchy1"/>
    <dgm:cxn modelId="{8EFFA44D-B464-4011-B938-7CBCF86D7FA2}" type="presParOf" srcId="{3CC774FE-3372-4515-BBBF-5FA4578FB2A6}" destId="{1A120276-0121-453C-A479-36E47DD4EEA2}" srcOrd="0" destOrd="0" presId="urn:microsoft.com/office/officeart/2005/8/layout/hierarchy1"/>
    <dgm:cxn modelId="{3485F8A3-9A7D-48F1-9DC6-69E8239E28D6}" type="presParOf" srcId="{3CC774FE-3372-4515-BBBF-5FA4578FB2A6}" destId="{3772B0DC-B522-46CC-B168-6F22D74216FE}" srcOrd="1" destOrd="0" presId="urn:microsoft.com/office/officeart/2005/8/layout/hierarchy1"/>
    <dgm:cxn modelId="{5F95FF2D-64AA-47CC-8602-DA3532D43D9A}" type="presParOf" srcId="{3F837A6F-3E2D-472F-BDC4-69B0CF167DDE}" destId="{678C9A56-BAA8-4F07-BB16-1BC48DD1E58E}" srcOrd="1" destOrd="0" presId="urn:microsoft.com/office/officeart/2005/8/layout/hierarchy1"/>
    <dgm:cxn modelId="{2955D34B-9DC7-48CA-B82C-9CD23BCD93E4}" type="presParOf" srcId="{C6422E62-077B-461C-9085-E2F50F088A37}" destId="{E14668E2-8B2A-4D40-91F3-A35B8DB82572}" srcOrd="2" destOrd="0" presId="urn:microsoft.com/office/officeart/2005/8/layout/hierarchy1"/>
    <dgm:cxn modelId="{9A7389BD-36E9-4851-BB1F-869140745402}" type="presParOf" srcId="{C6422E62-077B-461C-9085-E2F50F088A37}" destId="{F6EEF369-9440-4C13-BFC7-DE2350450CCD}" srcOrd="3" destOrd="0" presId="urn:microsoft.com/office/officeart/2005/8/layout/hierarchy1"/>
    <dgm:cxn modelId="{52C7AECB-8C8B-4E6A-B19D-57D954401927}" type="presParOf" srcId="{F6EEF369-9440-4C13-BFC7-DE2350450CCD}" destId="{B48039ED-57A9-4CC1-9951-7C1569D8E3DC}" srcOrd="0" destOrd="0" presId="urn:microsoft.com/office/officeart/2005/8/layout/hierarchy1"/>
    <dgm:cxn modelId="{49FAEE7F-41A7-4406-9951-4AB4DA5A068A}" type="presParOf" srcId="{B48039ED-57A9-4CC1-9951-7C1569D8E3DC}" destId="{ABD6A268-D4D2-46C7-8A01-80854D1267E5}" srcOrd="0" destOrd="0" presId="urn:microsoft.com/office/officeart/2005/8/layout/hierarchy1"/>
    <dgm:cxn modelId="{E3B744D6-EC7E-45DE-863E-4B53DFB07244}" type="presParOf" srcId="{B48039ED-57A9-4CC1-9951-7C1569D8E3DC}" destId="{8FBDC12D-2FC5-4943-AE78-D9AB2916352C}" srcOrd="1" destOrd="0" presId="urn:microsoft.com/office/officeart/2005/8/layout/hierarchy1"/>
    <dgm:cxn modelId="{30E7F1DA-5E1F-4E69-A635-46D8B78B4AD5}" type="presParOf" srcId="{F6EEF369-9440-4C13-BFC7-DE2350450CCD}" destId="{75785165-2689-43E4-9B52-B8BC032661DB}" srcOrd="1" destOrd="0" presId="urn:microsoft.com/office/officeart/2005/8/layout/hierarchy1"/>
    <dgm:cxn modelId="{9886706F-07B9-4508-A127-5A5828BB0300}" type="presParOf" srcId="{C6422E62-077B-461C-9085-E2F50F088A37}" destId="{4F6948F5-390C-4ECA-A4CD-A25C17796A5A}" srcOrd="4" destOrd="0" presId="urn:microsoft.com/office/officeart/2005/8/layout/hierarchy1"/>
    <dgm:cxn modelId="{B63DE452-7F5B-46AC-A7A5-8BD9DC169B8A}" type="presParOf" srcId="{C6422E62-077B-461C-9085-E2F50F088A37}" destId="{5C8FD73C-4237-423B-8B6D-FDEBCC77B68F}" srcOrd="5" destOrd="0" presId="urn:microsoft.com/office/officeart/2005/8/layout/hierarchy1"/>
    <dgm:cxn modelId="{6FEAC7D0-E7BF-484D-B6D5-3F15658A0103}" type="presParOf" srcId="{5C8FD73C-4237-423B-8B6D-FDEBCC77B68F}" destId="{90AC182C-8EC0-4AC4-A579-1CF19EC8E386}" srcOrd="0" destOrd="0" presId="urn:microsoft.com/office/officeart/2005/8/layout/hierarchy1"/>
    <dgm:cxn modelId="{3B49B9BB-EF6B-4E13-BEC1-81FADFAB800D}" type="presParOf" srcId="{90AC182C-8EC0-4AC4-A579-1CF19EC8E386}" destId="{EEF14110-40B3-4F19-8C23-B08C6918B06B}" srcOrd="0" destOrd="0" presId="urn:microsoft.com/office/officeart/2005/8/layout/hierarchy1"/>
    <dgm:cxn modelId="{54F11B98-CF48-472E-9588-21E88F41BD49}" type="presParOf" srcId="{90AC182C-8EC0-4AC4-A579-1CF19EC8E386}" destId="{5F3E1055-1A7B-4D71-B884-9D6E8B07E3DC}" srcOrd="1" destOrd="0" presId="urn:microsoft.com/office/officeart/2005/8/layout/hierarchy1"/>
    <dgm:cxn modelId="{6F2FF529-A923-4F3F-8B0C-56A0C7002440}" type="presParOf" srcId="{5C8FD73C-4237-423B-8B6D-FDEBCC77B68F}" destId="{EA353199-D676-4C8A-8AAB-EA056BC153D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948F5-390C-4ECA-A4CD-A25C17796A5A}">
      <dsp:nvSpPr>
        <dsp:cNvPr id="0" name=""/>
        <dsp:cNvSpPr/>
      </dsp:nvSpPr>
      <dsp:spPr>
        <a:xfrm>
          <a:off x="1999034" y="2120392"/>
          <a:ext cx="1041746" cy="247888"/>
        </a:xfrm>
        <a:custGeom>
          <a:avLst/>
          <a:gdLst/>
          <a:ahLst/>
          <a:cxnLst/>
          <a:rect l="0" t="0" r="0" b="0"/>
          <a:pathLst>
            <a:path>
              <a:moveTo>
                <a:pt x="0" y="0"/>
              </a:moveTo>
              <a:lnTo>
                <a:pt x="0" y="168928"/>
              </a:lnTo>
              <a:lnTo>
                <a:pt x="1041746" y="168928"/>
              </a:lnTo>
              <a:lnTo>
                <a:pt x="1041746" y="2478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4668E2-8B2A-4D40-91F3-A35B8DB82572}">
      <dsp:nvSpPr>
        <dsp:cNvPr id="0" name=""/>
        <dsp:cNvSpPr/>
      </dsp:nvSpPr>
      <dsp:spPr>
        <a:xfrm>
          <a:off x="1953314" y="2120392"/>
          <a:ext cx="91440" cy="247888"/>
        </a:xfrm>
        <a:custGeom>
          <a:avLst/>
          <a:gdLst/>
          <a:ahLst/>
          <a:cxnLst/>
          <a:rect l="0" t="0" r="0" b="0"/>
          <a:pathLst>
            <a:path>
              <a:moveTo>
                <a:pt x="45720" y="0"/>
              </a:moveTo>
              <a:lnTo>
                <a:pt x="45720" y="2478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50A198-9666-4800-85ED-26E4A82606FF}">
      <dsp:nvSpPr>
        <dsp:cNvPr id="0" name=""/>
        <dsp:cNvSpPr/>
      </dsp:nvSpPr>
      <dsp:spPr>
        <a:xfrm>
          <a:off x="957288" y="2120392"/>
          <a:ext cx="1041746" cy="247888"/>
        </a:xfrm>
        <a:custGeom>
          <a:avLst/>
          <a:gdLst/>
          <a:ahLst/>
          <a:cxnLst/>
          <a:rect l="0" t="0" r="0" b="0"/>
          <a:pathLst>
            <a:path>
              <a:moveTo>
                <a:pt x="1041746" y="0"/>
              </a:moveTo>
              <a:lnTo>
                <a:pt x="1041746" y="168928"/>
              </a:lnTo>
              <a:lnTo>
                <a:pt x="0" y="168928"/>
              </a:lnTo>
              <a:lnTo>
                <a:pt x="0" y="2478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EDADA0-D87F-46A1-9B2C-60005314B98B}">
      <dsp:nvSpPr>
        <dsp:cNvPr id="0" name=""/>
        <dsp:cNvSpPr/>
      </dsp:nvSpPr>
      <dsp:spPr>
        <a:xfrm>
          <a:off x="1478161" y="1331269"/>
          <a:ext cx="520873" cy="247888"/>
        </a:xfrm>
        <a:custGeom>
          <a:avLst/>
          <a:gdLst/>
          <a:ahLst/>
          <a:cxnLst/>
          <a:rect l="0" t="0" r="0" b="0"/>
          <a:pathLst>
            <a:path>
              <a:moveTo>
                <a:pt x="0" y="0"/>
              </a:moveTo>
              <a:lnTo>
                <a:pt x="0" y="168928"/>
              </a:lnTo>
              <a:lnTo>
                <a:pt x="520873" y="168928"/>
              </a:lnTo>
              <a:lnTo>
                <a:pt x="520873" y="2478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866B4E-9CAA-48D9-B2A5-2915EAAF8A42}">
      <dsp:nvSpPr>
        <dsp:cNvPr id="0" name=""/>
        <dsp:cNvSpPr/>
      </dsp:nvSpPr>
      <dsp:spPr>
        <a:xfrm>
          <a:off x="957288" y="1331269"/>
          <a:ext cx="520873" cy="247888"/>
        </a:xfrm>
        <a:custGeom>
          <a:avLst/>
          <a:gdLst/>
          <a:ahLst/>
          <a:cxnLst/>
          <a:rect l="0" t="0" r="0" b="0"/>
          <a:pathLst>
            <a:path>
              <a:moveTo>
                <a:pt x="520873" y="0"/>
              </a:moveTo>
              <a:lnTo>
                <a:pt x="520873" y="168928"/>
              </a:lnTo>
              <a:lnTo>
                <a:pt x="0" y="168928"/>
              </a:lnTo>
              <a:lnTo>
                <a:pt x="0" y="2478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B6AA9D-A589-4186-9D58-1E8153DF43B1}">
      <dsp:nvSpPr>
        <dsp:cNvPr id="0" name=""/>
        <dsp:cNvSpPr/>
      </dsp:nvSpPr>
      <dsp:spPr>
        <a:xfrm>
          <a:off x="957288" y="542146"/>
          <a:ext cx="520873" cy="247888"/>
        </a:xfrm>
        <a:custGeom>
          <a:avLst/>
          <a:gdLst/>
          <a:ahLst/>
          <a:cxnLst/>
          <a:rect l="0" t="0" r="0" b="0"/>
          <a:pathLst>
            <a:path>
              <a:moveTo>
                <a:pt x="0" y="0"/>
              </a:moveTo>
              <a:lnTo>
                <a:pt x="0" y="168928"/>
              </a:lnTo>
              <a:lnTo>
                <a:pt x="520873" y="168928"/>
              </a:lnTo>
              <a:lnTo>
                <a:pt x="520873" y="24788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087E67-C2F1-4B92-A28E-74D6C325334B}">
      <dsp:nvSpPr>
        <dsp:cNvPr id="0" name=""/>
        <dsp:cNvSpPr/>
      </dsp:nvSpPr>
      <dsp:spPr>
        <a:xfrm>
          <a:off x="436415" y="542146"/>
          <a:ext cx="520873" cy="247888"/>
        </a:xfrm>
        <a:custGeom>
          <a:avLst/>
          <a:gdLst/>
          <a:ahLst/>
          <a:cxnLst/>
          <a:rect l="0" t="0" r="0" b="0"/>
          <a:pathLst>
            <a:path>
              <a:moveTo>
                <a:pt x="520873" y="0"/>
              </a:moveTo>
              <a:lnTo>
                <a:pt x="520873" y="168928"/>
              </a:lnTo>
              <a:lnTo>
                <a:pt x="0" y="168928"/>
              </a:lnTo>
              <a:lnTo>
                <a:pt x="0" y="24788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93DC8A-60FF-48F5-BB07-A49C7B20221D}">
      <dsp:nvSpPr>
        <dsp:cNvPr id="0" name=""/>
        <dsp:cNvSpPr/>
      </dsp:nvSpPr>
      <dsp:spPr>
        <a:xfrm>
          <a:off x="531119" y="912"/>
          <a:ext cx="852337" cy="5412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84DF48-7C73-4EDD-A5C6-A9A65BAEA802}">
      <dsp:nvSpPr>
        <dsp:cNvPr id="0" name=""/>
        <dsp:cNvSpPr/>
      </dsp:nvSpPr>
      <dsp:spPr>
        <a:xfrm>
          <a:off x="625823" y="90881"/>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All work</a:t>
          </a:r>
          <a:endParaRPr lang="fi-FI" sz="1100" kern="1200" dirty="0"/>
        </a:p>
      </dsp:txBody>
      <dsp:txXfrm>
        <a:off x="641675" y="106733"/>
        <a:ext cx="820633" cy="509530"/>
      </dsp:txXfrm>
    </dsp:sp>
    <dsp:sp modelId="{FF740AB7-1EE2-4A7B-8A1E-2236D644EF4A}">
      <dsp:nvSpPr>
        <dsp:cNvPr id="0" name=""/>
        <dsp:cNvSpPr/>
      </dsp:nvSpPr>
      <dsp:spPr>
        <a:xfrm>
          <a:off x="10246" y="790034"/>
          <a:ext cx="852337" cy="54123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67158-AEB3-482E-8D2F-7B421A1DDB93}">
      <dsp:nvSpPr>
        <dsp:cNvPr id="0" name=""/>
        <dsp:cNvSpPr/>
      </dsp:nvSpPr>
      <dsp:spPr>
        <a:xfrm>
          <a:off x="104950" y="880003"/>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Non-session</a:t>
          </a:r>
          <a:endParaRPr lang="fi-FI" sz="1100" kern="1200" dirty="0"/>
        </a:p>
      </dsp:txBody>
      <dsp:txXfrm>
        <a:off x="120802" y="895855"/>
        <a:ext cx="820633" cy="509530"/>
      </dsp:txXfrm>
    </dsp:sp>
    <dsp:sp modelId="{125177D6-5FC5-40F9-9D7C-2508809D5A80}">
      <dsp:nvSpPr>
        <dsp:cNvPr id="0" name=""/>
        <dsp:cNvSpPr/>
      </dsp:nvSpPr>
      <dsp:spPr>
        <a:xfrm>
          <a:off x="1051992" y="790034"/>
          <a:ext cx="852337" cy="54123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CE1821-A04E-456F-9FE8-EC4A6AA3315B}">
      <dsp:nvSpPr>
        <dsp:cNvPr id="0" name=""/>
        <dsp:cNvSpPr/>
      </dsp:nvSpPr>
      <dsp:spPr>
        <a:xfrm>
          <a:off x="1146696" y="880003"/>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Session</a:t>
          </a:r>
          <a:endParaRPr lang="fi-FI" sz="1100" kern="1200" dirty="0"/>
        </a:p>
      </dsp:txBody>
      <dsp:txXfrm>
        <a:off x="1162548" y="895855"/>
        <a:ext cx="820633" cy="509530"/>
      </dsp:txXfrm>
    </dsp:sp>
    <dsp:sp modelId="{43DD84E0-B057-40DE-B520-65E803EE798F}">
      <dsp:nvSpPr>
        <dsp:cNvPr id="0" name=""/>
        <dsp:cNvSpPr/>
      </dsp:nvSpPr>
      <dsp:spPr>
        <a:xfrm>
          <a:off x="531119" y="1579157"/>
          <a:ext cx="852337" cy="54123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92FC2C-F675-4B7D-B5E3-5B3D133E15F7}">
      <dsp:nvSpPr>
        <dsp:cNvPr id="0" name=""/>
        <dsp:cNvSpPr/>
      </dsp:nvSpPr>
      <dsp:spPr>
        <a:xfrm>
          <a:off x="625823" y="1669126"/>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Opportunity</a:t>
          </a:r>
          <a:endParaRPr lang="fi-FI" sz="1100" kern="1200" dirty="0"/>
        </a:p>
      </dsp:txBody>
      <dsp:txXfrm>
        <a:off x="641675" y="1684978"/>
        <a:ext cx="820633" cy="509530"/>
      </dsp:txXfrm>
    </dsp:sp>
    <dsp:sp modelId="{BE957B1C-D459-41AA-9DC2-2C9A627BEEB1}">
      <dsp:nvSpPr>
        <dsp:cNvPr id="0" name=""/>
        <dsp:cNvSpPr/>
      </dsp:nvSpPr>
      <dsp:spPr>
        <a:xfrm>
          <a:off x="1572865" y="1579157"/>
          <a:ext cx="852337" cy="54123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D24882-D1A7-4332-80DA-AD9D14732D7A}">
      <dsp:nvSpPr>
        <dsp:cNvPr id="0" name=""/>
        <dsp:cNvSpPr/>
      </dsp:nvSpPr>
      <dsp:spPr>
        <a:xfrm>
          <a:off x="1667569" y="1669126"/>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On Charter</a:t>
          </a:r>
          <a:endParaRPr lang="fi-FI" sz="1100" kern="1200" dirty="0"/>
        </a:p>
      </dsp:txBody>
      <dsp:txXfrm>
        <a:off x="1683421" y="1684978"/>
        <a:ext cx="820633" cy="509530"/>
      </dsp:txXfrm>
    </dsp:sp>
    <dsp:sp modelId="{1A120276-0121-453C-A479-36E47DD4EEA2}">
      <dsp:nvSpPr>
        <dsp:cNvPr id="0" name=""/>
        <dsp:cNvSpPr/>
      </dsp:nvSpPr>
      <dsp:spPr>
        <a:xfrm>
          <a:off x="531119" y="2368280"/>
          <a:ext cx="852337" cy="54123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72B0DC-B522-46CC-B168-6F22D74216FE}">
      <dsp:nvSpPr>
        <dsp:cNvPr id="0" name=""/>
        <dsp:cNvSpPr/>
      </dsp:nvSpPr>
      <dsp:spPr>
        <a:xfrm>
          <a:off x="625823" y="2458249"/>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Test</a:t>
          </a:r>
          <a:endParaRPr lang="fi-FI" sz="1100" kern="1200" dirty="0"/>
        </a:p>
      </dsp:txBody>
      <dsp:txXfrm>
        <a:off x="641675" y="2474101"/>
        <a:ext cx="820633" cy="509530"/>
      </dsp:txXfrm>
    </dsp:sp>
    <dsp:sp modelId="{ABD6A268-D4D2-46C7-8A01-80854D1267E5}">
      <dsp:nvSpPr>
        <dsp:cNvPr id="0" name=""/>
        <dsp:cNvSpPr/>
      </dsp:nvSpPr>
      <dsp:spPr>
        <a:xfrm>
          <a:off x="1572865" y="2368280"/>
          <a:ext cx="852337" cy="54123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BDC12D-2FC5-4943-AE78-D9AB2916352C}">
      <dsp:nvSpPr>
        <dsp:cNvPr id="0" name=""/>
        <dsp:cNvSpPr/>
      </dsp:nvSpPr>
      <dsp:spPr>
        <a:xfrm>
          <a:off x="1667569" y="2458249"/>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Bug</a:t>
          </a:r>
          <a:endParaRPr lang="fi-FI" sz="1100" kern="1200" dirty="0"/>
        </a:p>
      </dsp:txBody>
      <dsp:txXfrm>
        <a:off x="1683421" y="2474101"/>
        <a:ext cx="820633" cy="509530"/>
      </dsp:txXfrm>
    </dsp:sp>
    <dsp:sp modelId="{EEF14110-40B3-4F19-8C23-B08C6918B06B}">
      <dsp:nvSpPr>
        <dsp:cNvPr id="0" name=""/>
        <dsp:cNvSpPr/>
      </dsp:nvSpPr>
      <dsp:spPr>
        <a:xfrm>
          <a:off x="2614611" y="2368280"/>
          <a:ext cx="852337" cy="54123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3E1055-1A7B-4D71-B884-9D6E8B07E3DC}">
      <dsp:nvSpPr>
        <dsp:cNvPr id="0" name=""/>
        <dsp:cNvSpPr/>
      </dsp:nvSpPr>
      <dsp:spPr>
        <a:xfrm>
          <a:off x="2709315" y="2458249"/>
          <a:ext cx="852337" cy="541234"/>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fi-FI" sz="1100" kern="1200" dirty="0" smtClean="0"/>
            <a:t>Setup</a:t>
          </a:r>
          <a:endParaRPr lang="fi-FI" sz="1100" kern="1200" dirty="0"/>
        </a:p>
      </dsp:txBody>
      <dsp:txXfrm>
        <a:off x="2725167" y="2474101"/>
        <a:ext cx="820633" cy="50953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29/05/17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3096927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B710D5-4114-4C5A-A568-A74D224EC659}"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9A6E2FC-B52B-4BD8-AAD9-A6179BB76FE7}"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99EEA7F-D113-42FA-B0B0-F9C651E32B1A}"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5F261890-2ADD-46C0-A5AB-20A2D5524B82}" type="slidenum">
              <a:rPr lang="en-US"/>
              <a:pPr/>
              <a:t>6</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6D6604C-1AE9-4524-AB80-496809B397CB}"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C3DE90-24A1-466A-9ED4-9D7107B90917}" type="slidenum">
              <a:rPr lang="en-GB"/>
              <a:pPr/>
              <a:t>10</a:t>
            </a:fld>
            <a:endParaRPr lang="en-GB" dirty="0"/>
          </a:p>
        </p:txBody>
      </p:sp>
      <p:sp>
        <p:nvSpPr>
          <p:cNvPr id="1343490" name="Rectangle 2"/>
          <p:cNvSpPr>
            <a:spLocks noGrp="1" noRot="1" noChangeAspect="1" noChangeArrowheads="1" noTextEdit="1"/>
          </p:cNvSpPr>
          <p:nvPr>
            <p:ph type="sldImg"/>
          </p:nvPr>
        </p:nvSpPr>
        <p:spPr>
          <a:ln/>
        </p:spPr>
      </p:sp>
      <p:sp>
        <p:nvSpPr>
          <p:cNvPr id="1343491" name="Rectangle 3"/>
          <p:cNvSpPr>
            <a:spLocks noGrp="1" noChangeArrowheads="1"/>
          </p:cNvSpPr>
          <p:nvPr>
            <p:ph type="body" idx="1"/>
          </p:nvPr>
        </p:nvSpPr>
        <p:spPr/>
        <p:txBody>
          <a:bodyPr/>
          <a:lstStyle/>
          <a:p>
            <a:endParaRPr lang="en-US" dirty="0">
              <a:latin typeface="Courier New" pitchFamily="4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11</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BCED24-401A-4F04-8EB3-29F977D74367}" type="slidenum">
              <a:rPr lang="en-GB"/>
              <a:pPr/>
              <a:t>12</a:t>
            </a:fld>
            <a:endParaRPr lang="en-GB" dirty="0"/>
          </a:p>
        </p:txBody>
      </p:sp>
      <p:sp>
        <p:nvSpPr>
          <p:cNvPr id="1346562" name="Rectangle 2"/>
          <p:cNvSpPr>
            <a:spLocks noGrp="1" noRot="1" noChangeAspect="1" noChangeArrowheads="1" noTextEdit="1"/>
          </p:cNvSpPr>
          <p:nvPr>
            <p:ph type="sldImg"/>
          </p:nvPr>
        </p:nvSpPr>
        <p:spPr>
          <a:ln/>
        </p:spPr>
      </p:sp>
      <p:sp>
        <p:nvSpPr>
          <p:cNvPr id="1346563" name="Rectangle 3"/>
          <p:cNvSpPr>
            <a:spLocks noGrp="1" noChangeArrowheads="1"/>
          </p:cNvSpPr>
          <p:nvPr>
            <p:ph type="body" idx="1"/>
          </p:nvPr>
        </p:nvSpPr>
        <p:spPr/>
        <p:txBody>
          <a:bodyPr/>
          <a:lstStyle/>
          <a:p>
            <a:endParaRPr lang="en-US" dirty="0">
              <a:latin typeface="Courier New" pitchFamily="49"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6D6604C-1AE9-4524-AB80-496809B397CB}"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6D6604C-1AE9-4524-AB80-496809B397CB}"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19</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056AE20-5506-42B7-B365-53A8CA172CB6}" type="datetime1">
              <a:rPr lang="en-US" smtClean="0"/>
              <a:pPr/>
              <a:t>29/05/17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D9EB51-9369-4BF8-8326-0E7291A096B9}" type="datetime1">
              <a:rPr lang="en-US" smtClean="0"/>
              <a:pPr/>
              <a:t>29/05/17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60DFCD-81B5-4C55-A0AE-444A167D9B23}" type="datetime1">
              <a:rPr lang="en-US" smtClean="0"/>
              <a:pPr/>
              <a:t>29/05/17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CBBC3B8-292E-4E3C-9DA1-B2C69D876E1A}" type="datetime1">
              <a:rPr lang="en-US" smtClean="0"/>
              <a:pPr/>
              <a:t>29/05/17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169757-B9D5-4E72-81A9-0F0351AABDD5}" type="datetime1">
              <a:rPr lang="en-US" smtClean="0"/>
              <a:pPr/>
              <a:t>29/05/17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E1D7989-91FF-4EBF-8F4F-E836599946F0}" type="datetime1">
              <a:rPr lang="en-US" smtClean="0"/>
              <a:pPr/>
              <a:t>29/05/17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DE7B3B-34E3-4589-AB25-694A9B025725}" type="datetime1">
              <a:rPr lang="en-US" smtClean="0"/>
              <a:pPr/>
              <a:t>29/05/17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159E16-470E-4EB9-BEF2-90E67F91918E}" type="datetime1">
              <a:rPr lang="en-US" smtClean="0"/>
              <a:pPr/>
              <a:t>29/05/17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9B4AB2-543D-4918-9802-1DAB44DD1F0B}" type="datetime1">
              <a:rPr lang="en-US" smtClean="0"/>
              <a:pPr/>
              <a:t>29/05/17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5509E5-2104-4B85-8D26-8BE5204E7FB2}" type="datetime1">
              <a:rPr lang="en-US" smtClean="0"/>
              <a:pPr/>
              <a:t>29/05/17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2003C1-1AEE-4856-99AC-AB1D713F1263}" type="datetime1">
              <a:rPr lang="en-US" smtClean="0"/>
              <a:pPr/>
              <a:t>29/05/17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52926-FFA2-4151-B5B6-BD94830B037F}" type="datetime1">
              <a:rPr lang="en-US" smtClean="0"/>
              <a:pPr/>
              <a:t>29/05/17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Näkyvyyden tuottamisen käytännöt</a:t>
            </a:r>
            <a:endParaRPr lang="fi-FI" dirty="0"/>
          </a:p>
        </p:txBody>
      </p:sp>
      <p:sp>
        <p:nvSpPr>
          <p:cNvPr id="3" name="Text Placeholder 2"/>
          <p:cNvSpPr>
            <a:spLocks noGrp="1"/>
          </p:cNvSpPr>
          <p:nvPr>
            <p:ph type="body" idx="1"/>
          </p:nvPr>
        </p:nvSpPr>
        <p:spPr/>
        <p:txBody>
          <a:bodyPr/>
          <a:lstStyle/>
          <a:p>
            <a:r>
              <a:rPr lang="fi-FI" dirty="0" smtClean="0"/>
              <a:t>Näkyvyys tekemisiin ja testaamisiin</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1" name="Picture 2" descr="C:\Documents and Settings\Maaret\My Documents\My Pictures\Microsoft Clip Organizer\j0288998.wmf"/>
          <p:cNvPicPr>
            <a:picLocks noChangeAspect="1" noChangeArrowheads="1"/>
          </p:cNvPicPr>
          <p:nvPr/>
        </p:nvPicPr>
        <p:blipFill>
          <a:blip r:embed="rId6" cstate="print"/>
          <a:srcRect/>
          <a:stretch>
            <a:fillRect/>
          </a:stretch>
        </p:blipFill>
        <p:spPr bwMode="auto">
          <a:xfrm>
            <a:off x="7086600" y="228600"/>
            <a:ext cx="1447800" cy="4422828"/>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Agile Planning is Different</a:t>
            </a:r>
            <a:endParaRPr lang="fi-FI" dirty="0"/>
          </a:p>
        </p:txBody>
      </p:sp>
      <p:sp>
        <p:nvSpPr>
          <p:cNvPr id="5" name="Content Placeholder 4"/>
          <p:cNvSpPr>
            <a:spLocks noGrp="1"/>
          </p:cNvSpPr>
          <p:nvPr>
            <p:ph idx="1"/>
          </p:nvPr>
        </p:nvSpPr>
        <p:spPr/>
        <p:txBody>
          <a:bodyPr>
            <a:normAutofit fontScale="92500" lnSpcReduction="20000"/>
          </a:bodyPr>
          <a:lstStyle/>
          <a:p>
            <a:r>
              <a:rPr lang="fi-FI" dirty="0" smtClean="0"/>
              <a:t>Maximize end to end value flow</a:t>
            </a:r>
          </a:p>
          <a:p>
            <a:r>
              <a:rPr lang="en-US" dirty="0" smtClean="0"/>
              <a:t>A </a:t>
            </a:r>
            <a:r>
              <a:rPr lang="en-US" dirty="0"/>
              <a:t>single task board that lets everyone see the actual value </a:t>
            </a:r>
            <a:r>
              <a:rPr lang="en-US" dirty="0" smtClean="0"/>
              <a:t>flow.</a:t>
            </a:r>
          </a:p>
          <a:p>
            <a:pPr lvl="1"/>
            <a:r>
              <a:rPr lang="en-US" dirty="0" smtClean="0"/>
              <a:t>Testing </a:t>
            </a:r>
            <a:r>
              <a:rPr lang="en-US" dirty="0"/>
              <a:t>tasks for a given day, for example, should not be </a:t>
            </a:r>
            <a:r>
              <a:rPr lang="en-US" dirty="0" smtClean="0"/>
              <a:t>scheduled without </a:t>
            </a:r>
            <a:r>
              <a:rPr lang="en-US" dirty="0"/>
              <a:t>looking at today's task board</a:t>
            </a:r>
            <a:endParaRPr lang="fi-FI" dirty="0" smtClean="0"/>
          </a:p>
          <a:p>
            <a:pPr lvl="1"/>
            <a:r>
              <a:rPr lang="fi-FI" dirty="0" smtClean="0"/>
              <a:t>Scheduling e.g. Testing tasks for tomorrow should not be finalized until tomorrow – reacting to the new state of the project</a:t>
            </a:r>
          </a:p>
          <a:p>
            <a:r>
              <a:rPr lang="en-US" dirty="0"/>
              <a:t>The team doing the work collaboratively</a:t>
            </a:r>
            <a:br>
              <a:rPr lang="en-US" dirty="0"/>
            </a:br>
            <a:r>
              <a:rPr lang="en-US" dirty="0"/>
              <a:t>decides what could add most value </a:t>
            </a:r>
            <a:r>
              <a:rPr lang="en-US" dirty="0" smtClean="0"/>
              <a:t>today </a:t>
            </a:r>
          </a:p>
          <a:p>
            <a:pPr lvl="1"/>
            <a:r>
              <a:rPr lang="en-US" dirty="0" smtClean="0"/>
              <a:t>not </a:t>
            </a:r>
            <a:r>
              <a:rPr lang="en-US" dirty="0"/>
              <a:t>some manager or tool.</a:t>
            </a:r>
            <a:endParaRPr lang="fi-FI" dirty="0" smtClean="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0034" y="1571613"/>
            <a:ext cx="8229600" cy="2714644"/>
          </a:xfrm>
        </p:spPr>
        <p:txBody>
          <a:bodyPr/>
          <a:lstStyle/>
          <a:p>
            <a:pPr algn="ctr">
              <a:buNone/>
            </a:pPr>
            <a:r>
              <a:rPr lang="en-US" dirty="0" smtClean="0">
                <a:solidFill>
                  <a:schemeClr val="tx2"/>
                </a:solidFill>
              </a:rPr>
              <a:t>The most important tools for an Agile project (assuming </a:t>
            </a:r>
            <a:r>
              <a:rPr lang="en-US" dirty="0" err="1" smtClean="0">
                <a:solidFill>
                  <a:schemeClr val="tx2"/>
                </a:solidFill>
              </a:rPr>
              <a:t>colocation</a:t>
            </a:r>
            <a:r>
              <a:rPr lang="en-US" dirty="0" smtClean="0">
                <a:solidFill>
                  <a:schemeClr val="tx2"/>
                </a:solidFill>
              </a:rPr>
              <a:t>)</a:t>
            </a:r>
            <a:br>
              <a:rPr lang="en-US" dirty="0" smtClean="0">
                <a:solidFill>
                  <a:schemeClr val="tx2"/>
                </a:solidFill>
              </a:rPr>
            </a:br>
            <a:r>
              <a:rPr lang="en-US" dirty="0" smtClean="0">
                <a:solidFill>
                  <a:schemeClr val="tx2"/>
                </a:solidFill>
              </a:rPr>
              <a:t>are index cards and white boards. Software is optional, and often</a:t>
            </a:r>
            <a:br>
              <a:rPr lang="en-US" dirty="0" smtClean="0">
                <a:solidFill>
                  <a:schemeClr val="tx2"/>
                </a:solidFill>
              </a:rPr>
            </a:br>
            <a:r>
              <a:rPr lang="en-US" dirty="0" smtClean="0">
                <a:solidFill>
                  <a:schemeClr val="tx2"/>
                </a:solidFill>
              </a:rPr>
              <a:t>suboptimal.</a:t>
            </a:r>
            <a:endParaRPr lang="fi-FI" dirty="0">
              <a:solidFill>
                <a:schemeClr val="tx2"/>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Working with Task Boards and Sprint Backlogs from Testing Perspective</a:t>
            </a:r>
            <a:endParaRPr lang="fi-FI" dirty="0"/>
          </a:p>
        </p:txBody>
      </p:sp>
      <p:sp>
        <p:nvSpPr>
          <p:cNvPr id="5" name="Content Placeholder 4"/>
          <p:cNvSpPr>
            <a:spLocks noGrp="1"/>
          </p:cNvSpPr>
          <p:nvPr>
            <p:ph idx="1"/>
          </p:nvPr>
        </p:nvSpPr>
        <p:spPr/>
        <p:txBody>
          <a:bodyPr>
            <a:normAutofit fontScale="92500" lnSpcReduction="10000"/>
          </a:bodyPr>
          <a:lstStyle/>
          <a:p>
            <a:r>
              <a:rPr lang="fi-FI" dirty="0" smtClean="0"/>
              <a:t>Your team can choose one of the two:</a:t>
            </a:r>
          </a:p>
          <a:p>
            <a:pPr lvl="1"/>
            <a:r>
              <a:rPr lang="fi-FI" dirty="0" smtClean="0"/>
              <a:t>Task board: emphasizes visual management of progress </a:t>
            </a:r>
          </a:p>
          <a:p>
            <a:pPr lvl="1"/>
            <a:r>
              <a:rPr lang="fi-FI" dirty="0" smtClean="0"/>
              <a:t>Sprint backlog:emphasizes managing workload of individuals and team</a:t>
            </a:r>
          </a:p>
          <a:p>
            <a:r>
              <a:rPr lang="fi-FI" dirty="0" smtClean="0"/>
              <a:t>Which ever way is in use, testing should be in the team’s approach</a:t>
            </a:r>
          </a:p>
          <a:p>
            <a:pPr lvl="1"/>
            <a:r>
              <a:rPr lang="fi-FI" dirty="0" smtClean="0"/>
              <a:t>Testing tasks do not need to be separated</a:t>
            </a:r>
          </a:p>
          <a:p>
            <a:pPr lvl="1"/>
            <a:r>
              <a:rPr lang="fi-FI" dirty="0" smtClean="0"/>
              <a:t>Testing tasks should not be allocated to testers in the team</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Cards on the Board: Information Radiator / Task Board</a:t>
            </a:r>
            <a:endParaRPr lang="fi-FI" dirty="0"/>
          </a:p>
        </p:txBody>
      </p:sp>
      <p:sp>
        <p:nvSpPr>
          <p:cNvPr id="5" name="Rectangle 4"/>
          <p:cNvSpPr/>
          <p:nvPr/>
        </p:nvSpPr>
        <p:spPr>
          <a:xfrm>
            <a:off x="1247732" y="2004986"/>
            <a:ext cx="2571768" cy="15001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smtClean="0"/>
              <a:t>User Stories (white)</a:t>
            </a:r>
            <a:endParaRPr lang="fi-FI" dirty="0"/>
          </a:p>
        </p:txBody>
      </p:sp>
      <p:sp>
        <p:nvSpPr>
          <p:cNvPr id="6" name="Rectangle 5"/>
          <p:cNvSpPr/>
          <p:nvPr/>
        </p:nvSpPr>
        <p:spPr>
          <a:xfrm>
            <a:off x="4105252" y="2290738"/>
            <a:ext cx="2571768" cy="150019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Admin Stories (blue)</a:t>
            </a:r>
            <a:endParaRPr lang="fi-FI" dirty="0"/>
          </a:p>
        </p:txBody>
      </p:sp>
      <p:sp>
        <p:nvSpPr>
          <p:cNvPr id="7" name="Rectangle 6"/>
          <p:cNvSpPr/>
          <p:nvPr/>
        </p:nvSpPr>
        <p:spPr>
          <a:xfrm>
            <a:off x="4819632" y="4291002"/>
            <a:ext cx="2571768" cy="150019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End-user reported bugs (red)</a:t>
            </a:r>
            <a:endParaRPr lang="fi-FI" dirty="0"/>
          </a:p>
        </p:txBody>
      </p:sp>
      <p:sp>
        <p:nvSpPr>
          <p:cNvPr id="8" name="Rectangle 7"/>
          <p:cNvSpPr/>
          <p:nvPr/>
        </p:nvSpPr>
        <p:spPr>
          <a:xfrm>
            <a:off x="1819236" y="4005250"/>
            <a:ext cx="2571768" cy="150019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Process improvement tasks (yellow)</a:t>
            </a:r>
            <a:endParaRPr lang="fi-FI"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fi-FI" smtClean="0"/>
              <a:t>Measuring quality</a:t>
            </a:r>
            <a:endParaRPr lang="en-US" smtClean="0"/>
          </a:p>
        </p:txBody>
      </p:sp>
      <p:sp>
        <p:nvSpPr>
          <p:cNvPr id="34819" name="Rectangle 3"/>
          <p:cNvSpPr>
            <a:spLocks noGrp="1" noChangeArrowheads="1"/>
          </p:cNvSpPr>
          <p:nvPr>
            <p:ph type="body" idx="1"/>
          </p:nvPr>
        </p:nvSpPr>
        <p:spPr>
          <a:xfrm>
            <a:off x="609600" y="1676400"/>
            <a:ext cx="8153400" cy="2438400"/>
          </a:xfrm>
          <a:noFill/>
        </p:spPr>
        <p:txBody>
          <a:bodyPr lIns="0" tIns="0" rIns="0" bIns="0">
            <a:noAutofit/>
          </a:bodyPr>
          <a:lstStyle/>
          <a:p>
            <a:pPr>
              <a:buFont typeface="Wingdings" pitchFamily="2" charset="2"/>
              <a:buNone/>
            </a:pPr>
            <a:r>
              <a:rPr lang="en-US" sz="2400" dirty="0" smtClean="0"/>
              <a:t>Is impossible or at least impractical to measure using these methods</a:t>
            </a:r>
          </a:p>
          <a:p>
            <a:pPr lvl="1"/>
            <a:r>
              <a:rPr lang="en-US" sz="2000" dirty="0" smtClean="0"/>
              <a:t>Bug count</a:t>
            </a:r>
          </a:p>
          <a:p>
            <a:pPr lvl="1"/>
            <a:r>
              <a:rPr lang="en-US" sz="2000" dirty="0" smtClean="0"/>
              <a:t>Against specification and/or requirements</a:t>
            </a:r>
          </a:p>
          <a:p>
            <a:pPr lvl="1"/>
            <a:r>
              <a:rPr lang="en-US" sz="2000" dirty="0" smtClean="0"/>
              <a:t>Customers’ needs</a:t>
            </a:r>
          </a:p>
          <a:p>
            <a:pPr lvl="1"/>
            <a:r>
              <a:rPr lang="en-US" sz="2000" dirty="0" smtClean="0"/>
              <a:t>Customers’ written requirements</a:t>
            </a:r>
          </a:p>
          <a:p>
            <a:pPr lvl="1"/>
            <a:r>
              <a:rPr lang="en-US" sz="2000" dirty="0" smtClean="0"/>
              <a:t>Conformance to standard</a:t>
            </a:r>
          </a:p>
        </p:txBody>
      </p:sp>
      <p:sp>
        <p:nvSpPr>
          <p:cNvPr id="146437" name="Text Box 5"/>
          <p:cNvSpPr txBox="1">
            <a:spLocks noChangeArrowheads="1"/>
          </p:cNvSpPr>
          <p:nvPr/>
        </p:nvSpPr>
        <p:spPr bwMode="auto">
          <a:xfrm>
            <a:off x="4429124" y="4643446"/>
            <a:ext cx="4576766" cy="1017844"/>
          </a:xfrm>
          <a:prstGeom prst="rect">
            <a:avLst/>
          </a:prstGeom>
          <a:noFill/>
          <a:ln w="12700">
            <a:noFill/>
            <a:miter lim="800000"/>
            <a:headEnd/>
            <a:tailEnd/>
          </a:ln>
        </p:spPr>
        <p:txBody>
          <a:bodyPr wrap="square" lIns="90000" tIns="46800" rIns="90000" bIns="46800">
            <a:spAutoFit/>
          </a:bodyPr>
          <a:lstStyle/>
          <a:p>
            <a:pPr eaLnBrk="0" hangingPunct="0">
              <a:spcBef>
                <a:spcPct val="50000"/>
              </a:spcBef>
            </a:pPr>
            <a:r>
              <a:rPr lang="en-US" sz="2400" dirty="0">
                <a:cs typeface="Times New Roman" pitchFamily="18" charset="0"/>
              </a:rPr>
              <a:t>But there is a very easy method:</a:t>
            </a:r>
          </a:p>
          <a:p>
            <a:pPr lvl="1" eaLnBrk="0" hangingPunct="0">
              <a:spcBef>
                <a:spcPct val="50000"/>
              </a:spcBef>
              <a:buFontTx/>
              <a:buChar char="•"/>
            </a:pPr>
            <a:r>
              <a:rPr lang="en-US" sz="2000" dirty="0" smtClean="0">
                <a:cs typeface="Times New Roman" pitchFamily="18" charset="0"/>
              </a:rPr>
              <a:t>Ask </a:t>
            </a:r>
            <a:r>
              <a:rPr lang="en-US" sz="2000" dirty="0">
                <a:cs typeface="Times New Roman" pitchFamily="18" charset="0"/>
              </a:rPr>
              <a:t>the customer</a:t>
            </a:r>
            <a:r>
              <a:rPr lang="en-US" sz="2000" dirty="0" smtClean="0">
                <a:cs typeface="Times New Roman" pitchFamily="18" charset="0"/>
              </a:rPr>
              <a:t>.</a:t>
            </a:r>
            <a:r>
              <a:rPr lang="en-US" sz="2400" dirty="0" smtClean="0">
                <a:latin typeface="MetaPlusNormal" charset="0"/>
                <a:cs typeface="Times New Roman" pitchFamily="18" charset="0"/>
              </a:rPr>
              <a:t> </a:t>
            </a:r>
            <a:endParaRPr lang="en-US" sz="2400" dirty="0">
              <a:latin typeface="MetaPlusNormal" charset="0"/>
              <a:cs typeface="Times New Roman" pitchFamily="18" charset="0"/>
            </a:endParaRPr>
          </a:p>
        </p:txBody>
      </p:sp>
      <p:sp>
        <p:nvSpPr>
          <p:cNvPr id="5" name="Rectangle 4"/>
          <p:cNvSpPr/>
          <p:nvPr/>
        </p:nvSpPr>
        <p:spPr>
          <a:xfrm>
            <a:off x="214314" y="4572008"/>
            <a:ext cx="3071802" cy="207170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Working with the product owner with </a:t>
            </a:r>
            <a:r>
              <a:rPr lang="fi-FI" b="1" dirty="0" smtClean="0"/>
              <a:t>Tested Running Features </a:t>
            </a:r>
            <a:r>
              <a:rPr lang="fi-FI" dirty="0" smtClean="0"/>
              <a:t>as a metric is about showing progress against agreed scope</a:t>
            </a:r>
            <a:endParaRPr lang="fi-FI"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6437"/>
                                        </p:tgtEl>
                                        <p:attrNameLst>
                                          <p:attrName>style.visibility</p:attrName>
                                        </p:attrNameLst>
                                      </p:cBhvr>
                                      <p:to>
                                        <p:strVal val="visible"/>
                                      </p:to>
                                    </p:set>
                                    <p:anim calcmode="lin" valueType="num">
                                      <p:cBhvr additive="base">
                                        <p:cTn id="7" dur="500" fill="hold"/>
                                        <p:tgtEl>
                                          <p:spTgt spid="146437"/>
                                        </p:tgtEl>
                                        <p:attrNameLst>
                                          <p:attrName>ppt_x</p:attrName>
                                        </p:attrNameLst>
                                      </p:cBhvr>
                                      <p:tavLst>
                                        <p:tav tm="0">
                                          <p:val>
                                            <p:strVal val="1+#ppt_w/2"/>
                                          </p:val>
                                        </p:tav>
                                        <p:tav tm="100000">
                                          <p:val>
                                            <p:strVal val="#ppt_x"/>
                                          </p:val>
                                        </p:tav>
                                      </p:tavLst>
                                    </p:anim>
                                    <p:anim calcmode="lin" valueType="num">
                                      <p:cBhvr additive="base">
                                        <p:cTn id="8" dur="500" fill="hold"/>
                                        <p:tgtEl>
                                          <p:spTgt spid="1464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70" name="Rectangle 2"/>
          <p:cNvSpPr>
            <a:spLocks noGrp="1" noChangeArrowheads="1"/>
          </p:cNvSpPr>
          <p:nvPr>
            <p:ph type="title"/>
          </p:nvPr>
        </p:nvSpPr>
        <p:spPr/>
        <p:txBody>
          <a:bodyPr>
            <a:normAutofit fontScale="90000"/>
          </a:bodyPr>
          <a:lstStyle/>
          <a:p>
            <a:r>
              <a:rPr lang="en-GB"/>
              <a:t>Change in Metrics from Traditional to Agile</a:t>
            </a:r>
          </a:p>
        </p:txBody>
      </p:sp>
      <p:sp>
        <p:nvSpPr>
          <p:cNvPr id="1338371" name="Rectangle 3"/>
          <p:cNvSpPr>
            <a:spLocks noChangeArrowheads="1"/>
          </p:cNvSpPr>
          <p:nvPr/>
        </p:nvSpPr>
        <p:spPr bwMode="auto">
          <a:xfrm>
            <a:off x="228600" y="1676400"/>
            <a:ext cx="2667000" cy="3581400"/>
          </a:xfrm>
          <a:prstGeom prst="rect">
            <a:avLst/>
          </a:prstGeom>
          <a:solidFill>
            <a:schemeClr val="accent1"/>
          </a:solidFill>
          <a:ln w="12700">
            <a:noFill/>
            <a:miter lim="800000"/>
            <a:headEnd/>
            <a:tailEnd/>
          </a:ln>
          <a:effectLst/>
        </p:spPr>
        <p:txBody>
          <a:bodyPr lIns="90000" tIns="46800" rIns="90000" bIns="46800" anchor="ctr"/>
          <a:lstStyle/>
          <a:p>
            <a:pPr marL="342900" indent="-342900" algn="l"/>
            <a:r>
              <a:rPr lang="en-GB" b="1">
                <a:solidFill>
                  <a:schemeClr val="bg1"/>
                </a:solidFill>
              </a:rPr>
              <a:t>Underlying Principles</a:t>
            </a:r>
            <a:r>
              <a:rPr lang="en-GB" sz="1600" b="1">
                <a:solidFill>
                  <a:schemeClr val="bg1"/>
                </a:solidFill>
              </a:rPr>
              <a:t>:</a:t>
            </a:r>
          </a:p>
          <a:p>
            <a:pPr marL="342900" indent="-342900" algn="l"/>
            <a:endParaRPr lang="en-GB" sz="1600" b="1">
              <a:solidFill>
                <a:schemeClr val="bg1"/>
              </a:solidFill>
            </a:endParaRPr>
          </a:p>
          <a:p>
            <a:pPr marL="342900" indent="-342900" algn="l">
              <a:buFontTx/>
              <a:buAutoNum type="arabicParenR"/>
            </a:pPr>
            <a:r>
              <a:rPr lang="en-GB" sz="1600" b="1">
                <a:solidFill>
                  <a:schemeClr val="bg1"/>
                </a:solidFill>
              </a:rPr>
              <a:t>Trust</a:t>
            </a:r>
            <a:r>
              <a:rPr lang="en-GB" sz="1600">
                <a:solidFill>
                  <a:schemeClr val="bg1"/>
                </a:solidFill>
              </a:rPr>
              <a:t>: </a:t>
            </a:r>
            <a:br>
              <a:rPr lang="en-GB" sz="1600">
                <a:solidFill>
                  <a:schemeClr val="bg1"/>
                </a:solidFill>
              </a:rPr>
            </a:br>
            <a:r>
              <a:rPr lang="en-GB" sz="1400">
                <a:solidFill>
                  <a:schemeClr val="bg1"/>
                </a:solidFill>
              </a:rPr>
              <a:t>you can trust the people even if you can’t or won’t check all the details</a:t>
            </a:r>
          </a:p>
          <a:p>
            <a:pPr marL="342900" indent="-342900" algn="l">
              <a:buFontTx/>
              <a:buAutoNum type="arabicParenR"/>
            </a:pPr>
            <a:r>
              <a:rPr lang="en-GB" sz="1600" b="1">
                <a:solidFill>
                  <a:schemeClr val="bg1"/>
                </a:solidFill>
              </a:rPr>
              <a:t>Visibility</a:t>
            </a:r>
            <a:r>
              <a:rPr lang="en-GB" sz="1600">
                <a:solidFill>
                  <a:schemeClr val="bg1"/>
                </a:solidFill>
              </a:rPr>
              <a:t>:</a:t>
            </a:r>
            <a:br>
              <a:rPr lang="en-GB" sz="1600">
                <a:solidFill>
                  <a:schemeClr val="bg1"/>
                </a:solidFill>
              </a:rPr>
            </a:br>
            <a:r>
              <a:rPr lang="en-GB" sz="1400">
                <a:solidFill>
                  <a:schemeClr val="bg1"/>
                </a:solidFill>
              </a:rPr>
              <a:t>for understanding the whole you need a common way of telling what was really done and how that impacts the plans for future</a:t>
            </a:r>
          </a:p>
        </p:txBody>
      </p:sp>
      <p:sp>
        <p:nvSpPr>
          <p:cNvPr id="1338372" name="Rectangle 4"/>
          <p:cNvSpPr>
            <a:spLocks noChangeArrowheads="1"/>
          </p:cNvSpPr>
          <p:nvPr/>
        </p:nvSpPr>
        <p:spPr bwMode="auto">
          <a:xfrm>
            <a:off x="3124200" y="1600200"/>
            <a:ext cx="6019800" cy="2362200"/>
          </a:xfrm>
          <a:prstGeom prst="rect">
            <a:avLst/>
          </a:prstGeom>
          <a:solidFill>
            <a:schemeClr val="bg2"/>
          </a:solidFill>
          <a:ln w="12700">
            <a:noFill/>
            <a:miter lim="800000"/>
            <a:headEnd/>
            <a:tailEnd/>
          </a:ln>
          <a:effectLst/>
        </p:spPr>
        <p:txBody>
          <a:bodyPr lIns="90000" tIns="46800" rIns="90000" bIns="46800" anchor="ctr"/>
          <a:lstStyle/>
          <a:p>
            <a:pPr algn="l"/>
            <a:r>
              <a:rPr lang="en-GB" sz="1600" b="1" dirty="0"/>
              <a:t>Traditional Weekly Report:</a:t>
            </a:r>
          </a:p>
          <a:p>
            <a:pPr algn="l">
              <a:buFontTx/>
              <a:buChar char="•"/>
            </a:pPr>
            <a:r>
              <a:rPr lang="en-GB" sz="1600" dirty="0"/>
              <a:t> </a:t>
            </a:r>
            <a:r>
              <a:rPr lang="en-GB" sz="1400" b="1" dirty="0"/>
              <a:t>Amounts of Test Cases</a:t>
            </a:r>
            <a:r>
              <a:rPr lang="en-GB" sz="1400" dirty="0"/>
              <a:t> (planned, executed, left; by priority; zeroing the numbers when features are claimed frozen and the system can be tested) </a:t>
            </a:r>
          </a:p>
          <a:p>
            <a:pPr algn="l">
              <a:buFontTx/>
              <a:buChar char="•"/>
            </a:pPr>
            <a:r>
              <a:rPr lang="en-GB" sz="1400" dirty="0"/>
              <a:t> </a:t>
            </a:r>
            <a:r>
              <a:rPr lang="en-GB" sz="1400" b="1" dirty="0"/>
              <a:t>Amounts of Known Issues </a:t>
            </a:r>
            <a:r>
              <a:rPr lang="en-GB" sz="1400" dirty="0"/>
              <a:t>(found, claimed fixed, confirmed fixed; by priority) </a:t>
            </a:r>
          </a:p>
          <a:p>
            <a:pPr algn="l">
              <a:buFontTx/>
              <a:buChar char="•"/>
            </a:pPr>
            <a:r>
              <a:rPr lang="en-GB" sz="1400" dirty="0"/>
              <a:t> </a:t>
            </a:r>
            <a:r>
              <a:rPr lang="en-GB" sz="1400" b="1" dirty="0"/>
              <a:t>Coverage </a:t>
            </a:r>
            <a:r>
              <a:rPr lang="en-GB" sz="1400" dirty="0"/>
              <a:t>(unplanned / not executed tests in relation to requirements or assumptions)</a:t>
            </a:r>
          </a:p>
          <a:p>
            <a:pPr algn="l">
              <a:buFontTx/>
              <a:buChar char="•"/>
            </a:pPr>
            <a:r>
              <a:rPr lang="en-GB" sz="1400" dirty="0"/>
              <a:t> </a:t>
            </a:r>
            <a:r>
              <a:rPr lang="en-GB" sz="1400" b="1" dirty="0"/>
              <a:t>Amounts of Unknown Issues</a:t>
            </a:r>
            <a:r>
              <a:rPr lang="en-GB" sz="1400" dirty="0"/>
              <a:t> (a guesstimate of still issues that still remain unreported)</a:t>
            </a:r>
          </a:p>
        </p:txBody>
      </p:sp>
      <p:sp>
        <p:nvSpPr>
          <p:cNvPr id="1338373" name="Rectangle 5"/>
          <p:cNvSpPr>
            <a:spLocks noChangeArrowheads="1"/>
          </p:cNvSpPr>
          <p:nvPr/>
        </p:nvSpPr>
        <p:spPr bwMode="auto">
          <a:xfrm>
            <a:off x="3124200" y="4038600"/>
            <a:ext cx="6019800" cy="2590800"/>
          </a:xfrm>
          <a:prstGeom prst="rect">
            <a:avLst/>
          </a:prstGeom>
          <a:solidFill>
            <a:schemeClr val="hlink">
              <a:alpha val="50000"/>
            </a:schemeClr>
          </a:solidFill>
          <a:ln w="12700">
            <a:noFill/>
            <a:miter lim="800000"/>
            <a:headEnd/>
            <a:tailEnd/>
          </a:ln>
          <a:effectLst/>
        </p:spPr>
        <p:txBody>
          <a:bodyPr lIns="90000" tIns="46800" rIns="90000" bIns="46800" anchor="ctr"/>
          <a:lstStyle/>
          <a:p>
            <a:pPr algn="l"/>
            <a:r>
              <a:rPr lang="en-GB" sz="1600" b="1" dirty="0"/>
              <a:t>Agile Weekly Report:</a:t>
            </a:r>
          </a:p>
          <a:p>
            <a:pPr algn="l">
              <a:buFontTx/>
              <a:buChar char="•"/>
            </a:pPr>
            <a:r>
              <a:rPr lang="en-GB" sz="1600" dirty="0"/>
              <a:t> </a:t>
            </a:r>
            <a:r>
              <a:rPr lang="en-GB" sz="1400" b="1" dirty="0"/>
              <a:t>Delivering what was promised </a:t>
            </a:r>
            <a:r>
              <a:rPr lang="en-GB" sz="1400" dirty="0"/>
              <a:t>(done / not done by end of increment)</a:t>
            </a:r>
            <a:endParaRPr lang="en-GB" sz="1400" b="1" dirty="0"/>
          </a:p>
          <a:p>
            <a:pPr algn="l">
              <a:buFontTx/>
              <a:buChar char="•"/>
            </a:pPr>
            <a:r>
              <a:rPr lang="en-GB" sz="1600" b="1" dirty="0"/>
              <a:t> </a:t>
            </a:r>
            <a:r>
              <a:rPr lang="en-GB" sz="1400" b="1" dirty="0"/>
              <a:t>Additional deliveries to what was promised </a:t>
            </a:r>
            <a:r>
              <a:rPr lang="en-GB" sz="1400" dirty="0"/>
              <a:t>(this too was done, add an item)</a:t>
            </a:r>
            <a:endParaRPr lang="en-GB" sz="1400" b="1" dirty="0"/>
          </a:p>
          <a:p>
            <a:pPr algn="l">
              <a:buFontTx/>
              <a:buChar char="•"/>
            </a:pPr>
            <a:endParaRPr lang="en-GB" sz="800" b="1" dirty="0"/>
          </a:p>
          <a:p>
            <a:pPr algn="l"/>
            <a:r>
              <a:rPr lang="en-GB" sz="1600" b="1" dirty="0"/>
              <a:t>Agile Monthly Report:</a:t>
            </a:r>
          </a:p>
          <a:p>
            <a:pPr algn="l">
              <a:buFontTx/>
              <a:buChar char="•"/>
            </a:pPr>
            <a:r>
              <a:rPr lang="en-GB" sz="1400" dirty="0"/>
              <a:t> </a:t>
            </a:r>
            <a:r>
              <a:rPr lang="en-GB" sz="1400" b="1" dirty="0"/>
              <a:t>Commitment vs. Delivery in numbers </a:t>
            </a:r>
            <a:r>
              <a:rPr lang="en-GB" sz="1400" dirty="0"/>
              <a:t>(amounts, delivering according to priority focus)</a:t>
            </a:r>
          </a:p>
          <a:p>
            <a:pPr algn="l">
              <a:buFontTx/>
              <a:buChar char="•"/>
            </a:pPr>
            <a:r>
              <a:rPr lang="en-GB" sz="1400" dirty="0"/>
              <a:t> </a:t>
            </a:r>
            <a:r>
              <a:rPr lang="en-GB" sz="1400" b="1" dirty="0"/>
              <a:t>Taking quality or technical debt </a:t>
            </a:r>
            <a:r>
              <a:rPr lang="en-GB" sz="1400" dirty="0"/>
              <a:t>(new lines in product backlog)</a:t>
            </a:r>
          </a:p>
          <a:p>
            <a:pPr algn="l">
              <a:buFontTx/>
              <a:buChar char="•"/>
            </a:pPr>
            <a:endParaRPr lang="en-GB" sz="600" dirty="0"/>
          </a:p>
          <a:p>
            <a:pPr algn="l"/>
            <a:r>
              <a:rPr lang="en-GB" sz="1600" b="1" i="1" dirty="0">
                <a:sym typeface="Wingdings" pitchFamily="2" charset="2"/>
              </a:rPr>
              <a:t> The traditional metrics become team-internal tools</a:t>
            </a:r>
            <a:endParaRPr lang="en-GB" sz="1600" b="1" i="1" dirty="0"/>
          </a:p>
        </p:txBody>
      </p:sp>
      <p:sp>
        <p:nvSpPr>
          <p:cNvPr id="1338374" name="AutoShape 6"/>
          <p:cNvSpPr>
            <a:spLocks noChangeArrowheads="1"/>
          </p:cNvSpPr>
          <p:nvPr/>
        </p:nvSpPr>
        <p:spPr bwMode="auto">
          <a:xfrm>
            <a:off x="457200" y="5638800"/>
            <a:ext cx="1905000" cy="1143000"/>
          </a:xfrm>
          <a:prstGeom prst="roundRect">
            <a:avLst>
              <a:gd name="adj" fmla="val 16667"/>
            </a:avLst>
          </a:prstGeom>
          <a:solidFill>
            <a:schemeClr val="bg1"/>
          </a:solidFill>
          <a:ln w="12700">
            <a:solidFill>
              <a:schemeClr val="accent2"/>
            </a:solidFill>
            <a:round/>
            <a:headEnd/>
            <a:tailEnd/>
          </a:ln>
          <a:effectLst>
            <a:outerShdw dist="107763" dir="18900000" algn="ctr" rotWithShape="0">
              <a:schemeClr val="bg2"/>
            </a:outerShdw>
          </a:effectLst>
        </p:spPr>
        <p:txBody>
          <a:bodyPr lIns="90000" tIns="46800" rIns="90000" bIns="46800" anchor="ctr"/>
          <a:lstStyle/>
          <a:p>
            <a:pPr algn="ctr"/>
            <a:r>
              <a:rPr lang="en-GB" sz="1200" dirty="0"/>
              <a:t>Are these testing metrics?</a:t>
            </a:r>
          </a:p>
          <a:p>
            <a:pPr algn="ctr"/>
            <a:r>
              <a:rPr lang="en-GB" sz="1200" dirty="0"/>
              <a:t> “Done” </a:t>
            </a:r>
            <a:r>
              <a:rPr lang="en-GB" sz="1200" dirty="0">
                <a:sym typeface="Wingdings" pitchFamily="2" charset="2"/>
              </a:rPr>
              <a:t> Ready and confirmed ready = tested</a:t>
            </a:r>
            <a:endParaRPr lang="en-GB" sz="12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Example: Quality Reporting</a:t>
            </a:r>
            <a:endParaRPr lang="fi-FI" dirty="0"/>
          </a:p>
        </p:txBody>
      </p:sp>
      <p:pic>
        <p:nvPicPr>
          <p:cNvPr id="4" name="Picture 178"/>
          <p:cNvPicPr>
            <a:picLocks noChangeAspect="1" noChangeArrowheads="1"/>
          </p:cNvPicPr>
          <p:nvPr/>
        </p:nvPicPr>
        <p:blipFill>
          <a:blip r:embed="rId3" cstate="print"/>
          <a:srcRect/>
          <a:stretch>
            <a:fillRect/>
          </a:stretch>
        </p:blipFill>
        <p:spPr bwMode="auto">
          <a:xfrm>
            <a:off x="1571604" y="1285860"/>
            <a:ext cx="5934957" cy="5286412"/>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xmlns:p14="http://schemas.microsoft.com/office/powerpoint/2010/mai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Measuring from the Product Backlog</a:t>
            </a:r>
            <a:endParaRPr lang="fi-FI" dirty="0"/>
          </a:p>
        </p:txBody>
      </p:sp>
      <p:sp>
        <p:nvSpPr>
          <p:cNvPr id="3" name="Content Placeholder 2"/>
          <p:cNvSpPr>
            <a:spLocks noGrp="1"/>
          </p:cNvSpPr>
          <p:nvPr>
            <p:ph idx="1"/>
          </p:nvPr>
        </p:nvSpPr>
        <p:spPr/>
        <p:txBody>
          <a:bodyPr>
            <a:normAutofit fontScale="85000" lnSpcReduction="10000"/>
          </a:bodyPr>
          <a:lstStyle/>
          <a:p>
            <a:r>
              <a:rPr lang="fi-FI" dirty="0" smtClean="0"/>
              <a:t>Commitment –  Are we doing what we promised and according to agile ideals?</a:t>
            </a:r>
          </a:p>
          <a:p>
            <a:pPr lvl="1"/>
            <a:r>
              <a:rPr lang="fi-FI" dirty="0" smtClean="0"/>
              <a:t>Velocity– amount of things done</a:t>
            </a:r>
          </a:p>
          <a:p>
            <a:pPr lvl="1"/>
            <a:r>
              <a:rPr lang="fi-FI" dirty="0" smtClean="0"/>
              <a:t>Visibility – things brought in ”under the table”</a:t>
            </a:r>
          </a:p>
          <a:p>
            <a:pPr lvl="1"/>
            <a:r>
              <a:rPr lang="fi-FI" dirty="0" smtClean="0"/>
              <a:t>Priority focus</a:t>
            </a:r>
          </a:p>
          <a:p>
            <a:pPr lvl="2"/>
            <a:r>
              <a:rPr lang="fi-FI" dirty="0" smtClean="0"/>
              <a:t>Ability to do as planned with product backlog</a:t>
            </a:r>
          </a:p>
          <a:p>
            <a:pPr lvl="2"/>
            <a:r>
              <a:rPr lang="fi-FI" dirty="0" smtClean="0"/>
              <a:t>Ability to recover from surprises by dropping lower-priority items</a:t>
            </a:r>
          </a:p>
          <a:p>
            <a:pPr lvl="2"/>
            <a:r>
              <a:rPr lang="fi-FI" dirty="0" smtClean="0"/>
              <a:t>Changing priority order as part of planning</a:t>
            </a:r>
          </a:p>
          <a:p>
            <a:r>
              <a:rPr lang="fi-FI" dirty="0" smtClean="0"/>
              <a:t>Ability to do incremental development and deliver continuously</a:t>
            </a:r>
          </a:p>
          <a:p>
            <a:r>
              <a:rPr lang="fi-FI" dirty="0" smtClean="0"/>
              <a:t>Amount of change – is agile a necessary mechanism</a:t>
            </a:r>
          </a:p>
          <a:p>
            <a:pPr lvl="1"/>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6" name="Rectangle 2"/>
          <p:cNvSpPr>
            <a:spLocks noGrp="1" noChangeArrowheads="1"/>
          </p:cNvSpPr>
          <p:nvPr>
            <p:ph type="title"/>
          </p:nvPr>
        </p:nvSpPr>
        <p:spPr/>
        <p:txBody>
          <a:bodyPr>
            <a:normAutofit fontScale="90000"/>
          </a:bodyPr>
          <a:lstStyle/>
          <a:p>
            <a:r>
              <a:rPr lang="en-GB" dirty="0" smtClean="0"/>
              <a:t>Example: Metrics on Product Backlog Commitment and Prioritization</a:t>
            </a:r>
            <a:endParaRPr lang="en-GB" dirty="0"/>
          </a:p>
        </p:txBody>
      </p:sp>
      <p:sp>
        <p:nvSpPr>
          <p:cNvPr id="1342467" name="AutoShape 3"/>
          <p:cNvSpPr>
            <a:spLocks noChangeArrowheads="1"/>
          </p:cNvSpPr>
          <p:nvPr/>
        </p:nvSpPr>
        <p:spPr bwMode="auto">
          <a:xfrm>
            <a:off x="6477000" y="4267200"/>
            <a:ext cx="2362200" cy="1981200"/>
          </a:xfrm>
          <a:prstGeom prst="roundRect">
            <a:avLst>
              <a:gd name="adj" fmla="val 16667"/>
            </a:avLst>
          </a:prstGeom>
          <a:solidFill>
            <a:schemeClr val="bg1"/>
          </a:solidFill>
          <a:ln w="12700">
            <a:solidFill>
              <a:schemeClr val="accent2"/>
            </a:solidFill>
            <a:round/>
            <a:headEnd/>
            <a:tailEnd/>
          </a:ln>
          <a:effectLst/>
        </p:spPr>
        <p:txBody>
          <a:bodyPr lIns="90000" tIns="46800" rIns="90000" bIns="46800" anchor="ctr"/>
          <a:lstStyle/>
          <a:p>
            <a:pPr algn="ctr"/>
            <a:r>
              <a:rPr lang="en-GB" sz="1600" b="1" dirty="0"/>
              <a:t>Notes on June:</a:t>
            </a:r>
          </a:p>
          <a:p>
            <a:pPr algn="ctr"/>
            <a:r>
              <a:rPr lang="en-GB" sz="1400" dirty="0"/>
              <a:t>Faked progress by marking items done that were not worked on but did not need to. Also items were created quite small, now normalized. </a:t>
            </a:r>
          </a:p>
        </p:txBody>
      </p:sp>
      <p:sp>
        <p:nvSpPr>
          <p:cNvPr id="1342468" name="Text Box 4"/>
          <p:cNvSpPr txBox="1">
            <a:spLocks noChangeArrowheads="1"/>
          </p:cNvSpPr>
          <p:nvPr/>
        </p:nvSpPr>
        <p:spPr bwMode="auto">
          <a:xfrm>
            <a:off x="152400" y="4359275"/>
            <a:ext cx="3886200" cy="1736725"/>
          </a:xfrm>
          <a:prstGeom prst="rect">
            <a:avLst/>
          </a:prstGeom>
          <a:noFill/>
          <a:ln w="12700">
            <a:noFill/>
            <a:miter lim="800000"/>
            <a:headEnd/>
            <a:tailEnd/>
          </a:ln>
          <a:effectLst/>
        </p:spPr>
        <p:txBody>
          <a:bodyPr lIns="90000" tIns="46800" rIns="90000" bIns="46800">
            <a:spAutoFit/>
          </a:bodyPr>
          <a:lstStyle/>
          <a:p>
            <a:pPr algn="l">
              <a:spcBef>
                <a:spcPct val="50000"/>
              </a:spcBef>
            </a:pPr>
            <a:r>
              <a:rPr lang="en-GB" sz="1200" b="1" i="1" dirty="0"/>
              <a:t>The pfp in planning shows if we do things as PdM-PjM has prioritized to succeed in projects (their plans could be misguided). </a:t>
            </a:r>
          </a:p>
          <a:p>
            <a:pPr algn="l">
              <a:spcBef>
                <a:spcPct val="50000"/>
              </a:spcBef>
            </a:pPr>
            <a:r>
              <a:rPr lang="en-GB" sz="1200" b="1" i="1" dirty="0"/>
              <a:t>The pfp in delivery against priority reflects the expectations to delivery in order of priority. </a:t>
            </a:r>
          </a:p>
          <a:p>
            <a:pPr algn="l">
              <a:spcBef>
                <a:spcPct val="50000"/>
              </a:spcBef>
            </a:pPr>
            <a:r>
              <a:rPr lang="en-GB" sz="1200" b="1" i="1" dirty="0"/>
              <a:t>The pfp in delivery against commitment shows how many items out of the clearly committed ones were actually done. </a:t>
            </a:r>
          </a:p>
        </p:txBody>
      </p:sp>
      <p:pic>
        <p:nvPicPr>
          <p:cNvPr id="1342469" name="Picture 5"/>
          <p:cNvPicPr>
            <a:picLocks noChangeAspect="1" noChangeArrowheads="1"/>
          </p:cNvPicPr>
          <p:nvPr/>
        </p:nvPicPr>
        <p:blipFill>
          <a:blip r:embed="rId3" cstate="print"/>
          <a:srcRect/>
          <a:stretch>
            <a:fillRect/>
          </a:stretch>
        </p:blipFill>
        <p:spPr bwMode="auto">
          <a:xfrm>
            <a:off x="0" y="2105027"/>
            <a:ext cx="8991600" cy="1609725"/>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514" name="Rectangle 2"/>
          <p:cNvSpPr>
            <a:spLocks noGrp="1" noChangeArrowheads="1"/>
          </p:cNvSpPr>
          <p:nvPr>
            <p:ph type="title"/>
          </p:nvPr>
        </p:nvSpPr>
        <p:spPr/>
        <p:txBody>
          <a:bodyPr>
            <a:normAutofit fontScale="90000"/>
          </a:bodyPr>
          <a:lstStyle/>
          <a:p>
            <a:r>
              <a:rPr lang="en-GB" dirty="0" smtClean="0"/>
              <a:t>Example: Metrics on Product Backlog Incremental Development Ability</a:t>
            </a:r>
            <a:endParaRPr lang="en-GB" dirty="0"/>
          </a:p>
        </p:txBody>
      </p:sp>
      <p:pic>
        <p:nvPicPr>
          <p:cNvPr id="1344515" name="Picture 3"/>
          <p:cNvPicPr>
            <a:picLocks noChangeAspect="1" noChangeArrowheads="1"/>
          </p:cNvPicPr>
          <p:nvPr/>
        </p:nvPicPr>
        <p:blipFill>
          <a:blip r:embed="rId3" cstate="print"/>
          <a:srcRect/>
          <a:stretch>
            <a:fillRect/>
          </a:stretch>
        </p:blipFill>
        <p:spPr bwMode="auto">
          <a:xfrm>
            <a:off x="228600" y="2000240"/>
            <a:ext cx="6781800" cy="2608263"/>
          </a:xfrm>
          <a:prstGeom prst="rect">
            <a:avLst/>
          </a:prstGeom>
          <a:noFill/>
          <a:ln w="12700">
            <a:noFill/>
            <a:miter lim="800000"/>
            <a:headEnd/>
            <a:tailEnd/>
          </a:ln>
          <a:effectLst/>
        </p:spPr>
      </p:pic>
      <p:sp>
        <p:nvSpPr>
          <p:cNvPr id="1344516" name="AutoShape 4"/>
          <p:cNvSpPr>
            <a:spLocks noChangeArrowheads="1"/>
          </p:cNvSpPr>
          <p:nvPr/>
        </p:nvSpPr>
        <p:spPr bwMode="auto">
          <a:xfrm>
            <a:off x="5334000" y="4714884"/>
            <a:ext cx="3505200" cy="2000240"/>
          </a:xfrm>
          <a:prstGeom prst="roundRect">
            <a:avLst>
              <a:gd name="adj" fmla="val 16667"/>
            </a:avLst>
          </a:prstGeom>
          <a:solidFill>
            <a:schemeClr val="bg1"/>
          </a:solidFill>
          <a:ln w="12700">
            <a:solidFill>
              <a:schemeClr val="accent2"/>
            </a:solidFill>
            <a:round/>
            <a:headEnd/>
            <a:tailEnd/>
          </a:ln>
          <a:effectLst/>
        </p:spPr>
        <p:txBody>
          <a:bodyPr lIns="90000" tIns="46800" rIns="90000" bIns="46800" anchor="ctr"/>
          <a:lstStyle/>
          <a:p>
            <a:pPr algn="ctr"/>
            <a:r>
              <a:rPr lang="en-GB" sz="1400" b="1" dirty="0"/>
              <a:t>Notes on June:</a:t>
            </a:r>
          </a:p>
          <a:p>
            <a:pPr algn="ctr"/>
            <a:r>
              <a:rPr lang="en-GB" sz="1200" dirty="0"/>
              <a:t>Almost all items we commit to are now phased (cannot be done incrementally within a month). This is not good. How can we find ways of increasing the incremental delivery aspect? Should we do less items but with bigger resourcing to those areas? Break current team structures?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8" name="Rectangle 2"/>
          <p:cNvSpPr>
            <a:spLocks noGrp="1" noChangeArrowheads="1"/>
          </p:cNvSpPr>
          <p:nvPr>
            <p:ph type="title"/>
          </p:nvPr>
        </p:nvSpPr>
        <p:spPr/>
        <p:txBody>
          <a:bodyPr>
            <a:normAutofit fontScale="90000"/>
          </a:bodyPr>
          <a:lstStyle/>
          <a:p>
            <a:r>
              <a:rPr lang="en-GB" dirty="0" smtClean="0"/>
              <a:t>Example: Metrics on Product Backlog Change</a:t>
            </a:r>
            <a:endParaRPr lang="en-GB" dirty="0"/>
          </a:p>
        </p:txBody>
      </p:sp>
      <p:sp>
        <p:nvSpPr>
          <p:cNvPr id="1345539" name="AutoShape 3"/>
          <p:cNvSpPr>
            <a:spLocks noChangeArrowheads="1"/>
          </p:cNvSpPr>
          <p:nvPr/>
        </p:nvSpPr>
        <p:spPr bwMode="auto">
          <a:xfrm>
            <a:off x="6477000" y="4267200"/>
            <a:ext cx="2362200" cy="1981200"/>
          </a:xfrm>
          <a:prstGeom prst="roundRect">
            <a:avLst>
              <a:gd name="adj" fmla="val 16667"/>
            </a:avLst>
          </a:prstGeom>
          <a:solidFill>
            <a:schemeClr val="bg1"/>
          </a:solidFill>
          <a:ln w="12700">
            <a:solidFill>
              <a:schemeClr val="accent2"/>
            </a:solidFill>
            <a:round/>
            <a:headEnd/>
            <a:tailEnd/>
          </a:ln>
          <a:effectLst/>
        </p:spPr>
        <p:txBody>
          <a:bodyPr lIns="90000" tIns="46800" rIns="90000" bIns="46800" anchor="ctr"/>
          <a:lstStyle/>
          <a:p>
            <a:pPr algn="ctr"/>
            <a:r>
              <a:rPr lang="en-GB" sz="1600" b="1" dirty="0"/>
              <a:t>Notes on June:</a:t>
            </a:r>
          </a:p>
          <a:p>
            <a:pPr algn="ctr"/>
            <a:r>
              <a:rPr lang="en-GB" sz="1400" dirty="0"/>
              <a:t>Less new items coming in. Does this indicate that the understanding is getting better about future or that the analysis was paralyzed with short-term focus?</a:t>
            </a:r>
          </a:p>
        </p:txBody>
      </p:sp>
      <p:pic>
        <p:nvPicPr>
          <p:cNvPr id="1345540" name="Picture 4"/>
          <p:cNvPicPr>
            <a:picLocks noChangeAspect="1" noChangeArrowheads="1"/>
          </p:cNvPicPr>
          <p:nvPr/>
        </p:nvPicPr>
        <p:blipFill>
          <a:blip r:embed="rId3" cstate="print"/>
          <a:srcRect/>
          <a:stretch>
            <a:fillRect/>
          </a:stretch>
        </p:blipFill>
        <p:spPr bwMode="auto">
          <a:xfrm>
            <a:off x="85756" y="2293941"/>
            <a:ext cx="8915400" cy="1706563"/>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Visibility to Quality Debt</a:t>
            </a:r>
            <a:endParaRPr lang="fi-FI" dirty="0"/>
          </a:p>
        </p:txBody>
      </p:sp>
      <p:sp>
        <p:nvSpPr>
          <p:cNvPr id="3" name="Content Placeholder 2"/>
          <p:cNvSpPr>
            <a:spLocks noGrp="1"/>
          </p:cNvSpPr>
          <p:nvPr>
            <p:ph idx="1"/>
          </p:nvPr>
        </p:nvSpPr>
        <p:spPr/>
        <p:txBody>
          <a:bodyPr>
            <a:normAutofit fontScale="92500"/>
          </a:bodyPr>
          <a:lstStyle/>
          <a:p>
            <a:r>
              <a:rPr lang="fi-FI" dirty="0" smtClean="0"/>
              <a:t>For missing testing</a:t>
            </a:r>
          </a:p>
          <a:p>
            <a:pPr lvl="1"/>
            <a:r>
              <a:rPr lang="fi-FI" dirty="0" smtClean="0"/>
              <a:t>Coverage in relation to changes and releases</a:t>
            </a:r>
          </a:p>
          <a:p>
            <a:pPr lvl="1"/>
            <a:r>
              <a:rPr lang="fi-FI" dirty="0" smtClean="0"/>
              <a:t>Test report</a:t>
            </a:r>
          </a:p>
          <a:p>
            <a:r>
              <a:rPr lang="fi-FI" dirty="0" smtClean="0"/>
              <a:t>For missing fixes</a:t>
            </a:r>
          </a:p>
          <a:p>
            <a:pPr lvl="1"/>
            <a:r>
              <a:rPr lang="fi-FI" dirty="0" smtClean="0"/>
              <a:t>Monthly trends of fixes / known issues with metrics</a:t>
            </a:r>
          </a:p>
          <a:p>
            <a:pPr lvl="1"/>
            <a:r>
              <a:rPr lang="fi-FI" dirty="0" smtClean="0"/>
              <a:t>Velocity counted both from product backlog and product fix list</a:t>
            </a:r>
          </a:p>
          <a:p>
            <a:pPr lvl="1"/>
            <a:r>
              <a:rPr lang="fi-FI" dirty="0" smtClean="0"/>
              <a:t>Goal was to make debt smaller, eventually being debt-free</a:t>
            </a:r>
          </a:p>
        </p:txBody>
      </p:sp>
      <p:pic>
        <p:nvPicPr>
          <p:cNvPr id="63496" name="Picture 8" descr="C:\Documents and Settings\Maaret\My Documents\My Pictures\Microsoft Clip Organizer\j0078719.wmf"/>
          <p:cNvPicPr>
            <a:picLocks noChangeAspect="1" noChangeArrowheads="1"/>
          </p:cNvPicPr>
          <p:nvPr/>
        </p:nvPicPr>
        <p:blipFill>
          <a:blip r:embed="rId3" cstate="print"/>
          <a:srcRect/>
          <a:stretch>
            <a:fillRect/>
          </a:stretch>
        </p:blipFill>
        <p:spPr bwMode="auto">
          <a:xfrm>
            <a:off x="7572396" y="285728"/>
            <a:ext cx="1040031" cy="3697357"/>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Example: Quality Debt at a Point of Time</a:t>
            </a:r>
            <a:endParaRPr lang="fi-FI" dirty="0"/>
          </a:p>
        </p:txBody>
      </p:sp>
      <p:graphicFrame>
        <p:nvGraphicFramePr>
          <p:cNvPr id="4" name="Table 3"/>
          <p:cNvGraphicFramePr>
            <a:graphicFrameLocks noGrp="1"/>
          </p:cNvGraphicFramePr>
          <p:nvPr/>
        </p:nvGraphicFramePr>
        <p:xfrm>
          <a:off x="142844" y="1643050"/>
          <a:ext cx="9001156" cy="4071965"/>
        </p:xfrm>
        <a:graphic>
          <a:graphicData uri="http://schemas.openxmlformats.org/drawingml/2006/table">
            <a:tbl>
              <a:tblPr/>
              <a:tblGrid>
                <a:gridCol w="1671644"/>
                <a:gridCol w="570609"/>
                <a:gridCol w="570609"/>
                <a:gridCol w="589362"/>
                <a:gridCol w="546499"/>
                <a:gridCol w="281286"/>
                <a:gridCol w="281286"/>
                <a:gridCol w="281286"/>
                <a:gridCol w="281286"/>
                <a:gridCol w="281286"/>
                <a:gridCol w="281286"/>
                <a:gridCol w="281286"/>
                <a:gridCol w="281286"/>
                <a:gridCol w="281286"/>
                <a:gridCol w="281286"/>
                <a:gridCol w="375048"/>
                <a:gridCol w="375048"/>
                <a:gridCol w="375048"/>
                <a:gridCol w="160734"/>
                <a:gridCol w="953695"/>
              </a:tblGrid>
              <a:tr h="284091">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gridSpan="5">
                  <a:txBody>
                    <a:bodyPr/>
                    <a:lstStyle/>
                    <a:p>
                      <a:pPr algn="ctr" fontAlgn="b"/>
                      <a:r>
                        <a:rPr lang="en-US" sz="900" b="1" i="0" u="none" strike="noStrike" dirty="0">
                          <a:solidFill>
                            <a:srgbClr val="FFFFFF"/>
                          </a:solidFill>
                          <a:latin typeface="Calibri"/>
                        </a:rPr>
                        <a:t>SHORT-TERM DEBT</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953735"/>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gridSpan="5">
                  <a:txBody>
                    <a:bodyPr/>
                    <a:lstStyle/>
                    <a:p>
                      <a:pPr algn="ctr" fontAlgn="b"/>
                      <a:r>
                        <a:rPr lang="en-US" sz="900" b="1" i="0" u="none" strike="noStrike" dirty="0">
                          <a:solidFill>
                            <a:srgbClr val="FFFFFF"/>
                          </a:solidFill>
                          <a:latin typeface="Calibri"/>
                        </a:rPr>
                        <a:t>LONG-TERM DEBT</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376091"/>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a:txBody>
                    <a:bodyPr/>
                    <a:lstStyle/>
                    <a:p>
                      <a:pPr algn="l" fontAlgn="b"/>
                      <a:endParaRPr lang="en-US" sz="9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r>
              <a:tr h="500541">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w="6350" cap="flat" cmpd="sng" algn="ctr">
                      <a:solidFill>
                        <a:srgbClr val="C0504D"/>
                      </a:solidFill>
                      <a:prstDash val="solid"/>
                      <a:round/>
                      <a:headEnd type="none" w="med" len="med"/>
                      <a:tailEnd type="none" w="med" len="med"/>
                    </a:lnB>
                  </a:tcPr>
                </a:tc>
                <a:tc gridSpan="2">
                  <a:txBody>
                    <a:bodyPr/>
                    <a:lstStyle/>
                    <a:p>
                      <a:pPr algn="ctr" fontAlgn="b"/>
                      <a:r>
                        <a:rPr lang="en-US" sz="900" b="0" i="0" u="none" strike="noStrike" dirty="0">
                          <a:solidFill>
                            <a:srgbClr val="000000"/>
                          </a:solidFill>
                          <a:latin typeface="Calibri"/>
                        </a:rPr>
                        <a:t>PER SEVERITIES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hMerge="1">
                  <a:txBody>
                    <a:bodyPr/>
                    <a:lstStyle/>
                    <a:p>
                      <a:endParaRPr lang="fi-FI"/>
                    </a:p>
                  </a:txBody>
                  <a:tcPr/>
                </a:tc>
                <a:tc gridSpan="3">
                  <a:txBody>
                    <a:bodyPr/>
                    <a:lstStyle/>
                    <a:p>
                      <a:pPr algn="ctr" fontAlgn="b"/>
                      <a:r>
                        <a:rPr lang="en-US" sz="900" b="0" i="0" u="none" strike="noStrike" dirty="0">
                          <a:solidFill>
                            <a:srgbClr val="000000"/>
                          </a:solidFill>
                          <a:latin typeface="Calibri"/>
                        </a:rPr>
                        <a:t>PER PRIORITIES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hMerge="1">
                  <a:txBody>
                    <a:bodyPr/>
                    <a:lstStyle/>
                    <a:p>
                      <a:endParaRPr lang="fi-FI"/>
                    </a:p>
                  </a:txBody>
                  <a:tcPr/>
                </a:tc>
                <a:tc hMerge="1">
                  <a:txBody>
                    <a:bodyPr/>
                    <a:lstStyle/>
                    <a:p>
                      <a:endParaRPr lang="fi-FI"/>
                    </a:p>
                  </a:txBody>
                  <a:tcPr/>
                </a:tc>
                <a:tc gridSpan="2">
                  <a:txBody>
                    <a:bodyPr/>
                    <a:lstStyle/>
                    <a:p>
                      <a:pPr algn="ctr" fontAlgn="b"/>
                      <a:r>
                        <a:rPr lang="en-US" sz="900" b="0" i="0" u="none" strike="noStrike" dirty="0">
                          <a:solidFill>
                            <a:srgbClr val="000000"/>
                          </a:solidFill>
                          <a:latin typeface="Calibri"/>
                        </a:rPr>
                        <a:t>PER SEVERITIES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hMerge="1">
                  <a:txBody>
                    <a:bodyPr/>
                    <a:lstStyle/>
                    <a:p>
                      <a:endParaRPr lang="fi-FI"/>
                    </a:p>
                  </a:txBody>
                  <a:tcPr/>
                </a:tc>
                <a:tc gridSpan="3">
                  <a:txBody>
                    <a:bodyPr/>
                    <a:lstStyle/>
                    <a:p>
                      <a:pPr algn="ctr" fontAlgn="b"/>
                      <a:r>
                        <a:rPr lang="en-US" sz="900" b="0" i="0" u="none" strike="noStrike" dirty="0">
                          <a:solidFill>
                            <a:srgbClr val="000000"/>
                          </a:solidFill>
                          <a:latin typeface="Calibri"/>
                        </a:rPr>
                        <a:t>PER PRIORITIES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hMerge="1">
                  <a:txBody>
                    <a:bodyPr/>
                    <a:lstStyle/>
                    <a:p>
                      <a:endParaRPr lang="fi-FI"/>
                    </a:p>
                  </a:txBody>
                  <a:tcPr/>
                </a:tc>
                <a:tc hMerge="1">
                  <a:txBody>
                    <a:bodyPr/>
                    <a:lstStyle/>
                    <a:p>
                      <a:endParaRPr lang="fi-FI"/>
                    </a:p>
                  </a:txBody>
                  <a:tcPr/>
                </a:tc>
                <a:tc>
                  <a:txBody>
                    <a:bodyPr/>
                    <a:lstStyle/>
                    <a:p>
                      <a:pPr algn="l" fontAlgn="b"/>
                      <a:endParaRPr lang="en-US" sz="9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r>
              <a:tr h="1095779">
                <a:tc>
                  <a:txBody>
                    <a:bodyPr/>
                    <a:lstStyle/>
                    <a:p>
                      <a:pPr algn="l" fontAlgn="b"/>
                      <a:endParaRPr lang="en-US" sz="10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TOTAL INCOMING DEBT CANDIDATES</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TOTAL OUTGOING DEBT CANDIDATES</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TRASHED - POTENTIALLY AS JUST CLEANUP</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TOTAL CHANGE TO DEBT</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UNKNOWN</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UNKNOWN</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TOTAL FIXING DEBT</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UN-</a:t>
                      </a:r>
                      <a:br>
                        <a:rPr lang="en-US" sz="900" b="0" i="0" u="none" strike="noStrike" dirty="0">
                          <a:solidFill>
                            <a:srgbClr val="000000"/>
                          </a:solidFill>
                          <a:latin typeface="Calibri"/>
                        </a:rPr>
                      </a:br>
                      <a:r>
                        <a:rPr lang="en-US" sz="900" b="0" i="0" u="none" strike="noStrike" dirty="0">
                          <a:solidFill>
                            <a:srgbClr val="000000"/>
                          </a:solidFill>
                          <a:latin typeface="Calibri"/>
                        </a:rPr>
                        <a:t>TESTED DEBT</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DEBT PERCENTAGE</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TRUE SHOULD-AVOID DEBT PERCENTAGE</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November Sprint (11/2007)</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285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171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6500"/>
                          </a:solidFill>
                          <a:latin typeface="Calibri"/>
                        </a:rPr>
                        <a:t>-114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EB9C"/>
                    </a:solidFill>
                  </a:tcPr>
                </a:tc>
                <a:tc>
                  <a:txBody>
                    <a:bodyPr/>
                    <a:lstStyle/>
                    <a:p>
                      <a:pPr algn="ctr" fontAlgn="b"/>
                      <a:r>
                        <a:rPr lang="en-US" sz="900" b="0" i="0" u="none" strike="noStrike" dirty="0">
                          <a:solidFill>
                            <a:srgbClr val="000000"/>
                          </a:solidFill>
                          <a:latin typeface="Calibri"/>
                        </a:rPr>
                        <a:t>10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a:noFill/>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0,4%</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December Sprint (12/2007)</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218</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6500"/>
                          </a:solidFill>
                          <a:latin typeface="Calibri"/>
                        </a:rPr>
                        <a:t>-64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EB9C"/>
                    </a:solidFill>
                  </a:tcPr>
                </a:tc>
                <a:tc>
                  <a:txBody>
                    <a:bodyPr/>
                    <a:lstStyle/>
                    <a:p>
                      <a:pPr algn="ctr" fontAlgn="b"/>
                      <a:r>
                        <a:rPr lang="en-US" sz="900" b="0" i="0" u="none" strike="noStrike" dirty="0">
                          <a:solidFill>
                            <a:srgbClr val="000000"/>
                          </a:solidFill>
                          <a:latin typeface="Calibri"/>
                        </a:rPr>
                        <a:t>11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0,5%</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January Sprint (01/2008)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190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17</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17</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8</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1,6%</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February Sprint (02/2008)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159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128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0006"/>
                          </a:solidFill>
                          <a:latin typeface="Calibri"/>
                        </a:rPr>
                        <a:t>-31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C7CE"/>
                    </a:solidFill>
                  </a:tcPr>
                </a:tc>
                <a:tc>
                  <a:txBody>
                    <a:bodyPr/>
                    <a:lstStyle/>
                    <a:p>
                      <a:pPr algn="ctr" fontAlgn="b"/>
                      <a:r>
                        <a:rPr lang="en-US" sz="900" b="0" i="0" u="none" strike="noStrike" dirty="0">
                          <a:solidFill>
                            <a:srgbClr val="000000"/>
                          </a:solidFill>
                          <a:latin typeface="Calibri"/>
                        </a:rPr>
                        <a:t>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3,8%</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March Sprint (03/2008)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226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136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1,4%</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April Sprint (03/2008)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239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330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149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91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14</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22,2%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5,9%</a:t>
                      </a:r>
                    </a:p>
                  </a:txBody>
                  <a:tcPr marL="0" marR="0" marT="0" marB="0" anchor="b">
                    <a:lnL>
                      <a:noFill/>
                    </a:lnL>
                    <a:lnR>
                      <a:noFill/>
                    </a:lnR>
                    <a:lnT>
                      <a:noFill/>
                    </a:lnT>
                    <a:lnB>
                      <a:noFill/>
                    </a:lnB>
                  </a:tcPr>
                </a:tc>
              </a:tr>
              <a:tr h="284091">
                <a:tc>
                  <a:txBody>
                    <a:bodyPr/>
                    <a:lstStyle/>
                    <a:p>
                      <a:pPr algn="l" fontAlgn="b"/>
                      <a:r>
                        <a:rPr lang="en-US" sz="900" b="0" i="0" u="none" strike="noStrike" dirty="0">
                          <a:solidFill>
                            <a:srgbClr val="000000"/>
                          </a:solidFill>
                          <a:latin typeface="Calibri"/>
                        </a:rPr>
                        <a:t>May Sprint (03/2008)</a:t>
                      </a:r>
                    </a:p>
                  </a:txBody>
                  <a:tcPr marL="0" marR="0" marT="0" marB="0" anchor="b">
                    <a:lnL>
                      <a:noFill/>
                    </a:lnL>
                    <a:lnR w="12700" cap="flat" cmpd="sng" algn="ctr">
                      <a:solidFill>
                        <a:srgbClr val="C0504D"/>
                      </a:solidFill>
                      <a:prstDash val="solid"/>
                      <a:round/>
                      <a:headEnd type="none" w="med" len="med"/>
                      <a:tailEnd type="none" w="med" len="med"/>
                    </a:lnR>
                    <a:lnT>
                      <a:noFill/>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316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376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362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52</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24</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96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30,4%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7,6%</a:t>
                      </a:r>
                    </a:p>
                  </a:txBody>
                  <a:tcPr marL="0" marR="0" marT="0" marB="0" anchor="b">
                    <a:lnL>
                      <a:noFill/>
                    </a:lnL>
                    <a:lnR>
                      <a:noFill/>
                    </a:lnR>
                    <a:lnT>
                      <a:noFill/>
                    </a:lnT>
                    <a:lnB>
                      <a:noFill/>
                    </a:lnB>
                  </a:tcPr>
                </a:tc>
              </a:tr>
              <a:tr h="284091">
                <a:tc>
                  <a:txBody>
                    <a:bodyPr/>
                    <a:lstStyle/>
                    <a:p>
                      <a:pPr algn="l" fontAlgn="b"/>
                      <a:r>
                        <a:rPr lang="en-US" sz="900" b="0" i="0" u="none" strike="noStrike" dirty="0">
                          <a:solidFill>
                            <a:srgbClr val="000000"/>
                          </a:solidFill>
                          <a:latin typeface="Calibri"/>
                        </a:rPr>
                        <a:t>TOTALS OVER PRODUCT LINE LIFECYCLE</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18083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16962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 </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-1121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280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312</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76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F0000"/>
                    </a:solidFill>
                  </a:tcPr>
                </a:tc>
                <a:tc>
                  <a:txBody>
                    <a:bodyPr/>
                    <a:lstStyle/>
                    <a:p>
                      <a:pPr algn="ctr" fontAlgn="b"/>
                      <a:r>
                        <a:rPr lang="en-US" sz="900" b="0" i="0" u="none" strike="noStrike" dirty="0">
                          <a:solidFill>
                            <a:srgbClr val="000000"/>
                          </a:solidFill>
                          <a:latin typeface="Calibri"/>
                        </a:rPr>
                        <a:t>396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120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176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353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535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57</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l" fontAlgn="b"/>
                      <a:endParaRPr lang="en-US" sz="10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0,4%</a:t>
                      </a:r>
                    </a:p>
                  </a:txBody>
                  <a:tcPr marL="0" marR="0" marT="0" marB="0" anchor="b">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5286380" y="5953148"/>
          <a:ext cx="2540001" cy="762000"/>
        </p:xfrm>
        <a:graphic>
          <a:graphicData uri="http://schemas.openxmlformats.org/drawingml/2006/table">
            <a:tbl>
              <a:tblPr/>
              <a:tblGrid>
                <a:gridCol w="1331836"/>
                <a:gridCol w="332959"/>
                <a:gridCol w="437603"/>
                <a:gridCol w="437603"/>
              </a:tblGrid>
              <a:tr h="190500">
                <a:tc gridSpan="4">
                  <a:txBody>
                    <a:bodyPr/>
                    <a:lstStyle/>
                    <a:p>
                      <a:pPr algn="l" fontAlgn="b"/>
                      <a:r>
                        <a:rPr lang="en-US" sz="1100" b="1" i="0" u="none" strike="noStrike" dirty="0">
                          <a:solidFill>
                            <a:srgbClr val="000000"/>
                          </a:solidFill>
                          <a:latin typeface="Calibri"/>
                        </a:rPr>
                        <a:t>Trend: 6 month average debt percentage</a:t>
                      </a:r>
                    </a:p>
                  </a:txBody>
                  <a:tcPr marL="0" marR="0" marT="0" marB="0" anchor="b">
                    <a:lnL>
                      <a:noFill/>
                    </a:lnL>
                    <a:lnR>
                      <a:noFill/>
                    </a:lnR>
                    <a:lnT>
                      <a:noFill/>
                    </a:lnT>
                    <a:lnB>
                      <a:noFill/>
                    </a:lnB>
                  </a:tcPr>
                </a:tc>
                <a:tc hMerge="1">
                  <a:txBody>
                    <a:bodyPr/>
                    <a:lstStyle/>
                    <a:p>
                      <a:endParaRPr lang="fi-FI"/>
                    </a:p>
                  </a:txBody>
                  <a:tcPr/>
                </a:tc>
                <a:tc hMerge="1">
                  <a:txBody>
                    <a:bodyPr/>
                    <a:lstStyle/>
                    <a:p>
                      <a:endParaRPr lang="fi-FI"/>
                    </a:p>
                  </a:txBody>
                  <a:tcPr/>
                </a:tc>
                <a:tc hMerge="1">
                  <a:txBody>
                    <a:bodyPr/>
                    <a:lstStyle/>
                    <a:p>
                      <a:endParaRPr lang="fi-FI"/>
                    </a:p>
                  </a:txBody>
                  <a:tcPr/>
                </a:tc>
              </a:tr>
              <a:tr h="190500">
                <a:tc gridSpan="3">
                  <a:txBody>
                    <a:bodyPr/>
                    <a:lstStyle/>
                    <a:p>
                      <a:pPr algn="l" fontAlgn="b"/>
                      <a:r>
                        <a:rPr lang="en-US" sz="1100" b="1" i="0" u="none" strike="noStrike" dirty="0">
                          <a:solidFill>
                            <a:srgbClr val="000000"/>
                          </a:solidFill>
                          <a:latin typeface="Calibri"/>
                        </a:rPr>
                        <a:t>Looking at it now (start-of-June)</a:t>
                      </a:r>
                    </a:p>
                  </a:txBody>
                  <a:tcPr marL="0" marR="0" marT="0" marB="0" anchor="b">
                    <a:lnL>
                      <a:noFill/>
                    </a:lnL>
                    <a:lnR>
                      <a:noFill/>
                    </a:lnR>
                    <a:lnT>
                      <a:noFill/>
                    </a:lnT>
                    <a:lnB>
                      <a:noFill/>
                    </a:lnB>
                  </a:tcPr>
                </a:tc>
                <a:tc hMerge="1">
                  <a:txBody>
                    <a:bodyPr/>
                    <a:lstStyle/>
                    <a:p>
                      <a:endParaRPr lang="fi-FI"/>
                    </a:p>
                  </a:txBody>
                  <a:tcPr/>
                </a:tc>
                <a:tc hMerge="1">
                  <a:txBody>
                    <a:bodyPr/>
                    <a:lstStyle/>
                    <a:p>
                      <a:endParaRPr lang="fi-FI"/>
                    </a:p>
                  </a:txBody>
                  <a:tcPr/>
                </a:tc>
                <a:tc>
                  <a:txBody>
                    <a:bodyPr/>
                    <a:lstStyle/>
                    <a:p>
                      <a:pPr algn="r" fontAlgn="b"/>
                      <a:r>
                        <a:rPr lang="en-US" sz="1100" b="1" i="0" u="none" strike="noStrike" dirty="0">
                          <a:solidFill>
                            <a:srgbClr val="000000"/>
                          </a:solidFill>
                          <a:latin typeface="Calibri"/>
                        </a:rPr>
                        <a:t>19,4%</a:t>
                      </a:r>
                    </a:p>
                  </a:txBody>
                  <a:tcPr marL="0" marR="0" marT="0" marB="0" anchor="b">
                    <a:lnL>
                      <a:noFill/>
                    </a:lnL>
                    <a:lnR>
                      <a:noFill/>
                    </a:lnR>
                    <a:lnT>
                      <a:noFill/>
                    </a:lnT>
                    <a:lnB>
                      <a:noFill/>
                    </a:lnB>
                  </a:tcPr>
                </a:tc>
              </a:tr>
              <a:tr h="190500">
                <a:tc gridSpan="2">
                  <a:txBody>
                    <a:bodyPr/>
                    <a:lstStyle/>
                    <a:p>
                      <a:pPr algn="l" fontAlgn="b"/>
                      <a:r>
                        <a:rPr lang="en-US" sz="1100" b="1" i="0" u="none" strike="noStrike" dirty="0">
                          <a:solidFill>
                            <a:srgbClr val="000000"/>
                          </a:solidFill>
                          <a:latin typeface="Calibri"/>
                        </a:rPr>
                        <a:t>Looking at it start-of-April</a:t>
                      </a:r>
                    </a:p>
                  </a:txBody>
                  <a:tcPr marL="0" marR="0" marT="0" marB="0" anchor="b">
                    <a:lnL>
                      <a:noFill/>
                    </a:lnL>
                    <a:lnR>
                      <a:noFill/>
                    </a:lnR>
                    <a:lnT>
                      <a:noFill/>
                    </a:lnT>
                    <a:lnB>
                      <a:noFill/>
                    </a:lnB>
                  </a:tcPr>
                </a:tc>
                <a:tc hMerge="1">
                  <a:txBody>
                    <a:bodyPr/>
                    <a:lstStyle/>
                    <a:p>
                      <a:endParaRPr lang="fi-FI"/>
                    </a:p>
                  </a:txBody>
                  <a:tcPr/>
                </a:tc>
                <a:tc>
                  <a:txBody>
                    <a:bodyPr/>
                    <a:lstStyle/>
                    <a:p>
                      <a:pPr algn="l" fontAlgn="b"/>
                      <a:endParaRPr lang="en-US"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r" fontAlgn="b"/>
                      <a:r>
                        <a:rPr lang="en-US" sz="1100" b="1" i="0" u="none" strike="noStrike" dirty="0">
                          <a:solidFill>
                            <a:srgbClr val="000000"/>
                          </a:solidFill>
                          <a:latin typeface="Calibri"/>
                        </a:rPr>
                        <a:t>38,2%</a:t>
                      </a:r>
                    </a:p>
                  </a:txBody>
                  <a:tcPr marL="0" marR="0" marT="0" marB="0" anchor="b">
                    <a:lnL>
                      <a:noFill/>
                    </a:lnL>
                    <a:lnR>
                      <a:noFill/>
                    </a:lnR>
                    <a:lnT>
                      <a:noFill/>
                    </a:lnT>
                    <a:lnB>
                      <a:noFill/>
                    </a:lnB>
                  </a:tcPr>
                </a:tc>
              </a:tr>
              <a:tr h="190500">
                <a:tc>
                  <a:txBody>
                    <a:bodyPr/>
                    <a:lstStyle/>
                    <a:p>
                      <a:pPr algn="l" fontAlgn="b"/>
                      <a:r>
                        <a:rPr lang="en-US" sz="1100" b="1" i="0" u="none" strike="noStrike" dirty="0">
                          <a:solidFill>
                            <a:srgbClr val="000000"/>
                          </a:solidFill>
                          <a:latin typeface="Calibri"/>
                        </a:rPr>
                        <a:t>Looking at it last July</a:t>
                      </a:r>
                    </a:p>
                  </a:txBody>
                  <a:tcPr marL="0" marR="0" marT="0" marB="0" anchor="b">
                    <a:lnL>
                      <a:noFill/>
                    </a:lnL>
                    <a:lnR>
                      <a:noFill/>
                    </a:lnR>
                    <a:lnT>
                      <a:noFill/>
                    </a:lnT>
                    <a:lnB>
                      <a:noFill/>
                    </a:lnB>
                  </a:tcPr>
                </a:tc>
                <a:tc>
                  <a:txBody>
                    <a:bodyPr/>
                    <a:lstStyle/>
                    <a:p>
                      <a:pPr algn="l" fontAlgn="b"/>
                      <a:endParaRPr lang="en-US" sz="1100" b="1"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r" fontAlgn="b"/>
                      <a:r>
                        <a:rPr lang="en-US" sz="1100" b="1" i="0" u="none" strike="noStrike" dirty="0">
                          <a:solidFill>
                            <a:srgbClr val="000000"/>
                          </a:solidFill>
                          <a:latin typeface="Calibri"/>
                        </a:rPr>
                        <a:t>26,0%</a:t>
                      </a:r>
                    </a:p>
                  </a:txBody>
                  <a:tcPr marL="0" marR="0" marT="0" marB="0" anchor="b">
                    <a:lnL>
                      <a:noFill/>
                    </a:lnL>
                    <a:lnR>
                      <a:noFill/>
                    </a:lnR>
                    <a:lnT>
                      <a:noFill/>
                    </a:lnT>
                    <a:lnB>
                      <a:noFill/>
                    </a:lnB>
                  </a:tcPr>
                </a:tc>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42844" y="1643050"/>
          <a:ext cx="9001156" cy="4071965"/>
        </p:xfrm>
        <a:graphic>
          <a:graphicData uri="http://schemas.openxmlformats.org/drawingml/2006/table">
            <a:tbl>
              <a:tblPr/>
              <a:tblGrid>
                <a:gridCol w="1671644"/>
                <a:gridCol w="570609"/>
                <a:gridCol w="570609"/>
                <a:gridCol w="589362"/>
                <a:gridCol w="546499"/>
                <a:gridCol w="281286"/>
                <a:gridCol w="281286"/>
                <a:gridCol w="281286"/>
                <a:gridCol w="281286"/>
                <a:gridCol w="281286"/>
                <a:gridCol w="281286"/>
                <a:gridCol w="281286"/>
                <a:gridCol w="281286"/>
                <a:gridCol w="281286"/>
                <a:gridCol w="281286"/>
                <a:gridCol w="375048"/>
                <a:gridCol w="375048"/>
                <a:gridCol w="375048"/>
                <a:gridCol w="160734"/>
                <a:gridCol w="953695"/>
              </a:tblGrid>
              <a:tr h="284091">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gridSpan="5">
                  <a:txBody>
                    <a:bodyPr/>
                    <a:lstStyle/>
                    <a:p>
                      <a:pPr algn="ctr" fontAlgn="b"/>
                      <a:r>
                        <a:rPr lang="en-US" sz="900" b="1" i="0" u="none" strike="noStrike" dirty="0">
                          <a:solidFill>
                            <a:srgbClr val="FFFFFF"/>
                          </a:solidFill>
                          <a:latin typeface="Calibri"/>
                        </a:rPr>
                        <a:t>SHORT-TERM DEBT</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953735"/>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gridSpan="5">
                  <a:txBody>
                    <a:bodyPr/>
                    <a:lstStyle/>
                    <a:p>
                      <a:pPr algn="ctr" fontAlgn="b"/>
                      <a:r>
                        <a:rPr lang="en-US" sz="900" b="1" i="0" u="none" strike="noStrike" dirty="0">
                          <a:solidFill>
                            <a:srgbClr val="FFFFFF"/>
                          </a:solidFill>
                          <a:latin typeface="Calibri"/>
                        </a:rPr>
                        <a:t>LONG-TERM DEBT</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376091"/>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a:txBody>
                    <a:bodyPr/>
                    <a:lstStyle/>
                    <a:p>
                      <a:pPr algn="l" fontAlgn="b"/>
                      <a:endParaRPr lang="en-US" sz="9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r>
              <a:tr h="500541">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w="6350" cap="flat" cmpd="sng" algn="ctr">
                      <a:solidFill>
                        <a:srgbClr val="C0504D"/>
                      </a:solidFill>
                      <a:prstDash val="solid"/>
                      <a:round/>
                      <a:headEnd type="none" w="med" len="med"/>
                      <a:tailEnd type="none" w="med" len="med"/>
                    </a:lnB>
                  </a:tcPr>
                </a:tc>
                <a:tc gridSpan="2">
                  <a:txBody>
                    <a:bodyPr/>
                    <a:lstStyle/>
                    <a:p>
                      <a:pPr algn="ctr" fontAlgn="b"/>
                      <a:r>
                        <a:rPr lang="en-US" sz="900" b="0" i="0" u="none" strike="noStrike" dirty="0">
                          <a:solidFill>
                            <a:srgbClr val="000000"/>
                          </a:solidFill>
                          <a:latin typeface="Calibri"/>
                        </a:rPr>
                        <a:t>PER SEVERITIES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hMerge="1">
                  <a:txBody>
                    <a:bodyPr/>
                    <a:lstStyle/>
                    <a:p>
                      <a:endParaRPr lang="fi-FI"/>
                    </a:p>
                  </a:txBody>
                  <a:tcPr/>
                </a:tc>
                <a:tc gridSpan="3">
                  <a:txBody>
                    <a:bodyPr/>
                    <a:lstStyle/>
                    <a:p>
                      <a:pPr algn="ctr" fontAlgn="b"/>
                      <a:r>
                        <a:rPr lang="en-US" sz="900" b="0" i="0" u="none" strike="noStrike" dirty="0">
                          <a:solidFill>
                            <a:srgbClr val="000000"/>
                          </a:solidFill>
                          <a:latin typeface="Calibri"/>
                        </a:rPr>
                        <a:t>PER PRIORITIES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hMerge="1">
                  <a:txBody>
                    <a:bodyPr/>
                    <a:lstStyle/>
                    <a:p>
                      <a:endParaRPr lang="fi-FI"/>
                    </a:p>
                  </a:txBody>
                  <a:tcPr/>
                </a:tc>
                <a:tc hMerge="1">
                  <a:txBody>
                    <a:bodyPr/>
                    <a:lstStyle/>
                    <a:p>
                      <a:endParaRPr lang="fi-FI"/>
                    </a:p>
                  </a:txBody>
                  <a:tcPr/>
                </a:tc>
                <a:tc gridSpan="2">
                  <a:txBody>
                    <a:bodyPr/>
                    <a:lstStyle/>
                    <a:p>
                      <a:pPr algn="ctr" fontAlgn="b"/>
                      <a:r>
                        <a:rPr lang="en-US" sz="900" b="0" i="0" u="none" strike="noStrike" dirty="0">
                          <a:solidFill>
                            <a:srgbClr val="000000"/>
                          </a:solidFill>
                          <a:latin typeface="Calibri"/>
                        </a:rPr>
                        <a:t>PER SEVERITIES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hMerge="1">
                  <a:txBody>
                    <a:bodyPr/>
                    <a:lstStyle/>
                    <a:p>
                      <a:endParaRPr lang="fi-FI"/>
                    </a:p>
                  </a:txBody>
                  <a:tcPr/>
                </a:tc>
                <a:tc gridSpan="3">
                  <a:txBody>
                    <a:bodyPr/>
                    <a:lstStyle/>
                    <a:p>
                      <a:pPr algn="ctr" fontAlgn="b"/>
                      <a:r>
                        <a:rPr lang="en-US" sz="900" b="0" i="0" u="none" strike="noStrike" dirty="0">
                          <a:solidFill>
                            <a:srgbClr val="000000"/>
                          </a:solidFill>
                          <a:latin typeface="Calibri"/>
                        </a:rPr>
                        <a:t>PER PRIORITIES</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hMerge="1">
                  <a:txBody>
                    <a:bodyPr/>
                    <a:lstStyle/>
                    <a:p>
                      <a:endParaRPr lang="fi-FI"/>
                    </a:p>
                  </a:txBody>
                  <a:tcPr/>
                </a:tc>
                <a:tc hMerge="1">
                  <a:txBody>
                    <a:bodyPr/>
                    <a:lstStyle/>
                    <a:p>
                      <a:endParaRPr lang="fi-FI"/>
                    </a:p>
                  </a:txBody>
                  <a:tcPr/>
                </a:tc>
                <a:tc>
                  <a:txBody>
                    <a:bodyPr/>
                    <a:lstStyle/>
                    <a:p>
                      <a:pPr algn="l" fontAlgn="b"/>
                      <a:endParaRPr lang="en-US" sz="9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0" marR="0" marT="0" marB="0" anchor="b">
                    <a:lnL>
                      <a:noFill/>
                    </a:lnL>
                    <a:lnR>
                      <a:noFill/>
                    </a:lnR>
                    <a:lnT>
                      <a:noFill/>
                    </a:lnT>
                    <a:lnB w="6350" cap="flat" cmpd="sng" algn="ctr">
                      <a:solidFill>
                        <a:srgbClr val="C0504D"/>
                      </a:solidFill>
                      <a:prstDash val="solid"/>
                      <a:round/>
                      <a:headEnd type="none" w="med" len="med"/>
                      <a:tailEnd type="none" w="med" len="med"/>
                    </a:lnB>
                  </a:tcPr>
                </a:tc>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r>
              <a:tr h="1095779">
                <a:tc>
                  <a:txBody>
                    <a:bodyPr/>
                    <a:lstStyle/>
                    <a:p>
                      <a:pPr algn="l" fontAlgn="b"/>
                      <a:endParaRPr lang="en-US" sz="1000" b="0" i="0" u="none" strike="noStrike" dirty="0">
                        <a:solidFill>
                          <a:srgbClr val="000000"/>
                        </a:solidFill>
                        <a:latin typeface="Calibri"/>
                      </a:endParaRP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TOTAL INCOMING DEBT CANDIDATES</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TOTAL OUTGOING DEBT CANDIDATES</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TRASHED - POTENTIALLY AS JUST CLEANUP</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TOTAL CHANGE TO DEBT</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UNKNOWN</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HIGH</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LOW</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UNKNOWN</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TOTAL FIXING DEBT</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UN-</a:t>
                      </a:r>
                      <a:br>
                        <a:rPr lang="en-US" sz="900" b="0" i="0" u="none" strike="noStrike" dirty="0">
                          <a:solidFill>
                            <a:srgbClr val="000000"/>
                          </a:solidFill>
                          <a:latin typeface="Calibri"/>
                        </a:rPr>
                      </a:br>
                      <a:r>
                        <a:rPr lang="en-US" sz="900" b="0" i="0" u="none" strike="noStrike" dirty="0">
                          <a:solidFill>
                            <a:srgbClr val="000000"/>
                          </a:solidFill>
                          <a:latin typeface="Calibri"/>
                        </a:rPr>
                        <a:t>TESTED DEBT</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DEBT PERCENTAGE</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a:noFill/>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TRUE SHOULD-AVOID DEBT PERCENTAGE</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November Sprint (11/2007)</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285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171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6500"/>
                          </a:solidFill>
                          <a:latin typeface="Calibri"/>
                        </a:rPr>
                        <a:t>-114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EB9C"/>
                    </a:solidFill>
                  </a:tcPr>
                </a:tc>
                <a:tc>
                  <a:txBody>
                    <a:bodyPr/>
                    <a:lstStyle/>
                    <a:p>
                      <a:pPr algn="ctr" fontAlgn="b"/>
                      <a:r>
                        <a:rPr lang="en-US" sz="900" b="0" i="0" u="none" strike="noStrike" dirty="0">
                          <a:solidFill>
                            <a:srgbClr val="000000"/>
                          </a:solidFill>
                          <a:latin typeface="Calibri"/>
                        </a:rPr>
                        <a:t>10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a:noFill/>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0,4%</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December Sprint (12/2007)</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218</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6500"/>
                          </a:solidFill>
                          <a:latin typeface="Calibri"/>
                        </a:rPr>
                        <a:t>-64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EB9C"/>
                    </a:solidFill>
                  </a:tcPr>
                </a:tc>
                <a:tc>
                  <a:txBody>
                    <a:bodyPr/>
                    <a:lstStyle/>
                    <a:p>
                      <a:pPr algn="ctr" fontAlgn="b"/>
                      <a:r>
                        <a:rPr lang="en-US" sz="900" b="0" i="0" u="none" strike="noStrike" dirty="0">
                          <a:solidFill>
                            <a:srgbClr val="000000"/>
                          </a:solidFill>
                          <a:latin typeface="Calibri"/>
                        </a:rPr>
                        <a:t>11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0,5%</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January Sprint (01/2008)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190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17</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17</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8</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1,6%</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February Sprint (02/2008)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159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128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9C0006"/>
                          </a:solidFill>
                          <a:latin typeface="Calibri"/>
                        </a:rPr>
                        <a:t>-31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FFC7CE"/>
                    </a:solidFill>
                  </a:tcPr>
                </a:tc>
                <a:tc>
                  <a:txBody>
                    <a:bodyPr/>
                    <a:lstStyle/>
                    <a:p>
                      <a:pPr algn="ctr" fontAlgn="b"/>
                      <a:r>
                        <a:rPr lang="en-US" sz="900" b="0" i="0" u="none" strike="noStrike" dirty="0">
                          <a:solidFill>
                            <a:srgbClr val="000000"/>
                          </a:solidFill>
                          <a:latin typeface="Calibri"/>
                        </a:rPr>
                        <a:t>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20,8%</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3,8%</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March Sprint (03/2008)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226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136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15,9%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1,4%</a:t>
                      </a:r>
                    </a:p>
                  </a:txBody>
                  <a:tcPr marL="0" marR="0" marT="0" marB="0" anchor="b">
                    <a:lnL>
                      <a:noFill/>
                    </a:lnL>
                    <a:lnR>
                      <a:noFill/>
                    </a:lnR>
                    <a:lnT>
                      <a:noFill/>
                    </a:lnT>
                    <a:lnB>
                      <a:noFill/>
                    </a:lnB>
                  </a:tcPr>
                </a:tc>
              </a:tr>
              <a:tr h="270562">
                <a:tc>
                  <a:txBody>
                    <a:bodyPr/>
                    <a:lstStyle/>
                    <a:p>
                      <a:pPr algn="l" fontAlgn="b"/>
                      <a:r>
                        <a:rPr lang="en-US" sz="900" b="0" i="0" u="none" strike="noStrike" dirty="0">
                          <a:solidFill>
                            <a:srgbClr val="000000"/>
                          </a:solidFill>
                          <a:latin typeface="Calibri"/>
                        </a:rPr>
                        <a:t>April Sprint (03/2008)</a:t>
                      </a:r>
                    </a:p>
                  </a:txBody>
                  <a:tcPr marL="0" marR="0" marT="0" marB="0" anchor="b">
                    <a:lnL>
                      <a:noFill/>
                    </a:lnL>
                    <a:lnR w="12700" cap="flat" cmpd="sng" algn="ctr">
                      <a:solidFill>
                        <a:srgbClr val="C0504D"/>
                      </a:solidFill>
                      <a:prstDash val="solid"/>
                      <a:round/>
                      <a:headEnd type="none" w="med" len="med"/>
                      <a:tailEnd type="none" w="med" len="med"/>
                    </a:lnR>
                    <a:lnT>
                      <a:noFill/>
                    </a:lnT>
                    <a:lnB>
                      <a:noFill/>
                    </a:lnB>
                  </a:tcPr>
                </a:tc>
                <a:tc>
                  <a:txBody>
                    <a:bodyPr/>
                    <a:lstStyle/>
                    <a:p>
                      <a:pPr algn="ctr" fontAlgn="b"/>
                      <a:r>
                        <a:rPr lang="en-US" sz="900" b="0" i="0" u="none" strike="noStrike" dirty="0">
                          <a:solidFill>
                            <a:srgbClr val="000000"/>
                          </a:solidFill>
                          <a:latin typeface="Calibri"/>
                        </a:rPr>
                        <a:t>239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330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149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91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29</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34</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14</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39</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22,2%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635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5,9%</a:t>
                      </a:r>
                    </a:p>
                  </a:txBody>
                  <a:tcPr marL="0" marR="0" marT="0" marB="0" anchor="b">
                    <a:lnL>
                      <a:noFill/>
                    </a:lnL>
                    <a:lnR>
                      <a:noFill/>
                    </a:lnR>
                    <a:lnT>
                      <a:noFill/>
                    </a:lnT>
                    <a:lnB>
                      <a:noFill/>
                    </a:lnB>
                  </a:tcPr>
                </a:tc>
              </a:tr>
              <a:tr h="284091">
                <a:tc>
                  <a:txBody>
                    <a:bodyPr/>
                    <a:lstStyle/>
                    <a:p>
                      <a:pPr algn="l" fontAlgn="b"/>
                      <a:r>
                        <a:rPr lang="en-US" sz="900" b="0" i="0" u="none" strike="noStrike" dirty="0">
                          <a:solidFill>
                            <a:srgbClr val="000000"/>
                          </a:solidFill>
                          <a:latin typeface="Calibri"/>
                        </a:rPr>
                        <a:t>May Sprint (03/2008)</a:t>
                      </a:r>
                    </a:p>
                  </a:txBody>
                  <a:tcPr marL="0" marR="0" marT="0" marB="0" anchor="b">
                    <a:lnL>
                      <a:noFill/>
                    </a:lnL>
                    <a:lnR w="12700" cap="flat" cmpd="sng" algn="ctr">
                      <a:solidFill>
                        <a:srgbClr val="C0504D"/>
                      </a:solidFill>
                      <a:prstDash val="solid"/>
                      <a:round/>
                      <a:headEnd type="none" w="med" len="med"/>
                      <a:tailEnd type="none" w="med" len="med"/>
                    </a:lnR>
                    <a:lnT>
                      <a:noFill/>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316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376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362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60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52</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56</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24</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61</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23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3</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96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30,4%</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635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endParaRPr lang="en-US" sz="1000" b="0" i="0" u="none" strike="noStrike" dirty="0">
                        <a:solidFill>
                          <a:srgbClr val="000000"/>
                        </a:solidFill>
                        <a:latin typeface="Calibri"/>
                      </a:endParaRPr>
                    </a:p>
                  </a:txBody>
                  <a:tcPr marL="0" marR="0" marT="0" marB="0" anchor="b">
                    <a:lnL w="635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7,6%</a:t>
                      </a:r>
                    </a:p>
                  </a:txBody>
                  <a:tcPr marL="0" marR="0" marT="0" marB="0" anchor="b">
                    <a:lnL>
                      <a:noFill/>
                    </a:lnL>
                    <a:lnR>
                      <a:noFill/>
                    </a:lnR>
                    <a:lnT>
                      <a:noFill/>
                    </a:lnT>
                    <a:lnB>
                      <a:noFill/>
                    </a:lnB>
                  </a:tcPr>
                </a:tc>
              </a:tr>
              <a:tr h="284091">
                <a:tc>
                  <a:txBody>
                    <a:bodyPr/>
                    <a:lstStyle/>
                    <a:p>
                      <a:pPr algn="l" fontAlgn="b"/>
                      <a:r>
                        <a:rPr lang="en-US" sz="900" b="0" i="0" u="none" strike="noStrike" dirty="0">
                          <a:solidFill>
                            <a:srgbClr val="000000"/>
                          </a:solidFill>
                          <a:latin typeface="Calibri"/>
                        </a:rPr>
                        <a:t>TOTALS OVER PRODUCT LINE LIFECYCLE</a:t>
                      </a:r>
                    </a:p>
                  </a:txBody>
                  <a:tcPr marL="0" marR="0" marT="0" marB="0" anchor="b">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18083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16962</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 </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-1121</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280</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312</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76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F0000"/>
                    </a:solidFill>
                  </a:tcPr>
                </a:tc>
                <a:tc>
                  <a:txBody>
                    <a:bodyPr/>
                    <a:lstStyle/>
                    <a:p>
                      <a:pPr algn="ctr" fontAlgn="b"/>
                      <a:r>
                        <a:rPr lang="en-US" sz="900" b="0" i="0" u="none" strike="noStrike" dirty="0">
                          <a:solidFill>
                            <a:srgbClr val="000000"/>
                          </a:solidFill>
                          <a:latin typeface="Calibri"/>
                        </a:rPr>
                        <a:t>396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120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176</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353</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516</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10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D8D8D8"/>
                    </a:solidFill>
                  </a:tcPr>
                </a:tc>
                <a:tc>
                  <a:txBody>
                    <a:bodyPr/>
                    <a:lstStyle/>
                    <a:p>
                      <a:pPr algn="ctr" fontAlgn="b"/>
                      <a:r>
                        <a:rPr lang="en-US" sz="900" b="0" i="0" u="none" strike="noStrike" dirty="0">
                          <a:solidFill>
                            <a:srgbClr val="000000"/>
                          </a:solidFill>
                          <a:latin typeface="Calibri"/>
                        </a:rPr>
                        <a:t>535</a:t>
                      </a:r>
                    </a:p>
                  </a:txBody>
                  <a:tcPr marL="0" marR="0" marT="0" marB="0" anchor="b">
                    <a:lnL w="1270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57</a:t>
                      </a:r>
                    </a:p>
                  </a:txBody>
                  <a:tcPr marL="0" marR="0" marT="0" marB="0" anchor="b">
                    <a:lnL w="6350" cap="flat" cmpd="sng" algn="ctr">
                      <a:solidFill>
                        <a:srgbClr val="C0504D"/>
                      </a:solidFill>
                      <a:prstDash val="solid"/>
                      <a:round/>
                      <a:headEnd type="none" w="med" len="med"/>
                      <a:tailEnd type="none" w="med" len="med"/>
                    </a:lnL>
                    <a:lnR w="635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ctr" fontAlgn="b"/>
                      <a:r>
                        <a:rPr lang="en-US" sz="900" b="0" i="0" u="none" strike="noStrike" dirty="0">
                          <a:solidFill>
                            <a:srgbClr val="000000"/>
                          </a:solidFill>
                          <a:latin typeface="Calibri"/>
                        </a:rPr>
                        <a:t>3,0%</a:t>
                      </a:r>
                    </a:p>
                  </a:txBody>
                  <a:tcPr marL="0" marR="0" marT="0" marB="0" anchor="b">
                    <a:lnL w="635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algn="l" fontAlgn="b"/>
                      <a:endParaRPr lang="en-US" sz="1000" b="0" i="0" u="none" strike="noStrike" dirty="0">
                        <a:solidFill>
                          <a:srgbClr val="000000"/>
                        </a:solidFill>
                        <a:latin typeface="Calibri"/>
                      </a:endParaRPr>
                    </a:p>
                  </a:txBody>
                  <a:tcPr marL="0" marR="0" marT="0" marB="0" anchor="b">
                    <a:lnL w="12700" cap="flat" cmpd="sng" algn="ctr">
                      <a:solidFill>
                        <a:srgbClr val="C0504D"/>
                      </a:solidFill>
                      <a:prstDash val="solid"/>
                      <a:round/>
                      <a:headEnd type="none" w="med" len="med"/>
                      <a:tailEnd type="none" w="med" len="med"/>
                    </a:lnL>
                    <a:lnR>
                      <a:noFill/>
                    </a:lnR>
                    <a:lnT>
                      <a:noFill/>
                    </a:lnT>
                    <a:lnB>
                      <a:noFill/>
                    </a:lnB>
                  </a:tcPr>
                </a:tc>
                <a:tc>
                  <a:txBody>
                    <a:bodyPr/>
                    <a:lstStyle/>
                    <a:p>
                      <a:pPr algn="ctr" fontAlgn="b"/>
                      <a:r>
                        <a:rPr lang="en-US" sz="1000" b="0" i="0" u="none" strike="noStrike" dirty="0">
                          <a:solidFill>
                            <a:srgbClr val="000000"/>
                          </a:solidFill>
                          <a:latin typeface="Calibri"/>
                        </a:rPr>
                        <a:t>0,4%</a:t>
                      </a:r>
                    </a:p>
                  </a:txBody>
                  <a:tcPr marL="0" marR="0" marT="0" marB="0" anchor="b">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5286380" y="5953148"/>
          <a:ext cx="2540001" cy="762000"/>
        </p:xfrm>
        <a:graphic>
          <a:graphicData uri="http://schemas.openxmlformats.org/drawingml/2006/table">
            <a:tbl>
              <a:tblPr/>
              <a:tblGrid>
                <a:gridCol w="1331836"/>
                <a:gridCol w="332959"/>
                <a:gridCol w="437603"/>
                <a:gridCol w="437603"/>
              </a:tblGrid>
              <a:tr h="190500">
                <a:tc gridSpan="4">
                  <a:txBody>
                    <a:bodyPr/>
                    <a:lstStyle/>
                    <a:p>
                      <a:pPr algn="l" fontAlgn="b"/>
                      <a:r>
                        <a:rPr lang="en-US" sz="1100" b="1" i="0" u="none" strike="noStrike" dirty="0">
                          <a:solidFill>
                            <a:srgbClr val="000000"/>
                          </a:solidFill>
                          <a:latin typeface="Calibri"/>
                        </a:rPr>
                        <a:t>Trend: 6 month average debt percentage</a:t>
                      </a:r>
                    </a:p>
                  </a:txBody>
                  <a:tcPr marL="0" marR="0" marT="0" marB="0" anchor="b">
                    <a:lnL>
                      <a:noFill/>
                    </a:lnL>
                    <a:lnR>
                      <a:noFill/>
                    </a:lnR>
                    <a:lnT>
                      <a:noFill/>
                    </a:lnT>
                    <a:lnB>
                      <a:noFill/>
                    </a:lnB>
                  </a:tcPr>
                </a:tc>
                <a:tc hMerge="1">
                  <a:txBody>
                    <a:bodyPr/>
                    <a:lstStyle/>
                    <a:p>
                      <a:endParaRPr lang="fi-FI"/>
                    </a:p>
                  </a:txBody>
                  <a:tcPr/>
                </a:tc>
                <a:tc hMerge="1">
                  <a:txBody>
                    <a:bodyPr/>
                    <a:lstStyle/>
                    <a:p>
                      <a:endParaRPr lang="fi-FI"/>
                    </a:p>
                  </a:txBody>
                  <a:tcPr/>
                </a:tc>
                <a:tc hMerge="1">
                  <a:txBody>
                    <a:bodyPr/>
                    <a:lstStyle/>
                    <a:p>
                      <a:endParaRPr lang="fi-FI"/>
                    </a:p>
                  </a:txBody>
                  <a:tcPr/>
                </a:tc>
              </a:tr>
              <a:tr h="190500">
                <a:tc gridSpan="3">
                  <a:txBody>
                    <a:bodyPr/>
                    <a:lstStyle/>
                    <a:p>
                      <a:pPr algn="l" fontAlgn="b"/>
                      <a:r>
                        <a:rPr lang="en-US" sz="1100" b="1" i="0" u="none" strike="noStrike" dirty="0">
                          <a:solidFill>
                            <a:srgbClr val="000000"/>
                          </a:solidFill>
                          <a:latin typeface="Calibri"/>
                        </a:rPr>
                        <a:t>Looking at it now (start-of-June)</a:t>
                      </a:r>
                    </a:p>
                  </a:txBody>
                  <a:tcPr marL="0" marR="0" marT="0" marB="0" anchor="b">
                    <a:lnL>
                      <a:noFill/>
                    </a:lnL>
                    <a:lnR>
                      <a:noFill/>
                    </a:lnR>
                    <a:lnT>
                      <a:noFill/>
                    </a:lnT>
                    <a:lnB>
                      <a:noFill/>
                    </a:lnB>
                  </a:tcPr>
                </a:tc>
                <a:tc hMerge="1">
                  <a:txBody>
                    <a:bodyPr/>
                    <a:lstStyle/>
                    <a:p>
                      <a:endParaRPr lang="fi-FI"/>
                    </a:p>
                  </a:txBody>
                  <a:tcPr/>
                </a:tc>
                <a:tc hMerge="1">
                  <a:txBody>
                    <a:bodyPr/>
                    <a:lstStyle/>
                    <a:p>
                      <a:endParaRPr lang="fi-FI"/>
                    </a:p>
                  </a:txBody>
                  <a:tcPr/>
                </a:tc>
                <a:tc>
                  <a:txBody>
                    <a:bodyPr/>
                    <a:lstStyle/>
                    <a:p>
                      <a:pPr algn="r" fontAlgn="b"/>
                      <a:r>
                        <a:rPr lang="en-US" sz="1100" b="1" i="0" u="none" strike="noStrike" dirty="0">
                          <a:solidFill>
                            <a:srgbClr val="000000"/>
                          </a:solidFill>
                          <a:latin typeface="Calibri"/>
                        </a:rPr>
                        <a:t>19,4%</a:t>
                      </a:r>
                    </a:p>
                  </a:txBody>
                  <a:tcPr marL="0" marR="0" marT="0" marB="0" anchor="b">
                    <a:lnL>
                      <a:noFill/>
                    </a:lnL>
                    <a:lnR>
                      <a:noFill/>
                    </a:lnR>
                    <a:lnT>
                      <a:noFill/>
                    </a:lnT>
                    <a:lnB>
                      <a:noFill/>
                    </a:lnB>
                  </a:tcPr>
                </a:tc>
              </a:tr>
              <a:tr h="190500">
                <a:tc gridSpan="2">
                  <a:txBody>
                    <a:bodyPr/>
                    <a:lstStyle/>
                    <a:p>
                      <a:pPr algn="l" fontAlgn="b"/>
                      <a:r>
                        <a:rPr lang="en-US" sz="1100" b="1" i="0" u="none" strike="noStrike" dirty="0">
                          <a:solidFill>
                            <a:srgbClr val="000000"/>
                          </a:solidFill>
                          <a:latin typeface="Calibri"/>
                        </a:rPr>
                        <a:t>Looking at it start-of-April</a:t>
                      </a:r>
                    </a:p>
                  </a:txBody>
                  <a:tcPr marL="0" marR="0" marT="0" marB="0" anchor="b">
                    <a:lnL>
                      <a:noFill/>
                    </a:lnL>
                    <a:lnR>
                      <a:noFill/>
                    </a:lnR>
                    <a:lnT>
                      <a:noFill/>
                    </a:lnT>
                    <a:lnB>
                      <a:noFill/>
                    </a:lnB>
                  </a:tcPr>
                </a:tc>
                <a:tc hMerge="1">
                  <a:txBody>
                    <a:bodyPr/>
                    <a:lstStyle/>
                    <a:p>
                      <a:endParaRPr lang="fi-FI"/>
                    </a:p>
                  </a:txBody>
                  <a:tcPr/>
                </a:tc>
                <a:tc>
                  <a:txBody>
                    <a:bodyPr/>
                    <a:lstStyle/>
                    <a:p>
                      <a:pPr algn="l" fontAlgn="b"/>
                      <a:endParaRPr lang="en-US"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r" fontAlgn="b"/>
                      <a:r>
                        <a:rPr lang="en-US" sz="1100" b="1" i="0" u="none" strike="noStrike" dirty="0">
                          <a:solidFill>
                            <a:srgbClr val="000000"/>
                          </a:solidFill>
                          <a:latin typeface="Calibri"/>
                        </a:rPr>
                        <a:t>38,2%</a:t>
                      </a:r>
                    </a:p>
                  </a:txBody>
                  <a:tcPr marL="0" marR="0" marT="0" marB="0" anchor="b">
                    <a:lnL>
                      <a:noFill/>
                    </a:lnL>
                    <a:lnR>
                      <a:noFill/>
                    </a:lnR>
                    <a:lnT>
                      <a:noFill/>
                    </a:lnT>
                    <a:lnB>
                      <a:noFill/>
                    </a:lnB>
                  </a:tcPr>
                </a:tc>
              </a:tr>
              <a:tr h="190500">
                <a:tc>
                  <a:txBody>
                    <a:bodyPr/>
                    <a:lstStyle/>
                    <a:p>
                      <a:pPr algn="l" fontAlgn="b"/>
                      <a:r>
                        <a:rPr lang="en-US" sz="1100" b="1" i="0" u="none" strike="noStrike" dirty="0">
                          <a:solidFill>
                            <a:srgbClr val="000000"/>
                          </a:solidFill>
                          <a:latin typeface="Calibri"/>
                        </a:rPr>
                        <a:t>Looking at it last July</a:t>
                      </a:r>
                    </a:p>
                  </a:txBody>
                  <a:tcPr marL="0" marR="0" marT="0" marB="0" anchor="b">
                    <a:lnL>
                      <a:noFill/>
                    </a:lnL>
                    <a:lnR>
                      <a:noFill/>
                    </a:lnR>
                    <a:lnT>
                      <a:noFill/>
                    </a:lnT>
                    <a:lnB>
                      <a:noFill/>
                    </a:lnB>
                  </a:tcPr>
                </a:tc>
                <a:tc>
                  <a:txBody>
                    <a:bodyPr/>
                    <a:lstStyle/>
                    <a:p>
                      <a:pPr algn="l" fontAlgn="b"/>
                      <a:endParaRPr lang="en-US" sz="1100" b="1"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r" fontAlgn="b"/>
                      <a:r>
                        <a:rPr lang="en-US" sz="1100" b="1" i="0" u="none" strike="noStrike" dirty="0">
                          <a:solidFill>
                            <a:srgbClr val="000000"/>
                          </a:solidFill>
                          <a:latin typeface="Calibri"/>
                        </a:rPr>
                        <a:t>26,0%</a:t>
                      </a:r>
                    </a:p>
                  </a:txBody>
                  <a:tcPr marL="0" marR="0" marT="0" marB="0" anchor="b">
                    <a:lnL>
                      <a:noFill/>
                    </a:lnL>
                    <a:lnR>
                      <a:noFill/>
                    </a:lnR>
                    <a:lnT>
                      <a:noFill/>
                    </a:lnT>
                    <a:lnB>
                      <a:noFill/>
                    </a:lnB>
                  </a:tcPr>
                </a:tc>
              </a:tr>
            </a:tbl>
          </a:graphicData>
        </a:graphic>
      </p:graphicFrame>
      <p:sp>
        <p:nvSpPr>
          <p:cNvPr id="6" name="Rectangular Callout 5"/>
          <p:cNvSpPr/>
          <p:nvPr/>
        </p:nvSpPr>
        <p:spPr>
          <a:xfrm>
            <a:off x="285720" y="1428736"/>
            <a:ext cx="1714512" cy="857256"/>
          </a:xfrm>
          <a:prstGeom prst="wedgeRectCallout">
            <a:avLst>
              <a:gd name="adj1" fmla="val 53241"/>
              <a:gd name="adj2" fmla="val 135092"/>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New problems reported to product line</a:t>
            </a:r>
            <a:endParaRPr lang="fi-FI" dirty="0"/>
          </a:p>
        </p:txBody>
      </p:sp>
      <p:sp>
        <p:nvSpPr>
          <p:cNvPr id="7" name="Rectangular Callout 6"/>
          <p:cNvSpPr/>
          <p:nvPr/>
        </p:nvSpPr>
        <p:spPr>
          <a:xfrm>
            <a:off x="71406" y="2428868"/>
            <a:ext cx="1500198" cy="1143008"/>
          </a:xfrm>
          <a:prstGeom prst="wedgeRectCallout">
            <a:avLst>
              <a:gd name="adj1" fmla="val 79590"/>
              <a:gd name="adj2" fmla="val 1250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000" dirty="0" smtClean="0"/>
              <a:t>Internal and external reports. From development and release versions – assume all exist wthout confirmation if not intentionally fixed. </a:t>
            </a:r>
            <a:endParaRPr lang="fi-FI" sz="1000" dirty="0"/>
          </a:p>
        </p:txBody>
      </p:sp>
      <p:sp>
        <p:nvSpPr>
          <p:cNvPr id="8" name="Rectangular Callout 7"/>
          <p:cNvSpPr/>
          <p:nvPr/>
        </p:nvSpPr>
        <p:spPr>
          <a:xfrm>
            <a:off x="1357290" y="285728"/>
            <a:ext cx="1714512" cy="857256"/>
          </a:xfrm>
          <a:prstGeom prst="wedgeRectCallout">
            <a:avLst>
              <a:gd name="adj1" fmla="val 25834"/>
              <a:gd name="adj2" fmla="val 238795"/>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Amount of fixes</a:t>
            </a:r>
            <a:endParaRPr lang="fi-FI" dirty="0"/>
          </a:p>
        </p:txBody>
      </p:sp>
      <p:sp>
        <p:nvSpPr>
          <p:cNvPr id="9" name="Rectangular Callout 8"/>
          <p:cNvSpPr/>
          <p:nvPr/>
        </p:nvSpPr>
        <p:spPr>
          <a:xfrm>
            <a:off x="857224" y="5929330"/>
            <a:ext cx="1714512" cy="642942"/>
          </a:xfrm>
          <a:prstGeom prst="wedgeRectCallout">
            <a:avLst>
              <a:gd name="adj1" fmla="val -68981"/>
              <a:gd name="adj2" fmla="val -255523"/>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Month of observation</a:t>
            </a:r>
            <a:endParaRPr lang="fi-FI" dirty="0"/>
          </a:p>
        </p:txBody>
      </p:sp>
      <p:sp>
        <p:nvSpPr>
          <p:cNvPr id="10" name="Rectangular Callout 9"/>
          <p:cNvSpPr/>
          <p:nvPr/>
        </p:nvSpPr>
        <p:spPr>
          <a:xfrm>
            <a:off x="3143240" y="285728"/>
            <a:ext cx="1714512" cy="857256"/>
          </a:xfrm>
          <a:prstGeom prst="wedgeRectCallout">
            <a:avLst>
              <a:gd name="adj1" fmla="val -40092"/>
              <a:gd name="adj2" fmla="val 223981"/>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Deemed unnecessary</a:t>
            </a:r>
            <a:endParaRPr lang="fi-FI" dirty="0"/>
          </a:p>
        </p:txBody>
      </p:sp>
      <p:sp>
        <p:nvSpPr>
          <p:cNvPr id="11" name="Rectangular Callout 10"/>
          <p:cNvSpPr/>
          <p:nvPr/>
        </p:nvSpPr>
        <p:spPr>
          <a:xfrm>
            <a:off x="4929190" y="285728"/>
            <a:ext cx="1714512" cy="857256"/>
          </a:xfrm>
          <a:prstGeom prst="wedgeRectCallout">
            <a:avLst>
              <a:gd name="adj1" fmla="val -114906"/>
              <a:gd name="adj2" fmla="val 265462"/>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Change in the month</a:t>
            </a:r>
            <a:endParaRPr lang="fi-FI" dirty="0"/>
          </a:p>
        </p:txBody>
      </p:sp>
      <p:sp>
        <p:nvSpPr>
          <p:cNvPr id="12" name="Rectangular Callout 11"/>
          <p:cNvSpPr/>
          <p:nvPr/>
        </p:nvSpPr>
        <p:spPr>
          <a:xfrm>
            <a:off x="2857488" y="5929330"/>
            <a:ext cx="1500198" cy="785794"/>
          </a:xfrm>
          <a:prstGeom prst="wedgeRectCallout">
            <a:avLst>
              <a:gd name="adj1" fmla="val 25411"/>
              <a:gd name="adj2" fmla="val -23316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000" dirty="0" smtClean="0"/>
              <a:t>Added debt: more found than fixed</a:t>
            </a:r>
            <a:endParaRPr lang="fi-FI" sz="1000" dirty="0"/>
          </a:p>
        </p:txBody>
      </p:sp>
      <p:sp>
        <p:nvSpPr>
          <p:cNvPr id="13" name="Rectangular Callout 12"/>
          <p:cNvSpPr/>
          <p:nvPr/>
        </p:nvSpPr>
        <p:spPr>
          <a:xfrm>
            <a:off x="7072330" y="357166"/>
            <a:ext cx="1500198" cy="785794"/>
          </a:xfrm>
          <a:prstGeom prst="wedgeRectCallout">
            <a:avLst>
              <a:gd name="adj1" fmla="val -226863"/>
              <a:gd name="adj2" fmla="val 174122"/>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000" dirty="0" smtClean="0"/>
              <a:t>Severity is set by tester: how user will experience the problem</a:t>
            </a:r>
            <a:endParaRPr lang="fi-FI" sz="1000" dirty="0"/>
          </a:p>
        </p:txBody>
      </p:sp>
      <p:sp>
        <p:nvSpPr>
          <p:cNvPr id="14" name="Rectangular Callout 13"/>
          <p:cNvSpPr/>
          <p:nvPr/>
        </p:nvSpPr>
        <p:spPr>
          <a:xfrm>
            <a:off x="7439044" y="1214422"/>
            <a:ext cx="1500198" cy="785794"/>
          </a:xfrm>
          <a:prstGeom prst="wedgeRectCallout">
            <a:avLst>
              <a:gd name="adj1" fmla="val -211625"/>
              <a:gd name="adj2" fmla="val 46442"/>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000" dirty="0" smtClean="0"/>
              <a:t>Priority is set by the team: how important to fix for business success</a:t>
            </a:r>
            <a:endParaRPr lang="fi-FI" sz="1000" dirty="0"/>
          </a:p>
        </p:txBody>
      </p:sp>
      <p:sp>
        <p:nvSpPr>
          <p:cNvPr id="15" name="Rectangular Callout 14"/>
          <p:cNvSpPr/>
          <p:nvPr/>
        </p:nvSpPr>
        <p:spPr>
          <a:xfrm>
            <a:off x="3929058" y="4071942"/>
            <a:ext cx="1928826" cy="357190"/>
          </a:xfrm>
          <a:prstGeom prst="wedgeRectCallout">
            <a:avLst>
              <a:gd name="adj1" fmla="val 23224"/>
              <a:gd name="adj2" fmla="val -295543"/>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000" dirty="0" smtClean="0"/>
              <a:t>Unknown priority: no decision</a:t>
            </a:r>
            <a:endParaRPr lang="fi-FI" sz="1000" dirty="0"/>
          </a:p>
        </p:txBody>
      </p:sp>
      <p:sp>
        <p:nvSpPr>
          <p:cNvPr id="16" name="Rectangular Callout 15"/>
          <p:cNvSpPr/>
          <p:nvPr/>
        </p:nvSpPr>
        <p:spPr>
          <a:xfrm>
            <a:off x="5572132" y="4500570"/>
            <a:ext cx="1500198" cy="785794"/>
          </a:xfrm>
          <a:prstGeom prst="wedgeRectCallout">
            <a:avLst>
              <a:gd name="adj1" fmla="val 22025"/>
              <a:gd name="adj2" fmla="val -40124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sz="1000" dirty="0" smtClean="0"/>
              <a:t>Already live problems that we already have lived with – low interest</a:t>
            </a:r>
            <a:endParaRPr lang="fi-FI" sz="1000" dirty="0"/>
          </a:p>
        </p:txBody>
      </p:sp>
      <p:sp>
        <p:nvSpPr>
          <p:cNvPr id="17" name="Rectangular Callout 16"/>
          <p:cNvSpPr/>
          <p:nvPr/>
        </p:nvSpPr>
        <p:spPr>
          <a:xfrm>
            <a:off x="2285984" y="3857628"/>
            <a:ext cx="1500198" cy="785794"/>
          </a:xfrm>
          <a:prstGeom prst="wedgeRectCallout">
            <a:avLst>
              <a:gd name="adj1" fmla="val 88056"/>
              <a:gd name="adj2" fmla="val -31720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sz="1000" dirty="0" smtClean="0"/>
              <a:t>Non-live problems: high interest</a:t>
            </a:r>
            <a:endParaRPr lang="fi-FI" sz="1000" dirty="0"/>
          </a:p>
        </p:txBody>
      </p:sp>
      <p:sp>
        <p:nvSpPr>
          <p:cNvPr id="18" name="Rectangular Callout 17"/>
          <p:cNvSpPr/>
          <p:nvPr/>
        </p:nvSpPr>
        <p:spPr>
          <a:xfrm>
            <a:off x="6929454" y="2071678"/>
            <a:ext cx="1714512" cy="857256"/>
          </a:xfrm>
          <a:prstGeom prst="wedgeRectCallout">
            <a:avLst>
              <a:gd name="adj1" fmla="val -19351"/>
              <a:gd name="adj2" fmla="val 66944"/>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dirty="0" smtClean="0"/>
              <a:t>Fixed, not verified</a:t>
            </a:r>
            <a:endParaRPr lang="fi-FI" dirty="0"/>
          </a:p>
        </p:txBody>
      </p:sp>
      <p:sp>
        <p:nvSpPr>
          <p:cNvPr id="19" name="Rectangular Callout 18"/>
          <p:cNvSpPr/>
          <p:nvPr/>
        </p:nvSpPr>
        <p:spPr>
          <a:xfrm>
            <a:off x="7072330" y="5000636"/>
            <a:ext cx="1928826" cy="714380"/>
          </a:xfrm>
          <a:prstGeom prst="wedgeRectCallout">
            <a:avLst>
              <a:gd name="adj1" fmla="val -4124"/>
              <a:gd name="adj2" fmla="val -71705"/>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000" dirty="0" smtClean="0"/>
              <a:t>Debt percentage for latest sprint should ideally be zero – fixing within the sprint</a:t>
            </a:r>
            <a:endParaRPr lang="fi-FI" sz="1000" dirty="0"/>
          </a:p>
        </p:txBody>
      </p:sp>
      <p:sp>
        <p:nvSpPr>
          <p:cNvPr id="20" name="Rectangular Callout 19"/>
          <p:cNvSpPr/>
          <p:nvPr/>
        </p:nvSpPr>
        <p:spPr>
          <a:xfrm>
            <a:off x="7215174" y="4000504"/>
            <a:ext cx="1928826" cy="714380"/>
          </a:xfrm>
          <a:prstGeom prst="wedgeRectCallout">
            <a:avLst>
              <a:gd name="adj1" fmla="val 18263"/>
              <a:gd name="adj2" fmla="val -11081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000" dirty="0" smtClean="0"/>
              <a:t>Minimum to avoid is high-priority problems – fix within sprint</a:t>
            </a:r>
            <a:endParaRPr lang="fi-FI" sz="1000" dirty="0"/>
          </a:p>
        </p:txBody>
      </p:sp>
      <p:sp>
        <p:nvSpPr>
          <p:cNvPr id="21" name="Rectangular Callout 20"/>
          <p:cNvSpPr/>
          <p:nvPr/>
        </p:nvSpPr>
        <p:spPr>
          <a:xfrm>
            <a:off x="4572000" y="6000768"/>
            <a:ext cx="1928826" cy="714380"/>
          </a:xfrm>
          <a:prstGeom prst="wedgeRectCallout">
            <a:avLst>
              <a:gd name="adj1" fmla="val 96616"/>
              <a:gd name="adj2" fmla="val -594"/>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1000" dirty="0" smtClean="0"/>
              <a:t>6-month average reveals a trend: have fixes been piling up?</a:t>
            </a:r>
            <a:endParaRPr lang="fi-FI" sz="1000" dirty="0"/>
          </a:p>
        </p:txBody>
      </p:sp>
      <p:sp>
        <p:nvSpPr>
          <p:cNvPr id="22" name="Slide Number Placeholder 21"/>
          <p:cNvSpPr>
            <a:spLocks noGrp="1"/>
          </p:cNvSpPr>
          <p:nvPr>
            <p:ph type="sldNum" sz="quarter" idx="12"/>
          </p:nvPr>
        </p:nvSpPr>
        <p:spPr/>
        <p:txBody>
          <a:bodyPr/>
          <a:lstStyle/>
          <a:p>
            <a:fld id="{B6F15528-21DE-4FAA-801E-634DDDAF4B2B}" type="slidenum">
              <a:rPr lang="en-US" smtClean="0"/>
              <a:pPr/>
              <a:t>15</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Different Kinds of Results</a:t>
            </a:r>
            <a:endParaRPr lang="fi-FI" dirty="0"/>
          </a:p>
        </p:txBody>
      </p:sp>
      <p:sp>
        <p:nvSpPr>
          <p:cNvPr id="3" name="Content Placeholder 2"/>
          <p:cNvSpPr>
            <a:spLocks noGrp="1"/>
          </p:cNvSpPr>
          <p:nvPr>
            <p:ph sz="half" idx="1"/>
          </p:nvPr>
        </p:nvSpPr>
        <p:spPr/>
        <p:txBody>
          <a:bodyPr>
            <a:normAutofit lnSpcReduction="10000"/>
          </a:bodyPr>
          <a:lstStyle/>
          <a:p>
            <a:r>
              <a:rPr lang="fi-FI" dirty="0" smtClean="0"/>
              <a:t>Bugs found</a:t>
            </a:r>
          </a:p>
          <a:p>
            <a:r>
              <a:rPr lang="fi-FI" dirty="0" smtClean="0"/>
              <a:t>New things to test identified</a:t>
            </a:r>
          </a:p>
          <a:p>
            <a:r>
              <a:rPr lang="fi-FI" dirty="0" smtClean="0"/>
              <a:t>Details documented</a:t>
            </a:r>
          </a:p>
          <a:p>
            <a:r>
              <a:rPr lang="fi-FI" dirty="0" smtClean="0"/>
              <a:t>Updated model of software created</a:t>
            </a:r>
          </a:p>
          <a:p>
            <a:r>
              <a:rPr lang="fi-FI" dirty="0" smtClean="0"/>
              <a:t>Environment / test data updated</a:t>
            </a:r>
          </a:p>
          <a:p>
            <a:r>
              <a:rPr lang="fi-FI" dirty="0" smtClean="0"/>
              <a:t>Significant concern of risk adressed</a:t>
            </a:r>
          </a:p>
          <a:p>
            <a:endParaRPr lang="fi-FI" dirty="0"/>
          </a:p>
        </p:txBody>
      </p:sp>
      <p:sp>
        <p:nvSpPr>
          <p:cNvPr id="4" name="Content Placeholder 3"/>
          <p:cNvSpPr>
            <a:spLocks noGrp="1"/>
          </p:cNvSpPr>
          <p:nvPr>
            <p:ph sz="half" idx="2"/>
          </p:nvPr>
        </p:nvSpPr>
        <p:spPr/>
        <p:txBody>
          <a:bodyPr>
            <a:normAutofit lnSpcReduction="10000"/>
          </a:bodyPr>
          <a:lstStyle/>
          <a:p>
            <a:r>
              <a:rPr lang="fi-FI" dirty="0" smtClean="0"/>
              <a:t>A metric in session-based test management is to split time to categories and follow trend</a:t>
            </a:r>
          </a:p>
        </p:txBody>
      </p:sp>
      <p:graphicFrame>
        <p:nvGraphicFramePr>
          <p:cNvPr id="8" name="Content Placeholder 3"/>
          <p:cNvGraphicFramePr>
            <a:graphicFrameLocks/>
          </p:cNvGraphicFramePr>
          <p:nvPr/>
        </p:nvGraphicFramePr>
        <p:xfrm>
          <a:off x="5429256" y="3571876"/>
          <a:ext cx="3571900" cy="30003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Different Types of Sessions</a:t>
            </a:r>
            <a:endParaRPr lang="fi-FI" dirty="0"/>
          </a:p>
        </p:txBody>
      </p:sp>
      <p:sp>
        <p:nvSpPr>
          <p:cNvPr id="3" name="Content Placeholder 2"/>
          <p:cNvSpPr>
            <a:spLocks noGrp="1"/>
          </p:cNvSpPr>
          <p:nvPr>
            <p:ph idx="1"/>
          </p:nvPr>
        </p:nvSpPr>
        <p:spPr/>
        <p:txBody>
          <a:bodyPr/>
          <a:lstStyle/>
          <a:p>
            <a:r>
              <a:rPr lang="fi-FI" dirty="0" smtClean="0"/>
              <a:t>Sessions are not all the same!</a:t>
            </a:r>
          </a:p>
          <a:p>
            <a:r>
              <a:rPr lang="fi-FI" dirty="0" smtClean="0"/>
              <a:t>Examples</a:t>
            </a:r>
          </a:p>
          <a:p>
            <a:pPr lvl="1"/>
            <a:r>
              <a:rPr lang="fi-FI" dirty="0" smtClean="0"/>
              <a:t>Testing session with a lot of bugs to find</a:t>
            </a:r>
          </a:p>
          <a:p>
            <a:pPr lvl="1"/>
            <a:r>
              <a:rPr lang="fi-FI" dirty="0" smtClean="0"/>
              <a:t>Test planning session</a:t>
            </a:r>
          </a:p>
          <a:p>
            <a:pPr lvl="1"/>
            <a:r>
              <a:rPr lang="fi-FI" dirty="0" smtClean="0"/>
              <a:t>Session to isolate a bug</a:t>
            </a:r>
          </a:p>
          <a:p>
            <a:pPr lvl="1"/>
            <a:r>
              <a:rPr lang="fi-FI" dirty="0" smtClean="0"/>
              <a:t>Session for first feel of coverage</a:t>
            </a:r>
          </a:p>
          <a:p>
            <a:pPr lvl="1"/>
            <a:r>
              <a:rPr lang="fi-FI" dirty="0" smtClean="0"/>
              <a:t>Session for finalizing assessment of good-enough testing done</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42" name="Rectangle 2"/>
          <p:cNvSpPr>
            <a:spLocks noGrp="1" noChangeArrowheads="1"/>
          </p:cNvSpPr>
          <p:nvPr>
            <p:ph type="title"/>
          </p:nvPr>
        </p:nvSpPr>
        <p:spPr>
          <a:xfrm>
            <a:off x="457200" y="71414"/>
            <a:ext cx="8305800" cy="1143000"/>
          </a:xfrm>
        </p:spPr>
        <p:txBody>
          <a:bodyPr>
            <a:normAutofit fontScale="90000"/>
          </a:bodyPr>
          <a:lstStyle/>
          <a:p>
            <a:r>
              <a:rPr lang="en-US" dirty="0" smtClean="0"/>
              <a:t>Example: Areas of Practices </a:t>
            </a:r>
            <a:br>
              <a:rPr lang="en-US" dirty="0" smtClean="0"/>
            </a:br>
            <a:r>
              <a:rPr lang="en-US" dirty="0" smtClean="0"/>
              <a:t>and Scores</a:t>
            </a:r>
            <a:endParaRPr lang="en-GB" dirty="0"/>
          </a:p>
        </p:txBody>
      </p:sp>
      <p:grpSp>
        <p:nvGrpSpPr>
          <p:cNvPr id="2" name="Group 3"/>
          <p:cNvGrpSpPr>
            <a:grpSpLocks/>
          </p:cNvGrpSpPr>
          <p:nvPr/>
        </p:nvGrpSpPr>
        <p:grpSpPr bwMode="auto">
          <a:xfrm>
            <a:off x="457200" y="1143000"/>
            <a:ext cx="8305800" cy="4916488"/>
            <a:chOff x="288" y="864"/>
            <a:chExt cx="5232" cy="3097"/>
          </a:xfrm>
        </p:grpSpPr>
        <p:sp>
          <p:nvSpPr>
            <p:cNvPr id="1495044" name="Rectangle 4"/>
            <p:cNvSpPr>
              <a:spLocks noChangeArrowheads="1"/>
            </p:cNvSpPr>
            <p:nvPr/>
          </p:nvSpPr>
          <p:spPr bwMode="auto">
            <a:xfrm>
              <a:off x="288" y="864"/>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5045" name="Rectangle 5"/>
            <p:cNvSpPr>
              <a:spLocks noChangeArrowheads="1"/>
            </p:cNvSpPr>
            <p:nvPr/>
          </p:nvSpPr>
          <p:spPr bwMode="auto">
            <a:xfrm>
              <a:off x="288" y="1392"/>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5046" name="Rectangle 6"/>
            <p:cNvSpPr>
              <a:spLocks noChangeArrowheads="1"/>
            </p:cNvSpPr>
            <p:nvPr/>
          </p:nvSpPr>
          <p:spPr bwMode="auto">
            <a:xfrm>
              <a:off x="288" y="1920"/>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5047" name="Rectangle 7"/>
            <p:cNvSpPr>
              <a:spLocks noChangeArrowheads="1"/>
            </p:cNvSpPr>
            <p:nvPr/>
          </p:nvSpPr>
          <p:spPr bwMode="auto">
            <a:xfrm>
              <a:off x="2976" y="1920"/>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5048" name="Rectangle 8"/>
            <p:cNvSpPr>
              <a:spLocks noChangeArrowheads="1"/>
            </p:cNvSpPr>
            <p:nvPr/>
          </p:nvSpPr>
          <p:spPr bwMode="auto">
            <a:xfrm>
              <a:off x="288" y="2448"/>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5049" name="Rectangle 9"/>
            <p:cNvSpPr>
              <a:spLocks noChangeArrowheads="1"/>
            </p:cNvSpPr>
            <p:nvPr/>
          </p:nvSpPr>
          <p:spPr bwMode="auto">
            <a:xfrm>
              <a:off x="2976" y="86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5050" name="Rectangle 10"/>
            <p:cNvSpPr>
              <a:spLocks noChangeArrowheads="1"/>
            </p:cNvSpPr>
            <p:nvPr/>
          </p:nvSpPr>
          <p:spPr bwMode="auto">
            <a:xfrm>
              <a:off x="2976"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5051" name="Rectangle 11"/>
            <p:cNvSpPr>
              <a:spLocks noChangeArrowheads="1"/>
            </p:cNvSpPr>
            <p:nvPr/>
          </p:nvSpPr>
          <p:spPr bwMode="auto">
            <a:xfrm>
              <a:off x="2976" y="2448"/>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5052" name="Rectangle 12"/>
            <p:cNvSpPr>
              <a:spLocks noChangeArrowheads="1"/>
            </p:cNvSpPr>
            <p:nvPr/>
          </p:nvSpPr>
          <p:spPr bwMode="auto">
            <a:xfrm>
              <a:off x="288"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5053" name="Rectangle 13"/>
            <p:cNvSpPr>
              <a:spLocks noChangeArrowheads="1"/>
            </p:cNvSpPr>
            <p:nvPr/>
          </p:nvSpPr>
          <p:spPr bwMode="auto">
            <a:xfrm>
              <a:off x="288"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5054" name="Rectangle 14"/>
            <p:cNvSpPr>
              <a:spLocks noChangeArrowheads="1"/>
            </p:cNvSpPr>
            <p:nvPr/>
          </p:nvSpPr>
          <p:spPr bwMode="auto">
            <a:xfrm>
              <a:off x="2976" y="1392"/>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5055" name="Rectangle 15"/>
            <p:cNvSpPr>
              <a:spLocks noChangeArrowheads="1"/>
            </p:cNvSpPr>
            <p:nvPr/>
          </p:nvSpPr>
          <p:spPr bwMode="auto">
            <a:xfrm>
              <a:off x="2976"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grpSp>
      <p:sp>
        <p:nvSpPr>
          <p:cNvPr id="1495056" name="AutoShape 16"/>
          <p:cNvSpPr>
            <a:spLocks noChangeArrowheads="1"/>
          </p:cNvSpPr>
          <p:nvPr/>
        </p:nvSpPr>
        <p:spPr bwMode="auto">
          <a:xfrm>
            <a:off x="533400" y="1219200"/>
            <a:ext cx="38100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Implicit planning made more explicit with workshops. Responsibilities communicated. Routes to discuss risk.</a:t>
            </a:r>
            <a:endParaRPr lang="en-GB" sz="1400" b="1" dirty="0">
              <a:solidFill>
                <a:schemeClr val="accent2"/>
              </a:solidFill>
            </a:endParaRPr>
          </a:p>
        </p:txBody>
      </p:sp>
      <p:sp>
        <p:nvSpPr>
          <p:cNvPr id="1495057" name="AutoShape 17"/>
          <p:cNvSpPr>
            <a:spLocks noChangeArrowheads="1"/>
          </p:cNvSpPr>
          <p:nvPr/>
        </p:nvSpPr>
        <p:spPr bwMode="auto">
          <a:xfrm>
            <a:off x="533400" y="2057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Test strategies outlined with investment levels: rules of thumb of minimal time before delivery. Test specs back.</a:t>
            </a:r>
            <a:endParaRPr lang="en-GB" sz="1400" b="1" dirty="0">
              <a:solidFill>
                <a:schemeClr val="accent2"/>
              </a:solidFill>
            </a:endParaRPr>
          </a:p>
        </p:txBody>
      </p:sp>
      <p:sp>
        <p:nvSpPr>
          <p:cNvPr id="1495058" name="AutoShape 18"/>
          <p:cNvSpPr>
            <a:spLocks noChangeArrowheads="1"/>
          </p:cNvSpPr>
          <p:nvPr/>
        </p:nvSpPr>
        <p:spPr bwMode="auto">
          <a:xfrm>
            <a:off x="533400" y="3733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Exploratory testing, explaining more to peers what and why has been tested. ISP test documentation served.</a:t>
            </a:r>
            <a:endParaRPr lang="en-GB" sz="1400" b="1" dirty="0">
              <a:solidFill>
                <a:schemeClr val="accent2"/>
              </a:solidFill>
            </a:endParaRPr>
          </a:p>
        </p:txBody>
      </p:sp>
      <p:sp>
        <p:nvSpPr>
          <p:cNvPr id="1495059" name="AutoShape 19"/>
          <p:cNvSpPr>
            <a:spLocks noChangeArrowheads="1"/>
          </p:cNvSpPr>
          <p:nvPr/>
        </p:nvSpPr>
        <p:spPr bwMode="auto">
          <a:xfrm>
            <a:off x="533400" y="2895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Add quantitative data to qualitative. Find proper audiences to remove waste. </a:t>
            </a:r>
            <a:endParaRPr lang="en-GB" sz="1400" b="1" dirty="0">
              <a:solidFill>
                <a:schemeClr val="accent2"/>
              </a:solidFill>
            </a:endParaRPr>
          </a:p>
        </p:txBody>
      </p:sp>
      <p:sp>
        <p:nvSpPr>
          <p:cNvPr id="1495060" name="AutoShape 20"/>
          <p:cNvSpPr>
            <a:spLocks noChangeArrowheads="1"/>
          </p:cNvSpPr>
          <p:nvPr/>
        </p:nvSpPr>
        <p:spPr bwMode="auto">
          <a:xfrm>
            <a:off x="533400" y="4572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Bug-based quality summary, change PVCS and restructure. </a:t>
            </a:r>
            <a:endParaRPr lang="en-GB" sz="1400" b="1" dirty="0">
              <a:solidFill>
                <a:schemeClr val="accent2"/>
              </a:solidFill>
            </a:endParaRPr>
          </a:p>
        </p:txBody>
      </p:sp>
      <p:sp>
        <p:nvSpPr>
          <p:cNvPr id="1495061" name="AutoShape 21"/>
          <p:cNvSpPr>
            <a:spLocks noChangeArrowheads="1"/>
          </p:cNvSpPr>
          <p:nvPr/>
        </p:nvSpPr>
        <p:spPr bwMode="auto">
          <a:xfrm>
            <a:off x="533400" y="5410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Training on handling malware. Training on shared services. </a:t>
            </a:r>
            <a:endParaRPr lang="en-GB" sz="1400" b="1" dirty="0">
              <a:solidFill>
                <a:schemeClr val="accent2"/>
              </a:solidFill>
            </a:endParaRPr>
          </a:p>
        </p:txBody>
      </p:sp>
      <p:sp>
        <p:nvSpPr>
          <p:cNvPr id="1495062" name="AutoShape 22"/>
          <p:cNvSpPr>
            <a:spLocks noChangeArrowheads="1"/>
          </p:cNvSpPr>
          <p:nvPr/>
        </p:nvSpPr>
        <p:spPr bwMode="auto">
          <a:xfrm>
            <a:off x="4800600" y="1219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API-automation driven forward with teams. Visibility of automation improved.</a:t>
            </a:r>
            <a:endParaRPr lang="en-GB" sz="1400" b="1" dirty="0">
              <a:solidFill>
                <a:schemeClr val="accent2"/>
              </a:solidFill>
            </a:endParaRPr>
          </a:p>
        </p:txBody>
      </p:sp>
      <p:sp>
        <p:nvSpPr>
          <p:cNvPr id="1495063" name="AutoShape 23"/>
          <p:cNvSpPr>
            <a:spLocks noChangeArrowheads="1"/>
          </p:cNvSpPr>
          <p:nvPr/>
        </p:nvSpPr>
        <p:spPr bwMode="auto">
          <a:xfrm>
            <a:off x="4800600" y="2057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Minimal time-boxes and goals for 3</a:t>
            </a:r>
            <a:r>
              <a:rPr lang="en-US" sz="1400" b="1" baseline="30000" dirty="0">
                <a:solidFill>
                  <a:schemeClr val="accent2"/>
                </a:solidFill>
              </a:rPr>
              <a:t>rd</a:t>
            </a:r>
            <a:r>
              <a:rPr lang="en-US" sz="1400" b="1" dirty="0">
                <a:solidFill>
                  <a:schemeClr val="accent2"/>
                </a:solidFill>
              </a:rPr>
              <a:t> party component changes. </a:t>
            </a:r>
            <a:endParaRPr lang="en-GB" sz="1400" b="1" dirty="0">
              <a:solidFill>
                <a:schemeClr val="accent2"/>
              </a:solidFill>
            </a:endParaRPr>
          </a:p>
        </p:txBody>
      </p:sp>
      <p:sp>
        <p:nvSpPr>
          <p:cNvPr id="1495064" name="AutoShape 24"/>
          <p:cNvSpPr>
            <a:spLocks noChangeArrowheads="1"/>
          </p:cNvSpPr>
          <p:nvPr/>
        </p:nvSpPr>
        <p:spPr bwMode="auto">
          <a:xfrm>
            <a:off x="4800600" y="2895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Redefining organizing for maintenance. More power to the teams in deciding, role of maintenance manager changing.</a:t>
            </a:r>
            <a:endParaRPr lang="en-GB" sz="1400" b="1" dirty="0">
              <a:solidFill>
                <a:schemeClr val="accent2"/>
              </a:solidFill>
            </a:endParaRPr>
          </a:p>
        </p:txBody>
      </p:sp>
      <p:sp>
        <p:nvSpPr>
          <p:cNvPr id="1495065" name="AutoShape 25"/>
          <p:cNvSpPr>
            <a:spLocks noChangeArrowheads="1"/>
          </p:cNvSpPr>
          <p:nvPr/>
        </p:nvSpPr>
        <p:spPr bwMode="auto">
          <a:xfrm>
            <a:off x="4800600" y="3733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Refine need of documents, not assuming certain documents must be in. Continue workshops. </a:t>
            </a:r>
            <a:endParaRPr lang="en-GB" sz="1400" b="1" dirty="0">
              <a:solidFill>
                <a:schemeClr val="accent2"/>
              </a:solidFill>
            </a:endParaRPr>
          </a:p>
        </p:txBody>
      </p:sp>
      <p:sp>
        <p:nvSpPr>
          <p:cNvPr id="1495066" name="AutoShape 26"/>
          <p:cNvSpPr>
            <a:spLocks noChangeArrowheads="1"/>
          </p:cNvSpPr>
          <p:nvPr/>
        </p:nvSpPr>
        <p:spPr bwMode="auto">
          <a:xfrm>
            <a:off x="4800600" y="4572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Developer testing on areas where it is still missing. </a:t>
            </a:r>
            <a:endParaRPr lang="en-GB" sz="1400" b="1" dirty="0">
              <a:solidFill>
                <a:schemeClr val="accent2"/>
              </a:solidFill>
            </a:endParaRPr>
          </a:p>
        </p:txBody>
      </p:sp>
      <p:sp>
        <p:nvSpPr>
          <p:cNvPr id="1495067" name="AutoShape 27"/>
          <p:cNvSpPr>
            <a:spLocks noChangeArrowheads="1"/>
          </p:cNvSpPr>
          <p:nvPr/>
        </p:nvSpPr>
        <p:spPr bwMode="auto">
          <a:xfrm>
            <a:off x="4800600" y="5410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QE weekly &amp; QE forum continues, everyone more proactive in improvement. </a:t>
            </a:r>
            <a:endParaRPr lang="en-GB" sz="1400" b="1" dirty="0">
              <a:solidFill>
                <a:schemeClr val="accent2"/>
              </a:solidFill>
            </a:endParaRPr>
          </a:p>
        </p:txBody>
      </p:sp>
      <p:sp>
        <p:nvSpPr>
          <p:cNvPr id="1495068" name="AutoShape 28"/>
          <p:cNvSpPr>
            <a:spLocks noChangeArrowheads="1"/>
          </p:cNvSpPr>
          <p:nvPr/>
        </p:nvSpPr>
        <p:spPr bwMode="auto">
          <a:xfrm>
            <a:off x="8072462" y="76200"/>
            <a:ext cx="990600" cy="990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400" b="1">
                <a:solidFill>
                  <a:schemeClr val="bg1"/>
                </a:solidFill>
              </a:rPr>
              <a:t>Grade:</a:t>
            </a:r>
          </a:p>
          <a:p>
            <a:pPr algn="ctr"/>
            <a:r>
              <a:rPr lang="fi-FI" sz="3200" b="1">
                <a:solidFill>
                  <a:schemeClr val="bg1"/>
                </a:solidFill>
              </a:rPr>
              <a:t>9</a:t>
            </a:r>
            <a:endParaRPr lang="en-GB" sz="3200" b="1" dirty="0">
              <a:solidFill>
                <a:schemeClr val="bg1"/>
              </a:solidFill>
            </a:endParaRPr>
          </a:p>
        </p:txBody>
      </p:sp>
      <p:sp>
        <p:nvSpPr>
          <p:cNvPr id="1495069" name="AutoShape 29"/>
          <p:cNvSpPr>
            <a:spLocks noChangeArrowheads="1"/>
          </p:cNvSpPr>
          <p:nvPr/>
        </p:nvSpPr>
        <p:spPr bwMode="auto">
          <a:xfrm>
            <a:off x="76200" y="1219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0" name="AutoShape 30"/>
          <p:cNvSpPr>
            <a:spLocks noChangeArrowheads="1"/>
          </p:cNvSpPr>
          <p:nvPr/>
        </p:nvSpPr>
        <p:spPr bwMode="auto">
          <a:xfrm>
            <a:off x="76200" y="20574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1" name="AutoShape 31"/>
          <p:cNvSpPr>
            <a:spLocks noChangeArrowheads="1"/>
          </p:cNvSpPr>
          <p:nvPr/>
        </p:nvSpPr>
        <p:spPr bwMode="auto">
          <a:xfrm>
            <a:off x="76200" y="28956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2" name="AutoShape 32"/>
          <p:cNvSpPr>
            <a:spLocks noChangeArrowheads="1"/>
          </p:cNvSpPr>
          <p:nvPr/>
        </p:nvSpPr>
        <p:spPr bwMode="auto">
          <a:xfrm>
            <a:off x="76200" y="37338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3" name="AutoShape 33"/>
          <p:cNvSpPr>
            <a:spLocks noChangeArrowheads="1"/>
          </p:cNvSpPr>
          <p:nvPr/>
        </p:nvSpPr>
        <p:spPr bwMode="auto">
          <a:xfrm>
            <a:off x="76200" y="45720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4" name="AutoShape 34"/>
          <p:cNvSpPr>
            <a:spLocks noChangeArrowheads="1"/>
          </p:cNvSpPr>
          <p:nvPr/>
        </p:nvSpPr>
        <p:spPr bwMode="auto">
          <a:xfrm>
            <a:off x="76200" y="5410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5" name="AutoShape 35"/>
          <p:cNvSpPr>
            <a:spLocks noChangeArrowheads="1"/>
          </p:cNvSpPr>
          <p:nvPr/>
        </p:nvSpPr>
        <p:spPr bwMode="auto">
          <a:xfrm>
            <a:off x="8534400" y="5410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6" name="AutoShape 36"/>
          <p:cNvSpPr>
            <a:spLocks noChangeArrowheads="1"/>
          </p:cNvSpPr>
          <p:nvPr/>
        </p:nvSpPr>
        <p:spPr bwMode="auto">
          <a:xfrm>
            <a:off x="8534400" y="45720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7" name="AutoShape 37"/>
          <p:cNvSpPr>
            <a:spLocks noChangeArrowheads="1"/>
          </p:cNvSpPr>
          <p:nvPr/>
        </p:nvSpPr>
        <p:spPr bwMode="auto">
          <a:xfrm>
            <a:off x="8534400" y="37338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8" name="AutoShape 38"/>
          <p:cNvSpPr>
            <a:spLocks noChangeArrowheads="1"/>
          </p:cNvSpPr>
          <p:nvPr/>
        </p:nvSpPr>
        <p:spPr bwMode="auto">
          <a:xfrm>
            <a:off x="8534400" y="28956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79" name="AutoShape 39"/>
          <p:cNvSpPr>
            <a:spLocks noChangeArrowheads="1"/>
          </p:cNvSpPr>
          <p:nvPr/>
        </p:nvSpPr>
        <p:spPr bwMode="auto">
          <a:xfrm>
            <a:off x="8534400" y="1219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80" name="AutoShape 40"/>
          <p:cNvSpPr>
            <a:spLocks noChangeArrowheads="1"/>
          </p:cNvSpPr>
          <p:nvPr/>
        </p:nvSpPr>
        <p:spPr bwMode="auto">
          <a:xfrm>
            <a:off x="8534400" y="20574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81" name="Rectangle 41"/>
          <p:cNvSpPr>
            <a:spLocks noChangeArrowheads="1"/>
          </p:cNvSpPr>
          <p:nvPr/>
        </p:nvSpPr>
        <p:spPr bwMode="auto">
          <a:xfrm>
            <a:off x="2514600" y="6096000"/>
            <a:ext cx="4114800" cy="609600"/>
          </a:xfrm>
          <a:prstGeom prst="rect">
            <a:avLst/>
          </a:prstGeom>
          <a:solidFill>
            <a:schemeClr val="accent1"/>
          </a:solidFill>
          <a:ln w="12700">
            <a:noFill/>
            <a:miter lim="800000"/>
            <a:headEnd/>
            <a:tailEnd/>
          </a:ln>
          <a:effectLst/>
        </p:spPr>
        <p:txBody>
          <a:bodyPr wrap="none" lIns="90000" tIns="46800" rIns="90000" bIns="46800" anchor="ctr"/>
          <a:lstStyle/>
          <a:p>
            <a:pPr algn="ctr"/>
            <a:r>
              <a:rPr lang="en-US" sz="1600" b="1" dirty="0">
                <a:solidFill>
                  <a:schemeClr val="bg1"/>
                </a:solidFill>
              </a:rPr>
              <a:t>Build mastering</a:t>
            </a:r>
            <a:endParaRPr lang="en-GB" sz="1600" b="1" dirty="0">
              <a:solidFill>
                <a:schemeClr val="bg1"/>
              </a:solidFill>
            </a:endParaRPr>
          </a:p>
        </p:txBody>
      </p:sp>
      <p:sp>
        <p:nvSpPr>
          <p:cNvPr id="1495082" name="AutoShape 42"/>
          <p:cNvSpPr>
            <a:spLocks noChangeArrowheads="1"/>
          </p:cNvSpPr>
          <p:nvPr/>
        </p:nvSpPr>
        <p:spPr bwMode="auto">
          <a:xfrm rot="10971">
            <a:off x="2590800" y="6172200"/>
            <a:ext cx="3962400" cy="4572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Quality of change logs from teams improved. Comparison between builds.</a:t>
            </a:r>
            <a:endParaRPr lang="en-GB" sz="1400" b="1" dirty="0">
              <a:solidFill>
                <a:schemeClr val="accent2"/>
              </a:solidFill>
            </a:endParaRPr>
          </a:p>
        </p:txBody>
      </p:sp>
      <p:sp>
        <p:nvSpPr>
          <p:cNvPr id="1495083" name="AutoShape 43"/>
          <p:cNvSpPr>
            <a:spLocks noChangeArrowheads="1"/>
          </p:cNvSpPr>
          <p:nvPr/>
        </p:nvSpPr>
        <p:spPr bwMode="auto">
          <a:xfrm>
            <a:off x="6477000" y="6172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44" name="Slide Number Placeholder 43"/>
          <p:cNvSpPr>
            <a:spLocks noGrp="1"/>
          </p:cNvSpPr>
          <p:nvPr>
            <p:ph type="sldNum" sz="quarter" idx="12"/>
          </p:nvPr>
        </p:nvSpPr>
        <p:spPr/>
        <p:txBody>
          <a:bodyPr/>
          <a:lstStyle/>
          <a:p>
            <a:fld id="{227F0B53-9592-4779-891F-997228E46E01}" type="slidenum">
              <a:rPr lang="sv-SE" smtClean="0"/>
              <a:pPr/>
              <a:t>18</a:t>
            </a:fld>
            <a:endParaRPr lang="sv-SE"/>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56"/>
                                        </p:tgtEl>
                                        <p:attrNameLst>
                                          <p:attrName>style.visibility</p:attrName>
                                        </p:attrNameLst>
                                      </p:cBhvr>
                                      <p:to>
                                        <p:strVal val="visible"/>
                                      </p:to>
                                    </p:set>
                                    <p:anim calcmode="lin" valueType="num">
                                      <p:cBhvr additive="base">
                                        <p:cTn id="7" dur="500" fill="hold"/>
                                        <p:tgtEl>
                                          <p:spTgt spid="1495056"/>
                                        </p:tgtEl>
                                        <p:attrNameLst>
                                          <p:attrName>ppt_x</p:attrName>
                                        </p:attrNameLst>
                                      </p:cBhvr>
                                      <p:tavLst>
                                        <p:tav tm="0">
                                          <p:val>
                                            <p:strVal val="0-#ppt_w/2"/>
                                          </p:val>
                                        </p:tav>
                                        <p:tav tm="100000">
                                          <p:val>
                                            <p:strVal val="#ppt_x"/>
                                          </p:val>
                                        </p:tav>
                                      </p:tavLst>
                                    </p:anim>
                                    <p:anim calcmode="lin" valueType="num">
                                      <p:cBhvr additive="base">
                                        <p:cTn id="8" dur="500" fill="hold"/>
                                        <p:tgtEl>
                                          <p:spTgt spid="14950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57"/>
                                        </p:tgtEl>
                                        <p:attrNameLst>
                                          <p:attrName>style.visibility</p:attrName>
                                        </p:attrNameLst>
                                      </p:cBhvr>
                                      <p:to>
                                        <p:strVal val="visible"/>
                                      </p:to>
                                    </p:set>
                                    <p:anim calcmode="lin" valueType="num">
                                      <p:cBhvr additive="base">
                                        <p:cTn id="13" dur="500" fill="hold"/>
                                        <p:tgtEl>
                                          <p:spTgt spid="1495057"/>
                                        </p:tgtEl>
                                        <p:attrNameLst>
                                          <p:attrName>ppt_x</p:attrName>
                                        </p:attrNameLst>
                                      </p:cBhvr>
                                      <p:tavLst>
                                        <p:tav tm="0">
                                          <p:val>
                                            <p:strVal val="0-#ppt_w/2"/>
                                          </p:val>
                                        </p:tav>
                                        <p:tav tm="100000">
                                          <p:val>
                                            <p:strVal val="#ppt_x"/>
                                          </p:val>
                                        </p:tav>
                                      </p:tavLst>
                                    </p:anim>
                                    <p:anim calcmode="lin" valueType="num">
                                      <p:cBhvr additive="base">
                                        <p:cTn id="14" dur="500" fill="hold"/>
                                        <p:tgtEl>
                                          <p:spTgt spid="149505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5059"/>
                                        </p:tgtEl>
                                        <p:attrNameLst>
                                          <p:attrName>style.visibility</p:attrName>
                                        </p:attrNameLst>
                                      </p:cBhvr>
                                      <p:to>
                                        <p:strVal val="visible"/>
                                      </p:to>
                                    </p:set>
                                    <p:anim calcmode="lin" valueType="num">
                                      <p:cBhvr additive="base">
                                        <p:cTn id="19" dur="500" fill="hold"/>
                                        <p:tgtEl>
                                          <p:spTgt spid="1495059"/>
                                        </p:tgtEl>
                                        <p:attrNameLst>
                                          <p:attrName>ppt_x</p:attrName>
                                        </p:attrNameLst>
                                      </p:cBhvr>
                                      <p:tavLst>
                                        <p:tav tm="0">
                                          <p:val>
                                            <p:strVal val="0-#ppt_w/2"/>
                                          </p:val>
                                        </p:tav>
                                        <p:tav tm="100000">
                                          <p:val>
                                            <p:strVal val="#ppt_x"/>
                                          </p:val>
                                        </p:tav>
                                      </p:tavLst>
                                    </p:anim>
                                    <p:anim calcmode="lin" valueType="num">
                                      <p:cBhvr additive="base">
                                        <p:cTn id="20" dur="500" fill="hold"/>
                                        <p:tgtEl>
                                          <p:spTgt spid="149505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5058"/>
                                        </p:tgtEl>
                                        <p:attrNameLst>
                                          <p:attrName>style.visibility</p:attrName>
                                        </p:attrNameLst>
                                      </p:cBhvr>
                                      <p:to>
                                        <p:strVal val="visible"/>
                                      </p:to>
                                    </p:set>
                                    <p:anim calcmode="lin" valueType="num">
                                      <p:cBhvr additive="base">
                                        <p:cTn id="25" dur="500" fill="hold"/>
                                        <p:tgtEl>
                                          <p:spTgt spid="1495058"/>
                                        </p:tgtEl>
                                        <p:attrNameLst>
                                          <p:attrName>ppt_x</p:attrName>
                                        </p:attrNameLst>
                                      </p:cBhvr>
                                      <p:tavLst>
                                        <p:tav tm="0">
                                          <p:val>
                                            <p:strVal val="0-#ppt_w/2"/>
                                          </p:val>
                                        </p:tav>
                                        <p:tav tm="100000">
                                          <p:val>
                                            <p:strVal val="#ppt_x"/>
                                          </p:val>
                                        </p:tav>
                                      </p:tavLst>
                                    </p:anim>
                                    <p:anim calcmode="lin" valueType="num">
                                      <p:cBhvr additive="base">
                                        <p:cTn id="26" dur="500" fill="hold"/>
                                        <p:tgtEl>
                                          <p:spTgt spid="149505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95060"/>
                                        </p:tgtEl>
                                        <p:attrNameLst>
                                          <p:attrName>style.visibility</p:attrName>
                                        </p:attrNameLst>
                                      </p:cBhvr>
                                      <p:to>
                                        <p:strVal val="visible"/>
                                      </p:to>
                                    </p:set>
                                    <p:anim calcmode="lin" valueType="num">
                                      <p:cBhvr additive="base">
                                        <p:cTn id="31" dur="500" fill="hold"/>
                                        <p:tgtEl>
                                          <p:spTgt spid="1495060"/>
                                        </p:tgtEl>
                                        <p:attrNameLst>
                                          <p:attrName>ppt_x</p:attrName>
                                        </p:attrNameLst>
                                      </p:cBhvr>
                                      <p:tavLst>
                                        <p:tav tm="0">
                                          <p:val>
                                            <p:strVal val="0-#ppt_w/2"/>
                                          </p:val>
                                        </p:tav>
                                        <p:tav tm="100000">
                                          <p:val>
                                            <p:strVal val="#ppt_x"/>
                                          </p:val>
                                        </p:tav>
                                      </p:tavLst>
                                    </p:anim>
                                    <p:anim calcmode="lin" valueType="num">
                                      <p:cBhvr additive="base">
                                        <p:cTn id="32" dur="500" fill="hold"/>
                                        <p:tgtEl>
                                          <p:spTgt spid="149506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95082"/>
                                        </p:tgtEl>
                                        <p:attrNameLst>
                                          <p:attrName>style.visibility</p:attrName>
                                        </p:attrNameLst>
                                      </p:cBhvr>
                                      <p:to>
                                        <p:strVal val="visible"/>
                                      </p:to>
                                    </p:set>
                                    <p:anim calcmode="lin" valueType="num">
                                      <p:cBhvr additive="base">
                                        <p:cTn id="37" dur="500" fill="hold"/>
                                        <p:tgtEl>
                                          <p:spTgt spid="1495082"/>
                                        </p:tgtEl>
                                        <p:attrNameLst>
                                          <p:attrName>ppt_x</p:attrName>
                                        </p:attrNameLst>
                                      </p:cBhvr>
                                      <p:tavLst>
                                        <p:tav tm="0">
                                          <p:val>
                                            <p:strVal val="0-#ppt_w/2"/>
                                          </p:val>
                                        </p:tav>
                                        <p:tav tm="100000">
                                          <p:val>
                                            <p:strVal val="#ppt_x"/>
                                          </p:val>
                                        </p:tav>
                                      </p:tavLst>
                                    </p:anim>
                                    <p:anim calcmode="lin" valueType="num">
                                      <p:cBhvr additive="base">
                                        <p:cTn id="38" dur="500" fill="hold"/>
                                        <p:tgtEl>
                                          <p:spTgt spid="149508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95061"/>
                                        </p:tgtEl>
                                        <p:attrNameLst>
                                          <p:attrName>style.visibility</p:attrName>
                                        </p:attrNameLst>
                                      </p:cBhvr>
                                      <p:to>
                                        <p:strVal val="visible"/>
                                      </p:to>
                                    </p:set>
                                    <p:anim calcmode="lin" valueType="num">
                                      <p:cBhvr additive="base">
                                        <p:cTn id="43" dur="500" fill="hold"/>
                                        <p:tgtEl>
                                          <p:spTgt spid="1495061"/>
                                        </p:tgtEl>
                                        <p:attrNameLst>
                                          <p:attrName>ppt_x</p:attrName>
                                        </p:attrNameLst>
                                      </p:cBhvr>
                                      <p:tavLst>
                                        <p:tav tm="0">
                                          <p:val>
                                            <p:strVal val="0-#ppt_w/2"/>
                                          </p:val>
                                        </p:tav>
                                        <p:tav tm="100000">
                                          <p:val>
                                            <p:strVal val="#ppt_x"/>
                                          </p:val>
                                        </p:tav>
                                      </p:tavLst>
                                    </p:anim>
                                    <p:anim calcmode="lin" valueType="num">
                                      <p:cBhvr additive="base">
                                        <p:cTn id="44" dur="500" fill="hold"/>
                                        <p:tgtEl>
                                          <p:spTgt spid="149506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95062"/>
                                        </p:tgtEl>
                                        <p:attrNameLst>
                                          <p:attrName>style.visibility</p:attrName>
                                        </p:attrNameLst>
                                      </p:cBhvr>
                                      <p:to>
                                        <p:strVal val="visible"/>
                                      </p:to>
                                    </p:set>
                                    <p:anim calcmode="lin" valueType="num">
                                      <p:cBhvr additive="base">
                                        <p:cTn id="49" dur="500" fill="hold"/>
                                        <p:tgtEl>
                                          <p:spTgt spid="1495062"/>
                                        </p:tgtEl>
                                        <p:attrNameLst>
                                          <p:attrName>ppt_x</p:attrName>
                                        </p:attrNameLst>
                                      </p:cBhvr>
                                      <p:tavLst>
                                        <p:tav tm="0">
                                          <p:val>
                                            <p:strVal val="0-#ppt_w/2"/>
                                          </p:val>
                                        </p:tav>
                                        <p:tav tm="100000">
                                          <p:val>
                                            <p:strVal val="#ppt_x"/>
                                          </p:val>
                                        </p:tav>
                                      </p:tavLst>
                                    </p:anim>
                                    <p:anim calcmode="lin" valueType="num">
                                      <p:cBhvr additive="base">
                                        <p:cTn id="50" dur="500" fill="hold"/>
                                        <p:tgtEl>
                                          <p:spTgt spid="149506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95063"/>
                                        </p:tgtEl>
                                        <p:attrNameLst>
                                          <p:attrName>style.visibility</p:attrName>
                                        </p:attrNameLst>
                                      </p:cBhvr>
                                      <p:to>
                                        <p:strVal val="visible"/>
                                      </p:to>
                                    </p:set>
                                    <p:anim calcmode="lin" valueType="num">
                                      <p:cBhvr additive="base">
                                        <p:cTn id="55" dur="500" fill="hold"/>
                                        <p:tgtEl>
                                          <p:spTgt spid="1495063"/>
                                        </p:tgtEl>
                                        <p:attrNameLst>
                                          <p:attrName>ppt_x</p:attrName>
                                        </p:attrNameLst>
                                      </p:cBhvr>
                                      <p:tavLst>
                                        <p:tav tm="0">
                                          <p:val>
                                            <p:strVal val="0-#ppt_w/2"/>
                                          </p:val>
                                        </p:tav>
                                        <p:tav tm="100000">
                                          <p:val>
                                            <p:strVal val="#ppt_x"/>
                                          </p:val>
                                        </p:tav>
                                      </p:tavLst>
                                    </p:anim>
                                    <p:anim calcmode="lin" valueType="num">
                                      <p:cBhvr additive="base">
                                        <p:cTn id="56" dur="500" fill="hold"/>
                                        <p:tgtEl>
                                          <p:spTgt spid="149506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95064"/>
                                        </p:tgtEl>
                                        <p:attrNameLst>
                                          <p:attrName>style.visibility</p:attrName>
                                        </p:attrNameLst>
                                      </p:cBhvr>
                                      <p:to>
                                        <p:strVal val="visible"/>
                                      </p:to>
                                    </p:set>
                                    <p:anim calcmode="lin" valueType="num">
                                      <p:cBhvr additive="base">
                                        <p:cTn id="61" dur="500" fill="hold"/>
                                        <p:tgtEl>
                                          <p:spTgt spid="1495064"/>
                                        </p:tgtEl>
                                        <p:attrNameLst>
                                          <p:attrName>ppt_x</p:attrName>
                                        </p:attrNameLst>
                                      </p:cBhvr>
                                      <p:tavLst>
                                        <p:tav tm="0">
                                          <p:val>
                                            <p:strVal val="0-#ppt_w/2"/>
                                          </p:val>
                                        </p:tav>
                                        <p:tav tm="100000">
                                          <p:val>
                                            <p:strVal val="#ppt_x"/>
                                          </p:val>
                                        </p:tav>
                                      </p:tavLst>
                                    </p:anim>
                                    <p:anim calcmode="lin" valueType="num">
                                      <p:cBhvr additive="base">
                                        <p:cTn id="62" dur="500" fill="hold"/>
                                        <p:tgtEl>
                                          <p:spTgt spid="149506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95065"/>
                                        </p:tgtEl>
                                        <p:attrNameLst>
                                          <p:attrName>style.visibility</p:attrName>
                                        </p:attrNameLst>
                                      </p:cBhvr>
                                      <p:to>
                                        <p:strVal val="visible"/>
                                      </p:to>
                                    </p:set>
                                    <p:anim calcmode="lin" valueType="num">
                                      <p:cBhvr additive="base">
                                        <p:cTn id="67" dur="500" fill="hold"/>
                                        <p:tgtEl>
                                          <p:spTgt spid="1495065"/>
                                        </p:tgtEl>
                                        <p:attrNameLst>
                                          <p:attrName>ppt_x</p:attrName>
                                        </p:attrNameLst>
                                      </p:cBhvr>
                                      <p:tavLst>
                                        <p:tav tm="0">
                                          <p:val>
                                            <p:strVal val="0-#ppt_w/2"/>
                                          </p:val>
                                        </p:tav>
                                        <p:tav tm="100000">
                                          <p:val>
                                            <p:strVal val="#ppt_x"/>
                                          </p:val>
                                        </p:tav>
                                      </p:tavLst>
                                    </p:anim>
                                    <p:anim calcmode="lin" valueType="num">
                                      <p:cBhvr additive="base">
                                        <p:cTn id="68" dur="500" fill="hold"/>
                                        <p:tgtEl>
                                          <p:spTgt spid="149506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95066"/>
                                        </p:tgtEl>
                                        <p:attrNameLst>
                                          <p:attrName>style.visibility</p:attrName>
                                        </p:attrNameLst>
                                      </p:cBhvr>
                                      <p:to>
                                        <p:strVal val="visible"/>
                                      </p:to>
                                    </p:set>
                                    <p:anim calcmode="lin" valueType="num">
                                      <p:cBhvr additive="base">
                                        <p:cTn id="73" dur="500" fill="hold"/>
                                        <p:tgtEl>
                                          <p:spTgt spid="1495066"/>
                                        </p:tgtEl>
                                        <p:attrNameLst>
                                          <p:attrName>ppt_x</p:attrName>
                                        </p:attrNameLst>
                                      </p:cBhvr>
                                      <p:tavLst>
                                        <p:tav tm="0">
                                          <p:val>
                                            <p:strVal val="0-#ppt_w/2"/>
                                          </p:val>
                                        </p:tav>
                                        <p:tav tm="100000">
                                          <p:val>
                                            <p:strVal val="#ppt_x"/>
                                          </p:val>
                                        </p:tav>
                                      </p:tavLst>
                                    </p:anim>
                                    <p:anim calcmode="lin" valueType="num">
                                      <p:cBhvr additive="base">
                                        <p:cTn id="74" dur="500" fill="hold"/>
                                        <p:tgtEl>
                                          <p:spTgt spid="149506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495067"/>
                                        </p:tgtEl>
                                        <p:attrNameLst>
                                          <p:attrName>style.visibility</p:attrName>
                                        </p:attrNameLst>
                                      </p:cBhvr>
                                      <p:to>
                                        <p:strVal val="visible"/>
                                      </p:to>
                                    </p:set>
                                    <p:anim calcmode="lin" valueType="num">
                                      <p:cBhvr additive="base">
                                        <p:cTn id="79" dur="500" fill="hold"/>
                                        <p:tgtEl>
                                          <p:spTgt spid="1495067"/>
                                        </p:tgtEl>
                                        <p:attrNameLst>
                                          <p:attrName>ppt_x</p:attrName>
                                        </p:attrNameLst>
                                      </p:cBhvr>
                                      <p:tavLst>
                                        <p:tav tm="0">
                                          <p:val>
                                            <p:strVal val="0-#ppt_w/2"/>
                                          </p:val>
                                        </p:tav>
                                        <p:tav tm="100000">
                                          <p:val>
                                            <p:strVal val="#ppt_x"/>
                                          </p:val>
                                        </p:tav>
                                      </p:tavLst>
                                    </p:anim>
                                    <p:anim calcmode="lin" valueType="num">
                                      <p:cBhvr additive="base">
                                        <p:cTn id="80" dur="500" fill="hold"/>
                                        <p:tgtEl>
                                          <p:spTgt spid="14950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56" grpId="0" animBg="1" autoUpdateAnimBg="0"/>
      <p:bldP spid="1495057" grpId="0" animBg="1" autoUpdateAnimBg="0"/>
      <p:bldP spid="1495058" grpId="0" animBg="1" autoUpdateAnimBg="0"/>
      <p:bldP spid="1495059" grpId="0" animBg="1" autoUpdateAnimBg="0"/>
      <p:bldP spid="1495060" grpId="0" animBg="1" autoUpdateAnimBg="0"/>
      <p:bldP spid="1495061" grpId="0" animBg="1" autoUpdateAnimBg="0"/>
      <p:bldP spid="1495062" grpId="0" animBg="1" autoUpdateAnimBg="0"/>
      <p:bldP spid="1495063" grpId="0" animBg="1" autoUpdateAnimBg="0"/>
      <p:bldP spid="1495064" grpId="0" animBg="1" autoUpdateAnimBg="0"/>
      <p:bldP spid="1495065" grpId="0" animBg="1" autoUpdateAnimBg="0"/>
      <p:bldP spid="1495066" grpId="0" animBg="1" autoUpdateAnimBg="0"/>
      <p:bldP spid="1495067" grpId="0" animBg="1" autoUpdateAnimBg="0"/>
      <p:bldP spid="149508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1807</TotalTime>
  <Words>2040</Words>
  <Application>Microsoft Macintosh PowerPoint</Application>
  <PresentationFormat>On-screen Show (4:3)</PresentationFormat>
  <Paragraphs>592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Näkyvyyden tuottamisen käytännöt</vt:lpstr>
      <vt:lpstr>Agile Planning is Different</vt:lpstr>
      <vt:lpstr>PowerPoint Presentation</vt:lpstr>
      <vt:lpstr>Working with Task Boards and Sprint Backlogs from Testing Perspective</vt:lpstr>
      <vt:lpstr>Cards on the Board: Information Radiator / Task Board</vt:lpstr>
      <vt:lpstr>Measuring quality</vt:lpstr>
      <vt:lpstr>Change in Metrics from Traditional to Agile</vt:lpstr>
      <vt:lpstr>Example: Quality Reporting</vt:lpstr>
      <vt:lpstr>Measuring from the Product Backlog</vt:lpstr>
      <vt:lpstr>Example: Metrics on Product Backlog Commitment and Prioritization</vt:lpstr>
      <vt:lpstr>Example: Metrics on Product Backlog Incremental Development Ability</vt:lpstr>
      <vt:lpstr>Example: Metrics on Product Backlog Change</vt:lpstr>
      <vt:lpstr>Visibility to Quality Debt</vt:lpstr>
      <vt:lpstr>Example: Quality Debt at a Point of Time</vt:lpstr>
      <vt:lpstr>PowerPoint Presentation</vt:lpstr>
      <vt:lpstr>Different Kinds of Results</vt:lpstr>
      <vt:lpstr>Different Types of Sessions</vt:lpstr>
      <vt:lpstr>Example: Areas of Practices  and Scores</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14</cp:revision>
  <dcterms:created xsi:type="dcterms:W3CDTF">2006-08-16T00:00:00Z</dcterms:created>
  <dcterms:modified xsi:type="dcterms:W3CDTF">2017-05-29T07:26:09Z</dcterms:modified>
</cp:coreProperties>
</file>