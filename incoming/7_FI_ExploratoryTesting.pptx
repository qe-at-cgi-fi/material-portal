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emf" ContentType="image/x-em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3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57" r:id="rId17"/>
  </p:sldIdLst>
  <p:sldSz cx="9144000" cy="6858000" type="screen4x3"/>
  <p:notesSz cx="6734175" cy="98679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309" autoAdjust="0"/>
  </p:normalViewPr>
  <p:slideViewPr>
    <p:cSldViewPr>
      <p:cViewPr varScale="1">
        <p:scale>
          <a:sx n="63" d="100"/>
          <a:sy n="63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490" y="-126"/>
      </p:cViewPr>
      <p:guideLst>
        <p:guide orient="horz" pos="3108"/>
        <p:guide pos="212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4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5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54147D-D886-4876-AE47-05B19DBA3D40}" type="doc">
      <dgm:prSet loTypeId="urn:microsoft.com/office/officeart/2005/8/layout/matrix3" loCatId="matrix" qsTypeId="urn:microsoft.com/office/officeart/2005/8/quickstyle/simple1" qsCatId="simple" csTypeId="urn:microsoft.com/office/officeart/2005/8/colors/colorful1#4" csCatId="colorful" phldr="1"/>
      <dgm:spPr/>
      <dgm:t>
        <a:bodyPr/>
        <a:lstStyle/>
        <a:p>
          <a:endParaRPr lang="fi-FI"/>
        </a:p>
      </dgm:t>
    </dgm:pt>
    <dgm:pt modelId="{3F986CD5-32D2-40F9-8FE1-5F7D4B828171}">
      <dgm:prSet/>
      <dgm:spPr/>
      <dgm:t>
        <a:bodyPr/>
        <a:lstStyle/>
        <a:p>
          <a:pPr rtl="0"/>
          <a:r>
            <a:rPr lang="fi-FI" dirty="0" smtClean="0"/>
            <a:t>Evolving work products</a:t>
          </a:r>
          <a:endParaRPr lang="en-US" dirty="0"/>
        </a:p>
      </dgm:t>
    </dgm:pt>
    <dgm:pt modelId="{F8011F23-2E94-411F-8696-8C9616075A6A}" type="parTrans" cxnId="{1479695B-F356-4758-A7A5-EAEE36EEF0B7}">
      <dgm:prSet/>
      <dgm:spPr/>
      <dgm:t>
        <a:bodyPr/>
        <a:lstStyle/>
        <a:p>
          <a:endParaRPr lang="fi-FI"/>
        </a:p>
      </dgm:t>
    </dgm:pt>
    <dgm:pt modelId="{9A6E985A-2A54-4409-A380-ECB1FEE08C93}" type="sibTrans" cxnId="{1479695B-F356-4758-A7A5-EAEE36EEF0B7}">
      <dgm:prSet/>
      <dgm:spPr/>
      <dgm:t>
        <a:bodyPr/>
        <a:lstStyle/>
        <a:p>
          <a:endParaRPr lang="fi-FI"/>
        </a:p>
      </dgm:t>
    </dgm:pt>
    <dgm:pt modelId="{4081022E-D463-44F8-9169-452FE7A0A7D5}">
      <dgm:prSet/>
      <dgm:spPr/>
      <dgm:t>
        <a:bodyPr/>
        <a:lstStyle/>
        <a:p>
          <a:pPr rtl="0"/>
          <a:r>
            <a:rPr lang="fi-FI" dirty="0" smtClean="0"/>
            <a:t>Skills and tactics</a:t>
          </a:r>
          <a:endParaRPr lang="en-US" dirty="0"/>
        </a:p>
      </dgm:t>
    </dgm:pt>
    <dgm:pt modelId="{7E026B62-94DB-4102-AB4C-7766EFA188AC}" type="parTrans" cxnId="{C90D52CF-A8C6-41F9-95A7-58A11D6D9332}">
      <dgm:prSet/>
      <dgm:spPr/>
      <dgm:t>
        <a:bodyPr/>
        <a:lstStyle/>
        <a:p>
          <a:endParaRPr lang="fi-FI"/>
        </a:p>
      </dgm:t>
    </dgm:pt>
    <dgm:pt modelId="{C9DBFACC-C6E8-4F56-993E-69DD5F059A0C}" type="sibTrans" cxnId="{C90D52CF-A8C6-41F9-95A7-58A11D6D9332}">
      <dgm:prSet/>
      <dgm:spPr/>
      <dgm:t>
        <a:bodyPr/>
        <a:lstStyle/>
        <a:p>
          <a:endParaRPr lang="fi-FI"/>
        </a:p>
      </dgm:t>
    </dgm:pt>
    <dgm:pt modelId="{4747557A-B876-4573-811E-945CC3DFCA7B}">
      <dgm:prSet/>
      <dgm:spPr/>
      <dgm:t>
        <a:bodyPr/>
        <a:lstStyle/>
        <a:p>
          <a:pPr rtl="0"/>
          <a:r>
            <a:rPr lang="fi-FI" dirty="0" smtClean="0"/>
            <a:t>Testing polarities</a:t>
          </a:r>
          <a:endParaRPr lang="en-US" dirty="0"/>
        </a:p>
      </dgm:t>
    </dgm:pt>
    <dgm:pt modelId="{017BBB5C-744F-416F-9EAE-C4AEAD80CEC7}" type="parTrans" cxnId="{F47A41D0-2DF9-4095-9544-530173552892}">
      <dgm:prSet/>
      <dgm:spPr/>
      <dgm:t>
        <a:bodyPr/>
        <a:lstStyle/>
        <a:p>
          <a:endParaRPr lang="fi-FI"/>
        </a:p>
      </dgm:t>
    </dgm:pt>
    <dgm:pt modelId="{9352335F-1F6B-427C-ACA9-412A2D2D9AA6}" type="sibTrans" cxnId="{F47A41D0-2DF9-4095-9544-530173552892}">
      <dgm:prSet/>
      <dgm:spPr/>
      <dgm:t>
        <a:bodyPr/>
        <a:lstStyle/>
        <a:p>
          <a:endParaRPr lang="fi-FI"/>
        </a:p>
      </dgm:t>
    </dgm:pt>
    <dgm:pt modelId="{FE912E28-430B-4BA2-965A-FEB7244805A3}">
      <dgm:prSet/>
      <dgm:spPr/>
      <dgm:t>
        <a:bodyPr/>
        <a:lstStyle/>
        <a:p>
          <a:pPr rtl="0"/>
          <a:r>
            <a:rPr lang="fi-FI" dirty="0" smtClean="0"/>
            <a:t>Test strategy</a:t>
          </a:r>
          <a:endParaRPr lang="fi-FI" dirty="0"/>
        </a:p>
      </dgm:t>
    </dgm:pt>
    <dgm:pt modelId="{D780291F-56E0-4A34-BD0C-50EC5C5BCBFC}" type="parTrans" cxnId="{5BB664C9-19E1-46A5-91CC-B9128612D9DB}">
      <dgm:prSet/>
      <dgm:spPr/>
      <dgm:t>
        <a:bodyPr/>
        <a:lstStyle/>
        <a:p>
          <a:endParaRPr lang="fi-FI"/>
        </a:p>
      </dgm:t>
    </dgm:pt>
    <dgm:pt modelId="{29263C4A-88C3-40DA-8002-7502CA13AFE1}" type="sibTrans" cxnId="{5BB664C9-19E1-46A5-91CC-B9128612D9DB}">
      <dgm:prSet/>
      <dgm:spPr/>
      <dgm:t>
        <a:bodyPr/>
        <a:lstStyle/>
        <a:p>
          <a:endParaRPr lang="fi-FI"/>
        </a:p>
      </dgm:t>
    </dgm:pt>
    <dgm:pt modelId="{E022BAF4-DEB7-4BE7-A366-0D36385FC969}" type="pres">
      <dgm:prSet presAssocID="{6554147D-D886-4876-AE47-05B19DBA3D40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fi-FI"/>
        </a:p>
      </dgm:t>
    </dgm:pt>
    <dgm:pt modelId="{927AE840-057F-4D9C-9F6E-E7AC2314F923}" type="pres">
      <dgm:prSet presAssocID="{6554147D-D886-4876-AE47-05B19DBA3D40}" presName="diamond" presStyleLbl="bgShp" presStyleIdx="0" presStyleCnt="1"/>
      <dgm:spPr/>
    </dgm:pt>
    <dgm:pt modelId="{A062F7CA-504E-4517-9DB2-B75D34EF8DF1}" type="pres">
      <dgm:prSet presAssocID="{6554147D-D886-4876-AE47-05B19DBA3D40}" presName="qua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i-FI"/>
        </a:p>
      </dgm:t>
    </dgm:pt>
    <dgm:pt modelId="{78018732-3258-4900-B5B7-509DB4050E17}" type="pres">
      <dgm:prSet presAssocID="{6554147D-D886-4876-AE47-05B19DBA3D40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i-FI"/>
        </a:p>
      </dgm:t>
    </dgm:pt>
    <dgm:pt modelId="{6BC21E4E-5A5B-45BE-A69E-74C36DCF3722}" type="pres">
      <dgm:prSet presAssocID="{6554147D-D886-4876-AE47-05B19DBA3D40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i-FI"/>
        </a:p>
      </dgm:t>
    </dgm:pt>
    <dgm:pt modelId="{DB0183A8-C86A-4F00-98A1-213CE757159F}" type="pres">
      <dgm:prSet presAssocID="{6554147D-D886-4876-AE47-05B19DBA3D40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i-FI"/>
        </a:p>
      </dgm:t>
    </dgm:pt>
  </dgm:ptLst>
  <dgm:cxnLst>
    <dgm:cxn modelId="{2F0B8E30-B8B5-447F-8CEA-1D7A0B30EA79}" type="presOf" srcId="{FE912E28-430B-4BA2-965A-FEB7244805A3}" destId="{DB0183A8-C86A-4F00-98A1-213CE757159F}" srcOrd="0" destOrd="0" presId="urn:microsoft.com/office/officeart/2005/8/layout/matrix3"/>
    <dgm:cxn modelId="{1479695B-F356-4758-A7A5-EAEE36EEF0B7}" srcId="{6554147D-D886-4876-AE47-05B19DBA3D40}" destId="{3F986CD5-32D2-40F9-8FE1-5F7D4B828171}" srcOrd="0" destOrd="0" parTransId="{F8011F23-2E94-411F-8696-8C9616075A6A}" sibTransId="{9A6E985A-2A54-4409-A380-ECB1FEE08C93}"/>
    <dgm:cxn modelId="{5BB664C9-19E1-46A5-91CC-B9128612D9DB}" srcId="{6554147D-D886-4876-AE47-05B19DBA3D40}" destId="{FE912E28-430B-4BA2-965A-FEB7244805A3}" srcOrd="3" destOrd="0" parTransId="{D780291F-56E0-4A34-BD0C-50EC5C5BCBFC}" sibTransId="{29263C4A-88C3-40DA-8002-7502CA13AFE1}"/>
    <dgm:cxn modelId="{F47A41D0-2DF9-4095-9544-530173552892}" srcId="{6554147D-D886-4876-AE47-05B19DBA3D40}" destId="{4747557A-B876-4573-811E-945CC3DFCA7B}" srcOrd="2" destOrd="0" parTransId="{017BBB5C-744F-416F-9EAE-C4AEAD80CEC7}" sibTransId="{9352335F-1F6B-427C-ACA9-412A2D2D9AA6}"/>
    <dgm:cxn modelId="{C38F61F4-6599-438B-8E88-3A73434BD5DC}" type="presOf" srcId="{4747557A-B876-4573-811E-945CC3DFCA7B}" destId="{6BC21E4E-5A5B-45BE-A69E-74C36DCF3722}" srcOrd="0" destOrd="0" presId="urn:microsoft.com/office/officeart/2005/8/layout/matrix3"/>
    <dgm:cxn modelId="{937D28D2-724D-4206-82A3-99ECFC0904B9}" type="presOf" srcId="{3F986CD5-32D2-40F9-8FE1-5F7D4B828171}" destId="{A062F7CA-504E-4517-9DB2-B75D34EF8DF1}" srcOrd="0" destOrd="0" presId="urn:microsoft.com/office/officeart/2005/8/layout/matrix3"/>
    <dgm:cxn modelId="{C90D52CF-A8C6-41F9-95A7-58A11D6D9332}" srcId="{6554147D-D886-4876-AE47-05B19DBA3D40}" destId="{4081022E-D463-44F8-9169-452FE7A0A7D5}" srcOrd="1" destOrd="0" parTransId="{7E026B62-94DB-4102-AB4C-7766EFA188AC}" sibTransId="{C9DBFACC-C6E8-4F56-993E-69DD5F059A0C}"/>
    <dgm:cxn modelId="{BD5BB4B2-5D39-4A19-AAAC-5EBF42D585B1}" type="presOf" srcId="{4081022E-D463-44F8-9169-452FE7A0A7D5}" destId="{78018732-3258-4900-B5B7-509DB4050E17}" srcOrd="0" destOrd="0" presId="urn:microsoft.com/office/officeart/2005/8/layout/matrix3"/>
    <dgm:cxn modelId="{BB8CAFF5-1410-4518-919F-093E19617F62}" type="presOf" srcId="{6554147D-D886-4876-AE47-05B19DBA3D40}" destId="{E022BAF4-DEB7-4BE7-A366-0D36385FC969}" srcOrd="0" destOrd="0" presId="urn:microsoft.com/office/officeart/2005/8/layout/matrix3"/>
    <dgm:cxn modelId="{F5D8560D-19C6-44E1-9B9C-D5890049B29F}" type="presParOf" srcId="{E022BAF4-DEB7-4BE7-A366-0D36385FC969}" destId="{927AE840-057F-4D9C-9F6E-E7AC2314F923}" srcOrd="0" destOrd="0" presId="urn:microsoft.com/office/officeart/2005/8/layout/matrix3"/>
    <dgm:cxn modelId="{3A255D08-89DE-4186-A93A-C85A759EF513}" type="presParOf" srcId="{E022BAF4-DEB7-4BE7-A366-0D36385FC969}" destId="{A062F7CA-504E-4517-9DB2-B75D34EF8DF1}" srcOrd="1" destOrd="0" presId="urn:microsoft.com/office/officeart/2005/8/layout/matrix3"/>
    <dgm:cxn modelId="{84D530A3-8E6A-45E7-8073-9FA3FA9FC581}" type="presParOf" srcId="{E022BAF4-DEB7-4BE7-A366-0D36385FC969}" destId="{78018732-3258-4900-B5B7-509DB4050E17}" srcOrd="2" destOrd="0" presId="urn:microsoft.com/office/officeart/2005/8/layout/matrix3"/>
    <dgm:cxn modelId="{08727EED-C833-46B2-A2E1-9F8465CC8FD0}" type="presParOf" srcId="{E022BAF4-DEB7-4BE7-A366-0D36385FC969}" destId="{6BC21E4E-5A5B-45BE-A69E-74C36DCF3722}" srcOrd="3" destOrd="0" presId="urn:microsoft.com/office/officeart/2005/8/layout/matrix3"/>
    <dgm:cxn modelId="{25E2350E-7C8C-47B1-A670-ECD678B07F2E}" type="presParOf" srcId="{E022BAF4-DEB7-4BE7-A366-0D36385FC969}" destId="{DB0183A8-C86A-4F00-98A1-213CE757159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98A164-7150-4827-97D4-E7BBF2CEAE97}" type="doc">
      <dgm:prSet loTypeId="urn:microsoft.com/office/officeart/2005/8/layout/radial2" loCatId="relationship" qsTypeId="urn:microsoft.com/office/officeart/2005/8/quickstyle/simple1" qsCatId="simple" csTypeId="urn:microsoft.com/office/officeart/2005/8/colors/colorful1#5" csCatId="colorful" phldr="1"/>
      <dgm:spPr/>
      <dgm:t>
        <a:bodyPr/>
        <a:lstStyle/>
        <a:p>
          <a:endParaRPr lang="fi-FI"/>
        </a:p>
      </dgm:t>
    </dgm:pt>
    <dgm:pt modelId="{4BBC8500-B64B-4150-9709-3CB04C292EA6}">
      <dgm:prSet custT="1"/>
      <dgm:spPr/>
      <dgm:t>
        <a:bodyPr/>
        <a:lstStyle/>
        <a:p>
          <a:pPr rtl="0"/>
          <a:r>
            <a:rPr lang="fi-FI" sz="2000" dirty="0" smtClean="0"/>
            <a:t>Self-management</a:t>
          </a:r>
          <a:endParaRPr lang="en-US" sz="2000" dirty="0"/>
        </a:p>
      </dgm:t>
    </dgm:pt>
    <dgm:pt modelId="{0EDE736D-95BA-4900-99D1-AEA5D20666B7}" type="parTrans" cxnId="{3FF48D3A-0685-42E1-85D3-D93C30AA6CAB}">
      <dgm:prSet/>
      <dgm:spPr/>
      <dgm:t>
        <a:bodyPr/>
        <a:lstStyle/>
        <a:p>
          <a:endParaRPr lang="fi-FI"/>
        </a:p>
      </dgm:t>
    </dgm:pt>
    <dgm:pt modelId="{2660B158-41C0-474D-8B15-BCE6664D486B}" type="sibTrans" cxnId="{3FF48D3A-0685-42E1-85D3-D93C30AA6CAB}">
      <dgm:prSet/>
      <dgm:spPr/>
      <dgm:t>
        <a:bodyPr/>
        <a:lstStyle/>
        <a:p>
          <a:endParaRPr lang="fi-FI"/>
        </a:p>
      </dgm:t>
    </dgm:pt>
    <dgm:pt modelId="{8F3193AD-BC31-4A17-99A2-BFAAE490E139}">
      <dgm:prSet custT="1"/>
      <dgm:spPr/>
      <dgm:t>
        <a:bodyPr/>
        <a:lstStyle/>
        <a:p>
          <a:pPr rtl="0"/>
          <a:r>
            <a:rPr lang="fi-FI" sz="2000" dirty="0" smtClean="0"/>
            <a:t>Developing ideas</a:t>
          </a:r>
          <a:endParaRPr lang="en-US" sz="2000" dirty="0"/>
        </a:p>
      </dgm:t>
    </dgm:pt>
    <dgm:pt modelId="{66CAA914-44E1-4230-B552-4D92211F2AE0}" type="parTrans" cxnId="{D9BCC1C9-7DE7-4EC9-936B-18C619389DE6}">
      <dgm:prSet/>
      <dgm:spPr/>
      <dgm:t>
        <a:bodyPr/>
        <a:lstStyle/>
        <a:p>
          <a:endParaRPr lang="fi-FI"/>
        </a:p>
      </dgm:t>
    </dgm:pt>
    <dgm:pt modelId="{72CA129F-7F9B-48E1-A719-3D6B786867AA}" type="sibTrans" cxnId="{D9BCC1C9-7DE7-4EC9-936B-18C619389DE6}">
      <dgm:prSet/>
      <dgm:spPr/>
      <dgm:t>
        <a:bodyPr/>
        <a:lstStyle/>
        <a:p>
          <a:endParaRPr lang="fi-FI"/>
        </a:p>
      </dgm:t>
    </dgm:pt>
    <dgm:pt modelId="{5AA964A3-EAA4-44A6-844B-F1BC3688E5B4}">
      <dgm:prSet custT="1"/>
      <dgm:spPr/>
      <dgm:t>
        <a:bodyPr/>
        <a:lstStyle/>
        <a:p>
          <a:pPr rtl="0"/>
          <a:r>
            <a:rPr lang="fi-FI" sz="2000" dirty="0" smtClean="0"/>
            <a:t>Examining product</a:t>
          </a:r>
          <a:endParaRPr lang="fi-FI" sz="2000" dirty="0"/>
        </a:p>
      </dgm:t>
    </dgm:pt>
    <dgm:pt modelId="{BEDE0DDD-C5EF-40BD-BC4D-62C4B24B0790}" type="parTrans" cxnId="{7CA3D64A-5288-4AF6-9008-785BBBB94933}">
      <dgm:prSet/>
      <dgm:spPr/>
      <dgm:t>
        <a:bodyPr/>
        <a:lstStyle/>
        <a:p>
          <a:endParaRPr lang="fi-FI"/>
        </a:p>
      </dgm:t>
    </dgm:pt>
    <dgm:pt modelId="{C5A8EB0B-0FF1-4DBB-A49F-04899546CD73}" type="sibTrans" cxnId="{7CA3D64A-5288-4AF6-9008-785BBBB94933}">
      <dgm:prSet/>
      <dgm:spPr/>
      <dgm:t>
        <a:bodyPr/>
        <a:lstStyle/>
        <a:p>
          <a:endParaRPr lang="fi-FI"/>
        </a:p>
      </dgm:t>
    </dgm:pt>
    <dgm:pt modelId="{3B71BE5C-2F7C-47F6-8AA9-9A8F013A8F79}" type="pres">
      <dgm:prSet presAssocID="{1098A164-7150-4827-97D4-E7BBF2CEAE97}" presName="composite" presStyleCnt="0">
        <dgm:presLayoutVars>
          <dgm:chMax val="5"/>
          <dgm:dir/>
          <dgm:animLvl val="ctr"/>
          <dgm:resizeHandles val="exact"/>
        </dgm:presLayoutVars>
      </dgm:prSet>
      <dgm:spPr/>
      <dgm:t>
        <a:bodyPr/>
        <a:lstStyle/>
        <a:p>
          <a:endParaRPr lang="fi-FI"/>
        </a:p>
      </dgm:t>
    </dgm:pt>
    <dgm:pt modelId="{27D7CF71-18AB-48CE-9038-E6FAC9A3E0F3}" type="pres">
      <dgm:prSet presAssocID="{1098A164-7150-4827-97D4-E7BBF2CEAE97}" presName="cycle" presStyleCnt="0"/>
      <dgm:spPr/>
    </dgm:pt>
    <dgm:pt modelId="{5257A393-E687-48CC-994C-0726A014F66F}" type="pres">
      <dgm:prSet presAssocID="{1098A164-7150-4827-97D4-E7BBF2CEAE97}" presName="centerShape" presStyleCnt="0"/>
      <dgm:spPr/>
    </dgm:pt>
    <dgm:pt modelId="{9950585F-BDF1-488A-A868-CF968895ABC5}" type="pres">
      <dgm:prSet presAssocID="{1098A164-7150-4827-97D4-E7BBF2CEAE97}" presName="connSite" presStyleLbl="node1" presStyleIdx="0" presStyleCnt="4"/>
      <dgm:spPr/>
    </dgm:pt>
    <dgm:pt modelId="{B26B54AF-BE8F-4B15-B927-370782C7F2C5}" type="pres">
      <dgm:prSet presAssocID="{1098A164-7150-4827-97D4-E7BBF2CEAE97}" presName="visible" presStyleLbl="node1" presStyleIdx="0" presStyleCnt="4" custScaleX="55756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E0EBC4C5-8E1D-4E4A-93BD-93523D4CF2E2}" type="pres">
      <dgm:prSet presAssocID="{0EDE736D-95BA-4900-99D1-AEA5D20666B7}" presName="Name25" presStyleLbl="parChTrans1D1" presStyleIdx="0" presStyleCnt="3"/>
      <dgm:spPr/>
      <dgm:t>
        <a:bodyPr/>
        <a:lstStyle/>
        <a:p>
          <a:endParaRPr lang="fi-FI"/>
        </a:p>
      </dgm:t>
    </dgm:pt>
    <dgm:pt modelId="{35B804A0-84B4-40BD-8F0E-92082275DC89}" type="pres">
      <dgm:prSet presAssocID="{4BBC8500-B64B-4150-9709-3CB04C292EA6}" presName="node" presStyleCnt="0"/>
      <dgm:spPr/>
    </dgm:pt>
    <dgm:pt modelId="{AB37A585-A63C-4DEC-B243-C8A72E761A96}" type="pres">
      <dgm:prSet presAssocID="{4BBC8500-B64B-4150-9709-3CB04C292EA6}" presName="parentNode" presStyleLbl="node1" presStyleIdx="1" presStyleCnt="4" custScaleX="193284" custScaleY="116145" custLinFactNeighborX="13270" custLinFactNeighborY="-5679">
        <dgm:presLayoutVars>
          <dgm:chMax val="1"/>
          <dgm:bulletEnabled val="1"/>
        </dgm:presLayoutVars>
      </dgm:prSet>
      <dgm:spPr/>
      <dgm:t>
        <a:bodyPr/>
        <a:lstStyle/>
        <a:p>
          <a:endParaRPr lang="fi-FI"/>
        </a:p>
      </dgm:t>
    </dgm:pt>
    <dgm:pt modelId="{273173C6-85E3-40FF-8F90-2C16B626ED99}" type="pres">
      <dgm:prSet presAssocID="{4BBC8500-B64B-4150-9709-3CB04C292EA6}" presName="childNode" presStyleLbl="revTx" presStyleIdx="0" presStyleCnt="0">
        <dgm:presLayoutVars>
          <dgm:bulletEnabled val="1"/>
        </dgm:presLayoutVars>
      </dgm:prSet>
      <dgm:spPr/>
    </dgm:pt>
    <dgm:pt modelId="{17C40437-8746-4D54-B8DB-72086947971E}" type="pres">
      <dgm:prSet presAssocID="{66CAA914-44E1-4230-B552-4D92211F2AE0}" presName="Name25" presStyleLbl="parChTrans1D1" presStyleIdx="1" presStyleCnt="3"/>
      <dgm:spPr/>
      <dgm:t>
        <a:bodyPr/>
        <a:lstStyle/>
        <a:p>
          <a:endParaRPr lang="fi-FI"/>
        </a:p>
      </dgm:t>
    </dgm:pt>
    <dgm:pt modelId="{CBC55E23-8413-47C9-8DE5-305C73044E57}" type="pres">
      <dgm:prSet presAssocID="{8F3193AD-BC31-4A17-99A2-BFAAE490E139}" presName="node" presStyleCnt="0"/>
      <dgm:spPr/>
    </dgm:pt>
    <dgm:pt modelId="{0A461D13-2860-4E5E-B1BB-76811662F012}" type="pres">
      <dgm:prSet presAssocID="{8F3193AD-BC31-4A17-99A2-BFAAE490E139}" presName="parentNode" presStyleLbl="node1" presStyleIdx="2" presStyleCnt="4" custScaleX="193284" custScaleY="116145" custLinFactNeighborX="35495" custLinFactNeighborY="2278">
        <dgm:presLayoutVars>
          <dgm:chMax val="1"/>
          <dgm:bulletEnabled val="1"/>
        </dgm:presLayoutVars>
      </dgm:prSet>
      <dgm:spPr/>
      <dgm:t>
        <a:bodyPr/>
        <a:lstStyle/>
        <a:p>
          <a:endParaRPr lang="fi-FI"/>
        </a:p>
      </dgm:t>
    </dgm:pt>
    <dgm:pt modelId="{013336F4-E390-4089-AFBE-7455662BA559}" type="pres">
      <dgm:prSet presAssocID="{8F3193AD-BC31-4A17-99A2-BFAAE490E139}" presName="childNode" presStyleLbl="revTx" presStyleIdx="0" presStyleCnt="0">
        <dgm:presLayoutVars>
          <dgm:bulletEnabled val="1"/>
        </dgm:presLayoutVars>
      </dgm:prSet>
      <dgm:spPr/>
    </dgm:pt>
    <dgm:pt modelId="{E2360EF9-3FA0-4182-9335-518FE70FF5CB}" type="pres">
      <dgm:prSet presAssocID="{BEDE0DDD-C5EF-40BD-BC4D-62C4B24B0790}" presName="Name25" presStyleLbl="parChTrans1D1" presStyleIdx="2" presStyleCnt="3"/>
      <dgm:spPr/>
      <dgm:t>
        <a:bodyPr/>
        <a:lstStyle/>
        <a:p>
          <a:endParaRPr lang="fi-FI"/>
        </a:p>
      </dgm:t>
    </dgm:pt>
    <dgm:pt modelId="{C6D3F735-09E4-4946-B420-1AE9979D918E}" type="pres">
      <dgm:prSet presAssocID="{5AA964A3-EAA4-44A6-844B-F1BC3688E5B4}" presName="node" presStyleCnt="0"/>
      <dgm:spPr/>
    </dgm:pt>
    <dgm:pt modelId="{7C842F48-EDDA-431E-BB5B-8423BE94A5A2}" type="pres">
      <dgm:prSet presAssocID="{5AA964A3-EAA4-44A6-844B-F1BC3688E5B4}" presName="parentNode" presStyleLbl="node1" presStyleIdx="3" presStyleCnt="4" custScaleX="193284" custScaleY="116145" custLinFactNeighborX="13270" custLinFactNeighborY="11512">
        <dgm:presLayoutVars>
          <dgm:chMax val="1"/>
          <dgm:bulletEnabled val="1"/>
        </dgm:presLayoutVars>
      </dgm:prSet>
      <dgm:spPr/>
      <dgm:t>
        <a:bodyPr/>
        <a:lstStyle/>
        <a:p>
          <a:endParaRPr lang="fi-FI"/>
        </a:p>
      </dgm:t>
    </dgm:pt>
    <dgm:pt modelId="{86460431-6F5B-4630-8282-BF3584CED536}" type="pres">
      <dgm:prSet presAssocID="{5AA964A3-EAA4-44A6-844B-F1BC3688E5B4}" presName="childNode" presStyleLbl="revTx" presStyleIdx="0" presStyleCnt="0">
        <dgm:presLayoutVars>
          <dgm:bulletEnabled val="1"/>
        </dgm:presLayoutVars>
      </dgm:prSet>
      <dgm:spPr/>
    </dgm:pt>
  </dgm:ptLst>
  <dgm:cxnLst>
    <dgm:cxn modelId="{08617427-D535-41C3-BD8A-41A494C7D654}" type="presOf" srcId="{5AA964A3-EAA4-44A6-844B-F1BC3688E5B4}" destId="{7C842F48-EDDA-431E-BB5B-8423BE94A5A2}" srcOrd="0" destOrd="0" presId="urn:microsoft.com/office/officeart/2005/8/layout/radial2"/>
    <dgm:cxn modelId="{3BAFDF65-B92C-485D-A9B8-978E084DE354}" type="presOf" srcId="{66CAA914-44E1-4230-B552-4D92211F2AE0}" destId="{17C40437-8746-4D54-B8DB-72086947971E}" srcOrd="0" destOrd="0" presId="urn:microsoft.com/office/officeart/2005/8/layout/radial2"/>
    <dgm:cxn modelId="{66D526B5-7A47-458F-A7EC-8685AD95176A}" type="presOf" srcId="{4BBC8500-B64B-4150-9709-3CB04C292EA6}" destId="{AB37A585-A63C-4DEC-B243-C8A72E761A96}" srcOrd="0" destOrd="0" presId="urn:microsoft.com/office/officeart/2005/8/layout/radial2"/>
    <dgm:cxn modelId="{473FF8EE-A420-42E4-9E2B-AAB231144970}" type="presOf" srcId="{0EDE736D-95BA-4900-99D1-AEA5D20666B7}" destId="{E0EBC4C5-8E1D-4E4A-93BD-93523D4CF2E2}" srcOrd="0" destOrd="0" presId="urn:microsoft.com/office/officeart/2005/8/layout/radial2"/>
    <dgm:cxn modelId="{3FF48D3A-0685-42E1-85D3-D93C30AA6CAB}" srcId="{1098A164-7150-4827-97D4-E7BBF2CEAE97}" destId="{4BBC8500-B64B-4150-9709-3CB04C292EA6}" srcOrd="0" destOrd="0" parTransId="{0EDE736D-95BA-4900-99D1-AEA5D20666B7}" sibTransId="{2660B158-41C0-474D-8B15-BCE6664D486B}"/>
    <dgm:cxn modelId="{DB722A50-DD1F-4071-9987-D4EDD2DC2CCA}" type="presOf" srcId="{1098A164-7150-4827-97D4-E7BBF2CEAE97}" destId="{3B71BE5C-2F7C-47F6-8AA9-9A8F013A8F79}" srcOrd="0" destOrd="0" presId="urn:microsoft.com/office/officeart/2005/8/layout/radial2"/>
    <dgm:cxn modelId="{D9BCC1C9-7DE7-4EC9-936B-18C619389DE6}" srcId="{1098A164-7150-4827-97D4-E7BBF2CEAE97}" destId="{8F3193AD-BC31-4A17-99A2-BFAAE490E139}" srcOrd="1" destOrd="0" parTransId="{66CAA914-44E1-4230-B552-4D92211F2AE0}" sibTransId="{72CA129F-7F9B-48E1-A719-3D6B786867AA}"/>
    <dgm:cxn modelId="{7CA3D64A-5288-4AF6-9008-785BBBB94933}" srcId="{1098A164-7150-4827-97D4-E7BBF2CEAE97}" destId="{5AA964A3-EAA4-44A6-844B-F1BC3688E5B4}" srcOrd="2" destOrd="0" parTransId="{BEDE0DDD-C5EF-40BD-BC4D-62C4B24B0790}" sibTransId="{C5A8EB0B-0FF1-4DBB-A49F-04899546CD73}"/>
    <dgm:cxn modelId="{714950FC-D4E9-4EF2-BD07-4010762E6AEB}" type="presOf" srcId="{8F3193AD-BC31-4A17-99A2-BFAAE490E139}" destId="{0A461D13-2860-4E5E-B1BB-76811662F012}" srcOrd="0" destOrd="0" presId="urn:microsoft.com/office/officeart/2005/8/layout/radial2"/>
    <dgm:cxn modelId="{5CC9F16F-349C-41F1-99B7-CAD305C61491}" type="presOf" srcId="{BEDE0DDD-C5EF-40BD-BC4D-62C4B24B0790}" destId="{E2360EF9-3FA0-4182-9335-518FE70FF5CB}" srcOrd="0" destOrd="0" presId="urn:microsoft.com/office/officeart/2005/8/layout/radial2"/>
    <dgm:cxn modelId="{5B34FF3C-F8BB-41B6-8F0D-05EEFBF5AC41}" type="presParOf" srcId="{3B71BE5C-2F7C-47F6-8AA9-9A8F013A8F79}" destId="{27D7CF71-18AB-48CE-9038-E6FAC9A3E0F3}" srcOrd="0" destOrd="0" presId="urn:microsoft.com/office/officeart/2005/8/layout/radial2"/>
    <dgm:cxn modelId="{E15C1022-52C4-4A4F-809B-9BAC09D3F0C8}" type="presParOf" srcId="{27D7CF71-18AB-48CE-9038-E6FAC9A3E0F3}" destId="{5257A393-E687-48CC-994C-0726A014F66F}" srcOrd="0" destOrd="0" presId="urn:microsoft.com/office/officeart/2005/8/layout/radial2"/>
    <dgm:cxn modelId="{B77BC810-1A0E-42C7-9459-ED53B3BAAC9E}" type="presParOf" srcId="{5257A393-E687-48CC-994C-0726A014F66F}" destId="{9950585F-BDF1-488A-A868-CF968895ABC5}" srcOrd="0" destOrd="0" presId="urn:microsoft.com/office/officeart/2005/8/layout/radial2"/>
    <dgm:cxn modelId="{3415B673-EEC4-4566-8810-4F4F6E504402}" type="presParOf" srcId="{5257A393-E687-48CC-994C-0726A014F66F}" destId="{B26B54AF-BE8F-4B15-B927-370782C7F2C5}" srcOrd="1" destOrd="0" presId="urn:microsoft.com/office/officeart/2005/8/layout/radial2"/>
    <dgm:cxn modelId="{E8170014-F519-46BE-B08B-9F3FFEF1F864}" type="presParOf" srcId="{27D7CF71-18AB-48CE-9038-E6FAC9A3E0F3}" destId="{E0EBC4C5-8E1D-4E4A-93BD-93523D4CF2E2}" srcOrd="1" destOrd="0" presId="urn:microsoft.com/office/officeart/2005/8/layout/radial2"/>
    <dgm:cxn modelId="{558F5676-9986-4CDF-9A5E-E9AAEDF4D053}" type="presParOf" srcId="{27D7CF71-18AB-48CE-9038-E6FAC9A3E0F3}" destId="{35B804A0-84B4-40BD-8F0E-92082275DC89}" srcOrd="2" destOrd="0" presId="urn:microsoft.com/office/officeart/2005/8/layout/radial2"/>
    <dgm:cxn modelId="{D49FB9A2-D1B4-4E2A-A270-2904F11E7CF4}" type="presParOf" srcId="{35B804A0-84B4-40BD-8F0E-92082275DC89}" destId="{AB37A585-A63C-4DEC-B243-C8A72E761A96}" srcOrd="0" destOrd="0" presId="urn:microsoft.com/office/officeart/2005/8/layout/radial2"/>
    <dgm:cxn modelId="{8BBBFA2B-B716-4DAE-B13A-2FE5521F763E}" type="presParOf" srcId="{35B804A0-84B4-40BD-8F0E-92082275DC89}" destId="{273173C6-85E3-40FF-8F90-2C16B626ED99}" srcOrd="1" destOrd="0" presId="urn:microsoft.com/office/officeart/2005/8/layout/radial2"/>
    <dgm:cxn modelId="{7E0C0409-81F9-4B85-B5A8-040FABD965B5}" type="presParOf" srcId="{27D7CF71-18AB-48CE-9038-E6FAC9A3E0F3}" destId="{17C40437-8746-4D54-B8DB-72086947971E}" srcOrd="3" destOrd="0" presId="urn:microsoft.com/office/officeart/2005/8/layout/radial2"/>
    <dgm:cxn modelId="{5B787212-9F87-446C-8883-A9B3351DAFCE}" type="presParOf" srcId="{27D7CF71-18AB-48CE-9038-E6FAC9A3E0F3}" destId="{CBC55E23-8413-47C9-8DE5-305C73044E57}" srcOrd="4" destOrd="0" presId="urn:microsoft.com/office/officeart/2005/8/layout/radial2"/>
    <dgm:cxn modelId="{25B2B0C3-42D1-4DB6-B5F0-A417372BBC7F}" type="presParOf" srcId="{CBC55E23-8413-47C9-8DE5-305C73044E57}" destId="{0A461D13-2860-4E5E-B1BB-76811662F012}" srcOrd="0" destOrd="0" presId="urn:microsoft.com/office/officeart/2005/8/layout/radial2"/>
    <dgm:cxn modelId="{3E275159-9A11-469A-BFBD-25A41643AD62}" type="presParOf" srcId="{CBC55E23-8413-47C9-8DE5-305C73044E57}" destId="{013336F4-E390-4089-AFBE-7455662BA559}" srcOrd="1" destOrd="0" presId="urn:microsoft.com/office/officeart/2005/8/layout/radial2"/>
    <dgm:cxn modelId="{64F87A95-810C-4167-9BAA-B9DE6D55ED92}" type="presParOf" srcId="{27D7CF71-18AB-48CE-9038-E6FAC9A3E0F3}" destId="{E2360EF9-3FA0-4182-9335-518FE70FF5CB}" srcOrd="5" destOrd="0" presId="urn:microsoft.com/office/officeart/2005/8/layout/radial2"/>
    <dgm:cxn modelId="{6C2EF807-E5E0-4D02-A0F3-3956D7FCEC67}" type="presParOf" srcId="{27D7CF71-18AB-48CE-9038-E6FAC9A3E0F3}" destId="{C6D3F735-09E4-4946-B420-1AE9979D918E}" srcOrd="6" destOrd="0" presId="urn:microsoft.com/office/officeart/2005/8/layout/radial2"/>
    <dgm:cxn modelId="{99847294-F0F0-40BB-AF47-84193C489CB0}" type="presParOf" srcId="{C6D3F735-09E4-4946-B420-1AE9979D918E}" destId="{7C842F48-EDDA-431E-BB5B-8423BE94A5A2}" srcOrd="0" destOrd="0" presId="urn:microsoft.com/office/officeart/2005/8/layout/radial2"/>
    <dgm:cxn modelId="{FE6109B1-2758-4870-81DC-3263A5CFDDD0}" type="presParOf" srcId="{C6D3F735-09E4-4946-B420-1AE9979D918E}" destId="{86460431-6F5B-4630-8282-BF3584CED536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7AE840-057F-4D9C-9F6E-E7AC2314F923}">
      <dsp:nvSpPr>
        <dsp:cNvPr id="0" name=""/>
        <dsp:cNvSpPr/>
      </dsp:nvSpPr>
      <dsp:spPr>
        <a:xfrm>
          <a:off x="1851818" y="0"/>
          <a:ext cx="4525963" cy="4525963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62F7CA-504E-4517-9DB2-B75D34EF8DF1}">
      <dsp:nvSpPr>
        <dsp:cNvPr id="0" name=""/>
        <dsp:cNvSpPr/>
      </dsp:nvSpPr>
      <dsp:spPr>
        <a:xfrm>
          <a:off x="2281784" y="429966"/>
          <a:ext cx="1765125" cy="17651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2800" kern="1200" dirty="0" smtClean="0"/>
            <a:t>Evolving work products</a:t>
          </a:r>
          <a:endParaRPr lang="en-US" sz="2800" kern="1200" dirty="0"/>
        </a:p>
      </dsp:txBody>
      <dsp:txXfrm>
        <a:off x="2367950" y="516132"/>
        <a:ext cx="1592793" cy="1592793"/>
      </dsp:txXfrm>
    </dsp:sp>
    <dsp:sp modelId="{78018732-3258-4900-B5B7-509DB4050E17}">
      <dsp:nvSpPr>
        <dsp:cNvPr id="0" name=""/>
        <dsp:cNvSpPr/>
      </dsp:nvSpPr>
      <dsp:spPr>
        <a:xfrm>
          <a:off x="4182689" y="429966"/>
          <a:ext cx="1765125" cy="176512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2800" kern="1200" dirty="0" smtClean="0"/>
            <a:t>Skills and tactics</a:t>
          </a:r>
          <a:endParaRPr lang="en-US" sz="2800" kern="1200" dirty="0"/>
        </a:p>
      </dsp:txBody>
      <dsp:txXfrm>
        <a:off x="4268855" y="516132"/>
        <a:ext cx="1592793" cy="1592793"/>
      </dsp:txXfrm>
    </dsp:sp>
    <dsp:sp modelId="{6BC21E4E-5A5B-45BE-A69E-74C36DCF3722}">
      <dsp:nvSpPr>
        <dsp:cNvPr id="0" name=""/>
        <dsp:cNvSpPr/>
      </dsp:nvSpPr>
      <dsp:spPr>
        <a:xfrm>
          <a:off x="2281784" y="2330870"/>
          <a:ext cx="1765125" cy="176512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2800" kern="1200" dirty="0" smtClean="0"/>
            <a:t>Testing polarities</a:t>
          </a:r>
          <a:endParaRPr lang="en-US" sz="2800" kern="1200" dirty="0"/>
        </a:p>
      </dsp:txBody>
      <dsp:txXfrm>
        <a:off x="2367950" y="2417036"/>
        <a:ext cx="1592793" cy="1592793"/>
      </dsp:txXfrm>
    </dsp:sp>
    <dsp:sp modelId="{DB0183A8-C86A-4F00-98A1-213CE757159F}">
      <dsp:nvSpPr>
        <dsp:cNvPr id="0" name=""/>
        <dsp:cNvSpPr/>
      </dsp:nvSpPr>
      <dsp:spPr>
        <a:xfrm>
          <a:off x="4182689" y="2330870"/>
          <a:ext cx="1765125" cy="176512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2800" kern="1200" dirty="0" smtClean="0"/>
            <a:t>Test strategy</a:t>
          </a:r>
          <a:endParaRPr lang="fi-FI" sz="2800" kern="1200" dirty="0"/>
        </a:p>
      </dsp:txBody>
      <dsp:txXfrm>
        <a:off x="4268855" y="2417036"/>
        <a:ext cx="1592793" cy="15927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360EF9-3FA0-4182-9335-518FE70FF5CB}">
      <dsp:nvSpPr>
        <dsp:cNvPr id="0" name=""/>
        <dsp:cNvSpPr/>
      </dsp:nvSpPr>
      <dsp:spPr>
        <a:xfrm rot="2695607">
          <a:off x="977612" y="2971071"/>
          <a:ext cx="393440" cy="65214"/>
        </a:xfrm>
        <a:custGeom>
          <a:avLst/>
          <a:gdLst/>
          <a:ahLst/>
          <a:cxnLst/>
          <a:rect l="0" t="0" r="0" b="0"/>
          <a:pathLst>
            <a:path>
              <a:moveTo>
                <a:pt x="0" y="32607"/>
              </a:moveTo>
              <a:lnTo>
                <a:pt x="393440" y="32607"/>
              </a:lnTo>
            </a:path>
          </a:pathLst>
        </a:cu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C40437-8746-4D54-B8DB-72086947971E}">
      <dsp:nvSpPr>
        <dsp:cNvPr id="0" name=""/>
        <dsp:cNvSpPr/>
      </dsp:nvSpPr>
      <dsp:spPr>
        <a:xfrm rot="41129">
          <a:off x="1035039" y="2239785"/>
          <a:ext cx="366553" cy="65214"/>
        </a:xfrm>
        <a:custGeom>
          <a:avLst/>
          <a:gdLst/>
          <a:ahLst/>
          <a:cxnLst/>
          <a:rect l="0" t="0" r="0" b="0"/>
          <a:pathLst>
            <a:path>
              <a:moveTo>
                <a:pt x="0" y="32607"/>
              </a:moveTo>
              <a:lnTo>
                <a:pt x="366553" y="32607"/>
              </a:lnTo>
            </a:path>
          </a:pathLst>
        </a:cu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EBC4C5-8E1D-4E4A-93BD-93523D4CF2E2}">
      <dsp:nvSpPr>
        <dsp:cNvPr id="0" name=""/>
        <dsp:cNvSpPr/>
      </dsp:nvSpPr>
      <dsp:spPr>
        <a:xfrm rot="18980403">
          <a:off x="985023" y="1529749"/>
          <a:ext cx="361808" cy="65214"/>
        </a:xfrm>
        <a:custGeom>
          <a:avLst/>
          <a:gdLst/>
          <a:ahLst/>
          <a:cxnLst/>
          <a:rect l="0" t="0" r="0" b="0"/>
          <a:pathLst>
            <a:path>
              <a:moveTo>
                <a:pt x="0" y="32607"/>
              </a:moveTo>
              <a:lnTo>
                <a:pt x="361808" y="32607"/>
              </a:lnTo>
            </a:path>
          </a:pathLst>
        </a:cu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6B54AF-BE8F-4B15-B927-370782C7F2C5}">
      <dsp:nvSpPr>
        <dsp:cNvPr id="0" name=""/>
        <dsp:cNvSpPr/>
      </dsp:nvSpPr>
      <dsp:spPr>
        <a:xfrm>
          <a:off x="-48808" y="1401105"/>
          <a:ext cx="961095" cy="1723752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37A585-A63C-4DEC-B243-C8A72E761A96}">
      <dsp:nvSpPr>
        <dsp:cNvPr id="0" name=""/>
        <dsp:cNvSpPr/>
      </dsp:nvSpPr>
      <dsp:spPr>
        <a:xfrm>
          <a:off x="829876" y="328602"/>
          <a:ext cx="1999042" cy="120123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2000" kern="1200" dirty="0" smtClean="0"/>
            <a:t>Self-management</a:t>
          </a:r>
          <a:endParaRPr lang="en-US" sz="2000" kern="1200" dirty="0"/>
        </a:p>
      </dsp:txBody>
      <dsp:txXfrm>
        <a:off x="1122629" y="504518"/>
        <a:ext cx="1413536" cy="849399"/>
      </dsp:txXfrm>
    </dsp:sp>
    <dsp:sp modelId="{0A461D13-2860-4E5E-B1BB-76811662F012}">
      <dsp:nvSpPr>
        <dsp:cNvPr id="0" name=""/>
        <dsp:cNvSpPr/>
      </dsp:nvSpPr>
      <dsp:spPr>
        <a:xfrm>
          <a:off x="1401381" y="1685926"/>
          <a:ext cx="1999042" cy="120123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2000" kern="1200" dirty="0" smtClean="0"/>
            <a:t>Developing ideas</a:t>
          </a:r>
          <a:endParaRPr lang="en-US" sz="2000" kern="1200" dirty="0"/>
        </a:p>
      </dsp:txBody>
      <dsp:txXfrm>
        <a:off x="1694134" y="1861842"/>
        <a:ext cx="1413536" cy="849399"/>
      </dsp:txXfrm>
    </dsp:sp>
    <dsp:sp modelId="{7C842F48-EDDA-431E-BB5B-8423BE94A5A2}">
      <dsp:nvSpPr>
        <dsp:cNvPr id="0" name=""/>
        <dsp:cNvSpPr/>
      </dsp:nvSpPr>
      <dsp:spPr>
        <a:xfrm>
          <a:off x="829876" y="3056456"/>
          <a:ext cx="1999042" cy="120123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2000" kern="1200" dirty="0" smtClean="0"/>
            <a:t>Examining product</a:t>
          </a:r>
          <a:endParaRPr lang="fi-FI" sz="2000" kern="1200" dirty="0"/>
        </a:p>
      </dsp:txBody>
      <dsp:txXfrm>
        <a:off x="1122629" y="3232372"/>
        <a:ext cx="1413536" cy="8493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4474" y="0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5C55B-5751-4D85-896F-91204AA783C7}" type="datetimeFigureOut">
              <a:rPr lang="en-US" smtClean="0"/>
              <a:pPr/>
              <a:t>29/05/17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739775"/>
            <a:ext cx="4933950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418" y="4687253"/>
            <a:ext cx="5387340" cy="4440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2792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4474" y="9372792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6C0F0-CF11-4FCF-A404-2F2FF520469E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726050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1</a:t>
            </a:fld>
            <a:endParaRPr lang="fi-FI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1200" dirty="0" smtClean="0"/>
              <a:t>Lisähuomiona:  perinteiset testausvaiheet väärin nimetty, ovat korjausvaiheita. Hyväksymistestaus on ainoa testausvaihe – ja vain mikäli järjestelmätestaus on tuotannonkaltaista. </a:t>
            </a:r>
          </a:p>
          <a:p>
            <a:pPr algn="ctr"/>
            <a:r>
              <a:rPr lang="en-US" sz="1200" dirty="0" err="1" smtClean="0">
                <a:solidFill>
                  <a:schemeClr val="accent3"/>
                </a:solidFill>
              </a:rPr>
              <a:t>Boltonin</a:t>
            </a:r>
            <a:r>
              <a:rPr lang="en-US" sz="1200" dirty="0" smtClean="0">
                <a:solidFill>
                  <a:schemeClr val="accent3"/>
                </a:solidFill>
              </a:rPr>
              <a:t> </a:t>
            </a:r>
            <a:r>
              <a:rPr lang="en-US" sz="1200" dirty="0" err="1" smtClean="0">
                <a:solidFill>
                  <a:schemeClr val="accent3"/>
                </a:solidFill>
              </a:rPr>
              <a:t>sertifiointi</a:t>
            </a:r>
            <a:r>
              <a:rPr lang="en-US" sz="1200" dirty="0" smtClean="0">
                <a:solidFill>
                  <a:schemeClr val="accent3"/>
                </a:solidFill>
              </a:rPr>
              <a:t>: </a:t>
            </a:r>
          </a:p>
          <a:p>
            <a:pPr algn="ctr"/>
            <a:r>
              <a:rPr lang="en-US" sz="1200" dirty="0" smtClean="0">
                <a:solidFill>
                  <a:schemeClr val="accent3"/>
                </a:solidFill>
              </a:rPr>
              <a:t> "I test. </a:t>
            </a:r>
          </a:p>
          <a:p>
            <a:pPr algn="ctr"/>
            <a:r>
              <a:rPr lang="en-US" sz="1200" dirty="0" smtClean="0">
                <a:solidFill>
                  <a:schemeClr val="accent3"/>
                </a:solidFill>
              </a:rPr>
              <a:t>You observe. </a:t>
            </a:r>
          </a:p>
          <a:p>
            <a:pPr algn="ctr"/>
            <a:r>
              <a:rPr lang="en-US" sz="1200" dirty="0" smtClean="0">
                <a:solidFill>
                  <a:schemeClr val="accent3"/>
                </a:solidFill>
              </a:rPr>
              <a:t>We talk. </a:t>
            </a:r>
          </a:p>
          <a:p>
            <a:pPr algn="ctr"/>
            <a:r>
              <a:rPr lang="en-US" sz="1200" dirty="0" smtClean="0">
                <a:solidFill>
                  <a:schemeClr val="accent3"/>
                </a:solidFill>
              </a:rPr>
              <a:t>You decide".</a:t>
            </a:r>
            <a:endParaRPr lang="fi-FI" sz="1200" dirty="0" smtClean="0">
              <a:solidFill>
                <a:schemeClr val="accent3"/>
              </a:solidFill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i-FI" sz="1200" dirty="0" smtClean="0"/>
          </a:p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C8FEC-6B29-4D05-ABF2-B95F59EC172F}" type="slidenum">
              <a:rPr lang="fi-FI" smtClean="0"/>
              <a:pPr/>
              <a:t>2</a:t>
            </a:fld>
            <a:endParaRPr lang="fi-FI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C8FEC-6B29-4D05-ABF2-B95F59EC172F}" type="slidenum">
              <a:rPr lang="fi-FI" smtClean="0"/>
              <a:pPr/>
              <a:t>3</a:t>
            </a:fld>
            <a:endParaRPr lang="fi-FI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CDF7F-5AB8-470F-8C9F-B8B6C6AAA07C}" type="slidenum">
              <a:rPr lang="fi-FI" smtClean="0"/>
              <a:pPr/>
              <a:t>4</a:t>
            </a:fld>
            <a:endParaRPr lang="fi-FI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C8FEC-6B29-4D05-ABF2-B95F59EC172F}" type="slidenum">
              <a:rPr lang="fi-FI" smtClean="0"/>
              <a:pPr/>
              <a:t>5</a:t>
            </a:fld>
            <a:endParaRPr lang="fi-FI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i-FI" dirty="0" smtClean="0"/>
              <a:t>Starts with an</a:t>
            </a:r>
            <a:r>
              <a:rPr lang="fi-FI" baseline="0" dirty="0" smtClean="0"/>
              <a:t> idea: a chest of gold</a:t>
            </a:r>
          </a:p>
          <a:p>
            <a:r>
              <a:rPr lang="fi-FI" baseline="0" dirty="0" smtClean="0"/>
              <a:t>Ends with a perception: nothing to find; earth ends here. </a:t>
            </a:r>
          </a:p>
          <a:p>
            <a:r>
              <a:rPr lang="fi-FI" baseline="0" dirty="0" smtClean="0"/>
              <a:t>Know your mission!</a:t>
            </a:r>
          </a:p>
          <a:p>
            <a:endParaRPr lang="fi-FI" baseline="0" dirty="0" smtClean="0"/>
          </a:p>
          <a:p>
            <a:r>
              <a:rPr lang="fi-FI" dirty="0" smtClean="0"/>
              <a:t>Tunnustetaan ohjelmistokehityksen ja –testauksen luonne tietotyönä ja hyödynnetään ihmisiä tekemisen selkärankana</a:t>
            </a:r>
          </a:p>
          <a:p>
            <a:pPr lvl="1"/>
            <a:r>
              <a:rPr lang="fi-FI" dirty="0" smtClean="0"/>
              <a:t>Itseohjautuvat tiimit</a:t>
            </a:r>
          </a:p>
          <a:p>
            <a:pPr lvl="1"/>
            <a:r>
              <a:rPr lang="fi-FI" dirty="0" smtClean="0"/>
              <a:t>Ihmisen kyky oppia</a:t>
            </a:r>
          </a:p>
          <a:p>
            <a:r>
              <a:rPr lang="fi-FI" dirty="0" smtClean="0"/>
              <a:t>Ihmiset voi laittaa jatkamaan toisen jäljiltä muutenkin kuin rakentamalla ensin dokumentaation jolla tieto ei kuitenkaan välity!</a:t>
            </a:r>
          </a:p>
          <a:p>
            <a:r>
              <a:rPr lang="fi-FI" dirty="0" smtClean="0"/>
              <a:t>Kotimaista tutkimusta Itkonen et al. Samat tulokset pienemmillä kustannuksilla</a:t>
            </a:r>
          </a:p>
          <a:p>
            <a:r>
              <a:rPr lang="fi-FI" dirty="0" smtClean="0"/>
              <a:t>Kaksi isoa haastetta: testauksesta ei saada tuloksia (ei osata ajatella monipuolisesti) ja testausta ei osata lopettaa ajoissa. </a:t>
            </a:r>
          </a:p>
          <a:p>
            <a:endParaRPr lang="fi-FI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C8FEC-6B29-4D05-ABF2-B95F59EC172F}" type="slidenum">
              <a:rPr lang="fi-FI" smtClean="0"/>
              <a:pPr/>
              <a:t>6</a:t>
            </a:fld>
            <a:endParaRPr lang="fi-FI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247F0-6252-4FF0-8D8D-D32BAA67A2EF}" type="slidenum">
              <a:rPr lang="fi-FI" smtClean="0"/>
              <a:pPr/>
              <a:t>7</a:t>
            </a:fld>
            <a:endParaRPr lang="fi-FI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baseline="0" dirty="0" smtClean="0"/>
              <a:t>Kaikkea saa ja voi muuttaa, mutta ei hallitsemattomasti vaan tiedostaen koko ajan!</a:t>
            </a:r>
            <a:endParaRPr lang="fi-FI" dirty="0" smtClean="0"/>
          </a:p>
          <a:p>
            <a:endParaRPr lang="fi-FI" dirty="0" smtClean="0"/>
          </a:p>
          <a:p>
            <a:r>
              <a:rPr lang="fi-FI" dirty="0" smtClean="0"/>
              <a:t>Isompi</a:t>
            </a:r>
            <a:r>
              <a:rPr lang="fi-FI" baseline="0" dirty="0" smtClean="0"/>
              <a:t> konteksti: budjetointi jne. </a:t>
            </a:r>
          </a:p>
          <a:p>
            <a:endParaRPr lang="fi-FI" baseline="0" dirty="0" smtClean="0"/>
          </a:p>
          <a:p>
            <a:r>
              <a:rPr lang="fi-FI" baseline="0" dirty="0" smtClean="0"/>
              <a:t>Tehtävänantolista vs. testiloki. Muutoksen hanskaaminen testauksen aikana. </a:t>
            </a:r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C8FEC-6B29-4D05-ABF2-B95F59EC172F}" type="slidenum">
              <a:rPr lang="fi-FI" smtClean="0"/>
              <a:pPr/>
              <a:t>8</a:t>
            </a:fld>
            <a:endParaRPr lang="fi-FI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B6EA1D-2977-49C8-BFB7-651D4E153B63}" type="slidenum">
              <a:rPr lang="fi-FI" smtClean="0"/>
              <a:pPr/>
              <a:t>9</a:t>
            </a:fld>
            <a:endParaRPr lang="fi-FI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6E2FC-B52B-4BD8-AAD9-A6179BB76FE7}" type="slidenum">
              <a:rPr lang="fi-FI" smtClean="0"/>
              <a:pPr/>
              <a:t>10</a:t>
            </a:fld>
            <a:endParaRPr lang="fi-FI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6FFC6A-3EB0-4D98-8761-2976D23540E4}" type="slidenum">
              <a:rPr lang="fi-FI" smtClean="0"/>
              <a:pPr/>
              <a:t>12</a:t>
            </a:fld>
            <a:endParaRPr lang="fi-FI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E0E455-F612-49BE-852A-2A4F2818BCB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6079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8586B-2383-455D-9CE5-C5D34A08B2A8}" type="slidenum">
              <a:rPr lang="fi-FI" smtClean="0"/>
              <a:pPr/>
              <a:t>14</a:t>
            </a:fld>
            <a:endParaRPr lang="fi-FI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8586B-2383-455D-9CE5-C5D34A08B2A8}" type="slidenum">
              <a:rPr lang="fi-FI" smtClean="0"/>
              <a:pPr/>
              <a:t>15</a:t>
            </a:fld>
            <a:endParaRPr lang="fi-FI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0F80B-00F3-431D-B31E-47D2F9301A1B}" type="slidenum">
              <a:rPr lang="fi-FI" smtClean="0"/>
              <a:pPr/>
              <a:t>16</a:t>
            </a:fld>
            <a:endParaRPr lang="fi-FI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7EB8C-63E5-4079-86D5-3E1E3761BBFA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70248-044B-4AB7-82B0-49D877E12D3E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D4861-07B5-4237-A2D5-DD2325C04893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A4B5B-BE78-44B7-9512-992542B99CD3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2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580F4-D9EF-42FB-8651-BE76B7E2F784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2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9CCDB-C202-4900-9105-DC0452B5B11C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E388-ECD1-4329-8AF7-6934ABC8A2D1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2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BA5C3-F0C9-4E4B-A211-5E857A4C2FFF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2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6440-53AE-4E40-B58D-71C811DF56CB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2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32E61-282C-46DB-B32E-0A5853D23059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C91AF-860A-4384-AC19-F4658E394DC3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A97FB-4DA2-4DA0-9069-188176D9FB2E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DAY 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hyperlink" Target="http://creativecommons.org/licenses/by/1.0/fi/" TargetMode="External"/><Relationship Id="rId5" Type="http://schemas.openxmlformats.org/officeDocument/2006/relationships/hyperlink" Target="http://creativecommons.org/licenses/by/1.0/fi/deed.en" TargetMode="External"/><Relationship Id="rId6" Type="http://schemas.openxmlformats.org/officeDocument/2006/relationships/image" Target="../media/image2.wm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viscog.beckman.illinois.edu/flashmovie/15.php" TargetMode="External"/><Relationship Id="rId4" Type="http://schemas.openxmlformats.org/officeDocument/2006/relationships/hyperlink" Target="http://www.dothetest.co.uk/whodunnit.html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4" Type="http://schemas.openxmlformats.org/officeDocument/2006/relationships/image" Target="../media/image4.emf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4" Type="http://schemas.openxmlformats.org/officeDocument/2006/relationships/image" Target="../media/image6.wmf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4" Type="http://schemas.openxmlformats.org/officeDocument/2006/relationships/image" Target="../media/image10.wm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Tutkivan testauksen käytännöt</a:t>
            </a:r>
            <a:endParaRPr lang="fi-FI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-FI" dirty="0" smtClean="0"/>
              <a:t>Oppista korostavan testaustyylin käytännön toteutus</a:t>
            </a:r>
            <a:endParaRPr lang="fi-FI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grpSp>
        <p:nvGrpSpPr>
          <p:cNvPr id="4" name="Group 12"/>
          <p:cNvGrpSpPr/>
          <p:nvPr/>
        </p:nvGrpSpPr>
        <p:grpSpPr>
          <a:xfrm>
            <a:off x="4876800" y="5943600"/>
            <a:ext cx="4114800" cy="685800"/>
            <a:chOff x="838200" y="5486400"/>
            <a:chExt cx="4114800" cy="685800"/>
          </a:xfrm>
        </p:grpSpPr>
        <p:sp>
          <p:nvSpPr>
            <p:cNvPr id="12" name="Rectangle 11"/>
            <p:cNvSpPr/>
            <p:nvPr/>
          </p:nvSpPr>
          <p:spPr>
            <a:xfrm>
              <a:off x="838200" y="5486400"/>
              <a:ext cx="4114800" cy="6858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pic>
          <p:nvPicPr>
            <p:cNvPr id="13" name="Picture 12" descr="88x3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9940" y="5638800"/>
              <a:ext cx="1117460" cy="393651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2057400" y="5511225"/>
              <a:ext cx="2819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i-FI" sz="900" b="1" dirty="0" smtClean="0"/>
                <a:t>Erkki Pöyhönen &amp; Maaret Pyhäjärvi</a:t>
              </a:r>
            </a:p>
            <a:p>
              <a:r>
                <a:rPr lang="fi-FI" sz="900" dirty="0" smtClean="0"/>
                <a:t>Nimeä |  Attribution (Finland)</a:t>
              </a:r>
            </a:p>
            <a:p>
              <a:pPr marL="0" lvl="1"/>
              <a:r>
                <a:rPr lang="fi-FI" sz="900" dirty="0" smtClean="0">
                  <a:hlinkClick r:id="rId4"/>
                </a:rPr>
                <a:t>http://creativecommons.org/licenses/by/1.0/fi/</a:t>
              </a:r>
              <a:endParaRPr lang="fi-FI" sz="900" dirty="0" smtClean="0"/>
            </a:p>
            <a:p>
              <a:pPr marL="0" lvl="1"/>
              <a:r>
                <a:rPr lang="fi-FI" sz="900" dirty="0" smtClean="0">
                  <a:hlinkClick r:id="rId5"/>
                </a:rPr>
                <a:t>http://creativecommons.org/licenses/by/1.0/fi/deed.en</a:t>
              </a:r>
              <a:endParaRPr lang="fi-FI" sz="900" dirty="0" smtClean="0"/>
            </a:p>
          </p:txBody>
        </p:sp>
      </p:grpSp>
      <p:pic>
        <p:nvPicPr>
          <p:cNvPr id="11" name="Picture 2" descr="C:\Documents and Settings\Maaret\My Documents\My Pictures\Microsoft Clip Organizer\j0078627.wm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105400" y="200025"/>
            <a:ext cx="3681413" cy="361593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Testauksen laskuoppi, erikoislyhyt oppimäärä</a:t>
            </a:r>
            <a:endParaRPr lang="fi-FI" dirty="0"/>
          </a:p>
        </p:txBody>
      </p:sp>
      <p:sp>
        <p:nvSpPr>
          <p:cNvPr id="6" name="TextBox 5"/>
          <p:cNvSpPr txBox="1"/>
          <p:nvPr/>
        </p:nvSpPr>
        <p:spPr>
          <a:xfrm>
            <a:off x="3286108" y="1357298"/>
            <a:ext cx="2428892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8000" dirty="0" smtClean="0"/>
              <a:t>20</a:t>
            </a:r>
          </a:p>
          <a:p>
            <a:pPr algn="ctr"/>
            <a:r>
              <a:rPr lang="fi-FI" sz="8000" dirty="0" smtClean="0"/>
              <a:t>16</a:t>
            </a:r>
            <a:endParaRPr lang="fi-FI" sz="8000" dirty="0" smtClean="0"/>
          </a:p>
          <a:p>
            <a:pPr algn="ctr"/>
            <a:r>
              <a:rPr lang="fi-FI" sz="8000" dirty="0" smtClean="0"/>
              <a:t>1639</a:t>
            </a:r>
          </a:p>
          <a:p>
            <a:pPr algn="ctr"/>
            <a:r>
              <a:rPr lang="fi-FI" sz="8000" dirty="0" smtClean="0"/>
              <a:t>5</a:t>
            </a:r>
            <a:r>
              <a:rPr lang="en-US" sz="8000" dirty="0" smtClean="0"/>
              <a:t>±</a:t>
            </a:r>
            <a:r>
              <a:rPr lang="fi-FI" sz="8000" dirty="0" smtClean="0"/>
              <a:t>2</a:t>
            </a:r>
          </a:p>
          <a:p>
            <a:pPr algn="ctr"/>
            <a:endParaRPr lang="fi-FI" sz="8000" dirty="0"/>
          </a:p>
        </p:txBody>
      </p:sp>
      <p:sp>
        <p:nvSpPr>
          <p:cNvPr id="5" name="TextBox 4"/>
          <p:cNvSpPr txBox="1"/>
          <p:nvPr/>
        </p:nvSpPr>
        <p:spPr>
          <a:xfrm>
            <a:off x="6477000" y="1752600"/>
            <a:ext cx="2415480" cy="409342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i-FI" sz="2000" b="1" dirty="0" smtClean="0"/>
              <a:t>Keskeisiä huomioita testauksen luonteesta:</a:t>
            </a:r>
          </a:p>
          <a:p>
            <a:pPr algn="ctr"/>
            <a:r>
              <a:rPr lang="fi-FI" sz="2000" dirty="0" smtClean="0"/>
              <a:t>- Rajallinen budjetti</a:t>
            </a:r>
          </a:p>
          <a:p>
            <a:pPr algn="ctr">
              <a:buFontTx/>
              <a:buChar char="-"/>
            </a:pPr>
            <a:r>
              <a:rPr lang="fi-FI" sz="2000" dirty="0" smtClean="0"/>
              <a:t> Kohteena yllättävät ongelmat jatkuvan muutoksen alla</a:t>
            </a:r>
          </a:p>
          <a:p>
            <a:pPr algn="ctr">
              <a:buFontTx/>
              <a:buChar char="-"/>
            </a:pPr>
            <a:r>
              <a:rPr lang="fi-FI" sz="2000" dirty="0" smtClean="0"/>
              <a:t> Mahdoton suunnitella yksityiskohtaisesti etukäteen</a:t>
            </a:r>
          </a:p>
          <a:p>
            <a:pPr algn="ctr">
              <a:buFontTx/>
              <a:buChar char="-"/>
            </a:pPr>
            <a:r>
              <a:rPr lang="fi-FI" sz="2000" dirty="0" smtClean="0"/>
              <a:t> Monimutkainen ja laaja kokonaisuus </a:t>
            </a:r>
            <a:endParaRPr lang="fi-FI" sz="2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23528" y="1916832"/>
            <a:ext cx="25202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fi-FI" sz="2000" dirty="0">
              <a:solidFill>
                <a:schemeClr val="accent3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496" y="5013176"/>
            <a:ext cx="27363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i-FI" sz="16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Testauksen laskuoppi, erikoislyhyt oppimäärä</a:t>
            </a:r>
            <a:endParaRPr lang="fi-FI" dirty="0"/>
          </a:p>
        </p:txBody>
      </p:sp>
      <p:sp>
        <p:nvSpPr>
          <p:cNvPr id="6" name="TextBox 5"/>
          <p:cNvSpPr txBox="1"/>
          <p:nvPr/>
        </p:nvSpPr>
        <p:spPr>
          <a:xfrm>
            <a:off x="71406" y="1357298"/>
            <a:ext cx="242889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1500" dirty="0" smtClean="0"/>
              <a:t>20</a:t>
            </a:r>
          </a:p>
          <a:p>
            <a:pPr algn="ctr"/>
            <a:r>
              <a:rPr lang="fi-FI" sz="7200" smtClean="0"/>
              <a:t>16/</a:t>
            </a:r>
            <a:r>
              <a:rPr lang="fi-FI" sz="7200" dirty="0" smtClean="0"/>
              <a:t>21</a:t>
            </a:r>
          </a:p>
          <a:p>
            <a:pPr algn="ctr"/>
            <a:endParaRPr lang="fi-FI" sz="3200" dirty="0" smtClean="0"/>
          </a:p>
          <a:p>
            <a:pPr algn="ctr"/>
            <a:r>
              <a:rPr lang="fi-FI" sz="11500" dirty="0" smtClean="0"/>
              <a:t>5</a:t>
            </a:r>
            <a:r>
              <a:rPr lang="en-US" sz="11500" dirty="0" smtClean="0"/>
              <a:t>±</a:t>
            </a:r>
            <a:r>
              <a:rPr lang="fi-FI" sz="11500" dirty="0" smtClean="0"/>
              <a:t>2</a:t>
            </a:r>
            <a:endParaRPr lang="fi-FI" sz="11500" dirty="0"/>
          </a:p>
        </p:txBody>
      </p:sp>
      <p:sp>
        <p:nvSpPr>
          <p:cNvPr id="7" name="TextBox 6"/>
          <p:cNvSpPr txBox="1"/>
          <p:nvPr/>
        </p:nvSpPr>
        <p:spPr>
          <a:xfrm>
            <a:off x="2428860" y="1531798"/>
            <a:ext cx="67151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smtClean="0"/>
              <a:t>Lasten peli ”20 kysymystä” opettaa jotain oleellista testauksesta. Peliin on kaksi vaihtoehtoista strategiaa: kysymysten listaaminen etukäteen kun tiedetään vähiten tai kysymysten esittäminen siten että edellisen vastauksesta saa oppia. </a:t>
            </a:r>
          </a:p>
          <a:p>
            <a:r>
              <a:rPr lang="fi-FI" dirty="0" smtClean="0"/>
              <a:t>Miksi silti toistuvasti testauksessa pelaamme ”hölmöllä” strategialla? </a:t>
            </a:r>
            <a:endParaRPr lang="fi-FI" dirty="0"/>
          </a:p>
        </p:txBody>
      </p:sp>
      <p:sp>
        <p:nvSpPr>
          <p:cNvPr id="8" name="TextBox 7"/>
          <p:cNvSpPr txBox="1"/>
          <p:nvPr/>
        </p:nvSpPr>
        <p:spPr>
          <a:xfrm>
            <a:off x="2428860" y="3357562"/>
            <a:ext cx="67151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smtClean="0"/>
              <a:t>Testauksen kansanviisauksiin kuuluu tarve miettiä odotettuja tuloksia yksityiskohtaisesti etukäteen – pelkona sokeus. Testauksen kohteena on odottamattomat ongelmat. </a:t>
            </a:r>
          </a:p>
          <a:p>
            <a:r>
              <a:rPr lang="fi-FI" dirty="0" smtClean="0"/>
              <a:t>Miksi siis sijoitamme merkittävän osan projektibudjeteista virheiden löytymisen todennäköisyyden pienentämiseen?</a:t>
            </a:r>
            <a:endParaRPr lang="fi-FI" dirty="0"/>
          </a:p>
        </p:txBody>
      </p:sp>
      <p:sp>
        <p:nvSpPr>
          <p:cNvPr id="9" name="TextBox 8"/>
          <p:cNvSpPr txBox="1"/>
          <p:nvPr/>
        </p:nvSpPr>
        <p:spPr>
          <a:xfrm>
            <a:off x="2428860" y="5166382"/>
            <a:ext cx="67151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smtClean="0"/>
              <a:t>Ihmisen muisti on rajallinen -  ”human envelope” - tutkitusti ja tunnetusti varsin rajoitettu. Tarvitsemme dokumentaatiota tueksi, erityisesti paineen alla. Dokumentaatio on merkittävä kustannuserä, jolla vain pieni osa tiedosta välittyy. Miksi emme luo dokumentaatiota ajonkohtina jolloin ymmärrämme tarpeet parhaiten?</a:t>
            </a:r>
            <a:endParaRPr lang="fi-FI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Linkit videoihin</a:t>
            </a:r>
            <a:endParaRPr lang="fi-FI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smtClean="0">
                <a:hlinkClick r:id="rId3"/>
              </a:rPr>
              <a:t>http://viscog.beckman.illinois.edu/flashmovie/15.php</a:t>
            </a:r>
            <a:endParaRPr lang="fi-FI" dirty="0" smtClean="0"/>
          </a:p>
          <a:p>
            <a:r>
              <a:rPr lang="fi-FI" dirty="0" smtClean="0">
                <a:hlinkClick r:id="rId4"/>
              </a:rPr>
              <a:t>http://www.dothetest.co.uk/whodunnit.html</a:t>
            </a:r>
            <a:r>
              <a:rPr lang="fi-FI" dirty="0" smtClean="0"/>
              <a:t> </a:t>
            </a:r>
            <a:endParaRPr lang="fi-FI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Oppina tästä</a:t>
            </a:r>
            <a:endParaRPr lang="fi-FI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i-FI" dirty="0" smtClean="0"/>
              <a:t>Testaus ei ole mekaaninen aktiviteetti, jossa vain varmistetaan se mitä jo osattiin odottaa vaan luovaa ja oppimistaitoja vaativaa laatukysymysten rakenteistamista</a:t>
            </a:r>
          </a:p>
          <a:p>
            <a:r>
              <a:rPr lang="fi-FI" dirty="0" smtClean="0"/>
              <a:t>Mekaaniset osat testauksesta voi ja kannattaa automatisoida, mutta niitä on vähemmän kuin usein ymmärretään</a:t>
            </a:r>
          </a:p>
          <a:p>
            <a:pPr lvl="1"/>
            <a:r>
              <a:rPr lang="fi-FI" dirty="0" smtClean="0"/>
              <a:t>Toistotarve ei ole niin suoraviivaista: paras tapa säästää kustannuksissa on jättää tarpeettomia asioita tekemättä!</a:t>
            </a:r>
            <a:endParaRPr lang="fi-FI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Tutkiva Testaus:</a:t>
            </a:r>
            <a:br>
              <a:rPr lang="fi-FI" dirty="0" smtClean="0"/>
            </a:br>
            <a:r>
              <a:rPr lang="fi-FI" dirty="0" smtClean="0"/>
              <a:t>Parempia testejä, parempia testaajia!</a:t>
            </a:r>
            <a:endParaRPr lang="fi-FI" dirty="0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329114" cy="4525963"/>
          </a:xfrm>
        </p:spPr>
        <p:txBody>
          <a:bodyPr>
            <a:noAutofit/>
          </a:bodyPr>
          <a:lstStyle/>
          <a:p>
            <a:r>
              <a:rPr lang="fi-FI" sz="2000" dirty="0" smtClean="0"/>
              <a:t>Ohjelmistotestaustyyli</a:t>
            </a:r>
          </a:p>
          <a:p>
            <a:pPr lvl="1"/>
            <a:r>
              <a:rPr lang="fi-FI" sz="1600" dirty="0" smtClean="0"/>
              <a:t>korostaa yksilön vapautta ja vastuuta prosessissa jossa jatkuva tuotetun hyödyn optimointi on tärkeää</a:t>
            </a:r>
          </a:p>
          <a:p>
            <a:r>
              <a:rPr lang="fi-FI" sz="1600" dirty="0" smtClean="0"/>
              <a:t>“Kaikki testaus jossa testaaja aktiivisesti suunnittelee ja suorittaa testejä ja hyödyntää saamaansa tietoa uusien parempien testien suunnitteluun.” – James Bach &amp; Cem Kaner</a:t>
            </a:r>
          </a:p>
          <a:p>
            <a:r>
              <a:rPr lang="fi-FI" sz="1600" dirty="0" smtClean="0"/>
              <a:t>Kurinalainen, suunniteltu ja </a:t>
            </a:r>
            <a:br>
              <a:rPr lang="fi-FI" sz="1600" dirty="0" smtClean="0"/>
            </a:br>
            <a:r>
              <a:rPr lang="fi-FI" sz="1600" dirty="0" smtClean="0"/>
              <a:t>hallittu tapa tehdä testausta </a:t>
            </a:r>
            <a:br>
              <a:rPr lang="fi-FI" sz="1600" dirty="0" smtClean="0"/>
            </a:br>
            <a:r>
              <a:rPr lang="fi-FI" sz="1600" dirty="0" smtClean="0"/>
              <a:t>joka korostaa jatkuvaa </a:t>
            </a:r>
            <a:br>
              <a:rPr lang="fi-FI" sz="1600" dirty="0" smtClean="0"/>
            </a:br>
            <a:r>
              <a:rPr lang="fi-FI" sz="1600" dirty="0" smtClean="0"/>
              <a:t>oppimista</a:t>
            </a:r>
          </a:p>
          <a:p>
            <a:r>
              <a:rPr lang="fi-FI" sz="1600" dirty="0" smtClean="0"/>
              <a:t>Kotimaista tutkimusta Itkonen et al. 2007</a:t>
            </a:r>
          </a:p>
          <a:p>
            <a:pPr lvl="1"/>
            <a:r>
              <a:rPr lang="fi-FI" sz="1400" dirty="0" smtClean="0"/>
              <a:t>Vastaavat tulokset etukäteissuunnitelluilla ja tutkivaan tyyliin tehdyillä testeillä  </a:t>
            </a:r>
          </a:p>
          <a:p>
            <a:pPr lvl="1"/>
            <a:r>
              <a:rPr lang="en-US" sz="1400" dirty="0" err="1" smtClean="0"/>
              <a:t>Testitapauksilla</a:t>
            </a:r>
            <a:r>
              <a:rPr lang="en-US" sz="1400" dirty="0" smtClean="0"/>
              <a:t> </a:t>
            </a:r>
            <a:r>
              <a:rPr lang="en-US" sz="1400" dirty="0" err="1" smtClean="0"/>
              <a:t>enemmän</a:t>
            </a:r>
            <a:r>
              <a:rPr lang="en-US" sz="1400" dirty="0" smtClean="0"/>
              <a:t> </a:t>
            </a:r>
            <a:r>
              <a:rPr lang="en-US" sz="1400" dirty="0" err="1" smtClean="0"/>
              <a:t>vääriä</a:t>
            </a:r>
            <a:r>
              <a:rPr lang="en-US" sz="1400" dirty="0" smtClean="0"/>
              <a:t> </a:t>
            </a:r>
            <a:r>
              <a:rPr lang="en-US" sz="1400" dirty="0" err="1" smtClean="0"/>
              <a:t>hälytyksiä</a:t>
            </a:r>
            <a:endParaRPr lang="en-US" sz="1400" dirty="0" smtClean="0"/>
          </a:p>
          <a:p>
            <a:pPr lvl="1"/>
            <a:r>
              <a:rPr lang="fi-FI" sz="1400" dirty="0" smtClean="0"/>
              <a:t>Vertailtavana testien suoritus: kokonaistyömäärät testitapauksiin perustuvassa testauksessa suuremmat</a:t>
            </a:r>
            <a:endParaRPr lang="en-US" sz="1400" dirty="0" smtClean="0"/>
          </a:p>
          <a:p>
            <a:pPr lvl="1"/>
            <a:endParaRPr lang="en-US" sz="1600" dirty="0" smtClean="0"/>
          </a:p>
        </p:txBody>
      </p:sp>
      <p:grpSp>
        <p:nvGrpSpPr>
          <p:cNvPr id="3" name="Group 3"/>
          <p:cNvGrpSpPr/>
          <p:nvPr/>
        </p:nvGrpSpPr>
        <p:grpSpPr>
          <a:xfrm>
            <a:off x="4714876" y="1643050"/>
            <a:ext cx="4143404" cy="2428892"/>
            <a:chOff x="500034" y="1571612"/>
            <a:chExt cx="8143932" cy="5143512"/>
          </a:xfrm>
        </p:grpSpPr>
        <p:sp>
          <p:nvSpPr>
            <p:cNvPr id="5" name="Cloud Callout 4"/>
            <p:cNvSpPr/>
            <p:nvPr/>
          </p:nvSpPr>
          <p:spPr>
            <a:xfrm>
              <a:off x="4500562" y="5286388"/>
              <a:ext cx="2286016" cy="1428736"/>
            </a:xfrm>
            <a:prstGeom prst="cloudCallout">
              <a:avLst>
                <a:gd name="adj1" fmla="val -89524"/>
                <a:gd name="adj2" fmla="val -52053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500034" y="1571612"/>
              <a:ext cx="8143932" cy="500066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85786" y="3071810"/>
              <a:ext cx="2905125" cy="3000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8" name="TextBox 7"/>
            <p:cNvSpPr txBox="1"/>
            <p:nvPr/>
          </p:nvSpPr>
          <p:spPr>
            <a:xfrm>
              <a:off x="4071934" y="2071678"/>
              <a:ext cx="3357586" cy="9497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i-FI" dirty="0" smtClean="0">
                  <a:latin typeface="Batik Regular" pitchFamily="2" charset="0"/>
                </a:rPr>
                <a:t>Tuntematon alue</a:t>
              </a:r>
              <a:endParaRPr lang="fi-FI" dirty="0">
                <a:latin typeface="Batik Regular" pitchFamily="2" charset="0"/>
              </a:endParaRPr>
            </a:p>
          </p:txBody>
        </p:sp>
        <p:pic>
          <p:nvPicPr>
            <p:cNvPr id="9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214942" y="5500702"/>
              <a:ext cx="1095376" cy="10515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4" name="Group 11"/>
          <p:cNvGrpSpPr/>
          <p:nvPr/>
        </p:nvGrpSpPr>
        <p:grpSpPr>
          <a:xfrm>
            <a:off x="4897468" y="4714884"/>
            <a:ext cx="3960812" cy="1655763"/>
            <a:chOff x="4643438" y="4076700"/>
            <a:chExt cx="3960812" cy="1655763"/>
          </a:xfrm>
        </p:grpSpPr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4643438" y="4076700"/>
              <a:ext cx="1944687" cy="792163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fi-FI"/>
                <a:t>testeihin liittyvä oppiminen</a:t>
              </a:r>
              <a:endParaRPr lang="en-US"/>
            </a:p>
          </p:txBody>
        </p:sp>
        <p:sp>
          <p:nvSpPr>
            <p:cNvPr id="14" name="Rectangle 5"/>
            <p:cNvSpPr>
              <a:spLocks noChangeArrowheads="1"/>
            </p:cNvSpPr>
            <p:nvPr/>
          </p:nvSpPr>
          <p:spPr bwMode="auto">
            <a:xfrm>
              <a:off x="6659563" y="4076700"/>
              <a:ext cx="1944687" cy="792163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fi-FI"/>
                <a:t>uusien testien suunnittelu</a:t>
              </a:r>
              <a:endParaRPr lang="en-US"/>
            </a:p>
          </p:txBody>
        </p:sp>
        <p:sp>
          <p:nvSpPr>
            <p:cNvPr id="15" name="Rectangle 6"/>
            <p:cNvSpPr>
              <a:spLocks noChangeArrowheads="1"/>
            </p:cNvSpPr>
            <p:nvPr/>
          </p:nvSpPr>
          <p:spPr bwMode="auto">
            <a:xfrm>
              <a:off x="6659563" y="4940300"/>
              <a:ext cx="1944687" cy="792163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fi-FI"/>
                <a:t>testien suoritus</a:t>
              </a:r>
              <a:endParaRPr lang="en-US"/>
            </a:p>
          </p:txBody>
        </p:sp>
        <p:sp>
          <p:nvSpPr>
            <p:cNvPr id="16" name="Rectangle 7"/>
            <p:cNvSpPr>
              <a:spLocks noChangeArrowheads="1"/>
            </p:cNvSpPr>
            <p:nvPr/>
          </p:nvSpPr>
          <p:spPr bwMode="auto">
            <a:xfrm>
              <a:off x="4643438" y="4940300"/>
              <a:ext cx="1944687" cy="792163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fi-FI"/>
                <a:t>testitulosten tulkinta</a:t>
              </a:r>
              <a:endParaRPr lang="en-US"/>
            </a:p>
          </p:txBody>
        </p:sp>
        <p:sp>
          <p:nvSpPr>
            <p:cNvPr id="17" name="AutoShape 8"/>
            <p:cNvSpPr>
              <a:spLocks noChangeArrowheads="1"/>
            </p:cNvSpPr>
            <p:nvPr/>
          </p:nvSpPr>
          <p:spPr bwMode="auto">
            <a:xfrm rot="2768687">
              <a:off x="6228557" y="4580731"/>
              <a:ext cx="719138" cy="720725"/>
            </a:xfrm>
            <a:custGeom>
              <a:avLst/>
              <a:gdLst>
                <a:gd name="G0" fmla="+- 6480 0 0"/>
                <a:gd name="G1" fmla="+- 8640 0 0"/>
                <a:gd name="G2" fmla="+- 4320 0 0"/>
                <a:gd name="G3" fmla="+- 21600 0 6480"/>
                <a:gd name="G4" fmla="+- 21600 0 8640"/>
                <a:gd name="G5" fmla="+- 21600 0 4320"/>
                <a:gd name="G6" fmla="+- 6480 0 10800"/>
                <a:gd name="G7" fmla="+- 8640 0 10800"/>
                <a:gd name="G8" fmla="*/ G7 4320 G6"/>
                <a:gd name="G9" fmla="+- 21600 0 G8"/>
                <a:gd name="T0" fmla="*/ G8 w 21600"/>
                <a:gd name="T1" fmla="*/ G1 h 21600"/>
                <a:gd name="T2" fmla="*/ G9 w 21600"/>
                <a:gd name="T3" fmla="*/ G4 h 21600"/>
              </a:gdLst>
              <a:ahLst/>
              <a:cxnLst>
                <a:cxn ang="0">
                  <a:pos x="r" y="vc"/>
                </a:cxn>
                <a:cxn ang="5400000">
                  <a:pos x="hc" y="b"/>
                </a:cxn>
                <a:cxn ang="10800000">
                  <a:pos x="l" y="vc"/>
                </a:cxn>
                <a:cxn ang="16200000">
                  <a:pos x="hc" y="t"/>
                </a:cxn>
              </a:cxnLst>
              <a:rect l="T0" t="T1" r="T2" b="T3"/>
              <a:pathLst>
                <a:path w="21600" h="21600">
                  <a:moveTo>
                    <a:pt x="10800" y="0"/>
                  </a:moveTo>
                  <a:lnTo>
                    <a:pt x="6480" y="4320"/>
                  </a:lnTo>
                  <a:lnTo>
                    <a:pt x="8640" y="4320"/>
                  </a:lnTo>
                  <a:lnTo>
                    <a:pt x="8640" y="8640"/>
                  </a:lnTo>
                  <a:lnTo>
                    <a:pt x="4320" y="8640"/>
                  </a:lnTo>
                  <a:lnTo>
                    <a:pt x="4320" y="6480"/>
                  </a:lnTo>
                  <a:lnTo>
                    <a:pt x="0" y="10800"/>
                  </a:lnTo>
                  <a:lnTo>
                    <a:pt x="4320" y="15120"/>
                  </a:lnTo>
                  <a:lnTo>
                    <a:pt x="4320" y="12960"/>
                  </a:lnTo>
                  <a:lnTo>
                    <a:pt x="8640" y="12960"/>
                  </a:lnTo>
                  <a:lnTo>
                    <a:pt x="8640" y="17280"/>
                  </a:lnTo>
                  <a:lnTo>
                    <a:pt x="6480" y="17280"/>
                  </a:lnTo>
                  <a:lnTo>
                    <a:pt x="10800" y="21600"/>
                  </a:lnTo>
                  <a:lnTo>
                    <a:pt x="15120" y="17280"/>
                  </a:lnTo>
                  <a:lnTo>
                    <a:pt x="12960" y="17280"/>
                  </a:lnTo>
                  <a:lnTo>
                    <a:pt x="12960" y="12960"/>
                  </a:lnTo>
                  <a:lnTo>
                    <a:pt x="17280" y="12960"/>
                  </a:lnTo>
                  <a:lnTo>
                    <a:pt x="17280" y="15120"/>
                  </a:lnTo>
                  <a:lnTo>
                    <a:pt x="21600" y="10800"/>
                  </a:lnTo>
                  <a:lnTo>
                    <a:pt x="17280" y="6480"/>
                  </a:lnTo>
                  <a:lnTo>
                    <a:pt x="17280" y="8640"/>
                  </a:lnTo>
                  <a:lnTo>
                    <a:pt x="12960" y="8640"/>
                  </a:lnTo>
                  <a:lnTo>
                    <a:pt x="12960" y="4320"/>
                  </a:lnTo>
                  <a:lnTo>
                    <a:pt x="15120" y="4320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i-FI"/>
            </a:p>
          </p:txBody>
        </p:sp>
      </p:grp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Tutkiva testaus tekniikkana: </a:t>
            </a:r>
            <a:br>
              <a:rPr lang="fi-FI" dirty="0" smtClean="0"/>
            </a:br>
            <a:r>
              <a:rPr lang="fi-FI" sz="3600" dirty="0" smtClean="0"/>
              <a:t>Laajennetaan testitapauksia</a:t>
            </a:r>
            <a:endParaRPr lang="fi-FI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i-FI" dirty="0" smtClean="0"/>
              <a:t>Testitapauksen muuntelu</a:t>
            </a:r>
            <a:endParaRPr lang="fi-FI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fi-FI" dirty="0" smtClean="0"/>
              <a:t>Laitetaan mukaan vaihtelua</a:t>
            </a:r>
          </a:p>
          <a:p>
            <a:pPr lvl="1"/>
            <a:r>
              <a:rPr lang="fi-FI" dirty="0" smtClean="0"/>
              <a:t>Lisätään askelia</a:t>
            </a:r>
          </a:p>
          <a:p>
            <a:pPr lvl="2"/>
            <a:r>
              <a:rPr lang="fi-FI" dirty="0" smtClean="0"/>
              <a:t>Enemmän syötteitä ja aineistoa, uusia osia käyttöliittymästä</a:t>
            </a:r>
          </a:p>
          <a:p>
            <a:pPr lvl="1"/>
            <a:r>
              <a:rPr lang="fi-FI" dirty="0" smtClean="0"/>
              <a:t>Poistetaan askelia</a:t>
            </a:r>
          </a:p>
          <a:p>
            <a:pPr lvl="1"/>
            <a:r>
              <a:rPr lang="fi-FI" dirty="0" smtClean="0"/>
              <a:t>Korvataan askelia toisilla</a:t>
            </a:r>
          </a:p>
          <a:p>
            <a:pPr lvl="1"/>
            <a:r>
              <a:rPr lang="fi-FI" dirty="0" smtClean="0"/>
              <a:t>Toistetaan askelia</a:t>
            </a:r>
          </a:p>
          <a:p>
            <a:pPr lvl="1"/>
            <a:r>
              <a:rPr lang="fi-FI" dirty="0" smtClean="0"/>
              <a:t>Vaihdetaan syötteitä ja aineistoja</a:t>
            </a:r>
          </a:p>
          <a:p>
            <a:pPr lvl="1"/>
            <a:r>
              <a:rPr lang="fi-FI" dirty="0" smtClean="0"/>
              <a:t>Vaihdetaan ympäristöä</a:t>
            </a:r>
          </a:p>
          <a:p>
            <a:r>
              <a:rPr lang="fi-FI" dirty="0" smtClean="0"/>
              <a:t>Lyhyehköjä sivupolkuja</a:t>
            </a:r>
          </a:p>
          <a:p>
            <a:pPr lvl="1"/>
            <a:endParaRPr lang="fi-FI" dirty="0" smtClean="0"/>
          </a:p>
          <a:p>
            <a:pPr lvl="1"/>
            <a:endParaRPr lang="fi-FI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i-FI" dirty="0" smtClean="0"/>
              <a:t>Vaihtelua ”kiertoajeluiden avulla” </a:t>
            </a:r>
            <a:endParaRPr lang="fi-FI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fi-FI" dirty="0" smtClean="0"/>
              <a:t>Laajennetaan testi-idealla, joka kuvaa strategiaa / taktiikkaa</a:t>
            </a:r>
          </a:p>
          <a:p>
            <a:r>
              <a:rPr lang="fi-FI" dirty="0" smtClean="0"/>
              <a:t>Whittaker, 2009, kuvaa kiertoajeluita tutkivan testauksen opettamisessa ja laajentamisessa</a:t>
            </a:r>
          </a:p>
          <a:p>
            <a:r>
              <a:rPr lang="fi-FI" dirty="0" smtClean="0"/>
              <a:t>Pidemmät sivupolut tuovat enemmän joustoa testaukseen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i-FI" dirty="0" smtClean="0"/>
              <a:t>Hallittavuuden kehikko</a:t>
            </a:r>
            <a:endParaRPr lang="fi-FI" dirty="0"/>
          </a:p>
        </p:txBody>
      </p:sp>
      <p:sp>
        <p:nvSpPr>
          <p:cNvPr id="4" name="TextBox 3"/>
          <p:cNvSpPr txBox="1"/>
          <p:nvPr/>
        </p:nvSpPr>
        <p:spPr>
          <a:xfrm>
            <a:off x="4567230" y="2438400"/>
            <a:ext cx="2643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800" dirty="0" smtClean="0"/>
              <a:t>”A day’s work”</a:t>
            </a:r>
            <a:endParaRPr lang="fi-FI" sz="2800" dirty="0"/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4814886" y="2971800"/>
            <a:ext cx="4024314" cy="2143140"/>
            <a:chOff x="432" y="768"/>
            <a:chExt cx="5088" cy="3264"/>
          </a:xfrm>
        </p:grpSpPr>
        <p:sp>
          <p:nvSpPr>
            <p:cNvPr id="6" name="Rectangle 3"/>
            <p:cNvSpPr>
              <a:spLocks noChangeArrowheads="1"/>
            </p:cNvSpPr>
            <p:nvPr/>
          </p:nvSpPr>
          <p:spPr bwMode="auto">
            <a:xfrm>
              <a:off x="432" y="768"/>
              <a:ext cx="2496" cy="158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en-GB" sz="1400" b="1" dirty="0" smtClean="0"/>
                <a:t>Visio (“</a:t>
              </a:r>
              <a:r>
                <a:rPr lang="en-GB" sz="1400" b="1" dirty="0" err="1" smtClean="0"/>
                <a:t>hiekkalaatikko</a:t>
              </a:r>
              <a:r>
                <a:rPr lang="en-GB" sz="1400" b="1" dirty="0" smtClean="0"/>
                <a:t>”)</a:t>
              </a:r>
              <a:endParaRPr lang="en-GB" sz="1400" b="1" dirty="0"/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3024" y="768"/>
              <a:ext cx="2496" cy="158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en-GB" sz="1400" b="1" dirty="0" err="1" smtClean="0"/>
                <a:t>Nykyinen</a:t>
              </a:r>
              <a:r>
                <a:rPr lang="en-GB" sz="1400" b="1" dirty="0" smtClean="0"/>
                <a:t> </a:t>
              </a:r>
              <a:r>
                <a:rPr lang="en-GB" sz="1400" b="1" dirty="0" err="1" smtClean="0"/>
                <a:t>tehtävänanto</a:t>
              </a:r>
              <a:endParaRPr lang="en-GB" sz="1400" b="1" dirty="0"/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432" y="2448"/>
              <a:ext cx="2496" cy="158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en-GB" sz="1400" b="1" dirty="0" err="1" smtClean="0"/>
                <a:t>Muita</a:t>
              </a:r>
              <a:r>
                <a:rPr lang="en-GB" sz="1400" b="1" dirty="0" smtClean="0"/>
                <a:t> </a:t>
              </a:r>
              <a:r>
                <a:rPr lang="en-GB" sz="1400" b="1" dirty="0" err="1" smtClean="0"/>
                <a:t>tehtävänantoja</a:t>
              </a:r>
              <a:endParaRPr lang="en-GB" sz="1400" b="1" dirty="0"/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3024" y="2448"/>
              <a:ext cx="2496" cy="158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en-GB" sz="1400" b="1" dirty="0" err="1" smtClean="0"/>
                <a:t>Yksityiskohtia</a:t>
              </a:r>
              <a:r>
                <a:rPr lang="en-GB" sz="1400" b="1" dirty="0" smtClean="0"/>
                <a:t> </a:t>
              </a:r>
              <a:br>
                <a:rPr lang="en-GB" sz="1400" b="1" dirty="0" smtClean="0"/>
              </a:br>
              <a:r>
                <a:rPr lang="en-GB" sz="1400" b="1" dirty="0" err="1" smtClean="0"/>
                <a:t>joihin</a:t>
              </a:r>
              <a:r>
                <a:rPr lang="en-GB" sz="1400" b="1" dirty="0" smtClean="0"/>
                <a:t> </a:t>
              </a:r>
              <a:r>
                <a:rPr lang="en-GB" sz="1400" b="1" dirty="0" err="1" smtClean="0"/>
                <a:t>palata</a:t>
              </a:r>
              <a:endParaRPr lang="en-GB" sz="1400" b="1" dirty="0" smtClean="0"/>
            </a:p>
          </p:txBody>
        </p:sp>
      </p:grpSp>
      <p:sp>
        <p:nvSpPr>
          <p:cNvPr id="11" name="Folded Corner 10"/>
          <p:cNvSpPr/>
          <p:nvPr/>
        </p:nvSpPr>
        <p:spPr>
          <a:xfrm>
            <a:off x="7491402" y="5548315"/>
            <a:ext cx="1500198" cy="1071594"/>
          </a:xfrm>
          <a:prstGeom prst="foldedCorner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000" dirty="0" smtClean="0"/>
              <a:t>Havainto-kirjaukset</a:t>
            </a:r>
            <a:endParaRPr lang="fi-FI" sz="2000" dirty="0"/>
          </a:p>
        </p:txBody>
      </p:sp>
      <p:sp>
        <p:nvSpPr>
          <p:cNvPr id="12" name="Cloud 11"/>
          <p:cNvSpPr/>
          <p:nvPr/>
        </p:nvSpPr>
        <p:spPr>
          <a:xfrm>
            <a:off x="3276600" y="1357298"/>
            <a:ext cx="2724160" cy="1143008"/>
          </a:xfrm>
          <a:prstGeom prst="clou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Käsitys laadusta ja kattavuudesta</a:t>
            </a:r>
            <a:endParaRPr lang="fi-FI" dirty="0"/>
          </a:p>
        </p:txBody>
      </p:sp>
      <p:sp>
        <p:nvSpPr>
          <p:cNvPr id="13" name="Folded Corner 12"/>
          <p:cNvSpPr/>
          <p:nvPr/>
        </p:nvSpPr>
        <p:spPr>
          <a:xfrm>
            <a:off x="7010400" y="1219200"/>
            <a:ext cx="1600200" cy="1143000"/>
          </a:xfrm>
          <a:prstGeom prst="foldedCorner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000" dirty="0" smtClean="0"/>
              <a:t>Laaturaportti</a:t>
            </a:r>
            <a:endParaRPr lang="fi-FI" sz="2000" dirty="0"/>
          </a:p>
        </p:txBody>
      </p:sp>
      <p:sp>
        <p:nvSpPr>
          <p:cNvPr id="14" name="Rounded Rectangular Callout 13"/>
          <p:cNvSpPr/>
          <p:nvPr/>
        </p:nvSpPr>
        <p:spPr>
          <a:xfrm>
            <a:off x="1600200" y="1500174"/>
            <a:ext cx="1571636" cy="928694"/>
          </a:xfrm>
          <a:prstGeom prst="wedgeRoundRectCallout">
            <a:avLst>
              <a:gd name="adj1" fmla="val 48984"/>
              <a:gd name="adj2" fmla="val 85474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000" dirty="0" smtClean="0"/>
              <a:t>Tiivis tilanne-katsaus</a:t>
            </a:r>
            <a:endParaRPr lang="fi-FI" sz="2000" dirty="0"/>
          </a:p>
        </p:txBody>
      </p:sp>
      <p:grpSp>
        <p:nvGrpSpPr>
          <p:cNvPr id="5" name="Group 19"/>
          <p:cNvGrpSpPr/>
          <p:nvPr/>
        </p:nvGrpSpPr>
        <p:grpSpPr>
          <a:xfrm>
            <a:off x="3505200" y="2819400"/>
            <a:ext cx="1071570" cy="1266403"/>
            <a:chOff x="4071934" y="4746507"/>
            <a:chExt cx="1071570" cy="1266403"/>
          </a:xfrm>
        </p:grpSpPr>
        <p:pic>
          <p:nvPicPr>
            <p:cNvPr id="3076" name="Picture 4" descr="C:\Documents and Settings\Maaret\My Documents\My Pictures\Microsoft Clip Organizer\j0078753.wmf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161898" y="4746507"/>
              <a:ext cx="838730" cy="891773"/>
            </a:xfrm>
            <a:prstGeom prst="rect">
              <a:avLst/>
            </a:prstGeom>
            <a:noFill/>
          </p:spPr>
        </p:pic>
        <p:sp>
          <p:nvSpPr>
            <p:cNvPr id="18" name="TextBox 17"/>
            <p:cNvSpPr txBox="1"/>
            <p:nvPr/>
          </p:nvSpPr>
          <p:spPr>
            <a:xfrm>
              <a:off x="4071934" y="5643578"/>
              <a:ext cx="10715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i-FI" dirty="0" smtClean="0"/>
                <a:t>Testaaja</a:t>
              </a:r>
              <a:endParaRPr lang="fi-FI" dirty="0"/>
            </a:p>
          </p:txBody>
        </p:sp>
      </p:grpSp>
      <p:grpSp>
        <p:nvGrpSpPr>
          <p:cNvPr id="10" name="Group 20"/>
          <p:cNvGrpSpPr/>
          <p:nvPr/>
        </p:nvGrpSpPr>
        <p:grpSpPr>
          <a:xfrm>
            <a:off x="-252394" y="1447800"/>
            <a:ext cx="1928794" cy="1983372"/>
            <a:chOff x="7000892" y="2449149"/>
            <a:chExt cx="1928794" cy="1983372"/>
          </a:xfrm>
        </p:grpSpPr>
        <p:pic>
          <p:nvPicPr>
            <p:cNvPr id="3077" name="Picture 5" descr="C:\Documents and Settings\Maaret\My Documents\My Pictures\Microsoft Clip Organizer\j0078713.wmf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641525" y="2449149"/>
              <a:ext cx="645251" cy="1376721"/>
            </a:xfrm>
            <a:prstGeom prst="rect">
              <a:avLst/>
            </a:prstGeom>
            <a:noFill/>
          </p:spPr>
        </p:pic>
        <p:sp>
          <p:nvSpPr>
            <p:cNvPr id="19" name="TextBox 18"/>
            <p:cNvSpPr txBox="1"/>
            <p:nvPr/>
          </p:nvSpPr>
          <p:spPr>
            <a:xfrm>
              <a:off x="7000892" y="3786190"/>
              <a:ext cx="19287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i-FI" dirty="0" smtClean="0"/>
                <a:t>Testaus-</a:t>
              </a:r>
              <a:br>
                <a:rPr lang="fi-FI" dirty="0" smtClean="0"/>
              </a:br>
              <a:r>
                <a:rPr lang="fi-FI" dirty="0" smtClean="0"/>
                <a:t>vastaava</a:t>
              </a:r>
              <a:endParaRPr lang="fi-FI" dirty="0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1604954" y="2438400"/>
            <a:ext cx="12144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 smtClean="0">
                <a:solidFill>
                  <a:srgbClr val="FF0000"/>
                </a:solidFill>
              </a:rPr>
              <a:t>P</a:t>
            </a:r>
            <a:r>
              <a:rPr lang="fi-FI" dirty="0" smtClean="0"/>
              <a:t>ast</a:t>
            </a:r>
          </a:p>
          <a:p>
            <a:r>
              <a:rPr lang="fi-FI" b="1" dirty="0" smtClean="0">
                <a:solidFill>
                  <a:srgbClr val="FF0000"/>
                </a:solidFill>
              </a:rPr>
              <a:t>R</a:t>
            </a:r>
            <a:r>
              <a:rPr lang="fi-FI" dirty="0" smtClean="0"/>
              <a:t>esults</a:t>
            </a:r>
          </a:p>
          <a:p>
            <a:r>
              <a:rPr lang="fi-FI" b="1" dirty="0" smtClean="0">
                <a:solidFill>
                  <a:srgbClr val="FF0000"/>
                </a:solidFill>
              </a:rPr>
              <a:t>O</a:t>
            </a:r>
            <a:r>
              <a:rPr lang="fi-FI" dirty="0" smtClean="0"/>
              <a:t>bstacles</a:t>
            </a:r>
          </a:p>
          <a:p>
            <a:r>
              <a:rPr lang="fi-FI" b="1" dirty="0" smtClean="0">
                <a:solidFill>
                  <a:srgbClr val="FF0000"/>
                </a:solidFill>
              </a:rPr>
              <a:t>O</a:t>
            </a:r>
            <a:r>
              <a:rPr lang="fi-FI" dirty="0" smtClean="0"/>
              <a:t>utlook</a:t>
            </a:r>
          </a:p>
          <a:p>
            <a:r>
              <a:rPr lang="fi-FI" b="1" dirty="0" smtClean="0">
                <a:solidFill>
                  <a:srgbClr val="FF0000"/>
                </a:solidFill>
              </a:rPr>
              <a:t>F</a:t>
            </a:r>
            <a:r>
              <a:rPr lang="fi-FI" dirty="0" smtClean="0"/>
              <a:t>eelings</a:t>
            </a:r>
            <a:endParaRPr lang="fi-FI" dirty="0"/>
          </a:p>
        </p:txBody>
      </p:sp>
      <p:sp>
        <p:nvSpPr>
          <p:cNvPr id="23" name="Right Arrow 22"/>
          <p:cNvSpPr/>
          <p:nvPr/>
        </p:nvSpPr>
        <p:spPr>
          <a:xfrm rot="2826998">
            <a:off x="7509485" y="4918687"/>
            <a:ext cx="571504" cy="571504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4" name="Right Arrow 23"/>
          <p:cNvSpPr/>
          <p:nvPr/>
        </p:nvSpPr>
        <p:spPr>
          <a:xfrm>
            <a:off x="6286512" y="1643050"/>
            <a:ext cx="500066" cy="500066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5" name="Left Arrow 24"/>
          <p:cNvSpPr/>
          <p:nvPr/>
        </p:nvSpPr>
        <p:spPr>
          <a:xfrm rot="19350830">
            <a:off x="4991691" y="4915491"/>
            <a:ext cx="571504" cy="57150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6" name="TextBox 25"/>
          <p:cNvSpPr txBox="1"/>
          <p:nvPr/>
        </p:nvSpPr>
        <p:spPr>
          <a:xfrm>
            <a:off x="8458200" y="4419600"/>
            <a:ext cx="30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600" dirty="0" smtClean="0"/>
              <a:t>?</a:t>
            </a:r>
            <a:endParaRPr lang="fi-FI" sz="1600" dirty="0"/>
          </a:p>
        </p:txBody>
      </p:sp>
      <p:sp>
        <p:nvSpPr>
          <p:cNvPr id="27" name="TextBox 26"/>
          <p:cNvSpPr txBox="1"/>
          <p:nvPr/>
        </p:nvSpPr>
        <p:spPr>
          <a:xfrm>
            <a:off x="8382000" y="4114800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600" dirty="0" smtClean="0"/>
              <a:t>#</a:t>
            </a:r>
            <a:endParaRPr lang="fi-FI" sz="1600" dirty="0"/>
          </a:p>
        </p:txBody>
      </p:sp>
      <p:sp>
        <p:nvSpPr>
          <p:cNvPr id="28" name="TextBox 27"/>
          <p:cNvSpPr txBox="1"/>
          <p:nvPr/>
        </p:nvSpPr>
        <p:spPr>
          <a:xfrm>
            <a:off x="8382000" y="4724400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600" dirty="0" smtClean="0"/>
              <a:t>x</a:t>
            </a:r>
            <a:endParaRPr lang="fi-FI" sz="1600" dirty="0"/>
          </a:p>
        </p:txBody>
      </p:sp>
      <p:grpSp>
        <p:nvGrpSpPr>
          <p:cNvPr id="15" name="Group 28"/>
          <p:cNvGrpSpPr/>
          <p:nvPr/>
        </p:nvGrpSpPr>
        <p:grpSpPr>
          <a:xfrm>
            <a:off x="1676400" y="4886980"/>
            <a:ext cx="3276600" cy="1834399"/>
            <a:chOff x="4447478" y="1618893"/>
            <a:chExt cx="4315522" cy="3715107"/>
          </a:xfrm>
        </p:grpSpPr>
        <p:sp>
          <p:nvSpPr>
            <p:cNvPr id="30" name="TextBox 29"/>
            <p:cNvSpPr txBox="1"/>
            <p:nvPr/>
          </p:nvSpPr>
          <p:spPr>
            <a:xfrm>
              <a:off x="4648200" y="1618893"/>
              <a:ext cx="4038599" cy="1059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i-FI" sz="1400" b="1" dirty="0" smtClean="0"/>
                <a:t>Tulevan testauksen tehtävänantojen lista</a:t>
              </a:r>
              <a:endParaRPr lang="fi-FI" sz="1400" b="1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248400" y="25908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248400" y="27432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248400" y="28956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248400" y="3047999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248400" y="3200399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248400" y="33528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248400" y="35052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248400" y="36576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248400" y="38100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248400" y="39624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248400" y="41148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248400" y="42672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6248400" y="44196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248400" y="45720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6248400" y="48006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248400" y="49530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248400" y="51054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248400" y="52578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cxnSp>
          <p:nvCxnSpPr>
            <p:cNvPr id="49" name="Straight Connector 48"/>
            <p:cNvCxnSpPr/>
            <p:nvPr/>
          </p:nvCxnSpPr>
          <p:spPr>
            <a:xfrm>
              <a:off x="5334000" y="4724400"/>
              <a:ext cx="3429000" cy="0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4447478" y="4763869"/>
              <a:ext cx="1800922" cy="560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i-FI" sz="1200" dirty="0" smtClean="0">
                  <a:latin typeface="Bradley Hand ITC" pitchFamily="66" charset="0"/>
                </a:rPr>
                <a:t>Ulkona budjetista</a:t>
              </a:r>
              <a:endParaRPr lang="fi-FI" sz="1200" dirty="0">
                <a:latin typeface="Bradley Hand ITC" pitchFamily="66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648200" y="2438401"/>
              <a:ext cx="1371600" cy="9349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i-FI" sz="1200" dirty="0" smtClean="0">
                  <a:latin typeface="Bradley Hand ITC" pitchFamily="66" charset="0"/>
                </a:rPr>
                <a:t>Tärkeydessä seuraava!</a:t>
              </a:r>
              <a:endParaRPr lang="fi-FI" sz="1200" dirty="0">
                <a:latin typeface="Bradley Hand ITC" pitchFamily="66" charset="0"/>
              </a:endParaRPr>
            </a:p>
          </p:txBody>
        </p:sp>
        <p:cxnSp>
          <p:nvCxnSpPr>
            <p:cNvPr id="52" name="Straight Arrow Connector 51"/>
            <p:cNvCxnSpPr/>
            <p:nvPr/>
          </p:nvCxnSpPr>
          <p:spPr>
            <a:xfrm>
              <a:off x="5791200" y="2590800"/>
              <a:ext cx="3810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61"/>
          <p:cNvGrpSpPr/>
          <p:nvPr/>
        </p:nvGrpSpPr>
        <p:grpSpPr>
          <a:xfrm>
            <a:off x="-304800" y="4419600"/>
            <a:ext cx="3200400" cy="1526977"/>
            <a:chOff x="3124200" y="5254823"/>
            <a:chExt cx="3200400" cy="1526977"/>
          </a:xfrm>
        </p:grpSpPr>
        <p:grpSp>
          <p:nvGrpSpPr>
            <p:cNvPr id="17" name="Group 52"/>
            <p:cNvGrpSpPr/>
            <p:nvPr/>
          </p:nvGrpSpPr>
          <p:grpSpPr>
            <a:xfrm>
              <a:off x="3733800" y="5638800"/>
              <a:ext cx="1524000" cy="1143000"/>
              <a:chOff x="457200" y="4038600"/>
              <a:chExt cx="1981200" cy="1524000"/>
            </a:xfrm>
          </p:grpSpPr>
          <p:sp>
            <p:nvSpPr>
              <p:cNvPr id="54" name="Rectangle 53"/>
              <p:cNvSpPr/>
              <p:nvPr/>
            </p:nvSpPr>
            <p:spPr>
              <a:xfrm>
                <a:off x="914400" y="4038600"/>
                <a:ext cx="1524000" cy="10668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i-FI" sz="1400"/>
              </a:p>
            </p:txBody>
          </p:sp>
          <p:sp>
            <p:nvSpPr>
              <p:cNvPr id="55" name="Rectangle 54"/>
              <p:cNvSpPr/>
              <p:nvPr/>
            </p:nvSpPr>
            <p:spPr>
              <a:xfrm>
                <a:off x="762000" y="4191000"/>
                <a:ext cx="1524000" cy="10668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i-FI" sz="1400"/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609600" y="4343400"/>
                <a:ext cx="1524000" cy="10668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i-FI" sz="1400"/>
              </a:p>
            </p:txBody>
          </p:sp>
          <p:sp>
            <p:nvSpPr>
              <p:cNvPr id="57" name="Rectangle 56"/>
              <p:cNvSpPr/>
              <p:nvPr/>
            </p:nvSpPr>
            <p:spPr>
              <a:xfrm>
                <a:off x="457200" y="4495800"/>
                <a:ext cx="1524000" cy="10668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i-FI" sz="1400"/>
              </a:p>
            </p:txBody>
          </p:sp>
          <p:sp>
            <p:nvSpPr>
              <p:cNvPr id="58" name="Rectangle 57"/>
              <p:cNvSpPr/>
              <p:nvPr/>
            </p:nvSpPr>
            <p:spPr>
              <a:xfrm>
                <a:off x="533400" y="4724400"/>
                <a:ext cx="1295400" cy="76200"/>
              </a:xfrm>
              <a:prstGeom prst="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i-FI" sz="1400"/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685800" y="4800600"/>
                <a:ext cx="1066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i-FI" sz="1400" dirty="0" smtClean="0"/>
                  <a:t>#, ?, x, +</a:t>
                </a:r>
                <a:endParaRPr lang="fi-FI" sz="1400" dirty="0"/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685800" y="5105400"/>
                <a:ext cx="1066799" cy="410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i-FI" sz="1200" dirty="0" smtClean="0"/>
                  <a:t>20:20:6</a:t>
                </a:r>
                <a:r>
                  <a:rPr lang="fi-FI" sz="1400" dirty="0" smtClean="0"/>
                  <a:t>0</a:t>
                </a:r>
                <a:endParaRPr lang="fi-FI" sz="1400" dirty="0"/>
              </a:p>
            </p:txBody>
          </p:sp>
        </p:grpSp>
        <p:sp>
          <p:nvSpPr>
            <p:cNvPr id="61" name="TextBox 60"/>
            <p:cNvSpPr txBox="1"/>
            <p:nvPr/>
          </p:nvSpPr>
          <p:spPr>
            <a:xfrm>
              <a:off x="3124200" y="5254823"/>
              <a:ext cx="3200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i-FI" sz="1400" b="1" dirty="0" smtClean="0"/>
                <a:t>Tehdyn testauksen sessiomuistiot</a:t>
              </a:r>
              <a:endParaRPr lang="fi-FI" sz="1400" b="1" dirty="0"/>
            </a:p>
          </p:txBody>
        </p:sp>
      </p:grpSp>
      <p:sp>
        <p:nvSpPr>
          <p:cNvPr id="63" name="Cloud 62"/>
          <p:cNvSpPr/>
          <p:nvPr/>
        </p:nvSpPr>
        <p:spPr>
          <a:xfrm>
            <a:off x="5181600" y="5638800"/>
            <a:ext cx="1981200" cy="838200"/>
          </a:xfrm>
          <a:prstGeom prst="cloud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Tutkimis-idea</a:t>
            </a:r>
            <a:endParaRPr lang="fi-FI" dirty="0"/>
          </a:p>
        </p:txBody>
      </p:sp>
      <p:cxnSp>
        <p:nvCxnSpPr>
          <p:cNvPr id="64" name="Straight Arrow Connector 63"/>
          <p:cNvCxnSpPr/>
          <p:nvPr/>
        </p:nvCxnSpPr>
        <p:spPr>
          <a:xfrm rot="10800000">
            <a:off x="4953000" y="5410200"/>
            <a:ext cx="381000" cy="304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rot="10800000" flipV="1">
            <a:off x="4953000" y="6477000"/>
            <a:ext cx="381000" cy="152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76200" y="3810000"/>
            <a:ext cx="1143000" cy="533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Mittarit</a:t>
            </a:r>
            <a:endParaRPr lang="fi-FI" dirty="0"/>
          </a:p>
        </p:txBody>
      </p:sp>
      <p:sp>
        <p:nvSpPr>
          <p:cNvPr id="66" name="Cloud Callout 65"/>
          <p:cNvSpPr/>
          <p:nvPr/>
        </p:nvSpPr>
        <p:spPr>
          <a:xfrm>
            <a:off x="76200" y="304800"/>
            <a:ext cx="1295400" cy="838200"/>
          </a:xfrm>
          <a:prstGeom prst="cloudCallout">
            <a:avLst>
              <a:gd name="adj1" fmla="val -29041"/>
              <a:gd name="adj2" fmla="val 95481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sz="1400" dirty="0" smtClean="0"/>
              <a:t>Valmen-nus</a:t>
            </a:r>
            <a:endParaRPr lang="fi-FI" sz="1400" dirty="0"/>
          </a:p>
        </p:txBody>
      </p:sp>
      <p:sp>
        <p:nvSpPr>
          <p:cNvPr id="67" name="Slide Number Placeholder 6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i-FI" dirty="0" smtClean="0"/>
              <a:t>Osat hallittavuuden kehikossa</a:t>
            </a:r>
            <a:endParaRPr lang="fi-FI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fi-FI" sz="2800" u="sng" dirty="0" smtClean="0"/>
              <a:t>Kurinalainen testaaja</a:t>
            </a:r>
            <a:r>
              <a:rPr lang="fi-FI" sz="2800" dirty="0" smtClean="0"/>
              <a:t> suunnittelee ja muuttaa suunnitelmia monella tasolla</a:t>
            </a:r>
            <a:endParaRPr lang="fi-FI" sz="2800" u="sng" dirty="0" smtClean="0"/>
          </a:p>
          <a:p>
            <a:r>
              <a:rPr lang="fi-FI" sz="2800" u="sng" dirty="0" smtClean="0"/>
              <a:t>Sessio </a:t>
            </a:r>
            <a:r>
              <a:rPr lang="fi-FI" sz="2800" dirty="0" smtClean="0"/>
              <a:t>jossa </a:t>
            </a:r>
            <a:r>
              <a:rPr lang="fi-FI" sz="2800" u="sng" dirty="0" smtClean="0"/>
              <a:t>tehtävänanto </a:t>
            </a:r>
            <a:r>
              <a:rPr lang="fi-FI" sz="2800" dirty="0" smtClean="0"/>
              <a:t>tuottaa </a:t>
            </a:r>
            <a:r>
              <a:rPr lang="fi-FI" sz="2800" u="sng" dirty="0" smtClean="0"/>
              <a:t>raportin</a:t>
            </a:r>
          </a:p>
          <a:p>
            <a:r>
              <a:rPr lang="fi-FI" sz="2800" dirty="0" smtClean="0"/>
              <a:t>Syntyvän tiedon luokittelu </a:t>
            </a:r>
            <a:r>
              <a:rPr lang="fi-FI" sz="2800" u="sng" dirty="0" smtClean="0"/>
              <a:t>mittareiksi</a:t>
            </a:r>
          </a:p>
          <a:p>
            <a:r>
              <a:rPr lang="fi-FI" sz="2800" dirty="0" smtClean="0"/>
              <a:t>Seuraavan testi-idean </a:t>
            </a:r>
            <a:r>
              <a:rPr lang="fi-FI" sz="2800" u="sng" dirty="0" smtClean="0"/>
              <a:t>priorisointi</a:t>
            </a:r>
          </a:p>
          <a:p>
            <a:r>
              <a:rPr lang="fi-FI" sz="2800" dirty="0" smtClean="0"/>
              <a:t>Raportoinnin tukeminen </a:t>
            </a:r>
            <a:r>
              <a:rPr lang="fi-FI" sz="2800" u="sng" dirty="0" smtClean="0"/>
              <a:t>tiiviillä tilannekatsauksella</a:t>
            </a:r>
          </a:p>
          <a:p>
            <a:r>
              <a:rPr lang="fi-FI" sz="2800" dirty="0" smtClean="0"/>
              <a:t>Osaamisen kehittämisen tukeminen </a:t>
            </a:r>
            <a:r>
              <a:rPr lang="fi-FI" sz="2800" u="sng" dirty="0" smtClean="0"/>
              <a:t>valmennuksella</a:t>
            </a:r>
          </a:p>
          <a:p>
            <a:r>
              <a:rPr lang="fi-FI" sz="2800" dirty="0" smtClean="0"/>
              <a:t>Yhteisen laatuarvion tuottaminen </a:t>
            </a:r>
            <a:r>
              <a:rPr lang="fi-FI" sz="2800" u="sng" dirty="0" smtClean="0"/>
              <a:t>laaturaportoinnilla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Suuri ongelmamäärä ketterässä projektissa tutkivalla testauksella...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i-FI" dirty="0" smtClean="0"/>
              <a:t>...kertoo jotakin olevan vialla</a:t>
            </a:r>
          </a:p>
          <a:p>
            <a:r>
              <a:rPr lang="fi-FI" dirty="0" smtClean="0"/>
              <a:t>Vaihtoehtoja:</a:t>
            </a:r>
          </a:p>
          <a:p>
            <a:pPr lvl="1"/>
            <a:r>
              <a:rPr lang="fi-FI" dirty="0" smtClean="0"/>
              <a:t>Hyväksymiskriteerit ovat epätäydellisiä</a:t>
            </a:r>
          </a:p>
          <a:p>
            <a:pPr lvl="1"/>
            <a:r>
              <a:rPr lang="fi-FI" dirty="0" smtClean="0"/>
              <a:t>Kehityksessä tuotetaan koodia vain läpäisemään tiettyä hyväksymistestiä sen sijaan että kirjoitettaisiin yksinkertaisin koodi joka läpäisee hyväksymistestit</a:t>
            </a:r>
          </a:p>
          <a:p>
            <a:pPr lvl="1"/>
            <a:r>
              <a:rPr lang="fi-FI" dirty="0" smtClean="0"/>
              <a:t>Kehitys ei voi käsitellä jotain testausnäkökulmaa jota käsittelet tutkivalla testauksella (esim. käyttöjärjestelmät)</a:t>
            </a:r>
          </a:p>
          <a:p>
            <a:pPr lvl="1"/>
            <a:r>
              <a:rPr lang="fi-FI" dirty="0" smtClean="0"/>
              <a:t>Kehittäjät eivät testaa riittävästi yksikkötestein</a:t>
            </a:r>
          </a:p>
          <a:p>
            <a:pPr lvl="1"/>
            <a:r>
              <a:rPr lang="fi-FI" dirty="0" smtClean="0"/>
              <a:t>Testaajat ylittävät tarkoitetun laajuuden sprintille ja löytävät uusia käyttäjätarinoita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 smtClean="0"/>
              <a:t>Test</a:t>
            </a:r>
            <a:r>
              <a:rPr lang="fi-FI" dirty="0" smtClean="0"/>
              <a:t> </a:t>
            </a:r>
            <a:r>
              <a:rPr lang="fi-FI" dirty="0" err="1" smtClean="0"/>
              <a:t>automation</a:t>
            </a:r>
            <a:r>
              <a:rPr lang="fi-FI" dirty="0" smtClean="0"/>
              <a:t> / </a:t>
            </a:r>
            <a:r>
              <a:rPr lang="fi-FI" dirty="0" err="1" smtClean="0"/>
              <a:t>tools</a:t>
            </a:r>
            <a:r>
              <a:rPr lang="fi-FI" dirty="0" smtClean="0"/>
              <a:t> in ET</a:t>
            </a:r>
            <a:endParaRPr lang="en-US" dirty="0"/>
          </a:p>
        </p:txBody>
      </p:sp>
      <p:sp>
        <p:nvSpPr>
          <p:cNvPr id="5" name="Sisällön paikkamerkki 4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980928"/>
          </a:xfrm>
        </p:spPr>
        <p:txBody>
          <a:bodyPr>
            <a:normAutofit fontScale="92500" lnSpcReduction="20000"/>
          </a:bodyPr>
          <a:lstStyle/>
          <a:p>
            <a:r>
              <a:rPr lang="fi-FI" dirty="0" err="1" smtClean="0"/>
              <a:t>Any</a:t>
            </a:r>
            <a:r>
              <a:rPr lang="fi-FI" dirty="0" smtClean="0"/>
              <a:t> </a:t>
            </a:r>
            <a:r>
              <a:rPr lang="fi-FI" dirty="0" err="1" smtClean="0"/>
              <a:t>form</a:t>
            </a:r>
            <a:r>
              <a:rPr lang="fi-FI" dirty="0" smtClean="0"/>
              <a:t> of </a:t>
            </a:r>
            <a:r>
              <a:rPr lang="fi-FI" dirty="0" err="1" smtClean="0"/>
              <a:t>acquiring</a:t>
            </a:r>
            <a:r>
              <a:rPr lang="fi-FI" dirty="0" smtClean="0"/>
              <a:t> </a:t>
            </a:r>
            <a:r>
              <a:rPr lang="fi-FI" dirty="0" err="1" smtClean="0"/>
              <a:t>quality-related</a:t>
            </a:r>
            <a:r>
              <a:rPr lang="fi-FI" dirty="0" smtClean="0"/>
              <a:t> </a:t>
            </a:r>
            <a:r>
              <a:rPr lang="fi-FI" dirty="0" err="1" smtClean="0"/>
              <a:t>information</a:t>
            </a:r>
            <a:r>
              <a:rPr lang="fi-FI" dirty="0" smtClean="0"/>
              <a:t> </a:t>
            </a:r>
            <a:r>
              <a:rPr lang="fi-FI" dirty="0" err="1" smtClean="0"/>
              <a:t>fits</a:t>
            </a:r>
            <a:r>
              <a:rPr lang="fi-FI" dirty="0" smtClean="0"/>
              <a:t> into </a:t>
            </a:r>
            <a:r>
              <a:rPr lang="fi-FI" dirty="0" err="1" smtClean="0"/>
              <a:t>exploratory</a:t>
            </a:r>
            <a:r>
              <a:rPr lang="fi-FI" dirty="0" smtClean="0"/>
              <a:t> </a:t>
            </a:r>
            <a:r>
              <a:rPr lang="fi-FI" dirty="0" err="1" smtClean="0"/>
              <a:t>testing</a:t>
            </a:r>
            <a:endParaRPr lang="fi-FI" dirty="0" smtClean="0"/>
          </a:p>
          <a:p>
            <a:r>
              <a:rPr lang="fi-FI" dirty="0" err="1" smtClean="0"/>
              <a:t>It’s</a:t>
            </a:r>
            <a:r>
              <a:rPr lang="fi-FI" dirty="0" smtClean="0"/>
              <a:t> </a:t>
            </a:r>
            <a:r>
              <a:rPr lang="fi-FI" dirty="0" err="1" smtClean="0"/>
              <a:t>not</a:t>
            </a:r>
            <a:r>
              <a:rPr lang="fi-FI" dirty="0"/>
              <a:t> </a:t>
            </a:r>
            <a:r>
              <a:rPr lang="fi-FI" dirty="0" err="1" smtClean="0"/>
              <a:t>manual</a:t>
            </a:r>
            <a:r>
              <a:rPr lang="fi-FI" dirty="0" smtClean="0"/>
              <a:t>, </a:t>
            </a:r>
            <a:r>
              <a:rPr lang="fi-FI" dirty="0" err="1" smtClean="0"/>
              <a:t>it’s</a:t>
            </a:r>
            <a:r>
              <a:rPr lang="fi-FI" dirty="0" smtClean="0"/>
              <a:t> </a:t>
            </a:r>
            <a:r>
              <a:rPr lang="fi-FI" dirty="0" err="1" smtClean="0"/>
              <a:t>brain-engaged</a:t>
            </a:r>
            <a:r>
              <a:rPr lang="fi-FI" dirty="0" smtClean="0"/>
              <a:t> – and for </a:t>
            </a:r>
            <a:r>
              <a:rPr lang="fi-FI" dirty="0" err="1" smtClean="0"/>
              <a:t>making</a:t>
            </a:r>
            <a:r>
              <a:rPr lang="fi-FI" dirty="0" smtClean="0"/>
              <a:t> </a:t>
            </a:r>
            <a:r>
              <a:rPr lang="fi-FI" dirty="0" err="1" smtClean="0"/>
              <a:t>that</a:t>
            </a:r>
            <a:r>
              <a:rPr lang="fi-FI" dirty="0" smtClean="0"/>
              <a:t> </a:t>
            </a:r>
            <a:r>
              <a:rPr lang="fi-FI" dirty="0" err="1" smtClean="0"/>
              <a:t>happen</a:t>
            </a:r>
            <a:r>
              <a:rPr lang="fi-FI" dirty="0" smtClean="0"/>
              <a:t>, </a:t>
            </a:r>
            <a:r>
              <a:rPr lang="fi-FI" dirty="0" err="1" smtClean="0"/>
              <a:t>you</a:t>
            </a:r>
            <a:r>
              <a:rPr lang="fi-FI" dirty="0" smtClean="0"/>
              <a:t> </a:t>
            </a:r>
            <a:r>
              <a:rPr lang="fi-FI" dirty="0" err="1" smtClean="0"/>
              <a:t>need</a:t>
            </a:r>
            <a:r>
              <a:rPr lang="fi-FI" dirty="0" smtClean="0"/>
              <a:t> to </a:t>
            </a:r>
            <a:r>
              <a:rPr lang="fi-FI" dirty="0" err="1" smtClean="0"/>
              <a:t>be</a:t>
            </a:r>
            <a:r>
              <a:rPr lang="fi-FI" dirty="0" smtClean="0"/>
              <a:t> </a:t>
            </a:r>
            <a:r>
              <a:rPr lang="fi-FI" dirty="0" err="1" smtClean="0"/>
              <a:t>smart</a:t>
            </a:r>
            <a:r>
              <a:rPr lang="fi-FI" dirty="0" smtClean="0"/>
              <a:t> with </a:t>
            </a:r>
            <a:r>
              <a:rPr lang="fi-FI" dirty="0" err="1" smtClean="0"/>
              <a:t>automation</a:t>
            </a:r>
            <a:r>
              <a:rPr lang="fi-FI" dirty="0" smtClean="0"/>
              <a:t> and </a:t>
            </a:r>
            <a:r>
              <a:rPr lang="fi-FI" dirty="0" err="1" smtClean="0"/>
              <a:t>tools</a:t>
            </a:r>
            <a:r>
              <a:rPr lang="fi-FI" dirty="0" smtClean="0"/>
              <a:t>! </a:t>
            </a:r>
          </a:p>
          <a:p>
            <a:r>
              <a:rPr lang="fi-FI" dirty="0" err="1" smtClean="0">
                <a:solidFill>
                  <a:schemeClr val="accent1"/>
                </a:solidFill>
              </a:rPr>
              <a:t>Example</a:t>
            </a:r>
            <a:r>
              <a:rPr lang="fi-FI" dirty="0" smtClean="0">
                <a:solidFill>
                  <a:schemeClr val="accent1"/>
                </a:solidFill>
              </a:rPr>
              <a:t>: </a:t>
            </a:r>
            <a:r>
              <a:rPr lang="fi-FI" dirty="0" err="1" smtClean="0">
                <a:solidFill>
                  <a:schemeClr val="accent1"/>
                </a:solidFill>
              </a:rPr>
              <a:t>you</a:t>
            </a:r>
            <a:r>
              <a:rPr lang="fi-FI" dirty="0" smtClean="0">
                <a:solidFill>
                  <a:schemeClr val="accent1"/>
                </a:solidFill>
              </a:rPr>
              <a:t> </a:t>
            </a:r>
            <a:r>
              <a:rPr lang="fi-FI" dirty="0" err="1" smtClean="0">
                <a:solidFill>
                  <a:schemeClr val="accent1"/>
                </a:solidFill>
              </a:rPr>
              <a:t>might</a:t>
            </a:r>
            <a:r>
              <a:rPr lang="fi-FI" dirty="0" smtClean="0">
                <a:solidFill>
                  <a:schemeClr val="accent1"/>
                </a:solidFill>
              </a:rPr>
              <a:t> </a:t>
            </a:r>
            <a:r>
              <a:rPr lang="fi-FI" dirty="0" err="1" smtClean="0">
                <a:solidFill>
                  <a:schemeClr val="accent1"/>
                </a:solidFill>
              </a:rPr>
              <a:t>not</a:t>
            </a:r>
            <a:r>
              <a:rPr lang="fi-FI" dirty="0" smtClean="0">
                <a:solidFill>
                  <a:schemeClr val="accent1"/>
                </a:solidFill>
              </a:rPr>
              <a:t> at </a:t>
            </a:r>
            <a:r>
              <a:rPr lang="fi-FI" dirty="0" err="1" smtClean="0">
                <a:solidFill>
                  <a:schemeClr val="accent1"/>
                </a:solidFill>
              </a:rPr>
              <a:t>first</a:t>
            </a:r>
            <a:r>
              <a:rPr lang="fi-FI" dirty="0" smtClean="0">
                <a:solidFill>
                  <a:schemeClr val="accent1"/>
                </a:solidFill>
              </a:rPr>
              <a:t> </a:t>
            </a:r>
            <a:r>
              <a:rPr lang="fi-FI" dirty="0" err="1" smtClean="0">
                <a:solidFill>
                  <a:schemeClr val="accent1"/>
                </a:solidFill>
              </a:rPr>
              <a:t>know</a:t>
            </a:r>
            <a:r>
              <a:rPr lang="fi-FI" dirty="0" smtClean="0">
                <a:solidFill>
                  <a:schemeClr val="accent1"/>
                </a:solidFill>
              </a:rPr>
              <a:t> </a:t>
            </a:r>
            <a:r>
              <a:rPr lang="fi-FI" dirty="0" err="1" smtClean="0">
                <a:solidFill>
                  <a:schemeClr val="accent1"/>
                </a:solidFill>
              </a:rPr>
              <a:t>what</a:t>
            </a:r>
            <a:r>
              <a:rPr lang="fi-FI" dirty="0" smtClean="0">
                <a:solidFill>
                  <a:schemeClr val="accent1"/>
                </a:solidFill>
              </a:rPr>
              <a:t> </a:t>
            </a:r>
            <a:r>
              <a:rPr lang="fi-FI" dirty="0" err="1" smtClean="0">
                <a:solidFill>
                  <a:schemeClr val="accent1"/>
                </a:solidFill>
              </a:rPr>
              <a:t>you’re</a:t>
            </a:r>
            <a:r>
              <a:rPr lang="fi-FI" dirty="0" smtClean="0">
                <a:solidFill>
                  <a:schemeClr val="accent1"/>
                </a:solidFill>
              </a:rPr>
              <a:t> </a:t>
            </a:r>
            <a:r>
              <a:rPr lang="fi-FI" dirty="0" err="1" smtClean="0">
                <a:solidFill>
                  <a:schemeClr val="accent1"/>
                </a:solidFill>
              </a:rPr>
              <a:t>looking</a:t>
            </a:r>
            <a:r>
              <a:rPr lang="fi-FI" dirty="0" smtClean="0">
                <a:solidFill>
                  <a:schemeClr val="accent1"/>
                </a:solidFill>
              </a:rPr>
              <a:t> for...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Suorakulmio 3"/>
          <p:cNvSpPr/>
          <p:nvPr/>
        </p:nvSpPr>
        <p:spPr>
          <a:xfrm>
            <a:off x="899592" y="4797152"/>
            <a:ext cx="813690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1400" b="1" dirty="0" err="1"/>
              <a:t>Search</a:t>
            </a:r>
            <a:r>
              <a:rPr lang="fi-FI" sz="1400" b="1" dirty="0"/>
              <a:t> "&lt;ns1:Koodi&gt;" (443 </a:t>
            </a:r>
            <a:r>
              <a:rPr lang="fi-FI" sz="1400" b="1" dirty="0" err="1"/>
              <a:t>hits</a:t>
            </a:r>
            <a:r>
              <a:rPr lang="fi-FI" sz="1400" b="1" dirty="0"/>
              <a:t> in 169 </a:t>
            </a:r>
            <a:r>
              <a:rPr lang="fi-FI" sz="1400" b="1" dirty="0" err="1"/>
              <a:t>files</a:t>
            </a:r>
            <a:r>
              <a:rPr lang="fi-FI" sz="1400" b="1" dirty="0"/>
              <a:t>) in VE</a:t>
            </a:r>
            <a:endParaRPr lang="en-US" sz="1400" dirty="0"/>
          </a:p>
          <a:p>
            <a:r>
              <a:rPr lang="fi-FI" sz="1400" dirty="0"/>
              <a:t>  Y:\ELLU\LAPA\Testaus\Kokonaiseläketurvan-ote\Ansaintatiedot-VE\HaeAnsaintatiedot-VE__ 20110307 14-22-15.xml (4 </a:t>
            </a:r>
            <a:r>
              <a:rPr lang="fi-FI" sz="1400" dirty="0" err="1"/>
              <a:t>hits</a:t>
            </a:r>
            <a:r>
              <a:rPr lang="fi-FI" sz="1400" dirty="0"/>
              <a:t>) </a:t>
            </a:r>
            <a:endParaRPr lang="en-US" sz="1400" dirty="0"/>
          </a:p>
          <a:p>
            <a:r>
              <a:rPr lang="fi-FI" sz="1400" dirty="0"/>
              <a:t>                Line 1313:                &lt;ns1:Koodi&gt;YL130I&lt;/ns1:Koodi&gt;</a:t>
            </a:r>
            <a:endParaRPr lang="en-US" sz="1400" dirty="0"/>
          </a:p>
          <a:p>
            <a:r>
              <a:rPr lang="fi-FI" sz="1400" dirty="0"/>
              <a:t>                Line 1317:                &lt;ns1:Koodi&gt;LAPA_172_011&lt;/ns1:Koodi&gt;</a:t>
            </a:r>
            <a:endParaRPr lang="en-US" sz="1400" dirty="0"/>
          </a:p>
          <a:p>
            <a:r>
              <a:rPr lang="fi-FI" sz="1400" dirty="0"/>
              <a:t>                Line 1321:                &lt;ns1:Koodi&gt;67&lt;/ns1:Koodi&gt;</a:t>
            </a:r>
            <a:endParaRPr lang="en-US" sz="1400" dirty="0"/>
          </a:p>
          <a:p>
            <a:r>
              <a:rPr lang="fi-FI" sz="1400" dirty="0"/>
              <a:t>                Line 1324:                &lt;ns1:Koodi&gt;67&lt;/ns1:Koodi&gt;</a:t>
            </a:r>
            <a:endParaRPr lang="en-US" sz="1400" dirty="0"/>
          </a:p>
          <a:p>
            <a:r>
              <a:rPr lang="fi-FI" sz="1400" dirty="0"/>
              <a:t> </a:t>
            </a:r>
            <a:r>
              <a:rPr lang="fi-FI" sz="1400" i="1" dirty="0" smtClean="0">
                <a:solidFill>
                  <a:schemeClr val="accent1"/>
                </a:solidFill>
              </a:rPr>
              <a:t>A </a:t>
            </a:r>
            <a:r>
              <a:rPr lang="fi-FI" sz="1400" i="1" dirty="0" err="1" smtClean="0">
                <a:solidFill>
                  <a:schemeClr val="accent1"/>
                </a:solidFill>
              </a:rPr>
              <a:t>lot</a:t>
            </a:r>
            <a:r>
              <a:rPr lang="fi-FI" sz="1400" i="1" dirty="0" smtClean="0">
                <a:solidFill>
                  <a:schemeClr val="accent1"/>
                </a:solidFill>
              </a:rPr>
              <a:t> of </a:t>
            </a:r>
            <a:r>
              <a:rPr lang="fi-FI" sz="1400" i="1" dirty="0" err="1" smtClean="0">
                <a:solidFill>
                  <a:schemeClr val="accent1"/>
                </a:solidFill>
              </a:rPr>
              <a:t>text</a:t>
            </a:r>
            <a:r>
              <a:rPr lang="fi-FI" sz="1400" i="1" dirty="0" smtClean="0">
                <a:solidFill>
                  <a:schemeClr val="accent1"/>
                </a:solidFill>
              </a:rPr>
              <a:t> </a:t>
            </a:r>
            <a:r>
              <a:rPr lang="fi-FI" sz="1400" i="1" dirty="0" err="1" smtClean="0">
                <a:solidFill>
                  <a:schemeClr val="accent1"/>
                </a:solidFill>
              </a:rPr>
              <a:t>cut</a:t>
            </a:r>
            <a:r>
              <a:rPr lang="fi-FI" sz="1400" i="1" dirty="0" smtClean="0">
                <a:solidFill>
                  <a:schemeClr val="accent1"/>
                </a:solidFill>
              </a:rPr>
              <a:t> </a:t>
            </a:r>
            <a:r>
              <a:rPr lang="fi-FI" sz="1400" i="1" dirty="0" err="1" smtClean="0">
                <a:solidFill>
                  <a:schemeClr val="accent1"/>
                </a:solidFill>
              </a:rPr>
              <a:t>away</a:t>
            </a:r>
            <a:r>
              <a:rPr lang="fi-FI" sz="1400" i="1" dirty="0" smtClean="0">
                <a:solidFill>
                  <a:schemeClr val="accent1"/>
                </a:solidFill>
              </a:rPr>
              <a:t> </a:t>
            </a:r>
            <a:r>
              <a:rPr lang="fi-FI" sz="1400" i="1" dirty="0" err="1" smtClean="0">
                <a:solidFill>
                  <a:schemeClr val="accent1"/>
                </a:solidFill>
              </a:rPr>
              <a:t>from</a:t>
            </a:r>
            <a:r>
              <a:rPr lang="fi-FI" sz="1400" i="1" dirty="0" smtClean="0">
                <a:solidFill>
                  <a:schemeClr val="accent1"/>
                </a:solidFill>
              </a:rPr>
              <a:t> </a:t>
            </a:r>
            <a:r>
              <a:rPr lang="fi-FI" sz="1400" i="1" dirty="0" err="1" smtClean="0">
                <a:solidFill>
                  <a:schemeClr val="accent1"/>
                </a:solidFill>
              </a:rPr>
              <a:t>here</a:t>
            </a:r>
            <a:r>
              <a:rPr lang="fi-FI" sz="1400" i="1" dirty="0" smtClean="0">
                <a:solidFill>
                  <a:schemeClr val="accent1"/>
                </a:solidFill>
              </a:rPr>
              <a:t>…</a:t>
            </a:r>
            <a:endParaRPr lang="en-US" sz="1400" i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3342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Potentially Useful Tools for Exploratory Testing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i-FI" i="1" dirty="0" smtClean="0"/>
              <a:t>SnapzPro</a:t>
            </a:r>
          </a:p>
          <a:p>
            <a:pPr lvl="1"/>
            <a:r>
              <a:rPr lang="fi-FI" i="1" dirty="0" smtClean="0"/>
              <a:t>http://www.ambrosiasw.com/utilities/snapzprox/</a:t>
            </a:r>
          </a:p>
          <a:p>
            <a:r>
              <a:rPr lang="fi-FI" i="1" dirty="0" smtClean="0"/>
              <a:t>HyperSnap </a:t>
            </a:r>
          </a:p>
          <a:p>
            <a:pPr lvl="1"/>
            <a:r>
              <a:rPr lang="fi-FI" i="1" dirty="0" smtClean="0"/>
              <a:t>http://www.hyperionics.com/hsdx/</a:t>
            </a:r>
          </a:p>
          <a:p>
            <a:r>
              <a:rPr lang="fi-FI" i="1" dirty="0" smtClean="0"/>
              <a:t>TestExplorer </a:t>
            </a:r>
          </a:p>
          <a:p>
            <a:pPr lvl="1"/>
            <a:r>
              <a:rPr lang="fi-FI" i="1" dirty="0" smtClean="0"/>
              <a:t>http://www.sirius-sqa.com/</a:t>
            </a:r>
          </a:p>
          <a:p>
            <a:r>
              <a:rPr lang="fi-FI" i="1" dirty="0" smtClean="0"/>
              <a:t>BBTestAssistant </a:t>
            </a:r>
          </a:p>
          <a:p>
            <a:pPr lvl="1"/>
            <a:r>
              <a:rPr lang="fi-FI" i="1" dirty="0" smtClean="0"/>
              <a:t>http://www.bbsoftware.co.uk/</a:t>
            </a:r>
          </a:p>
          <a:p>
            <a:r>
              <a:rPr lang="fi-FI" i="1" dirty="0" smtClean="0"/>
              <a:t>Spector </a:t>
            </a:r>
          </a:p>
          <a:p>
            <a:pPr lvl="1"/>
            <a:r>
              <a:rPr lang="fi-FI" i="1" dirty="0" smtClean="0"/>
              <a:t>http://www.spector.com/spectresoft.html</a:t>
            </a:r>
          </a:p>
          <a:p>
            <a:r>
              <a:rPr lang="fi-FI" i="1" dirty="0" smtClean="0"/>
              <a:t>Cygwin </a:t>
            </a:r>
          </a:p>
          <a:p>
            <a:pPr lvl="1"/>
            <a:r>
              <a:rPr lang="fi-FI" i="1" dirty="0" smtClean="0"/>
              <a:t>http://www.cygwin.com/</a:t>
            </a:r>
          </a:p>
          <a:p>
            <a:r>
              <a:rPr lang="fi-FI" i="1" dirty="0" smtClean="0"/>
              <a:t>UnixUtils </a:t>
            </a:r>
          </a:p>
          <a:p>
            <a:pPr lvl="1"/>
            <a:r>
              <a:rPr lang="fi-FI" i="1" dirty="0" smtClean="0"/>
              <a:t>http://unxutils.sourceforge.net/</a:t>
            </a:r>
          </a:p>
          <a:p>
            <a:r>
              <a:rPr lang="fi-FI" i="1" dirty="0" smtClean="0"/>
              <a:t>Regular Expressions</a:t>
            </a:r>
          </a:p>
          <a:p>
            <a:pPr lvl="1"/>
            <a:r>
              <a:rPr lang="fi-FI" i="1" dirty="0" smtClean="0"/>
              <a:t>http://www.ilovejackdaniels.com/cheat-sheets/regular-expressions-cheat-sheet/</a:t>
            </a:r>
          </a:p>
          <a:p>
            <a:r>
              <a:rPr lang="fi-FI" i="1" dirty="0" smtClean="0"/>
              <a:t>Process Monitor</a:t>
            </a:r>
          </a:p>
          <a:p>
            <a:pPr lvl="1"/>
            <a:r>
              <a:rPr lang="fi-FI" i="1" dirty="0" smtClean="0"/>
              <a:t>http://www.microsoft.com/technet/sysinternals/processesandthreads/processmonitor.mspx</a:t>
            </a:r>
          </a:p>
          <a:p>
            <a:r>
              <a:rPr lang="fi-FI" i="1" dirty="0" smtClean="0"/>
              <a:t>Process Explorer</a:t>
            </a:r>
          </a:p>
          <a:p>
            <a:pPr lvl="1"/>
            <a:r>
              <a:rPr lang="fi-FI" i="1" dirty="0" smtClean="0"/>
              <a:t>http://www.microsoft.com/technet/sysinternals/processesandthreads/processexplorer.mspx</a:t>
            </a:r>
          </a:p>
          <a:p>
            <a:endParaRPr lang="fi-FI" b="1" i="1" dirty="0" smtClean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i-FI" i="1" dirty="0" smtClean="0"/>
              <a:t>Holodeck</a:t>
            </a:r>
          </a:p>
          <a:p>
            <a:pPr lvl="1"/>
            <a:r>
              <a:rPr lang="fi-FI" i="1" dirty="0" smtClean="0"/>
              <a:t>http://www.securityinnovation.com/holodeck/index.shtml</a:t>
            </a:r>
          </a:p>
          <a:p>
            <a:r>
              <a:rPr lang="fi-FI" i="1" dirty="0" smtClean="0"/>
              <a:t>perlclip </a:t>
            </a:r>
          </a:p>
          <a:p>
            <a:pPr lvl="1"/>
            <a:r>
              <a:rPr lang="fi-FI" i="1" dirty="0" smtClean="0"/>
              <a:t>http://www.satisfice.com/tools.shtml</a:t>
            </a:r>
          </a:p>
          <a:p>
            <a:r>
              <a:rPr lang="fi-FI" i="1" dirty="0" smtClean="0"/>
              <a:t>DataGraph</a:t>
            </a:r>
          </a:p>
          <a:p>
            <a:pPr lvl="1"/>
            <a:r>
              <a:rPr lang="fi-FI" i="1" dirty="0" smtClean="0"/>
              <a:t>http://www.visualdatatools.com/DataPlot/index.html</a:t>
            </a:r>
          </a:p>
          <a:p>
            <a:r>
              <a:rPr lang="en-US" i="1" dirty="0" smtClean="0"/>
              <a:t>Vermont High Test </a:t>
            </a:r>
          </a:p>
          <a:p>
            <a:pPr lvl="1"/>
            <a:r>
              <a:rPr lang="en-US" i="1" dirty="0" smtClean="0"/>
              <a:t>http://www.vtsoft.com/</a:t>
            </a:r>
          </a:p>
          <a:p>
            <a:r>
              <a:rPr lang="fi-FI" i="1" dirty="0" smtClean="0"/>
              <a:t>Firebug </a:t>
            </a:r>
          </a:p>
          <a:p>
            <a:pPr lvl="1"/>
            <a:r>
              <a:rPr lang="fi-FI" i="1" dirty="0" smtClean="0"/>
              <a:t>http://www.getfirebug.com/</a:t>
            </a:r>
          </a:p>
          <a:p>
            <a:r>
              <a:rPr lang="fi-FI" i="1" dirty="0" smtClean="0"/>
              <a:t>iMacros </a:t>
            </a:r>
          </a:p>
          <a:p>
            <a:pPr lvl="1"/>
            <a:r>
              <a:rPr lang="fi-FI" i="1" dirty="0" smtClean="0"/>
              <a:t>http://www.iopus.com/imacros/firefox/</a:t>
            </a:r>
          </a:p>
          <a:p>
            <a:r>
              <a:rPr lang="fi-FI" i="1" dirty="0" smtClean="0"/>
              <a:t>JMeter </a:t>
            </a:r>
          </a:p>
          <a:p>
            <a:pPr lvl="1"/>
            <a:r>
              <a:rPr lang="fi-FI" i="1" dirty="0" smtClean="0"/>
              <a:t>http://jakarta.apache.org/jmeter/</a:t>
            </a:r>
          </a:p>
          <a:p>
            <a:r>
              <a:rPr lang="fi-FI" i="1" dirty="0" smtClean="0"/>
              <a:t>VirtualPC</a:t>
            </a:r>
          </a:p>
          <a:p>
            <a:pPr lvl="1"/>
            <a:r>
              <a:rPr lang="fi-FI" i="1" dirty="0" smtClean="0"/>
              <a:t>http://www.microsoft.com/windows/products/winfamily/virtualpc/default.mspx</a:t>
            </a:r>
          </a:p>
          <a:p>
            <a:r>
              <a:rPr lang="fi-FI" i="1" dirty="0" smtClean="0"/>
              <a:t>VMWare </a:t>
            </a:r>
          </a:p>
          <a:p>
            <a:pPr lvl="1"/>
            <a:r>
              <a:rPr lang="fi-FI" i="1" dirty="0" smtClean="0"/>
              <a:t>http://www.vmware.com/</a:t>
            </a:r>
          </a:p>
          <a:p>
            <a:r>
              <a:rPr lang="fi-FI" i="1" dirty="0" smtClean="0"/>
              <a:t>Parallels </a:t>
            </a:r>
          </a:p>
          <a:p>
            <a:pPr lvl="1"/>
            <a:r>
              <a:rPr lang="fi-FI" i="1" dirty="0" smtClean="0"/>
              <a:t>http://www.parallels.com/</a:t>
            </a:r>
            <a:endParaRPr lang="fi-FI" dirty="0" smtClean="0"/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172370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 smtClean="0"/>
              <a:t>Test</a:t>
            </a:r>
            <a:r>
              <a:rPr lang="fi-FI" dirty="0" smtClean="0"/>
              <a:t> </a:t>
            </a:r>
            <a:r>
              <a:rPr lang="fi-FI" dirty="0" err="1" smtClean="0"/>
              <a:t>Ideas</a:t>
            </a:r>
            <a:r>
              <a:rPr lang="fi-FI" dirty="0" smtClean="0"/>
              <a:t> / </a:t>
            </a:r>
            <a:r>
              <a:rPr lang="fi-FI" dirty="0" err="1" smtClean="0"/>
              <a:t>Quick-and-Dirty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778" y="1282568"/>
            <a:ext cx="8527471" cy="4522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23528" y="6093296"/>
            <a:ext cx="8640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dirty="0" err="1" smtClean="0"/>
              <a:t>Download</a:t>
            </a:r>
            <a:r>
              <a:rPr lang="fi-FI" dirty="0" smtClean="0"/>
              <a:t> the </a:t>
            </a:r>
            <a:r>
              <a:rPr lang="fi-FI" dirty="0" err="1" smtClean="0"/>
              <a:t>full</a:t>
            </a:r>
            <a:r>
              <a:rPr lang="fi-FI" dirty="0" smtClean="0"/>
              <a:t> 2-page </a:t>
            </a:r>
            <a:r>
              <a:rPr lang="fi-FI" dirty="0" err="1" smtClean="0"/>
              <a:t>Cheat</a:t>
            </a:r>
            <a:r>
              <a:rPr lang="fi-FI" dirty="0" smtClean="0"/>
              <a:t> </a:t>
            </a:r>
            <a:r>
              <a:rPr lang="fi-FI" dirty="0" err="1" smtClean="0"/>
              <a:t>Sheet</a:t>
            </a:r>
            <a:r>
              <a:rPr lang="fi-FI" dirty="0" smtClean="0"/>
              <a:t> with </a:t>
            </a:r>
            <a:r>
              <a:rPr lang="fi-FI" dirty="0" err="1" smtClean="0"/>
              <a:t>ideas</a:t>
            </a:r>
            <a:r>
              <a:rPr lang="fi-FI" dirty="0" smtClean="0"/>
              <a:t> </a:t>
            </a:r>
            <a:r>
              <a:rPr lang="fi-FI" dirty="0" err="1" smtClean="0"/>
              <a:t>from</a:t>
            </a:r>
            <a:r>
              <a:rPr lang="fi-FI" dirty="0" smtClean="0"/>
              <a:t> </a:t>
            </a:r>
            <a:r>
              <a:rPr lang="en-US" dirty="0" smtClean="0"/>
              <a:t>Elisabeth </a:t>
            </a:r>
            <a:r>
              <a:rPr lang="en-US" dirty="0"/>
              <a:t>Hendrickson, James </a:t>
            </a:r>
            <a:r>
              <a:rPr lang="en-US" dirty="0" err="1"/>
              <a:t>Lyndsay</a:t>
            </a:r>
            <a:r>
              <a:rPr lang="en-US" dirty="0"/>
              <a:t>, and Dale </a:t>
            </a:r>
            <a:r>
              <a:rPr lang="en-US" dirty="0" smtClean="0"/>
              <a:t>Emery on Qualitytree.com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19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(Exploratory) Testing Dynamics</a:t>
            </a:r>
            <a:br>
              <a:rPr lang="fi-FI" dirty="0" smtClean="0"/>
            </a:br>
            <a:r>
              <a:rPr lang="fi-FI" sz="1800" dirty="0" smtClean="0"/>
              <a:t> Source: Adapted from James Bach, Jon Bach, Michael Bolton. Exploratory Testing Dynamics. v.2.2. 2009</a:t>
            </a:r>
            <a:endParaRPr lang="fi-FI" sz="18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/>
          <p:cNvSpPr/>
          <p:nvPr/>
        </p:nvSpPr>
        <p:spPr>
          <a:xfrm>
            <a:off x="6643702" y="4643446"/>
            <a:ext cx="2143140" cy="116955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i-FI" sz="1400" dirty="0" smtClean="0"/>
              <a:t>”A </a:t>
            </a:r>
            <a:r>
              <a:rPr lang="fi-FI" sz="1400" dirty="0"/>
              <a:t>set of</a:t>
            </a:r>
          </a:p>
          <a:p>
            <a:pPr algn="ctr"/>
            <a:r>
              <a:rPr lang="en-US" sz="1400" dirty="0"/>
              <a:t>considerations designed to help you test robustly or evaluate someone else’s testing</a:t>
            </a:r>
            <a:r>
              <a:rPr lang="en-US" sz="1400" dirty="0" smtClean="0"/>
              <a:t>.”</a:t>
            </a:r>
            <a:endParaRPr lang="fi-FI" sz="1400" dirty="0"/>
          </a:p>
        </p:txBody>
      </p:sp>
      <p:sp>
        <p:nvSpPr>
          <p:cNvPr id="6" name="Rectangle 5"/>
          <p:cNvSpPr/>
          <p:nvPr/>
        </p:nvSpPr>
        <p:spPr>
          <a:xfrm>
            <a:off x="357158" y="4714884"/>
            <a:ext cx="2143140" cy="160043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i-FI" sz="1400" dirty="0" smtClean="0"/>
              <a:t>”</a:t>
            </a:r>
            <a:r>
              <a:rPr lang="en-US" sz="1400" dirty="0"/>
              <a:t> To develop ideas or search a complex space quickly yet thoroughly, not only must you look at the</a:t>
            </a:r>
          </a:p>
          <a:p>
            <a:r>
              <a:rPr lang="en-US" sz="1400" dirty="0"/>
              <a:t>world from many points of view and perform many kinds of </a:t>
            </a:r>
            <a:r>
              <a:rPr lang="en-US" sz="1400" dirty="0" smtClean="0"/>
              <a:t>activities”</a:t>
            </a:r>
            <a:endParaRPr lang="fi-FI" sz="1400" dirty="0"/>
          </a:p>
        </p:txBody>
      </p:sp>
      <p:sp>
        <p:nvSpPr>
          <p:cNvPr id="7" name="Rectangle 6"/>
          <p:cNvSpPr/>
          <p:nvPr/>
        </p:nvSpPr>
        <p:spPr>
          <a:xfrm>
            <a:off x="357158" y="1830821"/>
            <a:ext cx="2143140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i-FI" sz="1400" dirty="0" smtClean="0"/>
              <a:t>”</a:t>
            </a:r>
            <a:r>
              <a:rPr lang="en-US" sz="1400" dirty="0" smtClean="0"/>
              <a:t>Exploratory </a:t>
            </a:r>
            <a:r>
              <a:rPr lang="en-US" sz="1400" dirty="0"/>
              <a:t>testing spirals upward toward a complete and professional set of test </a:t>
            </a:r>
            <a:r>
              <a:rPr lang="en-US" sz="1400" dirty="0" smtClean="0"/>
              <a:t>artifacts”</a:t>
            </a:r>
            <a:endParaRPr lang="fi-FI" sz="1400" dirty="0"/>
          </a:p>
        </p:txBody>
      </p:sp>
      <p:sp>
        <p:nvSpPr>
          <p:cNvPr id="8" name="Rectangle 7"/>
          <p:cNvSpPr/>
          <p:nvPr/>
        </p:nvSpPr>
        <p:spPr>
          <a:xfrm>
            <a:off x="6643702" y="1428736"/>
            <a:ext cx="2143140" cy="181588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i-FI" sz="1400" dirty="0" smtClean="0"/>
              <a:t>”</a:t>
            </a:r>
            <a:r>
              <a:rPr lang="en-US" sz="1400" dirty="0"/>
              <a:t> </a:t>
            </a:r>
            <a:r>
              <a:rPr lang="en-US" sz="1400" dirty="0" smtClean="0"/>
              <a:t>…skills </a:t>
            </a:r>
            <a:r>
              <a:rPr lang="en-US" sz="1400" dirty="0"/>
              <a:t>that comprise professional and cost effective exploration of technology. Each is </a:t>
            </a:r>
            <a:r>
              <a:rPr lang="en-US" sz="1400" dirty="0" smtClean="0"/>
              <a:t>distinctly observable </a:t>
            </a:r>
            <a:r>
              <a:rPr lang="en-US" sz="1400" dirty="0"/>
              <a:t>and learnable, and each is necessary to exploratory </a:t>
            </a:r>
            <a:r>
              <a:rPr lang="en-US" sz="1400" dirty="0" smtClean="0"/>
              <a:t>work.”</a:t>
            </a:r>
            <a:endParaRPr lang="fi-FI" sz="1400" dirty="0"/>
          </a:p>
        </p:txBody>
      </p:sp>
    </p:spTree>
    <p:extLst>
      <p:ext uri="{BB962C8B-B14F-4D97-AF65-F5344CB8AC3E}">
        <p14:creationId xmlns:p14="http://schemas.microsoft.com/office/powerpoint/2010/main" val="2019902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Exploration Skills</a:t>
            </a:r>
            <a:br>
              <a:rPr lang="fi-FI" dirty="0" smtClean="0"/>
            </a:br>
            <a:r>
              <a:rPr lang="fi-FI" sz="1800" dirty="0" smtClean="0"/>
              <a:t>Source: Adapted from James Bach, Jon Bach, Michael Bolton. Exploratory Testing Dynamics. v.2.2. 2009</a:t>
            </a:r>
            <a:endParaRPr lang="fi-FI" sz="18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4757742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428992" y="1800043"/>
            <a:ext cx="23574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smtClean="0"/>
              <a:t>Done</a:t>
            </a:r>
          </a:p>
          <a:p>
            <a:r>
              <a:rPr lang="fi-FI" dirty="0" smtClean="0"/>
              <a:t>To Do</a:t>
            </a:r>
          </a:p>
          <a:p>
            <a:r>
              <a:rPr lang="fi-FI" dirty="0" smtClean="0"/>
              <a:t>Issues</a:t>
            </a:r>
          </a:p>
          <a:p>
            <a:r>
              <a:rPr lang="fi-FI" dirty="0" smtClean="0"/>
              <a:t>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71934" y="3425611"/>
            <a:ext cx="4633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smtClean="0"/>
              <a:t>All sources available </a:t>
            </a:r>
          </a:p>
          <a:p>
            <a:r>
              <a:rPr lang="fi-FI" dirty="0" smtClean="0"/>
              <a:t>Best use of time – effective and efficient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430" y="4929198"/>
            <a:ext cx="46339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smtClean="0"/>
              <a:t>Making models</a:t>
            </a:r>
          </a:p>
          <a:p>
            <a:r>
              <a:rPr lang="fi-FI" dirty="0" smtClean="0"/>
              <a:t>Tool support – creative solutions</a:t>
            </a:r>
          </a:p>
          <a:p>
            <a:r>
              <a:rPr lang="fi-FI" dirty="0" smtClean="0"/>
              <a:t>Risk-based testing – scientific approach</a:t>
            </a:r>
          </a:p>
          <a:p>
            <a:r>
              <a:rPr lang="fi-FI" dirty="0" smtClean="0"/>
              <a:t>Keeping one’s eyes open</a:t>
            </a:r>
          </a:p>
        </p:txBody>
      </p:sp>
    </p:spTree>
    <p:extLst>
      <p:ext uri="{BB962C8B-B14F-4D97-AF65-F5344CB8AC3E}">
        <p14:creationId xmlns:p14="http://schemas.microsoft.com/office/powerpoint/2010/main" val="3244903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Ideoita, ajatuksia, </a:t>
            </a:r>
            <a:br>
              <a:rPr lang="fi-FI" dirty="0" smtClean="0"/>
            </a:br>
            <a:r>
              <a:rPr lang="fi-FI" dirty="0" smtClean="0"/>
              <a:t>kysymyksiä?</a:t>
            </a:r>
            <a:endParaRPr lang="fi-FI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pic>
        <p:nvPicPr>
          <p:cNvPr id="4" name="Picture 3" descr="C:\Documents and Settings\mpyhajar.CONFORMIQ\Application Data\Microsoft\Media Catalog\Downloaded Clips\cl1f\j0078711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71736" y="285728"/>
            <a:ext cx="1622425" cy="3933825"/>
          </a:xfrm>
          <a:prstGeom prst="rect">
            <a:avLst/>
          </a:prstGeom>
          <a:noFill/>
        </p:spPr>
      </p:pic>
      <p:pic>
        <p:nvPicPr>
          <p:cNvPr id="5" name="Picture 4" descr="C:\Documents and Settings\mpyhajar.CONFORMIQ\Application Data\Microsoft\Media Catalog\Downloaded Clips\cl1f\j0078625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15140" y="2357430"/>
            <a:ext cx="1295400" cy="3933825"/>
          </a:xfrm>
          <a:prstGeom prst="rect">
            <a:avLst/>
          </a:prstGeom>
          <a:noFill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1820</TotalTime>
  <Words>1247</Words>
  <Application>Microsoft Macintosh PowerPoint</Application>
  <PresentationFormat>On-screen Show (4:3)</PresentationFormat>
  <Paragraphs>234</Paragraphs>
  <Slides>16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Tutkivan testauksen käytännöt</vt:lpstr>
      <vt:lpstr>Testauksen laskuoppi, erikoislyhyt oppimäärä</vt:lpstr>
      <vt:lpstr>Testauksen laskuoppi, erikoislyhyt oppimäärä</vt:lpstr>
      <vt:lpstr>Linkit videoihin</vt:lpstr>
      <vt:lpstr>Oppina tästä</vt:lpstr>
      <vt:lpstr>Tutkiva Testaus: Parempia testejä, parempia testaajia!</vt:lpstr>
      <vt:lpstr>Tutkiva testaus tekniikkana:  Laajennetaan testitapauksia</vt:lpstr>
      <vt:lpstr>Hallittavuuden kehikko</vt:lpstr>
      <vt:lpstr>Osat hallittavuuden kehikossa</vt:lpstr>
      <vt:lpstr>Suuri ongelmamäärä ketterässä projektissa tutkivalla testauksella...</vt:lpstr>
      <vt:lpstr>Test automation / tools in ET</vt:lpstr>
      <vt:lpstr>Potentially Useful Tools for Exploratory Testing</vt:lpstr>
      <vt:lpstr>Test Ideas / Quick-and-Dirty</vt:lpstr>
      <vt:lpstr>(Exploratory) Testing Dynamics  Source: Adapted from James Bach, Jon Bach, Michael Bolton. Exploratory Testing Dynamics. v.2.2. 2009</vt:lpstr>
      <vt:lpstr>Exploration Skills Source: Adapted from James Bach, Jon Bach, Michael Bolton. Exploratory Testing Dynamics. v.2.2. 2009</vt:lpstr>
      <vt:lpstr>Ideoita, ajatuksia,  kysymyksiä?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Tutkivan testauksen käytännöt</dc:title>
  <dc:creator>Maaret Pyhäjärvi</dc:creator>
  <cp:lastModifiedBy>Maaret Pyhäjärvi</cp:lastModifiedBy>
  <cp:revision>9</cp:revision>
  <dcterms:created xsi:type="dcterms:W3CDTF">2006-08-16T00:00:00Z</dcterms:created>
  <dcterms:modified xsi:type="dcterms:W3CDTF">2017-05-29T09:07:53Z</dcterms:modified>
</cp:coreProperties>
</file>