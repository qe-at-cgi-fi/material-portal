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diagrams/colors11.xml" ContentType="application/vnd.openxmlformats-officedocument.drawingml.diagramColors+xml"/>
  <Override PartName="/ppt/notesSlides/notesSlide85.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diagrams/layout9.xml" ContentType="application/vnd.openxmlformats-officedocument.drawingml.diagramLayout+xml"/>
  <Override PartName="/ppt/diagrams/data13.xml" ContentType="application/vnd.openxmlformats-officedocument.drawingml.diagramData+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diagrams/quickStyle17.xml" ContentType="application/vnd.openxmlformats-officedocument.drawingml.diagramStyle+xml"/>
  <Override PartName="/ppt/diagrams/drawing18.xml" ContentType="application/vnd.ms-office.drawingml.diagramDrawing+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diagrams/layout17.xml" ContentType="application/vnd.openxmlformats-officedocument.drawingml.diagramLayout+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diagrams/quickStyle20.xml" ContentType="application/vnd.openxmlformats-officedocument.drawingml.diagramStyle+xml"/>
  <Override PartName="/ppt/diagrams/drawing21.xml" ContentType="application/vnd.ms-office.drawingml.diagramDrawing+xml"/>
  <Override PartName="/ppt/slides/slide77.xml" ContentType="application/vnd.openxmlformats-officedocument.presentationml.slide+xml"/>
  <Override PartName="/ppt/slides/slide88.xml" ContentType="application/vnd.openxmlformats-officedocument.presentationml.slide+xml"/>
  <Override PartName="/ppt/diagrams/colors4.xml" ContentType="application/vnd.openxmlformats-officedocument.drawingml.diagramColors+xml"/>
  <Override PartName="/ppt/diagrams/drawing10.xml" ContentType="application/vnd.ms-office.drawingml.diagramDrawing+xml"/>
  <Override PartName="/ppt/diagrams/colors16.xml" ContentType="application/vnd.openxmlformats-officedocument.drawingml.diagramColors+xml"/>
  <Override PartName="/ppt/diagrams/data18.xml" ContentType="application/vnd.openxmlformats-officedocument.drawingml.diagramData+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diagrams/layout20.xml" ContentType="application/vnd.openxmlformats-officedocument.drawingml.diagramLayout+xml"/>
  <Override PartName="/ppt/slides/slide55.xml" ContentType="application/vnd.openxmlformats-officedocument.presentationml.slide+xml"/>
  <Override PartName="/ppt/theme/theme2.xml" ContentType="application/vnd.openxmlformats-officedocument.theme+xml"/>
  <Override PartName="/ppt/diagrams/quickStyle3.xml" ContentType="application/vnd.openxmlformats-officedocument.drawingml.diagramStyl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Default Extension="emf" ContentType="image/x-emf"/>
  <Override PartName="/ppt/notesSlides/notesSlide46.xml" ContentType="application/vnd.openxmlformats-officedocument.presentationml.notesSlide+xml"/>
  <Override PartName="/ppt/diagrams/data21.xml" ContentType="application/vnd.openxmlformats-officedocument.drawingml.diagramData+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diagrams/layout6.xml" ContentType="application/vnd.openxmlformats-officedocument.drawingml.diagramLayout+xml"/>
  <Override PartName="/ppt/notesSlides/notesSlide71.xml" ContentType="application/vnd.openxmlformats-officedocument.presentationml.notesSlide+xml"/>
  <Override PartName="/ppt/diagrams/data10.xml" ContentType="application/vnd.openxmlformats-officedocument.drawingml.diagramData+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diagrams/data7.xml" ContentType="application/vnd.openxmlformats-officedocument.drawingml.diagramData+xml"/>
  <Override PartName="/ppt/diagrams/colors9.xml" ContentType="application/vnd.openxmlformats-officedocument.drawingml.diagramColors+xml"/>
  <Override PartName="/ppt/notesSlides/notesSlide60.xml" ContentType="application/vnd.openxmlformats-officedocument.presentationml.notesSlide+xml"/>
  <Override PartName="/ppt/diagrams/quickStyle14.xml" ContentType="application/vnd.openxmlformats-officedocument.drawingml.diagramStyle+xml"/>
  <Override PartName="/ppt/diagrams/drawing15.xml" ContentType="application/vnd.ms-office.drawingml.diagramDrawing+xml"/>
  <Override PartName="/ppt/slideLayouts/slideLayout10.xml" ContentType="application/vnd.openxmlformats-officedocument.presentationml.slideLayout+xml"/>
  <Override PartName="/ppt/diagrams/drawing8.xml" ContentType="application/vnd.ms-office.drawingml.diagramDrawing+xml"/>
  <Override PartName="/ppt/diagrams/quickStyle8.xml" ContentType="application/vnd.openxmlformats-officedocument.drawingml.diagramStyle+xml"/>
  <Override PartName="/ppt/diagrams/layout14.xml" ContentType="application/vnd.openxmlformats-officedocument.drawingml.diagramLayout+xml"/>
  <Override PartName="/ppt/slides/slide49.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diagrams/colors1.xml" ContentType="application/vnd.openxmlformats-officedocument.drawingml.diagramColors+xml"/>
  <Override PartName="/ppt/diagrams/colors13.xml" ContentType="application/vnd.openxmlformats-officedocument.drawingml.diagramColors+xml"/>
  <Override PartName="/ppt/notesSlides/notesSlide87.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diagrams/data15.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diagrams/quickStyle19.xml" ContentType="application/vnd.openxmlformats-officedocument.drawingml.diagramStyl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notesSlides/notesSlide32.xml" ContentType="application/vnd.openxmlformats-officedocument.presentationml.notesSlide+xml"/>
  <Override PartName="/ppt/diagrams/layout19.xml" ContentType="application/vnd.openxmlformats-officedocument.drawingml.diagramLayout+xml"/>
  <Override PartName="/ppt/notesSlides/notesSlide9.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21.xml" ContentType="application/vnd.openxmlformats-officedocument.presentationml.notesSlide+xml"/>
  <Override PartName="/ppt/diagrams/drawing9.xml" ContentType="application/vnd.ms-office.drawingml.diagramDrawing+xml"/>
  <Override PartName="/ppt/notesSlides/notesSlide50.xml" ContentType="application/vnd.openxmlformats-officedocument.presentationml.notesSlide+xml"/>
  <Override PartName="/ppt/diagrams/layout15.xml" ContentType="application/vnd.openxmlformats-officedocument.drawingml.diagramLayout+xml"/>
  <Override PartName="/ppt/slides/slide79.xml" ContentType="application/vnd.openxmlformats-officedocument.presentationml.slide+xml"/>
  <Override PartName="/ppt/notesSlides/notesSlide10.xml" ContentType="application/vnd.openxmlformats-officedocument.presentationml.notesSlide+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drawing12.xml" ContentType="application/vnd.ms-office.drawingml.diagramDrawing+xml"/>
  <Override PartName="/ppt/diagrams/colors18.xml" ContentType="application/vnd.openxmlformats-officedocument.drawingml.diagramColor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Default Extension="sldx" ContentType="application/vnd.openxmlformats-officedocument.presentationml.slide"/>
  <Override PartName="/ppt/notesSlides/notesSlide5.xml" ContentType="application/vnd.openxmlformats-officedocument.presentationml.notesSlide+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notesSlides/notesSlide59.xml" ContentType="application/vnd.openxmlformats-officedocument.presentationml.notesSlide+xml"/>
  <Override PartName="/ppt/diagrams/data16.xml" ContentType="application/vnd.openxmlformats-officedocument.drawingml.diagramData+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diagrams/colors10.xml" ContentType="application/vnd.openxmlformats-officedocument.drawingml.diagramColors+xml"/>
  <Override PartName="/ppt/notesSlides/notesSlide77.xml" ContentType="application/vnd.openxmlformats-officedocument.presentationml.notesSlide+xml"/>
  <Override PartName="/ppt/diagrams/colors21.xml" ContentType="application/vnd.openxmlformats-officedocument.drawingml.diagramColors+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diagrams/quickStyle1.xml" ContentType="application/vnd.openxmlformats-officedocument.drawingml.diagramStyle+xml"/>
  <Override PartName="/ppt/notesSlides/notesSlide37.xml" ContentType="application/vnd.openxmlformats-officedocument.presentationml.notesSlide+xml"/>
  <Override PartName="/ppt/diagrams/layout8.xml" ContentType="application/vnd.openxmlformats-officedocument.drawingml.diagramLayout+xml"/>
  <Override PartName="/ppt/notesSlides/notesSlide55.xml" ContentType="application/vnd.openxmlformats-officedocument.presentationml.notesSlide+xml"/>
  <Override PartName="/ppt/diagrams/data12.xml" ContentType="application/vnd.openxmlformats-officedocument.drawingml.diagramData+xml"/>
  <Override PartName="/ppt/notesSlides/notesSlide84.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diagrams/data9.xml" ContentType="application/vnd.openxmlformats-officedocument.drawingml.diagramData+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diagrams/quickStyle16.xml" ContentType="application/vnd.openxmlformats-officedocument.drawingml.diagramStyle+xml"/>
  <Override PartName="/ppt/diagrams/drawing17.xml" ContentType="application/vnd.ms-office.drawingml.diagramDrawing+xml"/>
  <Override PartName="/ppt/notesSlides/notesSlide91.xml" ContentType="application/vnd.openxmlformats-officedocument.presentationml.notesSlide+xml"/>
  <Override PartName="/ppt/slides/slide20.xml" ContentType="application/vnd.openxmlformats-officedocument.presentationml.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colors7.xml" ContentType="application/vnd.openxmlformats-officedocument.drawingml.diagramColors+xml"/>
  <Override PartName="/ppt/notesSlides/notesSlide40.xml" ContentType="application/vnd.openxmlformats-officedocument.presentationml.notesSlide+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colors19.xml" ContentType="application/vnd.openxmlformats-officedocument.drawingml.diagramColors+xml"/>
  <Override PartName="/ppt/notesSlides/notesSlide6.xml" ContentType="application/vnd.openxmlformats-officedocument.presentationml.notesSlide+xml"/>
  <Override PartName="/ppt/diagrams/drawing6.xml" ContentType="application/vnd.ms-office.drawingml.diagramDrawing+xml"/>
  <Override PartName="/ppt/diagrams/drawing20.xml" ContentType="application/vnd.ms-office.drawingml.diagramDrawing+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notesSlides/notesSlide78.xml" ContentType="application/vnd.openxmlformats-officedocument.presentationml.notesSlide+xml"/>
  <Override PartName="/ppt/diagrams/data17.xml" ContentType="application/vnd.openxmlformats-officedocument.drawingml.diagramData+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diagrams/data20.xml" ContentType="application/vnd.openxmlformats-officedocument.drawingml.diagramData+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diagrams/drawing7.xml" ContentType="application/vnd.ms-office.drawingml.diagramDrawing+xml"/>
  <Override PartName="/ppt/diagrams/layout13.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slides/slide48.xml" ContentType="application/vnd.openxmlformats-officedocument.presentationml.slide+xml"/>
  <Override PartName="/ppt/notesSlides/notesSlide3.xml" ContentType="application/vnd.openxmlformats-officedocument.presentationml.notesSlide+xml"/>
  <Override PartName="/ppt/diagrams/colors12.xml" ContentType="application/vnd.openxmlformats-officedocument.drawingml.diagramColors+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diagrams/data14.xml" ContentType="application/vnd.openxmlformats-officedocument.drawingml.diagramData+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diagrams/drawing19.xml" ContentType="application/vnd.ms-office.drawingml.diagramDrawing+xml"/>
  <Override PartName="/ppt/slides/slide51.xml" ContentType="application/vnd.openxmlformats-officedocument.presentationml.slide+xml"/>
  <Override PartName="/ppt/notesSlides/notesSlide53.xml" ContentType="application/vnd.openxmlformats-officedocument.presentationml.notesSlide+xml"/>
  <Override PartName="/ppt/diagrams/quickStyle18.xml" ContentType="application/vnd.openxmlformats-officedocument.drawingml.diagramStyle+xml"/>
  <Override PartName="/ppt/slides/slide40.xml" ContentType="application/vnd.openxmlformats-officedocument.presentationml.slide+xml"/>
  <Override PartName="/ppt/notesSlides/notesSlide42.xml" ContentType="application/vnd.openxmlformats-officedocument.presentationml.notesSlide+xml"/>
  <Override PartName="/ppt/diagrams/layout18.xml" ContentType="application/vnd.openxmlformats-officedocument.drawingml.diagramLayout+xml"/>
  <Default Extension="vml" ContentType="application/vnd.openxmlformats-officedocument.vmlDrawing"/>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Override PartName="/ppt/diagrams/quickStyle10.xml" ContentType="application/vnd.openxmlformats-officedocument.drawingml.diagramStyle+xml"/>
  <Override PartName="/ppt/diagrams/drawing11.xml" ContentType="application/vnd.ms-office.drawingml.diagramDrawing+xml"/>
  <Override PartName="/ppt/diagrams/colors17.xml" ContentType="application/vnd.openxmlformats-officedocument.drawingml.diagramColors+xml"/>
  <Override PartName="/ppt/diagrams/quickStyle21.xml" ContentType="application/vnd.openxmlformats-officedocument.drawingml.diagramStyle+xml"/>
  <Override PartName="/ppt/slides/slide78.xml" ContentType="application/vnd.openxmlformats-officedocument.presentationml.slide+xml"/>
  <Override PartName="/ppt/diagrams/drawing4.xml" ContentType="application/vnd.ms-office.drawingml.diagramDrawing+xml"/>
  <Override PartName="/ppt/diagrams/data19.xml" ContentType="application/vnd.openxmlformats-officedocument.drawingml.diagramData+xml"/>
  <Override PartName="/ppt/diagrams/layout21.xml" ContentType="application/vnd.openxmlformats-officedocument.drawingml.diagramLayout+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notesSlides/notesSlide69.xml" ContentType="application/vnd.openxmlformats-officedocument.presentationml.notesSlide+xml"/>
  <Override PartName="/ppt/diagrams/layout10.xml" ContentType="application/vnd.openxmlformats-officedocument.drawingml.diagram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diagrams/colors20.xml" ContentType="application/vnd.openxmlformats-officedocument.drawingml.diagramColors+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diagrams/data11.xml" ContentType="application/vnd.openxmlformats-officedocument.drawingml.diagramData+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diagrams/layout7.xml" ContentType="application/vnd.openxmlformats-officedocument.drawingml.diagramLayout+xml"/>
  <Override PartName="/ppt/diagrams/data8.xml" ContentType="application/vnd.openxmlformats-officedocument.drawingml.diagramData+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diagrams/quickStyle15.xml" ContentType="application/vnd.openxmlformats-officedocument.drawingml.diagramStyle+xml"/>
  <Override PartName="/ppt/diagrams/drawing16.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256" r:id="rId2"/>
    <p:sldId id="379" r:id="rId3"/>
    <p:sldId id="428" r:id="rId4"/>
    <p:sldId id="383" r:id="rId5"/>
    <p:sldId id="430" r:id="rId6"/>
    <p:sldId id="385" r:id="rId7"/>
    <p:sldId id="386" r:id="rId8"/>
    <p:sldId id="387" r:id="rId9"/>
    <p:sldId id="440" r:id="rId10"/>
    <p:sldId id="389" r:id="rId11"/>
    <p:sldId id="470" r:id="rId12"/>
    <p:sldId id="493" r:id="rId13"/>
    <p:sldId id="494" r:id="rId14"/>
    <p:sldId id="495" r:id="rId15"/>
    <p:sldId id="398" r:id="rId16"/>
    <p:sldId id="451" r:id="rId17"/>
    <p:sldId id="441" r:id="rId18"/>
    <p:sldId id="453" r:id="rId19"/>
    <p:sldId id="390" r:id="rId20"/>
    <p:sldId id="498" r:id="rId21"/>
    <p:sldId id="391" r:id="rId22"/>
    <p:sldId id="499" r:id="rId23"/>
    <p:sldId id="500" r:id="rId24"/>
    <p:sldId id="443" r:id="rId25"/>
    <p:sldId id="392" r:id="rId26"/>
    <p:sldId id="393" r:id="rId27"/>
    <p:sldId id="394" r:id="rId28"/>
    <p:sldId id="395" r:id="rId29"/>
    <p:sldId id="396" r:id="rId30"/>
    <p:sldId id="442" r:id="rId31"/>
    <p:sldId id="485" r:id="rId32"/>
    <p:sldId id="457" r:id="rId33"/>
    <p:sldId id="444" r:id="rId34"/>
    <p:sldId id="445" r:id="rId35"/>
    <p:sldId id="397" r:id="rId36"/>
    <p:sldId id="486" r:id="rId37"/>
    <p:sldId id="432" r:id="rId38"/>
    <p:sldId id="468" r:id="rId39"/>
    <p:sldId id="469" r:id="rId40"/>
    <p:sldId id="473" r:id="rId41"/>
    <p:sldId id="474" r:id="rId42"/>
    <p:sldId id="475" r:id="rId43"/>
    <p:sldId id="476" r:id="rId44"/>
    <p:sldId id="477" r:id="rId45"/>
    <p:sldId id="487" r:id="rId46"/>
    <p:sldId id="433" r:id="rId47"/>
    <p:sldId id="458" r:id="rId48"/>
    <p:sldId id="471" r:id="rId49"/>
    <p:sldId id="459" r:id="rId50"/>
    <p:sldId id="472" r:id="rId51"/>
    <p:sldId id="460" r:id="rId52"/>
    <p:sldId id="501" r:id="rId53"/>
    <p:sldId id="502" r:id="rId54"/>
    <p:sldId id="503" r:id="rId55"/>
    <p:sldId id="462" r:id="rId56"/>
    <p:sldId id="463" r:id="rId57"/>
    <p:sldId id="464" r:id="rId58"/>
    <p:sldId id="465" r:id="rId59"/>
    <p:sldId id="497" r:id="rId60"/>
    <p:sldId id="466" r:id="rId61"/>
    <p:sldId id="467" r:id="rId62"/>
    <p:sldId id="478" r:id="rId63"/>
    <p:sldId id="479" r:id="rId64"/>
    <p:sldId id="480" r:id="rId65"/>
    <p:sldId id="481" r:id="rId66"/>
    <p:sldId id="482" r:id="rId67"/>
    <p:sldId id="483" r:id="rId68"/>
    <p:sldId id="484" r:id="rId69"/>
    <p:sldId id="412" r:id="rId70"/>
    <p:sldId id="488" r:id="rId71"/>
    <p:sldId id="434" r:id="rId72"/>
    <p:sldId id="489" r:id="rId73"/>
    <p:sldId id="435" r:id="rId74"/>
    <p:sldId id="504" r:id="rId75"/>
    <p:sldId id="505" r:id="rId76"/>
    <p:sldId id="506" r:id="rId77"/>
    <p:sldId id="507" r:id="rId78"/>
    <p:sldId id="508" r:id="rId79"/>
    <p:sldId id="509" r:id="rId80"/>
    <p:sldId id="510" r:id="rId81"/>
    <p:sldId id="511" r:id="rId82"/>
    <p:sldId id="513" r:id="rId83"/>
    <p:sldId id="490" r:id="rId84"/>
    <p:sldId id="436" r:id="rId85"/>
    <p:sldId id="491" r:id="rId86"/>
    <p:sldId id="437" r:id="rId87"/>
    <p:sldId id="423" r:id="rId88"/>
    <p:sldId id="492" r:id="rId89"/>
    <p:sldId id="438" r:id="rId90"/>
    <p:sldId id="425" r:id="rId91"/>
    <p:sldId id="426" r:id="rId92"/>
    <p:sldId id="439" r:id="rId93"/>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3309" autoAdjust="0"/>
  </p:normalViewPr>
  <p:slideViewPr>
    <p:cSldViewPr>
      <p:cViewPr varScale="1">
        <p:scale>
          <a:sx n="76" d="100"/>
          <a:sy n="76" d="100"/>
        </p:scale>
        <p:origin x="-1392"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792"/>
    </p:cViewPr>
  </p:sorterViewPr>
  <p:notesViewPr>
    <p:cSldViewPr>
      <p:cViewPr varScale="1">
        <p:scale>
          <a:sx n="64" d="100"/>
          <a:sy n="64" d="100"/>
        </p:scale>
        <p:origin x="-2490" y="-126"/>
      </p:cViewPr>
      <p:guideLst>
        <p:guide orient="horz" pos="3108"/>
        <p:guide pos="2121"/>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CAD8FF5D-A784-43BE-A1FF-B8188A2084DF}" type="presOf" srcId="{84683C11-3BF9-40F9-A2B3-057C1D7DB8C4}" destId="{3E0795D4-4188-4949-AE94-2A791BCE1FD9}" srcOrd="0" destOrd="1" presId="urn:microsoft.com/office/officeart/2005/8/layout/vList5"/>
    <dgm:cxn modelId="{691F56E5-AF7F-47B1-8E53-0EE2A6B3C682}" type="presOf" srcId="{9998B519-03B6-4420-B2B1-FE85B07BB863}" destId="{839DAA1E-965A-47C3-A43A-11065EE10B96}"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BA0AFE0E-2F07-40CF-8FC2-6697341F344C}" srcId="{228F0A37-3996-4B64-9C0A-A54BCC3EA6BA}" destId="{43874DE2-1DC0-4883-A591-AD110EE9DF14}" srcOrd="1" destOrd="0" parTransId="{4BF82FF2-B22C-4575-8E07-ABD74DC7BF8E}" sibTransId="{34CBF14E-8417-45D6-A12D-E3A90E0CC994}"/>
    <dgm:cxn modelId="{CAF727E4-D542-4247-AD65-8A8B65C558C3}" srcId="{5CC6B45F-A032-48B1-AC89-723CB5731DA6}" destId="{D97E231E-031B-46C9-A8A2-F1D6BA54A966}" srcOrd="1" destOrd="0" parTransId="{909A826C-9F73-4C53-8AC0-A2E1AF556E62}" sibTransId="{9794DA9D-2B80-4DB0-B26D-76CEBDBD2E9A}"/>
    <dgm:cxn modelId="{75179C45-682C-4434-8D21-634F787FB6A7}" type="presOf" srcId="{80925EED-1441-4DF2-ADCA-DEFC0758046C}" destId="{F49AC9AF-1A8A-4450-AECD-FC6A5E789BAA}"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D9F3C1AA-1E5F-4A15-8B00-27EB04C259FB}" type="presOf" srcId="{98AED58E-7E7C-416A-8A18-20CA5C05518C}" destId="{F2F08941-5A68-411E-AD7F-6EF46FD56FBD}" srcOrd="0" destOrd="0" presId="urn:microsoft.com/office/officeart/2005/8/layout/vList5"/>
    <dgm:cxn modelId="{78F3AB0F-0BB6-40BA-8233-7ABF6A68F648}" type="presOf" srcId="{AAC83951-6A4A-433C-B085-A08DB739FBBD}" destId="{3E0795D4-4188-4949-AE94-2A791BCE1FD9}" srcOrd="0" destOrd="0" presId="urn:microsoft.com/office/officeart/2005/8/layout/vList5"/>
    <dgm:cxn modelId="{D3775D0E-22B6-4D7D-B4F5-540C550EBD0D}" type="presOf" srcId="{A53ACEF5-5EE8-41E2-B6D6-C74C7F15C95C}" destId="{B9ADED97-AC03-45B3-9A41-1A0C1968CFF9}" srcOrd="0" destOrd="0" presId="urn:microsoft.com/office/officeart/2005/8/layout/vList5"/>
    <dgm:cxn modelId="{793BF1EA-CAF5-4BC7-A469-1D01424F86A8}" type="presOf" srcId="{6B50C981-E288-4E84-B65E-F73EA9E70783}" destId="{B9ADED97-AC03-45B3-9A41-1A0C1968CFF9}" srcOrd="0" destOrd="1"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261570B4-D93B-46B4-8368-3B5B68A79370}" type="presOf" srcId="{228F0A37-3996-4B64-9C0A-A54BCC3EA6BA}" destId="{BA4D8448-5FCE-4939-A31F-189DD0695EDD}" srcOrd="0" destOrd="0" presId="urn:microsoft.com/office/officeart/2005/8/layout/vList5"/>
    <dgm:cxn modelId="{214523D0-EBAC-4F1B-9D33-300EE7E8E16F}" type="presOf" srcId="{D97E231E-031B-46C9-A8A2-F1D6BA54A966}" destId="{F49AC9AF-1A8A-4450-AECD-FC6A5E789BAA}" srcOrd="0" destOrd="1" presId="urn:microsoft.com/office/officeart/2005/8/layout/vList5"/>
    <dgm:cxn modelId="{C4123FD1-027B-4C56-AF6A-F388DB7FF8C5}" type="presOf" srcId="{95B352C6-C5E7-4083-93BA-0F69DDA0277F}" destId="{25BA6B9A-BD30-4EEB-BF01-6CE0D866FE92}"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8C255416-7D03-4C87-85BB-93F7962398C3}" type="presOf" srcId="{C31BA4C3-B958-4E11-B7C3-C2A236A8EB3B}" destId="{6008EA90-E6B1-4498-ABE6-BCDF0E0818F9}" srcOrd="0" destOrd="0" presId="urn:microsoft.com/office/officeart/2005/8/layout/vList5"/>
    <dgm:cxn modelId="{858DBF91-25A4-4BCE-BC16-E0BAE90F520C}" type="presOf" srcId="{43874DE2-1DC0-4883-A591-AD110EE9DF14}" destId="{25BA6B9A-BD30-4EEB-BF01-6CE0D866FE92}" srcOrd="0" destOrd="1" presId="urn:microsoft.com/office/officeart/2005/8/layout/vList5"/>
    <dgm:cxn modelId="{83460762-43AA-4973-9AC5-817FB60833B0}" type="presOf" srcId="{5CC6B45F-A032-48B1-AC89-723CB5731DA6}" destId="{6E4EC516-9261-48FC-9264-8581F4CB680E}" srcOrd="0" destOrd="0" presId="urn:microsoft.com/office/officeart/2005/8/layout/vList5"/>
    <dgm:cxn modelId="{15DE493D-4526-46A3-ADD5-72BBDBFF4979}" srcId="{5CC6B45F-A032-48B1-AC89-723CB5731DA6}" destId="{80925EED-1441-4DF2-ADCA-DEFC0758046C}" srcOrd="0" destOrd="0" parTransId="{9FA56589-B84D-4A74-AAFB-CDF4873928A2}" sibTransId="{4532DB22-9671-4E53-BF06-C9663B3EE1A1}"/>
    <dgm:cxn modelId="{463F9532-4D16-4AAB-8505-92B1C7159DC2}" type="presParOf" srcId="{839DAA1E-965A-47C3-A43A-11065EE10B96}" destId="{1E15A9A0-54DC-418F-B00C-3E01C32BEAE1}" srcOrd="0" destOrd="0" presId="urn:microsoft.com/office/officeart/2005/8/layout/vList5"/>
    <dgm:cxn modelId="{CD1B0F69-99B4-42E2-B139-E8A234CB1732}" type="presParOf" srcId="{1E15A9A0-54DC-418F-B00C-3E01C32BEAE1}" destId="{F2F08941-5A68-411E-AD7F-6EF46FD56FBD}" srcOrd="0" destOrd="0" presId="urn:microsoft.com/office/officeart/2005/8/layout/vList5"/>
    <dgm:cxn modelId="{DD73F84F-BABB-4750-B9A0-6631F77B5F25}" type="presParOf" srcId="{1E15A9A0-54DC-418F-B00C-3E01C32BEAE1}" destId="{3E0795D4-4188-4949-AE94-2A791BCE1FD9}" srcOrd="1" destOrd="0" presId="urn:microsoft.com/office/officeart/2005/8/layout/vList5"/>
    <dgm:cxn modelId="{E9D57CAE-C9A2-45FD-91BC-12866ED72031}" type="presParOf" srcId="{839DAA1E-965A-47C3-A43A-11065EE10B96}" destId="{36D3ACFC-26E0-45C8-A1C3-BE3B78CF069D}" srcOrd="1" destOrd="0" presId="urn:microsoft.com/office/officeart/2005/8/layout/vList5"/>
    <dgm:cxn modelId="{07C4704D-6A15-4CFA-AAC2-35E44C152B46}" type="presParOf" srcId="{839DAA1E-965A-47C3-A43A-11065EE10B96}" destId="{FCA73F41-6637-4792-B146-2F852EE33B87}" srcOrd="2" destOrd="0" presId="urn:microsoft.com/office/officeart/2005/8/layout/vList5"/>
    <dgm:cxn modelId="{462BF085-2339-4656-B3A0-E2BC732BC59F}" type="presParOf" srcId="{FCA73F41-6637-4792-B146-2F852EE33B87}" destId="{6008EA90-E6B1-4498-ABE6-BCDF0E0818F9}" srcOrd="0" destOrd="0" presId="urn:microsoft.com/office/officeart/2005/8/layout/vList5"/>
    <dgm:cxn modelId="{2B2A60DC-8251-44EA-AB41-F24EAE608458}" type="presParOf" srcId="{FCA73F41-6637-4792-B146-2F852EE33B87}" destId="{B9ADED97-AC03-45B3-9A41-1A0C1968CFF9}" srcOrd="1" destOrd="0" presId="urn:microsoft.com/office/officeart/2005/8/layout/vList5"/>
    <dgm:cxn modelId="{D50F1B3B-767E-4E0C-824F-DC64B7096856}" type="presParOf" srcId="{839DAA1E-965A-47C3-A43A-11065EE10B96}" destId="{9C05B516-FF87-4BA1-96C0-F306926B9554}" srcOrd="3" destOrd="0" presId="urn:microsoft.com/office/officeart/2005/8/layout/vList5"/>
    <dgm:cxn modelId="{B3B0B838-AFF9-4ED3-87AA-C00EBFE04863}" type="presParOf" srcId="{839DAA1E-965A-47C3-A43A-11065EE10B96}" destId="{E9DA7CE4-CC12-4EBB-A6B7-059B79834B7E}" srcOrd="4" destOrd="0" presId="urn:microsoft.com/office/officeart/2005/8/layout/vList5"/>
    <dgm:cxn modelId="{99FA187C-6ED8-46EC-9951-0196368AD9F7}" type="presParOf" srcId="{E9DA7CE4-CC12-4EBB-A6B7-059B79834B7E}" destId="{BA4D8448-5FCE-4939-A31F-189DD0695EDD}" srcOrd="0" destOrd="0" presId="urn:microsoft.com/office/officeart/2005/8/layout/vList5"/>
    <dgm:cxn modelId="{88000EEF-276B-406F-A427-FD346E6DBCE6}" type="presParOf" srcId="{E9DA7CE4-CC12-4EBB-A6B7-059B79834B7E}" destId="{25BA6B9A-BD30-4EEB-BF01-6CE0D866FE92}" srcOrd="1" destOrd="0" presId="urn:microsoft.com/office/officeart/2005/8/layout/vList5"/>
    <dgm:cxn modelId="{0DEFF542-7B90-4F65-90F2-517FF39B3142}" type="presParOf" srcId="{839DAA1E-965A-47C3-A43A-11065EE10B96}" destId="{A24F7DA3-FC33-40E2-9E71-B9882F04CC75}" srcOrd="5" destOrd="0" presId="urn:microsoft.com/office/officeart/2005/8/layout/vList5"/>
    <dgm:cxn modelId="{C26EB594-3114-422E-B122-49BFADCADEA9}" type="presParOf" srcId="{839DAA1E-965A-47C3-A43A-11065EE10B96}" destId="{84F3CB32-DDE5-45B2-9385-0CD91C557D89}" srcOrd="6" destOrd="0" presId="urn:microsoft.com/office/officeart/2005/8/layout/vList5"/>
    <dgm:cxn modelId="{0AE219FA-D305-48BC-93CB-96C6D649538B}" type="presParOf" srcId="{84F3CB32-DDE5-45B2-9385-0CD91C557D89}" destId="{6E4EC516-9261-48FC-9264-8581F4CB680E}" srcOrd="0" destOrd="0" presId="urn:microsoft.com/office/officeart/2005/8/layout/vList5"/>
    <dgm:cxn modelId="{31AD08CF-21E8-4BA9-88B5-56F3B0AD2FD6}"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F98EE026-4DB4-406D-ACE0-799B0A0C915C}" type="presOf" srcId="{08DFE00A-129B-475A-877D-F98A2C8EA242}" destId="{25BA6B9A-BD30-4EEB-BF01-6CE0D866FE92}" srcOrd="0" destOrd="1" presId="urn:microsoft.com/office/officeart/2005/8/layout/vList5"/>
    <dgm:cxn modelId="{218BEC43-C040-4128-93DB-E4E92A04A37D}" type="presOf" srcId="{3E0474F6-28FF-4E2A-9CE3-47E7144861B8}" destId="{B9ADED97-AC03-45B3-9A41-1A0C1968CFF9}" srcOrd="0" destOrd="1" presId="urn:microsoft.com/office/officeart/2005/8/layout/vList5"/>
    <dgm:cxn modelId="{AB4529FD-0D4B-4A10-934C-43CB3D7D0A28}" type="presOf" srcId="{9998B519-03B6-4420-B2B1-FE85B07BB863}" destId="{839DAA1E-965A-47C3-A43A-11065EE10B96}"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4749D8C8-5C9F-4FB3-8F3C-01022DDB2E1B}" srcId="{C31BA4C3-B958-4E11-B7C3-C2A236A8EB3B}" destId="{49056608-284B-41CD-8ADB-3FDE4D94AB7D}" srcOrd="0" destOrd="0" parTransId="{118BCB87-D671-4AB7-9908-05F43A2E843E}" sibTransId="{1BA99C48-905F-47B0-B670-BDD8FDF137C4}"/>
    <dgm:cxn modelId="{D43E6D4B-83F1-4954-B0B4-E37D17286D93}" type="presOf" srcId="{A53ACEF5-5EE8-41E2-B6D6-C74C7F15C95C}" destId="{B9ADED97-AC03-45B3-9A41-1A0C1968CFF9}" srcOrd="0" destOrd="2" presId="urn:microsoft.com/office/officeart/2005/8/layout/vList5"/>
    <dgm:cxn modelId="{6E3089A2-3ED6-4C75-8F36-689FD4395D2A}" type="presOf" srcId="{80925EED-1441-4DF2-ADCA-DEFC0758046C}" destId="{F49AC9AF-1A8A-4450-AECD-FC6A5E789BAA}" srcOrd="0" destOrd="0" presId="urn:microsoft.com/office/officeart/2005/8/layout/vList5"/>
    <dgm:cxn modelId="{2434659F-4EAE-4008-B59B-6A687E6D7354}" type="presOf" srcId="{98AED58E-7E7C-416A-8A18-20CA5C05518C}" destId="{F2F08941-5A68-411E-AD7F-6EF46FD56FBD}" srcOrd="0" destOrd="0" presId="urn:microsoft.com/office/officeart/2005/8/layout/vList5"/>
    <dgm:cxn modelId="{6EA2821C-783B-4104-81EB-AE87EADC450F}" type="presOf" srcId="{228F0A37-3996-4B64-9C0A-A54BCC3EA6BA}" destId="{BA4D8448-5FCE-4939-A31F-189DD0695EDD}" srcOrd="0" destOrd="0" presId="urn:microsoft.com/office/officeart/2005/8/layout/vList5"/>
    <dgm:cxn modelId="{F9A86082-0B5D-488A-9039-18300BE4A15C}" type="presOf" srcId="{49056608-284B-41CD-8ADB-3FDE4D94AB7D}" destId="{B9ADED97-AC03-45B3-9A41-1A0C1968CFF9}"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B1F9720F-0D8E-4096-B17D-76F6D4D50FDD}" type="presOf" srcId="{71E1A4A0-F53B-46FD-8EB5-746260CA76E9}" destId="{3E0795D4-4188-4949-AE94-2A791BCE1FD9}" srcOrd="0" destOrd="0" presId="urn:microsoft.com/office/officeart/2005/8/layout/vList5"/>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48328D5A-F9B9-4B61-BB4D-2FA901122EB2}" type="presOf" srcId="{C31BA4C3-B958-4E11-B7C3-C2A236A8EB3B}" destId="{6008EA90-E6B1-4498-ABE6-BCDF0E0818F9}"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53426730-0913-4693-AE30-A6F9496BFE40}" type="presOf" srcId="{80B393ED-AF20-4EC7-B392-49545AD72664}" destId="{F49AC9AF-1A8A-4450-AECD-FC6A5E789BAA}" srcOrd="0" destOrd="1" presId="urn:microsoft.com/office/officeart/2005/8/layout/vList5"/>
    <dgm:cxn modelId="{CDB05C56-9945-4912-A89E-73287ABD3E2A}" type="presOf" srcId="{A7B9EF29-C5CA-4E82-8A3E-0C9D22914FDC}" destId="{3E0795D4-4188-4949-AE94-2A791BCE1FD9}" srcOrd="0" destOrd="1" presId="urn:microsoft.com/office/officeart/2005/8/layout/vList5"/>
    <dgm:cxn modelId="{7BCFE223-C76C-4A0A-9B27-4590A634FB15}" type="presOf" srcId="{5CC6B45F-A032-48B1-AC89-723CB5731DA6}" destId="{6E4EC516-9261-48FC-9264-8581F4CB680E}"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2417981B-3CDC-48D2-9588-D026F67ACE8D}" type="presOf" srcId="{95B352C6-C5E7-4083-93BA-0F69DDA0277F}" destId="{25BA6B9A-BD30-4EEB-BF01-6CE0D866FE92}" srcOrd="0" destOrd="0"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76814E4E-9A04-4298-B337-CCD444CC4957}" type="presParOf" srcId="{839DAA1E-965A-47C3-A43A-11065EE10B96}" destId="{1E15A9A0-54DC-418F-B00C-3E01C32BEAE1}" srcOrd="0" destOrd="0" presId="urn:microsoft.com/office/officeart/2005/8/layout/vList5"/>
    <dgm:cxn modelId="{CF55D137-2094-4AD3-8505-BD5F1A475B94}" type="presParOf" srcId="{1E15A9A0-54DC-418F-B00C-3E01C32BEAE1}" destId="{F2F08941-5A68-411E-AD7F-6EF46FD56FBD}" srcOrd="0" destOrd="0" presId="urn:microsoft.com/office/officeart/2005/8/layout/vList5"/>
    <dgm:cxn modelId="{7C93E143-9F36-4DA6-87A9-8A175AFD3057}" type="presParOf" srcId="{1E15A9A0-54DC-418F-B00C-3E01C32BEAE1}" destId="{3E0795D4-4188-4949-AE94-2A791BCE1FD9}" srcOrd="1" destOrd="0" presId="urn:microsoft.com/office/officeart/2005/8/layout/vList5"/>
    <dgm:cxn modelId="{F0AC0E81-B11A-496C-B10A-C3AFD715EFD4}" type="presParOf" srcId="{839DAA1E-965A-47C3-A43A-11065EE10B96}" destId="{36D3ACFC-26E0-45C8-A1C3-BE3B78CF069D}" srcOrd="1" destOrd="0" presId="urn:microsoft.com/office/officeart/2005/8/layout/vList5"/>
    <dgm:cxn modelId="{C51A3227-7614-4EE3-BB49-8279A77874A6}" type="presParOf" srcId="{839DAA1E-965A-47C3-A43A-11065EE10B96}" destId="{FCA73F41-6637-4792-B146-2F852EE33B87}" srcOrd="2" destOrd="0" presId="urn:microsoft.com/office/officeart/2005/8/layout/vList5"/>
    <dgm:cxn modelId="{7E906CE7-EA9B-4654-969C-A06153EF0C25}" type="presParOf" srcId="{FCA73F41-6637-4792-B146-2F852EE33B87}" destId="{6008EA90-E6B1-4498-ABE6-BCDF0E0818F9}" srcOrd="0" destOrd="0" presId="urn:microsoft.com/office/officeart/2005/8/layout/vList5"/>
    <dgm:cxn modelId="{6279DDD7-09CD-454A-8320-0A6B5C2FBE2F}" type="presParOf" srcId="{FCA73F41-6637-4792-B146-2F852EE33B87}" destId="{B9ADED97-AC03-45B3-9A41-1A0C1968CFF9}" srcOrd="1" destOrd="0" presId="urn:microsoft.com/office/officeart/2005/8/layout/vList5"/>
    <dgm:cxn modelId="{4B71C694-17DA-4D5F-AA8C-0F36860DFDFC}" type="presParOf" srcId="{839DAA1E-965A-47C3-A43A-11065EE10B96}" destId="{9C05B516-FF87-4BA1-96C0-F306926B9554}" srcOrd="3" destOrd="0" presId="urn:microsoft.com/office/officeart/2005/8/layout/vList5"/>
    <dgm:cxn modelId="{68AD6D11-C77D-47CA-A2DA-EA46876D819C}" type="presParOf" srcId="{839DAA1E-965A-47C3-A43A-11065EE10B96}" destId="{E9DA7CE4-CC12-4EBB-A6B7-059B79834B7E}" srcOrd="4" destOrd="0" presId="urn:microsoft.com/office/officeart/2005/8/layout/vList5"/>
    <dgm:cxn modelId="{F1E565ED-C6FE-4B6B-8172-3EA4A4706579}" type="presParOf" srcId="{E9DA7CE4-CC12-4EBB-A6B7-059B79834B7E}" destId="{BA4D8448-5FCE-4939-A31F-189DD0695EDD}" srcOrd="0" destOrd="0" presId="urn:microsoft.com/office/officeart/2005/8/layout/vList5"/>
    <dgm:cxn modelId="{F255B20C-D2D8-4E37-ADA6-CB4EF6A4CE0B}" type="presParOf" srcId="{E9DA7CE4-CC12-4EBB-A6B7-059B79834B7E}" destId="{25BA6B9A-BD30-4EEB-BF01-6CE0D866FE92}" srcOrd="1" destOrd="0" presId="urn:microsoft.com/office/officeart/2005/8/layout/vList5"/>
    <dgm:cxn modelId="{29B62F05-2707-4333-B52B-59F4909C88C4}" type="presParOf" srcId="{839DAA1E-965A-47C3-A43A-11065EE10B96}" destId="{A24F7DA3-FC33-40E2-9E71-B9882F04CC75}" srcOrd="5" destOrd="0" presId="urn:microsoft.com/office/officeart/2005/8/layout/vList5"/>
    <dgm:cxn modelId="{E4812DD8-DE9E-4578-9B69-C676F48B739E}" type="presParOf" srcId="{839DAA1E-965A-47C3-A43A-11065EE10B96}" destId="{84F3CB32-DDE5-45B2-9385-0CD91C557D89}" srcOrd="6" destOrd="0" presId="urn:microsoft.com/office/officeart/2005/8/layout/vList5"/>
    <dgm:cxn modelId="{FB71E6C5-316F-4224-BC22-7395F6AC506F}" type="presParOf" srcId="{84F3CB32-DDE5-45B2-9385-0CD91C557D89}" destId="{6E4EC516-9261-48FC-9264-8581F4CB680E}" srcOrd="0" destOrd="0" presId="urn:microsoft.com/office/officeart/2005/8/layout/vList5"/>
    <dgm:cxn modelId="{E0ADB12C-3599-4B1A-8907-4F9C0C694042}"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E30430CC-2816-43DC-B48C-BF42E54D0E7A}" type="presOf" srcId="{80925EED-1441-4DF2-ADCA-DEFC0758046C}" destId="{F49AC9AF-1A8A-4450-AECD-FC6A5E789BAA}" srcOrd="0" destOrd="0" presId="urn:microsoft.com/office/officeart/2005/8/layout/vList5"/>
    <dgm:cxn modelId="{316FD012-B7EB-415B-9B23-A04A9D72AA06}" type="presOf" srcId="{AAC83951-6A4A-433C-B085-A08DB739FBBD}" destId="{3E0795D4-4188-4949-AE94-2A791BCE1FD9}"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494D813D-8FC8-4DA3-98D6-F80212DB9476}" type="presOf" srcId="{5CC6B45F-A032-48B1-AC89-723CB5731DA6}" destId="{6E4EC516-9261-48FC-9264-8581F4CB680E}" srcOrd="0" destOrd="0" presId="urn:microsoft.com/office/officeart/2005/8/layout/vList5"/>
    <dgm:cxn modelId="{445605EB-6017-4A82-8988-E373D9611EAC}" type="presOf" srcId="{228F0A37-3996-4B64-9C0A-A54BCC3EA6BA}" destId="{BA4D8448-5FCE-4939-A31F-189DD0695EDD}"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AE9A1EE1-62F4-4FEB-9F20-2BA2D16F4BFD}" type="presOf" srcId="{A53ACEF5-5EE8-41E2-B6D6-C74C7F15C95C}" destId="{B9ADED97-AC03-45B3-9A41-1A0C1968CFF9}" srcOrd="0" destOrd="0"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559A11DE-AA89-4B1D-A338-A554005F6458}" type="presOf" srcId="{C31BA4C3-B958-4E11-B7C3-C2A236A8EB3B}" destId="{6008EA90-E6B1-4498-ABE6-BCDF0E0818F9}" srcOrd="0" destOrd="0" presId="urn:microsoft.com/office/officeart/2005/8/layout/vList5"/>
    <dgm:cxn modelId="{B0680E1A-BC7E-4772-B6AD-6FE4359541C7}" type="presOf" srcId="{98AED58E-7E7C-416A-8A18-20CA5C05518C}" destId="{F2F08941-5A68-411E-AD7F-6EF46FD56FBD}" srcOrd="0" destOrd="0" presId="urn:microsoft.com/office/officeart/2005/8/layout/vList5"/>
    <dgm:cxn modelId="{D8A0648F-C688-44A1-9A0F-2A24B0A8CE56}" type="presOf" srcId="{6B50C981-E288-4E84-B65E-F73EA9E70783}" destId="{B9ADED97-AC03-45B3-9A41-1A0C1968CFF9}" srcOrd="0" destOrd="1" presId="urn:microsoft.com/office/officeart/2005/8/layout/vList5"/>
    <dgm:cxn modelId="{2920AA26-7141-4DF7-8764-54A9BE709B60}" type="presOf" srcId="{43874DE2-1DC0-4883-A591-AD110EE9DF14}" destId="{25BA6B9A-BD30-4EEB-BF01-6CE0D866FE92}"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C6B035D1-C45B-41D2-999F-ABC1B55D542D}" type="presOf" srcId="{9998B519-03B6-4420-B2B1-FE85B07BB863}" destId="{839DAA1E-965A-47C3-A43A-11065EE10B96}" srcOrd="0" destOrd="0"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8FAAF18F-243E-460E-AB93-691BF2FF1E91}" type="presOf" srcId="{95B352C6-C5E7-4083-93BA-0F69DDA0277F}" destId="{25BA6B9A-BD30-4EEB-BF01-6CE0D866FE92}" srcOrd="0" destOrd="0" presId="urn:microsoft.com/office/officeart/2005/8/layout/vList5"/>
    <dgm:cxn modelId="{B92D0FD3-2FEA-4521-9EF0-B5F782F3A01E}" type="presOf" srcId="{D97E231E-031B-46C9-A8A2-F1D6BA54A966}" destId="{F49AC9AF-1A8A-4450-AECD-FC6A5E789BAA}" srcOrd="0" destOrd="1" presId="urn:microsoft.com/office/officeart/2005/8/layout/vList5"/>
    <dgm:cxn modelId="{05C0E2DF-4FBF-4B42-ABD1-23272C1F76E9}" type="presOf" srcId="{84683C11-3BF9-40F9-A2B3-057C1D7DB8C4}" destId="{3E0795D4-4188-4949-AE94-2A791BCE1FD9}" srcOrd="0" destOrd="1"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286E147A-0453-4874-B695-91400C50E4B1}" type="presParOf" srcId="{839DAA1E-965A-47C3-A43A-11065EE10B96}" destId="{1E15A9A0-54DC-418F-B00C-3E01C32BEAE1}" srcOrd="0" destOrd="0" presId="urn:microsoft.com/office/officeart/2005/8/layout/vList5"/>
    <dgm:cxn modelId="{FAE94426-4946-4F2D-B388-70B2B84B06C2}" type="presParOf" srcId="{1E15A9A0-54DC-418F-B00C-3E01C32BEAE1}" destId="{F2F08941-5A68-411E-AD7F-6EF46FD56FBD}" srcOrd="0" destOrd="0" presId="urn:microsoft.com/office/officeart/2005/8/layout/vList5"/>
    <dgm:cxn modelId="{C43CC2F5-F4AA-49DB-9A33-C28FF1D4AF68}" type="presParOf" srcId="{1E15A9A0-54DC-418F-B00C-3E01C32BEAE1}" destId="{3E0795D4-4188-4949-AE94-2A791BCE1FD9}" srcOrd="1" destOrd="0" presId="urn:microsoft.com/office/officeart/2005/8/layout/vList5"/>
    <dgm:cxn modelId="{97ED7C03-D3B7-469B-B381-3D963CD29461}" type="presParOf" srcId="{839DAA1E-965A-47C3-A43A-11065EE10B96}" destId="{36D3ACFC-26E0-45C8-A1C3-BE3B78CF069D}" srcOrd="1" destOrd="0" presId="urn:microsoft.com/office/officeart/2005/8/layout/vList5"/>
    <dgm:cxn modelId="{E93ED265-0277-4B4E-ADCF-7D2558313874}" type="presParOf" srcId="{839DAA1E-965A-47C3-A43A-11065EE10B96}" destId="{FCA73F41-6637-4792-B146-2F852EE33B87}" srcOrd="2" destOrd="0" presId="urn:microsoft.com/office/officeart/2005/8/layout/vList5"/>
    <dgm:cxn modelId="{C81ACDE4-4711-4440-81E0-12779074588C}" type="presParOf" srcId="{FCA73F41-6637-4792-B146-2F852EE33B87}" destId="{6008EA90-E6B1-4498-ABE6-BCDF0E0818F9}" srcOrd="0" destOrd="0" presId="urn:microsoft.com/office/officeart/2005/8/layout/vList5"/>
    <dgm:cxn modelId="{15298662-1B76-4CC1-9231-B93662F80551}" type="presParOf" srcId="{FCA73F41-6637-4792-B146-2F852EE33B87}" destId="{B9ADED97-AC03-45B3-9A41-1A0C1968CFF9}" srcOrd="1" destOrd="0" presId="urn:microsoft.com/office/officeart/2005/8/layout/vList5"/>
    <dgm:cxn modelId="{A400F5CB-9537-471B-8D0A-1033C085254B}" type="presParOf" srcId="{839DAA1E-965A-47C3-A43A-11065EE10B96}" destId="{9C05B516-FF87-4BA1-96C0-F306926B9554}" srcOrd="3" destOrd="0" presId="urn:microsoft.com/office/officeart/2005/8/layout/vList5"/>
    <dgm:cxn modelId="{AECA47B0-3A17-48F1-B0A3-5D232B8209C8}" type="presParOf" srcId="{839DAA1E-965A-47C3-A43A-11065EE10B96}" destId="{E9DA7CE4-CC12-4EBB-A6B7-059B79834B7E}" srcOrd="4" destOrd="0" presId="urn:microsoft.com/office/officeart/2005/8/layout/vList5"/>
    <dgm:cxn modelId="{4053744F-9E3F-413C-98CB-92EABAF7CD0B}" type="presParOf" srcId="{E9DA7CE4-CC12-4EBB-A6B7-059B79834B7E}" destId="{BA4D8448-5FCE-4939-A31F-189DD0695EDD}" srcOrd="0" destOrd="0" presId="urn:microsoft.com/office/officeart/2005/8/layout/vList5"/>
    <dgm:cxn modelId="{618B5F3E-207D-4E0E-91F4-8B6D24AA60C1}" type="presParOf" srcId="{E9DA7CE4-CC12-4EBB-A6B7-059B79834B7E}" destId="{25BA6B9A-BD30-4EEB-BF01-6CE0D866FE92}" srcOrd="1" destOrd="0" presId="urn:microsoft.com/office/officeart/2005/8/layout/vList5"/>
    <dgm:cxn modelId="{D463FEF6-E36F-45AE-AF30-3803DCFC9205}" type="presParOf" srcId="{839DAA1E-965A-47C3-A43A-11065EE10B96}" destId="{A24F7DA3-FC33-40E2-9E71-B9882F04CC75}" srcOrd="5" destOrd="0" presId="urn:microsoft.com/office/officeart/2005/8/layout/vList5"/>
    <dgm:cxn modelId="{9B8FE620-BD4E-4A11-88FE-29DECE0C9121}" type="presParOf" srcId="{839DAA1E-965A-47C3-A43A-11065EE10B96}" destId="{84F3CB32-DDE5-45B2-9385-0CD91C557D89}" srcOrd="6" destOrd="0" presId="urn:microsoft.com/office/officeart/2005/8/layout/vList5"/>
    <dgm:cxn modelId="{495A0840-283D-4EF4-A9F6-FA331F122591}" type="presParOf" srcId="{84F3CB32-DDE5-45B2-9385-0CD91C557D89}" destId="{6E4EC516-9261-48FC-9264-8581F4CB680E}" srcOrd="0" destOrd="0" presId="urn:microsoft.com/office/officeart/2005/8/layout/vList5"/>
    <dgm:cxn modelId="{F599543D-3821-40C2-B35E-1D632C99014B}"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107CFADB-3CFD-40CD-9EA8-26E1929DE941}" type="presOf" srcId="{49056608-284B-41CD-8ADB-3FDE4D94AB7D}" destId="{B9ADED97-AC03-45B3-9A41-1A0C1968CFF9}" srcOrd="0" destOrd="0" presId="urn:microsoft.com/office/officeart/2005/8/layout/vList5"/>
    <dgm:cxn modelId="{20F8098D-A05C-49B4-950A-565A1779F2CD}" srcId="{9998B519-03B6-4420-B2B1-FE85B07BB863}" destId="{5CC6B45F-A032-48B1-AC89-723CB5731DA6}" srcOrd="3" destOrd="0" parTransId="{ACE1AE1F-A6A3-4BC7-821F-C9E3D9ACDC74}" sibTransId="{36D246C1-F80B-41F2-9433-62746058ABD0}"/>
    <dgm:cxn modelId="{F13B3037-C5E6-4E0F-95F2-D197D76BC092}" type="presOf" srcId="{71E1A4A0-F53B-46FD-8EB5-746260CA76E9}" destId="{3E0795D4-4188-4949-AE94-2A791BCE1FD9}" srcOrd="0" destOrd="0" presId="urn:microsoft.com/office/officeart/2005/8/layout/vList5"/>
    <dgm:cxn modelId="{4DDA85C5-47C2-4EC3-BA32-9B55593846E6}" srcId="{C31BA4C3-B958-4E11-B7C3-C2A236A8EB3B}" destId="{3E0474F6-28FF-4E2A-9CE3-47E7144861B8}" srcOrd="1" destOrd="0" parTransId="{AAD8D21F-2F28-41F2-AA7F-D2296ECD10F5}" sibTransId="{301C377B-C97C-44D4-96E8-495FD96130EB}"/>
    <dgm:cxn modelId="{4F0B4E38-5B68-4BDA-9E82-221DAFA0D6A2}" srcId="{228F0A37-3996-4B64-9C0A-A54BCC3EA6BA}" destId="{08DFE00A-129B-475A-877D-F98A2C8EA242}" srcOrd="1" destOrd="0" parTransId="{4A14A3AA-2455-49C2-9043-EA3E03C94CEA}" sibTransId="{8C6BB5C5-A2AA-4CAD-A46F-A64D3545DBF2}"/>
    <dgm:cxn modelId="{8DE8BC10-13A4-4351-A1D6-F737654EE16A}" type="presOf" srcId="{95B352C6-C5E7-4083-93BA-0F69DDA0277F}" destId="{25BA6B9A-BD30-4EEB-BF01-6CE0D866FE92}" srcOrd="0" destOrd="0" presId="urn:microsoft.com/office/officeart/2005/8/layout/vList5"/>
    <dgm:cxn modelId="{43D253BA-70FB-4B9A-A040-3446EA114B0D}" type="presOf" srcId="{80B393ED-AF20-4EC7-B392-49545AD72664}" destId="{F49AC9AF-1A8A-4450-AECD-FC6A5E789BAA}"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4FA09D75-BE53-467A-8D05-DD319E069BBC}" type="presOf" srcId="{98AED58E-7E7C-416A-8A18-20CA5C05518C}" destId="{F2F08941-5A68-411E-AD7F-6EF46FD56FBD}" srcOrd="0" destOrd="0" presId="urn:microsoft.com/office/officeart/2005/8/layout/vList5"/>
    <dgm:cxn modelId="{4B73E68C-95AD-408C-8A02-2F46FC74C1E2}" type="presOf" srcId="{5CC6B45F-A032-48B1-AC89-723CB5731DA6}" destId="{6E4EC516-9261-48FC-9264-8581F4CB680E}" srcOrd="0" destOrd="0" presId="urn:microsoft.com/office/officeart/2005/8/layout/vList5"/>
    <dgm:cxn modelId="{46F08BE9-A88D-413C-98C5-E8DC1FA88513}" type="presOf" srcId="{3E0474F6-28FF-4E2A-9CE3-47E7144861B8}" destId="{B9ADED97-AC03-45B3-9A41-1A0C1968CFF9}" srcOrd="0" destOrd="1"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AAD3043D-A7F3-4B72-970F-6CE792E3C358}" type="presOf" srcId="{C31BA4C3-B958-4E11-B7C3-C2A236A8EB3B}" destId="{6008EA90-E6B1-4498-ABE6-BCDF0E0818F9}" srcOrd="0" destOrd="0" presId="urn:microsoft.com/office/officeart/2005/8/layout/vList5"/>
    <dgm:cxn modelId="{E2F2F347-BB30-4683-999B-D6DFFD04F19D}" type="presOf" srcId="{228F0A37-3996-4B64-9C0A-A54BCC3EA6BA}" destId="{BA4D8448-5FCE-4939-A31F-189DD0695EDD}" srcOrd="0" destOrd="0" presId="urn:microsoft.com/office/officeart/2005/8/layout/vList5"/>
    <dgm:cxn modelId="{883626E0-43BF-4E90-BEC9-291D135650AF}" type="presOf" srcId="{80925EED-1441-4DF2-ADCA-DEFC0758046C}" destId="{F49AC9AF-1A8A-4450-AECD-FC6A5E789BAA}"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01310117-506F-457D-9F56-59AC8F70CB1F}" type="presOf" srcId="{A53ACEF5-5EE8-41E2-B6D6-C74C7F15C95C}" destId="{B9ADED97-AC03-45B3-9A41-1A0C1968CFF9}" srcOrd="0" destOrd="2" presId="urn:microsoft.com/office/officeart/2005/8/layout/vList5"/>
    <dgm:cxn modelId="{9D250D06-E2A7-4519-A528-C132405A93EA}" type="presOf" srcId="{9998B519-03B6-4420-B2B1-FE85B07BB863}" destId="{839DAA1E-965A-47C3-A43A-11065EE10B96}" srcOrd="0" destOrd="0" presId="urn:microsoft.com/office/officeart/2005/8/layout/vList5"/>
    <dgm:cxn modelId="{6B739FEF-9F1B-44E8-AD6A-964F611BAEB8}" type="presOf" srcId="{08DFE00A-129B-475A-877D-F98A2C8EA242}" destId="{25BA6B9A-BD30-4EEB-BF01-6CE0D866FE92}" srcOrd="0" destOrd="1" presId="urn:microsoft.com/office/officeart/2005/8/layout/vList5"/>
    <dgm:cxn modelId="{F12FDA00-269A-4912-A341-0796AD790E16}" type="presOf" srcId="{A7B9EF29-C5CA-4E82-8A3E-0C9D22914FDC}" destId="{3E0795D4-4188-4949-AE94-2A791BCE1FD9}" srcOrd="0" destOrd="1"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F1B8D545-FC47-41A8-BFF9-1F717142625E}" type="presParOf" srcId="{839DAA1E-965A-47C3-A43A-11065EE10B96}" destId="{1E15A9A0-54DC-418F-B00C-3E01C32BEAE1}" srcOrd="0" destOrd="0" presId="urn:microsoft.com/office/officeart/2005/8/layout/vList5"/>
    <dgm:cxn modelId="{72A5ED74-0B11-498F-9801-F8C1BC4BCE78}" type="presParOf" srcId="{1E15A9A0-54DC-418F-B00C-3E01C32BEAE1}" destId="{F2F08941-5A68-411E-AD7F-6EF46FD56FBD}" srcOrd="0" destOrd="0" presId="urn:microsoft.com/office/officeart/2005/8/layout/vList5"/>
    <dgm:cxn modelId="{A73AC8C8-C4BF-4C47-84CD-40BD1D60DC28}" type="presParOf" srcId="{1E15A9A0-54DC-418F-B00C-3E01C32BEAE1}" destId="{3E0795D4-4188-4949-AE94-2A791BCE1FD9}" srcOrd="1" destOrd="0" presId="urn:microsoft.com/office/officeart/2005/8/layout/vList5"/>
    <dgm:cxn modelId="{2DD761B0-3F70-4AC0-8D41-69C212150CB5}" type="presParOf" srcId="{839DAA1E-965A-47C3-A43A-11065EE10B96}" destId="{36D3ACFC-26E0-45C8-A1C3-BE3B78CF069D}" srcOrd="1" destOrd="0" presId="urn:microsoft.com/office/officeart/2005/8/layout/vList5"/>
    <dgm:cxn modelId="{6670C9F7-9489-4BF4-A716-BE08E7D29716}" type="presParOf" srcId="{839DAA1E-965A-47C3-A43A-11065EE10B96}" destId="{FCA73F41-6637-4792-B146-2F852EE33B87}" srcOrd="2" destOrd="0" presId="urn:microsoft.com/office/officeart/2005/8/layout/vList5"/>
    <dgm:cxn modelId="{60F54C8C-A109-477D-9EFF-1B25CF36718E}" type="presParOf" srcId="{FCA73F41-6637-4792-B146-2F852EE33B87}" destId="{6008EA90-E6B1-4498-ABE6-BCDF0E0818F9}" srcOrd="0" destOrd="0" presId="urn:microsoft.com/office/officeart/2005/8/layout/vList5"/>
    <dgm:cxn modelId="{2F97F57C-2B33-46D7-9807-324B60ED2CE3}" type="presParOf" srcId="{FCA73F41-6637-4792-B146-2F852EE33B87}" destId="{B9ADED97-AC03-45B3-9A41-1A0C1968CFF9}" srcOrd="1" destOrd="0" presId="urn:microsoft.com/office/officeart/2005/8/layout/vList5"/>
    <dgm:cxn modelId="{CF4E7C2D-E760-4100-BA90-41CD50A6C118}" type="presParOf" srcId="{839DAA1E-965A-47C3-A43A-11065EE10B96}" destId="{9C05B516-FF87-4BA1-96C0-F306926B9554}" srcOrd="3" destOrd="0" presId="urn:microsoft.com/office/officeart/2005/8/layout/vList5"/>
    <dgm:cxn modelId="{33F997FD-DE68-466B-87DC-2D0F8A6CD576}" type="presParOf" srcId="{839DAA1E-965A-47C3-A43A-11065EE10B96}" destId="{E9DA7CE4-CC12-4EBB-A6B7-059B79834B7E}" srcOrd="4" destOrd="0" presId="urn:microsoft.com/office/officeart/2005/8/layout/vList5"/>
    <dgm:cxn modelId="{35AC17D0-BE5B-458C-B491-25285D1CC6F1}" type="presParOf" srcId="{E9DA7CE4-CC12-4EBB-A6B7-059B79834B7E}" destId="{BA4D8448-5FCE-4939-A31F-189DD0695EDD}" srcOrd="0" destOrd="0" presId="urn:microsoft.com/office/officeart/2005/8/layout/vList5"/>
    <dgm:cxn modelId="{FFF3B96E-AA2D-4EFF-874C-8B24199307DF}" type="presParOf" srcId="{E9DA7CE4-CC12-4EBB-A6B7-059B79834B7E}" destId="{25BA6B9A-BD30-4EEB-BF01-6CE0D866FE92}" srcOrd="1" destOrd="0" presId="urn:microsoft.com/office/officeart/2005/8/layout/vList5"/>
    <dgm:cxn modelId="{15BF37BB-722E-47E3-87CC-B6648EE14EDB}" type="presParOf" srcId="{839DAA1E-965A-47C3-A43A-11065EE10B96}" destId="{A24F7DA3-FC33-40E2-9E71-B9882F04CC75}" srcOrd="5" destOrd="0" presId="urn:microsoft.com/office/officeart/2005/8/layout/vList5"/>
    <dgm:cxn modelId="{A32DAB95-7E86-49BD-964B-E4B40BC8BF3C}" type="presParOf" srcId="{839DAA1E-965A-47C3-A43A-11065EE10B96}" destId="{84F3CB32-DDE5-45B2-9385-0CD91C557D89}" srcOrd="6" destOrd="0" presId="urn:microsoft.com/office/officeart/2005/8/layout/vList5"/>
    <dgm:cxn modelId="{5BBD6313-AC0F-4651-A462-5C9984B6EAE2}" type="presParOf" srcId="{84F3CB32-DDE5-45B2-9385-0CD91C557D89}" destId="{6E4EC516-9261-48FC-9264-8581F4CB680E}" srcOrd="0" destOrd="0" presId="urn:microsoft.com/office/officeart/2005/8/layout/vList5"/>
    <dgm:cxn modelId="{1F128AB0-FDF6-471B-B224-3468A5287E7B}"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B4015F-7FC5-4080-9E4B-A38301BC6BF2}" type="doc">
      <dgm:prSet loTypeId="urn:microsoft.com/office/officeart/2005/8/layout/cycle8" loCatId="cycle" qsTypeId="urn:microsoft.com/office/officeart/2005/8/quickstyle/simple1" qsCatId="simple" csTypeId="urn:microsoft.com/office/officeart/2005/8/colors/accent3_1" csCatId="accent3" phldr="1"/>
      <dgm:spPr/>
    </dgm:pt>
    <dgm:pt modelId="{B221D29F-3159-4061-A4AD-579A489775A5}">
      <dgm:prSet phldrT="[Text]"/>
      <dgm:spPr/>
      <dgm:t>
        <a:bodyPr/>
        <a:lstStyle/>
        <a:p>
          <a:r>
            <a:rPr lang="fi-FI" dirty="0" smtClean="0"/>
            <a:t>KEHITYSTÄ:</a:t>
          </a:r>
          <a:br>
            <a:rPr lang="fi-FI" dirty="0" smtClean="0"/>
          </a:br>
          <a:r>
            <a:rPr lang="fi-FI" dirty="0" smtClean="0"/>
            <a:t>Arkkitehtuuri, toteutustavat ja –teknologiat, rajoitteiden huomiointi</a:t>
          </a:r>
          <a:endParaRPr lang="fi-FI" dirty="0"/>
        </a:p>
      </dgm:t>
    </dgm:pt>
    <dgm:pt modelId="{2B65D97D-2AF6-46C6-85A6-DA726E8D2F5E}" type="parTrans" cxnId="{7B3E7177-5C70-47F9-8ED4-74713C560B8B}">
      <dgm:prSet/>
      <dgm:spPr/>
      <dgm:t>
        <a:bodyPr/>
        <a:lstStyle/>
        <a:p>
          <a:endParaRPr lang="fi-FI"/>
        </a:p>
      </dgm:t>
    </dgm:pt>
    <dgm:pt modelId="{1917A0F5-B4EC-42D3-96D7-35734762EE22}" type="sibTrans" cxnId="{7B3E7177-5C70-47F9-8ED4-74713C560B8B}">
      <dgm:prSet/>
      <dgm:spPr/>
      <dgm:t>
        <a:bodyPr/>
        <a:lstStyle/>
        <a:p>
          <a:endParaRPr lang="fi-FI"/>
        </a:p>
      </dgm:t>
    </dgm:pt>
    <dgm:pt modelId="{185E084B-E58A-4E05-AC13-46C8B854D156}">
      <dgm:prSet phldrT="[Text]"/>
      <dgm:spPr/>
      <dgm:t>
        <a:bodyPr/>
        <a:lstStyle/>
        <a:p>
          <a:r>
            <a:rPr lang="fi-FI" dirty="0" smtClean="0"/>
            <a:t>YHTEISTÄ: </a:t>
          </a:r>
          <a:br>
            <a:rPr lang="fi-FI" dirty="0" smtClean="0"/>
          </a:br>
          <a:r>
            <a:rPr lang="fi-FI" dirty="0" smtClean="0"/>
            <a:t>Arvot, periaatteet, puitteet, yhteistyö, organisaation rajoitteet </a:t>
          </a:r>
          <a:endParaRPr lang="fi-FI" dirty="0"/>
        </a:p>
      </dgm:t>
    </dgm:pt>
    <dgm:pt modelId="{1F700843-BF2A-48C1-8F46-89CB40325AC0}" type="parTrans" cxnId="{BFBA304A-5778-4D89-9D19-F2CB39006635}">
      <dgm:prSet/>
      <dgm:spPr/>
      <dgm:t>
        <a:bodyPr/>
        <a:lstStyle/>
        <a:p>
          <a:endParaRPr lang="fi-FI"/>
        </a:p>
      </dgm:t>
    </dgm:pt>
    <dgm:pt modelId="{E83353FA-45D1-4D33-AD3A-72DEF816F276}" type="sibTrans" cxnId="{BFBA304A-5778-4D89-9D19-F2CB39006635}">
      <dgm:prSet/>
      <dgm:spPr/>
      <dgm:t>
        <a:bodyPr/>
        <a:lstStyle/>
        <a:p>
          <a:endParaRPr lang="fi-FI"/>
        </a:p>
      </dgm:t>
    </dgm:pt>
    <dgm:pt modelId="{6294C73D-F6E3-42EA-8B88-F39472AF02CD}">
      <dgm:prSet phldrT="[Text]"/>
      <dgm:spPr/>
      <dgm:t>
        <a:bodyPr/>
        <a:lstStyle/>
        <a:p>
          <a:r>
            <a:rPr lang="fi-FI" dirty="0" smtClean="0"/>
            <a:t>TESTAUSTA:</a:t>
          </a:r>
          <a:br>
            <a:rPr lang="fi-FI" dirty="0" smtClean="0"/>
          </a:br>
          <a:r>
            <a:rPr lang="fi-FI" dirty="0" smtClean="0"/>
            <a:t>Järjestelmälaadun palautemekanismit, kyseenalaistaminen</a:t>
          </a:r>
          <a:endParaRPr lang="fi-FI" dirty="0"/>
        </a:p>
      </dgm:t>
    </dgm:pt>
    <dgm:pt modelId="{A191087A-72D1-4B6F-9480-85FA775A3E26}" type="parTrans" cxnId="{3A38E1DE-B67B-4332-A39D-A796DD78EA7D}">
      <dgm:prSet/>
      <dgm:spPr/>
      <dgm:t>
        <a:bodyPr/>
        <a:lstStyle/>
        <a:p>
          <a:endParaRPr lang="fi-FI"/>
        </a:p>
      </dgm:t>
    </dgm:pt>
    <dgm:pt modelId="{49CE606F-7A81-46C6-8D0B-AC3CD894EE83}" type="sibTrans" cxnId="{3A38E1DE-B67B-4332-A39D-A796DD78EA7D}">
      <dgm:prSet/>
      <dgm:spPr/>
      <dgm:t>
        <a:bodyPr/>
        <a:lstStyle/>
        <a:p>
          <a:endParaRPr lang="fi-FI"/>
        </a:p>
      </dgm:t>
    </dgm:pt>
    <dgm:pt modelId="{E50F5930-ED12-46FA-8106-ACC83AAEB625}" type="pres">
      <dgm:prSet presAssocID="{7CB4015F-7FC5-4080-9E4B-A38301BC6BF2}" presName="compositeShape" presStyleCnt="0">
        <dgm:presLayoutVars>
          <dgm:chMax val="7"/>
          <dgm:dir/>
          <dgm:resizeHandles val="exact"/>
        </dgm:presLayoutVars>
      </dgm:prSet>
      <dgm:spPr/>
    </dgm:pt>
    <dgm:pt modelId="{EB479232-6C1C-4C0F-83B0-84A7B9BD74BE}" type="pres">
      <dgm:prSet presAssocID="{7CB4015F-7FC5-4080-9E4B-A38301BC6BF2}" presName="wedge1" presStyleLbl="node1" presStyleIdx="0" presStyleCnt="3"/>
      <dgm:spPr/>
      <dgm:t>
        <a:bodyPr/>
        <a:lstStyle/>
        <a:p>
          <a:endParaRPr lang="fi-FI"/>
        </a:p>
      </dgm:t>
    </dgm:pt>
    <dgm:pt modelId="{B3A76AEC-4FBA-4AA7-B0C6-2CFFD839EAF8}" type="pres">
      <dgm:prSet presAssocID="{7CB4015F-7FC5-4080-9E4B-A38301BC6BF2}" presName="dummy1a" presStyleCnt="0"/>
      <dgm:spPr/>
    </dgm:pt>
    <dgm:pt modelId="{1ABA9C6B-50F3-4C6D-A3E4-190CBF7AA1F2}" type="pres">
      <dgm:prSet presAssocID="{7CB4015F-7FC5-4080-9E4B-A38301BC6BF2}" presName="dummy1b" presStyleCnt="0"/>
      <dgm:spPr/>
    </dgm:pt>
    <dgm:pt modelId="{C70B0837-FF27-453E-9CFF-62D8EFCA835A}" type="pres">
      <dgm:prSet presAssocID="{7CB4015F-7FC5-4080-9E4B-A38301BC6BF2}" presName="wedge1Tx" presStyleLbl="node1" presStyleIdx="0" presStyleCnt="3">
        <dgm:presLayoutVars>
          <dgm:chMax val="0"/>
          <dgm:chPref val="0"/>
          <dgm:bulletEnabled val="1"/>
        </dgm:presLayoutVars>
      </dgm:prSet>
      <dgm:spPr/>
      <dgm:t>
        <a:bodyPr/>
        <a:lstStyle/>
        <a:p>
          <a:endParaRPr lang="fi-FI"/>
        </a:p>
      </dgm:t>
    </dgm:pt>
    <dgm:pt modelId="{6A4F1999-EB4F-4EBC-B333-91EE51B7EB49}" type="pres">
      <dgm:prSet presAssocID="{7CB4015F-7FC5-4080-9E4B-A38301BC6BF2}" presName="wedge2" presStyleLbl="node1" presStyleIdx="1" presStyleCnt="3"/>
      <dgm:spPr/>
      <dgm:t>
        <a:bodyPr/>
        <a:lstStyle/>
        <a:p>
          <a:endParaRPr lang="fi-FI"/>
        </a:p>
      </dgm:t>
    </dgm:pt>
    <dgm:pt modelId="{F83A0829-EBFC-47FC-B3E9-D91DF927AC11}" type="pres">
      <dgm:prSet presAssocID="{7CB4015F-7FC5-4080-9E4B-A38301BC6BF2}" presName="dummy2a" presStyleCnt="0"/>
      <dgm:spPr/>
    </dgm:pt>
    <dgm:pt modelId="{6E1904FA-6727-4143-9925-87A236C8DB9F}" type="pres">
      <dgm:prSet presAssocID="{7CB4015F-7FC5-4080-9E4B-A38301BC6BF2}" presName="dummy2b" presStyleCnt="0"/>
      <dgm:spPr/>
    </dgm:pt>
    <dgm:pt modelId="{1699869A-2310-425A-8E66-C09626CE5434}" type="pres">
      <dgm:prSet presAssocID="{7CB4015F-7FC5-4080-9E4B-A38301BC6BF2}" presName="wedge2Tx" presStyleLbl="node1" presStyleIdx="1" presStyleCnt="3">
        <dgm:presLayoutVars>
          <dgm:chMax val="0"/>
          <dgm:chPref val="0"/>
          <dgm:bulletEnabled val="1"/>
        </dgm:presLayoutVars>
      </dgm:prSet>
      <dgm:spPr/>
      <dgm:t>
        <a:bodyPr/>
        <a:lstStyle/>
        <a:p>
          <a:endParaRPr lang="fi-FI"/>
        </a:p>
      </dgm:t>
    </dgm:pt>
    <dgm:pt modelId="{48153311-3B27-4CAD-AD05-B2B030114381}" type="pres">
      <dgm:prSet presAssocID="{7CB4015F-7FC5-4080-9E4B-A38301BC6BF2}" presName="wedge3" presStyleLbl="node1" presStyleIdx="2" presStyleCnt="3"/>
      <dgm:spPr/>
      <dgm:t>
        <a:bodyPr/>
        <a:lstStyle/>
        <a:p>
          <a:endParaRPr lang="fi-FI"/>
        </a:p>
      </dgm:t>
    </dgm:pt>
    <dgm:pt modelId="{EB84A5F3-B643-4D37-8931-25B4B9D7CF1E}" type="pres">
      <dgm:prSet presAssocID="{7CB4015F-7FC5-4080-9E4B-A38301BC6BF2}" presName="dummy3a" presStyleCnt="0"/>
      <dgm:spPr/>
    </dgm:pt>
    <dgm:pt modelId="{667B498B-92C9-4B03-AE1D-FF83606CE0E8}" type="pres">
      <dgm:prSet presAssocID="{7CB4015F-7FC5-4080-9E4B-A38301BC6BF2}" presName="dummy3b" presStyleCnt="0"/>
      <dgm:spPr/>
    </dgm:pt>
    <dgm:pt modelId="{3E0780AB-9C12-4B4D-98C1-1981609563FF}" type="pres">
      <dgm:prSet presAssocID="{7CB4015F-7FC5-4080-9E4B-A38301BC6BF2}" presName="wedge3Tx" presStyleLbl="node1" presStyleIdx="2" presStyleCnt="3">
        <dgm:presLayoutVars>
          <dgm:chMax val="0"/>
          <dgm:chPref val="0"/>
          <dgm:bulletEnabled val="1"/>
        </dgm:presLayoutVars>
      </dgm:prSet>
      <dgm:spPr/>
      <dgm:t>
        <a:bodyPr/>
        <a:lstStyle/>
        <a:p>
          <a:endParaRPr lang="fi-FI"/>
        </a:p>
      </dgm:t>
    </dgm:pt>
    <dgm:pt modelId="{6FE07534-A3EC-4656-BBAF-24A47B2069CF}" type="pres">
      <dgm:prSet presAssocID="{1917A0F5-B4EC-42D3-96D7-35734762EE22}" presName="arrowWedge1" presStyleLbl="fgSibTrans2D1" presStyleIdx="0" presStyleCnt="3"/>
      <dgm:spPr/>
    </dgm:pt>
    <dgm:pt modelId="{1AC91175-6607-49D9-A74A-558651E4D074}" type="pres">
      <dgm:prSet presAssocID="{E83353FA-45D1-4D33-AD3A-72DEF816F276}" presName="arrowWedge2" presStyleLbl="fgSibTrans2D1" presStyleIdx="1" presStyleCnt="3"/>
      <dgm:spPr/>
    </dgm:pt>
    <dgm:pt modelId="{D71E55E3-CA90-4CDC-B012-71027D071FD7}" type="pres">
      <dgm:prSet presAssocID="{49CE606F-7A81-46C6-8D0B-AC3CD894EE83}" presName="arrowWedge3" presStyleLbl="fgSibTrans2D1" presStyleIdx="2" presStyleCnt="3"/>
      <dgm:spPr/>
    </dgm:pt>
  </dgm:ptLst>
  <dgm:cxnLst>
    <dgm:cxn modelId="{3A38E1DE-B67B-4332-A39D-A796DD78EA7D}" srcId="{7CB4015F-7FC5-4080-9E4B-A38301BC6BF2}" destId="{6294C73D-F6E3-42EA-8B88-F39472AF02CD}" srcOrd="2" destOrd="0" parTransId="{A191087A-72D1-4B6F-9480-85FA775A3E26}" sibTransId="{49CE606F-7A81-46C6-8D0B-AC3CD894EE83}"/>
    <dgm:cxn modelId="{BFBA304A-5778-4D89-9D19-F2CB39006635}" srcId="{7CB4015F-7FC5-4080-9E4B-A38301BC6BF2}" destId="{185E084B-E58A-4E05-AC13-46C8B854D156}" srcOrd="1" destOrd="0" parTransId="{1F700843-BF2A-48C1-8F46-89CB40325AC0}" sibTransId="{E83353FA-45D1-4D33-AD3A-72DEF816F276}"/>
    <dgm:cxn modelId="{7A8EBADA-C313-41B1-BCB4-4920A1525DA1}" type="presOf" srcId="{B221D29F-3159-4061-A4AD-579A489775A5}" destId="{EB479232-6C1C-4C0F-83B0-84A7B9BD74BE}" srcOrd="0" destOrd="0" presId="urn:microsoft.com/office/officeart/2005/8/layout/cycle8"/>
    <dgm:cxn modelId="{BC9A0069-58DD-44DA-9E9F-3DFFD4B0CD4A}" type="presOf" srcId="{B221D29F-3159-4061-A4AD-579A489775A5}" destId="{C70B0837-FF27-453E-9CFF-62D8EFCA835A}" srcOrd="1" destOrd="0" presId="urn:microsoft.com/office/officeart/2005/8/layout/cycle8"/>
    <dgm:cxn modelId="{FBD068FB-C6E6-4465-8E04-590101B1EB37}" type="presOf" srcId="{185E084B-E58A-4E05-AC13-46C8B854D156}" destId="{1699869A-2310-425A-8E66-C09626CE5434}" srcOrd="1" destOrd="0" presId="urn:microsoft.com/office/officeart/2005/8/layout/cycle8"/>
    <dgm:cxn modelId="{7B3E7177-5C70-47F9-8ED4-74713C560B8B}" srcId="{7CB4015F-7FC5-4080-9E4B-A38301BC6BF2}" destId="{B221D29F-3159-4061-A4AD-579A489775A5}" srcOrd="0" destOrd="0" parTransId="{2B65D97D-2AF6-46C6-85A6-DA726E8D2F5E}" sibTransId="{1917A0F5-B4EC-42D3-96D7-35734762EE22}"/>
    <dgm:cxn modelId="{3A535726-28B6-483E-8642-A221E06BBA59}" type="presOf" srcId="{185E084B-E58A-4E05-AC13-46C8B854D156}" destId="{6A4F1999-EB4F-4EBC-B333-91EE51B7EB49}" srcOrd="0" destOrd="0" presId="urn:microsoft.com/office/officeart/2005/8/layout/cycle8"/>
    <dgm:cxn modelId="{3A3A5FDA-5DC1-4419-A509-923D6E56C87E}" type="presOf" srcId="{6294C73D-F6E3-42EA-8B88-F39472AF02CD}" destId="{48153311-3B27-4CAD-AD05-B2B030114381}" srcOrd="0" destOrd="0" presId="urn:microsoft.com/office/officeart/2005/8/layout/cycle8"/>
    <dgm:cxn modelId="{52AAE20D-91F7-487A-ACD8-131A19D14388}" type="presOf" srcId="{7CB4015F-7FC5-4080-9E4B-A38301BC6BF2}" destId="{E50F5930-ED12-46FA-8106-ACC83AAEB625}" srcOrd="0" destOrd="0" presId="urn:microsoft.com/office/officeart/2005/8/layout/cycle8"/>
    <dgm:cxn modelId="{2B450ABC-C7B3-4F63-B8F4-C0D9F7C16178}" type="presOf" srcId="{6294C73D-F6E3-42EA-8B88-F39472AF02CD}" destId="{3E0780AB-9C12-4B4D-98C1-1981609563FF}" srcOrd="1" destOrd="0" presId="urn:microsoft.com/office/officeart/2005/8/layout/cycle8"/>
    <dgm:cxn modelId="{E11BEED0-089F-4285-ABA5-9C0E2DD6D2BD}" type="presParOf" srcId="{E50F5930-ED12-46FA-8106-ACC83AAEB625}" destId="{EB479232-6C1C-4C0F-83B0-84A7B9BD74BE}" srcOrd="0" destOrd="0" presId="urn:microsoft.com/office/officeart/2005/8/layout/cycle8"/>
    <dgm:cxn modelId="{046C2314-7AC7-4B28-BFFB-1B6C03CA8B1C}" type="presParOf" srcId="{E50F5930-ED12-46FA-8106-ACC83AAEB625}" destId="{B3A76AEC-4FBA-4AA7-B0C6-2CFFD839EAF8}" srcOrd="1" destOrd="0" presId="urn:microsoft.com/office/officeart/2005/8/layout/cycle8"/>
    <dgm:cxn modelId="{72112A79-FC1E-4A71-BFC7-836AD5E94274}" type="presParOf" srcId="{E50F5930-ED12-46FA-8106-ACC83AAEB625}" destId="{1ABA9C6B-50F3-4C6D-A3E4-190CBF7AA1F2}" srcOrd="2" destOrd="0" presId="urn:microsoft.com/office/officeart/2005/8/layout/cycle8"/>
    <dgm:cxn modelId="{3FAD0CB9-CC9A-4E13-802D-4ECC601013BA}" type="presParOf" srcId="{E50F5930-ED12-46FA-8106-ACC83AAEB625}" destId="{C70B0837-FF27-453E-9CFF-62D8EFCA835A}" srcOrd="3" destOrd="0" presId="urn:microsoft.com/office/officeart/2005/8/layout/cycle8"/>
    <dgm:cxn modelId="{1D8E2E56-82D1-4FA7-B25D-E9900B4304CF}" type="presParOf" srcId="{E50F5930-ED12-46FA-8106-ACC83AAEB625}" destId="{6A4F1999-EB4F-4EBC-B333-91EE51B7EB49}" srcOrd="4" destOrd="0" presId="urn:microsoft.com/office/officeart/2005/8/layout/cycle8"/>
    <dgm:cxn modelId="{291DAA38-1D6C-4A57-A21E-89B74E74C517}" type="presParOf" srcId="{E50F5930-ED12-46FA-8106-ACC83AAEB625}" destId="{F83A0829-EBFC-47FC-B3E9-D91DF927AC11}" srcOrd="5" destOrd="0" presId="urn:microsoft.com/office/officeart/2005/8/layout/cycle8"/>
    <dgm:cxn modelId="{8C9A368D-80DE-4A5F-809D-08D1763BB059}" type="presParOf" srcId="{E50F5930-ED12-46FA-8106-ACC83AAEB625}" destId="{6E1904FA-6727-4143-9925-87A236C8DB9F}" srcOrd="6" destOrd="0" presId="urn:microsoft.com/office/officeart/2005/8/layout/cycle8"/>
    <dgm:cxn modelId="{B42B8326-ABD6-463F-B0C1-C575269D8D72}" type="presParOf" srcId="{E50F5930-ED12-46FA-8106-ACC83AAEB625}" destId="{1699869A-2310-425A-8E66-C09626CE5434}" srcOrd="7" destOrd="0" presId="urn:microsoft.com/office/officeart/2005/8/layout/cycle8"/>
    <dgm:cxn modelId="{9B1C20FC-8D53-4A1F-85DC-F565830A6569}" type="presParOf" srcId="{E50F5930-ED12-46FA-8106-ACC83AAEB625}" destId="{48153311-3B27-4CAD-AD05-B2B030114381}" srcOrd="8" destOrd="0" presId="urn:microsoft.com/office/officeart/2005/8/layout/cycle8"/>
    <dgm:cxn modelId="{0A1BAB36-CDFA-4071-87A2-6504DB3C72FE}" type="presParOf" srcId="{E50F5930-ED12-46FA-8106-ACC83AAEB625}" destId="{EB84A5F3-B643-4D37-8931-25B4B9D7CF1E}" srcOrd="9" destOrd="0" presId="urn:microsoft.com/office/officeart/2005/8/layout/cycle8"/>
    <dgm:cxn modelId="{9DCA62E2-87E4-4B44-BF32-7F8CE31A72C7}" type="presParOf" srcId="{E50F5930-ED12-46FA-8106-ACC83AAEB625}" destId="{667B498B-92C9-4B03-AE1D-FF83606CE0E8}" srcOrd="10" destOrd="0" presId="urn:microsoft.com/office/officeart/2005/8/layout/cycle8"/>
    <dgm:cxn modelId="{3BB1DE8E-7AB6-48CB-8FAC-F9FB2730D60D}" type="presParOf" srcId="{E50F5930-ED12-46FA-8106-ACC83AAEB625}" destId="{3E0780AB-9C12-4B4D-98C1-1981609563FF}" srcOrd="11" destOrd="0" presId="urn:microsoft.com/office/officeart/2005/8/layout/cycle8"/>
    <dgm:cxn modelId="{81646DB2-FEFD-425C-AF09-922A84908457}" type="presParOf" srcId="{E50F5930-ED12-46FA-8106-ACC83AAEB625}" destId="{6FE07534-A3EC-4656-BBAF-24A47B2069CF}" srcOrd="12" destOrd="0" presId="urn:microsoft.com/office/officeart/2005/8/layout/cycle8"/>
    <dgm:cxn modelId="{59C1B070-E884-4886-A325-2BD596B4F373}" type="presParOf" srcId="{E50F5930-ED12-46FA-8106-ACC83AAEB625}" destId="{1AC91175-6607-49D9-A74A-558651E4D074}" srcOrd="13" destOrd="0" presId="urn:microsoft.com/office/officeart/2005/8/layout/cycle8"/>
    <dgm:cxn modelId="{DA9B7C9B-D365-4DF3-BED4-D6C4B53AABF6}" type="presParOf" srcId="{E50F5930-ED12-46FA-8106-ACC83AAEB625}" destId="{D71E55E3-CA90-4CDC-B012-71027D071FD7}" srcOrd="14" destOrd="0" presId="urn:microsoft.com/office/officeart/2005/8/layout/cycle8"/>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522B7DEA-F9A0-4E9E-988B-7EF12641B0DB}" type="presOf" srcId="{6B50C981-E288-4E84-B65E-F73EA9E70783}" destId="{B9ADED97-AC03-45B3-9A41-1A0C1968CFF9}" srcOrd="0" destOrd="1" presId="urn:microsoft.com/office/officeart/2005/8/layout/vList5"/>
    <dgm:cxn modelId="{973E93D4-ED8F-42D6-BCEE-508887BD5CE5}" type="presOf" srcId="{A53ACEF5-5EE8-41E2-B6D6-C74C7F15C95C}" destId="{B9ADED97-AC03-45B3-9A41-1A0C1968CFF9}"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E3821DE2-BEB2-4BA3-94B4-371D3FE60181}" type="presOf" srcId="{98AED58E-7E7C-416A-8A18-20CA5C05518C}" destId="{F2F08941-5A68-411E-AD7F-6EF46FD56FBD}"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B1C7B70A-926D-472F-9D6A-83B73EE62D4A}" type="presOf" srcId="{43874DE2-1DC0-4883-A591-AD110EE9DF14}" destId="{25BA6B9A-BD30-4EEB-BF01-6CE0D866FE92}" srcOrd="0" destOrd="1"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E1D4D0ED-5DEC-4511-9612-D5F254A602B2}" type="presOf" srcId="{228F0A37-3996-4B64-9C0A-A54BCC3EA6BA}" destId="{BA4D8448-5FCE-4939-A31F-189DD0695EDD}" srcOrd="0" destOrd="0" presId="urn:microsoft.com/office/officeart/2005/8/layout/vList5"/>
    <dgm:cxn modelId="{224A0FA6-F4E3-40E1-871F-29A78833995A}" type="presOf" srcId="{5CC6B45F-A032-48B1-AC89-723CB5731DA6}" destId="{6E4EC516-9261-48FC-9264-8581F4CB680E}" srcOrd="0" destOrd="0" presId="urn:microsoft.com/office/officeart/2005/8/layout/vList5"/>
    <dgm:cxn modelId="{F0CF877B-8D20-4981-86BC-D17A6C3F311C}" type="presOf" srcId="{80925EED-1441-4DF2-ADCA-DEFC0758046C}" destId="{F49AC9AF-1A8A-4450-AECD-FC6A5E789BAA}" srcOrd="0" destOrd="0" presId="urn:microsoft.com/office/officeart/2005/8/layout/vList5"/>
    <dgm:cxn modelId="{1C2F4DAC-F9C5-4527-B682-8A214C282319}" type="presOf" srcId="{C31BA4C3-B958-4E11-B7C3-C2A236A8EB3B}" destId="{6008EA90-E6B1-4498-ABE6-BCDF0E0818F9}"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52D77DEA-8052-4D7C-AF9A-8B8A5E1494C7}" type="presOf" srcId="{AAC83951-6A4A-433C-B085-A08DB739FBBD}" destId="{3E0795D4-4188-4949-AE94-2A791BCE1FD9}" srcOrd="0" destOrd="0" presId="urn:microsoft.com/office/officeart/2005/8/layout/vList5"/>
    <dgm:cxn modelId="{FFD12B4C-EB7A-41DA-86A8-40547259CAD7}" type="presOf" srcId="{84683C11-3BF9-40F9-A2B3-057C1D7DB8C4}" destId="{3E0795D4-4188-4949-AE94-2A791BCE1FD9}" srcOrd="0" destOrd="1"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C46704A5-EA7A-4E5F-948F-F4931E729EEB}" type="presOf" srcId="{95B352C6-C5E7-4083-93BA-0F69DDA0277F}" destId="{25BA6B9A-BD30-4EEB-BF01-6CE0D866FE92}"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DF337313-F604-4C70-B5B8-7DE2A3F1E25F}" type="presOf" srcId="{D97E231E-031B-46C9-A8A2-F1D6BA54A966}" destId="{F49AC9AF-1A8A-4450-AECD-FC6A5E789BAA}" srcOrd="0" destOrd="1" presId="urn:microsoft.com/office/officeart/2005/8/layout/vList5"/>
    <dgm:cxn modelId="{CEB2FE8D-DF5D-4148-988D-9BC036A4492F}" type="presOf" srcId="{9998B519-03B6-4420-B2B1-FE85B07BB863}" destId="{839DAA1E-965A-47C3-A43A-11065EE10B96}" srcOrd="0" destOrd="0" presId="urn:microsoft.com/office/officeart/2005/8/layout/vList5"/>
    <dgm:cxn modelId="{15DE493D-4526-46A3-ADD5-72BBDBFF4979}" srcId="{5CC6B45F-A032-48B1-AC89-723CB5731DA6}" destId="{80925EED-1441-4DF2-ADCA-DEFC0758046C}" srcOrd="0" destOrd="0" parTransId="{9FA56589-B84D-4A74-AAFB-CDF4873928A2}" sibTransId="{4532DB22-9671-4E53-BF06-C9663B3EE1A1}"/>
    <dgm:cxn modelId="{7F6DA142-9AA4-45F2-BF8D-B0AD09809490}" type="presParOf" srcId="{839DAA1E-965A-47C3-A43A-11065EE10B96}" destId="{1E15A9A0-54DC-418F-B00C-3E01C32BEAE1}" srcOrd="0" destOrd="0" presId="urn:microsoft.com/office/officeart/2005/8/layout/vList5"/>
    <dgm:cxn modelId="{40285CF0-26E4-4B60-99C0-33699EF25577}" type="presParOf" srcId="{1E15A9A0-54DC-418F-B00C-3E01C32BEAE1}" destId="{F2F08941-5A68-411E-AD7F-6EF46FD56FBD}" srcOrd="0" destOrd="0" presId="urn:microsoft.com/office/officeart/2005/8/layout/vList5"/>
    <dgm:cxn modelId="{8304DFAB-4FB9-4F98-A470-72F93A528019}" type="presParOf" srcId="{1E15A9A0-54DC-418F-B00C-3E01C32BEAE1}" destId="{3E0795D4-4188-4949-AE94-2A791BCE1FD9}" srcOrd="1" destOrd="0" presId="urn:microsoft.com/office/officeart/2005/8/layout/vList5"/>
    <dgm:cxn modelId="{622320CC-9BEE-4867-BBCD-AE539F008256}" type="presParOf" srcId="{839DAA1E-965A-47C3-A43A-11065EE10B96}" destId="{36D3ACFC-26E0-45C8-A1C3-BE3B78CF069D}" srcOrd="1" destOrd="0" presId="urn:microsoft.com/office/officeart/2005/8/layout/vList5"/>
    <dgm:cxn modelId="{43981AC4-0C48-4F05-9558-535354CF2B35}" type="presParOf" srcId="{839DAA1E-965A-47C3-A43A-11065EE10B96}" destId="{FCA73F41-6637-4792-B146-2F852EE33B87}" srcOrd="2" destOrd="0" presId="urn:microsoft.com/office/officeart/2005/8/layout/vList5"/>
    <dgm:cxn modelId="{C154B4D5-7E12-4236-B833-7655DD146F50}" type="presParOf" srcId="{FCA73F41-6637-4792-B146-2F852EE33B87}" destId="{6008EA90-E6B1-4498-ABE6-BCDF0E0818F9}" srcOrd="0" destOrd="0" presId="urn:microsoft.com/office/officeart/2005/8/layout/vList5"/>
    <dgm:cxn modelId="{216BB027-364A-4C56-BB5A-4C66B787EBDD}" type="presParOf" srcId="{FCA73F41-6637-4792-B146-2F852EE33B87}" destId="{B9ADED97-AC03-45B3-9A41-1A0C1968CFF9}" srcOrd="1" destOrd="0" presId="urn:microsoft.com/office/officeart/2005/8/layout/vList5"/>
    <dgm:cxn modelId="{B070C957-F3BC-4EF9-832D-4DA04E0E5CEF}" type="presParOf" srcId="{839DAA1E-965A-47C3-A43A-11065EE10B96}" destId="{9C05B516-FF87-4BA1-96C0-F306926B9554}" srcOrd="3" destOrd="0" presId="urn:microsoft.com/office/officeart/2005/8/layout/vList5"/>
    <dgm:cxn modelId="{4E2A63A7-A756-4DB7-9DE2-6764E69AE4D7}" type="presParOf" srcId="{839DAA1E-965A-47C3-A43A-11065EE10B96}" destId="{E9DA7CE4-CC12-4EBB-A6B7-059B79834B7E}" srcOrd="4" destOrd="0" presId="urn:microsoft.com/office/officeart/2005/8/layout/vList5"/>
    <dgm:cxn modelId="{0D4514AB-D768-4FE2-8749-0D60235C058F}" type="presParOf" srcId="{E9DA7CE4-CC12-4EBB-A6B7-059B79834B7E}" destId="{BA4D8448-5FCE-4939-A31F-189DD0695EDD}" srcOrd="0" destOrd="0" presId="urn:microsoft.com/office/officeart/2005/8/layout/vList5"/>
    <dgm:cxn modelId="{181AE1ED-F53F-4D44-90FB-8A97913A15D4}" type="presParOf" srcId="{E9DA7CE4-CC12-4EBB-A6B7-059B79834B7E}" destId="{25BA6B9A-BD30-4EEB-BF01-6CE0D866FE92}" srcOrd="1" destOrd="0" presId="urn:microsoft.com/office/officeart/2005/8/layout/vList5"/>
    <dgm:cxn modelId="{B0EF02B5-2CA9-4633-9E93-CF69C1D7C7C5}" type="presParOf" srcId="{839DAA1E-965A-47C3-A43A-11065EE10B96}" destId="{A24F7DA3-FC33-40E2-9E71-B9882F04CC75}" srcOrd="5" destOrd="0" presId="urn:microsoft.com/office/officeart/2005/8/layout/vList5"/>
    <dgm:cxn modelId="{FCE25CFA-E04E-4603-AFAD-E71254843DEB}" type="presParOf" srcId="{839DAA1E-965A-47C3-A43A-11065EE10B96}" destId="{84F3CB32-DDE5-45B2-9385-0CD91C557D89}" srcOrd="6" destOrd="0" presId="urn:microsoft.com/office/officeart/2005/8/layout/vList5"/>
    <dgm:cxn modelId="{8EF349C3-7561-4A05-BD1C-844B6E3EC276}" type="presParOf" srcId="{84F3CB32-DDE5-45B2-9385-0CD91C557D89}" destId="{6E4EC516-9261-48FC-9264-8581F4CB680E}" srcOrd="0" destOrd="0" presId="urn:microsoft.com/office/officeart/2005/8/layout/vList5"/>
    <dgm:cxn modelId="{686075C8-82B0-422F-9128-90EF16F37889}"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51B1A207-015C-4FC6-8597-7D755EBDD1E0}" type="presOf" srcId="{228F0A37-3996-4B64-9C0A-A54BCC3EA6BA}" destId="{BA4D8448-5FCE-4939-A31F-189DD0695EDD}" srcOrd="0" destOrd="0" presId="urn:microsoft.com/office/officeart/2005/8/layout/vList5"/>
    <dgm:cxn modelId="{4F0B4E38-5B68-4BDA-9E82-221DAFA0D6A2}" srcId="{228F0A37-3996-4B64-9C0A-A54BCC3EA6BA}" destId="{08DFE00A-129B-475A-877D-F98A2C8EA242}" srcOrd="1" destOrd="0" parTransId="{4A14A3AA-2455-49C2-9043-EA3E03C94CEA}" sibTransId="{8C6BB5C5-A2AA-4CAD-A46F-A64D3545DBF2}"/>
    <dgm:cxn modelId="{61277993-2564-4501-8FC8-E595CFDA9410}" type="presOf" srcId="{49056608-284B-41CD-8ADB-3FDE4D94AB7D}" destId="{B9ADED97-AC03-45B3-9A41-1A0C1968CFF9}" srcOrd="0" destOrd="0" presId="urn:microsoft.com/office/officeart/2005/8/layout/vList5"/>
    <dgm:cxn modelId="{B9F91D3F-8DBD-4BFE-959E-B8186F0FA0D9}" type="presOf" srcId="{80925EED-1441-4DF2-ADCA-DEFC0758046C}" destId="{F49AC9AF-1A8A-4450-AECD-FC6A5E789BAA}" srcOrd="0" destOrd="0" presId="urn:microsoft.com/office/officeart/2005/8/layout/vList5"/>
    <dgm:cxn modelId="{04D6673E-5C34-4437-B95C-269DF788A443}" type="presOf" srcId="{80B393ED-AF20-4EC7-B392-49545AD72664}" destId="{F49AC9AF-1A8A-4450-AECD-FC6A5E789BAA}"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A38BDF08-E0EC-4A00-95C4-5098AE85D17D}" type="presOf" srcId="{3E0474F6-28FF-4E2A-9CE3-47E7144861B8}" destId="{B9ADED97-AC03-45B3-9A41-1A0C1968CFF9}" srcOrd="0" destOrd="1" presId="urn:microsoft.com/office/officeart/2005/8/layout/vList5"/>
    <dgm:cxn modelId="{0FD3617F-A186-4674-81D7-348C026E3C1C}" type="presOf" srcId="{98AED58E-7E7C-416A-8A18-20CA5C05518C}" destId="{F2F08941-5A68-411E-AD7F-6EF46FD56FBD}" srcOrd="0" destOrd="0" presId="urn:microsoft.com/office/officeart/2005/8/layout/vList5"/>
    <dgm:cxn modelId="{20FCF5B3-D836-4B2C-800E-185A0EF1386A}" type="presOf" srcId="{C31BA4C3-B958-4E11-B7C3-C2A236A8EB3B}" destId="{6008EA90-E6B1-4498-ABE6-BCDF0E0818F9}" srcOrd="0" destOrd="0"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241438F2-6956-4489-BA6A-6EF5A366B11A}" type="presOf" srcId="{9998B519-03B6-4420-B2B1-FE85B07BB863}" destId="{839DAA1E-965A-47C3-A43A-11065EE10B96}" srcOrd="0" destOrd="0" presId="urn:microsoft.com/office/officeart/2005/8/layout/vList5"/>
    <dgm:cxn modelId="{A3C8A737-D9AE-4343-8F24-26050F44E6E5}" type="presOf" srcId="{5CC6B45F-A032-48B1-AC89-723CB5731DA6}" destId="{6E4EC516-9261-48FC-9264-8581F4CB680E}" srcOrd="0" destOrd="0" presId="urn:microsoft.com/office/officeart/2005/8/layout/vList5"/>
    <dgm:cxn modelId="{3BC5DCB2-F5C2-4BED-B0BB-2EEDF06E02C2}" type="presOf" srcId="{95B352C6-C5E7-4083-93BA-0F69DDA0277F}" destId="{25BA6B9A-BD30-4EEB-BF01-6CE0D866FE92}" srcOrd="0" destOrd="0" presId="urn:microsoft.com/office/officeart/2005/8/layout/vList5"/>
    <dgm:cxn modelId="{08B4048C-C69C-47F6-B862-3E862F8BD90B}" type="presOf" srcId="{08DFE00A-129B-475A-877D-F98A2C8EA242}" destId="{25BA6B9A-BD30-4EEB-BF01-6CE0D866FE92}"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F4DFCCC3-B0CF-4382-A15C-021F20F41AD7}" type="presOf" srcId="{A7B9EF29-C5CA-4E82-8A3E-0C9D22914FDC}" destId="{3E0795D4-4188-4949-AE94-2A791BCE1FD9}" srcOrd="0" destOrd="1"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FFE4C0B2-A2BC-4ECB-BFD5-A0E377D0F8E8}" type="presOf" srcId="{71E1A4A0-F53B-46FD-8EB5-746260CA76E9}" destId="{3E0795D4-4188-4949-AE94-2A791BCE1FD9}" srcOrd="0" destOrd="0" presId="urn:microsoft.com/office/officeart/2005/8/layout/vList5"/>
    <dgm:cxn modelId="{D9AF826C-644F-484F-ABB7-7E8C5BE75B60}" type="presOf" srcId="{A53ACEF5-5EE8-41E2-B6D6-C74C7F15C95C}" destId="{B9ADED97-AC03-45B3-9A41-1A0C1968CFF9}" srcOrd="0" destOrd="2"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FC8E687D-4469-4703-ACBB-B236641C91A4}" type="presParOf" srcId="{839DAA1E-965A-47C3-A43A-11065EE10B96}" destId="{1E15A9A0-54DC-418F-B00C-3E01C32BEAE1}" srcOrd="0" destOrd="0" presId="urn:microsoft.com/office/officeart/2005/8/layout/vList5"/>
    <dgm:cxn modelId="{51C6C47D-2F79-4798-B723-1D3967E6BB8F}" type="presParOf" srcId="{1E15A9A0-54DC-418F-B00C-3E01C32BEAE1}" destId="{F2F08941-5A68-411E-AD7F-6EF46FD56FBD}" srcOrd="0" destOrd="0" presId="urn:microsoft.com/office/officeart/2005/8/layout/vList5"/>
    <dgm:cxn modelId="{6B15FFFC-B81E-47EF-BDDD-D729829C0DEA}" type="presParOf" srcId="{1E15A9A0-54DC-418F-B00C-3E01C32BEAE1}" destId="{3E0795D4-4188-4949-AE94-2A791BCE1FD9}" srcOrd="1" destOrd="0" presId="urn:microsoft.com/office/officeart/2005/8/layout/vList5"/>
    <dgm:cxn modelId="{91D4E223-964D-4266-BC71-C8008D0D3FA5}" type="presParOf" srcId="{839DAA1E-965A-47C3-A43A-11065EE10B96}" destId="{36D3ACFC-26E0-45C8-A1C3-BE3B78CF069D}" srcOrd="1" destOrd="0" presId="urn:microsoft.com/office/officeart/2005/8/layout/vList5"/>
    <dgm:cxn modelId="{E37AE0F6-94F3-4246-852E-A88C525383EC}" type="presParOf" srcId="{839DAA1E-965A-47C3-A43A-11065EE10B96}" destId="{FCA73F41-6637-4792-B146-2F852EE33B87}" srcOrd="2" destOrd="0" presId="urn:microsoft.com/office/officeart/2005/8/layout/vList5"/>
    <dgm:cxn modelId="{1715733A-5AF9-4A6D-8EAF-32365683F2C7}" type="presParOf" srcId="{FCA73F41-6637-4792-B146-2F852EE33B87}" destId="{6008EA90-E6B1-4498-ABE6-BCDF0E0818F9}" srcOrd="0" destOrd="0" presId="urn:microsoft.com/office/officeart/2005/8/layout/vList5"/>
    <dgm:cxn modelId="{505DB6C4-DCDE-4DF1-B802-49D93F7C190F}" type="presParOf" srcId="{FCA73F41-6637-4792-B146-2F852EE33B87}" destId="{B9ADED97-AC03-45B3-9A41-1A0C1968CFF9}" srcOrd="1" destOrd="0" presId="urn:microsoft.com/office/officeart/2005/8/layout/vList5"/>
    <dgm:cxn modelId="{105630E8-9974-43DC-83E8-0FD63C86A144}" type="presParOf" srcId="{839DAA1E-965A-47C3-A43A-11065EE10B96}" destId="{9C05B516-FF87-4BA1-96C0-F306926B9554}" srcOrd="3" destOrd="0" presId="urn:microsoft.com/office/officeart/2005/8/layout/vList5"/>
    <dgm:cxn modelId="{636C0F31-F082-42A6-A957-A643F57EFBC1}" type="presParOf" srcId="{839DAA1E-965A-47C3-A43A-11065EE10B96}" destId="{E9DA7CE4-CC12-4EBB-A6B7-059B79834B7E}" srcOrd="4" destOrd="0" presId="urn:microsoft.com/office/officeart/2005/8/layout/vList5"/>
    <dgm:cxn modelId="{C68CC876-7E95-40B2-90D5-7C7B7085A31F}" type="presParOf" srcId="{E9DA7CE4-CC12-4EBB-A6B7-059B79834B7E}" destId="{BA4D8448-5FCE-4939-A31F-189DD0695EDD}" srcOrd="0" destOrd="0" presId="urn:microsoft.com/office/officeart/2005/8/layout/vList5"/>
    <dgm:cxn modelId="{95B58C99-77E7-4040-AA11-E4059E56A5B8}" type="presParOf" srcId="{E9DA7CE4-CC12-4EBB-A6B7-059B79834B7E}" destId="{25BA6B9A-BD30-4EEB-BF01-6CE0D866FE92}" srcOrd="1" destOrd="0" presId="urn:microsoft.com/office/officeart/2005/8/layout/vList5"/>
    <dgm:cxn modelId="{B3A4E2E3-2FAD-4E09-AA49-1194C337792E}" type="presParOf" srcId="{839DAA1E-965A-47C3-A43A-11065EE10B96}" destId="{A24F7DA3-FC33-40E2-9E71-B9882F04CC75}" srcOrd="5" destOrd="0" presId="urn:microsoft.com/office/officeart/2005/8/layout/vList5"/>
    <dgm:cxn modelId="{F4A0ADF3-0D1D-405E-95B1-3D1E0C441123}" type="presParOf" srcId="{839DAA1E-965A-47C3-A43A-11065EE10B96}" destId="{84F3CB32-DDE5-45B2-9385-0CD91C557D89}" srcOrd="6" destOrd="0" presId="urn:microsoft.com/office/officeart/2005/8/layout/vList5"/>
    <dgm:cxn modelId="{F39E8AAF-0FD2-404A-B842-577EADDA25AD}" type="presParOf" srcId="{84F3CB32-DDE5-45B2-9385-0CD91C557D89}" destId="{6E4EC516-9261-48FC-9264-8581F4CB680E}" srcOrd="0" destOrd="0" presId="urn:microsoft.com/office/officeart/2005/8/layout/vList5"/>
    <dgm:cxn modelId="{0939D2E1-AF56-491C-977C-7316D39E8B0C}"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5AD0E3AD-E346-4741-8F7C-7BD1420696BE}" type="presOf" srcId="{A53ACEF5-5EE8-41E2-B6D6-C74C7F15C95C}" destId="{B9ADED97-AC03-45B3-9A41-1A0C1968CFF9}" srcOrd="0" destOrd="0" presId="urn:microsoft.com/office/officeart/2005/8/layout/vList5"/>
    <dgm:cxn modelId="{53A68A5C-FA79-42C7-B5B3-474BDEBDBADA}" type="presOf" srcId="{43874DE2-1DC0-4883-A591-AD110EE9DF14}" destId="{25BA6B9A-BD30-4EEB-BF01-6CE0D866FE92}"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55202BE3-BE90-4C55-8A96-6647FFDF12AE}" type="presOf" srcId="{98AED58E-7E7C-416A-8A18-20CA5C05518C}" destId="{F2F08941-5A68-411E-AD7F-6EF46FD56FBD}"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CAF727E4-D542-4247-AD65-8A8B65C558C3}" srcId="{5CC6B45F-A032-48B1-AC89-723CB5731DA6}" destId="{D97E231E-031B-46C9-A8A2-F1D6BA54A966}" srcOrd="1" destOrd="0" parTransId="{909A826C-9F73-4C53-8AC0-A2E1AF556E62}" sibTransId="{9794DA9D-2B80-4DB0-B26D-76CEBDBD2E9A}"/>
    <dgm:cxn modelId="{43209D4F-59E4-46A9-99D1-3D021AE0CBAF}" type="presOf" srcId="{AAC83951-6A4A-433C-B085-A08DB739FBBD}" destId="{3E0795D4-4188-4949-AE94-2A791BCE1FD9}" srcOrd="0" destOrd="0" presId="urn:microsoft.com/office/officeart/2005/8/layout/vList5"/>
    <dgm:cxn modelId="{AFE6AA1D-41D3-4DB1-944B-81719B6782E3}" type="presOf" srcId="{D97E231E-031B-46C9-A8A2-F1D6BA54A966}" destId="{F49AC9AF-1A8A-4450-AECD-FC6A5E789BAA}" srcOrd="0" destOrd="1" presId="urn:microsoft.com/office/officeart/2005/8/layout/vList5"/>
    <dgm:cxn modelId="{659BFC91-83A2-446E-BA05-988D982B57D5}" type="presOf" srcId="{95B352C6-C5E7-4083-93BA-0F69DDA0277F}" destId="{25BA6B9A-BD30-4EEB-BF01-6CE0D866FE92}" srcOrd="0" destOrd="0" presId="urn:microsoft.com/office/officeart/2005/8/layout/vList5"/>
    <dgm:cxn modelId="{0781315B-4328-49F3-BEF9-C0431E597D66}" type="presOf" srcId="{C31BA4C3-B958-4E11-B7C3-C2A236A8EB3B}" destId="{6008EA90-E6B1-4498-ABE6-BCDF0E0818F9}"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03B95630-D56D-4C0B-BA2C-95E64F4D73DF}" type="presOf" srcId="{9998B519-03B6-4420-B2B1-FE85B07BB863}" destId="{839DAA1E-965A-47C3-A43A-11065EE10B96}" srcOrd="0" destOrd="0" presId="urn:microsoft.com/office/officeart/2005/8/layout/vList5"/>
    <dgm:cxn modelId="{CB8A1AB5-73B0-49F1-BA6B-0575361B272A}" type="presOf" srcId="{84683C11-3BF9-40F9-A2B3-057C1D7DB8C4}" destId="{3E0795D4-4188-4949-AE94-2A791BCE1FD9}" srcOrd="0" destOrd="1"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79FA6D55-D862-458E-A9C9-F11952CB79FB}" type="presOf" srcId="{228F0A37-3996-4B64-9C0A-A54BCC3EA6BA}" destId="{BA4D8448-5FCE-4939-A31F-189DD0695EDD}"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A739547E-1DF3-4970-B816-555874BBE2C0}" type="presOf" srcId="{6B50C981-E288-4E84-B65E-F73EA9E70783}" destId="{B9ADED97-AC03-45B3-9A41-1A0C1968CFF9}" srcOrd="0" destOrd="1"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C1CB7699-76E9-427F-87AC-36CDE3B80B8E}" type="presOf" srcId="{80925EED-1441-4DF2-ADCA-DEFC0758046C}" destId="{F49AC9AF-1A8A-4450-AECD-FC6A5E789BAA}" srcOrd="0" destOrd="0" presId="urn:microsoft.com/office/officeart/2005/8/layout/vList5"/>
    <dgm:cxn modelId="{B9EDD23E-F9B1-45F2-A022-9FA763D7FCD5}" type="presOf" srcId="{5CC6B45F-A032-48B1-AC89-723CB5731DA6}" destId="{6E4EC516-9261-48FC-9264-8581F4CB680E}" srcOrd="0" destOrd="0" presId="urn:microsoft.com/office/officeart/2005/8/layout/vList5"/>
    <dgm:cxn modelId="{6228AE87-A728-4693-91BA-5DC028C2825D}" type="presParOf" srcId="{839DAA1E-965A-47C3-A43A-11065EE10B96}" destId="{1E15A9A0-54DC-418F-B00C-3E01C32BEAE1}" srcOrd="0" destOrd="0" presId="urn:microsoft.com/office/officeart/2005/8/layout/vList5"/>
    <dgm:cxn modelId="{BDABA052-ED92-4733-B76D-30FB754867A1}" type="presParOf" srcId="{1E15A9A0-54DC-418F-B00C-3E01C32BEAE1}" destId="{F2F08941-5A68-411E-AD7F-6EF46FD56FBD}" srcOrd="0" destOrd="0" presId="urn:microsoft.com/office/officeart/2005/8/layout/vList5"/>
    <dgm:cxn modelId="{CD58E0FA-7655-48E8-B707-D6050C1F60E8}" type="presParOf" srcId="{1E15A9A0-54DC-418F-B00C-3E01C32BEAE1}" destId="{3E0795D4-4188-4949-AE94-2A791BCE1FD9}" srcOrd="1" destOrd="0" presId="urn:microsoft.com/office/officeart/2005/8/layout/vList5"/>
    <dgm:cxn modelId="{AB322839-DEC7-4ABC-9EFA-2466B3FFD47D}" type="presParOf" srcId="{839DAA1E-965A-47C3-A43A-11065EE10B96}" destId="{36D3ACFC-26E0-45C8-A1C3-BE3B78CF069D}" srcOrd="1" destOrd="0" presId="urn:microsoft.com/office/officeart/2005/8/layout/vList5"/>
    <dgm:cxn modelId="{F9885DF5-8B57-40C6-AE15-6A0C82871B8C}" type="presParOf" srcId="{839DAA1E-965A-47C3-A43A-11065EE10B96}" destId="{FCA73F41-6637-4792-B146-2F852EE33B87}" srcOrd="2" destOrd="0" presId="urn:microsoft.com/office/officeart/2005/8/layout/vList5"/>
    <dgm:cxn modelId="{E194B495-229C-4FA3-8D37-8AE9858F474C}" type="presParOf" srcId="{FCA73F41-6637-4792-B146-2F852EE33B87}" destId="{6008EA90-E6B1-4498-ABE6-BCDF0E0818F9}" srcOrd="0" destOrd="0" presId="urn:microsoft.com/office/officeart/2005/8/layout/vList5"/>
    <dgm:cxn modelId="{9DF6945B-25BD-4C65-85A6-E6F2E66A2881}" type="presParOf" srcId="{FCA73F41-6637-4792-B146-2F852EE33B87}" destId="{B9ADED97-AC03-45B3-9A41-1A0C1968CFF9}" srcOrd="1" destOrd="0" presId="urn:microsoft.com/office/officeart/2005/8/layout/vList5"/>
    <dgm:cxn modelId="{00E905E5-6D8A-4A82-BD40-E9E2963C821A}" type="presParOf" srcId="{839DAA1E-965A-47C3-A43A-11065EE10B96}" destId="{9C05B516-FF87-4BA1-96C0-F306926B9554}" srcOrd="3" destOrd="0" presId="urn:microsoft.com/office/officeart/2005/8/layout/vList5"/>
    <dgm:cxn modelId="{8EB4FB03-29CA-4E65-A520-6D7CC0E932F4}" type="presParOf" srcId="{839DAA1E-965A-47C3-A43A-11065EE10B96}" destId="{E9DA7CE4-CC12-4EBB-A6B7-059B79834B7E}" srcOrd="4" destOrd="0" presId="urn:microsoft.com/office/officeart/2005/8/layout/vList5"/>
    <dgm:cxn modelId="{CD8362ED-E62D-475D-BB2F-B8867E821D10}" type="presParOf" srcId="{E9DA7CE4-CC12-4EBB-A6B7-059B79834B7E}" destId="{BA4D8448-5FCE-4939-A31F-189DD0695EDD}" srcOrd="0" destOrd="0" presId="urn:microsoft.com/office/officeart/2005/8/layout/vList5"/>
    <dgm:cxn modelId="{E67C7C5E-9348-46D1-95B5-8BEA8EF70166}" type="presParOf" srcId="{E9DA7CE4-CC12-4EBB-A6B7-059B79834B7E}" destId="{25BA6B9A-BD30-4EEB-BF01-6CE0D866FE92}" srcOrd="1" destOrd="0" presId="urn:microsoft.com/office/officeart/2005/8/layout/vList5"/>
    <dgm:cxn modelId="{218F06FC-B59F-415B-9A5B-D0A9F58F6C60}" type="presParOf" srcId="{839DAA1E-965A-47C3-A43A-11065EE10B96}" destId="{A24F7DA3-FC33-40E2-9E71-B9882F04CC75}" srcOrd="5" destOrd="0" presId="urn:microsoft.com/office/officeart/2005/8/layout/vList5"/>
    <dgm:cxn modelId="{073D299E-72FE-42D7-B459-0190FF9BA443}" type="presParOf" srcId="{839DAA1E-965A-47C3-A43A-11065EE10B96}" destId="{84F3CB32-DDE5-45B2-9385-0CD91C557D89}" srcOrd="6" destOrd="0" presId="urn:microsoft.com/office/officeart/2005/8/layout/vList5"/>
    <dgm:cxn modelId="{1224E8FB-2A5A-4A73-841D-911E6E7BA329}" type="presParOf" srcId="{84F3CB32-DDE5-45B2-9385-0CD91C557D89}" destId="{6E4EC516-9261-48FC-9264-8581F4CB680E}" srcOrd="0" destOrd="0" presId="urn:microsoft.com/office/officeart/2005/8/layout/vList5"/>
    <dgm:cxn modelId="{FC001122-6925-4650-92F4-2A258B252A42}"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1E708C00-27DF-4BBD-AA22-AD84A0714D79}" type="presOf" srcId="{5CC6B45F-A032-48B1-AC89-723CB5731DA6}" destId="{6E4EC516-9261-48FC-9264-8581F4CB680E}" srcOrd="0" destOrd="0" presId="urn:microsoft.com/office/officeart/2005/8/layout/vList5"/>
    <dgm:cxn modelId="{4F0B4E38-5B68-4BDA-9E82-221DAFA0D6A2}" srcId="{228F0A37-3996-4B64-9C0A-A54BCC3EA6BA}" destId="{08DFE00A-129B-475A-877D-F98A2C8EA242}" srcOrd="1" destOrd="0" parTransId="{4A14A3AA-2455-49C2-9043-EA3E03C94CEA}" sibTransId="{8C6BB5C5-A2AA-4CAD-A46F-A64D3545DBF2}"/>
    <dgm:cxn modelId="{23D9DC19-F53F-4AF4-BCC2-AD7BE65BF063}" srcId="{9998B519-03B6-4420-B2B1-FE85B07BB863}" destId="{98AED58E-7E7C-416A-8A18-20CA5C05518C}" srcOrd="0" destOrd="0" parTransId="{0A6D6936-CA06-4D83-B067-BEB710A210C1}" sibTransId="{7B7043EF-82C6-49F3-872D-29988068644C}"/>
    <dgm:cxn modelId="{6BC2BFC5-E026-4D0C-9B06-89FCE262B86E}" type="presOf" srcId="{A53ACEF5-5EE8-41E2-B6D6-C74C7F15C95C}" destId="{B9ADED97-AC03-45B3-9A41-1A0C1968CFF9}" srcOrd="0" destOrd="2"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A07E0962-3552-4270-8719-8C3C7AED682E}" type="presOf" srcId="{71E1A4A0-F53B-46FD-8EB5-746260CA76E9}" destId="{3E0795D4-4188-4949-AE94-2A791BCE1FD9}" srcOrd="0" destOrd="0" presId="urn:microsoft.com/office/officeart/2005/8/layout/vList5"/>
    <dgm:cxn modelId="{1C166105-59ED-4DAA-B29E-B6C43F48E9B7}" type="presOf" srcId="{95B352C6-C5E7-4083-93BA-0F69DDA0277F}" destId="{25BA6B9A-BD30-4EEB-BF01-6CE0D866FE92}" srcOrd="0" destOrd="0" presId="urn:microsoft.com/office/officeart/2005/8/layout/vList5"/>
    <dgm:cxn modelId="{FAF8B0FA-11CC-4C3B-9F04-CD9E3A9E3898}" type="presOf" srcId="{49056608-284B-41CD-8ADB-3FDE4D94AB7D}" destId="{B9ADED97-AC03-45B3-9A41-1A0C1968CFF9}" srcOrd="0" destOrd="0" presId="urn:microsoft.com/office/officeart/2005/8/layout/vList5"/>
    <dgm:cxn modelId="{99FE3069-8ED8-4ED0-A78F-1AB521F40CDF}" type="presOf" srcId="{80925EED-1441-4DF2-ADCA-DEFC0758046C}" destId="{F49AC9AF-1A8A-4450-AECD-FC6A5E789BAA}" srcOrd="0" destOrd="0" presId="urn:microsoft.com/office/officeart/2005/8/layout/vList5"/>
    <dgm:cxn modelId="{C7E2B81F-918E-4991-AA32-68D3957AB2CB}" type="presOf" srcId="{A7B9EF29-C5CA-4E82-8A3E-0C9D22914FDC}" destId="{3E0795D4-4188-4949-AE94-2A791BCE1FD9}"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F544EFEF-027C-41D9-8192-D2A3063FA5C8}" type="presOf" srcId="{228F0A37-3996-4B64-9C0A-A54BCC3EA6BA}" destId="{BA4D8448-5FCE-4939-A31F-189DD0695EDD}" srcOrd="0" destOrd="0"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9CDB7503-5AB3-4866-BBC3-B8BF128E477E}" type="presOf" srcId="{9998B519-03B6-4420-B2B1-FE85B07BB863}" destId="{839DAA1E-965A-47C3-A43A-11065EE10B96}"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45795295-2F95-427E-B9F8-BD1CB7739245}" type="presOf" srcId="{08DFE00A-129B-475A-877D-F98A2C8EA242}" destId="{25BA6B9A-BD30-4EEB-BF01-6CE0D866FE92}" srcOrd="0" destOrd="1" presId="urn:microsoft.com/office/officeart/2005/8/layout/vList5"/>
    <dgm:cxn modelId="{1DC4D46D-22C7-4D80-9C67-D964FCA6C1A5}" type="presOf" srcId="{80B393ED-AF20-4EC7-B392-49545AD72664}" destId="{F49AC9AF-1A8A-4450-AECD-FC6A5E789BAA}" srcOrd="0" destOrd="1" presId="urn:microsoft.com/office/officeart/2005/8/layout/vList5"/>
    <dgm:cxn modelId="{73F2FB14-40F0-4189-8378-9645F6664578}" type="presOf" srcId="{3E0474F6-28FF-4E2A-9CE3-47E7144861B8}" destId="{B9ADED97-AC03-45B3-9A41-1A0C1968CFF9}" srcOrd="0" destOrd="1"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8893ED13-BAE9-4E2A-AD88-C94D19EC84F7}" type="presOf" srcId="{98AED58E-7E7C-416A-8A18-20CA5C05518C}" destId="{F2F08941-5A68-411E-AD7F-6EF46FD56FBD}" srcOrd="0" destOrd="0"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2628B6AC-CC52-4245-A6D1-B0276196714F}" type="presOf" srcId="{C31BA4C3-B958-4E11-B7C3-C2A236A8EB3B}" destId="{6008EA90-E6B1-4498-ABE6-BCDF0E0818F9}" srcOrd="0" destOrd="0" presId="urn:microsoft.com/office/officeart/2005/8/layout/vList5"/>
    <dgm:cxn modelId="{18B0B39E-FFDA-473B-B834-576B447DD72B}" type="presParOf" srcId="{839DAA1E-965A-47C3-A43A-11065EE10B96}" destId="{1E15A9A0-54DC-418F-B00C-3E01C32BEAE1}" srcOrd="0" destOrd="0" presId="urn:microsoft.com/office/officeart/2005/8/layout/vList5"/>
    <dgm:cxn modelId="{5E98850D-87E7-4A49-AB58-32DF26F3CE0D}" type="presParOf" srcId="{1E15A9A0-54DC-418F-B00C-3E01C32BEAE1}" destId="{F2F08941-5A68-411E-AD7F-6EF46FD56FBD}" srcOrd="0" destOrd="0" presId="urn:microsoft.com/office/officeart/2005/8/layout/vList5"/>
    <dgm:cxn modelId="{1B02F558-4AED-487A-9BEF-BEA8D46AE92B}" type="presParOf" srcId="{1E15A9A0-54DC-418F-B00C-3E01C32BEAE1}" destId="{3E0795D4-4188-4949-AE94-2A791BCE1FD9}" srcOrd="1" destOrd="0" presId="urn:microsoft.com/office/officeart/2005/8/layout/vList5"/>
    <dgm:cxn modelId="{AB8730E4-C684-47BB-8FB5-BF86F91683E3}" type="presParOf" srcId="{839DAA1E-965A-47C3-A43A-11065EE10B96}" destId="{36D3ACFC-26E0-45C8-A1C3-BE3B78CF069D}" srcOrd="1" destOrd="0" presId="urn:microsoft.com/office/officeart/2005/8/layout/vList5"/>
    <dgm:cxn modelId="{5B9C7946-D496-40BC-87C3-AEDA4D1E919A}" type="presParOf" srcId="{839DAA1E-965A-47C3-A43A-11065EE10B96}" destId="{FCA73F41-6637-4792-B146-2F852EE33B87}" srcOrd="2" destOrd="0" presId="urn:microsoft.com/office/officeart/2005/8/layout/vList5"/>
    <dgm:cxn modelId="{21548EDA-D2E2-41E0-B6A3-DF60BE4AA9C5}" type="presParOf" srcId="{FCA73F41-6637-4792-B146-2F852EE33B87}" destId="{6008EA90-E6B1-4498-ABE6-BCDF0E0818F9}" srcOrd="0" destOrd="0" presId="urn:microsoft.com/office/officeart/2005/8/layout/vList5"/>
    <dgm:cxn modelId="{3518918C-0D7D-49FE-BDF2-41A381BEF32E}" type="presParOf" srcId="{FCA73F41-6637-4792-B146-2F852EE33B87}" destId="{B9ADED97-AC03-45B3-9A41-1A0C1968CFF9}" srcOrd="1" destOrd="0" presId="urn:microsoft.com/office/officeart/2005/8/layout/vList5"/>
    <dgm:cxn modelId="{89C401E2-B229-46B4-9F06-5DF863C90803}" type="presParOf" srcId="{839DAA1E-965A-47C3-A43A-11065EE10B96}" destId="{9C05B516-FF87-4BA1-96C0-F306926B9554}" srcOrd="3" destOrd="0" presId="urn:microsoft.com/office/officeart/2005/8/layout/vList5"/>
    <dgm:cxn modelId="{3AC36BA7-C135-4AF9-BAB6-4E5FAF67B3F3}" type="presParOf" srcId="{839DAA1E-965A-47C3-A43A-11065EE10B96}" destId="{E9DA7CE4-CC12-4EBB-A6B7-059B79834B7E}" srcOrd="4" destOrd="0" presId="urn:microsoft.com/office/officeart/2005/8/layout/vList5"/>
    <dgm:cxn modelId="{5B63E477-5ED5-42E0-9ADE-D37F3E2F3E5F}" type="presParOf" srcId="{E9DA7CE4-CC12-4EBB-A6B7-059B79834B7E}" destId="{BA4D8448-5FCE-4939-A31F-189DD0695EDD}" srcOrd="0" destOrd="0" presId="urn:microsoft.com/office/officeart/2005/8/layout/vList5"/>
    <dgm:cxn modelId="{D6695FED-8B53-4AD0-BF42-B55E0120F8FC}" type="presParOf" srcId="{E9DA7CE4-CC12-4EBB-A6B7-059B79834B7E}" destId="{25BA6B9A-BD30-4EEB-BF01-6CE0D866FE92}" srcOrd="1" destOrd="0" presId="urn:microsoft.com/office/officeart/2005/8/layout/vList5"/>
    <dgm:cxn modelId="{E542C98F-982A-47FD-B1E8-21E04FFE0BB4}" type="presParOf" srcId="{839DAA1E-965A-47C3-A43A-11065EE10B96}" destId="{A24F7DA3-FC33-40E2-9E71-B9882F04CC75}" srcOrd="5" destOrd="0" presId="urn:microsoft.com/office/officeart/2005/8/layout/vList5"/>
    <dgm:cxn modelId="{F9AAC4C1-1DD0-4C4E-92FA-7074EF817A00}" type="presParOf" srcId="{839DAA1E-965A-47C3-A43A-11065EE10B96}" destId="{84F3CB32-DDE5-45B2-9385-0CD91C557D89}" srcOrd="6" destOrd="0" presId="urn:microsoft.com/office/officeart/2005/8/layout/vList5"/>
    <dgm:cxn modelId="{F7D6D2DE-7AC6-4D86-9855-A8C87374BC35}" type="presParOf" srcId="{84F3CB32-DDE5-45B2-9385-0CD91C557D89}" destId="{6E4EC516-9261-48FC-9264-8581F4CB680E}" srcOrd="0" destOrd="0" presId="urn:microsoft.com/office/officeart/2005/8/layout/vList5"/>
    <dgm:cxn modelId="{A73AFB0D-06D6-48E4-A65E-95A0EDE33C71}"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05E8F2AE-F997-4701-A8B0-ABE1E03EB4ED}" type="presOf" srcId="{228F0A37-3996-4B64-9C0A-A54BCC3EA6BA}" destId="{BA4D8448-5FCE-4939-A31F-189DD0695EDD}"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1406B4C8-FB22-4962-99FB-CF566AC33082}" type="presOf" srcId="{9998B519-03B6-4420-B2B1-FE85B07BB863}" destId="{839DAA1E-965A-47C3-A43A-11065EE10B96}" srcOrd="0" destOrd="0" presId="urn:microsoft.com/office/officeart/2005/8/layout/vList5"/>
    <dgm:cxn modelId="{F17EA09D-5DE0-47D7-B2D3-D11705DC6398}" srcId="{98AED58E-7E7C-416A-8A18-20CA5C05518C}" destId="{AAC83951-6A4A-433C-B085-A08DB739FBBD}" srcOrd="0" destOrd="0" parTransId="{2BF6B2CC-AA25-4549-A898-F3604A439DD7}" sibTransId="{FB7D8C4B-4357-478F-9A19-AEDF772FC6B7}"/>
    <dgm:cxn modelId="{D6C83C5D-7CBA-432E-BE78-D496144A996D}" type="presOf" srcId="{80925EED-1441-4DF2-ADCA-DEFC0758046C}" destId="{F49AC9AF-1A8A-4450-AECD-FC6A5E789BAA}" srcOrd="0" destOrd="0" presId="urn:microsoft.com/office/officeart/2005/8/layout/vList5"/>
    <dgm:cxn modelId="{655934D0-1528-4515-B0F6-9EDC7468AB58}" type="presOf" srcId="{C31BA4C3-B958-4E11-B7C3-C2A236A8EB3B}" destId="{6008EA90-E6B1-4498-ABE6-BCDF0E0818F9}"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DFB9EF4A-C9D7-4484-9477-F8D57BF36195}" type="presOf" srcId="{A53ACEF5-5EE8-41E2-B6D6-C74C7F15C95C}" destId="{B9ADED97-AC03-45B3-9A41-1A0C1968CFF9}" srcOrd="0" destOrd="0"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4DF0FAF5-D37B-4809-A01F-B3835763E1BF}" type="presOf" srcId="{5CC6B45F-A032-48B1-AC89-723CB5731DA6}" destId="{6E4EC516-9261-48FC-9264-8581F4CB680E}" srcOrd="0" destOrd="0" presId="urn:microsoft.com/office/officeart/2005/8/layout/vList5"/>
    <dgm:cxn modelId="{779AF56C-EE36-4A07-AF0B-193D270FD004}" type="presOf" srcId="{95B352C6-C5E7-4083-93BA-0F69DDA0277F}" destId="{25BA6B9A-BD30-4EEB-BF01-6CE0D866FE92}" srcOrd="0" destOrd="0" presId="urn:microsoft.com/office/officeart/2005/8/layout/vList5"/>
    <dgm:cxn modelId="{6F524988-3093-462C-ACD8-5454C3E9B0A8}" type="presOf" srcId="{D97E231E-031B-46C9-A8A2-F1D6BA54A966}" destId="{F49AC9AF-1A8A-4450-AECD-FC6A5E789BAA}"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DC6CCA9-3289-49ED-AD50-FA399B7CF3FD}" srcId="{9998B519-03B6-4420-B2B1-FE85B07BB863}" destId="{C31BA4C3-B958-4E11-B7C3-C2A236A8EB3B}" srcOrd="1" destOrd="0" parTransId="{135DAC36-0DF2-4398-951B-28CFA21B8788}" sibTransId="{5E03A5A6-63E6-4AAD-9C85-3AFA2420A86B}"/>
    <dgm:cxn modelId="{15715F96-E93F-4E62-A37A-4B5473BC647B}" type="presOf" srcId="{6B50C981-E288-4E84-B65E-F73EA9E70783}" destId="{B9ADED97-AC03-45B3-9A41-1A0C1968CFF9}" srcOrd="0" destOrd="1"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37643F28-77FD-4B1D-B7B7-27D6479E6CC9}" type="presOf" srcId="{84683C11-3BF9-40F9-A2B3-057C1D7DB8C4}" destId="{3E0795D4-4188-4949-AE94-2A791BCE1FD9}" srcOrd="0" destOrd="1" presId="urn:microsoft.com/office/officeart/2005/8/layout/vList5"/>
    <dgm:cxn modelId="{7EA54B9F-3D8E-4A0C-BF69-0726AFAE6530}" type="presOf" srcId="{43874DE2-1DC0-4883-A591-AD110EE9DF14}" destId="{25BA6B9A-BD30-4EEB-BF01-6CE0D866FE92}" srcOrd="0" destOrd="1" presId="urn:microsoft.com/office/officeart/2005/8/layout/vList5"/>
    <dgm:cxn modelId="{B3AE5F8B-0377-4232-A145-B695DAE2091B}" type="presOf" srcId="{98AED58E-7E7C-416A-8A18-20CA5C05518C}" destId="{F2F08941-5A68-411E-AD7F-6EF46FD56FBD}" srcOrd="0" destOrd="0" presId="urn:microsoft.com/office/officeart/2005/8/layout/vList5"/>
    <dgm:cxn modelId="{51CAAC92-FA83-4950-B843-34B1900F5A61}" type="presOf" srcId="{AAC83951-6A4A-433C-B085-A08DB739FBBD}" destId="{3E0795D4-4188-4949-AE94-2A791BCE1FD9}"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CDD1382B-FE01-4724-A8F3-9E415846183E}" type="presParOf" srcId="{839DAA1E-965A-47C3-A43A-11065EE10B96}" destId="{1E15A9A0-54DC-418F-B00C-3E01C32BEAE1}" srcOrd="0" destOrd="0" presId="urn:microsoft.com/office/officeart/2005/8/layout/vList5"/>
    <dgm:cxn modelId="{4D53473E-67DB-4EC0-BCDA-D87987569C01}" type="presParOf" srcId="{1E15A9A0-54DC-418F-B00C-3E01C32BEAE1}" destId="{F2F08941-5A68-411E-AD7F-6EF46FD56FBD}" srcOrd="0" destOrd="0" presId="urn:microsoft.com/office/officeart/2005/8/layout/vList5"/>
    <dgm:cxn modelId="{56F5A007-DA68-4C99-B212-C54F3547A9ED}" type="presParOf" srcId="{1E15A9A0-54DC-418F-B00C-3E01C32BEAE1}" destId="{3E0795D4-4188-4949-AE94-2A791BCE1FD9}" srcOrd="1" destOrd="0" presId="urn:microsoft.com/office/officeart/2005/8/layout/vList5"/>
    <dgm:cxn modelId="{3D400CB5-FF62-4812-BDD0-91551BFA18DE}" type="presParOf" srcId="{839DAA1E-965A-47C3-A43A-11065EE10B96}" destId="{36D3ACFC-26E0-45C8-A1C3-BE3B78CF069D}" srcOrd="1" destOrd="0" presId="urn:microsoft.com/office/officeart/2005/8/layout/vList5"/>
    <dgm:cxn modelId="{910EE982-5356-4165-9087-EBCEFD0764A0}" type="presParOf" srcId="{839DAA1E-965A-47C3-A43A-11065EE10B96}" destId="{FCA73F41-6637-4792-B146-2F852EE33B87}" srcOrd="2" destOrd="0" presId="urn:microsoft.com/office/officeart/2005/8/layout/vList5"/>
    <dgm:cxn modelId="{AB7B7473-2269-4571-88EF-8EDE98BE9706}" type="presParOf" srcId="{FCA73F41-6637-4792-B146-2F852EE33B87}" destId="{6008EA90-E6B1-4498-ABE6-BCDF0E0818F9}" srcOrd="0" destOrd="0" presId="urn:microsoft.com/office/officeart/2005/8/layout/vList5"/>
    <dgm:cxn modelId="{6AE52A36-6E75-43D9-8582-CBA46CD46D72}" type="presParOf" srcId="{FCA73F41-6637-4792-B146-2F852EE33B87}" destId="{B9ADED97-AC03-45B3-9A41-1A0C1968CFF9}" srcOrd="1" destOrd="0" presId="urn:microsoft.com/office/officeart/2005/8/layout/vList5"/>
    <dgm:cxn modelId="{CBD8857E-91AF-4BFE-8DD5-58E42099F8E3}" type="presParOf" srcId="{839DAA1E-965A-47C3-A43A-11065EE10B96}" destId="{9C05B516-FF87-4BA1-96C0-F306926B9554}" srcOrd="3" destOrd="0" presId="urn:microsoft.com/office/officeart/2005/8/layout/vList5"/>
    <dgm:cxn modelId="{43A005BD-105D-4828-A3D0-E24D83EEE7A5}" type="presParOf" srcId="{839DAA1E-965A-47C3-A43A-11065EE10B96}" destId="{E9DA7CE4-CC12-4EBB-A6B7-059B79834B7E}" srcOrd="4" destOrd="0" presId="urn:microsoft.com/office/officeart/2005/8/layout/vList5"/>
    <dgm:cxn modelId="{B2E146DD-37E4-4962-B7CF-AD7C9DEC3624}" type="presParOf" srcId="{E9DA7CE4-CC12-4EBB-A6B7-059B79834B7E}" destId="{BA4D8448-5FCE-4939-A31F-189DD0695EDD}" srcOrd="0" destOrd="0" presId="urn:microsoft.com/office/officeart/2005/8/layout/vList5"/>
    <dgm:cxn modelId="{8A874494-A0FD-4D33-9CF8-14DA96B5040D}" type="presParOf" srcId="{E9DA7CE4-CC12-4EBB-A6B7-059B79834B7E}" destId="{25BA6B9A-BD30-4EEB-BF01-6CE0D866FE92}" srcOrd="1" destOrd="0" presId="urn:microsoft.com/office/officeart/2005/8/layout/vList5"/>
    <dgm:cxn modelId="{AD51C8C9-C901-42B2-B783-C6F94339EBA3}" type="presParOf" srcId="{839DAA1E-965A-47C3-A43A-11065EE10B96}" destId="{A24F7DA3-FC33-40E2-9E71-B9882F04CC75}" srcOrd="5" destOrd="0" presId="urn:microsoft.com/office/officeart/2005/8/layout/vList5"/>
    <dgm:cxn modelId="{29980E72-839C-4108-A48C-B9401BE1163F}" type="presParOf" srcId="{839DAA1E-965A-47C3-A43A-11065EE10B96}" destId="{84F3CB32-DDE5-45B2-9385-0CD91C557D89}" srcOrd="6" destOrd="0" presId="urn:microsoft.com/office/officeart/2005/8/layout/vList5"/>
    <dgm:cxn modelId="{FAF55EAE-884E-42A5-B5F7-F889F0EC47AD}" type="presParOf" srcId="{84F3CB32-DDE5-45B2-9385-0CD91C557D89}" destId="{6E4EC516-9261-48FC-9264-8581F4CB680E}" srcOrd="0" destOrd="0" presId="urn:microsoft.com/office/officeart/2005/8/layout/vList5"/>
    <dgm:cxn modelId="{9D71E198-1185-4AE3-836B-2F72895F7E78}"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54191184-20FC-445F-BF41-EF751D990543}" type="presOf" srcId="{80925EED-1441-4DF2-ADCA-DEFC0758046C}" destId="{F49AC9AF-1A8A-4450-AECD-FC6A5E789BAA}" srcOrd="0" destOrd="0" presId="urn:microsoft.com/office/officeart/2005/8/layout/vList5"/>
    <dgm:cxn modelId="{ACB5E0A0-FD87-4AAC-8011-2B34AFF76511}" type="presOf" srcId="{9998B519-03B6-4420-B2B1-FE85B07BB863}" destId="{839DAA1E-965A-47C3-A43A-11065EE10B96}" srcOrd="0" destOrd="0" presId="urn:microsoft.com/office/officeart/2005/8/layout/vList5"/>
    <dgm:cxn modelId="{EEE46C73-D3BA-4165-A357-7604012F0C69}" type="presOf" srcId="{49056608-284B-41CD-8ADB-3FDE4D94AB7D}" destId="{B9ADED97-AC03-45B3-9A41-1A0C1968CFF9}" srcOrd="0" destOrd="0" presId="urn:microsoft.com/office/officeart/2005/8/layout/vList5"/>
    <dgm:cxn modelId="{568E0D2D-71D7-401E-885D-1958B1695E90}" type="presOf" srcId="{80B393ED-AF20-4EC7-B392-49545AD72664}" destId="{F49AC9AF-1A8A-4450-AECD-FC6A5E789BAA}" srcOrd="0" destOrd="1" presId="urn:microsoft.com/office/officeart/2005/8/layout/vList5"/>
    <dgm:cxn modelId="{11A18563-03A8-43F5-8B5E-89D264E5B2A5}" type="presOf" srcId="{A7B9EF29-C5CA-4E82-8A3E-0C9D22914FDC}" destId="{3E0795D4-4188-4949-AE94-2A791BCE1FD9}"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373848BF-7011-42CF-9145-043A902E3E9C}" type="presOf" srcId="{98AED58E-7E7C-416A-8A18-20CA5C05518C}" destId="{F2F08941-5A68-411E-AD7F-6EF46FD56FBD}" srcOrd="0" destOrd="0" presId="urn:microsoft.com/office/officeart/2005/8/layout/vList5"/>
    <dgm:cxn modelId="{0DBF6451-08AA-4A70-A663-03B42EE2FEA8}" type="presOf" srcId="{71E1A4A0-F53B-46FD-8EB5-746260CA76E9}" destId="{3E0795D4-4188-4949-AE94-2A791BCE1FD9}" srcOrd="0" destOrd="0"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E45450A7-E54A-415F-9A4D-CD645B14E389}" type="presOf" srcId="{08DFE00A-129B-475A-877D-F98A2C8EA242}" destId="{25BA6B9A-BD30-4EEB-BF01-6CE0D866FE92}"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5C9FD2C1-6728-4D90-BA69-2EDA7C72A773}" type="presOf" srcId="{A53ACEF5-5EE8-41E2-B6D6-C74C7F15C95C}" destId="{B9ADED97-AC03-45B3-9A41-1A0C1968CFF9}" srcOrd="0" destOrd="2"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EC73CFC3-F715-451B-B016-BBAD4C9E0C31}" type="presOf" srcId="{228F0A37-3996-4B64-9C0A-A54BCC3EA6BA}" destId="{BA4D8448-5FCE-4939-A31F-189DD0695EDD}"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EE4C9A03-07E8-44CE-AB31-F83B7683B2BE}" type="presOf" srcId="{5CC6B45F-A032-48B1-AC89-723CB5731DA6}" destId="{6E4EC516-9261-48FC-9264-8581F4CB680E}" srcOrd="0" destOrd="0" presId="urn:microsoft.com/office/officeart/2005/8/layout/vList5"/>
    <dgm:cxn modelId="{402330C7-DC28-4ED1-BD61-FD95C78CC038}" type="presOf" srcId="{C31BA4C3-B958-4E11-B7C3-C2A236A8EB3B}" destId="{6008EA90-E6B1-4498-ABE6-BCDF0E0818F9}" srcOrd="0" destOrd="0"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92B9C947-6A33-4CB4-A0C7-69BF3D1DBD46}" type="presOf" srcId="{3E0474F6-28FF-4E2A-9CE3-47E7144861B8}" destId="{B9ADED97-AC03-45B3-9A41-1A0C1968CFF9}" srcOrd="0" destOrd="1" presId="urn:microsoft.com/office/officeart/2005/8/layout/vList5"/>
    <dgm:cxn modelId="{15DE493D-4526-46A3-ADD5-72BBDBFF4979}" srcId="{5CC6B45F-A032-48B1-AC89-723CB5731DA6}" destId="{80925EED-1441-4DF2-ADCA-DEFC0758046C}" srcOrd="0" destOrd="0" parTransId="{9FA56589-B84D-4A74-AAFB-CDF4873928A2}" sibTransId="{4532DB22-9671-4E53-BF06-C9663B3EE1A1}"/>
    <dgm:cxn modelId="{7D2DE84C-0C9B-4FCE-93E9-E3009BDD8D5C}" type="presOf" srcId="{95B352C6-C5E7-4083-93BA-0F69DDA0277F}" destId="{25BA6B9A-BD30-4EEB-BF01-6CE0D866FE92}" srcOrd="0" destOrd="0" presId="urn:microsoft.com/office/officeart/2005/8/layout/vList5"/>
    <dgm:cxn modelId="{C2F5EDAC-5151-41A3-834C-A85DB37CFEE5}" type="presParOf" srcId="{839DAA1E-965A-47C3-A43A-11065EE10B96}" destId="{1E15A9A0-54DC-418F-B00C-3E01C32BEAE1}" srcOrd="0" destOrd="0" presId="urn:microsoft.com/office/officeart/2005/8/layout/vList5"/>
    <dgm:cxn modelId="{B80578AC-830F-4B0F-B6C8-13CA7CE86640}" type="presParOf" srcId="{1E15A9A0-54DC-418F-B00C-3E01C32BEAE1}" destId="{F2F08941-5A68-411E-AD7F-6EF46FD56FBD}" srcOrd="0" destOrd="0" presId="urn:microsoft.com/office/officeart/2005/8/layout/vList5"/>
    <dgm:cxn modelId="{7157A312-BAC1-4E7B-9396-D292FE039E03}" type="presParOf" srcId="{1E15A9A0-54DC-418F-B00C-3E01C32BEAE1}" destId="{3E0795D4-4188-4949-AE94-2A791BCE1FD9}" srcOrd="1" destOrd="0" presId="urn:microsoft.com/office/officeart/2005/8/layout/vList5"/>
    <dgm:cxn modelId="{057AE83C-16FE-4B57-85B8-6DFC327F03F1}" type="presParOf" srcId="{839DAA1E-965A-47C3-A43A-11065EE10B96}" destId="{36D3ACFC-26E0-45C8-A1C3-BE3B78CF069D}" srcOrd="1" destOrd="0" presId="urn:microsoft.com/office/officeart/2005/8/layout/vList5"/>
    <dgm:cxn modelId="{D3ED3000-E1B8-43A5-A3E7-EF905C8FC0A2}" type="presParOf" srcId="{839DAA1E-965A-47C3-A43A-11065EE10B96}" destId="{FCA73F41-6637-4792-B146-2F852EE33B87}" srcOrd="2" destOrd="0" presId="urn:microsoft.com/office/officeart/2005/8/layout/vList5"/>
    <dgm:cxn modelId="{DC43AB1D-799B-4E86-96E1-0F6EEF7C4BE2}" type="presParOf" srcId="{FCA73F41-6637-4792-B146-2F852EE33B87}" destId="{6008EA90-E6B1-4498-ABE6-BCDF0E0818F9}" srcOrd="0" destOrd="0" presId="urn:microsoft.com/office/officeart/2005/8/layout/vList5"/>
    <dgm:cxn modelId="{A7E5AD8B-0EB4-41DB-A8A2-468D0D7C9C41}" type="presParOf" srcId="{FCA73F41-6637-4792-B146-2F852EE33B87}" destId="{B9ADED97-AC03-45B3-9A41-1A0C1968CFF9}" srcOrd="1" destOrd="0" presId="urn:microsoft.com/office/officeart/2005/8/layout/vList5"/>
    <dgm:cxn modelId="{208D9E17-E876-4B4E-9D92-FD4011D9DFF5}" type="presParOf" srcId="{839DAA1E-965A-47C3-A43A-11065EE10B96}" destId="{9C05B516-FF87-4BA1-96C0-F306926B9554}" srcOrd="3" destOrd="0" presId="urn:microsoft.com/office/officeart/2005/8/layout/vList5"/>
    <dgm:cxn modelId="{311C43DB-BDCE-42EA-A341-F48A73C18A1F}" type="presParOf" srcId="{839DAA1E-965A-47C3-A43A-11065EE10B96}" destId="{E9DA7CE4-CC12-4EBB-A6B7-059B79834B7E}" srcOrd="4" destOrd="0" presId="urn:microsoft.com/office/officeart/2005/8/layout/vList5"/>
    <dgm:cxn modelId="{235810C6-7200-4888-AAE4-6FCFE9C84DB5}" type="presParOf" srcId="{E9DA7CE4-CC12-4EBB-A6B7-059B79834B7E}" destId="{BA4D8448-5FCE-4939-A31F-189DD0695EDD}" srcOrd="0" destOrd="0" presId="urn:microsoft.com/office/officeart/2005/8/layout/vList5"/>
    <dgm:cxn modelId="{6635274D-4F54-4B1A-A8CE-01A27D9DBA33}" type="presParOf" srcId="{E9DA7CE4-CC12-4EBB-A6B7-059B79834B7E}" destId="{25BA6B9A-BD30-4EEB-BF01-6CE0D866FE92}" srcOrd="1" destOrd="0" presId="urn:microsoft.com/office/officeart/2005/8/layout/vList5"/>
    <dgm:cxn modelId="{94DC0496-53D7-42A3-B999-ED6AA5549001}" type="presParOf" srcId="{839DAA1E-965A-47C3-A43A-11065EE10B96}" destId="{A24F7DA3-FC33-40E2-9E71-B9882F04CC75}" srcOrd="5" destOrd="0" presId="urn:microsoft.com/office/officeart/2005/8/layout/vList5"/>
    <dgm:cxn modelId="{4BD8ABAC-8A05-495C-BB8F-8560685AE053}" type="presParOf" srcId="{839DAA1E-965A-47C3-A43A-11065EE10B96}" destId="{84F3CB32-DDE5-45B2-9385-0CD91C557D89}" srcOrd="6" destOrd="0" presId="urn:microsoft.com/office/officeart/2005/8/layout/vList5"/>
    <dgm:cxn modelId="{2CC0CCA3-E790-45C2-86F8-6C7D297C11B6}" type="presParOf" srcId="{84F3CB32-DDE5-45B2-9385-0CD91C557D89}" destId="{6E4EC516-9261-48FC-9264-8581F4CB680E}" srcOrd="0" destOrd="0" presId="urn:microsoft.com/office/officeart/2005/8/layout/vList5"/>
    <dgm:cxn modelId="{7DF2013D-CB70-4242-9FB9-A828897435F9}"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A267C3A6-8110-4CC0-9A10-27A277475D52}" type="presOf" srcId="{95B352C6-C5E7-4083-93BA-0F69DDA0277F}" destId="{25BA6B9A-BD30-4EEB-BF01-6CE0D866FE92}" srcOrd="0" destOrd="0" presId="urn:microsoft.com/office/officeart/2005/8/layout/vList5"/>
    <dgm:cxn modelId="{E740913B-092C-4BEC-989F-0B6F7B4C9E15}" type="presOf" srcId="{228F0A37-3996-4B64-9C0A-A54BCC3EA6BA}" destId="{BA4D8448-5FCE-4939-A31F-189DD0695EDD}" srcOrd="0" destOrd="0" presId="urn:microsoft.com/office/officeart/2005/8/layout/vList5"/>
    <dgm:cxn modelId="{5BDBC46A-6CC3-41CF-9574-C69FF1933317}" type="presOf" srcId="{84683C11-3BF9-40F9-A2B3-057C1D7DB8C4}" destId="{3E0795D4-4188-4949-AE94-2A791BCE1FD9}" srcOrd="0" destOrd="1" presId="urn:microsoft.com/office/officeart/2005/8/layout/vList5"/>
    <dgm:cxn modelId="{3F4212AE-1318-4732-969D-FAFA452314CD}" type="presOf" srcId="{43874DE2-1DC0-4883-A591-AD110EE9DF14}" destId="{25BA6B9A-BD30-4EEB-BF01-6CE0D866FE92}"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53D9FF8B-BCCD-424E-9AB3-86CA56E53D8D}" type="presOf" srcId="{A53ACEF5-5EE8-41E2-B6D6-C74C7F15C95C}" destId="{B9ADED97-AC03-45B3-9A41-1A0C1968CFF9}"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593F2175-DC82-4C5F-8A88-FBB5E44DBBE1}" type="presOf" srcId="{5CC6B45F-A032-48B1-AC89-723CB5731DA6}" destId="{6E4EC516-9261-48FC-9264-8581F4CB680E}" srcOrd="0" destOrd="0" presId="urn:microsoft.com/office/officeart/2005/8/layout/vList5"/>
    <dgm:cxn modelId="{8267C840-13E7-4820-B1E0-72DC38845652}" type="presOf" srcId="{D97E231E-031B-46C9-A8A2-F1D6BA54A966}" destId="{F49AC9AF-1A8A-4450-AECD-FC6A5E789BAA}" srcOrd="0" destOrd="1" presId="urn:microsoft.com/office/officeart/2005/8/layout/vList5"/>
    <dgm:cxn modelId="{787227CA-386A-449D-97F4-80664D7F7907}" type="presOf" srcId="{6B50C981-E288-4E84-B65E-F73EA9E70783}" destId="{B9ADED97-AC03-45B3-9A41-1A0C1968CFF9}" srcOrd="0" destOrd="1"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621CB215-C111-4386-804B-D3F1EE315451}" type="presOf" srcId="{C31BA4C3-B958-4E11-B7C3-C2A236A8EB3B}" destId="{6008EA90-E6B1-4498-ABE6-BCDF0E0818F9}"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6D9BF347-8873-486C-85FA-E7055842CF01}" type="presOf" srcId="{98AED58E-7E7C-416A-8A18-20CA5C05518C}" destId="{F2F08941-5A68-411E-AD7F-6EF46FD56FBD}" srcOrd="0" destOrd="0"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A933D86A-5C8B-4631-B5B3-E046F05D84A5}" type="presOf" srcId="{AAC83951-6A4A-433C-B085-A08DB739FBBD}" destId="{3E0795D4-4188-4949-AE94-2A791BCE1FD9}"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252728DE-56ED-4081-9B89-2CF1C584AC05}" type="presOf" srcId="{80925EED-1441-4DF2-ADCA-DEFC0758046C}" destId="{F49AC9AF-1A8A-4450-AECD-FC6A5E789BAA}"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BC994943-863B-4E9E-94E4-74CC29E5CB85}" type="presOf" srcId="{9998B519-03B6-4420-B2B1-FE85B07BB863}" destId="{839DAA1E-965A-47C3-A43A-11065EE10B96}" srcOrd="0" destOrd="0" presId="urn:microsoft.com/office/officeart/2005/8/layout/vList5"/>
    <dgm:cxn modelId="{C34967C9-5A3F-4A2D-BC65-85CA6CA77B22}" type="presParOf" srcId="{839DAA1E-965A-47C3-A43A-11065EE10B96}" destId="{1E15A9A0-54DC-418F-B00C-3E01C32BEAE1}" srcOrd="0" destOrd="0" presId="urn:microsoft.com/office/officeart/2005/8/layout/vList5"/>
    <dgm:cxn modelId="{A2460751-CBB4-452B-8801-9FEECF37761F}" type="presParOf" srcId="{1E15A9A0-54DC-418F-B00C-3E01C32BEAE1}" destId="{F2F08941-5A68-411E-AD7F-6EF46FD56FBD}" srcOrd="0" destOrd="0" presId="urn:microsoft.com/office/officeart/2005/8/layout/vList5"/>
    <dgm:cxn modelId="{EA75D33A-8ACD-4D3D-BB3D-81DBE42BA816}" type="presParOf" srcId="{1E15A9A0-54DC-418F-B00C-3E01C32BEAE1}" destId="{3E0795D4-4188-4949-AE94-2A791BCE1FD9}" srcOrd="1" destOrd="0" presId="urn:microsoft.com/office/officeart/2005/8/layout/vList5"/>
    <dgm:cxn modelId="{EA96DED7-9809-4633-AA02-C59F1CF82567}" type="presParOf" srcId="{839DAA1E-965A-47C3-A43A-11065EE10B96}" destId="{36D3ACFC-26E0-45C8-A1C3-BE3B78CF069D}" srcOrd="1" destOrd="0" presId="urn:microsoft.com/office/officeart/2005/8/layout/vList5"/>
    <dgm:cxn modelId="{59FABF9B-753B-4267-A1FA-281FAE71AA31}" type="presParOf" srcId="{839DAA1E-965A-47C3-A43A-11065EE10B96}" destId="{FCA73F41-6637-4792-B146-2F852EE33B87}" srcOrd="2" destOrd="0" presId="urn:microsoft.com/office/officeart/2005/8/layout/vList5"/>
    <dgm:cxn modelId="{009A9AC0-69FE-41D6-9094-9DF7659C92CE}" type="presParOf" srcId="{FCA73F41-6637-4792-B146-2F852EE33B87}" destId="{6008EA90-E6B1-4498-ABE6-BCDF0E0818F9}" srcOrd="0" destOrd="0" presId="urn:microsoft.com/office/officeart/2005/8/layout/vList5"/>
    <dgm:cxn modelId="{505BD434-A438-4345-A09C-B6EEB140268C}" type="presParOf" srcId="{FCA73F41-6637-4792-B146-2F852EE33B87}" destId="{B9ADED97-AC03-45B3-9A41-1A0C1968CFF9}" srcOrd="1" destOrd="0" presId="urn:microsoft.com/office/officeart/2005/8/layout/vList5"/>
    <dgm:cxn modelId="{9DC543D6-3DA4-47CC-A798-8DDAF9A71B64}" type="presParOf" srcId="{839DAA1E-965A-47C3-A43A-11065EE10B96}" destId="{9C05B516-FF87-4BA1-96C0-F306926B9554}" srcOrd="3" destOrd="0" presId="urn:microsoft.com/office/officeart/2005/8/layout/vList5"/>
    <dgm:cxn modelId="{53059EB6-33FC-4DE2-8A3C-6B7DF4600D08}" type="presParOf" srcId="{839DAA1E-965A-47C3-A43A-11065EE10B96}" destId="{E9DA7CE4-CC12-4EBB-A6B7-059B79834B7E}" srcOrd="4" destOrd="0" presId="urn:microsoft.com/office/officeart/2005/8/layout/vList5"/>
    <dgm:cxn modelId="{CC6A928D-759E-473A-AAF9-FD651448C873}" type="presParOf" srcId="{E9DA7CE4-CC12-4EBB-A6B7-059B79834B7E}" destId="{BA4D8448-5FCE-4939-A31F-189DD0695EDD}" srcOrd="0" destOrd="0" presId="urn:microsoft.com/office/officeart/2005/8/layout/vList5"/>
    <dgm:cxn modelId="{E3164450-FDB4-4120-8ED7-9859975AAD6C}" type="presParOf" srcId="{E9DA7CE4-CC12-4EBB-A6B7-059B79834B7E}" destId="{25BA6B9A-BD30-4EEB-BF01-6CE0D866FE92}" srcOrd="1" destOrd="0" presId="urn:microsoft.com/office/officeart/2005/8/layout/vList5"/>
    <dgm:cxn modelId="{9AE8506D-D913-4E88-86C9-CF06E6123390}" type="presParOf" srcId="{839DAA1E-965A-47C3-A43A-11065EE10B96}" destId="{A24F7DA3-FC33-40E2-9E71-B9882F04CC75}" srcOrd="5" destOrd="0" presId="urn:microsoft.com/office/officeart/2005/8/layout/vList5"/>
    <dgm:cxn modelId="{97CBA570-728A-4B14-919D-2A8314CC3941}" type="presParOf" srcId="{839DAA1E-965A-47C3-A43A-11065EE10B96}" destId="{84F3CB32-DDE5-45B2-9385-0CD91C557D89}" srcOrd="6" destOrd="0" presId="urn:microsoft.com/office/officeart/2005/8/layout/vList5"/>
    <dgm:cxn modelId="{AD208129-1AC2-4BE6-B761-802CFBA0CEA1}" type="presParOf" srcId="{84F3CB32-DDE5-45B2-9385-0CD91C557D89}" destId="{6E4EC516-9261-48FC-9264-8581F4CB680E}" srcOrd="0" destOrd="0" presId="urn:microsoft.com/office/officeart/2005/8/layout/vList5"/>
    <dgm:cxn modelId="{89F1F63C-5F47-4242-A00E-9F2A425BABF3}"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2F686D66-0459-4353-AEA9-1ABE88250EF9}" type="presOf" srcId="{49056608-284B-41CD-8ADB-3FDE4D94AB7D}" destId="{B9ADED97-AC03-45B3-9A41-1A0C1968CFF9}" srcOrd="0" destOrd="0" presId="urn:microsoft.com/office/officeart/2005/8/layout/vList5"/>
    <dgm:cxn modelId="{A4B53F87-15E7-40F9-9E15-03BBF52EE1E3}" type="presOf" srcId="{98AED58E-7E7C-416A-8A18-20CA5C05518C}" destId="{F2F08941-5A68-411E-AD7F-6EF46FD56FBD}" srcOrd="0" destOrd="0" presId="urn:microsoft.com/office/officeart/2005/8/layout/vList5"/>
    <dgm:cxn modelId="{E3BFD733-17E0-4BCB-9967-2737F9B32164}" type="presOf" srcId="{80B393ED-AF20-4EC7-B392-49545AD72664}" destId="{F49AC9AF-1A8A-4450-AECD-FC6A5E789BAA}" srcOrd="0" destOrd="1" presId="urn:microsoft.com/office/officeart/2005/8/layout/vList5"/>
    <dgm:cxn modelId="{20943E94-69F9-4A00-8F4C-6D33026398A4}" type="presOf" srcId="{9998B519-03B6-4420-B2B1-FE85B07BB863}" destId="{839DAA1E-965A-47C3-A43A-11065EE10B96}"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457EA665-E556-4ACF-9DAF-347705375587}" type="presOf" srcId="{C31BA4C3-B958-4E11-B7C3-C2A236A8EB3B}" destId="{6008EA90-E6B1-4498-ABE6-BCDF0E0818F9}" srcOrd="0" destOrd="0" presId="urn:microsoft.com/office/officeart/2005/8/layout/vList5"/>
    <dgm:cxn modelId="{41EC2799-C757-4C25-9458-3E3574EA9276}" type="presOf" srcId="{A53ACEF5-5EE8-41E2-B6D6-C74C7F15C95C}" destId="{B9ADED97-AC03-45B3-9A41-1A0C1968CFF9}" srcOrd="0" destOrd="2" presId="urn:microsoft.com/office/officeart/2005/8/layout/vList5"/>
    <dgm:cxn modelId="{598F72A2-C718-4C8E-8A22-E34EABB5EA41}" type="presOf" srcId="{08DFE00A-129B-475A-877D-F98A2C8EA242}" destId="{25BA6B9A-BD30-4EEB-BF01-6CE0D866FE92}" srcOrd="0" destOrd="1"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D4E8555C-8C7E-44E1-899B-9804BAC468DD}" type="presOf" srcId="{A7B9EF29-C5CA-4E82-8A3E-0C9D22914FDC}" destId="{3E0795D4-4188-4949-AE94-2A791BCE1FD9}" srcOrd="0" destOrd="1" presId="urn:microsoft.com/office/officeart/2005/8/layout/vList5"/>
    <dgm:cxn modelId="{4255A749-3956-4C8C-8ECB-42299F6513A1}" type="presOf" srcId="{3E0474F6-28FF-4E2A-9CE3-47E7144861B8}" destId="{B9ADED97-AC03-45B3-9A41-1A0C1968CFF9}" srcOrd="0" destOrd="1" presId="urn:microsoft.com/office/officeart/2005/8/layout/vList5"/>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0C1461E5-20D7-4D59-8A44-A67D65240D97}" type="presOf" srcId="{95B352C6-C5E7-4083-93BA-0F69DDA0277F}" destId="{25BA6B9A-BD30-4EEB-BF01-6CE0D866FE92}" srcOrd="0" destOrd="0" presId="urn:microsoft.com/office/officeart/2005/8/layout/vList5"/>
    <dgm:cxn modelId="{F383F68C-3028-43EC-B9D1-6331477F94AE}" type="presOf" srcId="{5CC6B45F-A032-48B1-AC89-723CB5731DA6}" destId="{6E4EC516-9261-48FC-9264-8581F4CB680E}" srcOrd="0" destOrd="0" presId="urn:microsoft.com/office/officeart/2005/8/layout/vList5"/>
    <dgm:cxn modelId="{94B9BC29-7EF0-4D5E-9F5A-59A7EA1155BB}" type="presOf" srcId="{80925EED-1441-4DF2-ADCA-DEFC0758046C}" destId="{F49AC9AF-1A8A-4450-AECD-FC6A5E789BAA}"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0ED815E0-99BA-4ACF-8BE4-2984D5FF1666}" type="presOf" srcId="{71E1A4A0-F53B-46FD-8EB5-746260CA76E9}" destId="{3E0795D4-4188-4949-AE94-2A791BCE1FD9}" srcOrd="0" destOrd="0" presId="urn:microsoft.com/office/officeart/2005/8/layout/vList5"/>
    <dgm:cxn modelId="{EEDCD701-ED58-4B5F-A049-0CBD9AD714C6}" type="presOf" srcId="{228F0A37-3996-4B64-9C0A-A54BCC3EA6BA}" destId="{BA4D8448-5FCE-4939-A31F-189DD0695EDD}" srcOrd="0" destOrd="0"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544CA45C-5656-44A4-A0C7-0B1FB528CE39}" type="presParOf" srcId="{839DAA1E-965A-47C3-A43A-11065EE10B96}" destId="{1E15A9A0-54DC-418F-B00C-3E01C32BEAE1}" srcOrd="0" destOrd="0" presId="urn:microsoft.com/office/officeart/2005/8/layout/vList5"/>
    <dgm:cxn modelId="{46EFE7CB-A8C9-48A5-9862-C08846E101AA}" type="presParOf" srcId="{1E15A9A0-54DC-418F-B00C-3E01C32BEAE1}" destId="{F2F08941-5A68-411E-AD7F-6EF46FD56FBD}" srcOrd="0" destOrd="0" presId="urn:microsoft.com/office/officeart/2005/8/layout/vList5"/>
    <dgm:cxn modelId="{7C91D17C-0ED9-4D3F-A6D1-DD4D44776D62}" type="presParOf" srcId="{1E15A9A0-54DC-418F-B00C-3E01C32BEAE1}" destId="{3E0795D4-4188-4949-AE94-2A791BCE1FD9}" srcOrd="1" destOrd="0" presId="urn:microsoft.com/office/officeart/2005/8/layout/vList5"/>
    <dgm:cxn modelId="{AB06D90E-BBF4-4B3C-84EC-3CD1EE4809A8}" type="presParOf" srcId="{839DAA1E-965A-47C3-A43A-11065EE10B96}" destId="{36D3ACFC-26E0-45C8-A1C3-BE3B78CF069D}" srcOrd="1" destOrd="0" presId="urn:microsoft.com/office/officeart/2005/8/layout/vList5"/>
    <dgm:cxn modelId="{2444F2C5-F6AB-44F1-AF27-43C420C62635}" type="presParOf" srcId="{839DAA1E-965A-47C3-A43A-11065EE10B96}" destId="{FCA73F41-6637-4792-B146-2F852EE33B87}" srcOrd="2" destOrd="0" presId="urn:microsoft.com/office/officeart/2005/8/layout/vList5"/>
    <dgm:cxn modelId="{AA1F60C5-127C-4B04-8403-47BCB42F3E34}" type="presParOf" srcId="{FCA73F41-6637-4792-B146-2F852EE33B87}" destId="{6008EA90-E6B1-4498-ABE6-BCDF0E0818F9}" srcOrd="0" destOrd="0" presId="urn:microsoft.com/office/officeart/2005/8/layout/vList5"/>
    <dgm:cxn modelId="{17795176-4CD2-490B-887A-6440C39518DB}" type="presParOf" srcId="{FCA73F41-6637-4792-B146-2F852EE33B87}" destId="{B9ADED97-AC03-45B3-9A41-1A0C1968CFF9}" srcOrd="1" destOrd="0" presId="urn:microsoft.com/office/officeart/2005/8/layout/vList5"/>
    <dgm:cxn modelId="{8C586B82-00CF-4653-A57E-830A088E7088}" type="presParOf" srcId="{839DAA1E-965A-47C3-A43A-11065EE10B96}" destId="{9C05B516-FF87-4BA1-96C0-F306926B9554}" srcOrd="3" destOrd="0" presId="urn:microsoft.com/office/officeart/2005/8/layout/vList5"/>
    <dgm:cxn modelId="{2565B375-FDEA-4C28-BA0C-0DE0FB7ADCAD}" type="presParOf" srcId="{839DAA1E-965A-47C3-A43A-11065EE10B96}" destId="{E9DA7CE4-CC12-4EBB-A6B7-059B79834B7E}" srcOrd="4" destOrd="0" presId="urn:microsoft.com/office/officeart/2005/8/layout/vList5"/>
    <dgm:cxn modelId="{CA507839-606D-4193-A22A-632A684B77DC}" type="presParOf" srcId="{E9DA7CE4-CC12-4EBB-A6B7-059B79834B7E}" destId="{BA4D8448-5FCE-4939-A31F-189DD0695EDD}" srcOrd="0" destOrd="0" presId="urn:microsoft.com/office/officeart/2005/8/layout/vList5"/>
    <dgm:cxn modelId="{14928EC5-C955-45BD-B9AA-485E5D6822BB}" type="presParOf" srcId="{E9DA7CE4-CC12-4EBB-A6B7-059B79834B7E}" destId="{25BA6B9A-BD30-4EEB-BF01-6CE0D866FE92}" srcOrd="1" destOrd="0" presId="urn:microsoft.com/office/officeart/2005/8/layout/vList5"/>
    <dgm:cxn modelId="{854C7AA3-0FDA-4C59-8B95-B9CF9C0A9D44}" type="presParOf" srcId="{839DAA1E-965A-47C3-A43A-11065EE10B96}" destId="{A24F7DA3-FC33-40E2-9E71-B9882F04CC75}" srcOrd="5" destOrd="0" presId="urn:microsoft.com/office/officeart/2005/8/layout/vList5"/>
    <dgm:cxn modelId="{775F1085-2394-4344-8FA8-600F5B31BCDE}" type="presParOf" srcId="{839DAA1E-965A-47C3-A43A-11065EE10B96}" destId="{84F3CB32-DDE5-45B2-9385-0CD91C557D89}" srcOrd="6" destOrd="0" presId="urn:microsoft.com/office/officeart/2005/8/layout/vList5"/>
    <dgm:cxn modelId="{6CB05E9B-A4BD-4ED2-AF8C-654F392A6D31}" type="presParOf" srcId="{84F3CB32-DDE5-45B2-9385-0CD91C557D89}" destId="{6E4EC516-9261-48FC-9264-8581F4CB680E}" srcOrd="0" destOrd="0" presId="urn:microsoft.com/office/officeart/2005/8/layout/vList5"/>
    <dgm:cxn modelId="{E81B56F9-A3B5-4378-BF39-D7B45AE14C57}"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D2309997-C876-4D27-B37F-FA3F1285C6E2}" type="presOf" srcId="{84683C11-3BF9-40F9-A2B3-057C1D7DB8C4}" destId="{3E0795D4-4188-4949-AE94-2A791BCE1FD9}" srcOrd="0" destOrd="1" presId="urn:microsoft.com/office/officeart/2005/8/layout/vList5"/>
    <dgm:cxn modelId="{D530BA66-B4E6-4729-A9D3-46E40FFC28F2}" type="presOf" srcId="{95B352C6-C5E7-4083-93BA-0F69DDA0277F}" destId="{25BA6B9A-BD30-4EEB-BF01-6CE0D866FE92}" srcOrd="0" destOrd="0" presId="urn:microsoft.com/office/officeart/2005/8/layout/vList5"/>
    <dgm:cxn modelId="{AF3979AF-0F66-4947-9F49-3E3EC1B74463}" type="presOf" srcId="{98AED58E-7E7C-416A-8A18-20CA5C05518C}" destId="{F2F08941-5A68-411E-AD7F-6EF46FD56FBD}" srcOrd="0" destOrd="0" presId="urn:microsoft.com/office/officeart/2005/8/layout/vList5"/>
    <dgm:cxn modelId="{5C218F74-6B21-48A1-9E16-E268D97C00FA}" type="presOf" srcId="{228F0A37-3996-4B64-9C0A-A54BCC3EA6BA}" destId="{BA4D8448-5FCE-4939-A31F-189DD0695EDD}"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BA0AFE0E-2F07-40CF-8FC2-6697341F344C}" srcId="{228F0A37-3996-4B64-9C0A-A54BCC3EA6BA}" destId="{43874DE2-1DC0-4883-A591-AD110EE9DF14}" srcOrd="1" destOrd="0" parTransId="{4BF82FF2-B22C-4575-8E07-ABD74DC7BF8E}" sibTransId="{34CBF14E-8417-45D6-A12D-E3A90E0CC994}"/>
    <dgm:cxn modelId="{9DB194D5-6A4D-43EF-BCE9-5676F0E0D642}" type="presOf" srcId="{C31BA4C3-B958-4E11-B7C3-C2A236A8EB3B}" destId="{6008EA90-E6B1-4498-ABE6-BCDF0E0818F9}" srcOrd="0" destOrd="0"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C1622F42-E85D-4144-BC4A-679E137FCA07}" type="presOf" srcId="{AAC83951-6A4A-433C-B085-A08DB739FBBD}" destId="{3E0795D4-4188-4949-AE94-2A791BCE1FD9}" srcOrd="0" destOrd="0" presId="urn:microsoft.com/office/officeart/2005/8/layout/vList5"/>
    <dgm:cxn modelId="{D773CCDC-D289-4E48-B1AC-C31257DADFA1}" type="presOf" srcId="{9998B519-03B6-4420-B2B1-FE85B07BB863}" destId="{839DAA1E-965A-47C3-A43A-11065EE10B96}" srcOrd="0" destOrd="0" presId="urn:microsoft.com/office/officeart/2005/8/layout/vList5"/>
    <dgm:cxn modelId="{77A3487A-A79D-46B1-998F-4EC0F6DBD995}" type="presOf" srcId="{43874DE2-1DC0-4883-A591-AD110EE9DF14}" destId="{25BA6B9A-BD30-4EEB-BF01-6CE0D866FE92}"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5DDC3E17-C4AD-4C98-92EE-80B9BD5DED75}" type="presOf" srcId="{6B50C981-E288-4E84-B65E-F73EA9E70783}" destId="{B9ADED97-AC03-45B3-9A41-1A0C1968CFF9}" srcOrd="0" destOrd="1" presId="urn:microsoft.com/office/officeart/2005/8/layout/vList5"/>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A3A25C93-C7E3-48D4-9F97-9E087D8C9743}" type="presOf" srcId="{D97E231E-031B-46C9-A8A2-F1D6BA54A966}" destId="{F49AC9AF-1A8A-4450-AECD-FC6A5E789BAA}" srcOrd="0" destOrd="1" presId="urn:microsoft.com/office/officeart/2005/8/layout/vList5"/>
    <dgm:cxn modelId="{2A3A1029-A92D-4D2C-ACBE-A19206316476}" type="presOf" srcId="{5CC6B45F-A032-48B1-AC89-723CB5731DA6}" destId="{6E4EC516-9261-48FC-9264-8581F4CB680E}" srcOrd="0" destOrd="0" presId="urn:microsoft.com/office/officeart/2005/8/layout/vList5"/>
    <dgm:cxn modelId="{D864C689-16EB-4ED8-98F6-65024295B9C3}" type="presOf" srcId="{80925EED-1441-4DF2-ADCA-DEFC0758046C}" destId="{F49AC9AF-1A8A-4450-AECD-FC6A5E789BAA}" srcOrd="0" destOrd="0" presId="urn:microsoft.com/office/officeart/2005/8/layout/vList5"/>
    <dgm:cxn modelId="{D431A537-F16D-4D92-B639-475D72F41FF2}" type="presOf" srcId="{A53ACEF5-5EE8-41E2-B6D6-C74C7F15C95C}" destId="{B9ADED97-AC03-45B3-9A41-1A0C1968CFF9}"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64B0B6CE-09A4-4B37-8DD9-265ECB0741F1}" type="presParOf" srcId="{839DAA1E-965A-47C3-A43A-11065EE10B96}" destId="{1E15A9A0-54DC-418F-B00C-3E01C32BEAE1}" srcOrd="0" destOrd="0" presId="urn:microsoft.com/office/officeart/2005/8/layout/vList5"/>
    <dgm:cxn modelId="{3EB83918-E1BF-40E0-9DB5-582F87139A89}" type="presParOf" srcId="{1E15A9A0-54DC-418F-B00C-3E01C32BEAE1}" destId="{F2F08941-5A68-411E-AD7F-6EF46FD56FBD}" srcOrd="0" destOrd="0" presId="urn:microsoft.com/office/officeart/2005/8/layout/vList5"/>
    <dgm:cxn modelId="{319BB8D6-1059-463D-8B13-F0764066BB68}" type="presParOf" srcId="{1E15A9A0-54DC-418F-B00C-3E01C32BEAE1}" destId="{3E0795D4-4188-4949-AE94-2A791BCE1FD9}" srcOrd="1" destOrd="0" presId="urn:microsoft.com/office/officeart/2005/8/layout/vList5"/>
    <dgm:cxn modelId="{7F6CFAAD-ABBB-467B-B8CC-AEDC3A28AC43}" type="presParOf" srcId="{839DAA1E-965A-47C3-A43A-11065EE10B96}" destId="{36D3ACFC-26E0-45C8-A1C3-BE3B78CF069D}" srcOrd="1" destOrd="0" presId="urn:microsoft.com/office/officeart/2005/8/layout/vList5"/>
    <dgm:cxn modelId="{4506551D-93D3-4DC7-9AE6-DD8AAAF722C1}" type="presParOf" srcId="{839DAA1E-965A-47C3-A43A-11065EE10B96}" destId="{FCA73F41-6637-4792-B146-2F852EE33B87}" srcOrd="2" destOrd="0" presId="urn:microsoft.com/office/officeart/2005/8/layout/vList5"/>
    <dgm:cxn modelId="{0C4E515D-3794-4376-922E-F73DD4A7FBC0}" type="presParOf" srcId="{FCA73F41-6637-4792-B146-2F852EE33B87}" destId="{6008EA90-E6B1-4498-ABE6-BCDF0E0818F9}" srcOrd="0" destOrd="0" presId="urn:microsoft.com/office/officeart/2005/8/layout/vList5"/>
    <dgm:cxn modelId="{18D8FFD0-ACA4-4D8E-8A6F-8B9DC14599CA}" type="presParOf" srcId="{FCA73F41-6637-4792-B146-2F852EE33B87}" destId="{B9ADED97-AC03-45B3-9A41-1A0C1968CFF9}" srcOrd="1" destOrd="0" presId="urn:microsoft.com/office/officeart/2005/8/layout/vList5"/>
    <dgm:cxn modelId="{FF178B5F-96A3-4E41-A9BC-EFCDE82C467A}" type="presParOf" srcId="{839DAA1E-965A-47C3-A43A-11065EE10B96}" destId="{9C05B516-FF87-4BA1-96C0-F306926B9554}" srcOrd="3" destOrd="0" presId="urn:microsoft.com/office/officeart/2005/8/layout/vList5"/>
    <dgm:cxn modelId="{533C03E5-308D-4C0A-955E-6AA9C21B2832}" type="presParOf" srcId="{839DAA1E-965A-47C3-A43A-11065EE10B96}" destId="{E9DA7CE4-CC12-4EBB-A6B7-059B79834B7E}" srcOrd="4" destOrd="0" presId="urn:microsoft.com/office/officeart/2005/8/layout/vList5"/>
    <dgm:cxn modelId="{B8B887D3-E99A-414A-AB62-83FC27F15722}" type="presParOf" srcId="{E9DA7CE4-CC12-4EBB-A6B7-059B79834B7E}" destId="{BA4D8448-5FCE-4939-A31F-189DD0695EDD}" srcOrd="0" destOrd="0" presId="urn:microsoft.com/office/officeart/2005/8/layout/vList5"/>
    <dgm:cxn modelId="{516062CF-F237-487F-9E9A-B29FF1AFF2FC}" type="presParOf" srcId="{E9DA7CE4-CC12-4EBB-A6B7-059B79834B7E}" destId="{25BA6B9A-BD30-4EEB-BF01-6CE0D866FE92}" srcOrd="1" destOrd="0" presId="urn:microsoft.com/office/officeart/2005/8/layout/vList5"/>
    <dgm:cxn modelId="{7F517D1F-2133-4FD9-BBAC-BA4CD2F34F18}" type="presParOf" srcId="{839DAA1E-965A-47C3-A43A-11065EE10B96}" destId="{A24F7DA3-FC33-40E2-9E71-B9882F04CC75}" srcOrd="5" destOrd="0" presId="urn:microsoft.com/office/officeart/2005/8/layout/vList5"/>
    <dgm:cxn modelId="{A84DD5F6-82BC-4038-96A5-AFC3FB529C51}" type="presParOf" srcId="{839DAA1E-965A-47C3-A43A-11065EE10B96}" destId="{84F3CB32-DDE5-45B2-9385-0CD91C557D89}" srcOrd="6" destOrd="0" presId="urn:microsoft.com/office/officeart/2005/8/layout/vList5"/>
    <dgm:cxn modelId="{F32E22FC-B5C1-4DD2-9BCF-1EAA2DBD8DCF}" type="presParOf" srcId="{84F3CB32-DDE5-45B2-9385-0CD91C557D89}" destId="{6E4EC516-9261-48FC-9264-8581F4CB680E}" srcOrd="0" destOrd="0" presId="urn:microsoft.com/office/officeart/2005/8/layout/vList5"/>
    <dgm:cxn modelId="{E4D9061E-EA24-4167-9F71-0C806FD79CCE}"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23A86008-2C05-4090-8767-07E0E3B91605}" type="presOf" srcId="{98AED58E-7E7C-416A-8A18-20CA5C05518C}" destId="{F2F08941-5A68-411E-AD7F-6EF46FD56FBD}" srcOrd="0" destOrd="0" presId="urn:microsoft.com/office/officeart/2005/8/layout/vList5"/>
    <dgm:cxn modelId="{4F0B4E38-5B68-4BDA-9E82-221DAFA0D6A2}" srcId="{228F0A37-3996-4B64-9C0A-A54BCC3EA6BA}" destId="{08DFE00A-129B-475A-877D-F98A2C8EA242}" srcOrd="1" destOrd="0" parTransId="{4A14A3AA-2455-49C2-9043-EA3E03C94CEA}" sibTransId="{8C6BB5C5-A2AA-4CAD-A46F-A64D3545DBF2}"/>
    <dgm:cxn modelId="{5759DDD4-F6BC-4FE0-B05D-00429879B9F8}" type="presOf" srcId="{C31BA4C3-B958-4E11-B7C3-C2A236A8EB3B}" destId="{6008EA90-E6B1-4498-ABE6-BCDF0E0818F9}" srcOrd="0" destOrd="0" presId="urn:microsoft.com/office/officeart/2005/8/layout/vList5"/>
    <dgm:cxn modelId="{34DE91A3-7CE0-47FC-B8BF-94126246C2E6}" type="presOf" srcId="{9998B519-03B6-4420-B2B1-FE85B07BB863}" destId="{839DAA1E-965A-47C3-A43A-11065EE10B96}" srcOrd="0" destOrd="0" presId="urn:microsoft.com/office/officeart/2005/8/layout/vList5"/>
    <dgm:cxn modelId="{15B3A622-E88D-485A-84AB-3F62E63BFC8E}" type="presOf" srcId="{08DFE00A-129B-475A-877D-F98A2C8EA242}" destId="{25BA6B9A-BD30-4EEB-BF01-6CE0D866FE92}" srcOrd="0" destOrd="1" presId="urn:microsoft.com/office/officeart/2005/8/layout/vList5"/>
    <dgm:cxn modelId="{1E904019-75E9-40F3-889C-0AFEE2A2EE6A}" type="presOf" srcId="{80B393ED-AF20-4EC7-B392-49545AD72664}" destId="{F49AC9AF-1A8A-4450-AECD-FC6A5E789BAA}" srcOrd="0" destOrd="1" presId="urn:microsoft.com/office/officeart/2005/8/layout/vList5"/>
    <dgm:cxn modelId="{5455F492-2A4D-446E-91FA-9E61EF8E9C61}" type="presOf" srcId="{3E0474F6-28FF-4E2A-9CE3-47E7144861B8}" destId="{B9ADED97-AC03-45B3-9A41-1A0C1968CFF9}"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CB427FF8-926E-4C22-B408-0E9CFDFAE9B4}" type="presOf" srcId="{49056608-284B-41CD-8ADB-3FDE4D94AB7D}" destId="{B9ADED97-AC03-45B3-9A41-1A0C1968CFF9}" srcOrd="0" destOrd="0" presId="urn:microsoft.com/office/officeart/2005/8/layout/vList5"/>
    <dgm:cxn modelId="{FAF6287A-A2BB-4378-81CC-3D4EFF784A89}" type="presOf" srcId="{A7B9EF29-C5CA-4E82-8A3E-0C9D22914FDC}" destId="{3E0795D4-4188-4949-AE94-2A791BCE1FD9}" srcOrd="0" destOrd="1"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4A3779F0-C988-4108-889A-512A7A0CC3D0}" type="presOf" srcId="{5CC6B45F-A032-48B1-AC89-723CB5731DA6}" destId="{6E4EC516-9261-48FC-9264-8581F4CB680E}" srcOrd="0" destOrd="0" presId="urn:microsoft.com/office/officeart/2005/8/layout/vList5"/>
    <dgm:cxn modelId="{2625B43B-6F82-4F52-A63D-3368D3DEE45B}" type="presOf" srcId="{95B352C6-C5E7-4083-93BA-0F69DDA0277F}" destId="{25BA6B9A-BD30-4EEB-BF01-6CE0D866FE92}" srcOrd="0" destOrd="0" presId="urn:microsoft.com/office/officeart/2005/8/layout/vList5"/>
    <dgm:cxn modelId="{91D960D4-F7A2-4071-B302-047EDA2B7582}" type="presOf" srcId="{A53ACEF5-5EE8-41E2-B6D6-C74C7F15C95C}" destId="{B9ADED97-AC03-45B3-9A41-1A0C1968CFF9}" srcOrd="0" destOrd="2" presId="urn:microsoft.com/office/officeart/2005/8/layout/vList5"/>
    <dgm:cxn modelId="{06EDD319-EBB2-4D17-B0A1-64949E3C4B6B}" type="presOf" srcId="{71E1A4A0-F53B-46FD-8EB5-746260CA76E9}" destId="{3E0795D4-4188-4949-AE94-2A791BCE1FD9}"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84B801B0-2E04-4816-812B-9A23DFCCAED4}" type="presOf" srcId="{80925EED-1441-4DF2-ADCA-DEFC0758046C}" destId="{F49AC9AF-1A8A-4450-AECD-FC6A5E789BAA}"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3EB291D8-8056-4E0F-9182-920A3EEAACF2}" type="presOf" srcId="{228F0A37-3996-4B64-9C0A-A54BCC3EA6BA}" destId="{BA4D8448-5FCE-4939-A31F-189DD0695EDD}" srcOrd="0" destOrd="0" presId="urn:microsoft.com/office/officeart/2005/8/layout/vList5"/>
    <dgm:cxn modelId="{A921F4E7-79AE-4791-B928-88F74E249FE8}" type="presParOf" srcId="{839DAA1E-965A-47C3-A43A-11065EE10B96}" destId="{1E15A9A0-54DC-418F-B00C-3E01C32BEAE1}" srcOrd="0" destOrd="0" presId="urn:microsoft.com/office/officeart/2005/8/layout/vList5"/>
    <dgm:cxn modelId="{81EBA2B3-27D4-4D79-973A-FF71923D55D7}" type="presParOf" srcId="{1E15A9A0-54DC-418F-B00C-3E01C32BEAE1}" destId="{F2F08941-5A68-411E-AD7F-6EF46FD56FBD}" srcOrd="0" destOrd="0" presId="urn:microsoft.com/office/officeart/2005/8/layout/vList5"/>
    <dgm:cxn modelId="{9D7A2036-09EA-4D4B-AEEE-1021298C7425}" type="presParOf" srcId="{1E15A9A0-54DC-418F-B00C-3E01C32BEAE1}" destId="{3E0795D4-4188-4949-AE94-2A791BCE1FD9}" srcOrd="1" destOrd="0" presId="urn:microsoft.com/office/officeart/2005/8/layout/vList5"/>
    <dgm:cxn modelId="{0005848F-1551-43C9-81F6-28E01B26F121}" type="presParOf" srcId="{839DAA1E-965A-47C3-A43A-11065EE10B96}" destId="{36D3ACFC-26E0-45C8-A1C3-BE3B78CF069D}" srcOrd="1" destOrd="0" presId="urn:microsoft.com/office/officeart/2005/8/layout/vList5"/>
    <dgm:cxn modelId="{B93E3345-53D8-445E-B3E7-A8225708B66A}" type="presParOf" srcId="{839DAA1E-965A-47C3-A43A-11065EE10B96}" destId="{FCA73F41-6637-4792-B146-2F852EE33B87}" srcOrd="2" destOrd="0" presId="urn:microsoft.com/office/officeart/2005/8/layout/vList5"/>
    <dgm:cxn modelId="{6C5D1771-8C3F-4DDE-A514-39E5DA3254D6}" type="presParOf" srcId="{FCA73F41-6637-4792-B146-2F852EE33B87}" destId="{6008EA90-E6B1-4498-ABE6-BCDF0E0818F9}" srcOrd="0" destOrd="0" presId="urn:microsoft.com/office/officeart/2005/8/layout/vList5"/>
    <dgm:cxn modelId="{591A3ABC-5D97-4EA5-AEC2-820F71F9F111}" type="presParOf" srcId="{FCA73F41-6637-4792-B146-2F852EE33B87}" destId="{B9ADED97-AC03-45B3-9A41-1A0C1968CFF9}" srcOrd="1" destOrd="0" presId="urn:microsoft.com/office/officeart/2005/8/layout/vList5"/>
    <dgm:cxn modelId="{E4BBDCF6-625D-4610-A2EB-5FCFF3C798EB}" type="presParOf" srcId="{839DAA1E-965A-47C3-A43A-11065EE10B96}" destId="{9C05B516-FF87-4BA1-96C0-F306926B9554}" srcOrd="3" destOrd="0" presId="urn:microsoft.com/office/officeart/2005/8/layout/vList5"/>
    <dgm:cxn modelId="{3184F48D-2248-40C9-9371-086244E3A835}" type="presParOf" srcId="{839DAA1E-965A-47C3-A43A-11065EE10B96}" destId="{E9DA7CE4-CC12-4EBB-A6B7-059B79834B7E}" srcOrd="4" destOrd="0" presId="urn:microsoft.com/office/officeart/2005/8/layout/vList5"/>
    <dgm:cxn modelId="{AC02E868-2449-419B-A881-8E98F333CFDF}" type="presParOf" srcId="{E9DA7CE4-CC12-4EBB-A6B7-059B79834B7E}" destId="{BA4D8448-5FCE-4939-A31F-189DD0695EDD}" srcOrd="0" destOrd="0" presId="urn:microsoft.com/office/officeart/2005/8/layout/vList5"/>
    <dgm:cxn modelId="{9B44279D-C68F-48FC-9AB9-25159430063B}" type="presParOf" srcId="{E9DA7CE4-CC12-4EBB-A6B7-059B79834B7E}" destId="{25BA6B9A-BD30-4EEB-BF01-6CE0D866FE92}" srcOrd="1" destOrd="0" presId="urn:microsoft.com/office/officeart/2005/8/layout/vList5"/>
    <dgm:cxn modelId="{C1C2CA8D-A957-4EAC-A354-EE3FB6824CC6}" type="presParOf" srcId="{839DAA1E-965A-47C3-A43A-11065EE10B96}" destId="{A24F7DA3-FC33-40E2-9E71-B9882F04CC75}" srcOrd="5" destOrd="0" presId="urn:microsoft.com/office/officeart/2005/8/layout/vList5"/>
    <dgm:cxn modelId="{C3393A0D-DFC0-4D05-9A72-FC413274083E}" type="presParOf" srcId="{839DAA1E-965A-47C3-A43A-11065EE10B96}" destId="{84F3CB32-DDE5-45B2-9385-0CD91C557D89}" srcOrd="6" destOrd="0" presId="urn:microsoft.com/office/officeart/2005/8/layout/vList5"/>
    <dgm:cxn modelId="{9B063FF9-F2F3-45F6-9055-32A0F50F493C}" type="presParOf" srcId="{84F3CB32-DDE5-45B2-9385-0CD91C557D89}" destId="{6E4EC516-9261-48FC-9264-8581F4CB680E}" srcOrd="0" destOrd="0" presId="urn:microsoft.com/office/officeart/2005/8/layout/vList5"/>
    <dgm:cxn modelId="{C806DE49-61FD-409F-940D-586C0DD828D9}"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556B51FB-4351-4129-BD00-74191962EA96}" type="presOf" srcId="{228F0A37-3996-4B64-9C0A-A54BCC3EA6BA}" destId="{BA4D8448-5FCE-4939-A31F-189DD0695EDD}" srcOrd="0" destOrd="0" presId="urn:microsoft.com/office/officeart/2005/8/layout/vList5"/>
    <dgm:cxn modelId="{FC33E81D-CF4E-4696-BE2C-6B04E631467D}" type="presOf" srcId="{C31BA4C3-B958-4E11-B7C3-C2A236A8EB3B}" destId="{6008EA90-E6B1-4498-ABE6-BCDF0E0818F9}" srcOrd="0" destOrd="0" presId="urn:microsoft.com/office/officeart/2005/8/layout/vList5"/>
    <dgm:cxn modelId="{50297AFA-D141-4FA2-B3E1-39EAA78EE464}" type="presOf" srcId="{9998B519-03B6-4420-B2B1-FE85B07BB863}" destId="{839DAA1E-965A-47C3-A43A-11065EE10B96}"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55BE35EB-B3AF-4084-A129-3A0FA12986FF}" type="presOf" srcId="{98AED58E-7E7C-416A-8A18-20CA5C05518C}" destId="{F2F08941-5A68-411E-AD7F-6EF46FD56FBD}" srcOrd="0" destOrd="0" presId="urn:microsoft.com/office/officeart/2005/8/layout/vList5"/>
    <dgm:cxn modelId="{B2F98954-084A-4A96-89DC-35F1CC6D94A6}" type="presOf" srcId="{43874DE2-1DC0-4883-A591-AD110EE9DF14}" destId="{25BA6B9A-BD30-4EEB-BF01-6CE0D866FE92}" srcOrd="0" destOrd="1" presId="urn:microsoft.com/office/officeart/2005/8/layout/vList5"/>
    <dgm:cxn modelId="{F62EB26C-790A-462C-8EF6-99DD1333AD44}" type="presOf" srcId="{A53ACEF5-5EE8-41E2-B6D6-C74C7F15C95C}" destId="{B9ADED97-AC03-45B3-9A41-1A0C1968CFF9}" srcOrd="0" destOrd="0" presId="urn:microsoft.com/office/officeart/2005/8/layout/vList5"/>
    <dgm:cxn modelId="{0772885E-604C-48DD-BE93-500D41857C14}" type="presOf" srcId="{5CC6B45F-A032-48B1-AC89-723CB5731DA6}" destId="{6E4EC516-9261-48FC-9264-8581F4CB680E}"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7EBA43FA-A525-4A56-A98C-94AAC4626296}" type="presOf" srcId="{95B352C6-C5E7-4083-93BA-0F69DDA0277F}" destId="{25BA6B9A-BD30-4EEB-BF01-6CE0D866FE92}" srcOrd="0" destOrd="0" presId="urn:microsoft.com/office/officeart/2005/8/layout/vList5"/>
    <dgm:cxn modelId="{CAF727E4-D542-4247-AD65-8A8B65C558C3}" srcId="{5CC6B45F-A032-48B1-AC89-723CB5731DA6}" destId="{D97E231E-031B-46C9-A8A2-F1D6BA54A966}" srcOrd="1" destOrd="0" parTransId="{909A826C-9F73-4C53-8AC0-A2E1AF556E62}" sibTransId="{9794DA9D-2B80-4DB0-B26D-76CEBDBD2E9A}"/>
    <dgm:cxn modelId="{7523EDE5-98FF-4B47-9D10-D8C808FDB79E}" type="presOf" srcId="{84683C11-3BF9-40F9-A2B3-057C1D7DB8C4}" destId="{3E0795D4-4188-4949-AE94-2A791BCE1FD9}"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5EA12200-9B72-48A6-9D33-7A66CAF97141}" type="presOf" srcId="{AAC83951-6A4A-433C-B085-A08DB739FBBD}" destId="{3E0795D4-4188-4949-AE94-2A791BCE1FD9}" srcOrd="0" destOrd="0" presId="urn:microsoft.com/office/officeart/2005/8/layout/vList5"/>
    <dgm:cxn modelId="{441FEAB6-3361-4503-9032-1139673E9C13}" srcId="{C31BA4C3-B958-4E11-B7C3-C2A236A8EB3B}" destId="{6B50C981-E288-4E84-B65E-F73EA9E70783}" srcOrd="1" destOrd="0" parTransId="{98EC2F18-54DC-498A-AFF1-F4D8E65A0818}" sibTransId="{418F8E3C-7138-4F1C-8BB7-B4BBDB57EAE7}"/>
    <dgm:cxn modelId="{75F4E45E-90DF-4D94-A6D3-FEC16F6AE649}" type="presOf" srcId="{6B50C981-E288-4E84-B65E-F73EA9E70783}" destId="{B9ADED97-AC03-45B3-9A41-1A0C1968CFF9}" srcOrd="0" destOrd="1" presId="urn:microsoft.com/office/officeart/2005/8/layout/vList5"/>
    <dgm:cxn modelId="{57C8737A-6474-440B-9DAC-D7BA9FE5DB5E}" type="presOf" srcId="{80925EED-1441-4DF2-ADCA-DEFC0758046C}" destId="{F49AC9AF-1A8A-4450-AECD-FC6A5E789BAA}" srcOrd="0" destOrd="0" presId="urn:microsoft.com/office/officeart/2005/8/layout/vList5"/>
    <dgm:cxn modelId="{3187C2AA-9BB4-48D9-9B84-98395BC69C2D}" type="presOf" srcId="{D97E231E-031B-46C9-A8A2-F1D6BA54A966}" destId="{F49AC9AF-1A8A-4450-AECD-FC6A5E789BAA}" srcOrd="0" destOrd="1"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15DE493D-4526-46A3-ADD5-72BBDBFF4979}" srcId="{5CC6B45F-A032-48B1-AC89-723CB5731DA6}" destId="{80925EED-1441-4DF2-ADCA-DEFC0758046C}" srcOrd="0" destOrd="0" parTransId="{9FA56589-B84D-4A74-AAFB-CDF4873928A2}" sibTransId="{4532DB22-9671-4E53-BF06-C9663B3EE1A1}"/>
    <dgm:cxn modelId="{49A0F32B-143D-4D1F-A952-F7CF6ACDE2B2}" type="presParOf" srcId="{839DAA1E-965A-47C3-A43A-11065EE10B96}" destId="{1E15A9A0-54DC-418F-B00C-3E01C32BEAE1}" srcOrd="0" destOrd="0" presId="urn:microsoft.com/office/officeart/2005/8/layout/vList5"/>
    <dgm:cxn modelId="{51024322-94D1-4ACB-B30B-BC907DF1B9F8}" type="presParOf" srcId="{1E15A9A0-54DC-418F-B00C-3E01C32BEAE1}" destId="{F2F08941-5A68-411E-AD7F-6EF46FD56FBD}" srcOrd="0" destOrd="0" presId="urn:microsoft.com/office/officeart/2005/8/layout/vList5"/>
    <dgm:cxn modelId="{A62516E9-AC9E-469B-AFC4-26AE934B291E}" type="presParOf" srcId="{1E15A9A0-54DC-418F-B00C-3E01C32BEAE1}" destId="{3E0795D4-4188-4949-AE94-2A791BCE1FD9}" srcOrd="1" destOrd="0" presId="urn:microsoft.com/office/officeart/2005/8/layout/vList5"/>
    <dgm:cxn modelId="{4798F999-6CE5-4198-82AD-71D5F682883E}" type="presParOf" srcId="{839DAA1E-965A-47C3-A43A-11065EE10B96}" destId="{36D3ACFC-26E0-45C8-A1C3-BE3B78CF069D}" srcOrd="1" destOrd="0" presId="urn:microsoft.com/office/officeart/2005/8/layout/vList5"/>
    <dgm:cxn modelId="{E003F42C-A53D-410D-AA5E-FFF574E99B7D}" type="presParOf" srcId="{839DAA1E-965A-47C3-A43A-11065EE10B96}" destId="{FCA73F41-6637-4792-B146-2F852EE33B87}" srcOrd="2" destOrd="0" presId="urn:microsoft.com/office/officeart/2005/8/layout/vList5"/>
    <dgm:cxn modelId="{62C85B1C-C10E-43B6-A473-4AF295395B33}" type="presParOf" srcId="{FCA73F41-6637-4792-B146-2F852EE33B87}" destId="{6008EA90-E6B1-4498-ABE6-BCDF0E0818F9}" srcOrd="0" destOrd="0" presId="urn:microsoft.com/office/officeart/2005/8/layout/vList5"/>
    <dgm:cxn modelId="{DB4C26BF-36FE-444C-A1B8-4D7EA56412DE}" type="presParOf" srcId="{FCA73F41-6637-4792-B146-2F852EE33B87}" destId="{B9ADED97-AC03-45B3-9A41-1A0C1968CFF9}" srcOrd="1" destOrd="0" presId="urn:microsoft.com/office/officeart/2005/8/layout/vList5"/>
    <dgm:cxn modelId="{AB8F2344-70E6-4E3B-B90A-6C544864ACDE}" type="presParOf" srcId="{839DAA1E-965A-47C3-A43A-11065EE10B96}" destId="{9C05B516-FF87-4BA1-96C0-F306926B9554}" srcOrd="3" destOrd="0" presId="urn:microsoft.com/office/officeart/2005/8/layout/vList5"/>
    <dgm:cxn modelId="{E77401B5-DF70-41CE-AAFC-2BB536A8EDF1}" type="presParOf" srcId="{839DAA1E-965A-47C3-A43A-11065EE10B96}" destId="{E9DA7CE4-CC12-4EBB-A6B7-059B79834B7E}" srcOrd="4" destOrd="0" presId="urn:microsoft.com/office/officeart/2005/8/layout/vList5"/>
    <dgm:cxn modelId="{A965067E-D6DF-42C2-8A90-ECC742A37B91}" type="presParOf" srcId="{E9DA7CE4-CC12-4EBB-A6B7-059B79834B7E}" destId="{BA4D8448-5FCE-4939-A31F-189DD0695EDD}" srcOrd="0" destOrd="0" presId="urn:microsoft.com/office/officeart/2005/8/layout/vList5"/>
    <dgm:cxn modelId="{48D85F43-71DF-4BA4-8DD6-0A0F9E8297F9}" type="presParOf" srcId="{E9DA7CE4-CC12-4EBB-A6B7-059B79834B7E}" destId="{25BA6B9A-BD30-4EEB-BF01-6CE0D866FE92}" srcOrd="1" destOrd="0" presId="urn:microsoft.com/office/officeart/2005/8/layout/vList5"/>
    <dgm:cxn modelId="{E73DF69C-8182-448D-B9D5-AA046F334FA9}" type="presParOf" srcId="{839DAA1E-965A-47C3-A43A-11065EE10B96}" destId="{A24F7DA3-FC33-40E2-9E71-B9882F04CC75}" srcOrd="5" destOrd="0" presId="urn:microsoft.com/office/officeart/2005/8/layout/vList5"/>
    <dgm:cxn modelId="{6C975205-6C26-4CF2-85D6-92FB3F52B26D}" type="presParOf" srcId="{839DAA1E-965A-47C3-A43A-11065EE10B96}" destId="{84F3CB32-DDE5-45B2-9385-0CD91C557D89}" srcOrd="6" destOrd="0" presId="urn:microsoft.com/office/officeart/2005/8/layout/vList5"/>
    <dgm:cxn modelId="{B41734FB-54F5-4745-8B9B-FAF754C2F6E5}" type="presParOf" srcId="{84F3CB32-DDE5-45B2-9385-0CD91C557D89}" destId="{6E4EC516-9261-48FC-9264-8581F4CB680E}" srcOrd="0" destOrd="0" presId="urn:microsoft.com/office/officeart/2005/8/layout/vList5"/>
    <dgm:cxn modelId="{121B2D42-4F48-425E-99D4-2A93D2D0F5BF}"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AFC296FA-6911-42BB-9027-E0BA3EE88A44}" type="presOf" srcId="{C31BA4C3-B958-4E11-B7C3-C2A236A8EB3B}" destId="{6008EA90-E6B1-4498-ABE6-BCDF0E0818F9}" srcOrd="0" destOrd="0" presId="urn:microsoft.com/office/officeart/2005/8/layout/vList5"/>
    <dgm:cxn modelId="{82C55DAF-C107-4C0D-9A60-FA30533A6D20}" type="presOf" srcId="{98AED58E-7E7C-416A-8A18-20CA5C05518C}" destId="{F2F08941-5A68-411E-AD7F-6EF46FD56FBD}"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E6CE1124-BC9E-4486-856F-8FA1051FB2C5}" type="presOf" srcId="{49056608-284B-41CD-8ADB-3FDE4D94AB7D}" destId="{B9ADED97-AC03-45B3-9A41-1A0C1968CFF9}" srcOrd="0" destOrd="0" presId="urn:microsoft.com/office/officeart/2005/8/layout/vList5"/>
    <dgm:cxn modelId="{2CF03199-5598-4C08-8825-5B6370BE0267}" type="presOf" srcId="{08DFE00A-129B-475A-877D-F98A2C8EA242}" destId="{25BA6B9A-BD30-4EEB-BF01-6CE0D866FE92}" srcOrd="0" destOrd="1" presId="urn:microsoft.com/office/officeart/2005/8/layout/vList5"/>
    <dgm:cxn modelId="{3D9D678C-0E41-4196-9FA5-3FBF3D01FECA}" type="presOf" srcId="{A7B9EF29-C5CA-4E82-8A3E-0C9D22914FDC}" destId="{3E0795D4-4188-4949-AE94-2A791BCE1FD9}" srcOrd="0" destOrd="1" presId="urn:microsoft.com/office/officeart/2005/8/layout/vList5"/>
    <dgm:cxn modelId="{2B57A8DA-B0B1-44EA-A201-A1494410DDFA}" type="presOf" srcId="{80B393ED-AF20-4EC7-B392-49545AD72664}" destId="{F49AC9AF-1A8A-4450-AECD-FC6A5E789BAA}" srcOrd="0" destOrd="1" presId="urn:microsoft.com/office/officeart/2005/8/layout/vList5"/>
    <dgm:cxn modelId="{A9F6BB70-3B54-4E14-9DBA-33C609228361}" type="presOf" srcId="{228F0A37-3996-4B64-9C0A-A54BCC3EA6BA}" destId="{BA4D8448-5FCE-4939-A31F-189DD0695EDD}" srcOrd="0" destOrd="0"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32DA1E74-78CB-48D8-81BE-7A638AD51EFC}" type="presOf" srcId="{A53ACEF5-5EE8-41E2-B6D6-C74C7F15C95C}" destId="{B9ADED97-AC03-45B3-9A41-1A0C1968CFF9}" srcOrd="0" destOrd="2" presId="urn:microsoft.com/office/officeart/2005/8/layout/vList5"/>
    <dgm:cxn modelId="{C0E01906-54F7-43A3-901D-C8C894096EE2}" type="presOf" srcId="{3E0474F6-28FF-4E2A-9CE3-47E7144861B8}" destId="{B9ADED97-AC03-45B3-9A41-1A0C1968CFF9}" srcOrd="0" destOrd="1" presId="urn:microsoft.com/office/officeart/2005/8/layout/vList5"/>
    <dgm:cxn modelId="{D628630D-F93C-4E9C-9DB2-FB29E61CE8E1}" type="presOf" srcId="{5CC6B45F-A032-48B1-AC89-723CB5731DA6}" destId="{6E4EC516-9261-48FC-9264-8581F4CB680E}"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B8981AE-9ABC-4AD7-A083-990EF902A4EF}" type="presOf" srcId="{80925EED-1441-4DF2-ADCA-DEFC0758046C}" destId="{F49AC9AF-1A8A-4450-AECD-FC6A5E789BAA}"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76520FF4-E816-40CD-A0A8-B513DC2C9807}" type="presOf" srcId="{71E1A4A0-F53B-46FD-8EB5-746260CA76E9}" destId="{3E0795D4-4188-4949-AE94-2A791BCE1FD9}" srcOrd="0" destOrd="0" presId="urn:microsoft.com/office/officeart/2005/8/layout/vList5"/>
    <dgm:cxn modelId="{454A878C-B675-4D22-9FB0-78C61DA4469E}" type="presOf" srcId="{95B352C6-C5E7-4083-93BA-0F69DDA0277F}" destId="{25BA6B9A-BD30-4EEB-BF01-6CE0D866FE92}"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04B2BF18-5FDF-450C-A781-87165B8F6938}" type="presOf" srcId="{9998B519-03B6-4420-B2B1-FE85B07BB863}" destId="{839DAA1E-965A-47C3-A43A-11065EE10B96}" srcOrd="0" destOrd="0"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8D9EB69F-9E80-4E1A-A963-51742929493A}" type="presParOf" srcId="{839DAA1E-965A-47C3-A43A-11065EE10B96}" destId="{1E15A9A0-54DC-418F-B00C-3E01C32BEAE1}" srcOrd="0" destOrd="0" presId="urn:microsoft.com/office/officeart/2005/8/layout/vList5"/>
    <dgm:cxn modelId="{28C742BD-87F2-49FD-BE96-825F101853FD}" type="presParOf" srcId="{1E15A9A0-54DC-418F-B00C-3E01C32BEAE1}" destId="{F2F08941-5A68-411E-AD7F-6EF46FD56FBD}" srcOrd="0" destOrd="0" presId="urn:microsoft.com/office/officeart/2005/8/layout/vList5"/>
    <dgm:cxn modelId="{4D924947-7429-4154-B2DA-9B4811CFB787}" type="presParOf" srcId="{1E15A9A0-54DC-418F-B00C-3E01C32BEAE1}" destId="{3E0795D4-4188-4949-AE94-2A791BCE1FD9}" srcOrd="1" destOrd="0" presId="urn:microsoft.com/office/officeart/2005/8/layout/vList5"/>
    <dgm:cxn modelId="{C7066730-E973-4A23-804B-5BBAC09B5977}" type="presParOf" srcId="{839DAA1E-965A-47C3-A43A-11065EE10B96}" destId="{36D3ACFC-26E0-45C8-A1C3-BE3B78CF069D}" srcOrd="1" destOrd="0" presId="urn:microsoft.com/office/officeart/2005/8/layout/vList5"/>
    <dgm:cxn modelId="{EE182A19-F195-4700-A09B-3E95BD00C3F7}" type="presParOf" srcId="{839DAA1E-965A-47C3-A43A-11065EE10B96}" destId="{FCA73F41-6637-4792-B146-2F852EE33B87}" srcOrd="2" destOrd="0" presId="urn:microsoft.com/office/officeart/2005/8/layout/vList5"/>
    <dgm:cxn modelId="{2C8D5879-B2EB-4BDC-B317-1F75E6FE2C8E}" type="presParOf" srcId="{FCA73F41-6637-4792-B146-2F852EE33B87}" destId="{6008EA90-E6B1-4498-ABE6-BCDF0E0818F9}" srcOrd="0" destOrd="0" presId="urn:microsoft.com/office/officeart/2005/8/layout/vList5"/>
    <dgm:cxn modelId="{DA8B32FA-35F6-4643-95A0-D81FA01294E3}" type="presParOf" srcId="{FCA73F41-6637-4792-B146-2F852EE33B87}" destId="{B9ADED97-AC03-45B3-9A41-1A0C1968CFF9}" srcOrd="1" destOrd="0" presId="urn:microsoft.com/office/officeart/2005/8/layout/vList5"/>
    <dgm:cxn modelId="{1CD65DF4-5D49-4D87-8F9F-DA4E540B7FEF}" type="presParOf" srcId="{839DAA1E-965A-47C3-A43A-11065EE10B96}" destId="{9C05B516-FF87-4BA1-96C0-F306926B9554}" srcOrd="3" destOrd="0" presId="urn:microsoft.com/office/officeart/2005/8/layout/vList5"/>
    <dgm:cxn modelId="{202859FC-D487-4CC3-8C90-549B334D286A}" type="presParOf" srcId="{839DAA1E-965A-47C3-A43A-11065EE10B96}" destId="{E9DA7CE4-CC12-4EBB-A6B7-059B79834B7E}" srcOrd="4" destOrd="0" presId="urn:microsoft.com/office/officeart/2005/8/layout/vList5"/>
    <dgm:cxn modelId="{6998C3A8-625D-4504-9FC8-D03276C76DCE}" type="presParOf" srcId="{E9DA7CE4-CC12-4EBB-A6B7-059B79834B7E}" destId="{BA4D8448-5FCE-4939-A31F-189DD0695EDD}" srcOrd="0" destOrd="0" presId="urn:microsoft.com/office/officeart/2005/8/layout/vList5"/>
    <dgm:cxn modelId="{57D57C63-7296-4104-9E9F-039CE9BDCF63}" type="presParOf" srcId="{E9DA7CE4-CC12-4EBB-A6B7-059B79834B7E}" destId="{25BA6B9A-BD30-4EEB-BF01-6CE0D866FE92}" srcOrd="1" destOrd="0" presId="urn:microsoft.com/office/officeart/2005/8/layout/vList5"/>
    <dgm:cxn modelId="{B3258260-D490-4AAE-826B-BDB312A653CD}" type="presParOf" srcId="{839DAA1E-965A-47C3-A43A-11065EE10B96}" destId="{A24F7DA3-FC33-40E2-9E71-B9882F04CC75}" srcOrd="5" destOrd="0" presId="urn:microsoft.com/office/officeart/2005/8/layout/vList5"/>
    <dgm:cxn modelId="{EA128582-0F91-4FFA-9BE1-ECCF8759193F}" type="presParOf" srcId="{839DAA1E-965A-47C3-A43A-11065EE10B96}" destId="{84F3CB32-DDE5-45B2-9385-0CD91C557D89}" srcOrd="6" destOrd="0" presId="urn:microsoft.com/office/officeart/2005/8/layout/vList5"/>
    <dgm:cxn modelId="{0504884F-308E-4365-A608-06A3B7DCE198}" type="presParOf" srcId="{84F3CB32-DDE5-45B2-9385-0CD91C557D89}" destId="{6E4EC516-9261-48FC-9264-8581F4CB680E}" srcOrd="0" destOrd="0" presId="urn:microsoft.com/office/officeart/2005/8/layout/vList5"/>
    <dgm:cxn modelId="{695784EE-35B8-482A-AE85-7AD07EFB926C}"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47E78420-E5A0-4385-AE4D-E08851C68657}" type="presOf" srcId="{6B50C981-E288-4E84-B65E-F73EA9E70783}" destId="{B9ADED97-AC03-45B3-9A41-1A0C1968CFF9}" srcOrd="0" destOrd="1"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2A6791AF-8FB5-483D-AE02-679C931B7CA3}" type="presOf" srcId="{98AED58E-7E7C-416A-8A18-20CA5C05518C}" destId="{F2F08941-5A68-411E-AD7F-6EF46FD56FBD}" srcOrd="0" destOrd="0" presId="urn:microsoft.com/office/officeart/2005/8/layout/vList5"/>
    <dgm:cxn modelId="{E06EDA38-A3B7-4520-9E94-C76453223A44}" type="presOf" srcId="{D97E231E-031B-46C9-A8A2-F1D6BA54A966}" destId="{F49AC9AF-1A8A-4450-AECD-FC6A5E789BAA}" srcOrd="0" destOrd="1" presId="urn:microsoft.com/office/officeart/2005/8/layout/vList5"/>
    <dgm:cxn modelId="{1B284492-3205-4033-A0A2-DDCE57884B4B}" type="presOf" srcId="{AAC83951-6A4A-433C-B085-A08DB739FBBD}" destId="{3E0795D4-4188-4949-AE94-2A791BCE1FD9}"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CAF727E4-D542-4247-AD65-8A8B65C558C3}" srcId="{5CC6B45F-A032-48B1-AC89-723CB5731DA6}" destId="{D97E231E-031B-46C9-A8A2-F1D6BA54A966}" srcOrd="1" destOrd="0" parTransId="{909A826C-9F73-4C53-8AC0-A2E1AF556E62}" sibTransId="{9794DA9D-2B80-4DB0-B26D-76CEBDBD2E9A}"/>
    <dgm:cxn modelId="{FE48C8A0-0C53-4088-BEC5-17739F35BA74}" type="presOf" srcId="{84683C11-3BF9-40F9-A2B3-057C1D7DB8C4}" destId="{3E0795D4-4188-4949-AE94-2A791BCE1FD9}" srcOrd="0" destOrd="1" presId="urn:microsoft.com/office/officeart/2005/8/layout/vList5"/>
    <dgm:cxn modelId="{7DA9AF71-408D-4F5D-A13E-6E6CF392B513}" type="presOf" srcId="{C31BA4C3-B958-4E11-B7C3-C2A236A8EB3B}" destId="{6008EA90-E6B1-4498-ABE6-BCDF0E0818F9}" srcOrd="0" destOrd="0" presId="urn:microsoft.com/office/officeart/2005/8/layout/vList5"/>
    <dgm:cxn modelId="{BCF754FC-EBD5-4263-BB1C-9EB68AD81D22}" type="presOf" srcId="{5CC6B45F-A032-48B1-AC89-723CB5731DA6}" destId="{6E4EC516-9261-48FC-9264-8581F4CB680E}"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D1455889-D5D1-4CEC-B3DF-CA59DF10F994}" type="presOf" srcId="{228F0A37-3996-4B64-9C0A-A54BCC3EA6BA}" destId="{BA4D8448-5FCE-4939-A31F-189DD0695EDD}" srcOrd="0" destOrd="0" presId="urn:microsoft.com/office/officeart/2005/8/layout/vList5"/>
    <dgm:cxn modelId="{6724A377-D6F6-4170-88C0-9F94C5A4CF1E}" type="presOf" srcId="{9998B519-03B6-4420-B2B1-FE85B07BB863}" destId="{839DAA1E-965A-47C3-A43A-11065EE10B96}" srcOrd="0" destOrd="0" presId="urn:microsoft.com/office/officeart/2005/8/layout/vList5"/>
    <dgm:cxn modelId="{441FEAB6-3361-4503-9032-1139673E9C13}" srcId="{C31BA4C3-B958-4E11-B7C3-C2A236A8EB3B}" destId="{6B50C981-E288-4E84-B65E-F73EA9E70783}" srcOrd="1" destOrd="0" parTransId="{98EC2F18-54DC-498A-AFF1-F4D8E65A0818}" sibTransId="{418F8E3C-7138-4F1C-8BB7-B4BBDB57EAE7}"/>
    <dgm:cxn modelId="{16B5CBD7-8766-4885-A104-0ED5FE46837B}" type="presOf" srcId="{95B352C6-C5E7-4083-93BA-0F69DDA0277F}" destId="{25BA6B9A-BD30-4EEB-BF01-6CE0D866FE92}" srcOrd="0" destOrd="0" presId="urn:microsoft.com/office/officeart/2005/8/layout/vList5"/>
    <dgm:cxn modelId="{61DBEB68-68FB-4FB5-81D1-4069123B17E9}" type="presOf" srcId="{43874DE2-1DC0-4883-A591-AD110EE9DF14}" destId="{25BA6B9A-BD30-4EEB-BF01-6CE0D866FE92}" srcOrd="0" destOrd="1"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E6ACA62F-E519-4C0D-AB73-9905300793E9}" type="presOf" srcId="{80925EED-1441-4DF2-ADCA-DEFC0758046C}" destId="{F49AC9AF-1A8A-4450-AECD-FC6A5E789BAA}" srcOrd="0" destOrd="0" presId="urn:microsoft.com/office/officeart/2005/8/layout/vList5"/>
    <dgm:cxn modelId="{AA539FB3-2D03-40BE-ABA8-71F16ABD2160}" type="presOf" srcId="{A53ACEF5-5EE8-41E2-B6D6-C74C7F15C95C}" destId="{B9ADED97-AC03-45B3-9A41-1A0C1968CFF9}" srcOrd="0" destOrd="0" presId="urn:microsoft.com/office/officeart/2005/8/layout/vList5"/>
    <dgm:cxn modelId="{15DE493D-4526-46A3-ADD5-72BBDBFF4979}" srcId="{5CC6B45F-A032-48B1-AC89-723CB5731DA6}" destId="{80925EED-1441-4DF2-ADCA-DEFC0758046C}" srcOrd="0" destOrd="0" parTransId="{9FA56589-B84D-4A74-AAFB-CDF4873928A2}" sibTransId="{4532DB22-9671-4E53-BF06-C9663B3EE1A1}"/>
    <dgm:cxn modelId="{24BCCA2E-6D53-4AB3-8F1F-683806379955}" type="presParOf" srcId="{839DAA1E-965A-47C3-A43A-11065EE10B96}" destId="{1E15A9A0-54DC-418F-B00C-3E01C32BEAE1}" srcOrd="0" destOrd="0" presId="urn:microsoft.com/office/officeart/2005/8/layout/vList5"/>
    <dgm:cxn modelId="{222CA910-360D-420C-B2E8-CA8014CBFF2C}" type="presParOf" srcId="{1E15A9A0-54DC-418F-B00C-3E01C32BEAE1}" destId="{F2F08941-5A68-411E-AD7F-6EF46FD56FBD}" srcOrd="0" destOrd="0" presId="urn:microsoft.com/office/officeart/2005/8/layout/vList5"/>
    <dgm:cxn modelId="{3196FAF2-5698-48BF-932B-C1B73B447CDE}" type="presParOf" srcId="{1E15A9A0-54DC-418F-B00C-3E01C32BEAE1}" destId="{3E0795D4-4188-4949-AE94-2A791BCE1FD9}" srcOrd="1" destOrd="0" presId="urn:microsoft.com/office/officeart/2005/8/layout/vList5"/>
    <dgm:cxn modelId="{C2AEFCFF-F933-4E35-909F-633BA809BDA5}" type="presParOf" srcId="{839DAA1E-965A-47C3-A43A-11065EE10B96}" destId="{36D3ACFC-26E0-45C8-A1C3-BE3B78CF069D}" srcOrd="1" destOrd="0" presId="urn:microsoft.com/office/officeart/2005/8/layout/vList5"/>
    <dgm:cxn modelId="{14366338-85E6-454D-B3BB-D5D2DE299D99}" type="presParOf" srcId="{839DAA1E-965A-47C3-A43A-11065EE10B96}" destId="{FCA73F41-6637-4792-B146-2F852EE33B87}" srcOrd="2" destOrd="0" presId="urn:microsoft.com/office/officeart/2005/8/layout/vList5"/>
    <dgm:cxn modelId="{8914E82D-B26A-43C7-81C2-B4F26FFBE250}" type="presParOf" srcId="{FCA73F41-6637-4792-B146-2F852EE33B87}" destId="{6008EA90-E6B1-4498-ABE6-BCDF0E0818F9}" srcOrd="0" destOrd="0" presId="urn:microsoft.com/office/officeart/2005/8/layout/vList5"/>
    <dgm:cxn modelId="{64832100-BE72-4323-BD9D-F3480A8B1692}" type="presParOf" srcId="{FCA73F41-6637-4792-B146-2F852EE33B87}" destId="{B9ADED97-AC03-45B3-9A41-1A0C1968CFF9}" srcOrd="1" destOrd="0" presId="urn:microsoft.com/office/officeart/2005/8/layout/vList5"/>
    <dgm:cxn modelId="{1529E2F3-FC83-4568-8E79-14BB0F86ED65}" type="presParOf" srcId="{839DAA1E-965A-47C3-A43A-11065EE10B96}" destId="{9C05B516-FF87-4BA1-96C0-F306926B9554}" srcOrd="3" destOrd="0" presId="urn:microsoft.com/office/officeart/2005/8/layout/vList5"/>
    <dgm:cxn modelId="{86E85F1C-81D7-4851-B102-225DB668E3E9}" type="presParOf" srcId="{839DAA1E-965A-47C3-A43A-11065EE10B96}" destId="{E9DA7CE4-CC12-4EBB-A6B7-059B79834B7E}" srcOrd="4" destOrd="0" presId="urn:microsoft.com/office/officeart/2005/8/layout/vList5"/>
    <dgm:cxn modelId="{B7B3E650-3FF0-411C-8C12-5DC60B83E9AF}" type="presParOf" srcId="{E9DA7CE4-CC12-4EBB-A6B7-059B79834B7E}" destId="{BA4D8448-5FCE-4939-A31F-189DD0695EDD}" srcOrd="0" destOrd="0" presId="urn:microsoft.com/office/officeart/2005/8/layout/vList5"/>
    <dgm:cxn modelId="{AC8B6F53-844C-44A9-A29C-A5D65C252D97}" type="presParOf" srcId="{E9DA7CE4-CC12-4EBB-A6B7-059B79834B7E}" destId="{25BA6B9A-BD30-4EEB-BF01-6CE0D866FE92}" srcOrd="1" destOrd="0" presId="urn:microsoft.com/office/officeart/2005/8/layout/vList5"/>
    <dgm:cxn modelId="{2E37CA39-74A0-4B31-B92B-AC753272102B}" type="presParOf" srcId="{839DAA1E-965A-47C3-A43A-11065EE10B96}" destId="{A24F7DA3-FC33-40E2-9E71-B9882F04CC75}" srcOrd="5" destOrd="0" presId="urn:microsoft.com/office/officeart/2005/8/layout/vList5"/>
    <dgm:cxn modelId="{F40AB355-A3C1-4DA2-9001-90DE6BC90C1A}" type="presParOf" srcId="{839DAA1E-965A-47C3-A43A-11065EE10B96}" destId="{84F3CB32-DDE5-45B2-9385-0CD91C557D89}" srcOrd="6" destOrd="0" presId="urn:microsoft.com/office/officeart/2005/8/layout/vList5"/>
    <dgm:cxn modelId="{2D4885C5-33D4-4B72-A6EF-383D813CD320}" type="presParOf" srcId="{84F3CB32-DDE5-45B2-9385-0CD91C557D89}" destId="{6E4EC516-9261-48FC-9264-8581F4CB680E}" srcOrd="0" destOrd="0" presId="urn:microsoft.com/office/officeart/2005/8/layout/vList5"/>
    <dgm:cxn modelId="{676C90A8-69AF-42E3-A051-3CC796F0A621}"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7F5417CF-7124-4DD3-9F44-F6719D81FC04}" type="presOf" srcId="{71E1A4A0-F53B-46FD-8EB5-746260CA76E9}" destId="{3E0795D4-4188-4949-AE94-2A791BCE1FD9}" srcOrd="0" destOrd="0" presId="urn:microsoft.com/office/officeart/2005/8/layout/vList5"/>
    <dgm:cxn modelId="{A4DDADF2-C554-4120-9E01-E25FC99483FE}" type="presOf" srcId="{3E0474F6-28FF-4E2A-9CE3-47E7144861B8}" destId="{B9ADED97-AC03-45B3-9A41-1A0C1968CFF9}" srcOrd="0" destOrd="1" presId="urn:microsoft.com/office/officeart/2005/8/layout/vList5"/>
    <dgm:cxn modelId="{2D19582F-4A53-4061-9C06-E43A27DCEFDC}" type="presOf" srcId="{5CC6B45F-A032-48B1-AC89-723CB5731DA6}" destId="{6E4EC516-9261-48FC-9264-8581F4CB680E}" srcOrd="0" destOrd="0" presId="urn:microsoft.com/office/officeart/2005/8/layout/vList5"/>
    <dgm:cxn modelId="{5F29A240-A8AF-4DA3-8ABE-2426956B0AD8}" type="presOf" srcId="{C31BA4C3-B958-4E11-B7C3-C2A236A8EB3B}" destId="{6008EA90-E6B1-4498-ABE6-BCDF0E0818F9}"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6B37179A-2345-465B-9E83-4E90CDCCC814}" type="presOf" srcId="{49056608-284B-41CD-8ADB-3FDE4D94AB7D}" destId="{B9ADED97-AC03-45B3-9A41-1A0C1968CFF9}" srcOrd="0" destOrd="0" presId="urn:microsoft.com/office/officeart/2005/8/layout/vList5"/>
    <dgm:cxn modelId="{555F43D0-8B2B-45EB-ACDF-A6B3AD7BDF0D}" type="presOf" srcId="{95B352C6-C5E7-4083-93BA-0F69DDA0277F}" destId="{25BA6B9A-BD30-4EEB-BF01-6CE0D866FE92}" srcOrd="0" destOrd="0"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AFEC535F-2635-47D6-A525-A750B15B4ADE}" type="presOf" srcId="{A53ACEF5-5EE8-41E2-B6D6-C74C7F15C95C}" destId="{B9ADED97-AC03-45B3-9A41-1A0C1968CFF9}" srcOrd="0" destOrd="2" presId="urn:microsoft.com/office/officeart/2005/8/layout/vList5"/>
    <dgm:cxn modelId="{DF44BAD9-0BB4-482C-8383-AB8E7BFB246B}" type="presOf" srcId="{9998B519-03B6-4420-B2B1-FE85B07BB863}" destId="{839DAA1E-965A-47C3-A43A-11065EE10B96}" srcOrd="0" destOrd="0"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BFBC8835-B9B6-4D1D-9B10-B09DFABDD85F}" type="presOf" srcId="{98AED58E-7E7C-416A-8A18-20CA5C05518C}" destId="{F2F08941-5A68-411E-AD7F-6EF46FD56FBD}" srcOrd="0" destOrd="0" presId="urn:microsoft.com/office/officeart/2005/8/layout/vList5"/>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04D81771-1FC7-49D0-A1C7-516694FF51F6}" type="presOf" srcId="{228F0A37-3996-4B64-9C0A-A54BCC3EA6BA}" destId="{BA4D8448-5FCE-4939-A31F-189DD0695EDD}" srcOrd="0" destOrd="0" presId="urn:microsoft.com/office/officeart/2005/8/layout/vList5"/>
    <dgm:cxn modelId="{90B7E631-9ECF-49AC-9E33-4B76D492D2C0}" type="presOf" srcId="{80925EED-1441-4DF2-ADCA-DEFC0758046C}" destId="{F49AC9AF-1A8A-4450-AECD-FC6A5E789BAA}" srcOrd="0" destOrd="0" presId="urn:microsoft.com/office/officeart/2005/8/layout/vList5"/>
    <dgm:cxn modelId="{0D601700-EDDF-4A01-8B13-2F84833296C9}" type="presOf" srcId="{08DFE00A-129B-475A-877D-F98A2C8EA242}" destId="{25BA6B9A-BD30-4EEB-BF01-6CE0D866FE92}" srcOrd="0" destOrd="1" presId="urn:microsoft.com/office/officeart/2005/8/layout/vList5"/>
    <dgm:cxn modelId="{E491EA58-2006-471C-8731-99AFC07B2ACB}" type="presOf" srcId="{80B393ED-AF20-4EC7-B392-49545AD72664}" destId="{F49AC9AF-1A8A-4450-AECD-FC6A5E789BAA}" srcOrd="0" destOrd="1"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17CB925B-64A7-4707-A250-6C8ECD1966F4}" type="presOf" srcId="{A7B9EF29-C5CA-4E82-8A3E-0C9D22914FDC}" destId="{3E0795D4-4188-4949-AE94-2A791BCE1FD9}" srcOrd="0" destOrd="1"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12C4E7A9-D7C2-46B1-8EEB-E1461B34D996}" type="presParOf" srcId="{839DAA1E-965A-47C3-A43A-11065EE10B96}" destId="{1E15A9A0-54DC-418F-B00C-3E01C32BEAE1}" srcOrd="0" destOrd="0" presId="urn:microsoft.com/office/officeart/2005/8/layout/vList5"/>
    <dgm:cxn modelId="{1EE21BC5-5F7F-4CED-AEF0-48322D954036}" type="presParOf" srcId="{1E15A9A0-54DC-418F-B00C-3E01C32BEAE1}" destId="{F2F08941-5A68-411E-AD7F-6EF46FD56FBD}" srcOrd="0" destOrd="0" presId="urn:microsoft.com/office/officeart/2005/8/layout/vList5"/>
    <dgm:cxn modelId="{EC2CB271-C7B2-411B-B680-D3F97873F89A}" type="presParOf" srcId="{1E15A9A0-54DC-418F-B00C-3E01C32BEAE1}" destId="{3E0795D4-4188-4949-AE94-2A791BCE1FD9}" srcOrd="1" destOrd="0" presId="urn:microsoft.com/office/officeart/2005/8/layout/vList5"/>
    <dgm:cxn modelId="{16B1D6E9-783F-4409-98F1-1947C961E87F}" type="presParOf" srcId="{839DAA1E-965A-47C3-A43A-11065EE10B96}" destId="{36D3ACFC-26E0-45C8-A1C3-BE3B78CF069D}" srcOrd="1" destOrd="0" presId="urn:microsoft.com/office/officeart/2005/8/layout/vList5"/>
    <dgm:cxn modelId="{B9996B3E-BF3C-4BA2-BF68-11B3745C56DC}" type="presParOf" srcId="{839DAA1E-965A-47C3-A43A-11065EE10B96}" destId="{FCA73F41-6637-4792-B146-2F852EE33B87}" srcOrd="2" destOrd="0" presId="urn:microsoft.com/office/officeart/2005/8/layout/vList5"/>
    <dgm:cxn modelId="{E9638E15-0748-4944-8E96-95F263BEEF11}" type="presParOf" srcId="{FCA73F41-6637-4792-B146-2F852EE33B87}" destId="{6008EA90-E6B1-4498-ABE6-BCDF0E0818F9}" srcOrd="0" destOrd="0" presId="urn:microsoft.com/office/officeart/2005/8/layout/vList5"/>
    <dgm:cxn modelId="{3C10541E-B320-4897-B80A-88D4E9A88B05}" type="presParOf" srcId="{FCA73F41-6637-4792-B146-2F852EE33B87}" destId="{B9ADED97-AC03-45B3-9A41-1A0C1968CFF9}" srcOrd="1" destOrd="0" presId="urn:microsoft.com/office/officeart/2005/8/layout/vList5"/>
    <dgm:cxn modelId="{2D90E9EE-2908-46F8-9C90-36C79954B71E}" type="presParOf" srcId="{839DAA1E-965A-47C3-A43A-11065EE10B96}" destId="{9C05B516-FF87-4BA1-96C0-F306926B9554}" srcOrd="3" destOrd="0" presId="urn:microsoft.com/office/officeart/2005/8/layout/vList5"/>
    <dgm:cxn modelId="{15D1E9AA-4219-4E4C-9FD8-5A93B10CAB8E}" type="presParOf" srcId="{839DAA1E-965A-47C3-A43A-11065EE10B96}" destId="{E9DA7CE4-CC12-4EBB-A6B7-059B79834B7E}" srcOrd="4" destOrd="0" presId="urn:microsoft.com/office/officeart/2005/8/layout/vList5"/>
    <dgm:cxn modelId="{8713066A-1F12-47A5-94C9-7EF28A472BE4}" type="presParOf" srcId="{E9DA7CE4-CC12-4EBB-A6B7-059B79834B7E}" destId="{BA4D8448-5FCE-4939-A31F-189DD0695EDD}" srcOrd="0" destOrd="0" presId="urn:microsoft.com/office/officeart/2005/8/layout/vList5"/>
    <dgm:cxn modelId="{216C7B61-AED4-4016-9076-11E723965A48}" type="presParOf" srcId="{E9DA7CE4-CC12-4EBB-A6B7-059B79834B7E}" destId="{25BA6B9A-BD30-4EEB-BF01-6CE0D866FE92}" srcOrd="1" destOrd="0" presId="urn:microsoft.com/office/officeart/2005/8/layout/vList5"/>
    <dgm:cxn modelId="{A078C9AC-98A7-44AC-B956-73DEBCC7F0D3}" type="presParOf" srcId="{839DAA1E-965A-47C3-A43A-11065EE10B96}" destId="{A24F7DA3-FC33-40E2-9E71-B9882F04CC75}" srcOrd="5" destOrd="0" presId="urn:microsoft.com/office/officeart/2005/8/layout/vList5"/>
    <dgm:cxn modelId="{2D12812E-0C9B-421B-9122-04D256D1013A}" type="presParOf" srcId="{839DAA1E-965A-47C3-A43A-11065EE10B96}" destId="{84F3CB32-DDE5-45B2-9385-0CD91C557D89}" srcOrd="6" destOrd="0" presId="urn:microsoft.com/office/officeart/2005/8/layout/vList5"/>
    <dgm:cxn modelId="{B395B5F9-1C57-499D-9731-C4EDF343A274}" type="presParOf" srcId="{84F3CB32-DDE5-45B2-9385-0CD91C557D89}" destId="{6E4EC516-9261-48FC-9264-8581F4CB680E}" srcOrd="0" destOrd="0" presId="urn:microsoft.com/office/officeart/2005/8/layout/vList5"/>
    <dgm:cxn modelId="{9401E1C6-2EDA-4A28-8FE3-F8BFF23089D0}"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Ketterä testaus</a:t>
          </a:r>
          <a:endParaRPr lang="en-US" sz="1600" dirty="0"/>
        </a:p>
      </dgm:t>
    </dgm:pt>
    <dgm:pt modelId="{0A6D6936-CA06-4D83-B067-BEB710A210C1}" type="parTrans" cxnId="{23D9DC19-F53F-4AF4-BCC2-AD7BE65BF063}">
      <dgm:prSet/>
      <dgm:spPr/>
      <dgm:t>
        <a:bodyPr/>
        <a:lstStyle/>
        <a:p>
          <a:endParaRPr lang="fi-FI" sz="1200"/>
        </a:p>
      </dgm:t>
    </dgm:pt>
    <dgm:pt modelId="{7B7043EF-82C6-49F3-872D-29988068644C}" type="sibTrans" cxnId="{23D9DC19-F53F-4AF4-BCC2-AD7BE65BF063}">
      <dgm:prSet/>
      <dgm:spPr/>
      <dgm:t>
        <a:bodyPr/>
        <a:lstStyle/>
        <a:p>
          <a:endParaRPr lang="fi-FI" sz="1200"/>
        </a:p>
      </dgm:t>
    </dgm:pt>
    <dgm:pt modelId="{AAC83951-6A4A-433C-B085-A08DB739FBBD}">
      <dgm:prSet custT="1"/>
      <dgm:spPr/>
      <dgm:t>
        <a:bodyPr/>
        <a:lstStyle/>
        <a:p>
          <a:pPr rtl="0"/>
          <a:r>
            <a:rPr lang="fi-FI" sz="1600" dirty="0" smtClean="0"/>
            <a:t>Määritelmä</a:t>
          </a:r>
          <a:endParaRPr lang="fi-FI" sz="1600" dirty="0"/>
        </a:p>
      </dgm:t>
    </dgm:pt>
    <dgm:pt modelId="{2BF6B2CC-AA25-4549-A898-F3604A439DD7}" type="parTrans" cxnId="{F17EA09D-5DE0-47D7-B2D3-D11705DC6398}">
      <dgm:prSet/>
      <dgm:spPr/>
      <dgm:t>
        <a:bodyPr/>
        <a:lstStyle/>
        <a:p>
          <a:endParaRPr lang="fi-FI" sz="1200"/>
        </a:p>
      </dgm:t>
    </dgm:pt>
    <dgm:pt modelId="{FB7D8C4B-4357-478F-9A19-AEDF772FC6B7}" type="sibTrans" cxnId="{F17EA09D-5DE0-47D7-B2D3-D11705DC6398}">
      <dgm:prSet/>
      <dgm:spPr/>
      <dgm:t>
        <a:bodyPr/>
        <a:lstStyle/>
        <a:p>
          <a:endParaRPr lang="fi-FI" sz="1200"/>
        </a:p>
      </dgm:t>
    </dgm:pt>
    <dgm:pt modelId="{228F0A37-3996-4B64-9C0A-A54BCC3EA6BA}">
      <dgm:prSet custT="1"/>
      <dgm:spPr/>
      <dgm:t>
        <a:bodyPr/>
        <a:lstStyle/>
        <a:p>
          <a:pPr rtl="0"/>
          <a:r>
            <a:rPr lang="fi-FI" sz="1600" dirty="0" smtClean="0"/>
            <a:t>Ketterä suunnittelu</a:t>
          </a:r>
          <a:endParaRPr lang="en-US" sz="1600" dirty="0"/>
        </a:p>
      </dgm:t>
    </dgm:pt>
    <dgm:pt modelId="{80E2191C-1D1A-47AA-842D-64009A32EDB7}" type="parTrans" cxnId="{251371D5-2C5E-4EBD-ACCC-FE35F7543D60}">
      <dgm:prSet/>
      <dgm:spPr/>
      <dgm:t>
        <a:bodyPr/>
        <a:lstStyle/>
        <a:p>
          <a:endParaRPr lang="fi-FI" sz="1200"/>
        </a:p>
      </dgm:t>
    </dgm:pt>
    <dgm:pt modelId="{56C0928A-7EA9-42C0-9A29-47825D899D4F}" type="sibTrans" cxnId="{251371D5-2C5E-4EBD-ACCC-FE35F7543D60}">
      <dgm:prSet/>
      <dgm:spPr/>
      <dgm:t>
        <a:bodyPr/>
        <a:lstStyle/>
        <a:p>
          <a:endParaRPr lang="fi-FI" sz="1200"/>
        </a:p>
      </dgm:t>
    </dgm:pt>
    <dgm:pt modelId="{80925EED-1441-4DF2-ADCA-DEFC0758046C}">
      <dgm:prSet custT="1"/>
      <dgm:spPr/>
      <dgm:t>
        <a:bodyPr/>
        <a:lstStyle/>
        <a:p>
          <a:pPr rtl="0"/>
          <a:r>
            <a:rPr lang="fi-FI" sz="1600" dirty="0" smtClean="0"/>
            <a:t>Itsetuntemus</a:t>
          </a:r>
          <a:endParaRPr lang="fi-FI" sz="1600" dirty="0"/>
        </a:p>
      </dgm:t>
    </dgm:pt>
    <dgm:pt modelId="{4532DB22-9671-4E53-BF06-C9663B3EE1A1}" type="sibTrans" cxnId="{15DE493D-4526-46A3-ADD5-72BBDBFF4979}">
      <dgm:prSet/>
      <dgm:spPr/>
      <dgm:t>
        <a:bodyPr/>
        <a:lstStyle/>
        <a:p>
          <a:endParaRPr lang="fi-FI" sz="1200"/>
        </a:p>
      </dgm:t>
    </dgm:pt>
    <dgm:pt modelId="{9FA56589-B84D-4A74-AAFB-CDF4873928A2}" type="parTrans" cxnId="{15DE493D-4526-46A3-ADD5-72BBDBFF4979}">
      <dgm:prSet/>
      <dgm:spPr/>
      <dgm:t>
        <a:bodyPr/>
        <a:lstStyle/>
        <a:p>
          <a:endParaRPr lang="fi-FI" sz="1200"/>
        </a:p>
      </dgm:t>
    </dgm:pt>
    <dgm:pt modelId="{C31BA4C3-B958-4E11-B7C3-C2A236A8EB3B}">
      <dgm:prSet custT="1"/>
      <dgm:spPr/>
      <dgm:t>
        <a:bodyPr/>
        <a:lstStyle/>
        <a:p>
          <a:pPr rtl="0"/>
          <a:r>
            <a:rPr lang="fi-FI" sz="1600" dirty="0" smtClean="0"/>
            <a:t>Ketterät menetelmät</a:t>
          </a:r>
          <a:endParaRPr lang="en-US" sz="1600" dirty="0"/>
        </a:p>
      </dgm:t>
    </dgm:pt>
    <dgm:pt modelId="{135DAC36-0DF2-4398-951B-28CFA21B8788}" type="parTrans" cxnId="{3DC6CCA9-3289-49ED-AD50-FA399B7CF3FD}">
      <dgm:prSet/>
      <dgm:spPr/>
      <dgm:t>
        <a:bodyPr/>
        <a:lstStyle/>
        <a:p>
          <a:endParaRPr lang="fi-FI" sz="1200"/>
        </a:p>
      </dgm:t>
    </dgm:pt>
    <dgm:pt modelId="{5E03A5A6-63E6-4AAD-9C85-3AFA2420A86B}" type="sibTrans" cxnId="{3DC6CCA9-3289-49ED-AD50-FA399B7CF3FD}">
      <dgm:prSet/>
      <dgm:spPr/>
      <dgm:t>
        <a:bodyPr/>
        <a:lstStyle/>
        <a:p>
          <a:endParaRPr lang="fi-FI" sz="1200"/>
        </a:p>
      </dgm:t>
    </dgm:pt>
    <dgm:pt modelId="{A53ACEF5-5EE8-41E2-B6D6-C74C7F15C95C}">
      <dgm:prSet custT="1"/>
      <dgm:spPr/>
      <dgm:t>
        <a:bodyPr/>
        <a:lstStyle/>
        <a:p>
          <a:pPr rtl="0"/>
          <a:r>
            <a:rPr lang="fi-FI" sz="1600" dirty="0" smtClean="0"/>
            <a:t>Scrum, XP ja muut</a:t>
          </a:r>
          <a:endParaRPr lang="fi-FI" sz="1600" dirty="0"/>
        </a:p>
      </dgm:t>
    </dgm:pt>
    <dgm:pt modelId="{69560B9A-A60F-4637-A32B-636AAAC54DB0}" type="parTrans" cxnId="{19C61E4D-528D-4F66-B9ED-BF77AAA08D82}">
      <dgm:prSet/>
      <dgm:spPr/>
      <dgm:t>
        <a:bodyPr/>
        <a:lstStyle/>
        <a:p>
          <a:endParaRPr lang="fi-FI" sz="1200"/>
        </a:p>
      </dgm:t>
    </dgm:pt>
    <dgm:pt modelId="{77146491-8700-47AB-ABF7-3BE839DD8C89}" type="sibTrans" cxnId="{19C61E4D-528D-4F66-B9ED-BF77AAA08D82}">
      <dgm:prSet/>
      <dgm:spPr/>
      <dgm:t>
        <a:bodyPr/>
        <a:lstStyle/>
        <a:p>
          <a:endParaRPr lang="fi-FI" sz="1200"/>
        </a:p>
      </dgm:t>
    </dgm:pt>
    <dgm:pt modelId="{95B352C6-C5E7-4083-93BA-0F69DDA0277F}">
      <dgm:prSet custT="1"/>
      <dgm:spPr/>
      <dgm:t>
        <a:bodyPr/>
        <a:lstStyle/>
        <a:p>
          <a:pPr marR="0" rtl="0" eaLnBrk="1" fontAlgn="auto" latinLnBrk="0" hangingPunct="1">
            <a:buClrTx/>
            <a:buSzTx/>
            <a:buFontTx/>
            <a:tabLst/>
            <a:defRPr/>
          </a:pPr>
          <a:r>
            <a:rPr lang="fi-FI" sz="1600" dirty="0" smtClean="0"/>
            <a:t>Suunnittelumekanismit</a:t>
          </a:r>
          <a:endParaRPr lang="fi-FI" sz="1600" dirty="0"/>
        </a:p>
      </dgm:t>
    </dgm:pt>
    <dgm:pt modelId="{5D3D321A-5A91-452C-A4F9-DDF324254058}" type="parTrans" cxnId="{6702F975-EE5A-4B3A-819B-4D769DE2EDD0}">
      <dgm:prSet/>
      <dgm:spPr/>
      <dgm:t>
        <a:bodyPr/>
        <a:lstStyle/>
        <a:p>
          <a:endParaRPr lang="fi-FI" sz="1200"/>
        </a:p>
      </dgm:t>
    </dgm:pt>
    <dgm:pt modelId="{D1032473-79B1-4B99-B675-8BB11F5E92A0}" type="sibTrans" cxnId="{6702F975-EE5A-4B3A-819B-4D769DE2EDD0}">
      <dgm:prSet/>
      <dgm:spPr/>
      <dgm:t>
        <a:bodyPr/>
        <a:lstStyle/>
        <a:p>
          <a:endParaRPr lang="fi-FI" sz="1200"/>
        </a:p>
      </dgm:t>
    </dgm:pt>
    <dgm:pt modelId="{5CC6B45F-A032-48B1-AC89-723CB5731DA6}">
      <dgm:prSet custT="1"/>
      <dgm:spPr/>
      <dgm:t>
        <a:bodyPr/>
        <a:lstStyle/>
        <a:p>
          <a:r>
            <a:rPr lang="fi-FI" sz="1600" dirty="0" smtClean="0"/>
            <a:t>Testauksen taidot</a:t>
          </a:r>
          <a:endParaRPr lang="fi-FI" sz="1600" dirty="0"/>
        </a:p>
      </dgm:t>
    </dgm:pt>
    <dgm:pt modelId="{ACE1AE1F-A6A3-4BC7-821F-C9E3D9ACDC74}" type="parTrans" cxnId="{20F8098D-A05C-49B4-950A-565A1779F2CD}">
      <dgm:prSet/>
      <dgm:spPr/>
      <dgm:t>
        <a:bodyPr/>
        <a:lstStyle/>
        <a:p>
          <a:endParaRPr lang="fi-FI" sz="1200"/>
        </a:p>
      </dgm:t>
    </dgm:pt>
    <dgm:pt modelId="{36D246C1-F80B-41F2-9433-62746058ABD0}" type="sibTrans" cxnId="{20F8098D-A05C-49B4-950A-565A1779F2CD}">
      <dgm:prSet/>
      <dgm:spPr/>
      <dgm:t>
        <a:bodyPr/>
        <a:lstStyle/>
        <a:p>
          <a:endParaRPr lang="fi-FI" sz="1200"/>
        </a:p>
      </dgm:t>
    </dgm:pt>
    <dgm:pt modelId="{43874DE2-1DC0-4883-A591-AD110EE9DF14}">
      <dgm:prSet custT="1"/>
      <dgm:spPr/>
      <dgm:t>
        <a:bodyPr/>
        <a:lstStyle/>
        <a:p>
          <a:pPr marR="0" rtl="0" eaLnBrk="1" fontAlgn="auto" latinLnBrk="0" hangingPunct="1">
            <a:buClrTx/>
            <a:buSzTx/>
            <a:buFontTx/>
            <a:tabLst/>
            <a:defRPr/>
          </a:pPr>
          <a:r>
            <a:rPr lang="fi-FI" sz="1600" dirty="0" smtClean="0"/>
            <a:t>Siirtymä ketteriin</a:t>
          </a:r>
          <a:endParaRPr lang="fi-FI" sz="1600" dirty="0"/>
        </a:p>
      </dgm:t>
    </dgm:pt>
    <dgm:pt modelId="{4BF82FF2-B22C-4575-8E07-ABD74DC7BF8E}" type="parTrans" cxnId="{BA0AFE0E-2F07-40CF-8FC2-6697341F344C}">
      <dgm:prSet/>
      <dgm:spPr/>
      <dgm:t>
        <a:bodyPr/>
        <a:lstStyle/>
        <a:p>
          <a:endParaRPr lang="fi-FI"/>
        </a:p>
      </dgm:t>
    </dgm:pt>
    <dgm:pt modelId="{34CBF14E-8417-45D6-A12D-E3A90E0CC994}" type="sibTrans" cxnId="{BA0AFE0E-2F07-40CF-8FC2-6697341F344C}">
      <dgm:prSet/>
      <dgm:spPr/>
      <dgm:t>
        <a:bodyPr/>
        <a:lstStyle/>
        <a:p>
          <a:endParaRPr lang="fi-FI"/>
        </a:p>
      </dgm:t>
    </dgm:pt>
    <dgm:pt modelId="{D97E231E-031B-46C9-A8A2-F1D6BA54A966}">
      <dgm:prSet custT="1"/>
      <dgm:spPr/>
      <dgm:t>
        <a:bodyPr/>
        <a:lstStyle/>
        <a:p>
          <a:pPr rtl="0"/>
          <a:r>
            <a:rPr lang="fi-FI" sz="1600" dirty="0" smtClean="0"/>
            <a:t>Tarvittavat taidot</a:t>
          </a:r>
          <a:endParaRPr lang="fi-FI" sz="1600" dirty="0"/>
        </a:p>
      </dgm:t>
    </dgm:pt>
    <dgm:pt modelId="{909A826C-9F73-4C53-8AC0-A2E1AF556E62}" type="parTrans" cxnId="{CAF727E4-D542-4247-AD65-8A8B65C558C3}">
      <dgm:prSet/>
      <dgm:spPr/>
      <dgm:t>
        <a:bodyPr/>
        <a:lstStyle/>
        <a:p>
          <a:endParaRPr lang="fi-FI"/>
        </a:p>
      </dgm:t>
    </dgm:pt>
    <dgm:pt modelId="{9794DA9D-2B80-4DB0-B26D-76CEBDBD2E9A}" type="sibTrans" cxnId="{CAF727E4-D542-4247-AD65-8A8B65C558C3}">
      <dgm:prSet/>
      <dgm:spPr/>
      <dgm:t>
        <a:bodyPr/>
        <a:lstStyle/>
        <a:p>
          <a:endParaRPr lang="fi-FI"/>
        </a:p>
      </dgm:t>
    </dgm:pt>
    <dgm:pt modelId="{6B50C981-E288-4E84-B65E-F73EA9E70783}">
      <dgm:prSet custT="1"/>
      <dgm:spPr/>
      <dgm:t>
        <a:bodyPr/>
        <a:lstStyle/>
        <a:p>
          <a:pPr rtl="0"/>
          <a:r>
            <a:rPr lang="fi-FI" sz="1600" dirty="0" smtClean="0"/>
            <a:t>Termistö</a:t>
          </a:r>
          <a:endParaRPr lang="fi-FI" sz="1600" dirty="0"/>
        </a:p>
      </dgm:t>
    </dgm:pt>
    <dgm:pt modelId="{98EC2F18-54DC-498A-AFF1-F4D8E65A0818}" type="parTrans" cxnId="{441FEAB6-3361-4503-9032-1139673E9C13}">
      <dgm:prSet/>
      <dgm:spPr/>
      <dgm:t>
        <a:bodyPr/>
        <a:lstStyle/>
        <a:p>
          <a:endParaRPr lang="fi-FI"/>
        </a:p>
      </dgm:t>
    </dgm:pt>
    <dgm:pt modelId="{418F8E3C-7138-4F1C-8BB7-B4BBDB57EAE7}" type="sibTrans" cxnId="{441FEAB6-3361-4503-9032-1139673E9C13}">
      <dgm:prSet/>
      <dgm:spPr/>
      <dgm:t>
        <a:bodyPr/>
        <a:lstStyle/>
        <a:p>
          <a:endParaRPr lang="fi-FI"/>
        </a:p>
      </dgm:t>
    </dgm:pt>
    <dgm:pt modelId="{84683C11-3BF9-40F9-A2B3-057C1D7DB8C4}">
      <dgm:prSet custT="1"/>
      <dgm:spPr/>
      <dgm:t>
        <a:bodyPr/>
        <a:lstStyle/>
        <a:p>
          <a:pPr rtl="0"/>
          <a:r>
            <a:rPr lang="fi-FI" sz="1600" dirty="0" smtClean="0"/>
            <a:t>Vaihteluväli</a:t>
          </a:r>
          <a:endParaRPr lang="fi-FI" sz="1600" dirty="0"/>
        </a:p>
      </dgm:t>
    </dgm:pt>
    <dgm:pt modelId="{CEB3916B-A937-4C52-BDD1-25B033FF25EA}" type="parTrans" cxnId="{EC2B0D75-FA14-4908-853C-9CEF6A134528}">
      <dgm:prSet/>
      <dgm:spPr/>
      <dgm:t>
        <a:bodyPr/>
        <a:lstStyle/>
        <a:p>
          <a:endParaRPr lang="fi-FI"/>
        </a:p>
      </dgm:t>
    </dgm:pt>
    <dgm:pt modelId="{E31DC85D-0E6C-453B-A5A3-4803A4BEDC11}" type="sibTrans" cxnId="{EC2B0D75-FA14-4908-853C-9CEF6A134528}">
      <dgm:prSet/>
      <dgm:spPr/>
      <dgm:t>
        <a:bodyPr/>
        <a:lstStyle/>
        <a:p>
          <a:endParaRPr lang="fi-FI"/>
        </a:p>
      </dgm:t>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EC2B0D75-FA14-4908-853C-9CEF6A134528}" srcId="{98AED58E-7E7C-416A-8A18-20CA5C05518C}" destId="{84683C11-3BF9-40F9-A2B3-057C1D7DB8C4}" srcOrd="1" destOrd="0" parTransId="{CEB3916B-A937-4C52-BDD1-25B033FF25EA}" sibTransId="{E31DC85D-0E6C-453B-A5A3-4803A4BEDC11}"/>
    <dgm:cxn modelId="{20F8098D-A05C-49B4-950A-565A1779F2CD}" srcId="{9998B519-03B6-4420-B2B1-FE85B07BB863}" destId="{5CC6B45F-A032-48B1-AC89-723CB5731DA6}" srcOrd="3" destOrd="0" parTransId="{ACE1AE1F-A6A3-4BC7-821F-C9E3D9ACDC74}" sibTransId="{36D246C1-F80B-41F2-9433-62746058ABD0}"/>
    <dgm:cxn modelId="{288CA94A-9C80-40B6-B66C-1A6692BE0071}" type="presOf" srcId="{43874DE2-1DC0-4883-A591-AD110EE9DF14}" destId="{25BA6B9A-BD30-4EEB-BF01-6CE0D866FE92}" srcOrd="0" destOrd="1" presId="urn:microsoft.com/office/officeart/2005/8/layout/vList5"/>
    <dgm:cxn modelId="{7CCB0231-58D3-49E9-B96C-70F8C6A8B655}" type="presOf" srcId="{95B352C6-C5E7-4083-93BA-0F69DDA0277F}" destId="{25BA6B9A-BD30-4EEB-BF01-6CE0D866FE92}"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F17EA09D-5DE0-47D7-B2D3-D11705DC6398}" srcId="{98AED58E-7E7C-416A-8A18-20CA5C05518C}" destId="{AAC83951-6A4A-433C-B085-A08DB739FBBD}" srcOrd="0" destOrd="0" parTransId="{2BF6B2CC-AA25-4549-A898-F3604A439DD7}" sibTransId="{FB7D8C4B-4357-478F-9A19-AEDF772FC6B7}"/>
    <dgm:cxn modelId="{85460443-0A1D-4956-9372-DEC019C03AA9}" type="presOf" srcId="{5CC6B45F-A032-48B1-AC89-723CB5731DA6}" destId="{6E4EC516-9261-48FC-9264-8581F4CB680E}" srcOrd="0" destOrd="0" presId="urn:microsoft.com/office/officeart/2005/8/layout/vList5"/>
    <dgm:cxn modelId="{BA0AFE0E-2F07-40CF-8FC2-6697341F344C}" srcId="{228F0A37-3996-4B64-9C0A-A54BCC3EA6BA}" destId="{43874DE2-1DC0-4883-A591-AD110EE9DF14}" srcOrd="1" destOrd="0" parTransId="{4BF82FF2-B22C-4575-8E07-ABD74DC7BF8E}" sibTransId="{34CBF14E-8417-45D6-A12D-E3A90E0CC994}"/>
    <dgm:cxn modelId="{CAF727E4-D542-4247-AD65-8A8B65C558C3}" srcId="{5CC6B45F-A032-48B1-AC89-723CB5731DA6}" destId="{D97E231E-031B-46C9-A8A2-F1D6BA54A966}" srcOrd="1" destOrd="0" parTransId="{909A826C-9F73-4C53-8AC0-A2E1AF556E62}" sibTransId="{9794DA9D-2B80-4DB0-B26D-76CEBDBD2E9A}"/>
    <dgm:cxn modelId="{E48D797B-39B8-4B6F-B2E4-E63DEAA20B9A}" type="presOf" srcId="{80925EED-1441-4DF2-ADCA-DEFC0758046C}" destId="{F49AC9AF-1A8A-4450-AECD-FC6A5E789BAA}" srcOrd="0" destOrd="0" presId="urn:microsoft.com/office/officeart/2005/8/layout/vList5"/>
    <dgm:cxn modelId="{3DAD1048-B6B6-4BD7-A756-F687B40B9799}" type="presOf" srcId="{228F0A37-3996-4B64-9C0A-A54BCC3EA6BA}" destId="{BA4D8448-5FCE-4939-A31F-189DD0695EDD}" srcOrd="0" destOrd="0" presId="urn:microsoft.com/office/officeart/2005/8/layout/vList5"/>
    <dgm:cxn modelId="{3E10DEF9-D09C-4791-AB56-F865A5034009}" type="presOf" srcId="{98AED58E-7E7C-416A-8A18-20CA5C05518C}" destId="{F2F08941-5A68-411E-AD7F-6EF46FD56FBD}" srcOrd="0" destOrd="0" presId="urn:microsoft.com/office/officeart/2005/8/layout/vList5"/>
    <dgm:cxn modelId="{ACC07473-107D-4714-B0C3-BA7B487E2606}" type="presOf" srcId="{A53ACEF5-5EE8-41E2-B6D6-C74C7F15C95C}" destId="{B9ADED97-AC03-45B3-9A41-1A0C1968CFF9}" srcOrd="0" destOrd="0" presId="urn:microsoft.com/office/officeart/2005/8/layout/vList5"/>
    <dgm:cxn modelId="{B57919E9-56C0-406C-A615-A79567D8C96C}" type="presOf" srcId="{D97E231E-031B-46C9-A8A2-F1D6BA54A966}" destId="{F49AC9AF-1A8A-4450-AECD-FC6A5E789BAA}"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DC6CCA9-3289-49ED-AD50-FA399B7CF3FD}" srcId="{9998B519-03B6-4420-B2B1-FE85B07BB863}" destId="{C31BA4C3-B958-4E11-B7C3-C2A236A8EB3B}" srcOrd="1" destOrd="0" parTransId="{135DAC36-0DF2-4398-951B-28CFA21B8788}" sibTransId="{5E03A5A6-63E6-4AAD-9C85-3AFA2420A86B}"/>
    <dgm:cxn modelId="{DBD424D9-1B10-449C-B085-A5FA737D7474}" type="presOf" srcId="{AAC83951-6A4A-433C-B085-A08DB739FBBD}" destId="{3E0795D4-4188-4949-AE94-2A791BCE1FD9}" srcOrd="0" destOrd="0" presId="urn:microsoft.com/office/officeart/2005/8/layout/vList5"/>
    <dgm:cxn modelId="{6702F975-EE5A-4B3A-819B-4D769DE2EDD0}" srcId="{228F0A37-3996-4B64-9C0A-A54BCC3EA6BA}" destId="{95B352C6-C5E7-4083-93BA-0F69DDA0277F}" srcOrd="0" destOrd="0" parTransId="{5D3D321A-5A91-452C-A4F9-DDF324254058}" sibTransId="{D1032473-79B1-4B99-B675-8BB11F5E92A0}"/>
    <dgm:cxn modelId="{441FEAB6-3361-4503-9032-1139673E9C13}" srcId="{C31BA4C3-B958-4E11-B7C3-C2A236A8EB3B}" destId="{6B50C981-E288-4E84-B65E-F73EA9E70783}" srcOrd="1" destOrd="0" parTransId="{98EC2F18-54DC-498A-AFF1-F4D8E65A0818}" sibTransId="{418F8E3C-7138-4F1C-8BB7-B4BBDB57EAE7}"/>
    <dgm:cxn modelId="{CE2C3649-601C-46E5-81C4-A8B57DF2D975}" type="presOf" srcId="{84683C11-3BF9-40F9-A2B3-057C1D7DB8C4}" destId="{3E0795D4-4188-4949-AE94-2A791BCE1FD9}" srcOrd="0" destOrd="1" presId="urn:microsoft.com/office/officeart/2005/8/layout/vList5"/>
    <dgm:cxn modelId="{9835D6A5-FF00-4E0E-BA8A-97459F4E878E}" type="presOf" srcId="{9998B519-03B6-4420-B2B1-FE85B07BB863}" destId="{839DAA1E-965A-47C3-A43A-11065EE10B96}" srcOrd="0" destOrd="0" presId="urn:microsoft.com/office/officeart/2005/8/layout/vList5"/>
    <dgm:cxn modelId="{19C61E4D-528D-4F66-B9ED-BF77AAA08D82}" srcId="{C31BA4C3-B958-4E11-B7C3-C2A236A8EB3B}" destId="{A53ACEF5-5EE8-41E2-B6D6-C74C7F15C95C}" srcOrd="0" destOrd="0" parTransId="{69560B9A-A60F-4637-A32B-636AAAC54DB0}" sibTransId="{77146491-8700-47AB-ABF7-3BE839DD8C89}"/>
    <dgm:cxn modelId="{529C8C88-23FA-4799-B149-ECFF2C968D0E}" type="presOf" srcId="{C31BA4C3-B958-4E11-B7C3-C2A236A8EB3B}" destId="{6008EA90-E6B1-4498-ABE6-BCDF0E0818F9}" srcOrd="0" destOrd="0" presId="urn:microsoft.com/office/officeart/2005/8/layout/vList5"/>
    <dgm:cxn modelId="{15DE493D-4526-46A3-ADD5-72BBDBFF4979}" srcId="{5CC6B45F-A032-48B1-AC89-723CB5731DA6}" destId="{80925EED-1441-4DF2-ADCA-DEFC0758046C}" srcOrd="0" destOrd="0" parTransId="{9FA56589-B84D-4A74-AAFB-CDF4873928A2}" sibTransId="{4532DB22-9671-4E53-BF06-C9663B3EE1A1}"/>
    <dgm:cxn modelId="{C9703F00-E75E-4052-B563-5BACE56E283E}" type="presOf" srcId="{6B50C981-E288-4E84-B65E-F73EA9E70783}" destId="{B9ADED97-AC03-45B3-9A41-1A0C1968CFF9}" srcOrd="0" destOrd="1" presId="urn:microsoft.com/office/officeart/2005/8/layout/vList5"/>
    <dgm:cxn modelId="{ECB2C3DA-E10F-4CA5-BED0-024829F58BA6}" type="presParOf" srcId="{839DAA1E-965A-47C3-A43A-11065EE10B96}" destId="{1E15A9A0-54DC-418F-B00C-3E01C32BEAE1}" srcOrd="0" destOrd="0" presId="urn:microsoft.com/office/officeart/2005/8/layout/vList5"/>
    <dgm:cxn modelId="{55B503E9-56D7-41E2-AB6C-C136BE668CAD}" type="presParOf" srcId="{1E15A9A0-54DC-418F-B00C-3E01C32BEAE1}" destId="{F2F08941-5A68-411E-AD7F-6EF46FD56FBD}" srcOrd="0" destOrd="0" presId="urn:microsoft.com/office/officeart/2005/8/layout/vList5"/>
    <dgm:cxn modelId="{D6A1400F-4603-4B0A-BBA0-2F500DBCAF58}" type="presParOf" srcId="{1E15A9A0-54DC-418F-B00C-3E01C32BEAE1}" destId="{3E0795D4-4188-4949-AE94-2A791BCE1FD9}" srcOrd="1" destOrd="0" presId="urn:microsoft.com/office/officeart/2005/8/layout/vList5"/>
    <dgm:cxn modelId="{94298662-31BC-4A17-80E8-B6E6FF765C1A}" type="presParOf" srcId="{839DAA1E-965A-47C3-A43A-11065EE10B96}" destId="{36D3ACFC-26E0-45C8-A1C3-BE3B78CF069D}" srcOrd="1" destOrd="0" presId="urn:microsoft.com/office/officeart/2005/8/layout/vList5"/>
    <dgm:cxn modelId="{55FB205C-8179-40A8-ABED-524E05A401A2}" type="presParOf" srcId="{839DAA1E-965A-47C3-A43A-11065EE10B96}" destId="{FCA73F41-6637-4792-B146-2F852EE33B87}" srcOrd="2" destOrd="0" presId="urn:microsoft.com/office/officeart/2005/8/layout/vList5"/>
    <dgm:cxn modelId="{B0230164-BF4C-4750-BFC7-8AD1BF4A796C}" type="presParOf" srcId="{FCA73F41-6637-4792-B146-2F852EE33B87}" destId="{6008EA90-E6B1-4498-ABE6-BCDF0E0818F9}" srcOrd="0" destOrd="0" presId="urn:microsoft.com/office/officeart/2005/8/layout/vList5"/>
    <dgm:cxn modelId="{DDE09CAA-4ECB-4B43-8038-954AE5B6CCD2}" type="presParOf" srcId="{FCA73F41-6637-4792-B146-2F852EE33B87}" destId="{B9ADED97-AC03-45B3-9A41-1A0C1968CFF9}" srcOrd="1" destOrd="0" presId="urn:microsoft.com/office/officeart/2005/8/layout/vList5"/>
    <dgm:cxn modelId="{BD003F07-B62B-43FF-AAC2-35B8D5B5BC72}" type="presParOf" srcId="{839DAA1E-965A-47C3-A43A-11065EE10B96}" destId="{9C05B516-FF87-4BA1-96C0-F306926B9554}" srcOrd="3" destOrd="0" presId="urn:microsoft.com/office/officeart/2005/8/layout/vList5"/>
    <dgm:cxn modelId="{EA706E36-8B4C-4EBB-9A07-2E78901DB35E}" type="presParOf" srcId="{839DAA1E-965A-47C3-A43A-11065EE10B96}" destId="{E9DA7CE4-CC12-4EBB-A6B7-059B79834B7E}" srcOrd="4" destOrd="0" presId="urn:microsoft.com/office/officeart/2005/8/layout/vList5"/>
    <dgm:cxn modelId="{619D7703-798C-45B4-B7E6-F6C1D70FD345}" type="presParOf" srcId="{E9DA7CE4-CC12-4EBB-A6B7-059B79834B7E}" destId="{BA4D8448-5FCE-4939-A31F-189DD0695EDD}" srcOrd="0" destOrd="0" presId="urn:microsoft.com/office/officeart/2005/8/layout/vList5"/>
    <dgm:cxn modelId="{77236C92-1E41-4646-B178-8EE0F0CBE399}" type="presParOf" srcId="{E9DA7CE4-CC12-4EBB-A6B7-059B79834B7E}" destId="{25BA6B9A-BD30-4EEB-BF01-6CE0D866FE92}" srcOrd="1" destOrd="0" presId="urn:microsoft.com/office/officeart/2005/8/layout/vList5"/>
    <dgm:cxn modelId="{3DAB9914-9D08-4C56-8EF0-9C5170BCB962}" type="presParOf" srcId="{839DAA1E-965A-47C3-A43A-11065EE10B96}" destId="{A24F7DA3-FC33-40E2-9E71-B9882F04CC75}" srcOrd="5" destOrd="0" presId="urn:microsoft.com/office/officeart/2005/8/layout/vList5"/>
    <dgm:cxn modelId="{B9900108-3213-4885-8596-065881D6888C}" type="presParOf" srcId="{839DAA1E-965A-47C3-A43A-11065EE10B96}" destId="{84F3CB32-DDE5-45B2-9385-0CD91C557D89}" srcOrd="6" destOrd="0" presId="urn:microsoft.com/office/officeart/2005/8/layout/vList5"/>
    <dgm:cxn modelId="{6A7C165D-567D-437D-9D98-08B784CACE71}" type="presParOf" srcId="{84F3CB32-DDE5-45B2-9385-0CD91C557D89}" destId="{6E4EC516-9261-48FC-9264-8581F4CB680E}" srcOrd="0" destOrd="0" presId="urn:microsoft.com/office/officeart/2005/8/layout/vList5"/>
    <dgm:cxn modelId="{F3523C12-550D-4092-B830-AD7770ECDE29}"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998B519-03B6-4420-B2B1-FE85B07BB863}"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fi-FI"/>
        </a:p>
      </dgm:t>
    </dgm:pt>
    <dgm:pt modelId="{98AED58E-7E7C-416A-8A18-20CA5C05518C}">
      <dgm:prSet custT="1"/>
      <dgm:spPr/>
      <dgm:t>
        <a:bodyPr/>
        <a:lstStyle/>
        <a:p>
          <a:pPr rtl="0"/>
          <a:r>
            <a:rPr lang="fi-FI" sz="1600" dirty="0" smtClean="0"/>
            <a:t>Testit ja havainnot</a:t>
          </a:r>
          <a:endParaRPr lang="en-US" sz="1600" dirty="0"/>
        </a:p>
      </dgm:t>
    </dgm:pt>
    <dgm:pt modelId="{0A6D6936-CA06-4D83-B067-BEB710A210C1}" type="parTrans" cxnId="{23D9DC19-F53F-4AF4-BCC2-AD7BE65BF063}">
      <dgm:prSet/>
      <dgm:spPr/>
      <dgm:t>
        <a:bodyPr/>
        <a:lstStyle/>
        <a:p>
          <a:endParaRPr lang="fi-FI" sz="1800"/>
        </a:p>
      </dgm:t>
    </dgm:pt>
    <dgm:pt modelId="{7B7043EF-82C6-49F3-872D-29988068644C}" type="sibTrans" cxnId="{23D9DC19-F53F-4AF4-BCC2-AD7BE65BF063}">
      <dgm:prSet/>
      <dgm:spPr/>
      <dgm:t>
        <a:bodyPr/>
        <a:lstStyle/>
        <a:p>
          <a:endParaRPr lang="fi-FI" sz="1800"/>
        </a:p>
      </dgm:t>
    </dgm:pt>
    <dgm:pt modelId="{228F0A37-3996-4B64-9C0A-A54BCC3EA6BA}">
      <dgm:prSet custT="1"/>
      <dgm:spPr/>
      <dgm:t>
        <a:bodyPr/>
        <a:lstStyle/>
        <a:p>
          <a:pPr rtl="0"/>
          <a:r>
            <a:rPr lang="fi-FI" sz="1600" dirty="0" smtClean="0"/>
            <a:t>Vaatimukset ja hyväksymis-testiohjattu kehitys</a:t>
          </a:r>
          <a:endParaRPr lang="en-US" sz="1600" dirty="0"/>
        </a:p>
      </dgm:t>
    </dgm:pt>
    <dgm:pt modelId="{80E2191C-1D1A-47AA-842D-64009A32EDB7}" type="parTrans" cxnId="{251371D5-2C5E-4EBD-ACCC-FE35F7543D60}">
      <dgm:prSet/>
      <dgm:spPr/>
      <dgm:t>
        <a:bodyPr/>
        <a:lstStyle/>
        <a:p>
          <a:endParaRPr lang="fi-FI" sz="1800"/>
        </a:p>
      </dgm:t>
    </dgm:pt>
    <dgm:pt modelId="{56C0928A-7EA9-42C0-9A29-47825D899D4F}" type="sibTrans" cxnId="{251371D5-2C5E-4EBD-ACCC-FE35F7543D60}">
      <dgm:prSet/>
      <dgm:spPr/>
      <dgm:t>
        <a:bodyPr/>
        <a:lstStyle/>
        <a:p>
          <a:endParaRPr lang="fi-FI" sz="1800"/>
        </a:p>
      </dgm:t>
    </dgm:pt>
    <dgm:pt modelId="{80925EED-1441-4DF2-ADCA-DEFC0758046C}">
      <dgm:prSet custT="1"/>
      <dgm:spPr/>
      <dgm:t>
        <a:bodyPr/>
        <a:lstStyle/>
        <a:p>
          <a:pPr rtl="0"/>
          <a:r>
            <a:rPr lang="fi-FI" sz="1600" dirty="0" smtClean="0"/>
            <a:t>Jatkuva integrointi</a:t>
          </a:r>
          <a:endParaRPr lang="fi-FI" sz="1600" dirty="0"/>
        </a:p>
      </dgm:t>
    </dgm:pt>
    <dgm:pt modelId="{4532DB22-9671-4E53-BF06-C9663B3EE1A1}" type="sibTrans" cxnId="{15DE493D-4526-46A3-ADD5-72BBDBFF4979}">
      <dgm:prSet/>
      <dgm:spPr/>
      <dgm:t>
        <a:bodyPr/>
        <a:lstStyle/>
        <a:p>
          <a:endParaRPr lang="fi-FI" sz="1800"/>
        </a:p>
      </dgm:t>
    </dgm:pt>
    <dgm:pt modelId="{9FA56589-B84D-4A74-AAFB-CDF4873928A2}" type="parTrans" cxnId="{15DE493D-4526-46A3-ADD5-72BBDBFF4979}">
      <dgm:prSet/>
      <dgm:spPr/>
      <dgm:t>
        <a:bodyPr/>
        <a:lstStyle/>
        <a:p>
          <a:endParaRPr lang="fi-FI" sz="1800"/>
        </a:p>
      </dgm:t>
    </dgm:pt>
    <dgm:pt modelId="{C31BA4C3-B958-4E11-B7C3-C2A236A8EB3B}">
      <dgm:prSet custT="1"/>
      <dgm:spPr/>
      <dgm:t>
        <a:bodyPr/>
        <a:lstStyle/>
        <a:p>
          <a:pPr rtl="0"/>
          <a:r>
            <a:rPr lang="fi-FI" sz="1600" dirty="0" smtClean="0"/>
            <a:t>Testauksen hallinta</a:t>
          </a:r>
          <a:endParaRPr lang="en-US" sz="1600" dirty="0"/>
        </a:p>
      </dgm:t>
    </dgm:pt>
    <dgm:pt modelId="{135DAC36-0DF2-4398-951B-28CFA21B8788}" type="parTrans" cxnId="{3DC6CCA9-3289-49ED-AD50-FA399B7CF3FD}">
      <dgm:prSet/>
      <dgm:spPr/>
      <dgm:t>
        <a:bodyPr/>
        <a:lstStyle/>
        <a:p>
          <a:endParaRPr lang="fi-FI" sz="1800"/>
        </a:p>
      </dgm:t>
    </dgm:pt>
    <dgm:pt modelId="{5E03A5A6-63E6-4AAD-9C85-3AFA2420A86B}" type="sibTrans" cxnId="{3DC6CCA9-3289-49ED-AD50-FA399B7CF3FD}">
      <dgm:prSet/>
      <dgm:spPr/>
      <dgm:t>
        <a:bodyPr/>
        <a:lstStyle/>
        <a:p>
          <a:endParaRPr lang="fi-FI" sz="1800"/>
        </a:p>
      </dgm:t>
    </dgm:pt>
    <dgm:pt modelId="{A53ACEF5-5EE8-41E2-B6D6-C74C7F15C95C}">
      <dgm:prSet custT="1"/>
      <dgm:spPr/>
      <dgm:t>
        <a:bodyPr/>
        <a:lstStyle/>
        <a:p>
          <a:pPr rtl="0"/>
          <a:r>
            <a:rPr lang="fi-FI" sz="1600" dirty="0" smtClean="0"/>
            <a:t>Mittarit</a:t>
          </a:r>
          <a:endParaRPr lang="fi-FI" sz="1600" dirty="0"/>
        </a:p>
      </dgm:t>
    </dgm:pt>
    <dgm:pt modelId="{69560B9A-A60F-4637-A32B-636AAAC54DB0}" type="parTrans" cxnId="{19C61E4D-528D-4F66-B9ED-BF77AAA08D82}">
      <dgm:prSet/>
      <dgm:spPr/>
      <dgm:t>
        <a:bodyPr/>
        <a:lstStyle/>
        <a:p>
          <a:endParaRPr lang="fi-FI" sz="1800"/>
        </a:p>
      </dgm:t>
    </dgm:pt>
    <dgm:pt modelId="{77146491-8700-47AB-ABF7-3BE839DD8C89}" type="sibTrans" cxnId="{19C61E4D-528D-4F66-B9ED-BF77AAA08D82}">
      <dgm:prSet/>
      <dgm:spPr/>
      <dgm:t>
        <a:bodyPr/>
        <a:lstStyle/>
        <a:p>
          <a:endParaRPr lang="fi-FI" sz="1800"/>
        </a:p>
      </dgm:t>
    </dgm:pt>
    <dgm:pt modelId="{95B352C6-C5E7-4083-93BA-0F69DDA0277F}">
      <dgm:prSet custT="1"/>
      <dgm:spPr/>
      <dgm:t>
        <a:bodyPr/>
        <a:lstStyle/>
        <a:p>
          <a:pPr marR="0" rtl="0" eaLnBrk="1" fontAlgn="auto" latinLnBrk="0" hangingPunct="1">
            <a:buClrTx/>
            <a:buSzTx/>
            <a:buFontTx/>
            <a:tabLst/>
            <a:defRPr/>
          </a:pPr>
          <a:r>
            <a:rPr lang="fi-FI" sz="1600" dirty="0" smtClean="0"/>
            <a:t>Dokumentaatio</a:t>
          </a:r>
          <a:endParaRPr lang="fi-FI" sz="1600" dirty="0"/>
        </a:p>
      </dgm:t>
    </dgm:pt>
    <dgm:pt modelId="{5D3D321A-5A91-452C-A4F9-DDF324254058}" type="parTrans" cxnId="{6702F975-EE5A-4B3A-819B-4D769DE2EDD0}">
      <dgm:prSet/>
      <dgm:spPr/>
      <dgm:t>
        <a:bodyPr/>
        <a:lstStyle/>
        <a:p>
          <a:endParaRPr lang="fi-FI" sz="1800"/>
        </a:p>
      </dgm:t>
    </dgm:pt>
    <dgm:pt modelId="{D1032473-79B1-4B99-B675-8BB11F5E92A0}" type="sibTrans" cxnId="{6702F975-EE5A-4B3A-819B-4D769DE2EDD0}">
      <dgm:prSet/>
      <dgm:spPr/>
      <dgm:t>
        <a:bodyPr/>
        <a:lstStyle/>
        <a:p>
          <a:endParaRPr lang="fi-FI" sz="1800"/>
        </a:p>
      </dgm:t>
    </dgm:pt>
    <dgm:pt modelId="{5CC6B45F-A032-48B1-AC89-723CB5731DA6}">
      <dgm:prSet custT="1"/>
      <dgm:spPr/>
      <dgm:t>
        <a:bodyPr/>
        <a:lstStyle/>
        <a:p>
          <a:r>
            <a:rPr lang="fi-FI" sz="1600" dirty="0" smtClean="0"/>
            <a:t>Testi-automaatio</a:t>
          </a:r>
          <a:endParaRPr lang="fi-FI" sz="1600" dirty="0"/>
        </a:p>
      </dgm:t>
    </dgm:pt>
    <dgm:pt modelId="{ACE1AE1F-A6A3-4BC7-821F-C9E3D9ACDC74}" type="parTrans" cxnId="{20F8098D-A05C-49B4-950A-565A1779F2CD}">
      <dgm:prSet/>
      <dgm:spPr/>
      <dgm:t>
        <a:bodyPr/>
        <a:lstStyle/>
        <a:p>
          <a:endParaRPr lang="fi-FI" sz="1800"/>
        </a:p>
      </dgm:t>
    </dgm:pt>
    <dgm:pt modelId="{36D246C1-F80B-41F2-9433-62746058ABD0}" type="sibTrans" cxnId="{20F8098D-A05C-49B4-950A-565A1779F2CD}">
      <dgm:prSet/>
      <dgm:spPr/>
      <dgm:t>
        <a:bodyPr/>
        <a:lstStyle/>
        <a:p>
          <a:endParaRPr lang="fi-FI" sz="1800"/>
        </a:p>
      </dgm:t>
    </dgm:pt>
    <dgm:pt modelId="{08DFE00A-129B-475A-877D-F98A2C8EA242}">
      <dgm:prSet custT="1"/>
      <dgm:spPr/>
      <dgm:t>
        <a:bodyPr/>
        <a:lstStyle/>
        <a:p>
          <a:pPr marR="0" rtl="0" eaLnBrk="1" fontAlgn="auto" latinLnBrk="0" hangingPunct="1">
            <a:buClrTx/>
            <a:buSzTx/>
            <a:buFontTx/>
            <a:tabLst/>
            <a:defRPr/>
          </a:pPr>
          <a:r>
            <a:rPr lang="fi-FI" sz="1600" dirty="0" smtClean="0"/>
            <a:t>Hyväksymistestit</a:t>
          </a:r>
          <a:endParaRPr lang="fi-FI" sz="1600" dirty="0"/>
        </a:p>
      </dgm:t>
    </dgm:pt>
    <dgm:pt modelId="{4A14A3AA-2455-49C2-9043-EA3E03C94CEA}" type="parTrans" cxnId="{4F0B4E38-5B68-4BDA-9E82-221DAFA0D6A2}">
      <dgm:prSet/>
      <dgm:spPr/>
      <dgm:t>
        <a:bodyPr/>
        <a:lstStyle/>
        <a:p>
          <a:endParaRPr lang="fi-FI"/>
        </a:p>
      </dgm:t>
    </dgm:pt>
    <dgm:pt modelId="{8C6BB5C5-A2AA-4CAD-A46F-A64D3545DBF2}" type="sibTrans" cxnId="{4F0B4E38-5B68-4BDA-9E82-221DAFA0D6A2}">
      <dgm:prSet/>
      <dgm:spPr/>
      <dgm:t>
        <a:bodyPr/>
        <a:lstStyle/>
        <a:p>
          <a:endParaRPr lang="fi-FI"/>
        </a:p>
      </dgm:t>
    </dgm:pt>
    <dgm:pt modelId="{80B393ED-AF20-4EC7-B392-49545AD72664}">
      <dgm:prSet custT="1"/>
      <dgm:spPr/>
      <dgm:t>
        <a:bodyPr/>
        <a:lstStyle/>
        <a:p>
          <a:pPr rtl="0"/>
          <a:r>
            <a:rPr lang="fi-FI" sz="1600" dirty="0" smtClean="0"/>
            <a:t>Ketterä testiautomaatio</a:t>
          </a:r>
          <a:endParaRPr lang="fi-FI" sz="1600" dirty="0"/>
        </a:p>
      </dgm:t>
    </dgm:pt>
    <dgm:pt modelId="{FCD65EE4-04BE-4BA8-9759-06D0239BC1CF}" type="parTrans" cxnId="{CDD9C8BA-EF14-4D47-B964-8F6A3817C0E8}">
      <dgm:prSet/>
      <dgm:spPr/>
      <dgm:t>
        <a:bodyPr/>
        <a:lstStyle/>
        <a:p>
          <a:endParaRPr lang="fi-FI"/>
        </a:p>
      </dgm:t>
    </dgm:pt>
    <dgm:pt modelId="{1BBE959D-AF51-4242-AFF2-2384DDA03068}" type="sibTrans" cxnId="{CDD9C8BA-EF14-4D47-B964-8F6A3817C0E8}">
      <dgm:prSet/>
      <dgm:spPr/>
      <dgm:t>
        <a:bodyPr/>
        <a:lstStyle/>
        <a:p>
          <a:endParaRPr lang="fi-FI"/>
        </a:p>
      </dgm:t>
    </dgm:pt>
    <dgm:pt modelId="{49056608-284B-41CD-8ADB-3FDE4D94AB7D}">
      <dgm:prSet custT="1"/>
      <dgm:spPr/>
      <dgm:t>
        <a:bodyPr/>
        <a:lstStyle/>
        <a:p>
          <a:pPr rtl="0"/>
          <a:r>
            <a:rPr lang="fi-FI" sz="1600" dirty="0" smtClean="0"/>
            <a:t>Inkrementtisuunnittelu</a:t>
          </a:r>
          <a:endParaRPr lang="fi-FI" sz="1600" dirty="0"/>
        </a:p>
      </dgm:t>
    </dgm:pt>
    <dgm:pt modelId="{118BCB87-D671-4AB7-9908-05F43A2E843E}" type="parTrans" cxnId="{4749D8C8-5C9F-4FB3-8F3C-01022DDB2E1B}">
      <dgm:prSet/>
      <dgm:spPr/>
    </dgm:pt>
    <dgm:pt modelId="{1BA99C48-905F-47B0-B670-BDD8FDF137C4}" type="sibTrans" cxnId="{4749D8C8-5C9F-4FB3-8F3C-01022DDB2E1B}">
      <dgm:prSet/>
      <dgm:spPr/>
    </dgm:pt>
    <dgm:pt modelId="{3E0474F6-28FF-4E2A-9CE3-47E7144861B8}">
      <dgm:prSet custT="1"/>
      <dgm:spPr/>
      <dgm:t>
        <a:bodyPr/>
        <a:lstStyle/>
        <a:p>
          <a:pPr rtl="0"/>
          <a:r>
            <a:rPr lang="fi-FI" sz="1600" dirty="0" smtClean="0"/>
            <a:t>Julkaisusuunnittelu</a:t>
          </a:r>
          <a:endParaRPr lang="fi-FI" sz="1600" dirty="0"/>
        </a:p>
      </dgm:t>
    </dgm:pt>
    <dgm:pt modelId="{AAD8D21F-2F28-41F2-AA7F-D2296ECD10F5}" type="parTrans" cxnId="{4DDA85C5-47C2-4EC3-BA32-9B55593846E6}">
      <dgm:prSet/>
      <dgm:spPr/>
    </dgm:pt>
    <dgm:pt modelId="{301C377B-C97C-44D4-96E8-495FD96130EB}" type="sibTrans" cxnId="{4DDA85C5-47C2-4EC3-BA32-9B55593846E6}">
      <dgm:prSet/>
      <dgm:spPr/>
    </dgm:pt>
    <dgm:pt modelId="{71E1A4A0-F53B-46FD-8EB5-746260CA76E9}">
      <dgm:prSet custT="1"/>
      <dgm:spPr/>
      <dgm:t>
        <a:bodyPr/>
        <a:lstStyle/>
        <a:p>
          <a:pPr rtl="0"/>
          <a:r>
            <a:rPr lang="fi-FI" sz="1600" dirty="0" smtClean="0"/>
            <a:t>Testaus inkrementeissä</a:t>
          </a:r>
          <a:endParaRPr lang="fi-FI" sz="1600" dirty="0"/>
        </a:p>
      </dgm:t>
    </dgm:pt>
    <dgm:pt modelId="{13232243-AB08-4227-9BAC-6ED7FE50BBA6}" type="parTrans" cxnId="{AE2593A1-7008-4C42-96E4-01BB204E1EAE}">
      <dgm:prSet/>
      <dgm:spPr/>
    </dgm:pt>
    <dgm:pt modelId="{C9859194-3246-43C4-99DE-C50EBC67532F}" type="sibTrans" cxnId="{AE2593A1-7008-4C42-96E4-01BB204E1EAE}">
      <dgm:prSet/>
      <dgm:spPr/>
    </dgm:pt>
    <dgm:pt modelId="{A7B9EF29-C5CA-4E82-8A3E-0C9D22914FDC}">
      <dgm:prSet custT="1"/>
      <dgm:spPr/>
      <dgm:t>
        <a:bodyPr/>
        <a:lstStyle/>
        <a:p>
          <a:pPr rtl="0"/>
          <a:r>
            <a:rPr lang="fi-FI" sz="1600" dirty="0" smtClean="0"/>
            <a:t>Havaintojen raportointi</a:t>
          </a:r>
          <a:endParaRPr lang="fi-FI" sz="1600" dirty="0"/>
        </a:p>
      </dgm:t>
    </dgm:pt>
    <dgm:pt modelId="{DB480880-BA03-4F82-AF7B-A0D53804B274}" type="parTrans" cxnId="{3CAD0DA5-9BD7-42F4-8FED-98533DF4CA1C}">
      <dgm:prSet/>
      <dgm:spPr/>
    </dgm:pt>
    <dgm:pt modelId="{19CA3980-244A-406B-8C67-6B2FCA3DB273}" type="sibTrans" cxnId="{3CAD0DA5-9BD7-42F4-8FED-98533DF4CA1C}">
      <dgm:prSet/>
      <dgm:spPr/>
    </dgm:pt>
    <dgm:pt modelId="{839DAA1E-965A-47C3-A43A-11065EE10B96}" type="pres">
      <dgm:prSet presAssocID="{9998B519-03B6-4420-B2B1-FE85B07BB863}" presName="Name0" presStyleCnt="0">
        <dgm:presLayoutVars>
          <dgm:dir/>
          <dgm:animLvl val="lvl"/>
          <dgm:resizeHandles val="exact"/>
        </dgm:presLayoutVars>
      </dgm:prSet>
      <dgm:spPr/>
      <dgm:t>
        <a:bodyPr/>
        <a:lstStyle/>
        <a:p>
          <a:endParaRPr lang="fi-FI"/>
        </a:p>
      </dgm:t>
    </dgm:pt>
    <dgm:pt modelId="{1E15A9A0-54DC-418F-B00C-3E01C32BEAE1}" type="pres">
      <dgm:prSet presAssocID="{98AED58E-7E7C-416A-8A18-20CA5C05518C}" presName="linNode" presStyleCnt="0"/>
      <dgm:spPr/>
    </dgm:pt>
    <dgm:pt modelId="{F2F08941-5A68-411E-AD7F-6EF46FD56FBD}" type="pres">
      <dgm:prSet presAssocID="{98AED58E-7E7C-416A-8A18-20CA5C05518C}" presName="parentText" presStyleLbl="node1" presStyleIdx="0" presStyleCnt="4">
        <dgm:presLayoutVars>
          <dgm:chMax val="1"/>
          <dgm:bulletEnabled val="1"/>
        </dgm:presLayoutVars>
      </dgm:prSet>
      <dgm:spPr/>
      <dgm:t>
        <a:bodyPr/>
        <a:lstStyle/>
        <a:p>
          <a:endParaRPr lang="fi-FI"/>
        </a:p>
      </dgm:t>
    </dgm:pt>
    <dgm:pt modelId="{3E0795D4-4188-4949-AE94-2A791BCE1FD9}" type="pres">
      <dgm:prSet presAssocID="{98AED58E-7E7C-416A-8A18-20CA5C05518C}" presName="descendantText" presStyleLbl="alignAccFollowNode1" presStyleIdx="0" presStyleCnt="4">
        <dgm:presLayoutVars>
          <dgm:bulletEnabled val="1"/>
        </dgm:presLayoutVars>
      </dgm:prSet>
      <dgm:spPr/>
      <dgm:t>
        <a:bodyPr/>
        <a:lstStyle/>
        <a:p>
          <a:endParaRPr lang="fi-FI"/>
        </a:p>
      </dgm:t>
    </dgm:pt>
    <dgm:pt modelId="{36D3ACFC-26E0-45C8-A1C3-BE3B78CF069D}" type="pres">
      <dgm:prSet presAssocID="{7B7043EF-82C6-49F3-872D-29988068644C}" presName="sp" presStyleCnt="0"/>
      <dgm:spPr/>
    </dgm:pt>
    <dgm:pt modelId="{FCA73F41-6637-4792-B146-2F852EE33B87}" type="pres">
      <dgm:prSet presAssocID="{C31BA4C3-B958-4E11-B7C3-C2A236A8EB3B}" presName="linNode" presStyleCnt="0"/>
      <dgm:spPr/>
    </dgm:pt>
    <dgm:pt modelId="{6008EA90-E6B1-4498-ABE6-BCDF0E0818F9}" type="pres">
      <dgm:prSet presAssocID="{C31BA4C3-B958-4E11-B7C3-C2A236A8EB3B}" presName="parentText" presStyleLbl="node1" presStyleIdx="1" presStyleCnt="4">
        <dgm:presLayoutVars>
          <dgm:chMax val="1"/>
          <dgm:bulletEnabled val="1"/>
        </dgm:presLayoutVars>
      </dgm:prSet>
      <dgm:spPr/>
      <dgm:t>
        <a:bodyPr/>
        <a:lstStyle/>
        <a:p>
          <a:endParaRPr lang="fi-FI"/>
        </a:p>
      </dgm:t>
    </dgm:pt>
    <dgm:pt modelId="{B9ADED97-AC03-45B3-9A41-1A0C1968CFF9}" type="pres">
      <dgm:prSet presAssocID="{C31BA4C3-B958-4E11-B7C3-C2A236A8EB3B}" presName="descendantText" presStyleLbl="alignAccFollowNode1" presStyleIdx="1" presStyleCnt="4">
        <dgm:presLayoutVars>
          <dgm:bulletEnabled val="1"/>
        </dgm:presLayoutVars>
      </dgm:prSet>
      <dgm:spPr/>
      <dgm:t>
        <a:bodyPr/>
        <a:lstStyle/>
        <a:p>
          <a:endParaRPr lang="fi-FI"/>
        </a:p>
      </dgm:t>
    </dgm:pt>
    <dgm:pt modelId="{9C05B516-FF87-4BA1-96C0-F306926B9554}" type="pres">
      <dgm:prSet presAssocID="{5E03A5A6-63E6-4AAD-9C85-3AFA2420A86B}" presName="sp" presStyleCnt="0"/>
      <dgm:spPr/>
    </dgm:pt>
    <dgm:pt modelId="{E9DA7CE4-CC12-4EBB-A6B7-059B79834B7E}" type="pres">
      <dgm:prSet presAssocID="{228F0A37-3996-4B64-9C0A-A54BCC3EA6BA}" presName="linNode" presStyleCnt="0"/>
      <dgm:spPr/>
    </dgm:pt>
    <dgm:pt modelId="{BA4D8448-5FCE-4939-A31F-189DD0695EDD}" type="pres">
      <dgm:prSet presAssocID="{228F0A37-3996-4B64-9C0A-A54BCC3EA6BA}" presName="parentText" presStyleLbl="node1" presStyleIdx="2" presStyleCnt="4">
        <dgm:presLayoutVars>
          <dgm:chMax val="1"/>
          <dgm:bulletEnabled val="1"/>
        </dgm:presLayoutVars>
      </dgm:prSet>
      <dgm:spPr/>
      <dgm:t>
        <a:bodyPr/>
        <a:lstStyle/>
        <a:p>
          <a:endParaRPr lang="fi-FI"/>
        </a:p>
      </dgm:t>
    </dgm:pt>
    <dgm:pt modelId="{25BA6B9A-BD30-4EEB-BF01-6CE0D866FE92}" type="pres">
      <dgm:prSet presAssocID="{228F0A37-3996-4B64-9C0A-A54BCC3EA6BA}" presName="descendantText" presStyleLbl="alignAccFollowNode1" presStyleIdx="2" presStyleCnt="4">
        <dgm:presLayoutVars>
          <dgm:bulletEnabled val="1"/>
        </dgm:presLayoutVars>
      </dgm:prSet>
      <dgm:spPr/>
      <dgm:t>
        <a:bodyPr/>
        <a:lstStyle/>
        <a:p>
          <a:endParaRPr lang="fi-FI"/>
        </a:p>
      </dgm:t>
    </dgm:pt>
    <dgm:pt modelId="{A24F7DA3-FC33-40E2-9E71-B9882F04CC75}" type="pres">
      <dgm:prSet presAssocID="{56C0928A-7EA9-42C0-9A29-47825D899D4F}" presName="sp" presStyleCnt="0"/>
      <dgm:spPr/>
    </dgm:pt>
    <dgm:pt modelId="{84F3CB32-DDE5-45B2-9385-0CD91C557D89}" type="pres">
      <dgm:prSet presAssocID="{5CC6B45F-A032-48B1-AC89-723CB5731DA6}" presName="linNode" presStyleCnt="0"/>
      <dgm:spPr/>
    </dgm:pt>
    <dgm:pt modelId="{6E4EC516-9261-48FC-9264-8581F4CB680E}" type="pres">
      <dgm:prSet presAssocID="{5CC6B45F-A032-48B1-AC89-723CB5731DA6}" presName="parentText" presStyleLbl="node1" presStyleIdx="3" presStyleCnt="4">
        <dgm:presLayoutVars>
          <dgm:chMax val="1"/>
          <dgm:bulletEnabled val="1"/>
        </dgm:presLayoutVars>
      </dgm:prSet>
      <dgm:spPr/>
      <dgm:t>
        <a:bodyPr/>
        <a:lstStyle/>
        <a:p>
          <a:endParaRPr lang="fi-FI"/>
        </a:p>
      </dgm:t>
    </dgm:pt>
    <dgm:pt modelId="{F49AC9AF-1A8A-4450-AECD-FC6A5E789BAA}" type="pres">
      <dgm:prSet presAssocID="{5CC6B45F-A032-48B1-AC89-723CB5731DA6}" presName="descendantText" presStyleLbl="alignAccFollowNode1" presStyleIdx="3" presStyleCnt="4">
        <dgm:presLayoutVars>
          <dgm:bulletEnabled val="1"/>
        </dgm:presLayoutVars>
      </dgm:prSet>
      <dgm:spPr/>
      <dgm:t>
        <a:bodyPr/>
        <a:lstStyle/>
        <a:p>
          <a:endParaRPr lang="fi-FI"/>
        </a:p>
      </dgm:t>
    </dgm:pt>
  </dgm:ptLst>
  <dgm:cxnLst>
    <dgm:cxn modelId="{4DDA85C5-47C2-4EC3-BA32-9B55593846E6}" srcId="{C31BA4C3-B958-4E11-B7C3-C2A236A8EB3B}" destId="{3E0474F6-28FF-4E2A-9CE3-47E7144861B8}" srcOrd="1" destOrd="0" parTransId="{AAD8D21F-2F28-41F2-AA7F-D2296ECD10F5}" sibTransId="{301C377B-C97C-44D4-96E8-495FD96130EB}"/>
    <dgm:cxn modelId="{20F8098D-A05C-49B4-950A-565A1779F2CD}" srcId="{9998B519-03B6-4420-B2B1-FE85B07BB863}" destId="{5CC6B45F-A032-48B1-AC89-723CB5731DA6}" srcOrd="3" destOrd="0" parTransId="{ACE1AE1F-A6A3-4BC7-821F-C9E3D9ACDC74}" sibTransId="{36D246C1-F80B-41F2-9433-62746058ABD0}"/>
    <dgm:cxn modelId="{4F0B4E38-5B68-4BDA-9E82-221DAFA0D6A2}" srcId="{228F0A37-3996-4B64-9C0A-A54BCC3EA6BA}" destId="{08DFE00A-129B-475A-877D-F98A2C8EA242}" srcOrd="1" destOrd="0" parTransId="{4A14A3AA-2455-49C2-9043-EA3E03C94CEA}" sibTransId="{8C6BB5C5-A2AA-4CAD-A46F-A64D3545DBF2}"/>
    <dgm:cxn modelId="{042B7EC9-D177-49F3-98F4-B3ACB46C0A5B}" type="presOf" srcId="{49056608-284B-41CD-8ADB-3FDE4D94AB7D}" destId="{B9ADED97-AC03-45B3-9A41-1A0C1968CFF9}" srcOrd="0" destOrd="0" presId="urn:microsoft.com/office/officeart/2005/8/layout/vList5"/>
    <dgm:cxn modelId="{D1941F7B-13B1-4D94-B714-BF51FA720FE8}" type="presOf" srcId="{98AED58E-7E7C-416A-8A18-20CA5C05518C}" destId="{F2F08941-5A68-411E-AD7F-6EF46FD56FBD}" srcOrd="0" destOrd="0" presId="urn:microsoft.com/office/officeart/2005/8/layout/vList5"/>
    <dgm:cxn modelId="{EDD8CE69-0971-4918-931D-D067FC16EDFF}" type="presOf" srcId="{5CC6B45F-A032-48B1-AC89-723CB5731DA6}" destId="{6E4EC516-9261-48FC-9264-8581F4CB680E}" srcOrd="0" destOrd="0" presId="urn:microsoft.com/office/officeart/2005/8/layout/vList5"/>
    <dgm:cxn modelId="{23D9DC19-F53F-4AF4-BCC2-AD7BE65BF063}" srcId="{9998B519-03B6-4420-B2B1-FE85B07BB863}" destId="{98AED58E-7E7C-416A-8A18-20CA5C05518C}" srcOrd="0" destOrd="0" parTransId="{0A6D6936-CA06-4D83-B067-BEB710A210C1}" sibTransId="{7B7043EF-82C6-49F3-872D-29988068644C}"/>
    <dgm:cxn modelId="{28EBEDBE-AAA5-4405-8F6D-0C3AC5FF5A4E}" type="presOf" srcId="{A7B9EF29-C5CA-4E82-8A3E-0C9D22914FDC}" destId="{3E0795D4-4188-4949-AE94-2A791BCE1FD9}" srcOrd="0" destOrd="1" presId="urn:microsoft.com/office/officeart/2005/8/layout/vList5"/>
    <dgm:cxn modelId="{C3492C0E-D4A9-4161-8A93-9DE428C059AC}" type="presOf" srcId="{C31BA4C3-B958-4E11-B7C3-C2A236A8EB3B}" destId="{6008EA90-E6B1-4498-ABE6-BCDF0E0818F9}" srcOrd="0" destOrd="0" presId="urn:microsoft.com/office/officeart/2005/8/layout/vList5"/>
    <dgm:cxn modelId="{B5D7117E-206A-4593-AA8F-81B190E5B229}" type="presOf" srcId="{228F0A37-3996-4B64-9C0A-A54BCC3EA6BA}" destId="{BA4D8448-5FCE-4939-A31F-189DD0695EDD}" srcOrd="0" destOrd="0" presId="urn:microsoft.com/office/officeart/2005/8/layout/vList5"/>
    <dgm:cxn modelId="{1FEBD52C-2A1B-4DE0-96FC-1D0F5C9BE063}" type="presOf" srcId="{80925EED-1441-4DF2-ADCA-DEFC0758046C}" destId="{F49AC9AF-1A8A-4450-AECD-FC6A5E789BAA}" srcOrd="0" destOrd="0" presId="urn:microsoft.com/office/officeart/2005/8/layout/vList5"/>
    <dgm:cxn modelId="{4749D8C8-5C9F-4FB3-8F3C-01022DDB2E1B}" srcId="{C31BA4C3-B958-4E11-B7C3-C2A236A8EB3B}" destId="{49056608-284B-41CD-8ADB-3FDE4D94AB7D}" srcOrd="0" destOrd="0" parTransId="{118BCB87-D671-4AB7-9908-05F43A2E843E}" sibTransId="{1BA99C48-905F-47B0-B670-BDD8FDF137C4}"/>
    <dgm:cxn modelId="{8123CBD5-215B-4D5F-89D4-E84554A6AD24}" type="presOf" srcId="{95B352C6-C5E7-4083-93BA-0F69DDA0277F}" destId="{25BA6B9A-BD30-4EEB-BF01-6CE0D866FE92}" srcOrd="0" destOrd="0" presId="urn:microsoft.com/office/officeart/2005/8/layout/vList5"/>
    <dgm:cxn modelId="{A23B9D2A-0E5B-4B19-8C5E-AFF4CAEF54EE}" type="presOf" srcId="{3E0474F6-28FF-4E2A-9CE3-47E7144861B8}" destId="{B9ADED97-AC03-45B3-9A41-1A0C1968CFF9}" srcOrd="0" destOrd="1" presId="urn:microsoft.com/office/officeart/2005/8/layout/vList5"/>
    <dgm:cxn modelId="{251371D5-2C5E-4EBD-ACCC-FE35F7543D60}" srcId="{9998B519-03B6-4420-B2B1-FE85B07BB863}" destId="{228F0A37-3996-4B64-9C0A-A54BCC3EA6BA}" srcOrd="2" destOrd="0" parTransId="{80E2191C-1D1A-47AA-842D-64009A32EDB7}" sibTransId="{56C0928A-7EA9-42C0-9A29-47825D899D4F}"/>
    <dgm:cxn modelId="{3CAD0DA5-9BD7-42F4-8FED-98533DF4CA1C}" srcId="{98AED58E-7E7C-416A-8A18-20CA5C05518C}" destId="{A7B9EF29-C5CA-4E82-8A3E-0C9D22914FDC}" srcOrd="1" destOrd="0" parTransId="{DB480880-BA03-4F82-AF7B-A0D53804B274}" sibTransId="{19CA3980-244A-406B-8C67-6B2FCA3DB273}"/>
    <dgm:cxn modelId="{CDD9C8BA-EF14-4D47-B964-8F6A3817C0E8}" srcId="{5CC6B45F-A032-48B1-AC89-723CB5731DA6}" destId="{80B393ED-AF20-4EC7-B392-49545AD72664}" srcOrd="1" destOrd="0" parTransId="{FCD65EE4-04BE-4BA8-9759-06D0239BC1CF}" sibTransId="{1BBE959D-AF51-4242-AFF2-2384DDA03068}"/>
    <dgm:cxn modelId="{3DC6CCA9-3289-49ED-AD50-FA399B7CF3FD}" srcId="{9998B519-03B6-4420-B2B1-FE85B07BB863}" destId="{C31BA4C3-B958-4E11-B7C3-C2A236A8EB3B}" srcOrd="1" destOrd="0" parTransId="{135DAC36-0DF2-4398-951B-28CFA21B8788}" sibTransId="{5E03A5A6-63E6-4AAD-9C85-3AFA2420A86B}"/>
    <dgm:cxn modelId="{6702F975-EE5A-4B3A-819B-4D769DE2EDD0}" srcId="{228F0A37-3996-4B64-9C0A-A54BCC3EA6BA}" destId="{95B352C6-C5E7-4083-93BA-0F69DDA0277F}" srcOrd="0" destOrd="0" parTransId="{5D3D321A-5A91-452C-A4F9-DDF324254058}" sibTransId="{D1032473-79B1-4B99-B675-8BB11F5E92A0}"/>
    <dgm:cxn modelId="{B0CCAEA5-78EA-4989-B6BC-1F3D190A5E2B}" type="presOf" srcId="{08DFE00A-129B-475A-877D-F98A2C8EA242}" destId="{25BA6B9A-BD30-4EEB-BF01-6CE0D866FE92}" srcOrd="0" destOrd="1" presId="urn:microsoft.com/office/officeart/2005/8/layout/vList5"/>
    <dgm:cxn modelId="{EA850E6D-D8F5-4B0A-91F8-C15D87CCFE5D}" type="presOf" srcId="{9998B519-03B6-4420-B2B1-FE85B07BB863}" destId="{839DAA1E-965A-47C3-A43A-11065EE10B96}" srcOrd="0" destOrd="0" presId="urn:microsoft.com/office/officeart/2005/8/layout/vList5"/>
    <dgm:cxn modelId="{19C61E4D-528D-4F66-B9ED-BF77AAA08D82}" srcId="{C31BA4C3-B958-4E11-B7C3-C2A236A8EB3B}" destId="{A53ACEF5-5EE8-41E2-B6D6-C74C7F15C95C}" srcOrd="2" destOrd="0" parTransId="{69560B9A-A60F-4637-A32B-636AAAC54DB0}" sibTransId="{77146491-8700-47AB-ABF7-3BE839DD8C89}"/>
    <dgm:cxn modelId="{6A85A858-7875-4A1B-8526-D540662CDAAA}" type="presOf" srcId="{A53ACEF5-5EE8-41E2-B6D6-C74C7F15C95C}" destId="{B9ADED97-AC03-45B3-9A41-1A0C1968CFF9}" srcOrd="0" destOrd="2" presId="urn:microsoft.com/office/officeart/2005/8/layout/vList5"/>
    <dgm:cxn modelId="{AE2593A1-7008-4C42-96E4-01BB204E1EAE}" srcId="{98AED58E-7E7C-416A-8A18-20CA5C05518C}" destId="{71E1A4A0-F53B-46FD-8EB5-746260CA76E9}" srcOrd="0" destOrd="0" parTransId="{13232243-AB08-4227-9BAC-6ED7FE50BBA6}" sibTransId="{C9859194-3246-43C4-99DE-C50EBC67532F}"/>
    <dgm:cxn modelId="{15DE493D-4526-46A3-ADD5-72BBDBFF4979}" srcId="{5CC6B45F-A032-48B1-AC89-723CB5731DA6}" destId="{80925EED-1441-4DF2-ADCA-DEFC0758046C}" srcOrd="0" destOrd="0" parTransId="{9FA56589-B84D-4A74-AAFB-CDF4873928A2}" sibTransId="{4532DB22-9671-4E53-BF06-C9663B3EE1A1}"/>
    <dgm:cxn modelId="{254F49CE-30CE-4190-8F7C-08B3AC6A47EA}" type="presOf" srcId="{80B393ED-AF20-4EC7-B392-49545AD72664}" destId="{F49AC9AF-1A8A-4450-AECD-FC6A5E789BAA}" srcOrd="0" destOrd="1" presId="urn:microsoft.com/office/officeart/2005/8/layout/vList5"/>
    <dgm:cxn modelId="{CF797ADA-9239-4742-BBB4-AF3520865A28}" type="presOf" srcId="{71E1A4A0-F53B-46FD-8EB5-746260CA76E9}" destId="{3E0795D4-4188-4949-AE94-2A791BCE1FD9}" srcOrd="0" destOrd="0" presId="urn:microsoft.com/office/officeart/2005/8/layout/vList5"/>
    <dgm:cxn modelId="{E16FCCF8-1051-42E8-86A5-DA7C2E69B9D8}" type="presParOf" srcId="{839DAA1E-965A-47C3-A43A-11065EE10B96}" destId="{1E15A9A0-54DC-418F-B00C-3E01C32BEAE1}" srcOrd="0" destOrd="0" presId="urn:microsoft.com/office/officeart/2005/8/layout/vList5"/>
    <dgm:cxn modelId="{A95CAD4D-DA00-4215-811F-2DBDBA659A0F}" type="presParOf" srcId="{1E15A9A0-54DC-418F-B00C-3E01C32BEAE1}" destId="{F2F08941-5A68-411E-AD7F-6EF46FD56FBD}" srcOrd="0" destOrd="0" presId="urn:microsoft.com/office/officeart/2005/8/layout/vList5"/>
    <dgm:cxn modelId="{F75E7832-4FB3-40C4-BF6E-013EA1A50446}" type="presParOf" srcId="{1E15A9A0-54DC-418F-B00C-3E01C32BEAE1}" destId="{3E0795D4-4188-4949-AE94-2A791BCE1FD9}" srcOrd="1" destOrd="0" presId="urn:microsoft.com/office/officeart/2005/8/layout/vList5"/>
    <dgm:cxn modelId="{CC19EEAB-8D27-4347-A604-38F56B1496AA}" type="presParOf" srcId="{839DAA1E-965A-47C3-A43A-11065EE10B96}" destId="{36D3ACFC-26E0-45C8-A1C3-BE3B78CF069D}" srcOrd="1" destOrd="0" presId="urn:microsoft.com/office/officeart/2005/8/layout/vList5"/>
    <dgm:cxn modelId="{997B6C1B-30ED-4313-AA0F-9CDC55D31AEF}" type="presParOf" srcId="{839DAA1E-965A-47C3-A43A-11065EE10B96}" destId="{FCA73F41-6637-4792-B146-2F852EE33B87}" srcOrd="2" destOrd="0" presId="urn:microsoft.com/office/officeart/2005/8/layout/vList5"/>
    <dgm:cxn modelId="{85B7F7B3-497F-418D-8FF6-711A53F1EEAA}" type="presParOf" srcId="{FCA73F41-6637-4792-B146-2F852EE33B87}" destId="{6008EA90-E6B1-4498-ABE6-BCDF0E0818F9}" srcOrd="0" destOrd="0" presId="urn:microsoft.com/office/officeart/2005/8/layout/vList5"/>
    <dgm:cxn modelId="{6FE63F25-08EC-4E25-827D-58CB662C4CC4}" type="presParOf" srcId="{FCA73F41-6637-4792-B146-2F852EE33B87}" destId="{B9ADED97-AC03-45B3-9A41-1A0C1968CFF9}" srcOrd="1" destOrd="0" presId="urn:microsoft.com/office/officeart/2005/8/layout/vList5"/>
    <dgm:cxn modelId="{25D3C285-5D08-4223-9C63-03EDC9D05A96}" type="presParOf" srcId="{839DAA1E-965A-47C3-A43A-11065EE10B96}" destId="{9C05B516-FF87-4BA1-96C0-F306926B9554}" srcOrd="3" destOrd="0" presId="urn:microsoft.com/office/officeart/2005/8/layout/vList5"/>
    <dgm:cxn modelId="{7E671963-E0E0-4C69-B5BA-061686E56A46}" type="presParOf" srcId="{839DAA1E-965A-47C3-A43A-11065EE10B96}" destId="{E9DA7CE4-CC12-4EBB-A6B7-059B79834B7E}" srcOrd="4" destOrd="0" presId="urn:microsoft.com/office/officeart/2005/8/layout/vList5"/>
    <dgm:cxn modelId="{C386F1E7-342B-4D71-A6A2-207EEEBD651B}" type="presParOf" srcId="{E9DA7CE4-CC12-4EBB-A6B7-059B79834B7E}" destId="{BA4D8448-5FCE-4939-A31F-189DD0695EDD}" srcOrd="0" destOrd="0" presId="urn:microsoft.com/office/officeart/2005/8/layout/vList5"/>
    <dgm:cxn modelId="{83DD9CD9-4CA8-4CB9-840E-4722F6E0ECBF}" type="presParOf" srcId="{E9DA7CE4-CC12-4EBB-A6B7-059B79834B7E}" destId="{25BA6B9A-BD30-4EEB-BF01-6CE0D866FE92}" srcOrd="1" destOrd="0" presId="urn:microsoft.com/office/officeart/2005/8/layout/vList5"/>
    <dgm:cxn modelId="{B021267B-7BC6-4660-80CD-F2561B05A642}" type="presParOf" srcId="{839DAA1E-965A-47C3-A43A-11065EE10B96}" destId="{A24F7DA3-FC33-40E2-9E71-B9882F04CC75}" srcOrd="5" destOrd="0" presId="urn:microsoft.com/office/officeart/2005/8/layout/vList5"/>
    <dgm:cxn modelId="{A0755CB0-9471-47E3-A78C-585ACA80FC73}" type="presParOf" srcId="{839DAA1E-965A-47C3-A43A-11065EE10B96}" destId="{84F3CB32-DDE5-45B2-9385-0CD91C557D89}" srcOrd="6" destOrd="0" presId="urn:microsoft.com/office/officeart/2005/8/layout/vList5"/>
    <dgm:cxn modelId="{4536FCB7-E04B-4DA5-A2E1-254AFEEBAE75}" type="presParOf" srcId="{84F3CB32-DDE5-45B2-9385-0CD91C557D89}" destId="{6E4EC516-9261-48FC-9264-8581F4CB680E}" srcOrd="0" destOrd="0" presId="urn:microsoft.com/office/officeart/2005/8/layout/vList5"/>
    <dgm:cxn modelId="{A7018822-FC25-4BD5-9216-8CFC8D08BFFC}" type="presParOf" srcId="{84F3CB32-DDE5-45B2-9385-0CD91C557D89}" destId="{F49AC9AF-1A8A-4450-AECD-FC6A5E789BAA}" srcOrd="1" destOrd="0" presId="urn:microsoft.com/office/officeart/2005/8/layout/vList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B479232-6C1C-4C0F-83B0-84A7B9BD74BE}">
      <dsp:nvSpPr>
        <dsp:cNvPr id="0" name=""/>
        <dsp:cNvSpPr/>
      </dsp:nvSpPr>
      <dsp:spPr>
        <a:xfrm>
          <a:off x="2407458" y="343616"/>
          <a:ext cx="4440586" cy="4440586"/>
        </a:xfrm>
        <a:prstGeom prst="pie">
          <a:avLst>
            <a:gd name="adj1" fmla="val 16200000"/>
            <a:gd name="adj2" fmla="val 18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KEHITYSTÄ:</a:t>
          </a:r>
          <a:br>
            <a:rPr lang="fi-FI" sz="1500" kern="1200" dirty="0" smtClean="0"/>
          </a:br>
          <a:r>
            <a:rPr lang="fi-FI" sz="1500" kern="1200" dirty="0" smtClean="0"/>
            <a:t>Arkkitehtuuri, toteutustavat ja –teknologiat, rajoitteiden huomiointi</a:t>
          </a:r>
          <a:endParaRPr lang="fi-FI" sz="1500" kern="1200" dirty="0"/>
        </a:p>
      </dsp:txBody>
      <dsp:txXfrm>
        <a:off x="4747753" y="1284598"/>
        <a:ext cx="1585923" cy="1321603"/>
      </dsp:txXfrm>
    </dsp:sp>
    <dsp:sp modelId="{6A4F1999-EB4F-4EBC-B333-91EE51B7EB49}">
      <dsp:nvSpPr>
        <dsp:cNvPr id="0" name=""/>
        <dsp:cNvSpPr/>
      </dsp:nvSpPr>
      <dsp:spPr>
        <a:xfrm>
          <a:off x="2316003" y="502209"/>
          <a:ext cx="4440586" cy="4440586"/>
        </a:xfrm>
        <a:prstGeom prst="pie">
          <a:avLst>
            <a:gd name="adj1" fmla="val 1800000"/>
            <a:gd name="adj2" fmla="val 90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YHTEISTÄ: </a:t>
          </a:r>
          <a:br>
            <a:rPr lang="fi-FI" sz="1500" kern="1200" dirty="0" smtClean="0"/>
          </a:br>
          <a:r>
            <a:rPr lang="fi-FI" sz="1500" kern="1200" dirty="0" smtClean="0"/>
            <a:t>Arvot, periaatteet, puitteet, yhteistyö, organisaation rajoitteet </a:t>
          </a:r>
          <a:endParaRPr lang="fi-FI" sz="1500" kern="1200" dirty="0"/>
        </a:p>
      </dsp:txBody>
      <dsp:txXfrm>
        <a:off x="3373286" y="3383303"/>
        <a:ext cx="2378885" cy="1163010"/>
      </dsp:txXfrm>
    </dsp:sp>
    <dsp:sp modelId="{48153311-3B27-4CAD-AD05-B2B030114381}">
      <dsp:nvSpPr>
        <dsp:cNvPr id="0" name=""/>
        <dsp:cNvSpPr/>
      </dsp:nvSpPr>
      <dsp:spPr>
        <a:xfrm>
          <a:off x="2224549" y="343616"/>
          <a:ext cx="4440586" cy="4440586"/>
        </a:xfrm>
        <a:prstGeom prst="pie">
          <a:avLst>
            <a:gd name="adj1" fmla="val 9000000"/>
            <a:gd name="adj2" fmla="val 162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TESTAUSTA:</a:t>
          </a:r>
          <a:br>
            <a:rPr lang="fi-FI" sz="1500" kern="1200" dirty="0" smtClean="0"/>
          </a:br>
          <a:r>
            <a:rPr lang="fi-FI" sz="1500" kern="1200" dirty="0" smtClean="0"/>
            <a:t>Järjestelmälaadun palautemekanismit, kyseenalaistaminen</a:t>
          </a:r>
          <a:endParaRPr lang="fi-FI" sz="1500" kern="1200" dirty="0"/>
        </a:p>
      </dsp:txBody>
      <dsp:txXfrm>
        <a:off x="2738916" y="1284598"/>
        <a:ext cx="1585923" cy="1321603"/>
      </dsp:txXfrm>
    </dsp:sp>
    <dsp:sp modelId="{6FE07534-A3EC-4656-BBAF-24A47B2069CF}">
      <dsp:nvSpPr>
        <dsp:cNvPr id="0" name=""/>
        <dsp:cNvSpPr/>
      </dsp:nvSpPr>
      <dsp:spPr>
        <a:xfrm>
          <a:off x="2132931" y="68723"/>
          <a:ext cx="4990372" cy="4990372"/>
        </a:xfrm>
        <a:prstGeom prst="circularArrow">
          <a:avLst>
            <a:gd name="adj1" fmla="val 5085"/>
            <a:gd name="adj2" fmla="val 327528"/>
            <a:gd name="adj3" fmla="val 1472472"/>
            <a:gd name="adj4" fmla="val 16199432"/>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C91175-6607-49D9-A74A-558651E4D074}">
      <dsp:nvSpPr>
        <dsp:cNvPr id="0" name=""/>
        <dsp:cNvSpPr/>
      </dsp:nvSpPr>
      <dsp:spPr>
        <a:xfrm>
          <a:off x="2041110" y="227034"/>
          <a:ext cx="4990372" cy="4990372"/>
        </a:xfrm>
        <a:prstGeom prst="circularArrow">
          <a:avLst>
            <a:gd name="adj1" fmla="val 5085"/>
            <a:gd name="adj2" fmla="val 327528"/>
            <a:gd name="adj3" fmla="val 8671970"/>
            <a:gd name="adj4" fmla="val 1800502"/>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71E55E3-CA90-4CDC-B012-71027D071FD7}">
      <dsp:nvSpPr>
        <dsp:cNvPr id="0" name=""/>
        <dsp:cNvSpPr/>
      </dsp:nvSpPr>
      <dsp:spPr>
        <a:xfrm>
          <a:off x="1949289" y="68723"/>
          <a:ext cx="4990372" cy="4990372"/>
        </a:xfrm>
        <a:prstGeom prst="circularArrow">
          <a:avLst>
            <a:gd name="adj1" fmla="val 5085"/>
            <a:gd name="adj2" fmla="val 327528"/>
            <a:gd name="adj3" fmla="val 15873039"/>
            <a:gd name="adj4" fmla="val 9000000"/>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1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1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drawing2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Määritelmä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Vaihteluväli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testaus</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Scrum, XP ja muut</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Termistö</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Ketterät menetelmät</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Suunnittelumekanismit</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Siirtymä ketteriin</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Ketterä suunnittelu</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Itsetuntemus</a:t>
          </a:r>
          <a:endParaRPr lang="fi-FI" sz="1600" kern="1200" dirty="0"/>
        </a:p>
        <a:p>
          <a:pPr marL="171450" lvl="1" indent="-171450" algn="l" defTabSz="711200" rtl="0">
            <a:lnSpc>
              <a:spcPct val="90000"/>
            </a:lnSpc>
            <a:spcBef>
              <a:spcPct val="0"/>
            </a:spcBef>
            <a:spcAft>
              <a:spcPct val="15000"/>
            </a:spcAft>
            <a:buChar char="••"/>
          </a:pPr>
          <a:r>
            <a:rPr lang="fi-FI" sz="1600" kern="1200" dirty="0" smtClean="0"/>
            <a:t>Tarvittavat taidot</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Testauksen taidot</a:t>
          </a:r>
          <a:endParaRPr lang="fi-FI" sz="1600" kern="1200" dirty="0"/>
        </a:p>
      </dsp:txBody>
      <dsp:txXfrm>
        <a:off x="0" y="3434195"/>
        <a:ext cx="1508760" cy="1089501"/>
      </dsp:txXfrm>
    </dsp:sp>
  </dsp:spTree>
</dsp:drawing>
</file>

<file path=ppt/diagrams/drawing2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E0795D4-4188-4949-AE94-2A791BCE1FD9}">
      <dsp:nvSpPr>
        <dsp:cNvPr id="0" name=""/>
        <dsp:cNvSpPr/>
      </dsp:nvSpPr>
      <dsp:spPr>
        <a:xfrm rot="5400000">
          <a:off x="2414079" y="-794103"/>
          <a:ext cx="871601" cy="268224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Testaus inkrementeissä</a:t>
          </a:r>
          <a:endParaRPr lang="fi-FI" sz="1600" kern="1200" dirty="0"/>
        </a:p>
        <a:p>
          <a:pPr marL="171450" lvl="1" indent="-171450" algn="l" defTabSz="711200" rtl="0">
            <a:lnSpc>
              <a:spcPct val="90000"/>
            </a:lnSpc>
            <a:spcBef>
              <a:spcPct val="0"/>
            </a:spcBef>
            <a:spcAft>
              <a:spcPct val="15000"/>
            </a:spcAft>
            <a:buChar char="••"/>
          </a:pPr>
          <a:r>
            <a:rPr lang="fi-FI" sz="1600" kern="1200" dirty="0" smtClean="0"/>
            <a:t>Havaintojen raportointi</a:t>
          </a:r>
          <a:endParaRPr lang="fi-FI" sz="1600" kern="1200" dirty="0"/>
        </a:p>
      </dsp:txBody>
      <dsp:txXfrm rot="5400000">
        <a:off x="2414079" y="-794103"/>
        <a:ext cx="871601" cy="2682240"/>
      </dsp:txXfrm>
    </dsp:sp>
    <dsp:sp modelId="{F2F08941-5A68-411E-AD7F-6EF46FD56FBD}">
      <dsp:nvSpPr>
        <dsp:cNvPr id="0" name=""/>
        <dsp:cNvSpPr/>
      </dsp:nvSpPr>
      <dsp:spPr>
        <a:xfrm>
          <a:off x="0" y="2265"/>
          <a:ext cx="1508760" cy="10895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Testit ja havainnot</a:t>
          </a:r>
          <a:endParaRPr lang="en-US" sz="1600" kern="1200" dirty="0"/>
        </a:p>
      </dsp:txBody>
      <dsp:txXfrm>
        <a:off x="0" y="2265"/>
        <a:ext cx="1508760" cy="1089501"/>
      </dsp:txXfrm>
    </dsp:sp>
    <dsp:sp modelId="{B9ADED97-AC03-45B3-9A41-1A0C1968CFF9}">
      <dsp:nvSpPr>
        <dsp:cNvPr id="0" name=""/>
        <dsp:cNvSpPr/>
      </dsp:nvSpPr>
      <dsp:spPr>
        <a:xfrm rot="5400000">
          <a:off x="2414079" y="349873"/>
          <a:ext cx="871601" cy="2682240"/>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Inkrementtisuunnittelu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Julkaisusuunnittelu</a:t>
          </a:r>
          <a:endParaRPr lang="fi-FI" sz="1600" kern="1200" dirty="0"/>
        </a:p>
        <a:p>
          <a:pPr marL="171450" lvl="1" indent="-171450" algn="l" defTabSz="711200" rtl="0">
            <a:lnSpc>
              <a:spcPct val="90000"/>
            </a:lnSpc>
            <a:spcBef>
              <a:spcPct val="0"/>
            </a:spcBef>
            <a:spcAft>
              <a:spcPct val="15000"/>
            </a:spcAft>
            <a:buChar char="••"/>
          </a:pPr>
          <a:r>
            <a:rPr lang="fi-FI" sz="1600" kern="1200" dirty="0" smtClean="0"/>
            <a:t>Mittarit</a:t>
          </a:r>
          <a:endParaRPr lang="fi-FI" sz="1600" kern="1200" dirty="0"/>
        </a:p>
      </dsp:txBody>
      <dsp:txXfrm rot="5400000">
        <a:off x="2414079" y="349873"/>
        <a:ext cx="871601" cy="2682240"/>
      </dsp:txXfrm>
    </dsp:sp>
    <dsp:sp modelId="{6008EA90-E6B1-4498-ABE6-BCDF0E0818F9}">
      <dsp:nvSpPr>
        <dsp:cNvPr id="0" name=""/>
        <dsp:cNvSpPr/>
      </dsp:nvSpPr>
      <dsp:spPr>
        <a:xfrm>
          <a:off x="0" y="1146242"/>
          <a:ext cx="1508760" cy="108950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Testauksen hallinta</a:t>
          </a:r>
          <a:endParaRPr lang="en-US" sz="1600" kern="1200" dirty="0"/>
        </a:p>
      </dsp:txBody>
      <dsp:txXfrm>
        <a:off x="0" y="1146242"/>
        <a:ext cx="1508760" cy="1089501"/>
      </dsp:txXfrm>
    </dsp:sp>
    <dsp:sp modelId="{25BA6B9A-BD30-4EEB-BF01-6CE0D866FE92}">
      <dsp:nvSpPr>
        <dsp:cNvPr id="0" name=""/>
        <dsp:cNvSpPr/>
      </dsp:nvSpPr>
      <dsp:spPr>
        <a:xfrm rot="5400000">
          <a:off x="2414079" y="1493849"/>
          <a:ext cx="871601" cy="2682240"/>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Dokumentaatio</a:t>
          </a:r>
          <a:endParaRPr lang="fi-FI" sz="1600" kern="1200" dirty="0"/>
        </a:p>
        <a:p>
          <a:pPr marL="171450" marR="0" lvl="1" indent="-171450" algn="l" defTabSz="711200" rtl="0" eaLnBrk="1" fontAlgn="auto" latinLnBrk="0" hangingPunct="1">
            <a:lnSpc>
              <a:spcPct val="90000"/>
            </a:lnSpc>
            <a:spcBef>
              <a:spcPct val="0"/>
            </a:spcBef>
            <a:spcAft>
              <a:spcPct val="15000"/>
            </a:spcAft>
            <a:buClrTx/>
            <a:buSzTx/>
            <a:buFontTx/>
            <a:buChar char="••"/>
            <a:tabLst/>
            <a:defRPr/>
          </a:pPr>
          <a:r>
            <a:rPr lang="fi-FI" sz="1600" kern="1200" dirty="0" smtClean="0"/>
            <a:t>Hyväksymistestit</a:t>
          </a:r>
          <a:endParaRPr lang="fi-FI" sz="1600" kern="1200" dirty="0"/>
        </a:p>
      </dsp:txBody>
      <dsp:txXfrm rot="5400000">
        <a:off x="2414079" y="1493849"/>
        <a:ext cx="871601" cy="2682240"/>
      </dsp:txXfrm>
    </dsp:sp>
    <dsp:sp modelId="{BA4D8448-5FCE-4939-A31F-189DD0695EDD}">
      <dsp:nvSpPr>
        <dsp:cNvPr id="0" name=""/>
        <dsp:cNvSpPr/>
      </dsp:nvSpPr>
      <dsp:spPr>
        <a:xfrm>
          <a:off x="0" y="2290219"/>
          <a:ext cx="1508760" cy="108950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fi-FI" sz="1600" kern="1200" dirty="0" smtClean="0"/>
            <a:t>Vaatimukset ja hyväksymis-testiohjattu kehitys</a:t>
          </a:r>
          <a:endParaRPr lang="en-US" sz="1600" kern="1200" dirty="0"/>
        </a:p>
      </dsp:txBody>
      <dsp:txXfrm>
        <a:off x="0" y="2290219"/>
        <a:ext cx="1508760" cy="1089501"/>
      </dsp:txXfrm>
    </dsp:sp>
    <dsp:sp modelId="{F49AC9AF-1A8A-4450-AECD-FC6A5E789BAA}">
      <dsp:nvSpPr>
        <dsp:cNvPr id="0" name=""/>
        <dsp:cNvSpPr/>
      </dsp:nvSpPr>
      <dsp:spPr>
        <a:xfrm rot="5400000">
          <a:off x="2414079" y="2637826"/>
          <a:ext cx="871601" cy="2682240"/>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rtl="0">
            <a:lnSpc>
              <a:spcPct val="90000"/>
            </a:lnSpc>
            <a:spcBef>
              <a:spcPct val="0"/>
            </a:spcBef>
            <a:spcAft>
              <a:spcPct val="15000"/>
            </a:spcAft>
            <a:buChar char="••"/>
          </a:pPr>
          <a:r>
            <a:rPr lang="fi-FI" sz="1600" kern="1200" dirty="0" smtClean="0"/>
            <a:t>Jatkuva integrointi</a:t>
          </a:r>
          <a:endParaRPr lang="fi-FI" sz="1600" kern="1200" dirty="0"/>
        </a:p>
        <a:p>
          <a:pPr marL="171450" lvl="1" indent="-171450" algn="l" defTabSz="711200" rtl="0">
            <a:lnSpc>
              <a:spcPct val="90000"/>
            </a:lnSpc>
            <a:spcBef>
              <a:spcPct val="0"/>
            </a:spcBef>
            <a:spcAft>
              <a:spcPct val="15000"/>
            </a:spcAft>
            <a:buChar char="••"/>
          </a:pPr>
          <a:r>
            <a:rPr lang="fi-FI" sz="1600" kern="1200" dirty="0" smtClean="0"/>
            <a:t>Ketterä testiautomaatio</a:t>
          </a:r>
          <a:endParaRPr lang="fi-FI" sz="1600" kern="1200" dirty="0"/>
        </a:p>
      </dsp:txBody>
      <dsp:txXfrm rot="5400000">
        <a:off x="2414079" y="2637826"/>
        <a:ext cx="871601" cy="2682240"/>
      </dsp:txXfrm>
    </dsp:sp>
    <dsp:sp modelId="{6E4EC516-9261-48FC-9264-8581F4CB680E}">
      <dsp:nvSpPr>
        <dsp:cNvPr id="0" name=""/>
        <dsp:cNvSpPr/>
      </dsp:nvSpPr>
      <dsp:spPr>
        <a:xfrm>
          <a:off x="0" y="3434195"/>
          <a:ext cx="1508760" cy="108950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fi-FI" sz="1600" kern="1200" dirty="0" smtClean="0"/>
            <a:t>Testi-automaatio</a:t>
          </a:r>
          <a:endParaRPr lang="fi-FI" sz="1600" kern="1200" dirty="0"/>
        </a:p>
      </dsp:txBody>
      <dsp:txXfrm>
        <a:off x="0" y="3434195"/>
        <a:ext cx="1508760" cy="108950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12/7/2009</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61FC5-A4E9-4299-BD4E-F3D0D7FB1735}" type="slidenum">
              <a:rPr lang="en-US"/>
              <a:pPr/>
              <a:t>2</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090F80B-00F3-431D-B31E-47D2F9301A1B}"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Discover why so many testers love agile development environments</a:t>
            </a:r>
          </a:p>
          <a:p>
            <a:r>
              <a:rPr lang="en-US" dirty="0" smtClean="0"/>
              <a:t>Determine how testers and testing can successfully transition to agile practices</a:t>
            </a:r>
          </a:p>
          <a:p>
            <a:r>
              <a:rPr lang="en-US" dirty="0" smtClean="0"/>
              <a:t>Understand how testing failures can cripple an agile project</a:t>
            </a:r>
          </a:p>
          <a:p>
            <a:r>
              <a:rPr lang="en-US" dirty="0" smtClean="0"/>
              <a:t>Examine how testers, product owners, users, and business analysts interact in an agile project</a:t>
            </a:r>
          </a:p>
          <a:p>
            <a:r>
              <a:rPr lang="en-US" dirty="0" smtClean="0"/>
              <a:t>Discover how to integrate agile testing practices into non-agile development environments</a:t>
            </a:r>
          </a:p>
          <a:p>
            <a:r>
              <a:rPr lang="en-US" dirty="0" smtClean="0"/>
              <a:t>Learn how much (if any) test documentation is needed for an agile project</a:t>
            </a:r>
          </a:p>
          <a:p>
            <a:r>
              <a:rPr lang="en-US" dirty="0" smtClean="0"/>
              <a:t>Explore the future of agile development and testing within agile</a:t>
            </a:r>
          </a:p>
          <a:p>
            <a:endParaRPr lang="fi-FI" dirty="0"/>
          </a:p>
        </p:txBody>
      </p:sp>
      <p:sp>
        <p:nvSpPr>
          <p:cNvPr id="4" name="Slide Number Placeholder 3"/>
          <p:cNvSpPr>
            <a:spLocks noGrp="1"/>
          </p:cNvSpPr>
          <p:nvPr>
            <p:ph type="sldNum" sz="quarter" idx="10"/>
          </p:nvPr>
        </p:nvSpPr>
        <p:spPr/>
        <p:txBody>
          <a:bodyPr/>
          <a:lstStyle/>
          <a:p>
            <a:fld id="{F1A22924-7D78-4864-AFC1-4A54BDC3F1F9}"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2D66B74-F8B5-4E50-AAA4-4D78F9FE2661}"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2D66B74-F8B5-4E50-AAA4-4D78F9FE2661}"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2D66B74-F8B5-4E50-AAA4-4D78F9FE2661}"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11</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CFF255D5-1858-4BCA-9FF6-70F319DAAC03}" type="slidenum">
              <a:rPr lang="en-GB"/>
              <a:pPr/>
              <a:t>13</a:t>
            </a:fld>
            <a:endParaRPr lang="en-GB"/>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F0ADAF-5222-4F9E-8193-14C91557B239}" type="slidenum">
              <a:rPr lang="en-GB"/>
              <a:pPr/>
              <a:t>20</a:t>
            </a:fld>
            <a:endParaRPr lang="en-GB"/>
          </a:p>
        </p:txBody>
      </p:sp>
      <p:sp>
        <p:nvSpPr>
          <p:cNvPr id="1236994" name="Rectangle 2"/>
          <p:cNvSpPr>
            <a:spLocks noGrp="1" noRot="1" noChangeAspect="1" noChangeArrowheads="1" noTextEdit="1"/>
          </p:cNvSpPr>
          <p:nvPr>
            <p:ph type="sldImg"/>
          </p:nvPr>
        </p:nvSpPr>
        <p:spPr>
          <a:ln/>
        </p:spPr>
      </p:sp>
      <p:sp>
        <p:nvSpPr>
          <p:cNvPr id="1236995" name="Rectangle 3"/>
          <p:cNvSpPr>
            <a:spLocks noGrp="1" noChangeArrowheads="1"/>
          </p:cNvSpPr>
          <p:nvPr>
            <p:ph type="body" idx="1"/>
          </p:nvPr>
        </p:nvSpPr>
        <p:spPr/>
        <p:txBody>
          <a:bodyPr/>
          <a:lstStyle/>
          <a:p>
            <a:r>
              <a:rPr lang="fi-FI"/>
              <a:t>Muistuta että suunnitelman tekeminen alkuun vie tottakai paljon aikaa. Toisekseen, suunnitelman päivittäminen vie aikaa. Pyrkimyksenä agilessa on päättää alkuun ne asiat jotka voidaan ja on tarpeen, mutta ei enempää, jättäen mahdollisimman paljon liikkumavaraa uusille suunnille. </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22</a:t>
            </a:fld>
            <a:endParaRPr lang="fi-FI"/>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Q1:</a:t>
            </a:r>
          </a:p>
          <a:p>
            <a:r>
              <a:rPr lang="fi-FI" dirty="0" smtClean="0"/>
              <a:t>Unit tests – test developer intent</a:t>
            </a:r>
          </a:p>
          <a:p>
            <a:r>
              <a:rPr lang="fi-FI" dirty="0" smtClean="0"/>
              <a:t>Component tests – test architect</a:t>
            </a:r>
            <a:r>
              <a:rPr lang="fi-FI" baseline="0" dirty="0" smtClean="0"/>
              <a:t> intent</a:t>
            </a:r>
          </a:p>
          <a:p>
            <a:r>
              <a:rPr lang="fi-FI" baseline="0" dirty="0" smtClean="0"/>
              <a:t>Internal code quality, instant feedback, built-in testability</a:t>
            </a:r>
          </a:p>
          <a:p>
            <a:r>
              <a:rPr lang="fi-FI" baseline="0" dirty="0" smtClean="0"/>
              <a:t>Q2:</a:t>
            </a:r>
          </a:p>
          <a:p>
            <a:r>
              <a:rPr lang="fi-FI" baseline="0" dirty="0" smtClean="0"/>
              <a:t>Requirements elicitation</a:t>
            </a:r>
          </a:p>
          <a:p>
            <a:r>
              <a:rPr lang="fi-FI" baseline="0" dirty="0" smtClean="0"/>
              <a:t>ATDD – Acceptance Test Driven Development, User experience through mockups, Pair testing</a:t>
            </a:r>
          </a:p>
          <a:p>
            <a:r>
              <a:rPr lang="fi-FI" baseline="0" dirty="0" smtClean="0"/>
              <a:t>Requirements for coding, customer clarity, capture examples, focus on external quality, knowing when done</a:t>
            </a:r>
          </a:p>
          <a:p>
            <a:r>
              <a:rPr lang="fi-FI" baseline="0" dirty="0" smtClean="0"/>
              <a:t>Q3:</a:t>
            </a:r>
          </a:p>
          <a:p>
            <a:r>
              <a:rPr lang="fi-FI" baseline="0" dirty="0" smtClean="0"/>
              <a:t>Informal demos</a:t>
            </a:r>
          </a:p>
          <a:p>
            <a:r>
              <a:rPr lang="fi-FI" baseline="0" dirty="0" smtClean="0"/>
              <a:t>Feedback on Q1&amp;2, actual user experience, </a:t>
            </a:r>
          </a:p>
          <a:p>
            <a:r>
              <a:rPr lang="fi-FI" baseline="0" dirty="0" smtClean="0"/>
              <a:t>Q4:</a:t>
            </a:r>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25</a:t>
            </a:fld>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26</a:t>
            </a:fld>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9A6E2FC-B52B-4BD8-AAD9-A6179BB76FE7}" type="slidenum">
              <a:rPr lang="fi-FI" smtClean="0"/>
              <a:pPr/>
              <a:t>27</a:t>
            </a:fld>
            <a:endParaRPr lang="fi-FI"/>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2731EE68-C4D1-4B12-9A8F-C570BF2D057F}" type="slidenum">
              <a:rPr lang="fi-FI" smtClean="0"/>
              <a:pPr/>
              <a:t>28</a:t>
            </a:fld>
            <a:endParaRPr lang="fi-FI"/>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29</a:t>
            </a:fld>
            <a:endParaRPr lang="fi-FI"/>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30</a:t>
            </a:fld>
            <a:endParaRPr lang="fi-FI"/>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31</a:t>
            </a:fld>
            <a:endParaRPr lang="fi-FI"/>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Think of these values from the testing point of view – what if your organizations development is</a:t>
            </a:r>
            <a:r>
              <a:rPr lang="en-GB" baseline="0" dirty="0" smtClean="0"/>
              <a:t> very much still based on plan-driven methods?</a:t>
            </a:r>
          </a:p>
          <a:p>
            <a:pPr>
              <a:buFont typeface="Arial" pitchFamily="34" charset="0"/>
              <a:buChar char="•"/>
            </a:pPr>
            <a:r>
              <a:rPr lang="en-GB" baseline="0" dirty="0" smtClean="0"/>
              <a:t>What would really prevent you from going and talking with the developer, in addition to getting the documents your process describes you should receive?</a:t>
            </a:r>
          </a:p>
          <a:p>
            <a:pPr>
              <a:buFont typeface="Arial" pitchFamily="34" charset="0"/>
              <a:buChar char="•"/>
            </a:pPr>
            <a:r>
              <a:rPr lang="en-GB" baseline="0" dirty="0" smtClean="0"/>
              <a:t>What would really prevent you from agreeing other ways of showing how far you are in testing than counting from test case documented in detail?</a:t>
            </a:r>
          </a:p>
          <a:p>
            <a:pPr>
              <a:buFont typeface="Arial" pitchFamily="34" charset="0"/>
              <a:buChar char="•"/>
            </a:pPr>
            <a:r>
              <a:rPr lang="en-GB" baseline="0" dirty="0" smtClean="0"/>
              <a:t>What would really prevent you from focusing your investment to the most relevant end-result, software with as little problems as possible, without still completely giving up on documentation that supports your work both now and in future?</a:t>
            </a:r>
          </a:p>
          <a:p>
            <a:pPr>
              <a:buFont typeface="Arial" pitchFamily="34" charset="0"/>
              <a:buChar char="•"/>
            </a:pPr>
            <a:r>
              <a:rPr lang="en-GB" baseline="0" dirty="0" smtClean="0"/>
              <a:t>What would really prevent you from finding some real customer and asking them what they think of quality that is good enough, even if the contract details requirements? </a:t>
            </a:r>
          </a:p>
          <a:p>
            <a:pPr>
              <a:buFont typeface="Arial" pitchFamily="34" charset="0"/>
              <a:buChar char="•"/>
            </a:pPr>
            <a:r>
              <a:rPr lang="en-GB" baseline="0" dirty="0" smtClean="0"/>
              <a:t>What would really prevent you from organizing your work so that every Monday, you can decide what is the next week worth using time on within your area of responsibilities?</a:t>
            </a:r>
          </a:p>
          <a:p>
            <a:pPr>
              <a:buFont typeface="Arial" pitchFamily="34" charset="0"/>
              <a:buChar char="•"/>
            </a:pPr>
            <a:endParaRPr lang="en-GB" baseline="0" dirty="0" smtClean="0"/>
          </a:p>
        </p:txBody>
      </p:sp>
      <p:sp>
        <p:nvSpPr>
          <p:cNvPr id="4" name="Slide Number Placeholder 3"/>
          <p:cNvSpPr>
            <a:spLocks noGrp="1"/>
          </p:cNvSpPr>
          <p:nvPr>
            <p:ph type="sldNum" sz="quarter" idx="10"/>
          </p:nvPr>
        </p:nvSpPr>
        <p:spPr/>
        <p:txBody>
          <a:bodyPr/>
          <a:lstStyle/>
          <a:p>
            <a:fld id="{64AC6368-C921-4798-B1A6-D8CCC015945C}"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33</a:t>
            </a:fld>
            <a:endParaRPr lang="fi-FI"/>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1592411-6CCB-4FC4-B1AE-18004BCCF375}" type="slidenum">
              <a:rPr lang="fi-FI" smtClean="0"/>
              <a:pPr/>
              <a:t>34</a:t>
            </a:fld>
            <a:endParaRPr lang="fi-FI"/>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1592411-6CCB-4FC4-B1AE-18004BCCF375}" type="slidenum">
              <a:rPr lang="fi-FI" smtClean="0"/>
              <a:pPr/>
              <a:t>35</a:t>
            </a:fld>
            <a:endParaRPr lang="fi-FI"/>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36</a:t>
            </a:fld>
            <a:endParaRPr lang="fi-FI"/>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37</a:t>
            </a:fld>
            <a:endParaRPr lang="fi-FI"/>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38</a:t>
            </a:fld>
            <a:endParaRPr lang="fi-FI"/>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39</a:t>
            </a:fld>
            <a:endParaRPr lang="fi-FI"/>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40</a:t>
            </a:fld>
            <a:endParaRPr lang="fi-FI"/>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41</a:t>
            </a:fld>
            <a:endParaRPr lang="fi-FI"/>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42</a:t>
            </a:fld>
            <a:endParaRPr lang="fi-FI"/>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43</a:t>
            </a:fld>
            <a:endParaRPr lang="fi-FI"/>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Story</a:t>
            </a:r>
            <a:r>
              <a:rPr lang="fi-FI" baseline="0" dirty="0" smtClean="0"/>
              <a:t> process steps (in example E&amp;A, Dev, Test, Depl) are not fixed but should reflect your process</a:t>
            </a:r>
          </a:p>
          <a:p>
            <a:r>
              <a:rPr lang="fi-FI" baseline="0" dirty="0" smtClean="0"/>
              <a:t>Stories must be minimum marketable features and may take weeks to build. </a:t>
            </a:r>
          </a:p>
          <a:p>
            <a:r>
              <a:rPr lang="fi-FI" baseline="0" dirty="0" smtClean="0"/>
              <a:t>Number of stories allowed on board: team members / 2</a:t>
            </a:r>
          </a:p>
          <a:p>
            <a:r>
              <a:rPr lang="fi-FI" baseline="0" dirty="0" smtClean="0"/>
              <a:t>Stories queue gets about half of the allowed places</a:t>
            </a:r>
          </a:p>
          <a:p>
            <a:r>
              <a:rPr lang="fi-FI" baseline="0" dirty="0" smtClean="0"/>
              <a:t>For steps you should use number of people that can perform the step / 2</a:t>
            </a:r>
          </a:p>
          <a:p>
            <a:endParaRPr lang="fi-FI" baseline="0" dirty="0" smtClean="0"/>
          </a:p>
          <a:p>
            <a:r>
              <a:rPr lang="fi-FI" dirty="0" smtClean="0"/>
              <a:t>MEASURING CYCLE TIME&gt;</a:t>
            </a:r>
          </a:p>
          <a:p>
            <a:r>
              <a:rPr lang="fi-FI" dirty="0" smtClean="0"/>
              <a:t>When a story enters the story queue, mark down the entry date</a:t>
            </a:r>
          </a:p>
          <a:p>
            <a:r>
              <a:rPr lang="fi-FI" dirty="0" smtClean="0"/>
              <a:t>Record dates of each story process step</a:t>
            </a:r>
          </a:p>
          <a:p>
            <a:endParaRPr lang="fi-FI" dirty="0" smtClean="0"/>
          </a:p>
          <a:p>
            <a:r>
              <a:rPr lang="fi-FI" dirty="0" smtClean="0"/>
              <a:t>Cycle time includes the time when the story sits idle in the buffers</a:t>
            </a:r>
          </a:p>
          <a:p>
            <a:r>
              <a:rPr lang="fi-FI" dirty="0" smtClean="0"/>
              <a:t>Pull system to optimize cycle time</a:t>
            </a:r>
          </a:p>
          <a:p>
            <a:endParaRPr lang="fi-FI" dirty="0"/>
          </a:p>
        </p:txBody>
      </p:sp>
      <p:sp>
        <p:nvSpPr>
          <p:cNvPr id="4" name="Slide Number Placeholder 3"/>
          <p:cNvSpPr>
            <a:spLocks noGrp="1"/>
          </p:cNvSpPr>
          <p:nvPr>
            <p:ph type="sldNum" sz="quarter" idx="10"/>
          </p:nvPr>
        </p:nvSpPr>
        <p:spPr/>
        <p:txBody>
          <a:bodyPr/>
          <a:lstStyle/>
          <a:p>
            <a:fld id="{1F6FFC6A-3EB0-4D98-8761-2976D23540E4}" type="slidenum">
              <a:rPr lang="fi-FI" smtClean="0"/>
              <a:pPr/>
              <a:t>44</a:t>
            </a:fld>
            <a:endParaRPr lang="fi-FI"/>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45</a:t>
            </a:fld>
            <a:endParaRPr lang="fi-FI"/>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46</a:t>
            </a:fld>
            <a:endParaRPr lang="fi-FI"/>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47</a:t>
            </a:fld>
            <a:endParaRPr lang="fi-FI"/>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48</a:t>
            </a:fld>
            <a:endParaRPr lang="fi-FI"/>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49</a:t>
            </a:fld>
            <a:endParaRPr lang="fi-FI"/>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1592411-6CCB-4FC4-B1AE-18004BCCF375}" type="slidenum">
              <a:rPr lang="fi-FI" smtClean="0"/>
              <a:pPr/>
              <a:t>50</a:t>
            </a:fld>
            <a:endParaRPr lang="fi-FI"/>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smtClean="0">
                <a:solidFill>
                  <a:schemeClr val="tx1"/>
                </a:solidFill>
                <a:latin typeface="+mn-lt"/>
                <a:ea typeface="+mn-ea"/>
                <a:cs typeface="+mn-cs"/>
              </a:rPr>
              <a:t>Skillset</a:t>
            </a:r>
            <a:r>
              <a:rPr lang="en-US" sz="1200" kern="1200" dirty="0" smtClean="0">
                <a:solidFill>
                  <a:schemeClr val="tx1"/>
                </a:solidFill>
                <a:latin typeface="+mn-lt"/>
                <a:ea typeface="+mn-ea"/>
                <a:cs typeface="+mn-cs"/>
              </a:rPr>
              <a:t>: Testing is not one skill but a combination of various, with essential focal point in skills of fast and structured learning!</a:t>
            </a:r>
          </a:p>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51</a:t>
            </a:fld>
            <a:endParaRPr lang="fi-FI"/>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141AC6-7FD4-43C5-8C12-563E356A961F}" type="slidenum">
              <a:rPr lang="fi-FI" smtClean="0"/>
              <a:pPr/>
              <a:t>52</a:t>
            </a:fld>
            <a:endParaRPr lang="fi-FI"/>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53</a:t>
            </a:fld>
            <a:endParaRPr lang="fi-FI"/>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54</a:t>
            </a:fld>
            <a:endParaRPr lang="fi-FI"/>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55</a:t>
            </a:fld>
            <a:endParaRPr lang="fi-FI"/>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56</a:t>
            </a:fld>
            <a:endParaRPr lang="fi-FI"/>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57</a:t>
            </a:fld>
            <a:endParaRPr lang="fi-FI"/>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Separate</a:t>
            </a:r>
            <a:r>
              <a:rPr lang="fi-FI" baseline="0" dirty="0" smtClean="0"/>
              <a:t> change testing and system testing</a:t>
            </a:r>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58</a:t>
            </a:fld>
            <a:endParaRPr lang="fi-FI"/>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59</a:t>
            </a:fld>
            <a:endParaRPr lang="fi-FI"/>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Koodiomistajuus</a:t>
            </a:r>
            <a:r>
              <a:rPr lang="fi-FI" baseline="0" dirty="0" smtClean="0"/>
              <a:t> vs. </a:t>
            </a:r>
            <a:r>
              <a:rPr lang="fi-FI" baseline="0" smtClean="0"/>
              <a:t>testiomistajuus, egoless testing</a:t>
            </a:r>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60</a:t>
            </a:fld>
            <a:endParaRPr lang="fi-FI"/>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61</a:t>
            </a:fld>
            <a:endParaRPr lang="fi-FI"/>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9AF9B353-392B-46F2-9B1B-C1643CD15ECE}" type="slidenum">
              <a:rPr lang="fi-FI" smtClean="0"/>
              <a:pPr/>
              <a:t>62</a:t>
            </a:fld>
            <a:endParaRPr lang="fi-FI"/>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1F6FFC6A-3EB0-4D98-8761-2976D23540E4}" type="slidenum">
              <a:rPr lang="fi-FI" smtClean="0"/>
              <a:pPr/>
              <a:t>63</a:t>
            </a:fld>
            <a:endParaRPr lang="fi-FI"/>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64</a:t>
            </a:fld>
            <a:endParaRPr lang="fi-FI"/>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65</a:t>
            </a:fld>
            <a:endParaRPr lang="fi-FI"/>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1592411-6CCB-4FC4-B1AE-18004BCCF375}" type="slidenum">
              <a:rPr lang="fi-FI" smtClean="0"/>
              <a:pPr/>
              <a:t>66</a:t>
            </a:fld>
            <a:endParaRPr lang="fi-FI"/>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67</a:t>
            </a:fld>
            <a:endParaRPr lang="fi-FI"/>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AF9B353-392B-46F2-9B1B-C1643CD15ECE}" type="slidenum">
              <a:rPr lang="fi-FI" smtClean="0"/>
              <a:pPr/>
              <a:t>68</a:t>
            </a:fld>
            <a:endParaRPr lang="fi-FI"/>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69</a:t>
            </a:fld>
            <a:endParaRPr lang="fi-FI"/>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70</a:t>
            </a:fld>
            <a:endParaRPr lang="fi-FI"/>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71</a:t>
            </a:fld>
            <a:endParaRPr lang="fi-FI"/>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72</a:t>
            </a:fld>
            <a:endParaRPr lang="fi-FI"/>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73</a:t>
            </a:fld>
            <a:endParaRPr lang="fi-FI"/>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0F3AACC-7829-4723-A1E7-509BAA6ABEDE}" type="slidenum">
              <a:rPr lang="fi-FI" smtClean="0"/>
              <a:pPr/>
              <a:t>74</a:t>
            </a:fld>
            <a:endParaRPr lang="fi-FI"/>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75</a:t>
            </a:fld>
            <a:endParaRPr lang="fi-FI"/>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From committee that</a:t>
            </a:r>
            <a:r>
              <a:rPr lang="fi-FI" baseline="0" dirty="0" smtClean="0"/>
              <a:t> looks at all the cases (by-default exclusive process) to self-organized decision-making on the cases with committee giving advice on criteria (by-default inclusive process). </a:t>
            </a:r>
            <a:endParaRPr lang="fi-FI" dirty="0"/>
          </a:p>
        </p:txBody>
      </p:sp>
      <p:sp>
        <p:nvSpPr>
          <p:cNvPr id="4" name="Slide Number Placeholder 3"/>
          <p:cNvSpPr>
            <a:spLocks noGrp="1"/>
          </p:cNvSpPr>
          <p:nvPr>
            <p:ph type="sldNum" sz="quarter" idx="10"/>
          </p:nvPr>
        </p:nvSpPr>
        <p:spPr/>
        <p:txBody>
          <a:bodyPr/>
          <a:lstStyle/>
          <a:p>
            <a:fld id="{1B45F02B-9874-44A0-BC67-C783E6F88478}" type="slidenum">
              <a:rPr lang="fi-FI" smtClean="0"/>
              <a:pPr/>
              <a:t>76</a:t>
            </a:fld>
            <a:endParaRPr lang="fi-FI"/>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0F3AACC-7829-4723-A1E7-509BAA6ABEDE}" type="slidenum">
              <a:rPr lang="fi-FI" smtClean="0"/>
              <a:pPr/>
              <a:t>77</a:t>
            </a:fld>
            <a:endParaRPr lang="fi-FI"/>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78</a:t>
            </a:fld>
            <a:endParaRPr lang="fi-FI"/>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#1 issue with big defect databases:  I would rather be testing than doing paperwork</a:t>
            </a:r>
          </a:p>
          <a:p>
            <a:pPr lvl="1"/>
            <a:r>
              <a:rPr lang="en-US" dirty="0" smtClean="0"/>
              <a:t>Explaining in writing why a bug is relevant</a:t>
            </a:r>
          </a:p>
          <a:p>
            <a:pPr lvl="1"/>
            <a:r>
              <a:rPr lang="en-US" dirty="0" smtClean="0"/>
              <a:t>Finding out if the bug I found is known or not</a:t>
            </a:r>
            <a:endParaRPr lang="fi-FI" dirty="0" smtClean="0"/>
          </a:p>
          <a:p>
            <a:endParaRPr lang="fi-FI" dirty="0"/>
          </a:p>
        </p:txBody>
      </p:sp>
      <p:sp>
        <p:nvSpPr>
          <p:cNvPr id="4" name="Slide Number Placeholder 3"/>
          <p:cNvSpPr>
            <a:spLocks noGrp="1"/>
          </p:cNvSpPr>
          <p:nvPr>
            <p:ph type="sldNum" sz="quarter" idx="10"/>
          </p:nvPr>
        </p:nvSpPr>
        <p:spPr/>
        <p:txBody>
          <a:bodyPr/>
          <a:lstStyle/>
          <a:p>
            <a:fld id="{F0F3AACC-7829-4723-A1E7-509BAA6ABEDE}" type="slidenum">
              <a:rPr lang="fi-FI" smtClean="0"/>
              <a:pPr/>
              <a:t>79</a:t>
            </a:fld>
            <a:endParaRPr lang="fi-FI"/>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80</a:t>
            </a:fld>
            <a:endParaRPr lang="fi-FI"/>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81</a:t>
            </a:fld>
            <a:endParaRPr lang="fi-FI"/>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0F3AACC-7829-4723-A1E7-509BAA6ABEDE}" type="slidenum">
              <a:rPr lang="fi-FI" smtClean="0"/>
              <a:pPr/>
              <a:t>82</a:t>
            </a:fld>
            <a:endParaRPr lang="fi-FI"/>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83</a:t>
            </a:fld>
            <a:endParaRPr lang="fi-FI"/>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84</a:t>
            </a:fld>
            <a:endParaRPr lang="fi-FI"/>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85</a:t>
            </a:fld>
            <a:endParaRPr lang="fi-FI"/>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86</a:t>
            </a:fld>
            <a:endParaRPr lang="fi-FI"/>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87</a:t>
            </a:fld>
            <a:endParaRPr lang="fi-FI"/>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88</a:t>
            </a:fld>
            <a:endParaRPr lang="fi-FI"/>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89</a:t>
            </a:fld>
            <a:endParaRPr lang="fi-FI"/>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smtClean="0"/>
          </a:p>
          <a:p>
            <a:r>
              <a:rPr lang="fi-FI" dirty="0" smtClean="0"/>
              <a:t>Maintainable test automation, howto</a:t>
            </a:r>
          </a:p>
          <a:p>
            <a:pPr lvl="1"/>
            <a:r>
              <a:rPr lang="fi-FI" dirty="0" smtClean="0"/>
              <a:t>Automation success is not tool-specific! </a:t>
            </a:r>
          </a:p>
          <a:p>
            <a:endParaRPr lang="fi-FI" dirty="0"/>
          </a:p>
        </p:txBody>
      </p:sp>
      <p:sp>
        <p:nvSpPr>
          <p:cNvPr id="4" name="Slide Number Placeholder 3"/>
          <p:cNvSpPr>
            <a:spLocks noGrp="1"/>
          </p:cNvSpPr>
          <p:nvPr>
            <p:ph type="sldNum" sz="quarter" idx="10"/>
          </p:nvPr>
        </p:nvSpPr>
        <p:spPr/>
        <p:txBody>
          <a:bodyPr/>
          <a:lstStyle/>
          <a:p>
            <a:fld id="{E9A0D27A-A794-42D6-8F5C-25D71E8A9B8C}" type="slidenum">
              <a:rPr lang="fi-FI" smtClean="0"/>
              <a:pPr/>
              <a:t>90</a:t>
            </a:fld>
            <a:endParaRPr lang="fi-FI"/>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Esim. keskustelu kolleegan kanssa, joka jatkuvasti inttää että jokainen esimerkki jonka sanon voidaan automatisoida ja vielä ihan kohtuullisessa ajassa. Ei halua yksinkertaisesti hyväksyä että automatisoitu testi ei tee samoja asioita, ja että minun</a:t>
            </a:r>
            <a:r>
              <a:rPr lang="fi-FI" baseline="0" dirty="0" smtClean="0"/>
              <a:t> kantani on että joskus sillä on väliä ja joskus ei. </a:t>
            </a:r>
            <a:endParaRPr lang="fi-FI" dirty="0"/>
          </a:p>
        </p:txBody>
      </p:sp>
      <p:sp>
        <p:nvSpPr>
          <p:cNvPr id="4" name="Slide Number Placeholder 3"/>
          <p:cNvSpPr>
            <a:spLocks noGrp="1"/>
          </p:cNvSpPr>
          <p:nvPr>
            <p:ph type="sldNum" sz="quarter" idx="10"/>
          </p:nvPr>
        </p:nvSpPr>
        <p:spPr/>
        <p:txBody>
          <a:bodyPr/>
          <a:lstStyle/>
          <a:p>
            <a:fld id="{9AF9B353-392B-46F2-9B1B-C1643CD15ECE}" type="slidenum">
              <a:rPr lang="fi-FI" smtClean="0"/>
              <a:pPr/>
              <a:t>91</a:t>
            </a:fld>
            <a:endParaRPr lang="fi-FI"/>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92</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12/7/2009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12/7/2009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package" Target="../embeddings/Microsoft_Office_PowerPoint_Slide1.sldx"/></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www.satisfice.com/" TargetMode="External"/><Relationship Id="rId13" Type="http://schemas.openxmlformats.org/officeDocument/2006/relationships/hyperlink" Target="http://www.bcs.org.uk/iseb" TargetMode="External"/><Relationship Id="rId18" Type="http://schemas.openxmlformats.org/officeDocument/2006/relationships/hyperlink" Target="http://testausosy.ttlry.fi/" TargetMode="External"/><Relationship Id="rId3" Type="http://schemas.openxmlformats.org/officeDocument/2006/relationships/hyperlink" Target="http://www.testingeducation.org/" TargetMode="External"/><Relationship Id="rId7" Type="http://schemas.openxmlformats.org/officeDocument/2006/relationships/hyperlink" Target="http://www.kaner.com/" TargetMode="External"/><Relationship Id="rId12" Type="http://schemas.openxmlformats.org/officeDocument/2006/relationships/hyperlink" Target="http://www.processimpact.com/" TargetMode="External"/><Relationship Id="rId17" Type="http://schemas.openxmlformats.org/officeDocument/2006/relationships/hyperlink" Target="http://www.testauskirja.com/" TargetMode="External"/><Relationship Id="rId2" Type="http://schemas.openxmlformats.org/officeDocument/2006/relationships/notesSlide" Target="../notesSlides/notesSlide9.xml"/><Relationship Id="rId16" Type="http://schemas.openxmlformats.org/officeDocument/2006/relationships/hyperlink" Target="http://groups.yahoo.com/groups/software-testing/" TargetMode="External"/><Relationship Id="rId20" Type="http://schemas.openxmlformats.org/officeDocument/2006/relationships/hyperlink" Target="http://www.testauskirja.com/at.zip" TargetMode="External"/><Relationship Id="rId1" Type="http://schemas.openxmlformats.org/officeDocument/2006/relationships/slideLayout" Target="../slideLayouts/slideLayout4.xml"/><Relationship Id="rId6" Type="http://schemas.openxmlformats.org/officeDocument/2006/relationships/hyperlink" Target="http://www.testingexperience.com/" TargetMode="External"/><Relationship Id="rId11" Type="http://schemas.openxmlformats.org/officeDocument/2006/relationships/hyperlink" Target="http://www.pettichord.com/" TargetMode="External"/><Relationship Id="rId5" Type="http://schemas.openxmlformats.org/officeDocument/2006/relationships/hyperlink" Target="http://www.bettersoftware.com/" TargetMode="External"/><Relationship Id="rId15" Type="http://schemas.openxmlformats.org/officeDocument/2006/relationships/hyperlink" Target="http://www.associationforsoftwaretesting.org/" TargetMode="External"/><Relationship Id="rId10" Type="http://schemas.openxmlformats.org/officeDocument/2006/relationships/hyperlink" Target="http://www.testing.com/" TargetMode="External"/><Relationship Id="rId19" Type="http://schemas.openxmlformats.org/officeDocument/2006/relationships/hyperlink" Target="http://groups.yahoo.com/groups/fi-testaus/" TargetMode="External"/><Relationship Id="rId4" Type="http://schemas.openxmlformats.org/officeDocument/2006/relationships/hyperlink" Target="http://www.stickyminds.com/" TargetMode="External"/><Relationship Id="rId9" Type="http://schemas.openxmlformats.org/officeDocument/2006/relationships/hyperlink" Target="http://www.rbcs.com/" TargetMode="External"/><Relationship Id="rId14" Type="http://schemas.openxmlformats.org/officeDocument/2006/relationships/hyperlink" Target="http://www.istqb.org/" TargetMode="Externa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46.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71.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71.xml"/><Relationship Id="rId1" Type="http://schemas.openxmlformats.org/officeDocument/2006/relationships/slideLayout" Target="../slideLayouts/slideLayout4.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2.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73.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notesSlide" Target="../notesSlides/notesSlide76.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image" Target="../media/image20.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84.xml.rels><?xml version="1.0" encoding="UTF-8" standalone="yes"?>
<Relationships xmlns="http://schemas.openxmlformats.org/package/2006/relationships"><Relationship Id="rId8" Type="http://schemas.openxmlformats.org/officeDocument/2006/relationships/diagramData" Target="../diagrams/data15.xml"/><Relationship Id="rId3" Type="http://schemas.openxmlformats.org/officeDocument/2006/relationships/diagramData" Target="../diagrams/data14.xml"/><Relationship Id="rId7" Type="http://schemas.microsoft.com/office/2007/relationships/diagramDrawing" Target="../diagrams/drawing14.xml"/><Relationship Id="rId12" Type="http://schemas.microsoft.com/office/2007/relationships/diagramDrawing" Target="../diagrams/drawing15.xml"/><Relationship Id="rId2" Type="http://schemas.openxmlformats.org/officeDocument/2006/relationships/notesSlide" Target="../notesSlides/notesSlide84.xml"/><Relationship Id="rId1" Type="http://schemas.openxmlformats.org/officeDocument/2006/relationships/slideLayout" Target="../slideLayouts/slideLayout4.xml"/><Relationship Id="rId6" Type="http://schemas.openxmlformats.org/officeDocument/2006/relationships/diagramColors" Target="../diagrams/colors14.xml"/><Relationship Id="rId11" Type="http://schemas.openxmlformats.org/officeDocument/2006/relationships/diagramColors" Target="../diagrams/colors15.xml"/><Relationship Id="rId5" Type="http://schemas.openxmlformats.org/officeDocument/2006/relationships/diagramQuickStyle" Target="../diagrams/quickStyle14.xml"/><Relationship Id="rId10" Type="http://schemas.openxmlformats.org/officeDocument/2006/relationships/diagramQuickStyle" Target="../diagrams/quickStyle15.xml"/><Relationship Id="rId4" Type="http://schemas.openxmlformats.org/officeDocument/2006/relationships/diagramLayout" Target="../diagrams/layout14.xml"/><Relationship Id="rId9" Type="http://schemas.openxmlformats.org/officeDocument/2006/relationships/diagramLayout" Target="../diagrams/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5.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86.xml.rels><?xml version="1.0" encoding="UTF-8" standalone="yes"?>
<Relationships xmlns="http://schemas.openxmlformats.org/package/2006/relationships"><Relationship Id="rId8" Type="http://schemas.openxmlformats.org/officeDocument/2006/relationships/diagramData" Target="../diagrams/data17.xml"/><Relationship Id="rId3" Type="http://schemas.openxmlformats.org/officeDocument/2006/relationships/diagramData" Target="../diagrams/data16.xml"/><Relationship Id="rId7" Type="http://schemas.microsoft.com/office/2007/relationships/diagramDrawing" Target="../diagrams/drawing16.xml"/><Relationship Id="rId12" Type="http://schemas.microsoft.com/office/2007/relationships/diagramDrawing" Target="../diagrams/drawing17.xml"/><Relationship Id="rId2" Type="http://schemas.openxmlformats.org/officeDocument/2006/relationships/notesSlide" Target="../notesSlides/notesSlide86.xml"/><Relationship Id="rId1" Type="http://schemas.openxmlformats.org/officeDocument/2006/relationships/slideLayout" Target="../slideLayouts/slideLayout4.xml"/><Relationship Id="rId6" Type="http://schemas.openxmlformats.org/officeDocument/2006/relationships/diagramColors" Target="../diagrams/colors16.xml"/><Relationship Id="rId11" Type="http://schemas.openxmlformats.org/officeDocument/2006/relationships/diagramColors" Target="../diagrams/colors17.xml"/><Relationship Id="rId5" Type="http://schemas.openxmlformats.org/officeDocument/2006/relationships/diagramQuickStyle" Target="../diagrams/quickStyle16.xml"/><Relationship Id="rId10" Type="http://schemas.openxmlformats.org/officeDocument/2006/relationships/diagramQuickStyle" Target="../diagrams/quickStyle17.xml"/><Relationship Id="rId4" Type="http://schemas.openxmlformats.org/officeDocument/2006/relationships/diagramLayout" Target="../diagrams/layout16.xml"/><Relationship Id="rId9" Type="http://schemas.openxmlformats.org/officeDocument/2006/relationships/diagramLayout" Target="../diagrams/layout1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88.xml"/><Relationship Id="rId1" Type="http://schemas.openxmlformats.org/officeDocument/2006/relationships/slideLayout" Target="../slideLayouts/slideLayout3.xml"/><Relationship Id="rId4" Type="http://schemas.openxmlformats.org/officeDocument/2006/relationships/image" Target="../media/image10.wmf"/></Relationships>
</file>

<file path=ppt/slides/_rels/slide89.xml.rels><?xml version="1.0" encoding="UTF-8" standalone="yes"?>
<Relationships xmlns="http://schemas.openxmlformats.org/package/2006/relationships"><Relationship Id="rId8" Type="http://schemas.openxmlformats.org/officeDocument/2006/relationships/diagramData" Target="../diagrams/data19.xml"/><Relationship Id="rId3" Type="http://schemas.openxmlformats.org/officeDocument/2006/relationships/diagramData" Target="../diagrams/data18.xml"/><Relationship Id="rId7" Type="http://schemas.microsoft.com/office/2007/relationships/diagramDrawing" Target="../diagrams/drawing18.xml"/><Relationship Id="rId12" Type="http://schemas.microsoft.com/office/2007/relationships/diagramDrawing" Target="../diagrams/drawing19.xml"/><Relationship Id="rId2" Type="http://schemas.openxmlformats.org/officeDocument/2006/relationships/notesSlide" Target="../notesSlides/notesSlide89.xml"/><Relationship Id="rId1" Type="http://schemas.openxmlformats.org/officeDocument/2006/relationships/slideLayout" Target="../slideLayouts/slideLayout4.xml"/><Relationship Id="rId6" Type="http://schemas.openxmlformats.org/officeDocument/2006/relationships/diagramColors" Target="../diagrams/colors18.xml"/><Relationship Id="rId11" Type="http://schemas.openxmlformats.org/officeDocument/2006/relationships/diagramColors" Target="../diagrams/colors19.xml"/><Relationship Id="rId5" Type="http://schemas.openxmlformats.org/officeDocument/2006/relationships/diagramQuickStyle" Target="../diagrams/quickStyle18.xml"/><Relationship Id="rId10" Type="http://schemas.openxmlformats.org/officeDocument/2006/relationships/diagramQuickStyle" Target="../diagrams/quickStyle19.xml"/><Relationship Id="rId4" Type="http://schemas.openxmlformats.org/officeDocument/2006/relationships/diagramLayout" Target="../diagrams/layout18.xml"/><Relationship Id="rId9" Type="http://schemas.openxmlformats.org/officeDocument/2006/relationships/diagramLayout" Target="../diagrams/layout1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diagramData" Target="../diagrams/data21.xml"/><Relationship Id="rId13" Type="http://schemas.openxmlformats.org/officeDocument/2006/relationships/image" Target="../media/image9.wmf"/><Relationship Id="rId3" Type="http://schemas.openxmlformats.org/officeDocument/2006/relationships/diagramData" Target="../diagrams/data20.xml"/><Relationship Id="rId7" Type="http://schemas.microsoft.com/office/2007/relationships/diagramDrawing" Target="../diagrams/drawing20.xml"/><Relationship Id="rId12" Type="http://schemas.microsoft.com/office/2007/relationships/diagramDrawing" Target="../diagrams/drawing21.xml"/><Relationship Id="rId2" Type="http://schemas.openxmlformats.org/officeDocument/2006/relationships/notesSlide" Target="../notesSlides/notesSlide92.xml"/><Relationship Id="rId1" Type="http://schemas.openxmlformats.org/officeDocument/2006/relationships/slideLayout" Target="../slideLayouts/slideLayout4.xml"/><Relationship Id="rId6" Type="http://schemas.openxmlformats.org/officeDocument/2006/relationships/diagramColors" Target="../diagrams/colors20.xml"/><Relationship Id="rId11" Type="http://schemas.openxmlformats.org/officeDocument/2006/relationships/diagramColors" Target="../diagrams/colors21.xml"/><Relationship Id="rId5" Type="http://schemas.openxmlformats.org/officeDocument/2006/relationships/diagramQuickStyle" Target="../diagrams/quickStyle20.xml"/><Relationship Id="rId10" Type="http://schemas.openxmlformats.org/officeDocument/2006/relationships/diagramQuickStyle" Target="../diagrams/quickStyle21.xml"/><Relationship Id="rId4" Type="http://schemas.openxmlformats.org/officeDocument/2006/relationships/diagramLayout" Target="../diagrams/layout20.xml"/><Relationship Id="rId9" Type="http://schemas.openxmlformats.org/officeDocument/2006/relationships/diagramLayout" Target="../diagrams/layout21.xml"/><Relationship Id="rId14" Type="http://schemas.openxmlformats.org/officeDocument/2006/relationships/image" Target="../media/image1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i-FI" dirty="0" smtClean="0"/>
              <a:t>Ketterä testaus</a:t>
            </a:r>
            <a:endParaRPr lang="fi-FI" dirty="0"/>
          </a:p>
        </p:txBody>
      </p:sp>
      <p:sp>
        <p:nvSpPr>
          <p:cNvPr id="3" name="Subtitle 2"/>
          <p:cNvSpPr>
            <a:spLocks noGrp="1"/>
          </p:cNvSpPr>
          <p:nvPr>
            <p:ph type="subTitle" idx="1"/>
          </p:nvPr>
        </p:nvSpPr>
        <p:spPr/>
        <p:txBody>
          <a:bodyPr>
            <a:normAutofit/>
          </a:bodyPr>
          <a:lstStyle/>
          <a:p>
            <a:pPr lvl="0">
              <a:defRPr/>
            </a:pPr>
            <a:r>
              <a:rPr lang="fi-FI" sz="4000" dirty="0" smtClean="0"/>
              <a:t>Maaret Pyhäjärvi</a:t>
            </a:r>
          </a:p>
          <a:p>
            <a:pPr lvl="0">
              <a:defRPr/>
            </a:pPr>
            <a:r>
              <a:rPr lang="fi-FI" sz="2400" dirty="0" smtClean="0"/>
              <a:t>Email: &lt;maaret@iki.fi&gt; | Gsm: 040-8233777</a:t>
            </a:r>
          </a:p>
          <a:p>
            <a:endParaRPr lang="fi-FI" dirty="0"/>
          </a:p>
        </p:txBody>
      </p:sp>
      <p:sp>
        <p:nvSpPr>
          <p:cNvPr id="4" name="Subtitle 2"/>
          <p:cNvSpPr txBox="1">
            <a:spLocks/>
          </p:cNvSpPr>
          <p:nvPr/>
        </p:nvSpPr>
        <p:spPr>
          <a:xfrm>
            <a:off x="1371600" y="38862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fi-FI" sz="2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TextBox 7"/>
          <p:cNvSpPr txBox="1"/>
          <p:nvPr/>
        </p:nvSpPr>
        <p:spPr>
          <a:xfrm>
            <a:off x="3352800" y="152400"/>
            <a:ext cx="5638800" cy="984885"/>
          </a:xfrm>
          <a:prstGeom prst="rect">
            <a:avLst/>
          </a:prstGeom>
          <a:noFill/>
        </p:spPr>
        <p:txBody>
          <a:bodyPr wrap="square" rtlCol="0">
            <a:spAutoFit/>
          </a:bodyPr>
          <a:lstStyle/>
          <a:p>
            <a:pPr algn="r"/>
            <a:r>
              <a:rPr lang="fi-FI" sz="4000" b="1" dirty="0" smtClean="0">
                <a:solidFill>
                  <a:schemeClr val="accent1"/>
                </a:solidFill>
                <a:latin typeface="Freestyle Script" pitchFamily="66" charset="0"/>
                <a:cs typeface="Tunga" pitchFamily="2" charset="0"/>
              </a:rPr>
              <a:t>Ketterä testaus</a:t>
            </a:r>
          </a:p>
          <a:p>
            <a:pPr algn="r"/>
            <a:r>
              <a:rPr lang="fi-FI" b="1" dirty="0" smtClean="0">
                <a:solidFill>
                  <a:schemeClr val="accent1"/>
                </a:solidFill>
                <a:latin typeface="Freestyle Script" pitchFamily="66" charset="0"/>
                <a:cs typeface="Tunga" pitchFamily="2" charset="0"/>
              </a:rPr>
              <a:t>v.12 (2009-11)</a:t>
            </a:r>
            <a:endParaRPr lang="fi-FI" sz="1600" b="1" dirty="0">
              <a:solidFill>
                <a:schemeClr val="accent1"/>
              </a:solidFill>
              <a:latin typeface="Freestyle Script" pitchFamily="66" charset="0"/>
              <a:cs typeface="Tunga" pitchFamily="2" charset="0"/>
            </a:endParaRPr>
          </a:p>
        </p:txBody>
      </p:sp>
      <p:grpSp>
        <p:nvGrpSpPr>
          <p:cNvPr id="9" name="Group 12"/>
          <p:cNvGrpSpPr/>
          <p:nvPr/>
        </p:nvGrpSpPr>
        <p:grpSpPr>
          <a:xfrm>
            <a:off x="2438400" y="5486400"/>
            <a:ext cx="4114800" cy="685800"/>
            <a:chOff x="838200" y="5486400"/>
            <a:chExt cx="4114800" cy="685800"/>
          </a:xfrm>
        </p:grpSpPr>
        <p:sp>
          <p:nvSpPr>
            <p:cNvPr id="10" name="Rectangle 9"/>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1" name="Picture 10"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2" name="TextBox 11"/>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i-FI"/>
              <a:t>Materiaalista</a:t>
            </a:r>
            <a:endParaRPr lang="en-US"/>
          </a:p>
        </p:txBody>
      </p:sp>
      <p:sp>
        <p:nvSpPr>
          <p:cNvPr id="28681" name="Rectangle 9"/>
          <p:cNvSpPr>
            <a:spLocks noGrp="1" noChangeArrowheads="1"/>
          </p:cNvSpPr>
          <p:nvPr>
            <p:ph type="body" sz="half" idx="1"/>
          </p:nvPr>
        </p:nvSpPr>
        <p:spPr/>
        <p:txBody>
          <a:bodyPr/>
          <a:lstStyle/>
          <a:p>
            <a:r>
              <a:rPr lang="fi-FI" sz="1800" dirty="0"/>
              <a:t>Lisensoitu Creative Commons Tekijä mainittava lisenssillä</a:t>
            </a:r>
          </a:p>
          <a:p>
            <a:pPr lvl="1"/>
            <a:r>
              <a:rPr lang="fi-FI" sz="1600" dirty="0"/>
              <a:t>Kokonaisuutta tai osia saa uudelleenkäyttää ja muokata </a:t>
            </a:r>
            <a:r>
              <a:rPr lang="fi-FI" sz="1600" dirty="0" smtClean="0"/>
              <a:t>käyttöönsä</a:t>
            </a:r>
            <a:endParaRPr lang="fi-FI" sz="1600" dirty="0"/>
          </a:p>
          <a:p>
            <a:pPr lvl="1"/>
            <a:r>
              <a:rPr lang="fi-FI" sz="1600" dirty="0"/>
              <a:t>Mainittava ”perustuu Erkin ja Maaretin materiaaleihin”.</a:t>
            </a:r>
          </a:p>
          <a:p>
            <a:pPr lvl="1"/>
            <a:r>
              <a:rPr lang="fi-FI" sz="1600" dirty="0"/>
              <a:t>Myös kaupallinen käyttö sallittu</a:t>
            </a:r>
          </a:p>
          <a:p>
            <a:r>
              <a:rPr lang="fi-FI" sz="1800" dirty="0"/>
              <a:t>Kaksi tekijää</a:t>
            </a:r>
          </a:p>
          <a:p>
            <a:pPr lvl="1"/>
            <a:r>
              <a:rPr lang="fi-FI" sz="1600" dirty="0"/>
              <a:t>Perustana yhteistyössä selkiytetyt viestintätarpeet</a:t>
            </a:r>
          </a:p>
          <a:p>
            <a:pPr lvl="1"/>
            <a:r>
              <a:rPr lang="fi-FI" sz="1600" dirty="0"/>
              <a:t>Osin näkemyksemme eroavat ja korostamme eri asioita</a:t>
            </a:r>
            <a:endParaRPr lang="en-US" sz="1600" dirty="0"/>
          </a:p>
        </p:txBody>
      </p:sp>
      <p:sp>
        <p:nvSpPr>
          <p:cNvPr id="28682" name="Rectangle 10"/>
          <p:cNvSpPr>
            <a:spLocks noGrp="1" noChangeArrowheads="1"/>
          </p:cNvSpPr>
          <p:nvPr>
            <p:ph type="body" sz="half" idx="2"/>
          </p:nvPr>
        </p:nvSpPr>
        <p:spPr>
          <a:xfrm>
            <a:off x="5029200" y="1524000"/>
            <a:ext cx="3771900" cy="4243406"/>
          </a:xfrm>
          <a:ln/>
        </p:spPr>
        <p:style>
          <a:lnRef idx="1">
            <a:schemeClr val="accent3"/>
          </a:lnRef>
          <a:fillRef idx="2">
            <a:schemeClr val="accent3"/>
          </a:fillRef>
          <a:effectRef idx="1">
            <a:schemeClr val="accent3"/>
          </a:effectRef>
          <a:fontRef idx="minor">
            <a:schemeClr val="dk1"/>
          </a:fontRef>
        </p:style>
        <p:txBody>
          <a:bodyPr>
            <a:normAutofit/>
          </a:bodyPr>
          <a:lstStyle/>
          <a:p>
            <a:pPr algn="ctr">
              <a:buFontTx/>
              <a:buNone/>
            </a:pPr>
            <a:r>
              <a:rPr lang="fi-FI" sz="1800" b="1" dirty="0"/>
              <a:t>VISIO JA TAVOITTEET</a:t>
            </a:r>
          </a:p>
          <a:p>
            <a:r>
              <a:rPr lang="fi-FI" sz="1800" dirty="0"/>
              <a:t>Kehittämisresurssien hukkaan heittämisen välttäminen</a:t>
            </a:r>
          </a:p>
          <a:p>
            <a:pPr lvl="1"/>
            <a:r>
              <a:rPr lang="fi-FI" sz="1600" dirty="0"/>
              <a:t>Tekijänoikeuksien nimissä tuhlataan merkittävästi aikaa saman perustiedon uudelleenpaketoinnissa</a:t>
            </a:r>
          </a:p>
          <a:p>
            <a:r>
              <a:rPr lang="fi-FI" sz="1800" dirty="0"/>
              <a:t>Materiaalin todellinen arvo on esittäjissä</a:t>
            </a:r>
          </a:p>
          <a:p>
            <a:pPr lvl="1"/>
            <a:r>
              <a:rPr lang="fi-FI" sz="1600" dirty="0"/>
              <a:t>Käytännön omakohtaiset esimerkit ovat tärkeitä oppimiselle</a:t>
            </a:r>
          </a:p>
          <a:p>
            <a:r>
              <a:rPr lang="fi-FI" sz="1800" dirty="0"/>
              <a:t>Keskittyminen edistykseen</a:t>
            </a:r>
          </a:p>
          <a:p>
            <a:pPr lvl="1"/>
            <a:r>
              <a:rPr lang="fi-FI" sz="1600" dirty="0"/>
              <a:t>Uusi sisältö uuden muodon asemesta edistää </a:t>
            </a:r>
            <a:r>
              <a:rPr lang="fi-FI" sz="1600" dirty="0" smtClean="0"/>
              <a:t>testausalaa</a:t>
            </a:r>
            <a:endParaRPr lang="fi-FI" sz="1600" dirty="0"/>
          </a:p>
        </p:txBody>
      </p:sp>
      <p:grpSp>
        <p:nvGrpSpPr>
          <p:cNvPr id="2" name="Group 7"/>
          <p:cNvGrpSpPr/>
          <p:nvPr/>
        </p:nvGrpSpPr>
        <p:grpSpPr>
          <a:xfrm>
            <a:off x="152400" y="6019800"/>
            <a:ext cx="4114800" cy="685800"/>
            <a:chOff x="838200" y="5486400"/>
            <a:chExt cx="4114800" cy="685800"/>
          </a:xfrm>
        </p:grpSpPr>
        <p:sp>
          <p:nvSpPr>
            <p:cNvPr id="11" name="Rectangle 10"/>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2" name="Picture 11"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3" name="TextBox 12"/>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Maaretin taustasta suhteessa ketterään testaukseen</a:t>
            </a:r>
            <a:endParaRPr lang="fi-FI" dirty="0"/>
          </a:p>
        </p:txBody>
      </p:sp>
      <p:sp>
        <p:nvSpPr>
          <p:cNvPr id="3" name="Content Placeholder 2"/>
          <p:cNvSpPr>
            <a:spLocks noGrp="1"/>
          </p:cNvSpPr>
          <p:nvPr>
            <p:ph sz="half" idx="1"/>
          </p:nvPr>
        </p:nvSpPr>
        <p:spPr/>
        <p:txBody>
          <a:bodyPr>
            <a:normAutofit lnSpcReduction="10000"/>
          </a:bodyPr>
          <a:lstStyle/>
          <a:p>
            <a:pPr>
              <a:lnSpc>
                <a:spcPct val="110000"/>
              </a:lnSpc>
            </a:pPr>
            <a:r>
              <a:rPr lang="en-GB" sz="1600" dirty="0" err="1" smtClean="0"/>
              <a:t>Testaushommissa</a:t>
            </a:r>
            <a:r>
              <a:rPr lang="en-GB" sz="1600" dirty="0" smtClean="0"/>
              <a:t> </a:t>
            </a:r>
            <a:r>
              <a:rPr lang="en-GB" sz="1600" dirty="0" err="1" smtClean="0"/>
              <a:t>vuodesta</a:t>
            </a:r>
            <a:r>
              <a:rPr lang="en-GB" sz="1600" dirty="0" smtClean="0"/>
              <a:t> 1995</a:t>
            </a:r>
          </a:p>
          <a:p>
            <a:pPr lvl="1">
              <a:lnSpc>
                <a:spcPct val="90000"/>
              </a:lnSpc>
            </a:pPr>
            <a:r>
              <a:rPr lang="en-GB" sz="1400" dirty="0" err="1" smtClean="0"/>
              <a:t>Testaajana</a:t>
            </a:r>
            <a:r>
              <a:rPr lang="en-GB" sz="1400" dirty="0" smtClean="0"/>
              <a:t>, </a:t>
            </a:r>
            <a:r>
              <a:rPr lang="en-GB" sz="1400" dirty="0" err="1" smtClean="0"/>
              <a:t>testausvastaavana</a:t>
            </a:r>
            <a:r>
              <a:rPr lang="en-GB" sz="1400" dirty="0" smtClean="0"/>
              <a:t>, </a:t>
            </a:r>
            <a:r>
              <a:rPr lang="en-GB" sz="1400" dirty="0" err="1" smtClean="0"/>
              <a:t>testauskonsulttina</a:t>
            </a:r>
            <a:r>
              <a:rPr lang="en-GB" sz="1400" dirty="0" smtClean="0"/>
              <a:t> </a:t>
            </a:r>
            <a:r>
              <a:rPr lang="en-GB" sz="1400" dirty="0" err="1" smtClean="0"/>
              <a:t>sekä</a:t>
            </a:r>
            <a:r>
              <a:rPr lang="en-GB" sz="1400" dirty="0" smtClean="0"/>
              <a:t> </a:t>
            </a:r>
            <a:r>
              <a:rPr lang="en-GB" sz="1400" dirty="0" err="1" smtClean="0"/>
              <a:t>testauksen</a:t>
            </a:r>
            <a:r>
              <a:rPr lang="en-GB" sz="1400" dirty="0" smtClean="0"/>
              <a:t> </a:t>
            </a:r>
            <a:r>
              <a:rPr lang="en-GB" sz="1400" dirty="0" err="1" smtClean="0"/>
              <a:t>yliopisto-opettajana</a:t>
            </a:r>
            <a:endParaRPr lang="en-GB" sz="1400" dirty="0" smtClean="0"/>
          </a:p>
          <a:p>
            <a:pPr lvl="1">
              <a:lnSpc>
                <a:spcPct val="90000"/>
              </a:lnSpc>
            </a:pPr>
            <a:r>
              <a:rPr lang="en-GB" sz="1400" dirty="0" err="1" smtClean="0"/>
              <a:t>Käväisin</a:t>
            </a:r>
            <a:r>
              <a:rPr lang="en-GB" sz="1400" dirty="0" smtClean="0"/>
              <a:t> </a:t>
            </a:r>
            <a:r>
              <a:rPr lang="en-GB" sz="1400" dirty="0" err="1" smtClean="0"/>
              <a:t>toteuttajana</a:t>
            </a:r>
            <a:r>
              <a:rPr lang="en-GB" sz="1400" dirty="0" smtClean="0"/>
              <a:t> </a:t>
            </a:r>
            <a:r>
              <a:rPr lang="en-GB" sz="1400" dirty="0" err="1" smtClean="0"/>
              <a:t>oppimassa</a:t>
            </a:r>
            <a:r>
              <a:rPr lang="en-GB" sz="1400" dirty="0" smtClean="0"/>
              <a:t> </a:t>
            </a:r>
            <a:r>
              <a:rPr lang="en-GB" sz="1400" dirty="0" err="1" smtClean="0"/>
              <a:t>että</a:t>
            </a:r>
            <a:r>
              <a:rPr lang="en-GB" sz="1400" dirty="0" smtClean="0"/>
              <a:t> </a:t>
            </a:r>
            <a:r>
              <a:rPr lang="en-GB" sz="1400" dirty="0" err="1" smtClean="0"/>
              <a:t>hyvää</a:t>
            </a:r>
            <a:r>
              <a:rPr lang="en-GB" sz="1400" dirty="0" smtClean="0"/>
              <a:t> </a:t>
            </a:r>
            <a:r>
              <a:rPr lang="en-GB" sz="1400" dirty="0" err="1" smtClean="0"/>
              <a:t>testaajaa</a:t>
            </a:r>
            <a:r>
              <a:rPr lang="en-GB" sz="1400" dirty="0" smtClean="0"/>
              <a:t> </a:t>
            </a:r>
            <a:r>
              <a:rPr lang="en-GB" sz="1400" dirty="0" err="1" smtClean="0"/>
              <a:t>arvostetaan</a:t>
            </a:r>
            <a:r>
              <a:rPr lang="en-GB" sz="1400" dirty="0" smtClean="0"/>
              <a:t> </a:t>
            </a:r>
            <a:r>
              <a:rPr lang="en-GB" sz="1400" dirty="0" err="1" smtClean="0"/>
              <a:t>kertaluokkaa</a:t>
            </a:r>
            <a:r>
              <a:rPr lang="en-GB" sz="1400" dirty="0" smtClean="0"/>
              <a:t> </a:t>
            </a:r>
            <a:r>
              <a:rPr lang="en-GB" sz="1400" dirty="0" err="1" smtClean="0"/>
              <a:t>enemmän</a:t>
            </a:r>
            <a:r>
              <a:rPr lang="en-GB" sz="1400" dirty="0" smtClean="0"/>
              <a:t> </a:t>
            </a:r>
            <a:r>
              <a:rPr lang="en-GB" sz="1400" dirty="0" err="1" smtClean="0"/>
              <a:t>kuin</a:t>
            </a:r>
            <a:r>
              <a:rPr lang="en-GB" sz="1400" dirty="0" smtClean="0"/>
              <a:t> </a:t>
            </a:r>
            <a:r>
              <a:rPr lang="en-GB" sz="1400" dirty="0" err="1" smtClean="0"/>
              <a:t>keskinkertaista</a:t>
            </a:r>
            <a:r>
              <a:rPr lang="en-GB" sz="1400" dirty="0" smtClean="0"/>
              <a:t> </a:t>
            </a:r>
            <a:r>
              <a:rPr lang="en-GB" sz="1400" dirty="0" err="1" smtClean="0"/>
              <a:t>ohjelmoijaa</a:t>
            </a:r>
            <a:endParaRPr lang="en-GB" sz="1400" dirty="0" smtClean="0"/>
          </a:p>
          <a:p>
            <a:pPr lvl="1">
              <a:lnSpc>
                <a:spcPct val="90000"/>
              </a:lnSpc>
            </a:pPr>
            <a:r>
              <a:rPr lang="en-GB" sz="1400" dirty="0" err="1" smtClean="0"/>
              <a:t>Ketteryys</a:t>
            </a:r>
            <a:r>
              <a:rPr lang="en-GB" sz="1400" dirty="0" smtClean="0"/>
              <a:t> </a:t>
            </a:r>
            <a:r>
              <a:rPr lang="en-GB" sz="1400" dirty="0" err="1" smtClean="0"/>
              <a:t>osana</a:t>
            </a:r>
            <a:r>
              <a:rPr lang="en-GB" sz="1400" dirty="0" smtClean="0"/>
              <a:t> </a:t>
            </a:r>
            <a:r>
              <a:rPr lang="en-GB" sz="1400" dirty="0" err="1" smtClean="0"/>
              <a:t>tekemisen</a:t>
            </a:r>
            <a:r>
              <a:rPr lang="en-GB" sz="1400" dirty="0" smtClean="0"/>
              <a:t> </a:t>
            </a:r>
            <a:r>
              <a:rPr lang="en-GB" sz="1400" dirty="0" err="1" smtClean="0"/>
              <a:t>pohdintaa</a:t>
            </a:r>
            <a:r>
              <a:rPr lang="en-GB" sz="1400" dirty="0" smtClean="0"/>
              <a:t> </a:t>
            </a:r>
            <a:r>
              <a:rPr lang="en-GB" sz="1400" dirty="0" err="1" smtClean="0"/>
              <a:t>vuodesta</a:t>
            </a:r>
            <a:r>
              <a:rPr lang="en-GB" sz="1400" dirty="0" smtClean="0"/>
              <a:t> 2000</a:t>
            </a:r>
          </a:p>
          <a:p>
            <a:pPr>
              <a:lnSpc>
                <a:spcPct val="110000"/>
              </a:lnSpc>
            </a:pPr>
            <a:r>
              <a:rPr lang="en-GB" sz="1600" dirty="0" err="1" smtClean="0"/>
              <a:t>Toiminnan</a:t>
            </a:r>
            <a:r>
              <a:rPr lang="en-GB" sz="1600" dirty="0" smtClean="0"/>
              <a:t> </a:t>
            </a:r>
            <a:r>
              <a:rPr lang="en-GB" sz="1600" dirty="0" err="1" smtClean="0"/>
              <a:t>parantaja</a:t>
            </a:r>
            <a:r>
              <a:rPr lang="en-GB" sz="1600" dirty="0" smtClean="0"/>
              <a:t> </a:t>
            </a:r>
            <a:r>
              <a:rPr lang="en-GB" sz="1600" dirty="0" err="1" smtClean="0"/>
              <a:t>mukana</a:t>
            </a:r>
            <a:r>
              <a:rPr lang="en-GB" sz="1600" dirty="0" smtClean="0"/>
              <a:t> </a:t>
            </a:r>
            <a:r>
              <a:rPr lang="en-GB" sz="1600" dirty="0" err="1" smtClean="0"/>
              <a:t>olemisen</a:t>
            </a:r>
            <a:r>
              <a:rPr lang="en-GB" sz="1600" dirty="0" smtClean="0"/>
              <a:t> </a:t>
            </a:r>
            <a:r>
              <a:rPr lang="en-GB" sz="1600" dirty="0" err="1" smtClean="0"/>
              <a:t>kautta</a:t>
            </a:r>
            <a:endParaRPr lang="en-GB" sz="1600" dirty="0" smtClean="0"/>
          </a:p>
          <a:p>
            <a:pPr lvl="1">
              <a:lnSpc>
                <a:spcPct val="110000"/>
              </a:lnSpc>
            </a:pPr>
            <a:r>
              <a:rPr lang="en-GB" sz="1400" dirty="0" err="1" smtClean="0"/>
              <a:t>Omia</a:t>
            </a:r>
            <a:r>
              <a:rPr lang="en-GB" sz="1400" dirty="0" smtClean="0"/>
              <a:t> </a:t>
            </a:r>
            <a:r>
              <a:rPr lang="en-GB" sz="1400" dirty="0" err="1" smtClean="0"/>
              <a:t>kokemuksia</a:t>
            </a:r>
            <a:r>
              <a:rPr lang="en-GB" sz="1400" dirty="0" smtClean="0"/>
              <a:t>, </a:t>
            </a:r>
            <a:r>
              <a:rPr lang="en-GB" sz="1400" dirty="0" err="1" smtClean="0"/>
              <a:t>ei</a:t>
            </a:r>
            <a:r>
              <a:rPr lang="en-GB" sz="1400" dirty="0" smtClean="0"/>
              <a:t> vain </a:t>
            </a:r>
            <a:r>
              <a:rPr lang="en-GB" sz="1400" dirty="0" err="1" smtClean="0"/>
              <a:t>läheltä</a:t>
            </a:r>
            <a:r>
              <a:rPr lang="en-GB" sz="1400" dirty="0" smtClean="0"/>
              <a:t> </a:t>
            </a:r>
            <a:r>
              <a:rPr lang="en-GB" sz="1400" dirty="0" err="1" smtClean="0"/>
              <a:t>seurattuna</a:t>
            </a:r>
            <a:r>
              <a:rPr lang="en-GB" sz="1400" dirty="0" smtClean="0"/>
              <a:t> </a:t>
            </a:r>
            <a:r>
              <a:rPr lang="en-GB" sz="1400" dirty="0" err="1" smtClean="0"/>
              <a:t>toisten</a:t>
            </a:r>
            <a:r>
              <a:rPr lang="en-GB" sz="1400" dirty="0" smtClean="0"/>
              <a:t> </a:t>
            </a:r>
            <a:r>
              <a:rPr lang="en-GB" sz="1400" dirty="0" err="1" smtClean="0"/>
              <a:t>kokemuksia</a:t>
            </a:r>
            <a:endParaRPr lang="en-GB" sz="1400" dirty="0" smtClean="0"/>
          </a:p>
          <a:p>
            <a:pPr lvl="1">
              <a:lnSpc>
                <a:spcPct val="90000"/>
              </a:lnSpc>
            </a:pPr>
            <a:r>
              <a:rPr lang="en-GB" sz="1400" dirty="0" err="1" smtClean="0"/>
              <a:t>Kokonaisnäkymän</a:t>
            </a:r>
            <a:r>
              <a:rPr lang="en-GB" sz="1400" dirty="0" smtClean="0"/>
              <a:t> </a:t>
            </a:r>
            <a:r>
              <a:rPr lang="en-GB" sz="1400" dirty="0" err="1" smtClean="0"/>
              <a:t>kerääjä</a:t>
            </a:r>
            <a:r>
              <a:rPr lang="en-GB" sz="1400" dirty="0" smtClean="0"/>
              <a:t> </a:t>
            </a:r>
            <a:r>
              <a:rPr lang="en-GB" sz="1400" dirty="0" err="1" smtClean="0"/>
              <a:t>siihen</a:t>
            </a:r>
            <a:r>
              <a:rPr lang="en-GB" sz="1400" dirty="0" smtClean="0"/>
              <a:t> </a:t>
            </a:r>
            <a:r>
              <a:rPr lang="en-GB" sz="1400" dirty="0" err="1" smtClean="0"/>
              <a:t>mitä</a:t>
            </a:r>
            <a:r>
              <a:rPr lang="en-GB" sz="1400" dirty="0" smtClean="0"/>
              <a:t> </a:t>
            </a:r>
            <a:r>
              <a:rPr lang="en-GB" sz="1400" dirty="0" err="1" smtClean="0"/>
              <a:t>testauksen</a:t>
            </a:r>
            <a:r>
              <a:rPr lang="en-GB" sz="1400" dirty="0" smtClean="0"/>
              <a:t> </a:t>
            </a:r>
            <a:r>
              <a:rPr lang="en-GB" sz="1400" dirty="0" err="1" smtClean="0"/>
              <a:t>alueella</a:t>
            </a:r>
            <a:r>
              <a:rPr lang="en-GB" sz="1400" dirty="0" smtClean="0"/>
              <a:t> </a:t>
            </a:r>
            <a:r>
              <a:rPr lang="en-GB" sz="1400" dirty="0" err="1" smtClean="0"/>
              <a:t>tapahtuu</a:t>
            </a:r>
            <a:endParaRPr lang="en-GB" sz="1400" dirty="0" smtClean="0"/>
          </a:p>
          <a:p>
            <a:pPr lvl="1">
              <a:lnSpc>
                <a:spcPct val="90000"/>
              </a:lnSpc>
            </a:pPr>
            <a:r>
              <a:rPr lang="en-GB" sz="1400" dirty="0" err="1" smtClean="0"/>
              <a:t>Ensisijaisesti</a:t>
            </a:r>
            <a:r>
              <a:rPr lang="en-GB" sz="1400" dirty="0" smtClean="0"/>
              <a:t> </a:t>
            </a:r>
            <a:r>
              <a:rPr lang="en-GB" sz="1400" dirty="0" err="1" smtClean="0"/>
              <a:t>mukana</a:t>
            </a:r>
            <a:r>
              <a:rPr lang="en-GB" sz="1400" dirty="0" smtClean="0"/>
              <a:t> </a:t>
            </a:r>
            <a:r>
              <a:rPr lang="en-GB" sz="1400" dirty="0" err="1" smtClean="0"/>
              <a:t>projekteissa</a:t>
            </a:r>
            <a:r>
              <a:rPr lang="en-GB" sz="1400" dirty="0" smtClean="0"/>
              <a:t>, </a:t>
            </a:r>
            <a:r>
              <a:rPr lang="en-GB" sz="1400" dirty="0" err="1" smtClean="0"/>
              <a:t>parantaminen</a:t>
            </a:r>
            <a:r>
              <a:rPr lang="en-GB" sz="1400" dirty="0" smtClean="0"/>
              <a:t> </a:t>
            </a:r>
            <a:r>
              <a:rPr lang="en-GB" sz="1400" dirty="0" err="1" smtClean="0"/>
              <a:t>tekemisen</a:t>
            </a:r>
            <a:r>
              <a:rPr lang="en-GB" sz="1400" dirty="0" smtClean="0"/>
              <a:t> </a:t>
            </a:r>
            <a:r>
              <a:rPr lang="en-GB" sz="1400" dirty="0" err="1" smtClean="0"/>
              <a:t>ja</a:t>
            </a:r>
            <a:r>
              <a:rPr lang="en-GB" sz="1400" dirty="0" smtClean="0"/>
              <a:t> </a:t>
            </a:r>
            <a:r>
              <a:rPr lang="en-GB" sz="1400" dirty="0" err="1" smtClean="0"/>
              <a:t>osaamisen</a:t>
            </a:r>
            <a:r>
              <a:rPr lang="en-GB" sz="1400" dirty="0" smtClean="0"/>
              <a:t>, </a:t>
            </a:r>
            <a:r>
              <a:rPr lang="en-GB" sz="1400" dirty="0" err="1" smtClean="0"/>
              <a:t>ei</a:t>
            </a:r>
            <a:r>
              <a:rPr lang="en-GB" sz="1400" dirty="0" smtClean="0"/>
              <a:t> </a:t>
            </a:r>
            <a:r>
              <a:rPr lang="en-GB" sz="1400" dirty="0" err="1" smtClean="0"/>
              <a:t>menetelmien</a:t>
            </a:r>
            <a:r>
              <a:rPr lang="en-GB" sz="1400" dirty="0" smtClean="0"/>
              <a:t> </a:t>
            </a:r>
            <a:r>
              <a:rPr lang="en-GB" sz="1400" dirty="0" err="1" smtClean="0"/>
              <a:t>kautta</a:t>
            </a:r>
            <a:endParaRPr lang="en-GB" sz="1400" dirty="0" smtClean="0"/>
          </a:p>
          <a:p>
            <a:pPr lvl="1">
              <a:lnSpc>
                <a:spcPct val="90000"/>
              </a:lnSpc>
            </a:pPr>
            <a:r>
              <a:rPr lang="en-GB" sz="1400" dirty="0" err="1" smtClean="0"/>
              <a:t>Vahva</a:t>
            </a:r>
            <a:r>
              <a:rPr lang="en-GB" sz="1400" dirty="0" smtClean="0"/>
              <a:t> </a:t>
            </a:r>
            <a:r>
              <a:rPr lang="en-GB" sz="1400" dirty="0" err="1" smtClean="0"/>
              <a:t>usko</a:t>
            </a:r>
            <a:r>
              <a:rPr lang="en-GB" sz="1400" dirty="0" smtClean="0"/>
              <a:t> </a:t>
            </a:r>
            <a:r>
              <a:rPr lang="en-GB" sz="1400" dirty="0" err="1" smtClean="0"/>
              <a:t>parannusehdotusten</a:t>
            </a:r>
            <a:r>
              <a:rPr lang="en-GB" sz="1400" dirty="0" smtClean="0"/>
              <a:t> </a:t>
            </a:r>
            <a:r>
              <a:rPr lang="en-GB" sz="1400" dirty="0" err="1" smtClean="0"/>
              <a:t>omakohtaiseen</a:t>
            </a:r>
            <a:r>
              <a:rPr lang="en-GB" sz="1400" dirty="0" smtClean="0"/>
              <a:t> </a:t>
            </a:r>
            <a:r>
              <a:rPr lang="en-GB" sz="1400" dirty="0" err="1" smtClean="0"/>
              <a:t>kokemiseen</a:t>
            </a:r>
            <a:endParaRPr lang="en-GB" sz="1400" dirty="0" smtClean="0"/>
          </a:p>
        </p:txBody>
      </p:sp>
      <p:sp>
        <p:nvSpPr>
          <p:cNvPr id="4" name="Content Placeholder 3"/>
          <p:cNvSpPr>
            <a:spLocks noGrp="1"/>
          </p:cNvSpPr>
          <p:nvPr>
            <p:ph sz="half" idx="2"/>
          </p:nvPr>
        </p:nvSpPr>
        <p:spPr/>
        <p:txBody>
          <a:bodyPr>
            <a:normAutofit lnSpcReduction="10000"/>
          </a:bodyPr>
          <a:lstStyle/>
          <a:p>
            <a:r>
              <a:rPr lang="fi-FI" sz="1800" dirty="0" smtClean="0"/>
              <a:t>F-Securella </a:t>
            </a:r>
            <a:r>
              <a:rPr lang="en-GB" sz="1800" dirty="0" smtClean="0"/>
              <a:t>01/2005 – 07/2008</a:t>
            </a:r>
            <a:endParaRPr lang="fi-FI" sz="1800" dirty="0" smtClean="0"/>
          </a:p>
          <a:p>
            <a:pPr lvl="1"/>
            <a:r>
              <a:rPr lang="fi-FI" sz="1600" dirty="0" smtClean="0"/>
              <a:t>Mahdollisuus seurata ketterien menetelmien organisaationlaajuista käyttöönottoa testausnäkökulmasta</a:t>
            </a:r>
          </a:p>
          <a:p>
            <a:pPr lvl="1"/>
            <a:r>
              <a:rPr lang="fi-FI" sz="1600" dirty="0" smtClean="0"/>
              <a:t>Roolina testausvastaava ja testausosaamisen kehittäjä</a:t>
            </a:r>
          </a:p>
          <a:p>
            <a:endParaRPr lang="en-GB" sz="1800" dirty="0" smtClean="0"/>
          </a:p>
          <a:p>
            <a:endParaRPr lang="en-GB" sz="1800" dirty="0" smtClean="0"/>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i-FI"/>
          </a:p>
        </p:txBody>
      </p:sp>
      <p:graphicFrame>
        <p:nvGraphicFramePr>
          <p:cNvPr id="19457" name="Object 1"/>
          <p:cNvGraphicFramePr>
            <a:graphicFrameLocks noChangeAspect="1"/>
          </p:cNvGraphicFramePr>
          <p:nvPr/>
        </p:nvGraphicFramePr>
        <p:xfrm>
          <a:off x="4448206" y="3286124"/>
          <a:ext cx="4552950" cy="3419475"/>
        </p:xfrm>
        <a:graphic>
          <a:graphicData uri="http://schemas.openxmlformats.org/presentationml/2006/ole">
            <p:oleObj spid="_x0000_s2050" name="Slide" r:id="rId4" imgW="4132995" imgH="3099711" progId="PowerPoint.Slide.12">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Esittäytymiset ja odotukset</a:t>
            </a:r>
            <a:endParaRPr lang="fi-FI" dirty="0"/>
          </a:p>
        </p:txBody>
      </p:sp>
      <p:sp>
        <p:nvSpPr>
          <p:cNvPr id="7" name="Rectangle 6"/>
          <p:cNvSpPr/>
          <p:nvPr/>
        </p:nvSpPr>
        <p:spPr>
          <a:xfrm>
            <a:off x="500034" y="1428736"/>
            <a:ext cx="8001056" cy="30003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sz="2400" dirty="0" smtClean="0"/>
              <a:t>Testausammattilaisena haluan ymmärtää mitä eroa on nykyisellä perinteisen projektin testaustavalla suhteessa siihen mitä minulta odotetaan ketterässä projektissa niin että voin tuottaa tiimilleni ja asiakkailleni lisäarvoa paremmin ja aikaisemmin. </a:t>
            </a:r>
          </a:p>
        </p:txBody>
      </p:sp>
      <p:cxnSp>
        <p:nvCxnSpPr>
          <p:cNvPr id="8" name="Straight Connector 7"/>
          <p:cNvCxnSpPr/>
          <p:nvPr/>
        </p:nvCxnSpPr>
        <p:spPr>
          <a:xfrm>
            <a:off x="500034" y="2000240"/>
            <a:ext cx="8001056" cy="1588"/>
          </a:xfrm>
          <a:prstGeom prst="line">
            <a:avLst/>
          </a:prstGeom>
        </p:spPr>
        <p:style>
          <a:lnRef idx="3">
            <a:schemeClr val="accent2"/>
          </a:lnRef>
          <a:fillRef idx="0">
            <a:schemeClr val="accent2"/>
          </a:fillRef>
          <a:effectRef idx="2">
            <a:schemeClr val="accent2"/>
          </a:effectRef>
          <a:fontRef idx="minor">
            <a:schemeClr val="tx1"/>
          </a:fontRef>
        </p:style>
      </p:cxnSp>
      <p:sp>
        <p:nvSpPr>
          <p:cNvPr id="9" name="TextBox 8"/>
          <p:cNvSpPr txBox="1"/>
          <p:nvPr/>
        </p:nvSpPr>
        <p:spPr>
          <a:xfrm>
            <a:off x="571472" y="1500174"/>
            <a:ext cx="4000528" cy="523220"/>
          </a:xfrm>
          <a:prstGeom prst="rect">
            <a:avLst/>
          </a:prstGeom>
          <a:noFill/>
        </p:spPr>
        <p:txBody>
          <a:bodyPr wrap="square" rtlCol="0">
            <a:spAutoFit/>
          </a:bodyPr>
          <a:lstStyle/>
          <a:p>
            <a:r>
              <a:rPr lang="fi-FI" sz="2800" dirty="0" smtClean="0">
                <a:latin typeface="Bradley Hand ITC" pitchFamily="66" charset="0"/>
              </a:rPr>
              <a:t>Tarina: Kurssin tavoite</a:t>
            </a:r>
            <a:endParaRPr lang="fi-FI" sz="2800" dirty="0">
              <a:latin typeface="Bradley Hand ITC" pitchFamily="66" charset="0"/>
            </a:endParaRPr>
          </a:p>
        </p:txBody>
      </p:sp>
      <p:sp>
        <p:nvSpPr>
          <p:cNvPr id="10" name="Content Placeholder 2"/>
          <p:cNvSpPr txBox="1">
            <a:spLocks/>
          </p:cNvSpPr>
          <p:nvPr/>
        </p:nvSpPr>
        <p:spPr>
          <a:xfrm>
            <a:off x="1066800" y="5334000"/>
            <a:ext cx="8077232" cy="1239858"/>
          </a:xfrm>
          <a:prstGeom prst="rect">
            <a:avLst/>
          </a:prstGeom>
        </p:spPr>
        <p:txBody>
          <a:bodyPr/>
          <a:lstStyle/>
          <a:p>
            <a:pPr marL="448056" lvl="0" indent="-384048">
              <a:spcBef>
                <a:spcPct val="20000"/>
              </a:spcBef>
              <a:buClr>
                <a:schemeClr val="accent1"/>
              </a:buClr>
              <a:buSzPct val="80000"/>
              <a:defRPr/>
            </a:pPr>
            <a:r>
              <a:rPr lang="fi-FI" sz="1600" dirty="0" smtClean="0"/>
              <a:t>Esimerkkejä hyväksymisehdoista: </a:t>
            </a:r>
          </a:p>
          <a:p>
            <a:pPr marL="448056" lvl="0" indent="-384048">
              <a:spcBef>
                <a:spcPct val="20000"/>
              </a:spcBef>
              <a:buClr>
                <a:schemeClr val="accent1"/>
              </a:buClr>
              <a:buSzPct val="80000"/>
              <a:buFont typeface="Wingdings 2"/>
              <a:buChar char=""/>
              <a:defRPr/>
            </a:pPr>
            <a:r>
              <a:rPr lang="fi-FI" sz="1600" dirty="0" smtClean="0"/>
              <a:t>Huolenaiheeni ja pelkoni testauksen ja laadun hallittavuuden menettämisestä käsitellään</a:t>
            </a:r>
          </a:p>
          <a:p>
            <a:pPr marL="448056" lvl="0" indent="-384048">
              <a:spcBef>
                <a:spcPct val="20000"/>
              </a:spcBef>
              <a:buClr>
                <a:schemeClr val="accent1"/>
              </a:buClr>
              <a:buSzPct val="80000"/>
              <a:buFont typeface="Wingdings 2"/>
              <a:buChar char=""/>
              <a:defRPr/>
            </a:pPr>
            <a:r>
              <a:rPr lang="fi-FI" sz="1600" dirty="0" smtClean="0"/>
              <a:t>Huolenaiheeni pakosta kirjoittaa koodia (jota en aiemmin ole tehnyt) käsitellään</a:t>
            </a:r>
          </a:p>
          <a:p>
            <a:pPr marL="448056" lvl="0" indent="-384048">
              <a:spcBef>
                <a:spcPct val="20000"/>
              </a:spcBef>
              <a:buClr>
                <a:schemeClr val="accent1"/>
              </a:buClr>
              <a:buSzPct val="80000"/>
              <a:buFont typeface="Wingdings 2"/>
              <a:buChar char=""/>
              <a:defRPr/>
            </a:pPr>
            <a:r>
              <a:rPr lang="fi-FI" sz="1600" dirty="0" smtClean="0"/>
              <a:t>Testaajana ymmärrän mitä lisäarvoa voin tuoda tiimilleni ja miten sen voisin tehdä</a:t>
            </a:r>
          </a:p>
          <a:p>
            <a:pPr marL="448056" lvl="0" indent="-384048">
              <a:spcBef>
                <a:spcPct val="20000"/>
              </a:spcBef>
              <a:buClr>
                <a:schemeClr val="accent1"/>
              </a:buClr>
              <a:buSzPct val="80000"/>
              <a:buFont typeface="Wingdings 2"/>
              <a:buChar char=""/>
              <a:defRPr/>
            </a:pPr>
            <a:r>
              <a:rPr lang="fi-FI" sz="1600" dirty="0" smtClean="0"/>
              <a:t>...</a:t>
            </a:r>
            <a:endParaRPr lang="fi-FI" sz="1600" dirty="0"/>
          </a:p>
        </p:txBody>
      </p:sp>
      <p:sp>
        <p:nvSpPr>
          <p:cNvPr id="11" name="Rectangle 10"/>
          <p:cNvSpPr/>
          <p:nvPr/>
        </p:nvSpPr>
        <p:spPr>
          <a:xfrm>
            <a:off x="500034" y="4379893"/>
            <a:ext cx="8001056" cy="954107"/>
          </a:xfrm>
          <a:prstGeom prst="rect">
            <a:avLst/>
          </a:prstGeom>
        </p:spPr>
        <p:txBody>
          <a:bodyPr wrap="square">
            <a:spAutoFit/>
          </a:bodyPr>
          <a:lstStyle/>
          <a:p>
            <a:pPr algn="ctr">
              <a:buNone/>
            </a:pPr>
            <a:r>
              <a:rPr lang="fi-FI" sz="2800" b="1" dirty="0" smtClean="0">
                <a:solidFill>
                  <a:schemeClr val="accent3"/>
                </a:solidFill>
              </a:rPr>
              <a:t>Harjoitus: Määrittely ryhmittäin top-3 hyväksymiskriteerit kurssille</a:t>
            </a:r>
            <a:endParaRPr lang="fi-FI" sz="2800" b="1" dirty="0">
              <a:solidFill>
                <a:schemeClr val="accent3"/>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Kurssin oppimistavoitteet</a:t>
            </a:r>
            <a:endParaRPr lang="fi-FI" dirty="0"/>
          </a:p>
        </p:txBody>
      </p:sp>
      <p:sp>
        <p:nvSpPr>
          <p:cNvPr id="4" name="Content Placeholder 3"/>
          <p:cNvSpPr>
            <a:spLocks noGrp="1"/>
          </p:cNvSpPr>
          <p:nvPr>
            <p:ph idx="1"/>
          </p:nvPr>
        </p:nvSpPr>
        <p:spPr/>
        <p:txBody>
          <a:bodyPr>
            <a:normAutofit fontScale="85000" lnSpcReduction="10000"/>
          </a:bodyPr>
          <a:lstStyle/>
          <a:p>
            <a:r>
              <a:rPr lang="fi-FI" dirty="0" smtClean="0"/>
              <a:t>Pystyt soveltamaan ketteryyden periaatteita yksilötasolla, tiedät kuinka soveltaa niitä osajoukkoon (“testausporukka”) ja koko joukkoon (“meidän projektiryhmä”). Voit aloittaa pohdiskelun organisaation muuttumisesta ketteräksi. </a:t>
            </a:r>
          </a:p>
          <a:p>
            <a:r>
              <a:rPr lang="fi-FI" dirty="0" smtClean="0"/>
              <a:t>Tiedät millaisia käytäntöjä ketterässä kehityksessä voisi olla ja kuinka samat käytännöt väärin arvoin sovellettuina eivät olekaan ketteriä vaan äärimmäisen kyttäyskulttuurin välineitä</a:t>
            </a:r>
          </a:p>
          <a:p>
            <a:r>
              <a:rPr lang="fi-FI" dirty="0" smtClean="0"/>
              <a:t>Tiedät vähän enemmän testauksesta, oli se sitten ketterää tai varsin perinteistä</a:t>
            </a:r>
          </a:p>
          <a:p>
            <a:endParaRPr lang="fi-FI"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Suositeltavaa lukemistoa</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t>Ketteryys yleensä</a:t>
            </a:r>
          </a:p>
          <a:p>
            <a:pPr lvl="1"/>
            <a:r>
              <a:rPr lang="fi-FI" dirty="0" smtClean="0"/>
              <a:t>Craig Larman: Agile and Iterative Development</a:t>
            </a:r>
          </a:p>
          <a:p>
            <a:r>
              <a:rPr lang="fi-FI" dirty="0" smtClean="0"/>
              <a:t>Scrum</a:t>
            </a:r>
          </a:p>
          <a:p>
            <a:pPr lvl="1"/>
            <a:r>
              <a:rPr lang="fi-FI" dirty="0" smtClean="0"/>
              <a:t>Mike Beedle, Ken Schwaber, Robert Martin: Agile Software Development with Scrum</a:t>
            </a:r>
          </a:p>
          <a:p>
            <a:pPr lvl="1"/>
            <a:r>
              <a:rPr lang="fi-FI" dirty="0" smtClean="0"/>
              <a:t>Henrik Kniberg: Scrum and XP from the Trenches. How We Do Scrum.</a:t>
            </a:r>
          </a:p>
          <a:p>
            <a:r>
              <a:rPr lang="fi-FI" dirty="0" smtClean="0"/>
              <a:t>Vaatimuksien kanssa toimiminen</a:t>
            </a:r>
          </a:p>
          <a:p>
            <a:pPr lvl="1"/>
            <a:r>
              <a:rPr lang="fi-FI" dirty="0" smtClean="0"/>
              <a:t>Mike Cohn, Kent Beck: User Stories Applied</a:t>
            </a:r>
          </a:p>
          <a:p>
            <a:pPr lvl="1"/>
            <a:r>
              <a:rPr lang="fi-FI" dirty="0" smtClean="0"/>
              <a:t>Mike Cohn: Agile Estimating and Planning</a:t>
            </a:r>
          </a:p>
          <a:p>
            <a:r>
              <a:rPr lang="fi-FI" dirty="0" smtClean="0"/>
              <a:t>Katsaukset tehtyyn</a:t>
            </a:r>
          </a:p>
          <a:p>
            <a:pPr lvl="1"/>
            <a:r>
              <a:rPr lang="fi-FI" dirty="0" smtClean="0"/>
              <a:t>Esther Derby, Diana Larsen: Agile Retrospectives. Making Good Teams Great.</a:t>
            </a:r>
          </a:p>
          <a:p>
            <a:r>
              <a:rPr lang="fi-FI" dirty="0" smtClean="0"/>
              <a:t>Testaus</a:t>
            </a:r>
          </a:p>
          <a:p>
            <a:pPr lvl="1"/>
            <a:r>
              <a:rPr lang="fi-FI" dirty="0" smtClean="0"/>
              <a:t>Lisa Crispin:  Agile Testing. A Practical Guide for Testers and Agile Teams</a:t>
            </a:r>
            <a:endParaRPr lang="fi-FI"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Muita erinomaisia lähteitä</a:t>
            </a:r>
            <a:endParaRPr lang="fi-FI" dirty="0"/>
          </a:p>
        </p:txBody>
      </p:sp>
      <p:sp>
        <p:nvSpPr>
          <p:cNvPr id="3" name="Content Placeholder 2"/>
          <p:cNvSpPr>
            <a:spLocks noGrp="1"/>
          </p:cNvSpPr>
          <p:nvPr>
            <p:ph idx="1"/>
          </p:nvPr>
        </p:nvSpPr>
        <p:spPr/>
        <p:txBody>
          <a:bodyPr>
            <a:normAutofit lnSpcReduction="10000"/>
          </a:bodyPr>
          <a:lstStyle/>
          <a:p>
            <a:r>
              <a:rPr lang="fi-FI" dirty="0" smtClean="0"/>
              <a:t>Videoituja esityksiä</a:t>
            </a:r>
          </a:p>
          <a:p>
            <a:pPr lvl="1"/>
            <a:r>
              <a:rPr lang="fi-FI" dirty="0" smtClean="0"/>
              <a:t>Google Tech Talks</a:t>
            </a:r>
          </a:p>
          <a:p>
            <a:pPr lvl="1"/>
            <a:r>
              <a:rPr lang="fi-FI" dirty="0" smtClean="0"/>
              <a:t>YouTube</a:t>
            </a:r>
          </a:p>
          <a:p>
            <a:r>
              <a:rPr lang="fi-FI" dirty="0" smtClean="0"/>
              <a:t>Kokonainen kurssi mustalaatikkotestauksesta – videoita, kalvomateriaaleja, harjoituksia ja yhteisö</a:t>
            </a:r>
          </a:p>
          <a:p>
            <a:pPr lvl="1"/>
            <a:r>
              <a:rPr lang="fi-FI" sz="2400" dirty="0" smtClean="0"/>
              <a:t>http://www.testingeducation.org/BBST/index.html </a:t>
            </a:r>
          </a:p>
          <a:p>
            <a:r>
              <a:rPr lang="fi-FI" dirty="0" smtClean="0"/>
              <a:t>Sähköpostilistoja yahoo-groups</a:t>
            </a:r>
          </a:p>
          <a:p>
            <a:pPr lvl="1"/>
            <a:r>
              <a:rPr lang="fi-FI" dirty="0" smtClean="0"/>
              <a:t>agile-testing, software-testing, scrumdevelopment</a:t>
            </a:r>
            <a:endParaRPr lang="fi-FI"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Seuraamisen arvoisia nimiä ketterän testauksen osalta</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Lisa Crispin</a:t>
            </a:r>
          </a:p>
          <a:p>
            <a:r>
              <a:rPr lang="fi-FI" dirty="0" smtClean="0"/>
              <a:t>Janet Gregory</a:t>
            </a:r>
          </a:p>
          <a:p>
            <a:r>
              <a:rPr lang="fi-FI" dirty="0" smtClean="0"/>
              <a:t>Elisabeth Hendrickson</a:t>
            </a:r>
          </a:p>
          <a:p>
            <a:r>
              <a:rPr lang="fi-FI" dirty="0" smtClean="0"/>
              <a:t>Brian Marick</a:t>
            </a:r>
          </a:p>
          <a:p>
            <a:r>
              <a:rPr lang="fi-FI" dirty="0" smtClean="0"/>
              <a:t>James Lyndsay</a:t>
            </a:r>
          </a:p>
          <a:p>
            <a:r>
              <a:rPr lang="fi-FI" dirty="0" smtClean="0"/>
              <a:t>Michael Bolton</a:t>
            </a:r>
          </a:p>
          <a:p>
            <a:r>
              <a:rPr lang="fi-FI" dirty="0" smtClean="0"/>
              <a:t>Cem Kaner</a:t>
            </a:r>
          </a:p>
          <a:p>
            <a:r>
              <a:rPr lang="fi-FI" dirty="0" smtClean="0"/>
              <a:t>James Bach</a:t>
            </a:r>
          </a:p>
          <a:p>
            <a:r>
              <a:rPr lang="fi-FI" dirty="0" smtClean="0"/>
              <a:t>Jonathan Bach</a:t>
            </a:r>
          </a:p>
        </p:txBody>
      </p:sp>
      <p:pic>
        <p:nvPicPr>
          <p:cNvPr id="6" name="Picture 2" descr="C:\Documents and Settings\pyhama\My Documents\My Pictures\Microsoft Clip Organizer\j0078726.wmf"/>
          <p:cNvPicPr>
            <a:picLocks noChangeAspect="1" noChangeArrowheads="1"/>
          </p:cNvPicPr>
          <p:nvPr/>
        </p:nvPicPr>
        <p:blipFill>
          <a:blip r:embed="rId3" cstate="print"/>
          <a:srcRect/>
          <a:stretch>
            <a:fillRect/>
          </a:stretch>
        </p:blipFill>
        <p:spPr bwMode="auto">
          <a:xfrm>
            <a:off x="6019800" y="3657600"/>
            <a:ext cx="2718254" cy="2754307"/>
          </a:xfrm>
          <a:prstGeom prst="rect">
            <a:avLst/>
          </a:prstGeom>
          <a:noFill/>
        </p:spPr>
      </p:pic>
      <p:sp>
        <p:nvSpPr>
          <p:cNvPr id="8" name="Right Arrow 7"/>
          <p:cNvSpPr/>
          <p:nvPr/>
        </p:nvSpPr>
        <p:spPr>
          <a:xfrm rot="16200000">
            <a:off x="4229100" y="2857499"/>
            <a:ext cx="1752600" cy="91440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dirty="0" smtClean="0"/>
              <a:t>Ketterä</a:t>
            </a:r>
            <a:endParaRPr lang="fi-FI" dirty="0"/>
          </a:p>
        </p:txBody>
      </p:sp>
      <p:sp>
        <p:nvSpPr>
          <p:cNvPr id="9" name="Left Arrow 8"/>
          <p:cNvSpPr/>
          <p:nvPr/>
        </p:nvSpPr>
        <p:spPr>
          <a:xfrm rot="16200000">
            <a:off x="4762500" y="3771900"/>
            <a:ext cx="1752600" cy="914400"/>
          </a:xfrm>
          <a:prstGeom prst="lef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dirty="0" smtClean="0"/>
              <a:t>Tutkiva</a:t>
            </a:r>
            <a:endParaRPr lang="fi-FI"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p:cNvSpPr/>
          <p:nvPr/>
        </p:nvSpPr>
        <p:spPr>
          <a:xfrm>
            <a:off x="4648200" y="4876800"/>
            <a:ext cx="3048000" cy="609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fi-FI"/>
          </a:p>
        </p:txBody>
      </p:sp>
      <p:sp>
        <p:nvSpPr>
          <p:cNvPr id="6" name="Slide Number Placeholder 6"/>
          <p:cNvSpPr>
            <a:spLocks noGrp="1"/>
          </p:cNvSpPr>
          <p:nvPr>
            <p:ph type="sldNum" sz="quarter" idx="12"/>
          </p:nvPr>
        </p:nvSpPr>
        <p:spPr/>
        <p:txBody>
          <a:bodyPr/>
          <a:lstStyle/>
          <a:p>
            <a:fld id="{AF3A8996-4D90-4B72-979B-C4EF866FA3D2}" type="slidenum">
              <a:rPr lang="en-US"/>
              <a:pPr/>
              <a:t>9</a:t>
            </a:fld>
            <a:endParaRPr lang="en-US"/>
          </a:p>
        </p:txBody>
      </p:sp>
      <p:sp>
        <p:nvSpPr>
          <p:cNvPr id="56322" name="Rectangle 2"/>
          <p:cNvSpPr>
            <a:spLocks noGrp="1" noChangeArrowheads="1"/>
          </p:cNvSpPr>
          <p:nvPr>
            <p:ph type="title"/>
          </p:nvPr>
        </p:nvSpPr>
        <p:spPr/>
        <p:txBody>
          <a:bodyPr>
            <a:normAutofit fontScale="90000"/>
          </a:bodyPr>
          <a:lstStyle/>
          <a:p>
            <a:pPr defTabSz="762000"/>
            <a:r>
              <a:rPr lang="fi-FI"/>
              <a:t>Hyviä testaustiedon lähteitä verkossa</a:t>
            </a:r>
          </a:p>
        </p:txBody>
      </p:sp>
      <p:sp>
        <p:nvSpPr>
          <p:cNvPr id="56323" name="Rectangle 3"/>
          <p:cNvSpPr>
            <a:spLocks noGrp="1" noChangeArrowheads="1"/>
          </p:cNvSpPr>
          <p:nvPr>
            <p:ph type="body" sz="half" idx="1"/>
          </p:nvPr>
        </p:nvSpPr>
        <p:spPr>
          <a:xfrm>
            <a:off x="685800" y="1828800"/>
            <a:ext cx="3765550" cy="3657600"/>
          </a:xfrm>
        </p:spPr>
        <p:txBody>
          <a:bodyPr>
            <a:noAutofit/>
          </a:bodyPr>
          <a:lstStyle/>
          <a:p>
            <a:pPr marL="0" indent="0" defTabSz="762000">
              <a:lnSpc>
                <a:spcPct val="80000"/>
              </a:lnSpc>
            </a:pPr>
            <a:r>
              <a:rPr lang="fi-FI" sz="1400" dirty="0"/>
              <a:t>Kansainvälisen testausopetuksen sivusto - mahtavia materiaaleja</a:t>
            </a:r>
          </a:p>
          <a:p>
            <a:pPr marL="377825" lvl="1" indent="-185738" defTabSz="762000">
              <a:lnSpc>
                <a:spcPct val="80000"/>
              </a:lnSpc>
            </a:pPr>
            <a:r>
              <a:rPr lang="fi-FI" sz="1400" dirty="0">
                <a:hlinkClick r:id="rId3"/>
              </a:rPr>
              <a:t>http://www.testingeducation.org/</a:t>
            </a:r>
            <a:endParaRPr lang="fi-FI" sz="1100" dirty="0"/>
          </a:p>
          <a:p>
            <a:pPr marL="0" indent="0" defTabSz="762000">
              <a:lnSpc>
                <a:spcPct val="80000"/>
              </a:lnSpc>
            </a:pPr>
            <a:r>
              <a:rPr lang="fi-FI" sz="1400" dirty="0"/>
              <a:t>Stickyminds – Forum for testing</a:t>
            </a:r>
          </a:p>
          <a:p>
            <a:pPr marL="377825" lvl="1" indent="-185738" defTabSz="762000">
              <a:lnSpc>
                <a:spcPct val="80000"/>
              </a:lnSpc>
            </a:pPr>
            <a:r>
              <a:rPr lang="fi-FI" sz="1400" dirty="0">
                <a:hlinkClick r:id="rId4"/>
              </a:rPr>
              <a:t>http://www.stickyminds.com/</a:t>
            </a:r>
            <a:endParaRPr lang="fi-FI" sz="1400" dirty="0"/>
          </a:p>
          <a:p>
            <a:pPr marL="0" indent="0" defTabSz="762000">
              <a:lnSpc>
                <a:spcPct val="80000"/>
              </a:lnSpc>
            </a:pPr>
            <a:r>
              <a:rPr lang="fi-FI" sz="1400" dirty="0"/>
              <a:t>”Better Software”-lehti, ilmestyi ennen nimellä ”Software Testing and Quality Engineering”</a:t>
            </a:r>
          </a:p>
          <a:p>
            <a:pPr marL="377825" lvl="1" indent="-185738" defTabSz="762000">
              <a:lnSpc>
                <a:spcPct val="80000"/>
              </a:lnSpc>
            </a:pPr>
            <a:r>
              <a:rPr lang="fi-FI" sz="1400" dirty="0">
                <a:hlinkClick r:id="rId5"/>
              </a:rPr>
              <a:t>http://www.bettersoftware.com/</a:t>
            </a:r>
            <a:endParaRPr lang="fi-FI" sz="1400" dirty="0"/>
          </a:p>
          <a:p>
            <a:pPr marL="0" indent="0" defTabSz="762000">
              <a:lnSpc>
                <a:spcPct val="80000"/>
              </a:lnSpc>
            </a:pPr>
            <a:r>
              <a:rPr lang="fi-FI" sz="1400" dirty="0" smtClean="0"/>
              <a:t>Testing Experience –lehti</a:t>
            </a:r>
          </a:p>
          <a:p>
            <a:pPr marL="400050" lvl="1" indent="0" defTabSz="762000">
              <a:lnSpc>
                <a:spcPct val="80000"/>
              </a:lnSpc>
            </a:pPr>
            <a:r>
              <a:rPr lang="fi-FI" sz="1400" dirty="0" smtClean="0">
                <a:hlinkClick r:id="rId6"/>
              </a:rPr>
              <a:t>http://www.testingexperience.com/</a:t>
            </a:r>
            <a:r>
              <a:rPr lang="fi-FI" sz="1400" dirty="0" smtClean="0"/>
              <a:t> </a:t>
            </a:r>
          </a:p>
          <a:p>
            <a:pPr marL="0" indent="0" defTabSz="762000">
              <a:lnSpc>
                <a:spcPct val="80000"/>
              </a:lnSpc>
            </a:pPr>
            <a:r>
              <a:rPr lang="fi-FI" sz="1400" dirty="0" smtClean="0"/>
              <a:t>Cem </a:t>
            </a:r>
            <a:r>
              <a:rPr lang="fi-FI" sz="1400" dirty="0"/>
              <a:t>Kaner’s website</a:t>
            </a:r>
          </a:p>
          <a:p>
            <a:pPr marL="377825" lvl="1" indent="-185738" defTabSz="762000">
              <a:lnSpc>
                <a:spcPct val="80000"/>
              </a:lnSpc>
            </a:pPr>
            <a:r>
              <a:rPr lang="fi-FI" sz="1400" dirty="0">
                <a:hlinkClick r:id="rId7"/>
              </a:rPr>
              <a:t>http://www.kaner.com/</a:t>
            </a:r>
            <a:endParaRPr lang="fi-FI" sz="1400" dirty="0"/>
          </a:p>
          <a:p>
            <a:pPr marL="0" indent="0" defTabSz="762000">
              <a:lnSpc>
                <a:spcPct val="80000"/>
              </a:lnSpc>
            </a:pPr>
            <a:r>
              <a:rPr lang="fi-FI" sz="1400" dirty="0"/>
              <a:t>James Bach’s website</a:t>
            </a:r>
          </a:p>
          <a:p>
            <a:pPr marL="377825" lvl="1" indent="-185738" defTabSz="762000">
              <a:lnSpc>
                <a:spcPct val="80000"/>
              </a:lnSpc>
            </a:pPr>
            <a:r>
              <a:rPr lang="fi-FI" sz="1400" dirty="0">
                <a:hlinkClick r:id="rId8"/>
              </a:rPr>
              <a:t>http://www.satisfice.com/</a:t>
            </a:r>
            <a:endParaRPr lang="fi-FI" sz="1400" dirty="0"/>
          </a:p>
          <a:p>
            <a:pPr marL="0" indent="0" defTabSz="762000">
              <a:lnSpc>
                <a:spcPct val="80000"/>
              </a:lnSpc>
            </a:pPr>
            <a:r>
              <a:rPr lang="fi-FI" sz="1400" dirty="0"/>
              <a:t>Rex Black’s website</a:t>
            </a:r>
          </a:p>
          <a:p>
            <a:pPr marL="377825" lvl="1" indent="-185738" defTabSz="762000">
              <a:lnSpc>
                <a:spcPct val="80000"/>
              </a:lnSpc>
            </a:pPr>
            <a:r>
              <a:rPr lang="fi-FI" sz="1400" dirty="0">
                <a:hlinkClick r:id="rId9"/>
              </a:rPr>
              <a:t>http://</a:t>
            </a:r>
            <a:r>
              <a:rPr lang="fi-FI" sz="1400" dirty="0" smtClean="0">
                <a:hlinkClick r:id="rId9"/>
              </a:rPr>
              <a:t>www.rbcs-us.com</a:t>
            </a:r>
            <a:r>
              <a:rPr lang="fi-FI" sz="1400" dirty="0">
                <a:hlinkClick r:id="rId9"/>
              </a:rPr>
              <a:t>/</a:t>
            </a:r>
            <a:endParaRPr lang="fi-FI" sz="1400" dirty="0"/>
          </a:p>
          <a:p>
            <a:pPr marL="0" indent="0" defTabSz="762000">
              <a:lnSpc>
                <a:spcPct val="80000"/>
              </a:lnSpc>
            </a:pPr>
            <a:r>
              <a:rPr lang="fi-FI" sz="1400" dirty="0"/>
              <a:t>Brian Marick’s Website</a:t>
            </a:r>
          </a:p>
          <a:p>
            <a:pPr marL="377825" lvl="1" indent="-185738" defTabSz="762000">
              <a:lnSpc>
                <a:spcPct val="80000"/>
              </a:lnSpc>
            </a:pPr>
            <a:r>
              <a:rPr lang="fi-FI" sz="1400" dirty="0">
                <a:hlinkClick r:id="rId10"/>
              </a:rPr>
              <a:t>http://</a:t>
            </a:r>
            <a:r>
              <a:rPr lang="fi-FI" sz="1400" dirty="0" smtClean="0">
                <a:hlinkClick r:id="rId10"/>
              </a:rPr>
              <a:t>www.exampler.com</a:t>
            </a:r>
            <a:r>
              <a:rPr lang="fi-FI" sz="1400" dirty="0">
                <a:hlinkClick r:id="rId10"/>
              </a:rPr>
              <a:t>/</a:t>
            </a:r>
            <a:endParaRPr lang="fi-FI" sz="1400" dirty="0"/>
          </a:p>
          <a:p>
            <a:pPr marL="0" indent="0" defTabSz="762000">
              <a:lnSpc>
                <a:spcPct val="80000"/>
              </a:lnSpc>
            </a:pPr>
            <a:r>
              <a:rPr lang="fi-FI" sz="1400" dirty="0"/>
              <a:t>Bret Pettichord’s Website</a:t>
            </a:r>
          </a:p>
          <a:p>
            <a:pPr marL="377825" lvl="1" indent="-185738" defTabSz="762000">
              <a:lnSpc>
                <a:spcPct val="80000"/>
              </a:lnSpc>
            </a:pPr>
            <a:r>
              <a:rPr lang="fi-FI" sz="1400" dirty="0">
                <a:hlinkClick r:id="rId11"/>
              </a:rPr>
              <a:t>http://www.pettichord.com/</a:t>
            </a:r>
            <a:endParaRPr lang="fi-FI" sz="1100" dirty="0"/>
          </a:p>
          <a:p>
            <a:pPr marL="0" indent="0" defTabSz="762000">
              <a:lnSpc>
                <a:spcPct val="80000"/>
              </a:lnSpc>
            </a:pPr>
            <a:r>
              <a:rPr lang="fi-FI" sz="1400" dirty="0"/>
              <a:t>Karl Wiegers website</a:t>
            </a:r>
          </a:p>
          <a:p>
            <a:pPr marL="377825" lvl="1" indent="-185738" defTabSz="762000">
              <a:lnSpc>
                <a:spcPct val="80000"/>
              </a:lnSpc>
            </a:pPr>
            <a:r>
              <a:rPr lang="fi-FI" sz="1400" dirty="0">
                <a:hlinkClick r:id="rId12"/>
              </a:rPr>
              <a:t>http://www.processimpact.com/</a:t>
            </a:r>
            <a:endParaRPr lang="fi-FI" sz="1400" dirty="0"/>
          </a:p>
        </p:txBody>
      </p:sp>
      <p:sp>
        <p:nvSpPr>
          <p:cNvPr id="56324" name="Rectangle 4"/>
          <p:cNvSpPr>
            <a:spLocks noGrp="1" noChangeArrowheads="1"/>
          </p:cNvSpPr>
          <p:nvPr>
            <p:ph type="body" sz="half" idx="2"/>
          </p:nvPr>
        </p:nvSpPr>
        <p:spPr>
          <a:xfrm>
            <a:off x="4614863" y="1828800"/>
            <a:ext cx="4205287" cy="3657600"/>
          </a:xfrm>
        </p:spPr>
        <p:txBody>
          <a:bodyPr>
            <a:noAutofit/>
          </a:bodyPr>
          <a:lstStyle/>
          <a:p>
            <a:pPr marL="0" indent="0" defTabSz="762000">
              <a:lnSpc>
                <a:spcPct val="80000"/>
              </a:lnSpc>
            </a:pPr>
            <a:r>
              <a:rPr lang="fi-FI" sz="1400" dirty="0"/>
              <a:t>Testauksen sertifiointia</a:t>
            </a:r>
          </a:p>
          <a:p>
            <a:pPr marL="377825" lvl="1" indent="-187325" defTabSz="762000">
              <a:lnSpc>
                <a:spcPct val="80000"/>
              </a:lnSpc>
            </a:pPr>
            <a:r>
              <a:rPr lang="fi-FI" sz="1400" dirty="0">
                <a:hlinkClick r:id="rId13"/>
              </a:rPr>
              <a:t>http://www.bcs.org.uk/iseb</a:t>
            </a:r>
            <a:r>
              <a:rPr lang="fi-FI" sz="1400" dirty="0"/>
              <a:t>/</a:t>
            </a:r>
          </a:p>
          <a:p>
            <a:pPr marL="377825" lvl="1" indent="-187325" defTabSz="762000">
              <a:lnSpc>
                <a:spcPct val="80000"/>
              </a:lnSpc>
            </a:pPr>
            <a:r>
              <a:rPr lang="fi-FI" sz="1400" dirty="0">
                <a:hlinkClick r:id="rId14"/>
              </a:rPr>
              <a:t>http://www.istqb.org/</a:t>
            </a:r>
            <a:endParaRPr lang="fi-FI" sz="1400" dirty="0"/>
          </a:p>
          <a:p>
            <a:pPr marL="377825" lvl="1" indent="-187325" defTabSz="762000">
              <a:lnSpc>
                <a:spcPct val="80000"/>
              </a:lnSpc>
            </a:pPr>
            <a:r>
              <a:rPr lang="fi-FI" sz="1400" dirty="0" smtClean="0">
                <a:hlinkClick r:id="rId15"/>
              </a:rPr>
              <a:t>http</a:t>
            </a:r>
            <a:r>
              <a:rPr lang="fi-FI" sz="1400" dirty="0">
                <a:hlinkClick r:id="rId15"/>
              </a:rPr>
              <a:t>://www.associationforsoftwaretesting.org</a:t>
            </a:r>
            <a:r>
              <a:rPr lang="fi-FI" sz="1400" dirty="0"/>
              <a:t> </a:t>
            </a:r>
          </a:p>
          <a:p>
            <a:pPr marL="377825" lvl="1" indent="-187325" defTabSz="762000">
              <a:lnSpc>
                <a:spcPct val="80000"/>
              </a:lnSpc>
            </a:pPr>
            <a:endParaRPr lang="fi-FI" sz="1050" dirty="0"/>
          </a:p>
          <a:p>
            <a:pPr marL="0" indent="0" defTabSz="762000">
              <a:lnSpc>
                <a:spcPct val="80000"/>
              </a:lnSpc>
            </a:pPr>
            <a:r>
              <a:rPr lang="fi-FI" sz="1400" dirty="0"/>
              <a:t>Syvällisten testauspohdintojen keskusteluryhmä</a:t>
            </a:r>
          </a:p>
          <a:p>
            <a:pPr marL="377825" lvl="1" indent="-187325" defTabSz="762000">
              <a:lnSpc>
                <a:spcPct val="80000"/>
              </a:lnSpc>
            </a:pPr>
            <a:r>
              <a:rPr lang="fi-FI" sz="1400" dirty="0">
                <a:hlinkClick r:id="rId16"/>
              </a:rPr>
              <a:t>http://groups.yahoo.com/groups/software-testing/</a:t>
            </a:r>
            <a:endParaRPr lang="fi-FI" sz="1050" dirty="0"/>
          </a:p>
          <a:p>
            <a:pPr marL="0" indent="0" defTabSz="762000">
              <a:lnSpc>
                <a:spcPct val="80000"/>
              </a:lnSpc>
            </a:pPr>
            <a:r>
              <a:rPr lang="fi-FI" sz="1400" dirty="0" smtClean="0"/>
              <a:t>Suomenkielistä </a:t>
            </a:r>
            <a:r>
              <a:rPr lang="fi-FI" sz="1400" dirty="0"/>
              <a:t>materiaalia</a:t>
            </a:r>
          </a:p>
          <a:p>
            <a:pPr marL="377825" lvl="1" indent="-187325" defTabSz="762000">
              <a:lnSpc>
                <a:spcPct val="80000"/>
              </a:lnSpc>
            </a:pPr>
            <a:r>
              <a:rPr lang="fi-FI" sz="1400" dirty="0">
                <a:hlinkClick r:id="rId17"/>
              </a:rPr>
              <a:t>http://www.testauskirja.com</a:t>
            </a:r>
            <a:endParaRPr lang="fi-FI" sz="1050" dirty="0"/>
          </a:p>
          <a:p>
            <a:pPr marL="0" indent="0" defTabSz="762000">
              <a:lnSpc>
                <a:spcPct val="80000"/>
              </a:lnSpc>
            </a:pPr>
            <a:r>
              <a:rPr lang="fi-FI" sz="1400" dirty="0"/>
              <a:t>Suomalainen testausosaamisyhteisö</a:t>
            </a:r>
          </a:p>
          <a:p>
            <a:pPr marL="377825" lvl="1" indent="-187325" defTabSz="762000">
              <a:lnSpc>
                <a:spcPct val="80000"/>
              </a:lnSpc>
            </a:pPr>
            <a:r>
              <a:rPr lang="fi-FI" sz="1400" dirty="0">
                <a:hlinkClick r:id="rId18"/>
              </a:rPr>
              <a:t>http</a:t>
            </a:r>
            <a:r>
              <a:rPr lang="fi-FI" sz="1400" dirty="0" smtClean="0">
                <a:hlinkClick r:id="rId18"/>
              </a:rPr>
              <a:t>://testausosy.ttlry.fi</a:t>
            </a:r>
            <a:r>
              <a:rPr lang="fi-FI" sz="1400" dirty="0" smtClean="0"/>
              <a:t> </a:t>
            </a:r>
            <a:endParaRPr lang="fi-FI" sz="1400" dirty="0"/>
          </a:p>
          <a:p>
            <a:pPr marL="0" indent="0" defTabSz="762000">
              <a:lnSpc>
                <a:spcPct val="80000"/>
              </a:lnSpc>
            </a:pPr>
            <a:r>
              <a:rPr lang="fi-FI" sz="1400" dirty="0"/>
              <a:t>Suomalainen testaajien keskusteluryhmä</a:t>
            </a:r>
          </a:p>
          <a:p>
            <a:pPr marL="377825" lvl="1" indent="-187325" defTabSz="762000">
              <a:lnSpc>
                <a:spcPct val="80000"/>
              </a:lnSpc>
            </a:pPr>
            <a:r>
              <a:rPr lang="fi-FI" sz="1400" dirty="0">
                <a:hlinkClick r:id="rId19"/>
              </a:rPr>
              <a:t>http://groups.yahoo.com/groups/fi-testaus/</a:t>
            </a:r>
            <a:endParaRPr lang="fi-FI" sz="1400" dirty="0"/>
          </a:p>
          <a:p>
            <a:pPr marL="0" indent="0" defTabSz="762000">
              <a:lnSpc>
                <a:spcPct val="80000"/>
              </a:lnSpc>
            </a:pPr>
            <a:endParaRPr lang="fi-FI" sz="1400" dirty="0" smtClean="0"/>
          </a:p>
          <a:p>
            <a:pPr marL="0" indent="0" defTabSz="762000">
              <a:lnSpc>
                <a:spcPct val="80000"/>
              </a:lnSpc>
            </a:pPr>
            <a:r>
              <a:rPr lang="fi-FI" sz="1400" dirty="0" smtClean="0"/>
              <a:t>Kurssin </a:t>
            </a:r>
            <a:r>
              <a:rPr lang="fi-FI" sz="1400" dirty="0"/>
              <a:t>materiaalit</a:t>
            </a:r>
          </a:p>
          <a:p>
            <a:pPr marL="377825" lvl="1" indent="-187325" defTabSz="762000">
              <a:lnSpc>
                <a:spcPct val="80000"/>
              </a:lnSpc>
            </a:pPr>
            <a:r>
              <a:rPr lang="fi-FI" sz="1400" dirty="0">
                <a:hlinkClick r:id="rId20"/>
              </a:rPr>
              <a:t>http://</a:t>
            </a:r>
            <a:r>
              <a:rPr lang="fi-FI" sz="1400" dirty="0" smtClean="0">
                <a:hlinkClick r:id="rId20"/>
              </a:rPr>
              <a:t>www.testauskirja.com/at.zip</a:t>
            </a:r>
            <a:r>
              <a:rPr lang="fi-FI" sz="1400" dirty="0" smtClean="0"/>
              <a:t> </a:t>
            </a:r>
            <a:endParaRPr lang="fi-FI" sz="1400" dirty="0"/>
          </a:p>
          <a:p>
            <a:pPr marL="377825" lvl="1" indent="-187325" defTabSz="762000">
              <a:lnSpc>
                <a:spcPct val="80000"/>
              </a:lnSpc>
            </a:pPr>
            <a:endParaRPr lang="fi-FI" sz="1600" dirty="0"/>
          </a:p>
          <a:p>
            <a:pPr marL="0" indent="0" defTabSz="762000">
              <a:lnSpc>
                <a:spcPct val="80000"/>
              </a:lnSpc>
            </a:pPr>
            <a:r>
              <a:rPr lang="fi-FI" sz="1400" dirty="0"/>
              <a:t>Muiden kurssien materiaalia (creative commons –lisensoituja</a:t>
            </a:r>
            <a:r>
              <a:rPr lang="fi-FI" sz="1400" dirty="0" smtClean="0"/>
              <a:t>)</a:t>
            </a:r>
          </a:p>
          <a:p>
            <a:pPr marL="400050" lvl="2" indent="0" defTabSz="762000">
              <a:lnSpc>
                <a:spcPct val="80000"/>
              </a:lnSpc>
            </a:pPr>
            <a:r>
              <a:rPr lang="fi-FI" sz="1400" dirty="0" smtClean="0"/>
              <a:t>http://www.testauskirja.com/materiaalit.htm</a:t>
            </a:r>
            <a:endParaRPr lang="fi-FI" sz="14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Sisältö</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 testaus</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76200" y="19145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fi-FI"/>
              <a:t>Mitä testaus on?</a:t>
            </a:r>
          </a:p>
        </p:txBody>
      </p:sp>
      <p:sp>
        <p:nvSpPr>
          <p:cNvPr id="36867" name="Rectangle 3"/>
          <p:cNvSpPr>
            <a:spLocks noGrp="1" noChangeArrowheads="1"/>
          </p:cNvSpPr>
          <p:nvPr>
            <p:ph idx="1"/>
          </p:nvPr>
        </p:nvSpPr>
        <p:spPr/>
        <p:txBody>
          <a:bodyPr>
            <a:normAutofit/>
          </a:bodyPr>
          <a:lstStyle/>
          <a:p>
            <a:pPr marL="533400" indent="-533400" defTabSz="914400">
              <a:lnSpc>
                <a:spcPct val="90000"/>
              </a:lnSpc>
            </a:pPr>
            <a:r>
              <a:rPr lang="fi-FI" sz="2400" dirty="0"/>
              <a:t>Testaus on kohteen teknistä tarkastelua, jossa empiirisesti etsitään laatuun liittyvää tietoa, jolla on arvoa projektin sidosryhmille.  – Cem Kaner</a:t>
            </a:r>
          </a:p>
          <a:p>
            <a:pPr marL="533400" indent="-533400" defTabSz="914400">
              <a:lnSpc>
                <a:spcPct val="90000"/>
              </a:lnSpc>
            </a:pPr>
            <a:r>
              <a:rPr lang="fi-FI" sz="2400" dirty="0"/>
              <a:t>Sisältää:</a:t>
            </a:r>
          </a:p>
          <a:p>
            <a:pPr marL="914400" lvl="1" indent="-457200" defTabSz="914400">
              <a:lnSpc>
                <a:spcPct val="90000"/>
              </a:lnSpc>
            </a:pPr>
            <a:r>
              <a:rPr lang="fi-FI" sz="2000" dirty="0"/>
              <a:t>sen varmistamisen että testauksen kohde toimii kuten odotettu</a:t>
            </a:r>
          </a:p>
          <a:p>
            <a:pPr marL="914400" lvl="1" indent="-457200" defTabSz="914400">
              <a:lnSpc>
                <a:spcPct val="90000"/>
              </a:lnSpc>
            </a:pPr>
            <a:r>
              <a:rPr lang="fi-FI" sz="2000" dirty="0"/>
              <a:t>erojen löytämisen ja ratkaisemisen odotettujen ja todellisten tulosten välillä</a:t>
            </a:r>
          </a:p>
          <a:p>
            <a:pPr marL="914400" lvl="1" indent="-457200" defTabSz="914400">
              <a:lnSpc>
                <a:spcPct val="90000"/>
              </a:lnSpc>
            </a:pPr>
            <a:r>
              <a:rPr lang="fi-FI" sz="2000" dirty="0"/>
              <a:t>puolueettoman tiedon tarjoamisen päätöksentekoon järjestelmän tilasta laadun suhteen</a:t>
            </a:r>
          </a:p>
          <a:p>
            <a:pPr marL="914400" lvl="1" indent="-457200" defTabSz="914400">
              <a:lnSpc>
                <a:spcPct val="90000"/>
              </a:lnSpc>
            </a:pPr>
            <a:r>
              <a:rPr lang="fi-FI" sz="2000" dirty="0"/>
              <a:t>laadun parantamisen tukemisen</a:t>
            </a:r>
          </a:p>
          <a:p>
            <a:pPr marL="533400" indent="-533400" defTabSz="914400">
              <a:lnSpc>
                <a:spcPct val="90000"/>
              </a:lnSpc>
            </a:pPr>
            <a:r>
              <a:rPr lang="fi-FI" sz="2400" dirty="0"/>
              <a:t>Oleellista onnistuneelle testaukselle kuitenkin yleisesti halu nähdä virheitä</a:t>
            </a:r>
          </a:p>
        </p:txBody>
      </p:sp>
      <p:sp>
        <p:nvSpPr>
          <p:cNvPr id="5" name="Slide Number Placeholder 4"/>
          <p:cNvSpPr>
            <a:spLocks noGrp="1"/>
          </p:cNvSpPr>
          <p:nvPr>
            <p:ph type="sldNum" sz="quarter" idx="12"/>
          </p:nvPr>
        </p:nvSpPr>
        <p:spPr/>
        <p:txBody>
          <a:bodyPr/>
          <a:lstStyle/>
          <a:p>
            <a:fld id="{6EC9AE22-300D-474E-8332-298EA3086E64}"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fi-FI" dirty="0"/>
              <a:t>Testaus on vaikeaa </a:t>
            </a:r>
            <a:r>
              <a:rPr lang="fi-FI" dirty="0" smtClean="0"/>
              <a:t/>
            </a:r>
            <a:br>
              <a:rPr lang="fi-FI" dirty="0" smtClean="0"/>
            </a:br>
            <a:r>
              <a:rPr lang="fi-FI" sz="1200" dirty="0" smtClean="0"/>
              <a:t>Lähde</a:t>
            </a:r>
            <a:r>
              <a:rPr lang="fi-FI" sz="1200" dirty="0"/>
              <a:t>: James Bach. </a:t>
            </a:r>
            <a:endParaRPr lang="fi-FI" dirty="0"/>
          </a:p>
        </p:txBody>
      </p:sp>
      <p:sp>
        <p:nvSpPr>
          <p:cNvPr id="51203" name="Rectangle 3"/>
          <p:cNvSpPr>
            <a:spLocks noGrp="1" noChangeArrowheads="1"/>
          </p:cNvSpPr>
          <p:nvPr>
            <p:ph sz="half" idx="1"/>
          </p:nvPr>
        </p:nvSpPr>
        <p:spPr>
          <a:xfrm>
            <a:off x="941387" y="1773238"/>
            <a:ext cx="3565525" cy="4103687"/>
          </a:xfrm>
        </p:spPr>
        <p:txBody>
          <a:bodyPr>
            <a:normAutofit fontScale="92500" lnSpcReduction="20000"/>
          </a:bodyPr>
          <a:lstStyle/>
          <a:p>
            <a:r>
              <a:rPr lang="fi-FI" sz="2400" dirty="0"/>
              <a:t>Sinun on ennakoitava käyttäjän...</a:t>
            </a:r>
          </a:p>
          <a:p>
            <a:pPr lvl="1"/>
            <a:r>
              <a:rPr lang="fi-FI" sz="1800" dirty="0"/>
              <a:t>Aineisto</a:t>
            </a:r>
          </a:p>
          <a:p>
            <a:pPr lvl="1"/>
            <a:r>
              <a:rPr lang="fi-FI" sz="1800" dirty="0"/>
              <a:t>Taidot</a:t>
            </a:r>
          </a:p>
          <a:p>
            <a:pPr lvl="1"/>
            <a:r>
              <a:rPr lang="fi-FI" sz="1800" dirty="0"/>
              <a:t>Toiminta</a:t>
            </a:r>
          </a:p>
          <a:p>
            <a:pPr lvl="1"/>
            <a:r>
              <a:rPr lang="fi-FI" sz="1800" dirty="0"/>
              <a:t>Odotukset</a:t>
            </a:r>
          </a:p>
          <a:p>
            <a:pPr lvl="1"/>
            <a:r>
              <a:rPr lang="fi-FI" sz="1800" dirty="0" smtClean="0"/>
              <a:t>Ympäristö</a:t>
            </a:r>
          </a:p>
          <a:p>
            <a:r>
              <a:rPr lang="fi-FI" sz="2400" dirty="0" smtClean="0"/>
              <a:t>…tutkiaksesi tuotetta, joka on…</a:t>
            </a:r>
          </a:p>
          <a:p>
            <a:pPr lvl="1"/>
            <a:r>
              <a:rPr lang="fi-FI" sz="1800" dirty="0" smtClean="0"/>
              <a:t>Näkymätön</a:t>
            </a:r>
          </a:p>
          <a:p>
            <a:pPr lvl="1"/>
            <a:r>
              <a:rPr lang="fi-FI" sz="1800" dirty="0" smtClean="0"/>
              <a:t>Epävakaa</a:t>
            </a:r>
          </a:p>
          <a:p>
            <a:pPr lvl="1"/>
            <a:r>
              <a:rPr lang="fi-FI" sz="1800" dirty="0" smtClean="0"/>
              <a:t>Herkkä</a:t>
            </a:r>
          </a:p>
          <a:p>
            <a:pPr lvl="1"/>
            <a:r>
              <a:rPr lang="fi-FI" sz="1800" dirty="0" smtClean="0"/>
              <a:t>Monimutkainen</a:t>
            </a:r>
          </a:p>
          <a:p>
            <a:pPr lvl="1"/>
            <a:r>
              <a:rPr lang="fi-FI" sz="1800" dirty="0" smtClean="0"/>
              <a:t>Tuntematon</a:t>
            </a:r>
          </a:p>
          <a:p>
            <a:pPr lvl="1"/>
            <a:endParaRPr lang="fi-FI" sz="1800" dirty="0"/>
          </a:p>
        </p:txBody>
      </p:sp>
      <p:sp>
        <p:nvSpPr>
          <p:cNvPr id="51204" name="Rectangle 4"/>
          <p:cNvSpPr>
            <a:spLocks noGrp="1" noChangeArrowheads="1"/>
          </p:cNvSpPr>
          <p:nvPr>
            <p:ph sz="half" idx="2"/>
          </p:nvPr>
        </p:nvSpPr>
        <p:spPr>
          <a:xfrm>
            <a:off x="4648200" y="1773238"/>
            <a:ext cx="3565525" cy="4103687"/>
          </a:xfrm>
        </p:spPr>
        <p:txBody>
          <a:bodyPr>
            <a:normAutofit fontScale="92500" lnSpcReduction="20000"/>
          </a:bodyPr>
          <a:lstStyle/>
          <a:p>
            <a:r>
              <a:rPr lang="fi-FI" sz="2400" dirty="0" smtClean="0"/>
              <a:t>...käyttämällä prosessia, joka on usein...</a:t>
            </a:r>
          </a:p>
          <a:p>
            <a:pPr lvl="1"/>
            <a:r>
              <a:rPr lang="fi-FI" sz="1800" dirty="0" smtClean="0"/>
              <a:t>Loputon</a:t>
            </a:r>
          </a:p>
          <a:p>
            <a:pPr lvl="1"/>
            <a:r>
              <a:rPr lang="fi-FI" sz="1800" dirty="0" smtClean="0"/>
              <a:t>Epäselvä</a:t>
            </a:r>
          </a:p>
          <a:p>
            <a:pPr lvl="1"/>
            <a:r>
              <a:rPr lang="fi-FI" sz="1800" dirty="0" smtClean="0"/>
              <a:t>Negatiivinen</a:t>
            </a:r>
          </a:p>
          <a:p>
            <a:pPr lvl="1"/>
            <a:r>
              <a:rPr lang="fi-FI" sz="1800" dirty="0" smtClean="0"/>
              <a:t>Ikävystyttävä</a:t>
            </a:r>
          </a:p>
          <a:p>
            <a:pPr lvl="1"/>
            <a:r>
              <a:rPr lang="fi-FI" sz="1800" dirty="0" smtClean="0"/>
              <a:t>Työläs</a:t>
            </a:r>
          </a:p>
          <a:p>
            <a:r>
              <a:rPr lang="fi-FI" sz="2400" dirty="0" smtClean="0"/>
              <a:t>…löytääksesi ongelmia, jotka ovat</a:t>
            </a:r>
          </a:p>
          <a:p>
            <a:pPr lvl="1"/>
            <a:r>
              <a:rPr lang="fi-FI" sz="1800" dirty="0" smtClean="0"/>
              <a:t>Odottamattomia</a:t>
            </a:r>
          </a:p>
          <a:p>
            <a:pPr lvl="1"/>
            <a:endParaRPr lang="fi-FI" sz="1800" dirty="0"/>
          </a:p>
        </p:txBody>
      </p:sp>
      <p:sp>
        <p:nvSpPr>
          <p:cNvPr id="6" name="Slide Number Placeholder 5"/>
          <p:cNvSpPr>
            <a:spLocks noGrp="1"/>
          </p:cNvSpPr>
          <p:nvPr>
            <p:ph type="sldNum" sz="quarter" idx="12"/>
          </p:nvPr>
        </p:nvSpPr>
        <p:spPr/>
        <p:txBody>
          <a:bodyPr/>
          <a:lstStyle/>
          <a:p>
            <a:fld id="{6EC9AE22-300D-474E-8332-298EA3086E64}"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fi-FI"/>
              <a:t>Mitä testaus ei ole</a:t>
            </a:r>
          </a:p>
        </p:txBody>
      </p:sp>
      <p:sp>
        <p:nvSpPr>
          <p:cNvPr id="315395" name="Rectangle 3"/>
          <p:cNvSpPr>
            <a:spLocks noGrp="1" noChangeArrowheads="1"/>
          </p:cNvSpPr>
          <p:nvPr>
            <p:ph idx="1"/>
          </p:nvPr>
        </p:nvSpPr>
        <p:spPr/>
        <p:txBody>
          <a:bodyPr/>
          <a:lstStyle/>
          <a:p>
            <a:r>
              <a:rPr lang="fi-FI" sz="2400"/>
              <a:t>Testaus ei ole</a:t>
            </a:r>
          </a:p>
          <a:p>
            <a:pPr lvl="1"/>
            <a:r>
              <a:rPr lang="fi-FI" sz="2000"/>
              <a:t>vaihe ohjelmistokehityksessä</a:t>
            </a:r>
          </a:p>
          <a:p>
            <a:pPr lvl="1"/>
            <a:r>
              <a:rPr lang="fi-FI" sz="2000"/>
              <a:t>toimintaa, jota vain erikseen nimetyt testaajat tekevät</a:t>
            </a:r>
          </a:p>
          <a:p>
            <a:pPr lvl="1"/>
            <a:r>
              <a:rPr lang="fi-FI" sz="2000"/>
              <a:t>sarja helppoja ja suoraviivaisia toimintoja </a:t>
            </a:r>
          </a:p>
          <a:p>
            <a:pPr lvl="1"/>
            <a:r>
              <a:rPr lang="fi-FI" sz="2000"/>
              <a:t>samojen asioiden toistamista kerta toisensa jälkeen</a:t>
            </a:r>
          </a:p>
          <a:p>
            <a:pPr lvl="1"/>
            <a:r>
              <a:rPr lang="fi-FI" sz="2000"/>
              <a:t>samanlaista erilaisissa tilanteissa ja asiayhteyksissä</a:t>
            </a:r>
          </a:p>
          <a:p>
            <a:pPr lvl="1"/>
            <a:r>
              <a:rPr lang="fi-FI" sz="2000"/>
              <a:t>vain toiminnallisuuksien läpikäymistä, vaan myös ei-toiminnallisten ominaisuuksien arviointi</a:t>
            </a:r>
          </a:p>
          <a:p>
            <a:pPr lvl="1"/>
            <a:r>
              <a:rPr lang="fi-FI" sz="2000"/>
              <a:t>vastuussa laadusta, vain laatutiedon tuottamisesta</a:t>
            </a:r>
          </a:p>
          <a:p>
            <a:pPr lvl="1"/>
            <a:r>
              <a:rPr lang="fi-FI" sz="2000"/>
              <a:t>laatutakuu ohjelmistolle</a:t>
            </a:r>
          </a:p>
        </p:txBody>
      </p:sp>
      <p:sp>
        <p:nvSpPr>
          <p:cNvPr id="4" name="Slide Number Placeholder 3"/>
          <p:cNvSpPr>
            <a:spLocks noGrp="1"/>
          </p:cNvSpPr>
          <p:nvPr>
            <p:ph type="sldNum" sz="quarter" idx="12"/>
          </p:nvPr>
        </p:nvSpPr>
        <p:spPr/>
        <p:txBody>
          <a:bodyPr/>
          <a:lstStyle/>
          <a:p>
            <a:fld id="{6EC9AE22-300D-474E-8332-298EA3086E64}"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Ketterän testauksen kaksi maailmaa</a:t>
            </a:r>
            <a:endParaRPr lang="fi-FI" dirty="0"/>
          </a:p>
        </p:txBody>
      </p:sp>
      <p:sp>
        <p:nvSpPr>
          <p:cNvPr id="5" name="Text Placeholder 4"/>
          <p:cNvSpPr>
            <a:spLocks noGrp="1"/>
          </p:cNvSpPr>
          <p:nvPr>
            <p:ph type="body" idx="1"/>
          </p:nvPr>
        </p:nvSpPr>
        <p:spPr/>
        <p:txBody>
          <a:bodyPr>
            <a:normAutofit fontScale="92500" lnSpcReduction="20000"/>
          </a:bodyPr>
          <a:lstStyle/>
          <a:p>
            <a:r>
              <a:rPr lang="fi-FI" dirty="0" smtClean="0"/>
              <a:t>Ketterä testaus ketterien menetelmien yhteydessä</a:t>
            </a:r>
            <a:endParaRPr lang="fi-FI" dirty="0"/>
          </a:p>
        </p:txBody>
      </p:sp>
      <p:sp>
        <p:nvSpPr>
          <p:cNvPr id="6" name="Content Placeholder 5"/>
          <p:cNvSpPr>
            <a:spLocks noGrp="1"/>
          </p:cNvSpPr>
          <p:nvPr>
            <p:ph sz="half" idx="2"/>
          </p:nvPr>
        </p:nvSpPr>
        <p:spPr/>
        <p:txBody>
          <a:bodyPr>
            <a:normAutofit/>
          </a:bodyPr>
          <a:lstStyle/>
          <a:p>
            <a:r>
              <a:rPr lang="fi-FI" dirty="0" smtClean="0"/>
              <a:t>Keskeisiä termejä:</a:t>
            </a:r>
          </a:p>
          <a:p>
            <a:pPr lvl="1"/>
            <a:r>
              <a:rPr lang="fi-FI" dirty="0" smtClean="0"/>
              <a:t>Ketteryyden julistus: arvot, periaatteet</a:t>
            </a:r>
          </a:p>
          <a:p>
            <a:pPr lvl="1"/>
            <a:r>
              <a:rPr lang="fi-FI" dirty="0" smtClean="0"/>
              <a:t>Scrum, Extreme Programming</a:t>
            </a:r>
          </a:p>
          <a:p>
            <a:r>
              <a:rPr lang="fi-FI" dirty="0" smtClean="0"/>
              <a:t>Avainkonseptit :</a:t>
            </a:r>
          </a:p>
          <a:p>
            <a:pPr lvl="1"/>
            <a:r>
              <a:rPr lang="fi-FI" dirty="0" smtClean="0"/>
              <a:t>Testaus, ei testaajat</a:t>
            </a:r>
          </a:p>
          <a:p>
            <a:pPr lvl="1"/>
            <a:r>
              <a:rPr lang="fi-FI" dirty="0" smtClean="0"/>
              <a:t>Itseohjautuvat tiimit ja tekninen erinomaisuus</a:t>
            </a:r>
          </a:p>
          <a:p>
            <a:pPr lvl="1"/>
            <a:r>
              <a:rPr lang="fi-FI" dirty="0" smtClean="0"/>
              <a:t>Arvon tuottaminen lyhyissä sykleissä, arvo = testatut ominaisuudet</a:t>
            </a:r>
          </a:p>
        </p:txBody>
      </p:sp>
      <p:sp>
        <p:nvSpPr>
          <p:cNvPr id="7" name="Text Placeholder 6"/>
          <p:cNvSpPr>
            <a:spLocks noGrp="1"/>
          </p:cNvSpPr>
          <p:nvPr>
            <p:ph type="body" sz="quarter" idx="3"/>
          </p:nvPr>
        </p:nvSpPr>
        <p:spPr/>
        <p:txBody>
          <a:bodyPr>
            <a:normAutofit fontScale="92500" lnSpcReduction="20000"/>
          </a:bodyPr>
          <a:lstStyle/>
          <a:p>
            <a:r>
              <a:rPr lang="fi-FI" dirty="0" smtClean="0"/>
              <a:t>Ketterä testaus perinteisten menetelmien yhteydessä</a:t>
            </a:r>
            <a:endParaRPr lang="fi-FI" dirty="0"/>
          </a:p>
        </p:txBody>
      </p:sp>
      <p:sp>
        <p:nvSpPr>
          <p:cNvPr id="8" name="Content Placeholder 7"/>
          <p:cNvSpPr>
            <a:spLocks noGrp="1"/>
          </p:cNvSpPr>
          <p:nvPr>
            <p:ph sz="quarter" idx="4"/>
          </p:nvPr>
        </p:nvSpPr>
        <p:spPr/>
        <p:txBody>
          <a:bodyPr>
            <a:normAutofit/>
          </a:bodyPr>
          <a:lstStyle/>
          <a:p>
            <a:r>
              <a:rPr lang="fi-FI" dirty="0" smtClean="0"/>
              <a:t>Keskeisiä termejä:</a:t>
            </a:r>
          </a:p>
          <a:p>
            <a:pPr lvl="1"/>
            <a:r>
              <a:rPr lang="fi-FI" dirty="0" smtClean="0"/>
              <a:t>Tutkiva testaus (exploratory)</a:t>
            </a:r>
          </a:p>
          <a:p>
            <a:pPr lvl="1"/>
            <a:r>
              <a:rPr lang="fi-FI" dirty="0" smtClean="0"/>
              <a:t>Nopea testaus (rapid)</a:t>
            </a:r>
          </a:p>
          <a:p>
            <a:r>
              <a:rPr lang="fi-FI" dirty="0" smtClean="0"/>
              <a:t>Avainkonseptit:</a:t>
            </a:r>
          </a:p>
          <a:p>
            <a:pPr lvl="1"/>
            <a:r>
              <a:rPr lang="fi-FI" dirty="0" smtClean="0"/>
              <a:t>Joustavuus, tilannetekijäohjautuvuus</a:t>
            </a:r>
          </a:p>
          <a:p>
            <a:pPr lvl="1"/>
            <a:r>
              <a:rPr lang="fi-FI" dirty="0" smtClean="0"/>
              <a:t>Arvon optimointi vaihtoehtoiskustannuksia ymmärtäen</a:t>
            </a:r>
          </a:p>
          <a:p>
            <a:pPr lvl="1"/>
            <a:r>
              <a:rPr lang="fi-FI" dirty="0" smtClean="0"/>
              <a:t>Testaajan taidot</a:t>
            </a:r>
          </a:p>
          <a:p>
            <a:pPr lvl="1"/>
            <a:endParaRPr lang="fi-FI" dirty="0" smtClean="0"/>
          </a:p>
          <a:p>
            <a:pPr lvl="1">
              <a:buNone/>
            </a:pPr>
            <a:endParaRPr lang="fi-FI"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fontAlgn="auto">
              <a:spcAft>
                <a:spcPts val="0"/>
              </a:spcAft>
              <a:defRPr/>
            </a:pPr>
            <a:r>
              <a:rPr lang="en-GB" dirty="0" err="1" smtClean="0"/>
              <a:t>Testaus</a:t>
            </a:r>
            <a:r>
              <a:rPr lang="en-GB" dirty="0" smtClean="0"/>
              <a:t> </a:t>
            </a:r>
            <a:r>
              <a:rPr lang="en-GB" dirty="0" err="1" smtClean="0"/>
              <a:t>perinteisesti</a:t>
            </a:r>
            <a:r>
              <a:rPr lang="en-GB" dirty="0" smtClean="0"/>
              <a:t> </a:t>
            </a:r>
            <a:r>
              <a:rPr lang="en-GB" dirty="0" err="1" smtClean="0"/>
              <a:t>projektissa</a:t>
            </a:r>
            <a:endParaRPr lang="en-US" dirty="0"/>
          </a:p>
        </p:txBody>
      </p:sp>
      <p:sp>
        <p:nvSpPr>
          <p:cNvPr id="5" name="Rectangle 4"/>
          <p:cNvSpPr/>
          <p:nvPr/>
        </p:nvSpPr>
        <p:spPr>
          <a:xfrm>
            <a:off x="214313" y="2214563"/>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Yleistestaus-suunnitelma</a:t>
            </a:r>
            <a:endParaRPr lang="en-US" dirty="0"/>
          </a:p>
        </p:txBody>
      </p:sp>
      <p:sp>
        <p:nvSpPr>
          <p:cNvPr id="6" name="Rectangle 5"/>
          <p:cNvSpPr/>
          <p:nvPr/>
        </p:nvSpPr>
        <p:spPr>
          <a:xfrm>
            <a:off x="2000250" y="2214563"/>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7" name="Rectangle 6"/>
          <p:cNvSpPr/>
          <p:nvPr/>
        </p:nvSpPr>
        <p:spPr>
          <a:xfrm>
            <a:off x="2000250" y="3429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8" name="Rectangle 7"/>
          <p:cNvSpPr/>
          <p:nvPr/>
        </p:nvSpPr>
        <p:spPr>
          <a:xfrm>
            <a:off x="2000250" y="4643438"/>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60422" name="TextBox 8"/>
          <p:cNvSpPr txBox="1">
            <a:spLocks noChangeArrowheads="1"/>
          </p:cNvSpPr>
          <p:nvPr/>
        </p:nvSpPr>
        <p:spPr bwMode="auto">
          <a:xfrm>
            <a:off x="1857375" y="1844675"/>
            <a:ext cx="1958975" cy="369888"/>
          </a:xfrm>
          <a:prstGeom prst="rect">
            <a:avLst/>
          </a:prstGeom>
          <a:noFill/>
          <a:ln w="9525">
            <a:noFill/>
            <a:miter lim="800000"/>
            <a:headEnd/>
            <a:tailEnd/>
          </a:ln>
        </p:spPr>
        <p:txBody>
          <a:bodyPr>
            <a:spAutoFit/>
          </a:bodyPr>
          <a:lstStyle/>
          <a:p>
            <a:pPr algn="ctr"/>
            <a:r>
              <a:rPr lang="en-GB"/>
              <a:t>Per taso / ryhmä</a:t>
            </a:r>
            <a:endParaRPr lang="en-US"/>
          </a:p>
        </p:txBody>
      </p:sp>
      <p:sp>
        <p:nvSpPr>
          <p:cNvPr id="12" name="Rectangle 11"/>
          <p:cNvSpPr/>
          <p:nvPr/>
        </p:nvSpPr>
        <p:spPr>
          <a:xfrm>
            <a:off x="3786188" y="2214563"/>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13" name="Rectangle 12"/>
          <p:cNvSpPr/>
          <p:nvPr/>
        </p:nvSpPr>
        <p:spPr>
          <a:xfrm>
            <a:off x="3786188" y="3429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14" name="Rectangle 13"/>
          <p:cNvSpPr/>
          <p:nvPr/>
        </p:nvSpPr>
        <p:spPr>
          <a:xfrm>
            <a:off x="3786188" y="4643438"/>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60426" name="TextBox 14"/>
          <p:cNvSpPr txBox="1">
            <a:spLocks noChangeArrowheads="1"/>
          </p:cNvSpPr>
          <p:nvPr/>
        </p:nvSpPr>
        <p:spPr bwMode="auto">
          <a:xfrm>
            <a:off x="5214938" y="2344738"/>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60427" name="TextBox 15"/>
          <p:cNvSpPr txBox="1">
            <a:spLocks noChangeArrowheads="1"/>
          </p:cNvSpPr>
          <p:nvPr/>
        </p:nvSpPr>
        <p:spPr bwMode="auto">
          <a:xfrm>
            <a:off x="5214938" y="3559175"/>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60428" name="TextBox 16"/>
          <p:cNvSpPr txBox="1">
            <a:spLocks noChangeArrowheads="1"/>
          </p:cNvSpPr>
          <p:nvPr/>
        </p:nvSpPr>
        <p:spPr bwMode="auto">
          <a:xfrm>
            <a:off x="5214938" y="4786313"/>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18" name="Rectangle 17"/>
          <p:cNvSpPr/>
          <p:nvPr/>
        </p:nvSpPr>
        <p:spPr>
          <a:xfrm>
            <a:off x="6286500" y="2214563"/>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19" name="Rectangle 18"/>
          <p:cNvSpPr/>
          <p:nvPr/>
        </p:nvSpPr>
        <p:spPr>
          <a:xfrm>
            <a:off x="8153400" y="2214563"/>
            <a:ext cx="9191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sp>
        <p:nvSpPr>
          <p:cNvPr id="60431" name="TextBox 19"/>
          <p:cNvSpPr txBox="1">
            <a:spLocks noChangeArrowheads="1"/>
          </p:cNvSpPr>
          <p:nvPr/>
        </p:nvSpPr>
        <p:spPr bwMode="auto">
          <a:xfrm>
            <a:off x="3571875" y="6140450"/>
            <a:ext cx="2071688" cy="646113"/>
          </a:xfrm>
          <a:prstGeom prst="rect">
            <a:avLst/>
          </a:prstGeom>
          <a:noFill/>
          <a:ln w="9525">
            <a:noFill/>
            <a:miter lim="800000"/>
            <a:headEnd/>
            <a:tailEnd/>
          </a:ln>
        </p:spPr>
        <p:txBody>
          <a:bodyPr>
            <a:spAutoFit/>
          </a:bodyPr>
          <a:lstStyle/>
          <a:p>
            <a:pPr algn="ctr"/>
            <a:r>
              <a:rPr lang="en-GB"/>
              <a:t>Suunniteltu suuri työmäärä</a:t>
            </a:r>
            <a:endParaRPr lang="en-US"/>
          </a:p>
        </p:txBody>
      </p:sp>
      <p:sp>
        <p:nvSpPr>
          <p:cNvPr id="60432" name="TextBox 20"/>
          <p:cNvSpPr txBox="1">
            <a:spLocks noChangeArrowheads="1"/>
          </p:cNvSpPr>
          <p:nvPr/>
        </p:nvSpPr>
        <p:spPr bwMode="auto">
          <a:xfrm rot="5400000">
            <a:off x="4267995" y="5374481"/>
            <a:ext cx="785812" cy="1323975"/>
          </a:xfrm>
          <a:prstGeom prst="rect">
            <a:avLst/>
          </a:prstGeom>
          <a:noFill/>
          <a:ln w="9525">
            <a:noFill/>
            <a:miter lim="800000"/>
            <a:headEnd/>
            <a:tailEnd/>
          </a:ln>
        </p:spPr>
        <p:txBody>
          <a:bodyPr>
            <a:spAutoFit/>
          </a:bodyPr>
          <a:lstStyle/>
          <a:p>
            <a:r>
              <a:rPr lang="en-GB" sz="8000"/>
              <a:t>}</a:t>
            </a:r>
            <a:endParaRPr lang="en-US" sz="8000"/>
          </a:p>
        </p:txBody>
      </p:sp>
      <p:sp>
        <p:nvSpPr>
          <p:cNvPr id="60433" name="TextBox 21"/>
          <p:cNvSpPr txBox="1">
            <a:spLocks noChangeArrowheads="1"/>
          </p:cNvSpPr>
          <p:nvPr/>
        </p:nvSpPr>
        <p:spPr bwMode="auto">
          <a:xfrm>
            <a:off x="6000750" y="6140450"/>
            <a:ext cx="3286125" cy="646113"/>
          </a:xfrm>
          <a:prstGeom prst="rect">
            <a:avLst/>
          </a:prstGeom>
          <a:noFill/>
          <a:ln w="9525">
            <a:noFill/>
            <a:miter lim="800000"/>
            <a:headEnd/>
            <a:tailEnd/>
          </a:ln>
        </p:spPr>
        <p:txBody>
          <a:bodyPr>
            <a:spAutoFit/>
          </a:bodyPr>
          <a:lstStyle/>
          <a:p>
            <a:pPr algn="ctr"/>
            <a:r>
              <a:rPr lang="en-GB"/>
              <a:t>Laadun korjailun aiheuttama suuri työmäärä</a:t>
            </a:r>
            <a:endParaRPr lang="en-US"/>
          </a:p>
        </p:txBody>
      </p:sp>
      <p:sp>
        <p:nvSpPr>
          <p:cNvPr id="23" name="Rectangle 22"/>
          <p:cNvSpPr/>
          <p:nvPr/>
        </p:nvSpPr>
        <p:spPr>
          <a:xfrm>
            <a:off x="6286500" y="3429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24" name="Rectangle 23"/>
          <p:cNvSpPr/>
          <p:nvPr/>
        </p:nvSpPr>
        <p:spPr>
          <a:xfrm>
            <a:off x="6286500" y="4643438"/>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60436" name="TextBox 24"/>
          <p:cNvSpPr txBox="1">
            <a:spLocks noChangeArrowheads="1"/>
          </p:cNvSpPr>
          <p:nvPr/>
        </p:nvSpPr>
        <p:spPr bwMode="auto">
          <a:xfrm rot="5400000">
            <a:off x="7446962" y="5033963"/>
            <a:ext cx="785813" cy="1862138"/>
          </a:xfrm>
          <a:prstGeom prst="rect">
            <a:avLst/>
          </a:prstGeom>
          <a:noFill/>
          <a:ln w="9525">
            <a:noFill/>
            <a:miter lim="800000"/>
            <a:headEnd/>
            <a:tailEnd/>
          </a:ln>
        </p:spPr>
        <p:txBody>
          <a:bodyPr>
            <a:spAutoFit/>
          </a:bodyPr>
          <a:lstStyle/>
          <a:p>
            <a:r>
              <a:rPr lang="en-GB" sz="11500"/>
              <a:t>}</a:t>
            </a:r>
            <a:endParaRPr lang="en-US" sz="11500"/>
          </a:p>
        </p:txBody>
      </p:sp>
      <p:sp>
        <p:nvSpPr>
          <p:cNvPr id="26" name="Rectangle 25"/>
          <p:cNvSpPr/>
          <p:nvPr/>
        </p:nvSpPr>
        <p:spPr>
          <a:xfrm>
            <a:off x="8143875" y="3429000"/>
            <a:ext cx="9191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sp>
        <p:nvSpPr>
          <p:cNvPr id="27" name="Rectangle 26"/>
          <p:cNvSpPr/>
          <p:nvPr/>
        </p:nvSpPr>
        <p:spPr>
          <a:xfrm>
            <a:off x="8143875" y="4643438"/>
            <a:ext cx="9191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cxnSp>
        <p:nvCxnSpPr>
          <p:cNvPr id="29" name="Elbow Connector 28"/>
          <p:cNvCxnSpPr>
            <a:stCxn id="19" idx="0"/>
            <a:endCxn id="18" idx="0"/>
          </p:cNvCxnSpPr>
          <p:nvPr/>
        </p:nvCxnSpPr>
        <p:spPr>
          <a:xfrm rot="16200000" flipV="1">
            <a:off x="7860506" y="1461294"/>
            <a:ext cx="1588" cy="1504950"/>
          </a:xfrm>
          <a:prstGeom prst="bentConnector3">
            <a:avLst>
              <a:gd name="adj1" fmla="val 14395466"/>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18" idx="3"/>
            <a:endCxn id="19" idx="1"/>
          </p:cNvCxnSpPr>
          <p:nvPr/>
        </p:nvCxnSpPr>
        <p:spPr>
          <a:xfrm>
            <a:off x="7929563" y="2749550"/>
            <a:ext cx="223837"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8" name="Slide Number Placeholder 27"/>
          <p:cNvSpPr>
            <a:spLocks noGrp="1"/>
          </p:cNvSpPr>
          <p:nvPr>
            <p:ph type="sldNum" sz="quarter" idx="12"/>
          </p:nvPr>
        </p:nvSpPr>
        <p:spPr/>
        <p:txBody>
          <a:bodyPr/>
          <a:lstStyle/>
          <a:p>
            <a:pPr>
              <a:defRPr/>
            </a:pPr>
            <a:fld id="{9EE87814-91B5-4A67-9CED-2E17A0D07A72}" type="slidenum">
              <a:rPr lang="sv-SE"/>
              <a:pPr>
                <a:defRPr/>
              </a:pPr>
              <a:t>16</a:t>
            </a:fld>
            <a:endParaRPr lang="sv-SE"/>
          </a:p>
        </p:txBody>
      </p:sp>
      <p:sp>
        <p:nvSpPr>
          <p:cNvPr id="32" name="Rectangle 31"/>
          <p:cNvSpPr/>
          <p:nvPr/>
        </p:nvSpPr>
        <p:spPr>
          <a:xfrm>
            <a:off x="0" y="5751493"/>
            <a:ext cx="3429000" cy="954107"/>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800" b="1" dirty="0" err="1" smtClean="0">
                <a:ln/>
                <a:solidFill>
                  <a:schemeClr val="accent3"/>
                </a:solidFill>
              </a:rPr>
              <a:t>Tätä</a:t>
            </a:r>
            <a:r>
              <a:rPr lang="en-US" sz="2800" b="1" dirty="0" smtClean="0">
                <a:ln/>
                <a:solidFill>
                  <a:schemeClr val="accent3"/>
                </a:solidFill>
              </a:rPr>
              <a:t> </a:t>
            </a:r>
            <a:r>
              <a:rPr lang="en-US" sz="2800" b="1" dirty="0" err="1" smtClean="0">
                <a:ln/>
                <a:solidFill>
                  <a:schemeClr val="accent3"/>
                </a:solidFill>
              </a:rPr>
              <a:t>tuskin</a:t>
            </a:r>
            <a:r>
              <a:rPr lang="en-US" sz="2800" b="1" dirty="0" smtClean="0">
                <a:ln/>
                <a:solidFill>
                  <a:schemeClr val="accent3"/>
                </a:solidFill>
              </a:rPr>
              <a:t> </a:t>
            </a:r>
            <a:r>
              <a:rPr lang="en-US" sz="2800" b="1" dirty="0" err="1" smtClean="0">
                <a:ln/>
                <a:solidFill>
                  <a:schemeClr val="accent3"/>
                </a:solidFill>
              </a:rPr>
              <a:t>näet</a:t>
            </a:r>
            <a:r>
              <a:rPr lang="en-US" sz="2800" b="1" dirty="0" smtClean="0">
                <a:ln/>
                <a:solidFill>
                  <a:schemeClr val="accent3"/>
                </a:solidFill>
              </a:rPr>
              <a:t> </a:t>
            </a:r>
            <a:br>
              <a:rPr lang="en-US" sz="2800" b="1" dirty="0" smtClean="0">
                <a:ln/>
                <a:solidFill>
                  <a:schemeClr val="accent3"/>
                </a:solidFill>
              </a:rPr>
            </a:br>
            <a:r>
              <a:rPr lang="en-US" sz="2800" b="1" dirty="0" err="1" smtClean="0">
                <a:ln/>
                <a:solidFill>
                  <a:schemeClr val="accent3"/>
                </a:solidFill>
              </a:rPr>
              <a:t>ketteryyden</a:t>
            </a:r>
            <a:r>
              <a:rPr lang="en-US" sz="2800" b="1" dirty="0" smtClean="0">
                <a:ln/>
                <a:solidFill>
                  <a:schemeClr val="accent3"/>
                </a:solidFill>
              </a:rPr>
              <a:t> </a:t>
            </a:r>
            <a:r>
              <a:rPr lang="en-US" sz="2800" b="1" dirty="0" err="1" smtClean="0">
                <a:ln/>
                <a:solidFill>
                  <a:schemeClr val="accent3"/>
                </a:solidFill>
              </a:rPr>
              <a:t>vallitessa</a:t>
            </a:r>
            <a:endParaRPr lang="en-US" sz="2800" b="1" dirty="0">
              <a:ln/>
              <a:solidFill>
                <a:schemeClr val="accent3"/>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fi-FI" dirty="0" smtClean="0"/>
              <a:t>Ketterä testaus – ketterissä menetelmissä</a:t>
            </a:r>
            <a:endParaRPr lang="fi-FI" dirty="0"/>
          </a:p>
        </p:txBody>
      </p:sp>
      <p:sp>
        <p:nvSpPr>
          <p:cNvPr id="13" name="Text Placeholder 12"/>
          <p:cNvSpPr>
            <a:spLocks noGrp="1"/>
          </p:cNvSpPr>
          <p:nvPr>
            <p:ph type="body" idx="1"/>
          </p:nvPr>
        </p:nvSpPr>
        <p:spPr/>
        <p:txBody>
          <a:bodyPr/>
          <a:lstStyle/>
          <a:p>
            <a:endParaRPr lang="fi-FI"/>
          </a:p>
        </p:txBody>
      </p:sp>
      <p:pic>
        <p:nvPicPr>
          <p:cNvPr id="3074" name="Picture 2" descr="C:\Documents and Settings\Maaret\My Documents\My Pictures\Microsoft Clip Organizer\j0078747.wmf"/>
          <p:cNvPicPr>
            <a:picLocks noChangeAspect="1" noChangeArrowheads="1"/>
          </p:cNvPicPr>
          <p:nvPr/>
        </p:nvPicPr>
        <p:blipFill>
          <a:blip r:embed="rId3" cstate="print"/>
          <a:srcRect/>
          <a:stretch>
            <a:fillRect/>
          </a:stretch>
        </p:blipFill>
        <p:spPr bwMode="auto">
          <a:xfrm>
            <a:off x="7654925" y="685800"/>
            <a:ext cx="1260475" cy="514985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GB" dirty="0" err="1" smtClean="0"/>
              <a:t>Projekti</a:t>
            </a:r>
            <a:r>
              <a:rPr lang="en-GB" dirty="0" smtClean="0"/>
              <a:t> </a:t>
            </a:r>
            <a:r>
              <a:rPr lang="en-GB" dirty="0" err="1" smtClean="0"/>
              <a:t>ketterillä</a:t>
            </a:r>
            <a:r>
              <a:rPr lang="en-GB" dirty="0" smtClean="0"/>
              <a:t> </a:t>
            </a:r>
            <a:r>
              <a:rPr lang="en-GB" dirty="0" err="1" smtClean="0"/>
              <a:t>arvoilla</a:t>
            </a:r>
            <a:r>
              <a:rPr lang="en-GB" dirty="0" smtClean="0"/>
              <a:t> </a:t>
            </a:r>
            <a:r>
              <a:rPr lang="en-GB" dirty="0" err="1" smtClean="0"/>
              <a:t>ja</a:t>
            </a:r>
            <a:r>
              <a:rPr lang="en-GB" dirty="0" smtClean="0"/>
              <a:t> </a:t>
            </a:r>
            <a:r>
              <a:rPr lang="en-GB" dirty="0" err="1" smtClean="0"/>
              <a:t>menetelmillä</a:t>
            </a:r>
            <a:endParaRPr lang="en-US" dirty="0"/>
          </a:p>
        </p:txBody>
      </p:sp>
      <p:sp>
        <p:nvSpPr>
          <p:cNvPr id="3" name="Rectangle 2"/>
          <p:cNvSpPr/>
          <p:nvPr/>
        </p:nvSpPr>
        <p:spPr>
          <a:xfrm>
            <a:off x="500063" y="2185988"/>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a:t>
            </a:r>
            <a:r>
              <a:rPr lang="en-GB" dirty="0"/>
              <a:t> </a:t>
            </a:r>
            <a:endParaRPr lang="en-US" dirty="0"/>
          </a:p>
        </p:txBody>
      </p:sp>
      <p:sp>
        <p:nvSpPr>
          <p:cNvPr id="5" name="Rectangle 4"/>
          <p:cNvSpPr/>
          <p:nvPr/>
        </p:nvSpPr>
        <p:spPr>
          <a:xfrm>
            <a:off x="2786063" y="2185988"/>
            <a:ext cx="1785937"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Työlistan</a:t>
            </a:r>
            <a:r>
              <a:rPr lang="en-GB" dirty="0"/>
              <a:t> </a:t>
            </a:r>
            <a:r>
              <a:rPr lang="en-GB" dirty="0" err="1"/>
              <a:t>alkio</a:t>
            </a:r>
            <a:r>
              <a:rPr lang="en-GB" dirty="0"/>
              <a:t> 1</a:t>
            </a:r>
            <a:endParaRPr lang="en-US" dirty="0"/>
          </a:p>
        </p:txBody>
      </p:sp>
      <p:sp>
        <p:nvSpPr>
          <p:cNvPr id="6" name="Rectangle 5"/>
          <p:cNvSpPr/>
          <p:nvPr/>
        </p:nvSpPr>
        <p:spPr>
          <a:xfrm>
            <a:off x="4714875" y="2185988"/>
            <a:ext cx="1785938"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Työlistan</a:t>
            </a:r>
            <a:r>
              <a:rPr lang="en-GB" dirty="0"/>
              <a:t> </a:t>
            </a:r>
            <a:r>
              <a:rPr lang="en-GB" dirty="0" err="1"/>
              <a:t>alkio</a:t>
            </a:r>
            <a:r>
              <a:rPr lang="en-GB" dirty="0"/>
              <a:t> 2</a:t>
            </a:r>
            <a:endParaRPr lang="en-US" dirty="0"/>
          </a:p>
        </p:txBody>
      </p:sp>
      <p:sp>
        <p:nvSpPr>
          <p:cNvPr id="8" name="12-Point Star 7"/>
          <p:cNvSpPr/>
          <p:nvPr/>
        </p:nvSpPr>
        <p:spPr>
          <a:xfrm>
            <a:off x="71438" y="3328988"/>
            <a:ext cx="2500312" cy="1428750"/>
          </a:xfrm>
          <a:prstGeom prst="star12">
            <a:avLst/>
          </a:prstGeom>
        </p:spPr>
        <p:style>
          <a:lnRef idx="3">
            <a:schemeClr val="lt1"/>
          </a:lnRef>
          <a:fillRef idx="1">
            <a:schemeClr val="accent6"/>
          </a:fillRef>
          <a:effectRef idx="1">
            <a:schemeClr val="accent6"/>
          </a:effectRef>
          <a:fontRef idx="minor">
            <a:schemeClr val="lt1"/>
          </a:fontRef>
        </p:style>
        <p:txBody>
          <a:bodyPr anchor="ctr"/>
          <a:lstStyle/>
          <a:p>
            <a:pPr algn="ctr" fontAlgn="auto">
              <a:spcBef>
                <a:spcPts val="0"/>
              </a:spcBef>
              <a:spcAft>
                <a:spcPts val="0"/>
              </a:spcAft>
              <a:defRPr/>
            </a:pPr>
            <a:r>
              <a:rPr lang="en-GB" sz="1600" dirty="0" err="1"/>
              <a:t>Yleistestaus-suunnitelma</a:t>
            </a:r>
            <a:endParaRPr lang="en-US" sz="1600" dirty="0"/>
          </a:p>
        </p:txBody>
      </p:sp>
      <p:sp>
        <p:nvSpPr>
          <p:cNvPr id="9" name="Rectangle 8"/>
          <p:cNvSpPr/>
          <p:nvPr/>
        </p:nvSpPr>
        <p:spPr>
          <a:xfrm>
            <a:off x="2786063" y="6186488"/>
            <a:ext cx="3714750" cy="500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työlistan</a:t>
            </a:r>
            <a:r>
              <a:rPr lang="en-GB" dirty="0"/>
              <a:t> </a:t>
            </a:r>
            <a:r>
              <a:rPr lang="en-GB" dirty="0" err="1"/>
              <a:t>päivitys</a:t>
            </a:r>
            <a:endParaRPr lang="en-US" dirty="0"/>
          </a:p>
        </p:txBody>
      </p:sp>
      <p:sp>
        <p:nvSpPr>
          <p:cNvPr id="62471" name="TextBox 9"/>
          <p:cNvSpPr txBox="1">
            <a:spLocks noChangeArrowheads="1"/>
          </p:cNvSpPr>
          <p:nvPr/>
        </p:nvSpPr>
        <p:spPr bwMode="auto">
          <a:xfrm>
            <a:off x="3429000" y="1828800"/>
            <a:ext cx="2286000" cy="369888"/>
          </a:xfrm>
          <a:prstGeom prst="rect">
            <a:avLst/>
          </a:prstGeom>
          <a:noFill/>
          <a:ln w="9525">
            <a:noFill/>
            <a:miter lim="800000"/>
            <a:headEnd/>
            <a:tailEnd/>
          </a:ln>
        </p:spPr>
        <p:txBody>
          <a:bodyPr>
            <a:spAutoFit/>
          </a:bodyPr>
          <a:lstStyle/>
          <a:p>
            <a:pPr algn="ctr"/>
            <a:r>
              <a:rPr lang="en-GB"/>
              <a:t>Toimituserä</a:t>
            </a:r>
            <a:endParaRPr lang="en-US"/>
          </a:p>
        </p:txBody>
      </p:sp>
      <p:sp>
        <p:nvSpPr>
          <p:cNvPr id="62472" name="TextBox 10"/>
          <p:cNvSpPr txBox="1">
            <a:spLocks noChangeArrowheads="1"/>
          </p:cNvSpPr>
          <p:nvPr/>
        </p:nvSpPr>
        <p:spPr bwMode="auto">
          <a:xfrm>
            <a:off x="142875" y="4686300"/>
            <a:ext cx="2714625" cy="923925"/>
          </a:xfrm>
          <a:prstGeom prst="rect">
            <a:avLst/>
          </a:prstGeom>
          <a:noFill/>
          <a:ln w="9525">
            <a:noFill/>
            <a:miter lim="800000"/>
            <a:headEnd/>
            <a:tailEnd/>
          </a:ln>
        </p:spPr>
        <p:txBody>
          <a:bodyPr>
            <a:spAutoFit/>
          </a:bodyPr>
          <a:lstStyle/>
          <a:p>
            <a:r>
              <a:rPr lang="en-GB" dirty="0" err="1"/>
              <a:t>Testausympäristö</a:t>
            </a:r>
            <a:r>
              <a:rPr lang="en-GB" dirty="0"/>
              <a:t>-</a:t>
            </a:r>
            <a:br>
              <a:rPr lang="en-GB" dirty="0"/>
            </a:br>
            <a:r>
              <a:rPr lang="en-GB" dirty="0" err="1"/>
              <a:t>tarpeet</a:t>
            </a:r>
            <a:endParaRPr lang="en-GB" dirty="0"/>
          </a:p>
          <a:p>
            <a:r>
              <a:rPr lang="en-GB" dirty="0" err="1"/>
              <a:t>Rekrytoinnit</a:t>
            </a:r>
            <a:endParaRPr lang="en-US" dirty="0"/>
          </a:p>
        </p:txBody>
      </p:sp>
      <p:cxnSp>
        <p:nvCxnSpPr>
          <p:cNvPr id="13" name="Elbow Connector 12"/>
          <p:cNvCxnSpPr>
            <a:stCxn id="3" idx="3"/>
            <a:endCxn id="5" idx="1"/>
          </p:cNvCxnSpPr>
          <p:nvPr/>
        </p:nvCxnSpPr>
        <p:spPr>
          <a:xfrm>
            <a:off x="2143125" y="2720975"/>
            <a:ext cx="642938" cy="1588"/>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Rectangle 19"/>
          <p:cNvSpPr/>
          <p:nvPr/>
        </p:nvSpPr>
        <p:spPr>
          <a:xfrm>
            <a:off x="2786063" y="3328988"/>
            <a:ext cx="1785937" cy="16430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Muutoskohtainen</a:t>
            </a:r>
            <a:r>
              <a:rPr lang="en-GB" sz="1600" dirty="0" smtClean="0"/>
              <a:t> </a:t>
            </a:r>
            <a:r>
              <a:rPr lang="en-GB" sz="1600" dirty="0" err="1" smtClean="0"/>
              <a:t>testaussuun-nitelma</a:t>
            </a:r>
            <a:r>
              <a:rPr lang="en-GB" sz="1600" dirty="0" smtClean="0"/>
              <a:t> </a:t>
            </a:r>
            <a:r>
              <a:rPr lang="en-GB" sz="1600" dirty="0" err="1" smtClean="0"/>
              <a:t>aika-varauksin</a:t>
            </a:r>
            <a:r>
              <a:rPr lang="en-GB" sz="1600" dirty="0" smtClean="0"/>
              <a:t> </a:t>
            </a:r>
            <a:r>
              <a:rPr lang="en-GB" sz="1600" dirty="0" err="1" smtClean="0"/>
              <a:t>toteutusvaiheen</a:t>
            </a:r>
            <a:r>
              <a:rPr lang="en-GB" sz="1600" dirty="0" smtClean="0"/>
              <a:t> </a:t>
            </a:r>
            <a:r>
              <a:rPr lang="en-GB" sz="1600" dirty="0" err="1" smtClean="0"/>
              <a:t>työlistalle</a:t>
            </a:r>
            <a:endParaRPr lang="en-US" sz="1600" dirty="0"/>
          </a:p>
        </p:txBody>
      </p:sp>
      <p:sp>
        <p:nvSpPr>
          <p:cNvPr id="23" name="Rectangle 22"/>
          <p:cNvSpPr/>
          <p:nvPr/>
        </p:nvSpPr>
        <p:spPr>
          <a:xfrm>
            <a:off x="2786063" y="5043488"/>
            <a:ext cx="1785937" cy="10715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Hyväksymistestien</a:t>
            </a:r>
            <a:r>
              <a:rPr lang="en-GB" sz="1600" dirty="0" smtClean="0"/>
              <a:t> </a:t>
            </a:r>
            <a:r>
              <a:rPr lang="en-GB" sz="1600" dirty="0" err="1" smtClean="0"/>
              <a:t>määrittely</a:t>
            </a:r>
            <a:r>
              <a:rPr lang="en-GB" sz="1600" dirty="0" smtClean="0"/>
              <a:t>, </a:t>
            </a:r>
            <a:r>
              <a:rPr lang="en-GB" sz="1600" dirty="0" err="1" smtClean="0"/>
              <a:t>automatisointi</a:t>
            </a:r>
            <a:r>
              <a:rPr lang="en-GB" sz="1600" dirty="0" smtClean="0"/>
              <a:t> </a:t>
            </a:r>
            <a:r>
              <a:rPr lang="en-GB" sz="1600" dirty="0" err="1" smtClean="0"/>
              <a:t>ja</a:t>
            </a:r>
            <a:r>
              <a:rPr lang="en-GB" sz="1600" dirty="0" smtClean="0"/>
              <a:t> </a:t>
            </a:r>
            <a:r>
              <a:rPr lang="en-GB" sz="1600" dirty="0" err="1" smtClean="0"/>
              <a:t>suoritus</a:t>
            </a:r>
            <a:endParaRPr lang="en-US" sz="1600" dirty="0"/>
          </a:p>
        </p:txBody>
      </p:sp>
      <p:sp>
        <p:nvSpPr>
          <p:cNvPr id="26" name="Rectangle 25"/>
          <p:cNvSpPr/>
          <p:nvPr/>
        </p:nvSpPr>
        <p:spPr>
          <a:xfrm>
            <a:off x="4714875" y="3328988"/>
            <a:ext cx="1785938" cy="16430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Muutoskohtainen</a:t>
            </a:r>
            <a:r>
              <a:rPr lang="en-GB" sz="1600" dirty="0" smtClean="0"/>
              <a:t> </a:t>
            </a:r>
            <a:r>
              <a:rPr lang="en-GB" sz="1600" dirty="0" err="1" smtClean="0"/>
              <a:t>testaussuun-nitelma</a:t>
            </a:r>
            <a:r>
              <a:rPr lang="en-GB" sz="1600" dirty="0" smtClean="0"/>
              <a:t> </a:t>
            </a:r>
            <a:r>
              <a:rPr lang="en-GB" sz="1600" dirty="0" err="1" smtClean="0"/>
              <a:t>aika-varauksin</a:t>
            </a:r>
            <a:r>
              <a:rPr lang="en-GB" sz="1600" dirty="0" smtClean="0"/>
              <a:t> </a:t>
            </a:r>
            <a:r>
              <a:rPr lang="en-GB" sz="1600" dirty="0" err="1"/>
              <a:t>toteutusvaiheen</a:t>
            </a:r>
            <a:r>
              <a:rPr lang="en-GB" sz="1600" dirty="0"/>
              <a:t> </a:t>
            </a:r>
            <a:r>
              <a:rPr lang="en-GB" sz="1600" dirty="0" err="1"/>
              <a:t>työlistalle</a:t>
            </a:r>
            <a:endParaRPr lang="en-US" sz="1600" dirty="0"/>
          </a:p>
        </p:txBody>
      </p:sp>
      <p:sp>
        <p:nvSpPr>
          <p:cNvPr id="27" name="Rectangle 26"/>
          <p:cNvSpPr/>
          <p:nvPr/>
        </p:nvSpPr>
        <p:spPr>
          <a:xfrm>
            <a:off x="4714875" y="5043488"/>
            <a:ext cx="1785938" cy="10715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Hyväksymistestien</a:t>
            </a:r>
            <a:r>
              <a:rPr lang="en-GB" sz="1600" dirty="0" smtClean="0"/>
              <a:t> </a:t>
            </a:r>
            <a:r>
              <a:rPr lang="en-GB" sz="1600" dirty="0" err="1"/>
              <a:t>määrittely</a:t>
            </a:r>
            <a:r>
              <a:rPr lang="en-GB" sz="1600" dirty="0"/>
              <a:t>, </a:t>
            </a:r>
            <a:r>
              <a:rPr lang="en-GB" sz="1600" dirty="0" err="1"/>
              <a:t>automatisointi</a:t>
            </a:r>
            <a:r>
              <a:rPr lang="en-GB" sz="1600" dirty="0"/>
              <a:t> </a:t>
            </a:r>
            <a:r>
              <a:rPr lang="en-GB" sz="1600" dirty="0" err="1"/>
              <a:t>ja</a:t>
            </a:r>
            <a:r>
              <a:rPr lang="en-GB" sz="1600" dirty="0"/>
              <a:t> </a:t>
            </a:r>
            <a:r>
              <a:rPr lang="en-GB" sz="1600" dirty="0" err="1"/>
              <a:t>suoritus</a:t>
            </a:r>
            <a:endParaRPr lang="en-US" sz="1600" dirty="0"/>
          </a:p>
        </p:txBody>
      </p:sp>
      <p:sp>
        <p:nvSpPr>
          <p:cNvPr id="28" name="Rectangle 27"/>
          <p:cNvSpPr/>
          <p:nvPr/>
        </p:nvSpPr>
        <p:spPr>
          <a:xfrm>
            <a:off x="7000875" y="2185988"/>
            <a:ext cx="1643063" cy="107156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a:t>
            </a:r>
            <a:r>
              <a:rPr lang="en-GB" dirty="0"/>
              <a:t> </a:t>
            </a:r>
            <a:endParaRPr lang="en-US" dirty="0"/>
          </a:p>
        </p:txBody>
      </p:sp>
      <p:cxnSp>
        <p:nvCxnSpPr>
          <p:cNvPr id="30" name="Elbow Connector 29"/>
          <p:cNvCxnSpPr>
            <a:stCxn id="6" idx="3"/>
            <a:endCxn id="28" idx="1"/>
          </p:cNvCxnSpPr>
          <p:nvPr/>
        </p:nvCxnSpPr>
        <p:spPr>
          <a:xfrm>
            <a:off x="6500813" y="2720975"/>
            <a:ext cx="500062" cy="1588"/>
          </a:xfrm>
          <a:prstGeom prst="bentConnector3">
            <a:avLst>
              <a:gd name="adj1" fmla="val 50000"/>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2" name="Elbow Connector 31"/>
          <p:cNvCxnSpPr>
            <a:stCxn id="9" idx="3"/>
            <a:endCxn id="28" idx="1"/>
          </p:cNvCxnSpPr>
          <p:nvPr/>
        </p:nvCxnSpPr>
        <p:spPr>
          <a:xfrm flipV="1">
            <a:off x="6500813" y="2720975"/>
            <a:ext cx="500062" cy="3716338"/>
          </a:xfrm>
          <a:prstGeom prst="bentConnector3">
            <a:avLst>
              <a:gd name="adj1" fmla="val 50000"/>
            </a:avLst>
          </a:prstGeom>
          <a:ln>
            <a:tailEnd type="arrow"/>
          </a:ln>
        </p:spPr>
        <p:style>
          <a:lnRef idx="2">
            <a:schemeClr val="accent4"/>
          </a:lnRef>
          <a:fillRef idx="0">
            <a:schemeClr val="accent4"/>
          </a:fillRef>
          <a:effectRef idx="1">
            <a:schemeClr val="accent4"/>
          </a:effectRef>
          <a:fontRef idx="minor">
            <a:schemeClr val="tx1"/>
          </a:fontRef>
        </p:style>
      </p:cxnSp>
      <p:sp>
        <p:nvSpPr>
          <p:cNvPr id="18" name="Slide Number Placeholder 17"/>
          <p:cNvSpPr>
            <a:spLocks noGrp="1"/>
          </p:cNvSpPr>
          <p:nvPr>
            <p:ph type="sldNum" sz="quarter" idx="12"/>
          </p:nvPr>
        </p:nvSpPr>
        <p:spPr/>
        <p:txBody>
          <a:bodyPr/>
          <a:lstStyle/>
          <a:p>
            <a:pPr>
              <a:defRPr/>
            </a:pPr>
            <a:fld id="{505C1A46-F732-4306-A3F4-5F8FFE4D3D26}" type="slidenum">
              <a:rPr lang="sv-SE"/>
              <a:pPr>
                <a:defRPr/>
              </a:pPr>
              <a:t>18</a:t>
            </a:fld>
            <a:endParaRPr lang="sv-SE"/>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normAutofit fontScale="90000"/>
          </a:bodyPr>
          <a:lstStyle/>
          <a:p>
            <a:r>
              <a:rPr lang="fi-FI" dirty="0" smtClean="0"/>
              <a:t>Ketteryyden määritelmä julistuksen kautta</a:t>
            </a:r>
            <a:endParaRPr lang="fi-FI" dirty="0"/>
          </a:p>
        </p:txBody>
      </p:sp>
      <p:sp>
        <p:nvSpPr>
          <p:cNvPr id="13" name="Content Placeholder 12"/>
          <p:cNvSpPr>
            <a:spLocks noGrp="1"/>
          </p:cNvSpPr>
          <p:nvPr>
            <p:ph sz="half" idx="1"/>
          </p:nvPr>
        </p:nvSpPr>
        <p:spPr>
          <a:xfrm>
            <a:off x="457200" y="1600200"/>
            <a:ext cx="3733800" cy="4525963"/>
          </a:xfrm>
        </p:spPr>
        <p:txBody>
          <a:bodyPr>
            <a:normAutofit fontScale="85000" lnSpcReduction="20000"/>
          </a:bodyPr>
          <a:lstStyle/>
          <a:p>
            <a:r>
              <a:rPr lang="fi-FI" dirty="0" smtClean="0"/>
              <a:t>Ketteryys laajassa merkityksessä:</a:t>
            </a:r>
          </a:p>
          <a:p>
            <a:pPr lvl="1"/>
            <a:r>
              <a:rPr lang="fi-FI" dirty="0" smtClean="0"/>
              <a:t>Mikä tahansa ketteristä menetelmistä</a:t>
            </a:r>
          </a:p>
          <a:p>
            <a:pPr lvl="1"/>
            <a:r>
              <a:rPr lang="fi-FI" dirty="0" smtClean="0"/>
              <a:t>Periaatteet ja käytännöt omaan tilanteeseen ketteriin arvoihin pohjaten</a:t>
            </a:r>
          </a:p>
          <a:p>
            <a:r>
              <a:rPr lang="en-US" dirty="0" err="1" smtClean="0"/>
              <a:t>Ketterä</a:t>
            </a:r>
            <a:r>
              <a:rPr lang="en-US" dirty="0" smtClean="0"/>
              <a:t> </a:t>
            </a:r>
            <a:r>
              <a:rPr lang="en-US" dirty="0" err="1" smtClean="0"/>
              <a:t>testaus</a:t>
            </a:r>
            <a:r>
              <a:rPr lang="en-US" dirty="0" smtClean="0"/>
              <a:t> </a:t>
            </a:r>
            <a:r>
              <a:rPr lang="en-US" dirty="0" err="1" smtClean="0"/>
              <a:t>ei</a:t>
            </a:r>
            <a:r>
              <a:rPr lang="en-US" dirty="0" smtClean="0"/>
              <a:t> ole vain </a:t>
            </a:r>
            <a:r>
              <a:rPr lang="en-US" dirty="0" err="1" smtClean="0"/>
              <a:t>testausta</a:t>
            </a:r>
            <a:r>
              <a:rPr lang="en-US" dirty="0" smtClean="0"/>
              <a:t> </a:t>
            </a:r>
            <a:r>
              <a:rPr lang="en-US" dirty="0" err="1" smtClean="0"/>
              <a:t>ketterissä</a:t>
            </a:r>
            <a:r>
              <a:rPr lang="en-US" dirty="0" smtClean="0"/>
              <a:t> </a:t>
            </a:r>
            <a:r>
              <a:rPr lang="en-US" dirty="0" err="1" smtClean="0"/>
              <a:t>projekteissa</a:t>
            </a:r>
            <a:r>
              <a:rPr lang="en-US" dirty="0" smtClean="0"/>
              <a:t>. </a:t>
            </a:r>
            <a:r>
              <a:rPr lang="en-US" dirty="0" err="1" smtClean="0"/>
              <a:t>Jotkin</a:t>
            </a:r>
            <a:r>
              <a:rPr lang="en-US" dirty="0" smtClean="0"/>
              <a:t> </a:t>
            </a:r>
            <a:r>
              <a:rPr lang="en-US" dirty="0" err="1" smtClean="0"/>
              <a:t>testauksen</a:t>
            </a:r>
            <a:r>
              <a:rPr lang="en-US" dirty="0" smtClean="0"/>
              <a:t> </a:t>
            </a:r>
            <a:r>
              <a:rPr lang="en-US" dirty="0" err="1" smtClean="0"/>
              <a:t>lähestymistavat</a:t>
            </a:r>
            <a:r>
              <a:rPr lang="en-US" dirty="0" smtClean="0"/>
              <a:t>, </a:t>
            </a:r>
            <a:r>
              <a:rPr lang="en-US" dirty="0" err="1" smtClean="0"/>
              <a:t>kuten</a:t>
            </a:r>
            <a:r>
              <a:rPr lang="en-US" dirty="0" smtClean="0"/>
              <a:t> </a:t>
            </a:r>
            <a:r>
              <a:rPr lang="en-US" dirty="0" err="1" smtClean="0"/>
              <a:t>tutkiva</a:t>
            </a:r>
            <a:r>
              <a:rPr lang="en-US" dirty="0" smtClean="0"/>
              <a:t> </a:t>
            </a:r>
            <a:r>
              <a:rPr lang="en-US" dirty="0" err="1" smtClean="0"/>
              <a:t>testaus</a:t>
            </a:r>
            <a:r>
              <a:rPr lang="en-US" dirty="0" smtClean="0"/>
              <a:t>, </a:t>
            </a:r>
            <a:r>
              <a:rPr lang="en-US" dirty="0" err="1" smtClean="0"/>
              <a:t>ovat</a:t>
            </a:r>
            <a:r>
              <a:rPr lang="en-US" dirty="0" smtClean="0"/>
              <a:t> </a:t>
            </a:r>
            <a:r>
              <a:rPr lang="en-US" dirty="0" err="1" smtClean="0"/>
              <a:t>syntyjään</a:t>
            </a:r>
            <a:r>
              <a:rPr lang="en-US" dirty="0" smtClean="0"/>
              <a:t> </a:t>
            </a:r>
            <a:r>
              <a:rPr lang="en-US" dirty="0" err="1" smtClean="0"/>
              <a:t>ketteriä</a:t>
            </a:r>
            <a:r>
              <a:rPr lang="en-US" dirty="0" smtClean="0"/>
              <a:t>.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pic>
        <p:nvPicPr>
          <p:cNvPr id="1029" name="Picture 5"/>
          <p:cNvPicPr>
            <a:picLocks noChangeAspect="1" noChangeArrowheads="1"/>
          </p:cNvPicPr>
          <p:nvPr/>
        </p:nvPicPr>
        <p:blipFill>
          <a:blip r:embed="rId3" cstate="print"/>
          <a:srcRect/>
          <a:stretch>
            <a:fillRect/>
          </a:stretch>
        </p:blipFill>
        <p:spPr bwMode="auto">
          <a:xfrm>
            <a:off x="4084484" y="1524000"/>
            <a:ext cx="5059516" cy="4953000"/>
          </a:xfrm>
          <a:prstGeom prst="rect">
            <a:avLst/>
          </a:prstGeom>
          <a:noFill/>
          <a:ln w="9525">
            <a:noFill/>
            <a:miter lim="800000"/>
            <a:headEnd/>
            <a:tailEnd/>
          </a:ln>
        </p:spPr>
      </p:pic>
      <p:sp>
        <p:nvSpPr>
          <p:cNvPr id="11" name="TextBox 10"/>
          <p:cNvSpPr txBox="1"/>
          <p:nvPr/>
        </p:nvSpPr>
        <p:spPr>
          <a:xfrm>
            <a:off x="0" y="6550223"/>
            <a:ext cx="91440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70" name="Rectangle 2"/>
          <p:cNvSpPr>
            <a:spLocks noGrp="1" noChangeArrowheads="1"/>
          </p:cNvSpPr>
          <p:nvPr>
            <p:ph type="title"/>
          </p:nvPr>
        </p:nvSpPr>
        <p:spPr/>
        <p:txBody>
          <a:bodyPr/>
          <a:lstStyle/>
          <a:p>
            <a:r>
              <a:rPr lang="en-US"/>
              <a:t>Plan-Driven vs. Agile - Rationale</a:t>
            </a:r>
          </a:p>
        </p:txBody>
      </p:sp>
      <p:sp>
        <p:nvSpPr>
          <p:cNvPr id="1235974" name="Text Box 6"/>
          <p:cNvSpPr txBox="1">
            <a:spLocks noChangeArrowheads="1"/>
          </p:cNvSpPr>
          <p:nvPr/>
        </p:nvSpPr>
        <p:spPr bwMode="auto">
          <a:xfrm>
            <a:off x="5334000" y="2362200"/>
            <a:ext cx="3429000" cy="1190625"/>
          </a:xfrm>
          <a:prstGeom prst="rect">
            <a:avLst/>
          </a:prstGeom>
          <a:noFill/>
          <a:ln w="9525">
            <a:noFill/>
            <a:miter lim="800000"/>
            <a:headEnd/>
            <a:tailEnd/>
          </a:ln>
          <a:effectLst/>
        </p:spPr>
        <p:txBody>
          <a:bodyPr>
            <a:spAutoFit/>
          </a:bodyPr>
          <a:lstStyle/>
          <a:p>
            <a:pPr algn="ctr" eaLnBrk="1" hangingPunct="1">
              <a:spcBef>
                <a:spcPct val="50000"/>
              </a:spcBef>
            </a:pPr>
            <a:r>
              <a:rPr lang="fi-FI">
                <a:latin typeface="Arial" pitchFamily="34" charset="0"/>
              </a:rPr>
              <a:t>In an extreme environment, following a plan produced the product you intended, not the product you needed. </a:t>
            </a:r>
            <a:endParaRPr lang="en-GB">
              <a:latin typeface="Arial" pitchFamily="34" charset="0"/>
            </a:endParaRPr>
          </a:p>
        </p:txBody>
      </p:sp>
      <p:grpSp>
        <p:nvGrpSpPr>
          <p:cNvPr id="2" name="Group 23"/>
          <p:cNvGrpSpPr>
            <a:grpSpLocks/>
          </p:cNvGrpSpPr>
          <p:nvPr/>
        </p:nvGrpSpPr>
        <p:grpSpPr bwMode="auto">
          <a:xfrm>
            <a:off x="-304800" y="1295400"/>
            <a:ext cx="7391400" cy="3657600"/>
            <a:chOff x="240" y="1434"/>
            <a:chExt cx="5424" cy="2474"/>
          </a:xfrm>
        </p:grpSpPr>
        <p:sp>
          <p:nvSpPr>
            <p:cNvPr id="1235971" name="Text Box 3"/>
            <p:cNvSpPr txBox="1">
              <a:spLocks noChangeArrowheads="1"/>
            </p:cNvSpPr>
            <p:nvPr/>
          </p:nvSpPr>
          <p:spPr bwMode="auto">
            <a:xfrm>
              <a:off x="240" y="1588"/>
              <a:ext cx="1249" cy="206"/>
            </a:xfrm>
            <a:prstGeom prst="rect">
              <a:avLst/>
            </a:prstGeom>
            <a:noFill/>
            <a:ln w="9525">
              <a:noFill/>
              <a:miter lim="800000"/>
              <a:headEnd/>
              <a:tailEnd/>
            </a:ln>
            <a:effectLst/>
          </p:spPr>
          <p:txBody>
            <a:bodyPr>
              <a:spAutoFit/>
            </a:bodyPr>
            <a:lstStyle/>
            <a:p>
              <a:pPr algn="ctr" eaLnBrk="1" hangingPunct="1">
                <a:spcBef>
                  <a:spcPct val="50000"/>
                </a:spcBef>
              </a:pPr>
              <a:r>
                <a:rPr lang="fi-FI" sz="1400">
                  <a:latin typeface="Arial" pitchFamily="34" charset="0"/>
                </a:rPr>
                <a:t>A - Start</a:t>
              </a:r>
              <a:endParaRPr lang="en-GB" sz="1400">
                <a:latin typeface="Arial" pitchFamily="34" charset="0"/>
              </a:endParaRPr>
            </a:p>
          </p:txBody>
        </p:sp>
        <p:grpSp>
          <p:nvGrpSpPr>
            <p:cNvPr id="3" name="Group 22"/>
            <p:cNvGrpSpPr>
              <a:grpSpLocks/>
            </p:cNvGrpSpPr>
            <p:nvPr/>
          </p:nvGrpSpPr>
          <p:grpSpPr bwMode="auto">
            <a:xfrm>
              <a:off x="864" y="1434"/>
              <a:ext cx="4800" cy="2474"/>
              <a:chOff x="864" y="1434"/>
              <a:chExt cx="4800" cy="2474"/>
            </a:xfrm>
          </p:grpSpPr>
          <p:sp>
            <p:nvSpPr>
              <p:cNvPr id="1235972" name="Text Box 4"/>
              <p:cNvSpPr txBox="1">
                <a:spLocks noChangeArrowheads="1"/>
              </p:cNvSpPr>
              <p:nvPr/>
            </p:nvSpPr>
            <p:spPr bwMode="auto">
              <a:xfrm>
                <a:off x="4079" y="1578"/>
                <a:ext cx="1585" cy="206"/>
              </a:xfrm>
              <a:prstGeom prst="rect">
                <a:avLst/>
              </a:prstGeom>
              <a:noFill/>
              <a:ln w="9525">
                <a:noFill/>
                <a:miter lim="800000"/>
                <a:headEnd/>
                <a:tailEnd/>
              </a:ln>
              <a:effectLst/>
            </p:spPr>
            <p:txBody>
              <a:bodyPr>
                <a:spAutoFit/>
              </a:bodyPr>
              <a:lstStyle/>
              <a:p>
                <a:pPr algn="ctr" eaLnBrk="1" hangingPunct="1">
                  <a:spcBef>
                    <a:spcPct val="50000"/>
                  </a:spcBef>
                </a:pPr>
                <a:r>
                  <a:rPr lang="fi-FI" sz="1400">
                    <a:latin typeface="Arial" pitchFamily="34" charset="0"/>
                  </a:rPr>
                  <a:t>B – Planned Result</a:t>
                </a:r>
                <a:endParaRPr lang="en-GB" sz="1400">
                  <a:latin typeface="Arial" pitchFamily="34" charset="0"/>
                </a:endParaRPr>
              </a:p>
            </p:txBody>
          </p:sp>
          <p:sp>
            <p:nvSpPr>
              <p:cNvPr id="1235973" name="Text Box 5"/>
              <p:cNvSpPr txBox="1">
                <a:spLocks noChangeArrowheads="1"/>
              </p:cNvSpPr>
              <p:nvPr/>
            </p:nvSpPr>
            <p:spPr bwMode="auto">
              <a:xfrm>
                <a:off x="4127" y="3354"/>
                <a:ext cx="1537" cy="206"/>
              </a:xfrm>
              <a:prstGeom prst="rect">
                <a:avLst/>
              </a:prstGeom>
              <a:noFill/>
              <a:ln w="9525">
                <a:noFill/>
                <a:miter lim="800000"/>
                <a:headEnd/>
                <a:tailEnd/>
              </a:ln>
              <a:effectLst/>
            </p:spPr>
            <p:txBody>
              <a:bodyPr>
                <a:spAutoFit/>
              </a:bodyPr>
              <a:lstStyle/>
              <a:p>
                <a:pPr algn="ctr" eaLnBrk="1" hangingPunct="1">
                  <a:spcBef>
                    <a:spcPct val="50000"/>
                  </a:spcBef>
                </a:pPr>
                <a:r>
                  <a:rPr lang="fi-FI" sz="1400">
                    <a:latin typeface="Arial" pitchFamily="34" charset="0"/>
                  </a:rPr>
                  <a:t>C – Desired Result</a:t>
                </a:r>
                <a:endParaRPr lang="en-GB" sz="1400">
                  <a:latin typeface="Arial" pitchFamily="34" charset="0"/>
                </a:endParaRPr>
              </a:p>
            </p:txBody>
          </p:sp>
          <p:grpSp>
            <p:nvGrpSpPr>
              <p:cNvPr id="4" name="Group 21"/>
              <p:cNvGrpSpPr>
                <a:grpSpLocks/>
              </p:cNvGrpSpPr>
              <p:nvPr/>
            </p:nvGrpSpPr>
            <p:grpSpPr bwMode="auto">
              <a:xfrm>
                <a:off x="864" y="1434"/>
                <a:ext cx="4128" cy="2474"/>
                <a:chOff x="864" y="1434"/>
                <a:chExt cx="4128" cy="2474"/>
              </a:xfrm>
            </p:grpSpPr>
            <p:sp>
              <p:nvSpPr>
                <p:cNvPr id="1235975" name="Line 7"/>
                <p:cNvSpPr>
                  <a:spLocks noChangeShapeType="1"/>
                </p:cNvSpPr>
                <p:nvPr/>
              </p:nvSpPr>
              <p:spPr bwMode="auto">
                <a:xfrm>
                  <a:off x="1008" y="1972"/>
                  <a:ext cx="3888" cy="0"/>
                </a:xfrm>
                <a:prstGeom prst="line">
                  <a:avLst/>
                </a:prstGeom>
                <a:noFill/>
                <a:ln w="38100">
                  <a:solidFill>
                    <a:srgbClr val="FF0000"/>
                  </a:solidFill>
                  <a:prstDash val="dashDot"/>
                  <a:round/>
                  <a:headEnd/>
                  <a:tailEnd/>
                </a:ln>
                <a:effectLst/>
              </p:spPr>
              <p:txBody>
                <a:bodyPr anchor="ctr"/>
                <a:lstStyle/>
                <a:p>
                  <a:endParaRPr lang="fi-FI"/>
                </a:p>
              </p:txBody>
            </p:sp>
            <p:sp>
              <p:nvSpPr>
                <p:cNvPr id="1235976" name="Oval 8"/>
                <p:cNvSpPr>
                  <a:spLocks noChangeArrowheads="1"/>
                </p:cNvSpPr>
                <p:nvPr/>
              </p:nvSpPr>
              <p:spPr bwMode="auto">
                <a:xfrm>
                  <a:off x="864" y="1876"/>
                  <a:ext cx="144" cy="144"/>
                </a:xfrm>
                <a:prstGeom prst="ellipse">
                  <a:avLst/>
                </a:prstGeom>
                <a:solidFill>
                  <a:schemeClr val="tx2"/>
                </a:solidFill>
                <a:ln w="9525">
                  <a:solidFill>
                    <a:schemeClr val="tx2"/>
                  </a:solidFill>
                  <a:round/>
                  <a:headEnd/>
                  <a:tailEnd/>
                </a:ln>
                <a:effectLst/>
              </p:spPr>
              <p:txBody>
                <a:bodyPr wrap="none" anchor="ctr"/>
                <a:lstStyle/>
                <a:p>
                  <a:endParaRPr lang="fi-FI"/>
                </a:p>
              </p:txBody>
            </p:sp>
            <p:sp>
              <p:nvSpPr>
                <p:cNvPr id="1235977" name="Oval 9"/>
                <p:cNvSpPr>
                  <a:spLocks noChangeArrowheads="1"/>
                </p:cNvSpPr>
                <p:nvPr/>
              </p:nvSpPr>
              <p:spPr bwMode="auto">
                <a:xfrm>
                  <a:off x="4800" y="1876"/>
                  <a:ext cx="144" cy="144"/>
                </a:xfrm>
                <a:prstGeom prst="ellipse">
                  <a:avLst/>
                </a:prstGeom>
                <a:solidFill>
                  <a:schemeClr val="tx2"/>
                </a:solidFill>
                <a:ln w="9525">
                  <a:solidFill>
                    <a:schemeClr val="tx2"/>
                  </a:solidFill>
                  <a:round/>
                  <a:headEnd/>
                  <a:tailEnd/>
                </a:ln>
                <a:effectLst/>
              </p:spPr>
              <p:txBody>
                <a:bodyPr wrap="none" anchor="ctr"/>
                <a:lstStyle/>
                <a:p>
                  <a:endParaRPr lang="fi-FI"/>
                </a:p>
              </p:txBody>
            </p:sp>
            <p:grpSp>
              <p:nvGrpSpPr>
                <p:cNvPr id="5" name="Group 10"/>
                <p:cNvGrpSpPr>
                  <a:grpSpLocks/>
                </p:cNvGrpSpPr>
                <p:nvPr/>
              </p:nvGrpSpPr>
              <p:grpSpPr bwMode="auto">
                <a:xfrm>
                  <a:off x="1008" y="1434"/>
                  <a:ext cx="3792" cy="1536"/>
                  <a:chOff x="672" y="1248"/>
                  <a:chExt cx="3792" cy="1536"/>
                </a:xfrm>
              </p:grpSpPr>
              <p:sp>
                <p:nvSpPr>
                  <p:cNvPr id="1235979" name="Line 11"/>
                  <p:cNvSpPr>
                    <a:spLocks noChangeShapeType="1"/>
                  </p:cNvSpPr>
                  <p:nvPr/>
                </p:nvSpPr>
                <p:spPr bwMode="auto">
                  <a:xfrm flipV="1">
                    <a:off x="672" y="1248"/>
                    <a:ext cx="720" cy="480"/>
                  </a:xfrm>
                  <a:prstGeom prst="line">
                    <a:avLst/>
                  </a:prstGeom>
                  <a:noFill/>
                  <a:ln w="38100">
                    <a:solidFill>
                      <a:schemeClr val="accent2"/>
                    </a:solidFill>
                    <a:round/>
                    <a:headEnd/>
                    <a:tailEnd/>
                  </a:ln>
                  <a:effectLst/>
                </p:spPr>
                <p:txBody>
                  <a:bodyPr anchor="ctr"/>
                  <a:lstStyle/>
                  <a:p>
                    <a:endParaRPr lang="fi-FI"/>
                  </a:p>
                </p:txBody>
              </p:sp>
              <p:sp>
                <p:nvSpPr>
                  <p:cNvPr id="1235980" name="Line 12"/>
                  <p:cNvSpPr>
                    <a:spLocks noChangeShapeType="1"/>
                  </p:cNvSpPr>
                  <p:nvPr/>
                </p:nvSpPr>
                <p:spPr bwMode="auto">
                  <a:xfrm>
                    <a:off x="1392" y="1248"/>
                    <a:ext cx="816" cy="864"/>
                  </a:xfrm>
                  <a:prstGeom prst="line">
                    <a:avLst/>
                  </a:prstGeom>
                  <a:noFill/>
                  <a:ln w="38100">
                    <a:solidFill>
                      <a:schemeClr val="accent2"/>
                    </a:solidFill>
                    <a:round/>
                    <a:headEnd/>
                    <a:tailEnd/>
                  </a:ln>
                  <a:effectLst/>
                </p:spPr>
                <p:txBody>
                  <a:bodyPr anchor="ctr"/>
                  <a:lstStyle/>
                  <a:p>
                    <a:endParaRPr lang="fi-FI"/>
                  </a:p>
                </p:txBody>
              </p:sp>
              <p:sp>
                <p:nvSpPr>
                  <p:cNvPr id="1235981" name="Line 13"/>
                  <p:cNvSpPr>
                    <a:spLocks noChangeShapeType="1"/>
                  </p:cNvSpPr>
                  <p:nvPr/>
                </p:nvSpPr>
                <p:spPr bwMode="auto">
                  <a:xfrm flipV="1">
                    <a:off x="2208" y="1488"/>
                    <a:ext cx="528" cy="624"/>
                  </a:xfrm>
                  <a:prstGeom prst="line">
                    <a:avLst/>
                  </a:prstGeom>
                  <a:noFill/>
                  <a:ln w="38100">
                    <a:solidFill>
                      <a:schemeClr val="accent2"/>
                    </a:solidFill>
                    <a:round/>
                    <a:headEnd/>
                    <a:tailEnd/>
                  </a:ln>
                  <a:effectLst/>
                </p:spPr>
                <p:txBody>
                  <a:bodyPr anchor="ctr"/>
                  <a:lstStyle/>
                  <a:p>
                    <a:endParaRPr lang="fi-FI"/>
                  </a:p>
                </p:txBody>
              </p:sp>
              <p:sp>
                <p:nvSpPr>
                  <p:cNvPr id="1235982" name="Line 14"/>
                  <p:cNvSpPr>
                    <a:spLocks noChangeShapeType="1"/>
                  </p:cNvSpPr>
                  <p:nvPr/>
                </p:nvSpPr>
                <p:spPr bwMode="auto">
                  <a:xfrm>
                    <a:off x="2736" y="1488"/>
                    <a:ext cx="480" cy="1296"/>
                  </a:xfrm>
                  <a:prstGeom prst="line">
                    <a:avLst/>
                  </a:prstGeom>
                  <a:noFill/>
                  <a:ln w="38100">
                    <a:solidFill>
                      <a:schemeClr val="accent2"/>
                    </a:solidFill>
                    <a:round/>
                    <a:headEnd/>
                    <a:tailEnd/>
                  </a:ln>
                  <a:effectLst/>
                </p:spPr>
                <p:txBody>
                  <a:bodyPr anchor="ctr"/>
                  <a:lstStyle/>
                  <a:p>
                    <a:endParaRPr lang="fi-FI"/>
                  </a:p>
                </p:txBody>
              </p:sp>
              <p:sp>
                <p:nvSpPr>
                  <p:cNvPr id="1235983" name="Line 15"/>
                  <p:cNvSpPr>
                    <a:spLocks noChangeShapeType="1"/>
                  </p:cNvSpPr>
                  <p:nvPr/>
                </p:nvSpPr>
                <p:spPr bwMode="auto">
                  <a:xfrm flipV="1">
                    <a:off x="3216" y="1680"/>
                    <a:ext cx="816" cy="1104"/>
                  </a:xfrm>
                  <a:prstGeom prst="line">
                    <a:avLst/>
                  </a:prstGeom>
                  <a:noFill/>
                  <a:ln w="38100">
                    <a:solidFill>
                      <a:schemeClr val="accent2"/>
                    </a:solidFill>
                    <a:round/>
                    <a:headEnd/>
                    <a:tailEnd/>
                  </a:ln>
                  <a:effectLst/>
                </p:spPr>
                <p:txBody>
                  <a:bodyPr anchor="ctr"/>
                  <a:lstStyle/>
                  <a:p>
                    <a:endParaRPr lang="fi-FI"/>
                  </a:p>
                </p:txBody>
              </p:sp>
              <p:sp>
                <p:nvSpPr>
                  <p:cNvPr id="1235984" name="Line 16"/>
                  <p:cNvSpPr>
                    <a:spLocks noChangeShapeType="1"/>
                  </p:cNvSpPr>
                  <p:nvPr/>
                </p:nvSpPr>
                <p:spPr bwMode="auto">
                  <a:xfrm>
                    <a:off x="4032" y="1680"/>
                    <a:ext cx="432" cy="96"/>
                  </a:xfrm>
                  <a:prstGeom prst="line">
                    <a:avLst/>
                  </a:prstGeom>
                  <a:noFill/>
                  <a:ln w="38100">
                    <a:solidFill>
                      <a:schemeClr val="accent2"/>
                    </a:solidFill>
                    <a:round/>
                    <a:headEnd/>
                    <a:tailEnd/>
                  </a:ln>
                  <a:effectLst/>
                </p:spPr>
                <p:txBody>
                  <a:bodyPr anchor="ctr"/>
                  <a:lstStyle/>
                  <a:p>
                    <a:endParaRPr lang="fi-FI"/>
                  </a:p>
                </p:txBody>
              </p:sp>
            </p:grpSp>
            <p:sp>
              <p:nvSpPr>
                <p:cNvPr id="1235985" name="Freeform 17"/>
                <p:cNvSpPr>
                  <a:spLocks/>
                </p:cNvSpPr>
                <p:nvPr/>
              </p:nvSpPr>
              <p:spPr bwMode="auto">
                <a:xfrm>
                  <a:off x="926" y="2025"/>
                  <a:ext cx="3960" cy="1883"/>
                </a:xfrm>
                <a:custGeom>
                  <a:avLst/>
                  <a:gdLst/>
                  <a:ahLst/>
                  <a:cxnLst>
                    <a:cxn ang="0">
                      <a:pos x="30" y="305"/>
                    </a:cxn>
                    <a:cxn ang="0">
                      <a:pos x="180" y="397"/>
                    </a:cxn>
                    <a:cxn ang="0">
                      <a:pos x="344" y="378"/>
                    </a:cxn>
                    <a:cxn ang="0">
                      <a:pos x="494" y="373"/>
                    </a:cxn>
                    <a:cxn ang="0">
                      <a:pos x="509" y="702"/>
                    </a:cxn>
                    <a:cxn ang="0">
                      <a:pos x="673" y="915"/>
                    </a:cxn>
                    <a:cxn ang="0">
                      <a:pos x="765" y="973"/>
                    </a:cxn>
                    <a:cxn ang="0">
                      <a:pos x="819" y="1022"/>
                    </a:cxn>
                    <a:cxn ang="0">
                      <a:pos x="915" y="1046"/>
                    </a:cxn>
                    <a:cxn ang="0">
                      <a:pos x="1022" y="978"/>
                    </a:cxn>
                    <a:cxn ang="0">
                      <a:pos x="1090" y="891"/>
                    </a:cxn>
                    <a:cxn ang="0">
                      <a:pos x="1080" y="591"/>
                    </a:cxn>
                    <a:cxn ang="0">
                      <a:pos x="1123" y="518"/>
                    </a:cxn>
                    <a:cxn ang="0">
                      <a:pos x="1448" y="542"/>
                    </a:cxn>
                    <a:cxn ang="0">
                      <a:pos x="1554" y="712"/>
                    </a:cxn>
                    <a:cxn ang="0">
                      <a:pos x="1569" y="964"/>
                    </a:cxn>
                    <a:cxn ang="0">
                      <a:pos x="1612" y="1026"/>
                    </a:cxn>
                    <a:cxn ang="0">
                      <a:pos x="1724" y="1065"/>
                    </a:cxn>
                    <a:cxn ang="0">
                      <a:pos x="1801" y="1114"/>
                    </a:cxn>
                    <a:cxn ang="0">
                      <a:pos x="1903" y="1147"/>
                    </a:cxn>
                    <a:cxn ang="0">
                      <a:pos x="2029" y="1225"/>
                    </a:cxn>
                    <a:cxn ang="0">
                      <a:pos x="2101" y="935"/>
                    </a:cxn>
                    <a:cxn ang="0">
                      <a:pos x="2174" y="789"/>
                    </a:cxn>
                    <a:cxn ang="0">
                      <a:pos x="2300" y="659"/>
                    </a:cxn>
                    <a:cxn ang="0">
                      <a:pos x="2464" y="625"/>
                    </a:cxn>
                    <a:cxn ang="0">
                      <a:pos x="2590" y="538"/>
                    </a:cxn>
                    <a:cxn ang="0">
                      <a:pos x="2726" y="528"/>
                    </a:cxn>
                    <a:cxn ang="0">
                      <a:pos x="2789" y="634"/>
                    </a:cxn>
                    <a:cxn ang="0">
                      <a:pos x="2890" y="659"/>
                    </a:cxn>
                    <a:cxn ang="0">
                      <a:pos x="2866" y="915"/>
                    </a:cxn>
                    <a:cxn ang="0">
                      <a:pos x="2856" y="1118"/>
                    </a:cxn>
                    <a:cxn ang="0">
                      <a:pos x="2934" y="1273"/>
                    </a:cxn>
                    <a:cxn ang="0">
                      <a:pos x="2919" y="1341"/>
                    </a:cxn>
                    <a:cxn ang="0">
                      <a:pos x="3011" y="1438"/>
                    </a:cxn>
                    <a:cxn ang="0">
                      <a:pos x="3060" y="1593"/>
                    </a:cxn>
                    <a:cxn ang="0">
                      <a:pos x="3152" y="1675"/>
                    </a:cxn>
                    <a:cxn ang="0">
                      <a:pos x="3224" y="1801"/>
                    </a:cxn>
                    <a:cxn ang="0">
                      <a:pos x="3423" y="1728"/>
                    </a:cxn>
                    <a:cxn ang="0">
                      <a:pos x="3495" y="1806"/>
                    </a:cxn>
                    <a:cxn ang="0">
                      <a:pos x="3631" y="1883"/>
                    </a:cxn>
                    <a:cxn ang="0">
                      <a:pos x="3761" y="1806"/>
                    </a:cxn>
                    <a:cxn ang="0">
                      <a:pos x="3921" y="1719"/>
                    </a:cxn>
                    <a:cxn ang="0">
                      <a:pos x="3960" y="1709"/>
                    </a:cxn>
                  </a:cxnLst>
                  <a:rect l="0" t="0" r="r" b="b"/>
                  <a:pathLst>
                    <a:path w="3960" h="1883">
                      <a:moveTo>
                        <a:pt x="30" y="0"/>
                      </a:moveTo>
                      <a:cubicBezTo>
                        <a:pt x="26" y="90"/>
                        <a:pt x="0" y="220"/>
                        <a:pt x="30" y="305"/>
                      </a:cubicBezTo>
                      <a:cubicBezTo>
                        <a:pt x="40" y="332"/>
                        <a:pt x="59" y="333"/>
                        <a:pt x="78" y="349"/>
                      </a:cubicBezTo>
                      <a:cubicBezTo>
                        <a:pt x="115" y="379"/>
                        <a:pt x="133" y="389"/>
                        <a:pt x="180" y="397"/>
                      </a:cubicBezTo>
                      <a:cubicBezTo>
                        <a:pt x="222" y="395"/>
                        <a:pt x="263" y="395"/>
                        <a:pt x="305" y="392"/>
                      </a:cubicBezTo>
                      <a:cubicBezTo>
                        <a:pt x="337" y="390"/>
                        <a:pt x="313" y="388"/>
                        <a:pt x="344" y="378"/>
                      </a:cubicBezTo>
                      <a:cubicBezTo>
                        <a:pt x="359" y="373"/>
                        <a:pt x="414" y="369"/>
                        <a:pt x="422" y="368"/>
                      </a:cubicBezTo>
                      <a:cubicBezTo>
                        <a:pt x="446" y="370"/>
                        <a:pt x="472" y="364"/>
                        <a:pt x="494" y="373"/>
                      </a:cubicBezTo>
                      <a:cubicBezTo>
                        <a:pt x="503" y="377"/>
                        <a:pt x="504" y="402"/>
                        <a:pt x="504" y="402"/>
                      </a:cubicBezTo>
                      <a:cubicBezTo>
                        <a:pt x="506" y="502"/>
                        <a:pt x="506" y="602"/>
                        <a:pt x="509" y="702"/>
                      </a:cubicBezTo>
                      <a:cubicBezTo>
                        <a:pt x="510" y="744"/>
                        <a:pt x="539" y="866"/>
                        <a:pt x="586" y="876"/>
                      </a:cubicBezTo>
                      <a:cubicBezTo>
                        <a:pt x="613" y="894"/>
                        <a:pt x="642" y="904"/>
                        <a:pt x="673" y="915"/>
                      </a:cubicBezTo>
                      <a:cubicBezTo>
                        <a:pt x="692" y="921"/>
                        <a:pt x="703" y="934"/>
                        <a:pt x="722" y="939"/>
                      </a:cubicBezTo>
                      <a:cubicBezTo>
                        <a:pt x="744" y="963"/>
                        <a:pt x="730" y="950"/>
                        <a:pt x="765" y="973"/>
                      </a:cubicBezTo>
                      <a:cubicBezTo>
                        <a:pt x="770" y="976"/>
                        <a:pt x="780" y="983"/>
                        <a:pt x="780" y="983"/>
                      </a:cubicBezTo>
                      <a:cubicBezTo>
                        <a:pt x="791" y="1000"/>
                        <a:pt x="802" y="1011"/>
                        <a:pt x="819" y="1022"/>
                      </a:cubicBezTo>
                      <a:cubicBezTo>
                        <a:pt x="830" y="1039"/>
                        <a:pt x="839" y="1044"/>
                        <a:pt x="857" y="1051"/>
                      </a:cubicBezTo>
                      <a:cubicBezTo>
                        <a:pt x="876" y="1049"/>
                        <a:pt x="896" y="1051"/>
                        <a:pt x="915" y="1046"/>
                      </a:cubicBezTo>
                      <a:cubicBezTo>
                        <a:pt x="959" y="1033"/>
                        <a:pt x="932" y="1030"/>
                        <a:pt x="954" y="1012"/>
                      </a:cubicBezTo>
                      <a:cubicBezTo>
                        <a:pt x="976" y="994"/>
                        <a:pt x="997" y="989"/>
                        <a:pt x="1022" y="978"/>
                      </a:cubicBezTo>
                      <a:cubicBezTo>
                        <a:pt x="1031" y="969"/>
                        <a:pt x="1043" y="963"/>
                        <a:pt x="1051" y="954"/>
                      </a:cubicBezTo>
                      <a:cubicBezTo>
                        <a:pt x="1067" y="935"/>
                        <a:pt x="1076" y="911"/>
                        <a:pt x="1090" y="891"/>
                      </a:cubicBezTo>
                      <a:cubicBezTo>
                        <a:pt x="1095" y="872"/>
                        <a:pt x="1108" y="866"/>
                        <a:pt x="1114" y="847"/>
                      </a:cubicBezTo>
                      <a:cubicBezTo>
                        <a:pt x="1128" y="756"/>
                        <a:pt x="1134" y="667"/>
                        <a:pt x="1080" y="591"/>
                      </a:cubicBezTo>
                      <a:cubicBezTo>
                        <a:pt x="1082" y="578"/>
                        <a:pt x="1082" y="565"/>
                        <a:pt x="1085" y="552"/>
                      </a:cubicBezTo>
                      <a:cubicBezTo>
                        <a:pt x="1089" y="536"/>
                        <a:pt x="1113" y="525"/>
                        <a:pt x="1123" y="518"/>
                      </a:cubicBezTo>
                      <a:cubicBezTo>
                        <a:pt x="1173" y="484"/>
                        <a:pt x="1217" y="472"/>
                        <a:pt x="1278" y="465"/>
                      </a:cubicBezTo>
                      <a:cubicBezTo>
                        <a:pt x="1373" y="471"/>
                        <a:pt x="1395" y="468"/>
                        <a:pt x="1448" y="542"/>
                      </a:cubicBezTo>
                      <a:cubicBezTo>
                        <a:pt x="1461" y="582"/>
                        <a:pt x="1495" y="627"/>
                        <a:pt x="1525" y="659"/>
                      </a:cubicBezTo>
                      <a:cubicBezTo>
                        <a:pt x="1532" y="679"/>
                        <a:pt x="1542" y="695"/>
                        <a:pt x="1554" y="712"/>
                      </a:cubicBezTo>
                      <a:cubicBezTo>
                        <a:pt x="1557" y="723"/>
                        <a:pt x="1563" y="734"/>
                        <a:pt x="1564" y="746"/>
                      </a:cubicBezTo>
                      <a:cubicBezTo>
                        <a:pt x="1567" y="819"/>
                        <a:pt x="1566" y="891"/>
                        <a:pt x="1569" y="964"/>
                      </a:cubicBezTo>
                      <a:cubicBezTo>
                        <a:pt x="1569" y="971"/>
                        <a:pt x="1578" y="1002"/>
                        <a:pt x="1583" y="1007"/>
                      </a:cubicBezTo>
                      <a:cubicBezTo>
                        <a:pt x="1591" y="1015"/>
                        <a:pt x="1604" y="1018"/>
                        <a:pt x="1612" y="1026"/>
                      </a:cubicBezTo>
                      <a:cubicBezTo>
                        <a:pt x="1616" y="1030"/>
                        <a:pt x="1633" y="1049"/>
                        <a:pt x="1641" y="1051"/>
                      </a:cubicBezTo>
                      <a:cubicBezTo>
                        <a:pt x="1667" y="1058"/>
                        <a:pt x="1697" y="1058"/>
                        <a:pt x="1724" y="1065"/>
                      </a:cubicBezTo>
                      <a:cubicBezTo>
                        <a:pt x="1755" y="1087"/>
                        <a:pt x="1719" y="1064"/>
                        <a:pt x="1758" y="1080"/>
                      </a:cubicBezTo>
                      <a:cubicBezTo>
                        <a:pt x="1775" y="1087"/>
                        <a:pt x="1786" y="1104"/>
                        <a:pt x="1801" y="1114"/>
                      </a:cubicBezTo>
                      <a:cubicBezTo>
                        <a:pt x="1816" y="1156"/>
                        <a:pt x="1797" y="1115"/>
                        <a:pt x="1888" y="1133"/>
                      </a:cubicBezTo>
                      <a:cubicBezTo>
                        <a:pt x="1895" y="1134"/>
                        <a:pt x="1898" y="1142"/>
                        <a:pt x="1903" y="1147"/>
                      </a:cubicBezTo>
                      <a:cubicBezTo>
                        <a:pt x="1936" y="1180"/>
                        <a:pt x="1942" y="1218"/>
                        <a:pt x="1966" y="1254"/>
                      </a:cubicBezTo>
                      <a:cubicBezTo>
                        <a:pt x="2021" y="1247"/>
                        <a:pt x="1993" y="1249"/>
                        <a:pt x="2029" y="1225"/>
                      </a:cubicBezTo>
                      <a:cubicBezTo>
                        <a:pt x="2059" y="1176"/>
                        <a:pt x="2053" y="1078"/>
                        <a:pt x="2067" y="1017"/>
                      </a:cubicBezTo>
                      <a:cubicBezTo>
                        <a:pt x="2074" y="986"/>
                        <a:pt x="2088" y="963"/>
                        <a:pt x="2101" y="935"/>
                      </a:cubicBezTo>
                      <a:cubicBezTo>
                        <a:pt x="2119" y="898"/>
                        <a:pt x="2126" y="849"/>
                        <a:pt x="2150" y="814"/>
                      </a:cubicBezTo>
                      <a:cubicBezTo>
                        <a:pt x="2157" y="805"/>
                        <a:pt x="2167" y="798"/>
                        <a:pt x="2174" y="789"/>
                      </a:cubicBezTo>
                      <a:cubicBezTo>
                        <a:pt x="2191" y="767"/>
                        <a:pt x="2232" y="681"/>
                        <a:pt x="2251" y="668"/>
                      </a:cubicBezTo>
                      <a:cubicBezTo>
                        <a:pt x="2257" y="664"/>
                        <a:pt x="2298" y="659"/>
                        <a:pt x="2300" y="659"/>
                      </a:cubicBezTo>
                      <a:cubicBezTo>
                        <a:pt x="2348" y="642"/>
                        <a:pt x="2276" y="666"/>
                        <a:pt x="2406" y="644"/>
                      </a:cubicBezTo>
                      <a:cubicBezTo>
                        <a:pt x="2426" y="641"/>
                        <a:pt x="2464" y="625"/>
                        <a:pt x="2464" y="625"/>
                      </a:cubicBezTo>
                      <a:cubicBezTo>
                        <a:pt x="2482" y="613"/>
                        <a:pt x="2541" y="582"/>
                        <a:pt x="2556" y="567"/>
                      </a:cubicBezTo>
                      <a:cubicBezTo>
                        <a:pt x="2568" y="555"/>
                        <a:pt x="2575" y="545"/>
                        <a:pt x="2590" y="538"/>
                      </a:cubicBezTo>
                      <a:cubicBezTo>
                        <a:pt x="2612" y="527"/>
                        <a:pt x="2640" y="526"/>
                        <a:pt x="2663" y="523"/>
                      </a:cubicBezTo>
                      <a:cubicBezTo>
                        <a:pt x="2684" y="525"/>
                        <a:pt x="2706" y="523"/>
                        <a:pt x="2726" y="528"/>
                      </a:cubicBezTo>
                      <a:cubicBezTo>
                        <a:pt x="2738" y="531"/>
                        <a:pt x="2753" y="559"/>
                        <a:pt x="2764" y="567"/>
                      </a:cubicBezTo>
                      <a:cubicBezTo>
                        <a:pt x="2772" y="589"/>
                        <a:pt x="2779" y="613"/>
                        <a:pt x="2789" y="634"/>
                      </a:cubicBezTo>
                      <a:cubicBezTo>
                        <a:pt x="2792" y="639"/>
                        <a:pt x="2792" y="648"/>
                        <a:pt x="2798" y="649"/>
                      </a:cubicBezTo>
                      <a:cubicBezTo>
                        <a:pt x="2828" y="656"/>
                        <a:pt x="2859" y="655"/>
                        <a:pt x="2890" y="659"/>
                      </a:cubicBezTo>
                      <a:cubicBezTo>
                        <a:pt x="2908" y="661"/>
                        <a:pt x="2943" y="673"/>
                        <a:pt x="2943" y="673"/>
                      </a:cubicBezTo>
                      <a:cubicBezTo>
                        <a:pt x="2934" y="774"/>
                        <a:pt x="2923" y="835"/>
                        <a:pt x="2866" y="915"/>
                      </a:cubicBezTo>
                      <a:cubicBezTo>
                        <a:pt x="2855" y="948"/>
                        <a:pt x="2839" y="977"/>
                        <a:pt x="2832" y="1012"/>
                      </a:cubicBezTo>
                      <a:cubicBezTo>
                        <a:pt x="2835" y="1054"/>
                        <a:pt x="2821" y="1095"/>
                        <a:pt x="2856" y="1118"/>
                      </a:cubicBezTo>
                      <a:cubicBezTo>
                        <a:pt x="2870" y="1138"/>
                        <a:pt x="2879" y="1160"/>
                        <a:pt x="2895" y="1177"/>
                      </a:cubicBezTo>
                      <a:cubicBezTo>
                        <a:pt x="2907" y="1210"/>
                        <a:pt x="2925" y="1238"/>
                        <a:pt x="2934" y="1273"/>
                      </a:cubicBezTo>
                      <a:cubicBezTo>
                        <a:pt x="2932" y="1286"/>
                        <a:pt x="2932" y="1299"/>
                        <a:pt x="2929" y="1312"/>
                      </a:cubicBezTo>
                      <a:cubicBezTo>
                        <a:pt x="2927" y="1322"/>
                        <a:pt x="2919" y="1341"/>
                        <a:pt x="2919" y="1341"/>
                      </a:cubicBezTo>
                      <a:cubicBezTo>
                        <a:pt x="2921" y="1365"/>
                        <a:pt x="2910" y="1398"/>
                        <a:pt x="2929" y="1414"/>
                      </a:cubicBezTo>
                      <a:cubicBezTo>
                        <a:pt x="2949" y="1430"/>
                        <a:pt x="2988" y="1430"/>
                        <a:pt x="3011" y="1438"/>
                      </a:cubicBezTo>
                      <a:cubicBezTo>
                        <a:pt x="3023" y="1472"/>
                        <a:pt x="3034" y="1506"/>
                        <a:pt x="3045" y="1540"/>
                      </a:cubicBezTo>
                      <a:cubicBezTo>
                        <a:pt x="3051" y="1557"/>
                        <a:pt x="3046" y="1581"/>
                        <a:pt x="3060" y="1593"/>
                      </a:cubicBezTo>
                      <a:cubicBezTo>
                        <a:pt x="3087" y="1616"/>
                        <a:pt x="3131" y="1600"/>
                        <a:pt x="3166" y="1602"/>
                      </a:cubicBezTo>
                      <a:cubicBezTo>
                        <a:pt x="3163" y="1632"/>
                        <a:pt x="3160" y="1649"/>
                        <a:pt x="3152" y="1675"/>
                      </a:cubicBezTo>
                      <a:cubicBezTo>
                        <a:pt x="3155" y="1743"/>
                        <a:pt x="3138" y="1768"/>
                        <a:pt x="3176" y="1806"/>
                      </a:cubicBezTo>
                      <a:cubicBezTo>
                        <a:pt x="3192" y="1804"/>
                        <a:pt x="3208" y="1804"/>
                        <a:pt x="3224" y="1801"/>
                      </a:cubicBezTo>
                      <a:cubicBezTo>
                        <a:pt x="3234" y="1799"/>
                        <a:pt x="3253" y="1791"/>
                        <a:pt x="3253" y="1791"/>
                      </a:cubicBezTo>
                      <a:cubicBezTo>
                        <a:pt x="3322" y="1726"/>
                        <a:pt x="3308" y="1734"/>
                        <a:pt x="3423" y="1728"/>
                      </a:cubicBezTo>
                      <a:cubicBezTo>
                        <a:pt x="3436" y="1730"/>
                        <a:pt x="3449" y="1728"/>
                        <a:pt x="3461" y="1733"/>
                      </a:cubicBezTo>
                      <a:cubicBezTo>
                        <a:pt x="3471" y="1737"/>
                        <a:pt x="3486" y="1792"/>
                        <a:pt x="3495" y="1806"/>
                      </a:cubicBezTo>
                      <a:cubicBezTo>
                        <a:pt x="3514" y="1834"/>
                        <a:pt x="3555" y="1859"/>
                        <a:pt x="3587" y="1864"/>
                      </a:cubicBezTo>
                      <a:cubicBezTo>
                        <a:pt x="3604" y="1876"/>
                        <a:pt x="3609" y="1883"/>
                        <a:pt x="3631" y="1883"/>
                      </a:cubicBezTo>
                      <a:cubicBezTo>
                        <a:pt x="3648" y="1883"/>
                        <a:pt x="3678" y="1856"/>
                        <a:pt x="3689" y="1849"/>
                      </a:cubicBezTo>
                      <a:cubicBezTo>
                        <a:pt x="3710" y="1835"/>
                        <a:pt x="3743" y="1821"/>
                        <a:pt x="3761" y="1806"/>
                      </a:cubicBezTo>
                      <a:cubicBezTo>
                        <a:pt x="3784" y="1787"/>
                        <a:pt x="3806" y="1772"/>
                        <a:pt x="3834" y="1762"/>
                      </a:cubicBezTo>
                      <a:cubicBezTo>
                        <a:pt x="3853" y="1735"/>
                        <a:pt x="3890" y="1726"/>
                        <a:pt x="3921" y="1719"/>
                      </a:cubicBezTo>
                      <a:cubicBezTo>
                        <a:pt x="3929" y="1717"/>
                        <a:pt x="3937" y="1716"/>
                        <a:pt x="3945" y="1714"/>
                      </a:cubicBezTo>
                      <a:cubicBezTo>
                        <a:pt x="3950" y="1713"/>
                        <a:pt x="3960" y="1709"/>
                        <a:pt x="3960" y="1709"/>
                      </a:cubicBezTo>
                    </a:path>
                  </a:pathLst>
                </a:custGeom>
                <a:noFill/>
                <a:ln w="38100" cap="flat" cmpd="sng">
                  <a:solidFill>
                    <a:schemeClr val="hlink"/>
                  </a:solidFill>
                  <a:prstDash val="solid"/>
                  <a:round/>
                  <a:headEnd/>
                  <a:tailEnd/>
                </a:ln>
                <a:effectLst/>
              </p:spPr>
              <p:txBody>
                <a:bodyPr anchor="ctr"/>
                <a:lstStyle/>
                <a:p>
                  <a:endParaRPr lang="fi-FI"/>
                </a:p>
              </p:txBody>
            </p:sp>
            <p:sp>
              <p:nvSpPr>
                <p:cNvPr id="1235986" name="Oval 18"/>
                <p:cNvSpPr>
                  <a:spLocks noChangeArrowheads="1"/>
                </p:cNvSpPr>
                <p:nvPr/>
              </p:nvSpPr>
              <p:spPr bwMode="auto">
                <a:xfrm>
                  <a:off x="4848" y="3690"/>
                  <a:ext cx="144" cy="144"/>
                </a:xfrm>
                <a:prstGeom prst="ellipse">
                  <a:avLst/>
                </a:prstGeom>
                <a:solidFill>
                  <a:schemeClr val="tx2"/>
                </a:solidFill>
                <a:ln w="9525">
                  <a:solidFill>
                    <a:schemeClr val="tx2"/>
                  </a:solidFill>
                  <a:round/>
                  <a:headEnd/>
                  <a:tailEnd/>
                </a:ln>
                <a:effectLst/>
              </p:spPr>
              <p:txBody>
                <a:bodyPr wrap="none" anchor="ctr"/>
                <a:lstStyle/>
                <a:p>
                  <a:endParaRPr lang="fi-FI"/>
                </a:p>
              </p:txBody>
            </p:sp>
          </p:grpSp>
        </p:grpSp>
      </p:grpSp>
      <p:sp>
        <p:nvSpPr>
          <p:cNvPr id="1235993" name="Text Box 25"/>
          <p:cNvSpPr txBox="1">
            <a:spLocks noChangeArrowheads="1"/>
          </p:cNvSpPr>
          <p:nvPr/>
        </p:nvSpPr>
        <p:spPr bwMode="auto">
          <a:xfrm>
            <a:off x="457200" y="3886200"/>
            <a:ext cx="2971800" cy="366713"/>
          </a:xfrm>
          <a:prstGeom prst="rect">
            <a:avLst/>
          </a:prstGeom>
          <a:noFill/>
          <a:ln w="9525">
            <a:noFill/>
            <a:miter lim="800000"/>
            <a:headEnd/>
            <a:tailEnd/>
          </a:ln>
          <a:effectLst/>
        </p:spPr>
        <p:txBody>
          <a:bodyPr>
            <a:spAutoFit/>
          </a:bodyPr>
          <a:lstStyle/>
          <a:p>
            <a:pPr algn="ctr" eaLnBrk="1" hangingPunct="1">
              <a:spcBef>
                <a:spcPct val="50000"/>
              </a:spcBef>
            </a:pPr>
            <a:r>
              <a:rPr lang="en-GB">
                <a:latin typeface="Arial" pitchFamily="34" charset="0"/>
              </a:rPr>
              <a:t>Essential Differences:</a:t>
            </a:r>
          </a:p>
        </p:txBody>
      </p:sp>
      <p:sp>
        <p:nvSpPr>
          <p:cNvPr id="1235994" name="Text Box 26"/>
          <p:cNvSpPr txBox="1">
            <a:spLocks noChangeArrowheads="1"/>
          </p:cNvSpPr>
          <p:nvPr/>
        </p:nvSpPr>
        <p:spPr bwMode="auto">
          <a:xfrm>
            <a:off x="304800" y="4419600"/>
            <a:ext cx="2209800" cy="1803400"/>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b="1">
                <a:solidFill>
                  <a:schemeClr val="accent1"/>
                </a:solidFill>
              </a:rPr>
              <a:t>PLAN-DRIVEN</a:t>
            </a:r>
          </a:p>
          <a:p>
            <a:pPr algn="ctr">
              <a:spcBef>
                <a:spcPct val="50000"/>
              </a:spcBef>
            </a:pPr>
            <a:r>
              <a:rPr lang="en-GB" sz="1600">
                <a:solidFill>
                  <a:schemeClr val="accent1"/>
                </a:solidFill>
              </a:rPr>
              <a:t>Fit for well-understood and repeatable processes</a:t>
            </a:r>
          </a:p>
          <a:p>
            <a:pPr algn="ctr">
              <a:spcBef>
                <a:spcPct val="50000"/>
              </a:spcBef>
            </a:pPr>
            <a:r>
              <a:rPr lang="en-GB" sz="1600">
                <a:solidFill>
                  <a:schemeClr val="accent1"/>
                </a:solidFill>
              </a:rPr>
              <a:t>Plan as the center of the project</a:t>
            </a:r>
          </a:p>
        </p:txBody>
      </p:sp>
      <p:sp>
        <p:nvSpPr>
          <p:cNvPr id="1235995" name="Text Box 27"/>
          <p:cNvSpPr txBox="1">
            <a:spLocks noChangeArrowheads="1"/>
          </p:cNvSpPr>
          <p:nvPr/>
        </p:nvSpPr>
        <p:spPr bwMode="auto">
          <a:xfrm>
            <a:off x="2895600" y="4419600"/>
            <a:ext cx="2133600" cy="1803400"/>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b="1">
                <a:solidFill>
                  <a:schemeClr val="accent2"/>
                </a:solidFill>
              </a:rPr>
              <a:t>AGILE</a:t>
            </a:r>
          </a:p>
          <a:p>
            <a:pPr algn="ctr">
              <a:spcBef>
                <a:spcPct val="50000"/>
              </a:spcBef>
            </a:pPr>
            <a:r>
              <a:rPr lang="en-GB" sz="1600">
                <a:solidFill>
                  <a:schemeClr val="accent2"/>
                </a:solidFill>
              </a:rPr>
              <a:t>Fit for complex and unanticipated processes</a:t>
            </a:r>
          </a:p>
          <a:p>
            <a:pPr algn="ctr">
              <a:spcBef>
                <a:spcPct val="50000"/>
              </a:spcBef>
            </a:pPr>
            <a:r>
              <a:rPr lang="en-GB" sz="1600">
                <a:solidFill>
                  <a:schemeClr val="accent2"/>
                </a:solidFill>
              </a:rPr>
              <a:t>Results as the center of the project</a:t>
            </a:r>
          </a:p>
        </p:txBody>
      </p:sp>
      <p:sp>
        <p:nvSpPr>
          <p:cNvPr id="25" name="Slide Number Placeholder 24"/>
          <p:cNvSpPr>
            <a:spLocks noGrp="1"/>
          </p:cNvSpPr>
          <p:nvPr>
            <p:ph type="sldNum" sz="quarter" idx="12"/>
          </p:nvPr>
        </p:nvSpPr>
        <p:spPr/>
        <p:txBody>
          <a:bodyPr/>
          <a:lstStyle/>
          <a:p>
            <a:fld id="{B6F15528-21DE-4FAA-801E-634DDDAF4B2B}" type="slidenum">
              <a:rPr lang="en-US" smtClean="0"/>
              <a:pPr/>
              <a:t>20</a:t>
            </a:fld>
            <a:endParaRPr lang="en-US"/>
          </a:p>
        </p:txBody>
      </p:sp>
      <p:sp>
        <p:nvSpPr>
          <p:cNvPr id="26" name="Footer Placeholder 25"/>
          <p:cNvSpPr>
            <a:spLocks noGrp="1"/>
          </p:cNvSpPr>
          <p:nvPr>
            <p:ph type="ftr" sz="quarter" idx="11"/>
          </p:nvPr>
        </p:nvSpPr>
        <p:spPr/>
        <p:txBody>
          <a:bodyPr/>
          <a:lstStyle/>
          <a:p>
            <a:r>
              <a:rPr lang="en-US" smtClean="0"/>
              <a:t>Extras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Perinteinen vs. </a:t>
            </a:r>
            <a:r>
              <a:rPr lang="fi-FI" dirty="0" smtClean="0"/>
              <a:t>ketterä </a:t>
            </a:r>
            <a:r>
              <a:rPr lang="fi-FI" dirty="0" smtClean="0"/>
              <a:t>testaus</a:t>
            </a:r>
            <a:endParaRPr lang="fi-FI"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20482" name="Picture 2"/>
          <p:cNvPicPr>
            <a:picLocks noChangeAspect="1" noChangeArrowheads="1"/>
          </p:cNvPicPr>
          <p:nvPr/>
        </p:nvPicPr>
        <p:blipFill>
          <a:blip r:embed="rId3" cstate="print"/>
          <a:srcRect/>
          <a:stretch>
            <a:fillRect/>
          </a:stretch>
        </p:blipFill>
        <p:spPr bwMode="auto">
          <a:xfrm>
            <a:off x="1039851" y="1329538"/>
            <a:ext cx="7265949" cy="4766462"/>
          </a:xfrm>
          <a:prstGeom prst="rect">
            <a:avLst/>
          </a:prstGeom>
          <a:noFill/>
          <a:ln w="9525">
            <a:noFill/>
            <a:miter lim="800000"/>
            <a:headEnd/>
            <a:tailEnd/>
          </a:ln>
        </p:spPr>
      </p:pic>
      <p:sp>
        <p:nvSpPr>
          <p:cNvPr id="13" name="TextBox 12"/>
          <p:cNvSpPr txBox="1"/>
          <p:nvPr/>
        </p:nvSpPr>
        <p:spPr>
          <a:xfrm>
            <a:off x="0" y="6550223"/>
            <a:ext cx="94488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The Usual Ways of Testing Will Not Work</a:t>
            </a:r>
            <a:endParaRPr lang="fi-FI" dirty="0"/>
          </a:p>
        </p:txBody>
      </p:sp>
      <p:sp>
        <p:nvSpPr>
          <p:cNvPr id="3" name="Content Placeholder 2"/>
          <p:cNvSpPr>
            <a:spLocks noGrp="1"/>
          </p:cNvSpPr>
          <p:nvPr>
            <p:ph sz="half" idx="1"/>
          </p:nvPr>
        </p:nvSpPr>
        <p:spPr/>
        <p:txBody>
          <a:bodyPr>
            <a:normAutofit fontScale="85000" lnSpcReduction="20000"/>
          </a:bodyPr>
          <a:lstStyle/>
          <a:p>
            <a:r>
              <a:rPr lang="fi-FI" dirty="0" smtClean="0"/>
              <a:t>Detailed test planning</a:t>
            </a:r>
          </a:p>
          <a:p>
            <a:pPr lvl="1"/>
            <a:r>
              <a:rPr lang="fi-FI" dirty="0" smtClean="0"/>
              <a:t>Not enough time nor value in the traditional form</a:t>
            </a:r>
          </a:p>
          <a:p>
            <a:r>
              <a:rPr lang="fi-FI" dirty="0" smtClean="0"/>
              <a:t>Dedicating a timeframe for just testing and its coverage</a:t>
            </a:r>
          </a:p>
          <a:p>
            <a:pPr lvl="1"/>
            <a:r>
              <a:rPr lang="fi-FI" dirty="0" smtClean="0"/>
              <a:t>No entry and exit criteria, phases and levels, continuous work</a:t>
            </a:r>
          </a:p>
          <a:p>
            <a:pPr lvl="1"/>
            <a:r>
              <a:rPr lang="fi-FI" dirty="0" smtClean="0"/>
              <a:t>Changes happen also while you’re testing</a:t>
            </a:r>
          </a:p>
          <a:p>
            <a:r>
              <a:rPr lang="fi-FI" dirty="0" smtClean="0"/>
              <a:t>Change control </a:t>
            </a:r>
          </a:p>
          <a:p>
            <a:pPr lvl="1"/>
            <a:r>
              <a:rPr lang="fi-FI" dirty="0" smtClean="0"/>
              <a:t>Changes are not carefully selected from outside the team by group of experts</a:t>
            </a:r>
          </a:p>
          <a:p>
            <a:pPr lvl="1"/>
            <a:endParaRPr lang="fi-FI" dirty="0" smtClean="0"/>
          </a:p>
        </p:txBody>
      </p:sp>
      <p:sp>
        <p:nvSpPr>
          <p:cNvPr id="4" name="Content Placeholder 3"/>
          <p:cNvSpPr>
            <a:spLocks noGrp="1"/>
          </p:cNvSpPr>
          <p:nvPr>
            <p:ph sz="half" idx="2"/>
          </p:nvPr>
        </p:nvSpPr>
        <p:spPr/>
        <p:txBody>
          <a:bodyPr>
            <a:normAutofit fontScale="85000" lnSpcReduction="20000"/>
          </a:bodyPr>
          <a:lstStyle/>
          <a:p>
            <a:r>
              <a:rPr lang="fi-FI" dirty="0" smtClean="0"/>
              <a:t>Exercising authority on quality with specification</a:t>
            </a:r>
          </a:p>
          <a:p>
            <a:pPr lvl="1"/>
            <a:r>
              <a:rPr lang="fi-FI" dirty="0" smtClean="0"/>
              <a:t>No authoritative source on what is good enough, team builds the specification as they go</a:t>
            </a:r>
          </a:p>
          <a:p>
            <a:r>
              <a:rPr lang="fi-FI" dirty="0" smtClean="0"/>
              <a:t>Test manager outlining plans for a bundle of less skilled testers</a:t>
            </a:r>
          </a:p>
          <a:p>
            <a:pPr lvl="1"/>
            <a:r>
              <a:rPr lang="fi-FI" dirty="0" smtClean="0"/>
              <a:t>Reformulation of roles</a:t>
            </a:r>
          </a:p>
          <a:p>
            <a:r>
              <a:rPr lang="fi-FI" dirty="0" smtClean="0"/>
              <a:t>Percieving testing as something that testers do</a:t>
            </a:r>
          </a:p>
          <a:p>
            <a:pPr lvl="1"/>
            <a:r>
              <a:rPr lang="fi-FI" dirty="0" smtClean="0"/>
              <a:t>Everyone tests. Confirmatory unit testing is important but not the only view.</a:t>
            </a:r>
          </a:p>
          <a:p>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Footer Placeholder 5"/>
          <p:cNvSpPr>
            <a:spLocks noGrp="1"/>
          </p:cNvSpPr>
          <p:nvPr>
            <p:ph type="ftr" sz="quarter" idx="11"/>
          </p:nvPr>
        </p:nvSpPr>
        <p:spPr/>
        <p:txBody>
          <a:bodyPr/>
          <a:lstStyle/>
          <a:p>
            <a:r>
              <a:rPr lang="en-US" smtClean="0"/>
              <a:t>DAY 2</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Changed Meaning of ”Unit” and ”Acceptance” Testing</a:t>
            </a:r>
            <a:endParaRPr lang="fi-FI" dirty="0"/>
          </a:p>
        </p:txBody>
      </p:sp>
      <p:sp>
        <p:nvSpPr>
          <p:cNvPr id="4" name="Content Placeholder 3"/>
          <p:cNvSpPr>
            <a:spLocks noGrp="1"/>
          </p:cNvSpPr>
          <p:nvPr>
            <p:ph idx="1"/>
          </p:nvPr>
        </p:nvSpPr>
        <p:spPr/>
        <p:txBody>
          <a:bodyPr>
            <a:normAutofit fontScale="77500" lnSpcReduction="20000"/>
          </a:bodyPr>
          <a:lstStyle/>
          <a:p>
            <a:r>
              <a:rPr lang="fi-FI" dirty="0" smtClean="0"/>
              <a:t>Traditionally:</a:t>
            </a:r>
          </a:p>
          <a:p>
            <a:pPr lvl="1"/>
            <a:r>
              <a:rPr lang="fi-FI" dirty="0" smtClean="0"/>
              <a:t>Unit testing</a:t>
            </a:r>
          </a:p>
          <a:p>
            <a:pPr lvl="2"/>
            <a:r>
              <a:rPr lang="fi-FI" dirty="0" smtClean="0"/>
              <a:t>Unit is the code</a:t>
            </a:r>
          </a:p>
          <a:p>
            <a:pPr lvl="2"/>
            <a:r>
              <a:rPr lang="fi-FI" dirty="0" smtClean="0"/>
              <a:t>Each piece of code has owner and testing that piece in isolation is unit testing</a:t>
            </a:r>
          </a:p>
          <a:p>
            <a:pPr lvl="1"/>
            <a:r>
              <a:rPr lang="fi-FI" dirty="0" smtClean="0"/>
              <a:t>Acceptance testing</a:t>
            </a:r>
          </a:p>
          <a:p>
            <a:pPr lvl="2"/>
            <a:r>
              <a:rPr lang="fi-FI" dirty="0" smtClean="0"/>
              <a:t>Something the customer does at the end of the project</a:t>
            </a:r>
            <a:endParaRPr lang="fi-FI" dirty="0"/>
          </a:p>
          <a:p>
            <a:r>
              <a:rPr lang="fi-FI" dirty="0" smtClean="0"/>
              <a:t>In agile methods:</a:t>
            </a:r>
          </a:p>
          <a:p>
            <a:pPr lvl="1"/>
            <a:r>
              <a:rPr lang="fi-FI" dirty="0" smtClean="0"/>
              <a:t>Unit testing</a:t>
            </a:r>
          </a:p>
          <a:p>
            <a:pPr lvl="2"/>
            <a:r>
              <a:rPr lang="fi-FI" dirty="0" smtClean="0"/>
              <a:t>Unit is functionality implemented in the code</a:t>
            </a:r>
          </a:p>
          <a:p>
            <a:pPr lvl="2"/>
            <a:r>
              <a:rPr lang="fi-FI" dirty="0" smtClean="0"/>
              <a:t>Common code ownership enables thinking units more widely</a:t>
            </a:r>
          </a:p>
          <a:p>
            <a:pPr lvl="1"/>
            <a:r>
              <a:rPr lang="fi-FI" dirty="0" smtClean="0"/>
              <a:t>Acceptance testing</a:t>
            </a:r>
          </a:p>
          <a:p>
            <a:pPr lvl="2"/>
            <a:r>
              <a:rPr lang="fi-FI" dirty="0" smtClean="0"/>
              <a:t>Any high-level testing of the system</a:t>
            </a:r>
          </a:p>
          <a:p>
            <a:pPr lvl="2"/>
            <a:r>
              <a:rPr lang="fi-FI" dirty="0" smtClean="0"/>
              <a:t>Continuous acceptance to release -idea</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DAY 1</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ight Arrow 17"/>
          <p:cNvSpPr/>
          <p:nvPr/>
        </p:nvSpPr>
        <p:spPr>
          <a:xfrm>
            <a:off x="533400" y="1219200"/>
            <a:ext cx="8534400" cy="5486400"/>
          </a:xfrm>
          <a:prstGeom prst="rightArrow">
            <a:avLst>
              <a:gd name="adj1" fmla="val 50000"/>
              <a:gd name="adj2" fmla="val 35073"/>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i-FI"/>
          </a:p>
        </p:txBody>
      </p:sp>
      <p:sp>
        <p:nvSpPr>
          <p:cNvPr id="2" name="Title 1"/>
          <p:cNvSpPr>
            <a:spLocks noGrp="1"/>
          </p:cNvSpPr>
          <p:nvPr>
            <p:ph type="title"/>
          </p:nvPr>
        </p:nvSpPr>
        <p:spPr/>
        <p:txBody>
          <a:bodyPr/>
          <a:lstStyle/>
          <a:p>
            <a:r>
              <a:rPr lang="fi-FI" dirty="0" smtClean="0"/>
              <a:t>Testiohjattu kehitystapa</a:t>
            </a:r>
            <a:endParaRPr lang="fi-FI" dirty="0"/>
          </a:p>
        </p:txBody>
      </p:sp>
      <p:sp>
        <p:nvSpPr>
          <p:cNvPr id="4" name="Rounded Rectangle 3"/>
          <p:cNvSpPr/>
          <p:nvPr/>
        </p:nvSpPr>
        <p:spPr>
          <a:xfrm>
            <a:off x="1371600" y="2895600"/>
            <a:ext cx="1510416" cy="10668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ATDD / Suunnittelu esimerkein</a:t>
            </a:r>
            <a:endParaRPr lang="fi-FI" dirty="0"/>
          </a:p>
        </p:txBody>
      </p:sp>
      <p:sp>
        <p:nvSpPr>
          <p:cNvPr id="5" name="Rounded Rectangle 4"/>
          <p:cNvSpPr/>
          <p:nvPr/>
        </p:nvSpPr>
        <p:spPr>
          <a:xfrm>
            <a:off x="3048000" y="2895600"/>
            <a:ext cx="5105400" cy="609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Automatisoi &amp; suorita</a:t>
            </a:r>
            <a:endParaRPr lang="fi-FI" dirty="0"/>
          </a:p>
        </p:txBody>
      </p:sp>
      <p:sp>
        <p:nvSpPr>
          <p:cNvPr id="8" name="Rounded Rectangle 7"/>
          <p:cNvSpPr/>
          <p:nvPr/>
        </p:nvSpPr>
        <p:spPr>
          <a:xfrm>
            <a:off x="3098419"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9" name="Rounded Rectangle 8"/>
          <p:cNvSpPr/>
          <p:nvPr/>
        </p:nvSpPr>
        <p:spPr>
          <a:xfrm>
            <a:off x="3737749"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0" name="Rounded Rectangle 9"/>
          <p:cNvSpPr/>
          <p:nvPr/>
        </p:nvSpPr>
        <p:spPr>
          <a:xfrm>
            <a:off x="437707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1" name="Rounded Rectangle 10"/>
          <p:cNvSpPr/>
          <p:nvPr/>
        </p:nvSpPr>
        <p:spPr>
          <a:xfrm>
            <a:off x="501640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2" name="Rounded Rectangle 11"/>
          <p:cNvSpPr/>
          <p:nvPr/>
        </p:nvSpPr>
        <p:spPr>
          <a:xfrm>
            <a:off x="565573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3" name="Rounded Rectangle 12"/>
          <p:cNvSpPr/>
          <p:nvPr/>
        </p:nvSpPr>
        <p:spPr>
          <a:xfrm>
            <a:off x="6295067"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4" name="Rounded Rectangle 13"/>
          <p:cNvSpPr/>
          <p:nvPr/>
        </p:nvSpPr>
        <p:spPr>
          <a:xfrm>
            <a:off x="6934397"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5" name="Rounded Rectangle 14"/>
          <p:cNvSpPr/>
          <p:nvPr/>
        </p:nvSpPr>
        <p:spPr>
          <a:xfrm>
            <a:off x="7573726"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6" name="Rounded Rectangle 15"/>
          <p:cNvSpPr/>
          <p:nvPr/>
        </p:nvSpPr>
        <p:spPr>
          <a:xfrm>
            <a:off x="3046336" y="3581400"/>
            <a:ext cx="5098024" cy="3810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ATDD / Päivitykset viimeisistä opeista</a:t>
            </a:r>
            <a:endParaRPr lang="fi-FI" dirty="0"/>
          </a:p>
        </p:txBody>
      </p:sp>
      <p:cxnSp>
        <p:nvCxnSpPr>
          <p:cNvPr id="20" name="Straight Connector 19"/>
          <p:cNvCxnSpPr/>
          <p:nvPr/>
        </p:nvCxnSpPr>
        <p:spPr>
          <a:xfrm>
            <a:off x="685800" y="4114800"/>
            <a:ext cx="7458560" cy="0"/>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24" name="Rounded Rectangle 23"/>
          <p:cNvSpPr/>
          <p:nvPr/>
        </p:nvSpPr>
        <p:spPr>
          <a:xfrm>
            <a:off x="3093656"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5" name="Rounded Rectangle 24"/>
          <p:cNvSpPr/>
          <p:nvPr/>
        </p:nvSpPr>
        <p:spPr>
          <a:xfrm>
            <a:off x="3732986"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6" name="Rounded Rectangle 25"/>
          <p:cNvSpPr/>
          <p:nvPr/>
        </p:nvSpPr>
        <p:spPr>
          <a:xfrm>
            <a:off x="437231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7" name="Rounded Rectangle 26"/>
          <p:cNvSpPr/>
          <p:nvPr/>
        </p:nvSpPr>
        <p:spPr>
          <a:xfrm>
            <a:off x="501164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8" name="Rounded Rectangle 27"/>
          <p:cNvSpPr/>
          <p:nvPr/>
        </p:nvSpPr>
        <p:spPr>
          <a:xfrm>
            <a:off x="565097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9" name="Rounded Rectangle 28"/>
          <p:cNvSpPr/>
          <p:nvPr/>
        </p:nvSpPr>
        <p:spPr>
          <a:xfrm>
            <a:off x="6290304"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0" name="Rounded Rectangle 29"/>
          <p:cNvSpPr/>
          <p:nvPr/>
        </p:nvSpPr>
        <p:spPr>
          <a:xfrm>
            <a:off x="6929634"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1" name="Rounded Rectangle 30"/>
          <p:cNvSpPr/>
          <p:nvPr/>
        </p:nvSpPr>
        <p:spPr>
          <a:xfrm>
            <a:off x="7568963"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2" name="TextBox 31"/>
          <p:cNvSpPr txBox="1"/>
          <p:nvPr/>
        </p:nvSpPr>
        <p:spPr>
          <a:xfrm rot="16200000">
            <a:off x="324534" y="4363134"/>
            <a:ext cx="1143000" cy="646331"/>
          </a:xfrm>
          <a:prstGeom prst="rect">
            <a:avLst/>
          </a:prstGeom>
          <a:noFill/>
        </p:spPr>
        <p:txBody>
          <a:bodyPr wrap="square" rtlCol="0">
            <a:spAutoFit/>
          </a:bodyPr>
          <a:lstStyle/>
          <a:p>
            <a:pPr algn="ctr"/>
            <a:r>
              <a:rPr lang="fi-FI" b="1" dirty="0" smtClean="0"/>
              <a:t>YKSIKKÖ-TESTAUS</a:t>
            </a:r>
            <a:endParaRPr lang="fi-FI" b="1" dirty="0"/>
          </a:p>
        </p:txBody>
      </p:sp>
      <p:sp>
        <p:nvSpPr>
          <p:cNvPr id="33" name="TextBox 32"/>
          <p:cNvSpPr txBox="1"/>
          <p:nvPr/>
        </p:nvSpPr>
        <p:spPr>
          <a:xfrm rot="16200000">
            <a:off x="134033" y="3029635"/>
            <a:ext cx="1524001" cy="646331"/>
          </a:xfrm>
          <a:prstGeom prst="rect">
            <a:avLst/>
          </a:prstGeom>
          <a:noFill/>
        </p:spPr>
        <p:txBody>
          <a:bodyPr wrap="square" rtlCol="0">
            <a:spAutoFit/>
          </a:bodyPr>
          <a:lstStyle/>
          <a:p>
            <a:pPr algn="ctr"/>
            <a:r>
              <a:rPr lang="fi-FI" b="1" dirty="0" smtClean="0"/>
              <a:t>HYVÄKSYMIS-TESTAUS</a:t>
            </a:r>
            <a:endParaRPr lang="fi-FI" b="1" dirty="0"/>
          </a:p>
        </p:txBody>
      </p:sp>
      <p:sp>
        <p:nvSpPr>
          <p:cNvPr id="35" name="TextBox 34"/>
          <p:cNvSpPr txBox="1"/>
          <p:nvPr/>
        </p:nvSpPr>
        <p:spPr>
          <a:xfrm rot="16200000">
            <a:off x="7981266" y="3815834"/>
            <a:ext cx="1143000" cy="369332"/>
          </a:xfrm>
          <a:prstGeom prst="rect">
            <a:avLst/>
          </a:prstGeom>
          <a:noFill/>
        </p:spPr>
        <p:txBody>
          <a:bodyPr wrap="square" rtlCol="0">
            <a:spAutoFit/>
          </a:bodyPr>
          <a:lstStyle/>
          <a:p>
            <a:pPr algn="ctr"/>
            <a:r>
              <a:rPr lang="fi-FI" b="1" dirty="0" smtClean="0"/>
              <a:t>VALMIS!</a:t>
            </a:r>
            <a:endParaRPr lang="fi-FI" b="1" dirty="0"/>
          </a:p>
        </p:txBody>
      </p:sp>
      <p:sp>
        <p:nvSpPr>
          <p:cNvPr id="36" name="TextBox 35"/>
          <p:cNvSpPr txBox="1"/>
          <p:nvPr/>
        </p:nvSpPr>
        <p:spPr>
          <a:xfrm>
            <a:off x="152400" y="5562600"/>
            <a:ext cx="3581400"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i-FI" dirty="0" smtClean="0"/>
              <a:t>Voit käyttää tutkivaa testausta oppimiseen ja muuntaa oleelliset opit uusiksi hyväksymis-/yksikkötesteiksi.</a:t>
            </a:r>
          </a:p>
        </p:txBody>
      </p:sp>
      <p:sp>
        <p:nvSpPr>
          <p:cNvPr id="37" name="TextBox 36"/>
          <p:cNvSpPr txBox="1"/>
          <p:nvPr/>
        </p:nvSpPr>
        <p:spPr>
          <a:xfrm>
            <a:off x="228600" y="1371600"/>
            <a:ext cx="518160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fi-FI" dirty="0" smtClean="0"/>
              <a:t>Todellisella inkrementaalisella toimituksella puuttuvat hyväksymisehdot korjaantuvat: tarkastele ongelmia joita ette löytäneet ennen julkaisua. </a:t>
            </a:r>
          </a:p>
        </p:txBody>
      </p:sp>
      <p:sp>
        <p:nvSpPr>
          <p:cNvPr id="38" name="TextBox 37"/>
          <p:cNvSpPr txBox="1"/>
          <p:nvPr/>
        </p:nvSpPr>
        <p:spPr>
          <a:xfrm>
            <a:off x="3810000" y="5553670"/>
            <a:ext cx="2895600"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fi-FI" dirty="0" smtClean="0"/>
              <a:t>Käyttäjille puhumiseen kannustetaan todellisen hyväksymiskriteeristön syvälliseksi ymmärtämiseksi.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Ketterän testauksen nelikenttä</a:t>
            </a:r>
            <a:endParaRPr lang="fi-FI" dirty="0"/>
          </a:p>
        </p:txBody>
      </p:sp>
      <p:graphicFrame>
        <p:nvGraphicFramePr>
          <p:cNvPr id="6" name="Content Placeholder 5"/>
          <p:cNvGraphicFramePr>
            <a:graphicFrameLocks noGrp="1"/>
          </p:cNvGraphicFramePr>
          <p:nvPr>
            <p:ph idx="1"/>
          </p:nvPr>
        </p:nvGraphicFramePr>
        <p:xfrm>
          <a:off x="457200" y="1600200"/>
          <a:ext cx="8229600" cy="4343400"/>
        </p:xfrm>
        <a:graphic>
          <a:graphicData uri="http://schemas.openxmlformats.org/drawingml/2006/table">
            <a:tbl>
              <a:tblPr firstRow="1" bandRow="1">
                <a:tableStyleId>{69CF1AB2-1976-4502-BF36-3FF5EA218861}</a:tableStyleId>
              </a:tblPr>
              <a:tblGrid>
                <a:gridCol w="4114800"/>
                <a:gridCol w="4114800"/>
              </a:tblGrid>
              <a:tr h="2171700">
                <a:tc>
                  <a:txBody>
                    <a:bodyPr/>
                    <a:lstStyle/>
                    <a:p>
                      <a:endParaRPr lang="fi-FI" dirty="0"/>
                    </a:p>
                  </a:txBody>
                  <a:tcPr/>
                </a:tc>
                <a:tc>
                  <a:txBody>
                    <a:bodyPr/>
                    <a:lstStyle/>
                    <a:p>
                      <a:endParaRPr lang="fi-FI" dirty="0"/>
                    </a:p>
                  </a:txBody>
                  <a:tcPr/>
                </a:tc>
              </a:tr>
              <a:tr h="2171700">
                <a:tc>
                  <a:txBody>
                    <a:bodyPr/>
                    <a:lstStyle/>
                    <a:p>
                      <a:endParaRPr lang="fi-FI" dirty="0"/>
                    </a:p>
                  </a:txBody>
                  <a:tcPr/>
                </a:tc>
                <a:tc>
                  <a:txBody>
                    <a:bodyPr/>
                    <a:lstStyle/>
                    <a:p>
                      <a:endParaRPr lang="fi-FI" dirty="0"/>
                    </a:p>
                  </a:txBody>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7" name="TextBox 6"/>
          <p:cNvSpPr txBox="1"/>
          <p:nvPr/>
        </p:nvSpPr>
        <p:spPr>
          <a:xfrm>
            <a:off x="3733800" y="3886200"/>
            <a:ext cx="762000" cy="400110"/>
          </a:xfrm>
          <a:prstGeom prst="rect">
            <a:avLst/>
          </a:prstGeom>
          <a:noFill/>
        </p:spPr>
        <p:txBody>
          <a:bodyPr wrap="square" rtlCol="0">
            <a:spAutoFit/>
          </a:bodyPr>
          <a:lstStyle/>
          <a:p>
            <a:pPr algn="r"/>
            <a:r>
              <a:rPr lang="fi-FI" sz="2000" dirty="0" smtClean="0">
                <a:solidFill>
                  <a:schemeClr val="tx2"/>
                </a:solidFill>
              </a:rPr>
              <a:t>Q1</a:t>
            </a:r>
            <a:endParaRPr lang="fi-FI" sz="2000" dirty="0">
              <a:solidFill>
                <a:schemeClr val="tx2"/>
              </a:solidFill>
            </a:endParaRPr>
          </a:p>
        </p:txBody>
      </p:sp>
      <p:sp>
        <p:nvSpPr>
          <p:cNvPr id="8" name="TextBox 7"/>
          <p:cNvSpPr txBox="1"/>
          <p:nvPr/>
        </p:nvSpPr>
        <p:spPr>
          <a:xfrm>
            <a:off x="3733800" y="3276600"/>
            <a:ext cx="762000" cy="400110"/>
          </a:xfrm>
          <a:prstGeom prst="rect">
            <a:avLst/>
          </a:prstGeom>
          <a:noFill/>
        </p:spPr>
        <p:txBody>
          <a:bodyPr wrap="square" rtlCol="0">
            <a:spAutoFit/>
          </a:bodyPr>
          <a:lstStyle/>
          <a:p>
            <a:pPr algn="r"/>
            <a:r>
              <a:rPr lang="fi-FI" sz="2000" dirty="0" smtClean="0">
                <a:solidFill>
                  <a:schemeClr val="tx2"/>
                </a:solidFill>
              </a:rPr>
              <a:t>Q2</a:t>
            </a:r>
            <a:endParaRPr lang="fi-FI" sz="2000" dirty="0">
              <a:solidFill>
                <a:schemeClr val="tx2"/>
              </a:solidFill>
            </a:endParaRPr>
          </a:p>
        </p:txBody>
      </p:sp>
      <p:sp>
        <p:nvSpPr>
          <p:cNvPr id="9" name="TextBox 8"/>
          <p:cNvSpPr txBox="1"/>
          <p:nvPr/>
        </p:nvSpPr>
        <p:spPr>
          <a:xfrm>
            <a:off x="4648200" y="3886200"/>
            <a:ext cx="762000" cy="400110"/>
          </a:xfrm>
          <a:prstGeom prst="rect">
            <a:avLst/>
          </a:prstGeom>
          <a:noFill/>
        </p:spPr>
        <p:txBody>
          <a:bodyPr wrap="square" rtlCol="0">
            <a:spAutoFit/>
          </a:bodyPr>
          <a:lstStyle/>
          <a:p>
            <a:r>
              <a:rPr lang="fi-FI" sz="2000" dirty="0" smtClean="0">
                <a:solidFill>
                  <a:schemeClr val="tx2"/>
                </a:solidFill>
              </a:rPr>
              <a:t>Q4</a:t>
            </a:r>
            <a:endParaRPr lang="fi-FI" sz="2000" dirty="0">
              <a:solidFill>
                <a:schemeClr val="tx2"/>
              </a:solidFill>
            </a:endParaRPr>
          </a:p>
        </p:txBody>
      </p:sp>
      <p:sp>
        <p:nvSpPr>
          <p:cNvPr id="10" name="TextBox 9"/>
          <p:cNvSpPr txBox="1"/>
          <p:nvPr/>
        </p:nvSpPr>
        <p:spPr>
          <a:xfrm>
            <a:off x="4648200" y="3276600"/>
            <a:ext cx="762000" cy="400110"/>
          </a:xfrm>
          <a:prstGeom prst="rect">
            <a:avLst/>
          </a:prstGeom>
          <a:noFill/>
        </p:spPr>
        <p:txBody>
          <a:bodyPr wrap="square" rtlCol="0">
            <a:spAutoFit/>
          </a:bodyPr>
          <a:lstStyle/>
          <a:p>
            <a:r>
              <a:rPr lang="fi-FI" sz="2000" dirty="0" smtClean="0">
                <a:solidFill>
                  <a:schemeClr val="tx2"/>
                </a:solidFill>
              </a:rPr>
              <a:t>Q3</a:t>
            </a:r>
            <a:endParaRPr lang="fi-FI" sz="2000" dirty="0">
              <a:solidFill>
                <a:schemeClr val="tx2"/>
              </a:solidFill>
            </a:endParaRPr>
          </a:p>
        </p:txBody>
      </p:sp>
      <p:sp>
        <p:nvSpPr>
          <p:cNvPr id="11" name="TextBox 10"/>
          <p:cNvSpPr txBox="1"/>
          <p:nvPr/>
        </p:nvSpPr>
        <p:spPr>
          <a:xfrm>
            <a:off x="3790526" y="1219200"/>
            <a:ext cx="2669385" cy="369332"/>
          </a:xfrm>
          <a:prstGeom prst="rect">
            <a:avLst/>
          </a:prstGeom>
          <a:noFill/>
        </p:spPr>
        <p:txBody>
          <a:bodyPr wrap="none" rtlCol="0">
            <a:spAutoFit/>
          </a:bodyPr>
          <a:lstStyle/>
          <a:p>
            <a:r>
              <a:rPr lang="fi-FI" dirty="0" smtClean="0"/>
              <a:t>Liiketoimintasuuntautunut</a:t>
            </a:r>
            <a:endParaRPr lang="fi-FI" dirty="0"/>
          </a:p>
        </p:txBody>
      </p:sp>
      <p:sp>
        <p:nvSpPr>
          <p:cNvPr id="12" name="TextBox 11"/>
          <p:cNvSpPr txBox="1"/>
          <p:nvPr/>
        </p:nvSpPr>
        <p:spPr>
          <a:xfrm>
            <a:off x="3657600" y="5943600"/>
            <a:ext cx="2465931" cy="369332"/>
          </a:xfrm>
          <a:prstGeom prst="rect">
            <a:avLst/>
          </a:prstGeom>
          <a:noFill/>
        </p:spPr>
        <p:txBody>
          <a:bodyPr wrap="none" rtlCol="0">
            <a:spAutoFit/>
          </a:bodyPr>
          <a:lstStyle/>
          <a:p>
            <a:r>
              <a:rPr lang="fi-FI" dirty="0" smtClean="0"/>
              <a:t>Teknologiasuuntautunut</a:t>
            </a:r>
            <a:endParaRPr lang="fi-FI" dirty="0"/>
          </a:p>
        </p:txBody>
      </p:sp>
      <p:sp>
        <p:nvSpPr>
          <p:cNvPr id="13" name="TextBox 12"/>
          <p:cNvSpPr txBox="1"/>
          <p:nvPr/>
        </p:nvSpPr>
        <p:spPr>
          <a:xfrm rot="16200000">
            <a:off x="-638419" y="3772635"/>
            <a:ext cx="1821909" cy="369332"/>
          </a:xfrm>
          <a:prstGeom prst="rect">
            <a:avLst/>
          </a:prstGeom>
          <a:noFill/>
        </p:spPr>
        <p:txBody>
          <a:bodyPr wrap="none" rtlCol="0">
            <a:spAutoFit/>
          </a:bodyPr>
          <a:lstStyle/>
          <a:p>
            <a:r>
              <a:rPr lang="fi-FI" dirty="0" smtClean="0"/>
              <a:t>Tiimin tukeminen</a:t>
            </a:r>
            <a:endParaRPr lang="fi-FI" dirty="0"/>
          </a:p>
        </p:txBody>
      </p:sp>
      <p:sp>
        <p:nvSpPr>
          <p:cNvPr id="14" name="TextBox 13"/>
          <p:cNvSpPr txBox="1"/>
          <p:nvPr/>
        </p:nvSpPr>
        <p:spPr>
          <a:xfrm rot="5400000">
            <a:off x="7733210" y="3772635"/>
            <a:ext cx="2299860" cy="369332"/>
          </a:xfrm>
          <a:prstGeom prst="rect">
            <a:avLst/>
          </a:prstGeom>
          <a:noFill/>
        </p:spPr>
        <p:txBody>
          <a:bodyPr wrap="none" rtlCol="0">
            <a:spAutoFit/>
          </a:bodyPr>
          <a:lstStyle/>
          <a:p>
            <a:r>
              <a:rPr lang="fi-FI" dirty="0" smtClean="0"/>
              <a:t>Järjestelmän kritisointi</a:t>
            </a:r>
            <a:endParaRPr lang="fi-FI" dirty="0"/>
          </a:p>
        </p:txBody>
      </p:sp>
      <p:sp>
        <p:nvSpPr>
          <p:cNvPr id="15" name="TextBox 14"/>
          <p:cNvSpPr txBox="1"/>
          <p:nvPr/>
        </p:nvSpPr>
        <p:spPr>
          <a:xfrm>
            <a:off x="5181600" y="2057400"/>
            <a:ext cx="3276600" cy="1477328"/>
          </a:xfrm>
          <a:prstGeom prst="rect">
            <a:avLst/>
          </a:prstGeom>
          <a:noFill/>
        </p:spPr>
        <p:txBody>
          <a:bodyPr wrap="square" rtlCol="0">
            <a:spAutoFit/>
          </a:bodyPr>
          <a:lstStyle/>
          <a:p>
            <a:r>
              <a:rPr lang="fi-FI" dirty="0" smtClean="0"/>
              <a:t>Exploratory testing</a:t>
            </a:r>
          </a:p>
          <a:p>
            <a:r>
              <a:rPr lang="fi-FI" dirty="0" smtClean="0"/>
              <a:t>Scenarios</a:t>
            </a:r>
          </a:p>
          <a:p>
            <a:r>
              <a:rPr lang="fi-FI" dirty="0" smtClean="0"/>
              <a:t>Usability testing</a:t>
            </a:r>
          </a:p>
          <a:p>
            <a:r>
              <a:rPr lang="fi-FI" dirty="0" smtClean="0"/>
              <a:t>UAT (User acceptance testing)</a:t>
            </a:r>
          </a:p>
          <a:p>
            <a:r>
              <a:rPr lang="fi-FI" dirty="0" smtClean="0"/>
              <a:t>Alpha / beta</a:t>
            </a:r>
            <a:endParaRPr lang="fi-FI" dirty="0"/>
          </a:p>
        </p:txBody>
      </p:sp>
      <p:sp>
        <p:nvSpPr>
          <p:cNvPr id="16" name="TextBox 15"/>
          <p:cNvSpPr txBox="1"/>
          <p:nvPr/>
        </p:nvSpPr>
        <p:spPr>
          <a:xfrm>
            <a:off x="5257800" y="4419600"/>
            <a:ext cx="3276600" cy="923330"/>
          </a:xfrm>
          <a:prstGeom prst="rect">
            <a:avLst/>
          </a:prstGeom>
          <a:noFill/>
        </p:spPr>
        <p:txBody>
          <a:bodyPr wrap="square" rtlCol="0">
            <a:spAutoFit/>
          </a:bodyPr>
          <a:lstStyle/>
          <a:p>
            <a:r>
              <a:rPr lang="fi-FI" dirty="0" smtClean="0"/>
              <a:t>Performance &amp; load testing</a:t>
            </a:r>
          </a:p>
          <a:p>
            <a:r>
              <a:rPr lang="fi-FI" dirty="0" smtClean="0"/>
              <a:t>Security testing</a:t>
            </a:r>
          </a:p>
          <a:p>
            <a:r>
              <a:rPr lang="fi-FI" dirty="0" smtClean="0"/>
              <a:t>”ility” testing</a:t>
            </a:r>
            <a:endParaRPr lang="fi-FI" dirty="0"/>
          </a:p>
        </p:txBody>
      </p:sp>
      <p:sp>
        <p:nvSpPr>
          <p:cNvPr id="17" name="TextBox 16"/>
          <p:cNvSpPr txBox="1"/>
          <p:nvPr/>
        </p:nvSpPr>
        <p:spPr>
          <a:xfrm>
            <a:off x="1143000" y="4572000"/>
            <a:ext cx="3276600" cy="646331"/>
          </a:xfrm>
          <a:prstGeom prst="rect">
            <a:avLst/>
          </a:prstGeom>
          <a:noFill/>
        </p:spPr>
        <p:txBody>
          <a:bodyPr wrap="square" rtlCol="0">
            <a:spAutoFit/>
          </a:bodyPr>
          <a:lstStyle/>
          <a:p>
            <a:r>
              <a:rPr lang="fi-FI" dirty="0" smtClean="0"/>
              <a:t>Unit tests</a:t>
            </a:r>
          </a:p>
          <a:p>
            <a:r>
              <a:rPr lang="fi-FI" dirty="0" smtClean="0"/>
              <a:t>Component tests</a:t>
            </a:r>
            <a:endParaRPr lang="fi-FI" dirty="0"/>
          </a:p>
        </p:txBody>
      </p:sp>
      <p:sp>
        <p:nvSpPr>
          <p:cNvPr id="18" name="TextBox 17"/>
          <p:cNvSpPr txBox="1"/>
          <p:nvPr/>
        </p:nvSpPr>
        <p:spPr>
          <a:xfrm>
            <a:off x="1143000" y="2057400"/>
            <a:ext cx="3276600" cy="1477328"/>
          </a:xfrm>
          <a:prstGeom prst="rect">
            <a:avLst/>
          </a:prstGeom>
          <a:noFill/>
        </p:spPr>
        <p:txBody>
          <a:bodyPr wrap="square" rtlCol="0">
            <a:spAutoFit/>
          </a:bodyPr>
          <a:lstStyle/>
          <a:p>
            <a:r>
              <a:rPr lang="fi-FI" dirty="0" smtClean="0"/>
              <a:t>Functional tests</a:t>
            </a:r>
          </a:p>
          <a:p>
            <a:r>
              <a:rPr lang="fi-FI" dirty="0" smtClean="0"/>
              <a:t>Examples</a:t>
            </a:r>
          </a:p>
          <a:p>
            <a:r>
              <a:rPr lang="fi-FI" dirty="0" smtClean="0"/>
              <a:t>Story tests</a:t>
            </a:r>
          </a:p>
          <a:p>
            <a:r>
              <a:rPr lang="fi-FI" dirty="0" smtClean="0"/>
              <a:t>Prototypes</a:t>
            </a:r>
          </a:p>
          <a:p>
            <a:r>
              <a:rPr lang="fi-FI" dirty="0" smtClean="0"/>
              <a:t>Simulations</a:t>
            </a:r>
            <a:endParaRPr lang="fi-FI" dirty="0"/>
          </a:p>
        </p:txBody>
      </p:sp>
      <p:sp>
        <p:nvSpPr>
          <p:cNvPr id="19" name="Cloud 18"/>
          <p:cNvSpPr/>
          <p:nvPr/>
        </p:nvSpPr>
        <p:spPr>
          <a:xfrm>
            <a:off x="304800" y="12954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Automatisoitu &amp; käsin</a:t>
            </a:r>
            <a:endParaRPr lang="fi-FI" sz="1600" dirty="0"/>
          </a:p>
        </p:txBody>
      </p:sp>
      <p:sp>
        <p:nvSpPr>
          <p:cNvPr id="20" name="Cloud 19"/>
          <p:cNvSpPr/>
          <p:nvPr/>
        </p:nvSpPr>
        <p:spPr>
          <a:xfrm>
            <a:off x="7162800" y="12954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Käsin tehtävä</a:t>
            </a:r>
            <a:endParaRPr lang="fi-FI" sz="1600" dirty="0"/>
          </a:p>
        </p:txBody>
      </p:sp>
      <p:sp>
        <p:nvSpPr>
          <p:cNvPr id="21" name="Cloud 20"/>
          <p:cNvSpPr/>
          <p:nvPr/>
        </p:nvSpPr>
        <p:spPr>
          <a:xfrm>
            <a:off x="7315200" y="56388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Työkalut</a:t>
            </a:r>
            <a:endParaRPr lang="fi-FI" sz="1600" dirty="0"/>
          </a:p>
        </p:txBody>
      </p:sp>
      <p:sp>
        <p:nvSpPr>
          <p:cNvPr id="22" name="Cloud 21"/>
          <p:cNvSpPr/>
          <p:nvPr/>
        </p:nvSpPr>
        <p:spPr>
          <a:xfrm>
            <a:off x="228600" y="55626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Automa-tisoitu</a:t>
            </a:r>
            <a:endParaRPr lang="fi-FI" sz="1600" dirty="0"/>
          </a:p>
        </p:txBody>
      </p:sp>
      <p:sp>
        <p:nvSpPr>
          <p:cNvPr id="24" name="TextBox 23"/>
          <p:cNvSpPr txBox="1"/>
          <p:nvPr/>
        </p:nvSpPr>
        <p:spPr>
          <a:xfrm>
            <a:off x="0" y="6550223"/>
            <a:ext cx="94488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Testaajan rooli</a:t>
            </a:r>
            <a:endParaRPr lang="fi-FI" dirty="0"/>
          </a:p>
        </p:txBody>
      </p:sp>
      <p:sp>
        <p:nvSpPr>
          <p:cNvPr id="5" name="Content Placeholder 4"/>
          <p:cNvSpPr>
            <a:spLocks noGrp="1"/>
          </p:cNvSpPr>
          <p:nvPr>
            <p:ph idx="1"/>
          </p:nvPr>
        </p:nvSpPr>
        <p:spPr>
          <a:xfrm>
            <a:off x="381000" y="1524000"/>
            <a:ext cx="4800600" cy="4525963"/>
          </a:xfrm>
        </p:spPr>
        <p:txBody>
          <a:bodyPr>
            <a:normAutofit/>
          </a:bodyPr>
          <a:lstStyle/>
          <a:p>
            <a:r>
              <a:rPr lang="fi-FI" dirty="0" smtClean="0"/>
              <a:t>Auttaa tuomaan esiin piilo-oletuksia</a:t>
            </a:r>
          </a:p>
          <a:p>
            <a:r>
              <a:rPr lang="fi-FI" dirty="0" smtClean="0"/>
              <a:t>Antaa palautetta</a:t>
            </a:r>
          </a:p>
          <a:p>
            <a:r>
              <a:rPr lang="fi-FI" dirty="0" smtClean="0"/>
              <a:t>Kerää ja selkiyttää vaatimuksia</a:t>
            </a:r>
          </a:p>
          <a:p>
            <a:r>
              <a:rPr lang="fi-FI" dirty="0" smtClean="0"/>
              <a:t>Ohjaa kehitystä esimerkkien avulla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6" name="Oval 5"/>
          <p:cNvSpPr/>
          <p:nvPr/>
        </p:nvSpPr>
        <p:spPr>
          <a:xfrm>
            <a:off x="5181600" y="2209800"/>
            <a:ext cx="1981200" cy="1905000"/>
          </a:xfrm>
          <a:prstGeom prst="ellipse">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dirty="0" smtClean="0"/>
              <a:t>Ohjelmoija</a:t>
            </a:r>
            <a:endParaRPr lang="fi-FI" sz="2000" dirty="0"/>
          </a:p>
        </p:txBody>
      </p:sp>
      <p:sp>
        <p:nvSpPr>
          <p:cNvPr id="7" name="Oval 6"/>
          <p:cNvSpPr/>
          <p:nvPr/>
        </p:nvSpPr>
        <p:spPr>
          <a:xfrm>
            <a:off x="6858000" y="2209800"/>
            <a:ext cx="1981200" cy="1905000"/>
          </a:xfrm>
          <a:prstGeom prst="ellipse">
            <a:avLst/>
          </a:prstGeom>
          <a:solidFill>
            <a:schemeClr val="accent4">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dirty="0" smtClean="0"/>
              <a:t>Sovellus-alueosaaja</a:t>
            </a:r>
            <a:endParaRPr lang="fi-FI" sz="2000" dirty="0"/>
          </a:p>
        </p:txBody>
      </p:sp>
      <p:sp>
        <p:nvSpPr>
          <p:cNvPr id="8" name="Oval 7"/>
          <p:cNvSpPr/>
          <p:nvPr/>
        </p:nvSpPr>
        <p:spPr>
          <a:xfrm>
            <a:off x="6019800" y="3505200"/>
            <a:ext cx="1981200" cy="1905000"/>
          </a:xfrm>
          <a:prstGeom prst="ellipse">
            <a:avLst/>
          </a:prstGeom>
          <a:solidFill>
            <a:schemeClr val="accent3">
              <a:alpha val="82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2000" dirty="0" smtClean="0"/>
              <a:t>Testaaja</a:t>
            </a:r>
            <a:endParaRPr lang="fi-FI" sz="2000" dirty="0"/>
          </a:p>
        </p:txBody>
      </p:sp>
      <p:sp>
        <p:nvSpPr>
          <p:cNvPr id="9" name="TextBox 8"/>
          <p:cNvSpPr txBox="1"/>
          <p:nvPr/>
        </p:nvSpPr>
        <p:spPr>
          <a:xfrm>
            <a:off x="1371600" y="5715000"/>
            <a:ext cx="3200400" cy="95410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i-FI" sz="2800" dirty="0" smtClean="0"/>
              <a:t>Test-infected: tiimit ovat testauskeskeisiä</a:t>
            </a:r>
            <a:endParaRPr lang="fi-FI" sz="2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Mitä ketterä testaaja tekee... Viikon työt esimerkkinä</a:t>
            </a:r>
            <a:endParaRPr lang="fi-FI" dirty="0"/>
          </a:p>
        </p:txBody>
      </p:sp>
      <p:sp>
        <p:nvSpPr>
          <p:cNvPr id="3" name="Content Placeholder 2"/>
          <p:cNvSpPr>
            <a:spLocks noGrp="1"/>
          </p:cNvSpPr>
          <p:nvPr>
            <p:ph idx="1"/>
          </p:nvPr>
        </p:nvSpPr>
        <p:spPr/>
        <p:txBody>
          <a:bodyPr>
            <a:normAutofit fontScale="77500" lnSpcReduction="20000"/>
          </a:bodyPr>
          <a:lstStyle/>
          <a:p>
            <a:r>
              <a:rPr lang="en-US" dirty="0" err="1" smtClean="0"/>
              <a:t>Kirjoita</a:t>
            </a:r>
            <a:r>
              <a:rPr lang="en-US" dirty="0" smtClean="0"/>
              <a:t> </a:t>
            </a:r>
            <a:r>
              <a:rPr lang="en-US" dirty="0" err="1" smtClean="0"/>
              <a:t>korkean</a:t>
            </a:r>
            <a:r>
              <a:rPr lang="en-US" dirty="0" smtClean="0"/>
              <a:t> </a:t>
            </a:r>
            <a:r>
              <a:rPr lang="en-US" dirty="0" err="1" smtClean="0"/>
              <a:t>tason</a:t>
            </a:r>
            <a:r>
              <a:rPr lang="en-US" dirty="0" smtClean="0"/>
              <a:t> </a:t>
            </a:r>
            <a:r>
              <a:rPr lang="en-US" dirty="0" err="1" smtClean="0"/>
              <a:t>testitapauksia</a:t>
            </a:r>
            <a:endParaRPr lang="en-US" dirty="0" smtClean="0"/>
          </a:p>
          <a:p>
            <a:r>
              <a:rPr lang="en-US" dirty="0" err="1" smtClean="0"/>
              <a:t>Automatisoi</a:t>
            </a:r>
            <a:r>
              <a:rPr lang="en-US" dirty="0" smtClean="0"/>
              <a:t> </a:t>
            </a:r>
            <a:r>
              <a:rPr lang="en-US" dirty="0" err="1" smtClean="0"/>
              <a:t>testejä</a:t>
            </a:r>
            <a:r>
              <a:rPr lang="en-US" dirty="0" smtClean="0"/>
              <a:t> </a:t>
            </a:r>
            <a:r>
              <a:rPr lang="en-US" dirty="0" err="1" smtClean="0"/>
              <a:t>FitNessellä</a:t>
            </a:r>
            <a:endParaRPr lang="en-US" dirty="0"/>
          </a:p>
          <a:p>
            <a:r>
              <a:rPr lang="en-US" dirty="0" err="1" smtClean="0"/>
              <a:t>Selvittele</a:t>
            </a:r>
            <a:r>
              <a:rPr lang="en-US" dirty="0" smtClean="0"/>
              <a:t> </a:t>
            </a:r>
            <a:r>
              <a:rPr lang="en-US" dirty="0" err="1" smtClean="0"/>
              <a:t>ongelmia</a:t>
            </a:r>
            <a:r>
              <a:rPr lang="en-US" dirty="0" smtClean="0"/>
              <a:t> </a:t>
            </a:r>
            <a:r>
              <a:rPr lang="en-US" dirty="0" err="1" smtClean="0"/>
              <a:t>Canoo</a:t>
            </a:r>
            <a:r>
              <a:rPr lang="en-US" dirty="0" smtClean="0"/>
              <a:t> </a:t>
            </a:r>
            <a:r>
              <a:rPr lang="en-US" dirty="0" err="1" smtClean="0"/>
              <a:t>WebTest</a:t>
            </a:r>
            <a:r>
              <a:rPr lang="en-US" dirty="0" smtClean="0"/>
              <a:t> GUI –</a:t>
            </a:r>
            <a:r>
              <a:rPr lang="en-US" dirty="0" err="1" smtClean="0"/>
              <a:t>työkalun</a:t>
            </a:r>
            <a:r>
              <a:rPr lang="en-US" dirty="0" smtClean="0"/>
              <a:t> </a:t>
            </a:r>
            <a:r>
              <a:rPr lang="en-US" dirty="0" err="1" smtClean="0"/>
              <a:t>ja</a:t>
            </a:r>
            <a:r>
              <a:rPr lang="en-US" dirty="0" smtClean="0"/>
              <a:t> </a:t>
            </a:r>
            <a:r>
              <a:rPr lang="en-US" dirty="0" err="1" smtClean="0"/>
              <a:t>testien</a:t>
            </a:r>
            <a:r>
              <a:rPr lang="en-US" dirty="0" smtClean="0"/>
              <a:t> </a:t>
            </a:r>
            <a:r>
              <a:rPr lang="en-US" dirty="0" err="1" smtClean="0"/>
              <a:t>osalta</a:t>
            </a:r>
            <a:endParaRPr lang="en-US" dirty="0" smtClean="0"/>
          </a:p>
          <a:p>
            <a:r>
              <a:rPr lang="en-US" dirty="0" err="1" smtClean="0"/>
              <a:t>Selvittele</a:t>
            </a:r>
            <a:r>
              <a:rPr lang="en-US" dirty="0" smtClean="0"/>
              <a:t> </a:t>
            </a:r>
            <a:r>
              <a:rPr lang="en-US" dirty="0" err="1" smtClean="0"/>
              <a:t>kolmea</a:t>
            </a:r>
            <a:r>
              <a:rPr lang="en-US" dirty="0" smtClean="0"/>
              <a:t> </a:t>
            </a:r>
            <a:r>
              <a:rPr lang="en-US" dirty="0" err="1" smtClean="0"/>
              <a:t>erillistä</a:t>
            </a:r>
            <a:r>
              <a:rPr lang="en-US" dirty="0" smtClean="0"/>
              <a:t> </a:t>
            </a:r>
            <a:r>
              <a:rPr lang="en-US" dirty="0" err="1" smtClean="0"/>
              <a:t>tuotannossa</a:t>
            </a:r>
            <a:r>
              <a:rPr lang="en-US" dirty="0" smtClean="0"/>
              <a:t> </a:t>
            </a:r>
            <a:r>
              <a:rPr lang="en-US" dirty="0" err="1" smtClean="0"/>
              <a:t>ollutta</a:t>
            </a:r>
            <a:r>
              <a:rPr lang="en-US" dirty="0" smtClean="0"/>
              <a:t> </a:t>
            </a:r>
            <a:r>
              <a:rPr lang="en-US" dirty="0" err="1" smtClean="0"/>
              <a:t>virhehavaintoa</a:t>
            </a:r>
            <a:endParaRPr lang="en-US" dirty="0" smtClean="0"/>
          </a:p>
          <a:p>
            <a:r>
              <a:rPr lang="en-US" dirty="0" err="1" smtClean="0"/>
              <a:t>Käsin</a:t>
            </a:r>
            <a:r>
              <a:rPr lang="en-US" dirty="0" smtClean="0"/>
              <a:t> </a:t>
            </a:r>
            <a:r>
              <a:rPr lang="en-US" dirty="0" err="1" smtClean="0"/>
              <a:t>tehtävä</a:t>
            </a:r>
            <a:r>
              <a:rPr lang="en-US" dirty="0" smtClean="0"/>
              <a:t> </a:t>
            </a:r>
            <a:r>
              <a:rPr lang="en-US" dirty="0" err="1" smtClean="0"/>
              <a:t>tutkiva</a:t>
            </a:r>
            <a:r>
              <a:rPr lang="en-US" dirty="0" smtClean="0"/>
              <a:t> </a:t>
            </a:r>
            <a:r>
              <a:rPr lang="en-US" dirty="0" err="1" smtClean="0"/>
              <a:t>testaus</a:t>
            </a:r>
            <a:r>
              <a:rPr lang="en-US" dirty="0" smtClean="0"/>
              <a:t> </a:t>
            </a:r>
            <a:r>
              <a:rPr lang="en-US" dirty="0" err="1" smtClean="0"/>
              <a:t>useille</a:t>
            </a:r>
            <a:r>
              <a:rPr lang="en-US" dirty="0" smtClean="0"/>
              <a:t> </a:t>
            </a:r>
            <a:r>
              <a:rPr lang="en-US" dirty="0" err="1" smtClean="0"/>
              <a:t>tarinoille</a:t>
            </a:r>
            <a:endParaRPr lang="en-US" dirty="0" smtClean="0"/>
          </a:p>
          <a:p>
            <a:r>
              <a:rPr lang="en-US" dirty="0" err="1" smtClean="0"/>
              <a:t>Osallistu</a:t>
            </a:r>
            <a:r>
              <a:rPr lang="en-US" dirty="0" smtClean="0"/>
              <a:t> </a:t>
            </a:r>
            <a:r>
              <a:rPr lang="en-US" dirty="0" err="1" smtClean="0"/>
              <a:t>työmäärien</a:t>
            </a:r>
            <a:r>
              <a:rPr lang="en-US" dirty="0" smtClean="0"/>
              <a:t> </a:t>
            </a:r>
            <a:r>
              <a:rPr lang="en-US" dirty="0" err="1" smtClean="0"/>
              <a:t>arvioinnin</a:t>
            </a:r>
            <a:r>
              <a:rPr lang="en-US" dirty="0" smtClean="0"/>
              <a:t> </a:t>
            </a:r>
            <a:r>
              <a:rPr lang="en-US" dirty="0" err="1" smtClean="0"/>
              <a:t>kokoukseen</a:t>
            </a:r>
            <a:endParaRPr lang="en-US" dirty="0"/>
          </a:p>
          <a:p>
            <a:r>
              <a:rPr lang="en-US" dirty="0" err="1" smtClean="0"/>
              <a:t>Selvittele</a:t>
            </a:r>
            <a:r>
              <a:rPr lang="en-US" dirty="0" smtClean="0"/>
              <a:t> </a:t>
            </a:r>
            <a:r>
              <a:rPr lang="en-US" dirty="0" err="1" smtClean="0"/>
              <a:t>vaatimuksia</a:t>
            </a:r>
            <a:r>
              <a:rPr lang="en-US" dirty="0" smtClean="0"/>
              <a:t> </a:t>
            </a:r>
            <a:r>
              <a:rPr lang="en-US" dirty="0" err="1" smtClean="0"/>
              <a:t>ja</a:t>
            </a:r>
            <a:r>
              <a:rPr lang="en-US" dirty="0" smtClean="0"/>
              <a:t> </a:t>
            </a:r>
            <a:r>
              <a:rPr lang="en-US" dirty="0" err="1" smtClean="0"/>
              <a:t>selkiytä</a:t>
            </a:r>
            <a:r>
              <a:rPr lang="en-US" dirty="0" smtClean="0"/>
              <a:t> </a:t>
            </a:r>
            <a:r>
              <a:rPr lang="en-US" dirty="0" err="1" smtClean="0"/>
              <a:t>niitä</a:t>
            </a:r>
            <a:r>
              <a:rPr lang="en-US" dirty="0" smtClean="0"/>
              <a:t> </a:t>
            </a:r>
            <a:r>
              <a:rPr lang="en-US" dirty="0" err="1" smtClean="0"/>
              <a:t>useiden</a:t>
            </a:r>
            <a:r>
              <a:rPr lang="en-US" dirty="0" smtClean="0"/>
              <a:t> </a:t>
            </a:r>
            <a:r>
              <a:rPr lang="en-US" dirty="0" err="1" smtClean="0"/>
              <a:t>asiakkaiden</a:t>
            </a:r>
            <a:r>
              <a:rPr lang="en-US" dirty="0" smtClean="0"/>
              <a:t> </a:t>
            </a:r>
            <a:r>
              <a:rPr lang="en-US" dirty="0" err="1" smtClean="0"/>
              <a:t>kanssa</a:t>
            </a:r>
            <a:endParaRPr lang="en-US" dirty="0"/>
          </a:p>
          <a:p>
            <a:r>
              <a:rPr lang="en-US" dirty="0" err="1" smtClean="0"/>
              <a:t>Auta</a:t>
            </a:r>
            <a:r>
              <a:rPr lang="en-US" dirty="0" smtClean="0"/>
              <a:t> </a:t>
            </a:r>
            <a:r>
              <a:rPr lang="en-US" dirty="0" err="1" smtClean="0"/>
              <a:t>tiimiä</a:t>
            </a:r>
            <a:r>
              <a:rPr lang="en-US" dirty="0" smtClean="0"/>
              <a:t> </a:t>
            </a:r>
            <a:r>
              <a:rPr lang="en-US" dirty="0" err="1" smtClean="0"/>
              <a:t>määrittämään</a:t>
            </a:r>
            <a:r>
              <a:rPr lang="en-US" dirty="0" smtClean="0"/>
              <a:t> </a:t>
            </a:r>
            <a:r>
              <a:rPr lang="en-US" dirty="0" err="1" smtClean="0"/>
              <a:t>strategia</a:t>
            </a:r>
            <a:r>
              <a:rPr lang="en-US" dirty="0" smtClean="0"/>
              <a:t> </a:t>
            </a:r>
            <a:r>
              <a:rPr lang="en-US" dirty="0" err="1" smtClean="0"/>
              <a:t>jolla</a:t>
            </a:r>
            <a:r>
              <a:rPr lang="en-US" dirty="0" smtClean="0"/>
              <a:t> </a:t>
            </a:r>
            <a:r>
              <a:rPr lang="en-US" dirty="0" err="1" smtClean="0"/>
              <a:t>parhaiten</a:t>
            </a:r>
            <a:r>
              <a:rPr lang="en-US" dirty="0" smtClean="0"/>
              <a:t> </a:t>
            </a:r>
            <a:r>
              <a:rPr lang="en-US" dirty="0" err="1" smtClean="0"/>
              <a:t>saadaan</a:t>
            </a:r>
            <a:r>
              <a:rPr lang="en-US" dirty="0" smtClean="0"/>
              <a:t> </a:t>
            </a:r>
            <a:r>
              <a:rPr lang="en-US" dirty="0" err="1" smtClean="0"/>
              <a:t>kaikki</a:t>
            </a:r>
            <a:r>
              <a:rPr lang="en-US" dirty="0" smtClean="0"/>
              <a:t> </a:t>
            </a:r>
            <a:r>
              <a:rPr lang="en-US" dirty="0" err="1" smtClean="0"/>
              <a:t>valmiiksi</a:t>
            </a:r>
            <a:r>
              <a:rPr lang="en-US" dirty="0" smtClean="0"/>
              <a:t> </a:t>
            </a:r>
            <a:r>
              <a:rPr lang="en-US" dirty="0" err="1" smtClean="0"/>
              <a:t>tässä</a:t>
            </a:r>
            <a:r>
              <a:rPr lang="en-US" dirty="0" smtClean="0"/>
              <a:t> </a:t>
            </a:r>
            <a:r>
              <a:rPr lang="en-US" dirty="0" err="1" smtClean="0"/>
              <a:t>sprintissä</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6" name="TextBox 5"/>
          <p:cNvSpPr txBox="1"/>
          <p:nvPr/>
        </p:nvSpPr>
        <p:spPr>
          <a:xfrm>
            <a:off x="0" y="6550223"/>
            <a:ext cx="9448800" cy="307777"/>
          </a:xfrm>
          <a:prstGeom prst="rect">
            <a:avLst/>
          </a:prstGeom>
          <a:noFill/>
        </p:spPr>
        <p:txBody>
          <a:bodyPr wrap="square" rtlCol="0">
            <a:spAutoFit/>
          </a:bodyPr>
          <a:lstStyle/>
          <a:p>
            <a:r>
              <a:rPr lang="fi-FI" sz="1400" dirty="0" smtClean="0"/>
              <a:t>Lähde: Lisa Crispin</a:t>
            </a:r>
            <a:endParaRPr lang="fi-FI" sz="1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XP </a:t>
            </a:r>
            <a:r>
              <a:rPr lang="en-US" dirty="0" err="1" smtClean="0"/>
              <a:t>Testaajan</a:t>
            </a:r>
            <a:r>
              <a:rPr lang="en-US" dirty="0" smtClean="0"/>
              <a:t> </a:t>
            </a:r>
            <a:r>
              <a:rPr lang="en-US" dirty="0" err="1" smtClean="0"/>
              <a:t>oikeuksien</a:t>
            </a:r>
            <a:r>
              <a:rPr lang="en-US" dirty="0" smtClean="0"/>
              <a:t> </a:t>
            </a:r>
            <a:r>
              <a:rPr lang="en-US" dirty="0" err="1" smtClean="0"/>
              <a:t>julistus</a:t>
            </a:r>
            <a:r>
              <a:rPr lang="en-US" dirty="0" smtClean="0"/>
              <a:t/>
            </a:r>
            <a:br>
              <a:rPr lang="en-US" dirty="0" smtClean="0"/>
            </a:br>
            <a:r>
              <a:rPr lang="en-US" sz="1300" dirty="0" err="1" smtClean="0"/>
              <a:t>Lähde</a:t>
            </a:r>
            <a:r>
              <a:rPr lang="en-US" sz="1300" dirty="0" smtClean="0"/>
              <a:t>: Testing </a:t>
            </a:r>
            <a:r>
              <a:rPr lang="en-US" sz="1300" dirty="0" smtClean="0"/>
              <a:t>Extreme Programming by Lisa Crispin and Tip House (Addison-Wesley, 2002) </a:t>
            </a:r>
            <a:endParaRPr lang="fi-FI" sz="1300" dirty="0"/>
          </a:p>
        </p:txBody>
      </p:sp>
      <p:sp>
        <p:nvSpPr>
          <p:cNvPr id="3" name="Content Placeholder 2"/>
          <p:cNvSpPr>
            <a:spLocks noGrp="1"/>
          </p:cNvSpPr>
          <p:nvPr>
            <p:ph idx="1"/>
          </p:nvPr>
        </p:nvSpPr>
        <p:spPr/>
        <p:txBody>
          <a:bodyPr>
            <a:noAutofit/>
          </a:bodyPr>
          <a:lstStyle/>
          <a:p>
            <a:r>
              <a:rPr lang="en-US" sz="2000" dirty="0" err="1" smtClean="0"/>
              <a:t>Sinulla</a:t>
            </a:r>
            <a:r>
              <a:rPr lang="en-US" sz="2000" dirty="0" smtClean="0"/>
              <a:t> on </a:t>
            </a:r>
            <a:r>
              <a:rPr lang="en-US" sz="2000" dirty="0" err="1" smtClean="0"/>
              <a:t>oikeus</a:t>
            </a:r>
            <a:r>
              <a:rPr lang="en-US" sz="2000" dirty="0" smtClean="0"/>
              <a:t> </a:t>
            </a:r>
            <a:r>
              <a:rPr lang="en-US" sz="2000" dirty="0" err="1" smtClean="0"/>
              <a:t>tuoda</a:t>
            </a:r>
            <a:r>
              <a:rPr lang="en-US" sz="2000" dirty="0" smtClean="0"/>
              <a:t> </a:t>
            </a:r>
            <a:r>
              <a:rPr lang="en-US" sz="2000" dirty="0" err="1" smtClean="0"/>
              <a:t>esiin</a:t>
            </a:r>
            <a:r>
              <a:rPr lang="en-US" sz="2000" dirty="0" smtClean="0"/>
              <a:t> </a:t>
            </a:r>
            <a:r>
              <a:rPr lang="en-US" sz="2000" dirty="0" err="1" smtClean="0"/>
              <a:t>havaintoja</a:t>
            </a:r>
            <a:r>
              <a:rPr lang="en-US" sz="2000" dirty="0" smtClean="0"/>
              <a:t> </a:t>
            </a:r>
            <a:r>
              <a:rPr lang="en-US" sz="2000" dirty="0" err="1" smtClean="0"/>
              <a:t>laatuun</a:t>
            </a:r>
            <a:r>
              <a:rPr lang="en-US" sz="2000" dirty="0" smtClean="0"/>
              <a:t> </a:t>
            </a:r>
            <a:r>
              <a:rPr lang="en-US" sz="2000" dirty="0" err="1" smtClean="0"/>
              <a:t>ja</a:t>
            </a:r>
            <a:r>
              <a:rPr lang="en-US" sz="2000" dirty="0" smtClean="0"/>
              <a:t> </a:t>
            </a:r>
            <a:r>
              <a:rPr lang="en-US" sz="2000" dirty="0" err="1" smtClean="0"/>
              <a:t>prosessiin</a:t>
            </a:r>
            <a:r>
              <a:rPr lang="en-US" sz="2000" dirty="0" smtClean="0"/>
              <a:t> </a:t>
            </a:r>
            <a:r>
              <a:rPr lang="en-US" sz="2000" dirty="0" err="1" smtClean="0"/>
              <a:t>liittyen</a:t>
            </a:r>
            <a:r>
              <a:rPr lang="en-US" sz="2000" dirty="0" smtClean="0"/>
              <a:t> </a:t>
            </a:r>
            <a:r>
              <a:rPr lang="en-US" sz="2000" dirty="0" err="1" smtClean="0"/>
              <a:t>missä</a:t>
            </a:r>
            <a:r>
              <a:rPr lang="en-US" sz="2000" dirty="0" smtClean="0"/>
              <a:t> </a:t>
            </a:r>
            <a:r>
              <a:rPr lang="en-US" sz="2000" dirty="0" err="1" smtClean="0"/>
              <a:t>tahansa</a:t>
            </a:r>
            <a:r>
              <a:rPr lang="en-US" sz="2000" dirty="0" smtClean="0"/>
              <a:t> </a:t>
            </a:r>
            <a:r>
              <a:rPr lang="en-US" sz="2000" dirty="0" err="1" smtClean="0"/>
              <a:t>vaiheessa</a:t>
            </a:r>
            <a:r>
              <a:rPr lang="en-US" sz="2000" dirty="0" smtClean="0"/>
              <a:t>.</a:t>
            </a:r>
            <a:endParaRPr lang="en-US" sz="2000" dirty="0" smtClean="0"/>
          </a:p>
          <a:p>
            <a:r>
              <a:rPr lang="en-US" sz="2000" dirty="0" err="1" smtClean="0"/>
              <a:t>Sinulla</a:t>
            </a:r>
            <a:r>
              <a:rPr lang="en-US" sz="2000" dirty="0" smtClean="0"/>
              <a:t> on </a:t>
            </a:r>
            <a:r>
              <a:rPr lang="en-US" sz="2000" dirty="0" err="1" smtClean="0"/>
              <a:t>oikeus</a:t>
            </a:r>
            <a:r>
              <a:rPr lang="en-US" sz="2000" dirty="0" smtClean="0"/>
              <a:t> </a:t>
            </a:r>
            <a:r>
              <a:rPr lang="en-US" sz="2000" dirty="0" err="1" smtClean="0"/>
              <a:t>kysyä</a:t>
            </a:r>
            <a:r>
              <a:rPr lang="en-US" sz="2000" dirty="0" smtClean="0"/>
              <a:t> </a:t>
            </a:r>
            <a:r>
              <a:rPr lang="en-US" sz="2000" dirty="0" err="1" smtClean="0"/>
              <a:t>kysymyksiä</a:t>
            </a:r>
            <a:r>
              <a:rPr lang="en-US" sz="2000" dirty="0" smtClean="0"/>
              <a:t> </a:t>
            </a:r>
            <a:r>
              <a:rPr lang="en-US" sz="2000" dirty="0" err="1" smtClean="0"/>
              <a:t>asiakkailta</a:t>
            </a:r>
            <a:r>
              <a:rPr lang="en-US" sz="2000" dirty="0" smtClean="0"/>
              <a:t> </a:t>
            </a:r>
            <a:r>
              <a:rPr lang="en-US" sz="2000" dirty="0" err="1" smtClean="0"/>
              <a:t>ja</a:t>
            </a:r>
            <a:r>
              <a:rPr lang="en-US" sz="2000" dirty="0" smtClean="0"/>
              <a:t> </a:t>
            </a:r>
            <a:r>
              <a:rPr lang="en-US" sz="2000" dirty="0" err="1" smtClean="0"/>
              <a:t>ohjelmoijilta</a:t>
            </a:r>
            <a:r>
              <a:rPr lang="en-US" sz="2000" dirty="0" smtClean="0"/>
              <a:t> </a:t>
            </a:r>
            <a:r>
              <a:rPr lang="en-US" sz="2000" dirty="0" err="1" smtClean="0"/>
              <a:t>ja</a:t>
            </a:r>
            <a:r>
              <a:rPr lang="en-US" sz="2000" dirty="0" smtClean="0"/>
              <a:t> </a:t>
            </a:r>
            <a:r>
              <a:rPr lang="en-US" sz="2000" dirty="0" err="1" smtClean="0"/>
              <a:t>saada</a:t>
            </a:r>
            <a:r>
              <a:rPr lang="en-US" sz="2000" dirty="0" smtClean="0"/>
              <a:t> </a:t>
            </a:r>
            <a:r>
              <a:rPr lang="en-US" sz="2000" dirty="0" err="1" smtClean="0"/>
              <a:t>vastauksia</a:t>
            </a:r>
            <a:r>
              <a:rPr lang="en-US" sz="2000" dirty="0" smtClean="0"/>
              <a:t> </a:t>
            </a:r>
            <a:r>
              <a:rPr lang="en-US" sz="2000" dirty="0" err="1" smtClean="0"/>
              <a:t>kysymyksiisi</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pyytää</a:t>
            </a:r>
            <a:r>
              <a:rPr lang="en-US" sz="2000" dirty="0" smtClean="0"/>
              <a:t> </a:t>
            </a:r>
            <a:r>
              <a:rPr lang="en-US" sz="2000" dirty="0" err="1" smtClean="0"/>
              <a:t>ja</a:t>
            </a:r>
            <a:r>
              <a:rPr lang="en-US" sz="2000" dirty="0" smtClean="0"/>
              <a:t> </a:t>
            </a:r>
            <a:r>
              <a:rPr lang="en-US" sz="2000" dirty="0" err="1" smtClean="0"/>
              <a:t>saada</a:t>
            </a:r>
            <a:r>
              <a:rPr lang="en-US" sz="2000" dirty="0" smtClean="0"/>
              <a:t> </a:t>
            </a:r>
            <a:r>
              <a:rPr lang="en-US" sz="2000" dirty="0" err="1" smtClean="0"/>
              <a:t>apua</a:t>
            </a:r>
            <a:r>
              <a:rPr lang="en-US" sz="2000" dirty="0" smtClean="0"/>
              <a:t> </a:t>
            </a:r>
            <a:r>
              <a:rPr lang="en-US" sz="2000" dirty="0" err="1" smtClean="0"/>
              <a:t>keneltä</a:t>
            </a:r>
            <a:r>
              <a:rPr lang="en-US" sz="2000" dirty="0" smtClean="0"/>
              <a:t> </a:t>
            </a:r>
            <a:r>
              <a:rPr lang="en-US" sz="2000" dirty="0" err="1" smtClean="0"/>
              <a:t>tahansa</a:t>
            </a:r>
            <a:r>
              <a:rPr lang="en-US" sz="2000" dirty="0" smtClean="0"/>
              <a:t> </a:t>
            </a:r>
            <a:r>
              <a:rPr lang="en-US" sz="2000" dirty="0" err="1" smtClean="0"/>
              <a:t>projektitiimiltä</a:t>
            </a:r>
            <a:r>
              <a:rPr lang="en-US" sz="2000" dirty="0" smtClean="0"/>
              <a:t>, </a:t>
            </a:r>
            <a:r>
              <a:rPr lang="en-US" sz="2000" dirty="0" err="1" smtClean="0"/>
              <a:t>mukaanlukien</a:t>
            </a:r>
            <a:r>
              <a:rPr lang="en-US" sz="2000" dirty="0" smtClean="0"/>
              <a:t> </a:t>
            </a:r>
            <a:r>
              <a:rPr lang="en-US" sz="2000" dirty="0" err="1" smtClean="0"/>
              <a:t>ohjelmoijat</a:t>
            </a:r>
            <a:r>
              <a:rPr lang="en-US" sz="2000" dirty="0" smtClean="0"/>
              <a:t>, </a:t>
            </a:r>
            <a:r>
              <a:rPr lang="en-US" sz="2000" dirty="0" err="1" smtClean="0"/>
              <a:t>esimiehet</a:t>
            </a:r>
            <a:r>
              <a:rPr lang="en-US" sz="2000" dirty="0" smtClean="0"/>
              <a:t> </a:t>
            </a:r>
            <a:r>
              <a:rPr lang="en-US" sz="2000" dirty="0" err="1" smtClean="0"/>
              <a:t>ja</a:t>
            </a:r>
            <a:r>
              <a:rPr lang="en-US" sz="2000" dirty="0" smtClean="0"/>
              <a:t> </a:t>
            </a:r>
            <a:r>
              <a:rPr lang="en-US" sz="2000" dirty="0" err="1" smtClean="0"/>
              <a:t>asiakkaat</a:t>
            </a:r>
            <a:r>
              <a:rPr lang="en-US" sz="2000" dirty="0" smtClean="0"/>
              <a:t>. </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tehdä</a:t>
            </a:r>
            <a:r>
              <a:rPr lang="en-US" sz="2000" dirty="0" smtClean="0"/>
              <a:t> </a:t>
            </a:r>
            <a:r>
              <a:rPr lang="en-US" sz="2000" dirty="0" err="1" smtClean="0"/>
              <a:t>ja</a:t>
            </a:r>
            <a:r>
              <a:rPr lang="en-US" sz="2000" dirty="0" smtClean="0"/>
              <a:t> </a:t>
            </a:r>
            <a:r>
              <a:rPr lang="en-US" sz="2000" dirty="0" err="1" smtClean="0"/>
              <a:t>päivittää</a:t>
            </a:r>
            <a:r>
              <a:rPr lang="en-US" sz="2000" dirty="0" smtClean="0"/>
              <a:t> </a:t>
            </a:r>
            <a:r>
              <a:rPr lang="en-US" sz="2000" dirty="0" err="1" smtClean="0"/>
              <a:t>omia</a:t>
            </a:r>
            <a:r>
              <a:rPr lang="en-US" sz="2000" dirty="0" smtClean="0"/>
              <a:t> </a:t>
            </a:r>
            <a:r>
              <a:rPr lang="en-US" sz="2000" dirty="0" err="1" smtClean="0"/>
              <a:t>työmääräarvioita</a:t>
            </a:r>
            <a:r>
              <a:rPr lang="en-US" sz="2000" dirty="0" smtClean="0"/>
              <a:t> </a:t>
            </a:r>
            <a:r>
              <a:rPr lang="en-US" sz="2000" dirty="0" err="1" smtClean="0"/>
              <a:t>tehtävillesi</a:t>
            </a:r>
            <a:r>
              <a:rPr lang="en-US" sz="2000" dirty="0" smtClean="0"/>
              <a:t> </a:t>
            </a:r>
            <a:r>
              <a:rPr lang="en-US" sz="2000" dirty="0" err="1" smtClean="0"/>
              <a:t>ja</a:t>
            </a:r>
            <a:r>
              <a:rPr lang="en-US" sz="2000" dirty="0" smtClean="0"/>
              <a:t> </a:t>
            </a:r>
            <a:r>
              <a:rPr lang="en-US" sz="2000" dirty="0" err="1" smtClean="0"/>
              <a:t>sisällyttää</a:t>
            </a:r>
            <a:r>
              <a:rPr lang="en-US" sz="2000" dirty="0" smtClean="0"/>
              <a:t> </a:t>
            </a:r>
            <a:r>
              <a:rPr lang="en-US" sz="2000" dirty="0" err="1" smtClean="0"/>
              <a:t>nämä</a:t>
            </a:r>
            <a:r>
              <a:rPr lang="en-US" sz="2000" dirty="0" smtClean="0"/>
              <a:t> </a:t>
            </a:r>
            <a:r>
              <a:rPr lang="en-US" sz="2000" dirty="0" err="1" smtClean="0"/>
              <a:t>tarinoiden</a:t>
            </a:r>
            <a:r>
              <a:rPr lang="en-US" sz="2000" dirty="0" smtClean="0"/>
              <a:t> </a:t>
            </a:r>
            <a:r>
              <a:rPr lang="en-US" sz="2000" dirty="0" err="1" smtClean="0"/>
              <a:t>kokonaistyömääriin</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työkaluihin</a:t>
            </a:r>
            <a:r>
              <a:rPr lang="en-US" sz="2000" dirty="0" smtClean="0"/>
              <a:t> </a:t>
            </a:r>
            <a:r>
              <a:rPr lang="en-US" sz="2000" dirty="0" err="1" smtClean="0"/>
              <a:t>joita</a:t>
            </a:r>
            <a:r>
              <a:rPr lang="en-US" sz="2000" dirty="0" smtClean="0"/>
              <a:t> </a:t>
            </a:r>
            <a:r>
              <a:rPr lang="en-US" sz="2000" dirty="0" err="1" smtClean="0"/>
              <a:t>työhösi</a:t>
            </a:r>
            <a:r>
              <a:rPr lang="en-US" sz="2000" dirty="0" smtClean="0"/>
              <a:t> </a:t>
            </a:r>
            <a:r>
              <a:rPr lang="en-US" sz="2000" dirty="0" err="1" smtClean="0"/>
              <a:t>tarvitset</a:t>
            </a:r>
            <a:r>
              <a:rPr lang="en-US" sz="2000" dirty="0" smtClean="0"/>
              <a:t> </a:t>
            </a:r>
            <a:r>
              <a:rPr lang="en-US" sz="2000" dirty="0" err="1" smtClean="0"/>
              <a:t>silloin</a:t>
            </a:r>
            <a:r>
              <a:rPr lang="en-US" sz="2000" dirty="0" smtClean="0"/>
              <a:t> kun </a:t>
            </a:r>
            <a:r>
              <a:rPr lang="en-US" sz="2000" dirty="0" err="1" smtClean="0"/>
              <a:t>niitä</a:t>
            </a:r>
            <a:r>
              <a:rPr lang="en-US" sz="2000" dirty="0" smtClean="0"/>
              <a:t> </a:t>
            </a:r>
            <a:r>
              <a:rPr lang="en-US" sz="2000" dirty="0" err="1" smtClean="0"/>
              <a:t>tarvitset</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odottaa</a:t>
            </a:r>
            <a:r>
              <a:rPr lang="en-US" sz="2000" dirty="0" smtClean="0"/>
              <a:t> </a:t>
            </a:r>
            <a:r>
              <a:rPr lang="en-US" sz="2000" dirty="0" err="1" smtClean="0"/>
              <a:t>projektitiimisi</a:t>
            </a:r>
            <a:r>
              <a:rPr lang="en-US" sz="2000" dirty="0" smtClean="0"/>
              <a:t>, </a:t>
            </a:r>
            <a:r>
              <a:rPr lang="en-US" sz="2000" dirty="0" err="1" smtClean="0"/>
              <a:t>ei</a:t>
            </a:r>
            <a:r>
              <a:rPr lang="en-US" sz="2000" dirty="0" smtClean="0"/>
              <a:t> vain </a:t>
            </a:r>
            <a:r>
              <a:rPr lang="en-US" sz="2000" dirty="0" err="1" smtClean="0"/>
              <a:t>itsesi</a:t>
            </a:r>
            <a:r>
              <a:rPr lang="en-US" sz="2000" dirty="0" smtClean="0"/>
              <a:t>, </a:t>
            </a:r>
            <a:r>
              <a:rPr lang="en-US" sz="2000" dirty="0" err="1" smtClean="0"/>
              <a:t>olevan</a:t>
            </a:r>
            <a:r>
              <a:rPr lang="en-US" sz="2000" dirty="0" smtClean="0"/>
              <a:t> </a:t>
            </a:r>
            <a:r>
              <a:rPr lang="en-US" sz="2000" dirty="0" err="1" smtClean="0"/>
              <a:t>vastuussa</a:t>
            </a:r>
            <a:r>
              <a:rPr lang="en-US" sz="2000" dirty="0" smtClean="0"/>
              <a:t> </a:t>
            </a:r>
            <a:r>
              <a:rPr lang="en-US" sz="2000" dirty="0" err="1" smtClean="0"/>
              <a:t>laadusta</a:t>
            </a:r>
            <a:r>
              <a:rPr lang="en-US" sz="2000"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Oliko vielä muuta?</a:t>
            </a:r>
            <a:endParaRPr lang="fi-FI" dirty="0"/>
          </a:p>
        </p:txBody>
      </p:sp>
      <p:sp>
        <p:nvSpPr>
          <p:cNvPr id="3" name="Content Placeholder 2"/>
          <p:cNvSpPr>
            <a:spLocks noGrp="1"/>
          </p:cNvSpPr>
          <p:nvPr>
            <p:ph idx="1"/>
          </p:nvPr>
        </p:nvSpPr>
        <p:spPr/>
        <p:txBody>
          <a:bodyPr>
            <a:noAutofit/>
          </a:bodyPr>
          <a:lstStyle/>
          <a:p>
            <a:r>
              <a:rPr lang="fi-FI" sz="2000" dirty="0" smtClean="0"/>
              <a:t>Entä jos tiimejä järjestelmän tekemiseen on enemmän kuin </a:t>
            </a:r>
            <a:r>
              <a:rPr lang="fi-FI" sz="2000" dirty="0" smtClean="0"/>
              <a:t>yksi tiimi?</a:t>
            </a:r>
            <a:endParaRPr lang="fi-FI" sz="2000" dirty="0" smtClean="0"/>
          </a:p>
          <a:p>
            <a:r>
              <a:rPr lang="fi-FI" sz="2000" dirty="0" smtClean="0"/>
              <a:t>Mitä jos </a:t>
            </a:r>
            <a:r>
              <a:rPr lang="fi-FI" sz="2000" dirty="0" smtClean="0"/>
              <a:t>olemme </a:t>
            </a:r>
            <a:r>
              <a:rPr lang="fi-FI" sz="2000" dirty="0" smtClean="0"/>
              <a:t>vasta aloittelemassa ketterien menetelmien kanssa?</a:t>
            </a:r>
          </a:p>
          <a:p>
            <a:r>
              <a:rPr lang="fi-FI" sz="2000" dirty="0" smtClean="0"/>
              <a:t>Jos käytän kaikkia näitä käytäntöjä, </a:t>
            </a:r>
            <a:r>
              <a:rPr lang="fi-FI" sz="2000" dirty="0" smtClean="0"/>
              <a:t>ollaanko </a:t>
            </a:r>
            <a:r>
              <a:rPr lang="fi-FI" sz="2000" dirty="0" smtClean="0"/>
              <a:t>me sitten ketteriä vai onko vielä jotain muutakin jota vaaditaan?</a:t>
            </a:r>
          </a:p>
          <a:p>
            <a:r>
              <a:rPr lang="fi-FI" sz="2000" dirty="0" smtClean="0"/>
              <a:t>Entäs minun työni testausvastaavana, et maininnut vielä mitä minun pitäisi tehdä?</a:t>
            </a:r>
          </a:p>
          <a:p>
            <a:r>
              <a:rPr lang="fi-FI" sz="2000" dirty="0" smtClean="0"/>
              <a:t>Kyllähän minä näin toimisin, mutta kun nuo muut... Voivatko he muuttua?</a:t>
            </a:r>
          </a:p>
          <a:p>
            <a:r>
              <a:rPr lang="fi-FI" sz="2000" dirty="0" smtClean="0"/>
              <a:t>Mitä jos emme voi tehdä (taitojen puolesta) hyväksymistestiohjattua tarinapohjaista kehitystä eikä meillä ole automaatiota testeille? Sulkeeko se ketterät menetelmät pois?</a:t>
            </a:r>
          </a:p>
          <a:p>
            <a:r>
              <a:rPr lang="fi-FI" sz="2000" dirty="0" smtClean="0"/>
              <a:t>Mitä teen testausdokumentaation ja havaintokirjausten osalta ketterien menetelmien kanssa?</a:t>
            </a:r>
          </a:p>
          <a:p>
            <a:r>
              <a:rPr lang="fi-FI" sz="2000" i="1" dirty="0" smtClean="0"/>
              <a:t>&lt;Lisää suosikkisi&gt;</a:t>
            </a:r>
            <a:endParaRPr lang="fi-FI" sz="2000" i="1"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fi-FI" dirty="0" smtClean="0"/>
              <a:t>Ketterä testaus – Perinteisissä menetelmissä</a:t>
            </a:r>
            <a:endParaRPr lang="fi-FI" dirty="0"/>
          </a:p>
        </p:txBody>
      </p:sp>
      <p:sp>
        <p:nvSpPr>
          <p:cNvPr id="13" name="Text Placeholder 12"/>
          <p:cNvSpPr>
            <a:spLocks noGrp="1"/>
          </p:cNvSpPr>
          <p:nvPr>
            <p:ph type="body" idx="1"/>
          </p:nvPr>
        </p:nvSpPr>
        <p:spPr/>
        <p:txBody>
          <a:bodyPr/>
          <a:lstStyle/>
          <a:p>
            <a:endParaRPr lang="fi-FI"/>
          </a:p>
        </p:txBody>
      </p:sp>
      <p:pic>
        <p:nvPicPr>
          <p:cNvPr id="4100" name="Picture 4" descr="C:\Documents and Settings\Maaret\My Documents\My Pictures\Microsoft Clip Organizer\j0078810.wmf"/>
          <p:cNvPicPr>
            <a:picLocks noChangeAspect="1" noChangeArrowheads="1"/>
          </p:cNvPicPr>
          <p:nvPr/>
        </p:nvPicPr>
        <p:blipFill>
          <a:blip r:embed="rId3" cstate="print"/>
          <a:srcRect/>
          <a:stretch>
            <a:fillRect/>
          </a:stretch>
        </p:blipFill>
        <p:spPr bwMode="auto">
          <a:xfrm>
            <a:off x="4377763" y="438150"/>
            <a:ext cx="4405876" cy="299085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GB" dirty="0" err="1" smtClean="0"/>
              <a:t>Testaus</a:t>
            </a:r>
            <a:r>
              <a:rPr lang="en-GB" dirty="0" smtClean="0"/>
              <a:t> </a:t>
            </a:r>
            <a:r>
              <a:rPr lang="en-GB" dirty="0" err="1" smtClean="0"/>
              <a:t>puoliketterästi</a:t>
            </a:r>
            <a:r>
              <a:rPr lang="en-GB" dirty="0" smtClean="0"/>
              <a:t>  </a:t>
            </a:r>
            <a:br>
              <a:rPr lang="en-GB" dirty="0" smtClean="0"/>
            </a:br>
            <a:r>
              <a:rPr lang="en-GB" sz="4000" dirty="0" err="1" smtClean="0"/>
              <a:t>testaukseen</a:t>
            </a:r>
            <a:r>
              <a:rPr lang="en-GB" sz="4000" dirty="0" smtClean="0"/>
              <a:t> </a:t>
            </a:r>
            <a:r>
              <a:rPr lang="en-GB" sz="4000" dirty="0" err="1" smtClean="0"/>
              <a:t>ketterät</a:t>
            </a:r>
            <a:r>
              <a:rPr lang="en-GB" sz="4000" dirty="0" smtClean="0"/>
              <a:t> </a:t>
            </a:r>
            <a:r>
              <a:rPr lang="en-GB" sz="4000" dirty="0" err="1" smtClean="0"/>
              <a:t>arvot</a:t>
            </a:r>
            <a:r>
              <a:rPr lang="en-GB" sz="4000" dirty="0" smtClean="0"/>
              <a:t> </a:t>
            </a:r>
            <a:r>
              <a:rPr lang="en-GB" sz="4000" dirty="0" err="1" smtClean="0"/>
              <a:t>ja</a:t>
            </a:r>
            <a:r>
              <a:rPr lang="en-GB" sz="4000" dirty="0" smtClean="0"/>
              <a:t> </a:t>
            </a:r>
            <a:r>
              <a:rPr lang="en-GB" sz="4000" dirty="0" err="1" smtClean="0"/>
              <a:t>menetelmät</a:t>
            </a:r>
            <a:endParaRPr lang="en-US" dirty="0"/>
          </a:p>
        </p:txBody>
      </p:sp>
      <p:sp>
        <p:nvSpPr>
          <p:cNvPr id="3" name="Rectangle 2"/>
          <p:cNvSpPr/>
          <p:nvPr/>
        </p:nvSpPr>
        <p:spPr>
          <a:xfrm>
            <a:off x="214313" y="2286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Yleistestaus-suunnitelma</a:t>
            </a:r>
            <a:endParaRPr lang="en-US" dirty="0"/>
          </a:p>
        </p:txBody>
      </p:sp>
      <p:sp>
        <p:nvSpPr>
          <p:cNvPr id="5" name="Rectangle 4"/>
          <p:cNvSpPr/>
          <p:nvPr/>
        </p:nvSpPr>
        <p:spPr>
          <a:xfrm>
            <a:off x="2000250" y="2286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61444" name="TextBox 5"/>
          <p:cNvSpPr txBox="1">
            <a:spLocks noChangeArrowheads="1"/>
          </p:cNvSpPr>
          <p:nvPr/>
        </p:nvSpPr>
        <p:spPr bwMode="auto">
          <a:xfrm>
            <a:off x="1857375" y="1916113"/>
            <a:ext cx="1958975" cy="369887"/>
          </a:xfrm>
          <a:prstGeom prst="rect">
            <a:avLst/>
          </a:prstGeom>
          <a:noFill/>
          <a:ln w="9525">
            <a:noFill/>
            <a:miter lim="800000"/>
            <a:headEnd/>
            <a:tailEnd/>
          </a:ln>
        </p:spPr>
        <p:txBody>
          <a:bodyPr>
            <a:spAutoFit/>
          </a:bodyPr>
          <a:lstStyle/>
          <a:p>
            <a:pPr algn="ctr"/>
            <a:r>
              <a:rPr lang="en-GB"/>
              <a:t>Per taso / ryhmä</a:t>
            </a:r>
            <a:endParaRPr lang="en-US"/>
          </a:p>
        </p:txBody>
      </p:sp>
      <p:sp>
        <p:nvSpPr>
          <p:cNvPr id="7" name="Rectangle 6"/>
          <p:cNvSpPr/>
          <p:nvPr/>
        </p:nvSpPr>
        <p:spPr>
          <a:xfrm>
            <a:off x="3786188" y="2286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Aikarajausten</a:t>
            </a:r>
            <a:r>
              <a:rPr lang="en-GB" dirty="0"/>
              <a:t> </a:t>
            </a:r>
            <a:r>
              <a:rPr lang="en-GB" dirty="0" err="1"/>
              <a:t>aluekohdis-taminen</a:t>
            </a:r>
            <a:endParaRPr lang="en-US" dirty="0"/>
          </a:p>
        </p:txBody>
      </p:sp>
      <p:sp>
        <p:nvSpPr>
          <p:cNvPr id="61446" name="TextBox 7"/>
          <p:cNvSpPr txBox="1">
            <a:spLocks noChangeArrowheads="1"/>
          </p:cNvSpPr>
          <p:nvPr/>
        </p:nvSpPr>
        <p:spPr bwMode="auto">
          <a:xfrm>
            <a:off x="5214938" y="2416175"/>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9" name="Rectangle 8"/>
          <p:cNvSpPr/>
          <p:nvPr/>
        </p:nvSpPr>
        <p:spPr>
          <a:xfrm>
            <a:off x="6143625" y="2286000"/>
            <a:ext cx="135731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Testien</a:t>
            </a:r>
            <a:r>
              <a:rPr lang="en-GB" dirty="0"/>
              <a:t> </a:t>
            </a:r>
            <a:r>
              <a:rPr lang="en-GB" dirty="0" err="1"/>
              <a:t>suoritus</a:t>
            </a:r>
            <a:r>
              <a:rPr lang="en-GB" dirty="0"/>
              <a:t> </a:t>
            </a:r>
            <a:r>
              <a:rPr lang="en-GB" dirty="0" err="1"/>
              <a:t>alue/aika-varaus</a:t>
            </a:r>
            <a:r>
              <a:rPr lang="en-GB" dirty="0"/>
              <a:t> 1</a:t>
            </a:r>
            <a:endParaRPr lang="en-US" dirty="0"/>
          </a:p>
        </p:txBody>
      </p:sp>
      <p:sp>
        <p:nvSpPr>
          <p:cNvPr id="10" name="Rectangle 9"/>
          <p:cNvSpPr/>
          <p:nvPr/>
        </p:nvSpPr>
        <p:spPr>
          <a:xfrm>
            <a:off x="7715250" y="2286000"/>
            <a:ext cx="1285875"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Kattavuus-arviointi</a:t>
            </a:r>
            <a:endParaRPr lang="en-US" dirty="0"/>
          </a:p>
        </p:txBody>
      </p:sp>
      <p:cxnSp>
        <p:nvCxnSpPr>
          <p:cNvPr id="12" name="Straight Arrow Connector 11"/>
          <p:cNvCxnSpPr>
            <a:stCxn id="9" idx="3"/>
            <a:endCxn id="10" idx="1"/>
          </p:cNvCxnSpPr>
          <p:nvPr/>
        </p:nvCxnSpPr>
        <p:spPr>
          <a:xfrm>
            <a:off x="7500938" y="2820988"/>
            <a:ext cx="214312" cy="158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7715250" y="3571875"/>
            <a:ext cx="1285875"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Lisää</a:t>
            </a:r>
            <a:r>
              <a:rPr lang="en-GB" dirty="0"/>
              <a:t> </a:t>
            </a:r>
            <a:r>
              <a:rPr lang="en-GB" dirty="0" err="1"/>
              <a:t>aikavarauksia</a:t>
            </a:r>
            <a:r>
              <a:rPr lang="en-GB" dirty="0"/>
              <a:t> </a:t>
            </a:r>
            <a:r>
              <a:rPr lang="en-GB" dirty="0" err="1"/>
              <a:t>alueelle</a:t>
            </a:r>
            <a:endParaRPr lang="en-US" dirty="0"/>
          </a:p>
        </p:txBody>
      </p:sp>
      <p:sp>
        <p:nvSpPr>
          <p:cNvPr id="24" name="Rectangle 23"/>
          <p:cNvSpPr/>
          <p:nvPr/>
        </p:nvSpPr>
        <p:spPr>
          <a:xfrm>
            <a:off x="6143625" y="4929188"/>
            <a:ext cx="135731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Testien</a:t>
            </a:r>
            <a:r>
              <a:rPr lang="en-GB" dirty="0"/>
              <a:t> </a:t>
            </a:r>
            <a:r>
              <a:rPr lang="en-GB" dirty="0" err="1"/>
              <a:t>suoritus</a:t>
            </a:r>
            <a:r>
              <a:rPr lang="en-GB" dirty="0"/>
              <a:t> </a:t>
            </a:r>
            <a:r>
              <a:rPr lang="en-GB" dirty="0" err="1"/>
              <a:t>alue/aika-rajaus</a:t>
            </a:r>
            <a:r>
              <a:rPr lang="en-GB" dirty="0"/>
              <a:t> 2</a:t>
            </a:r>
            <a:endParaRPr lang="en-US" dirty="0"/>
          </a:p>
        </p:txBody>
      </p:sp>
      <p:cxnSp>
        <p:nvCxnSpPr>
          <p:cNvPr id="26" name="Elbow Connector 25"/>
          <p:cNvCxnSpPr>
            <a:stCxn id="10" idx="2"/>
            <a:endCxn id="23" idx="0"/>
          </p:cNvCxnSpPr>
          <p:nvPr/>
        </p:nvCxnSpPr>
        <p:spPr>
          <a:xfrm rot="5400000">
            <a:off x="8251032" y="3464719"/>
            <a:ext cx="215900" cy="1587"/>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
        <p:nvSpPr>
          <p:cNvPr id="27" name="Rectangle 26"/>
          <p:cNvSpPr/>
          <p:nvPr/>
        </p:nvSpPr>
        <p:spPr>
          <a:xfrm>
            <a:off x="7715250" y="4929188"/>
            <a:ext cx="1285875"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Kattavuus-arviointi</a:t>
            </a:r>
            <a:endParaRPr lang="en-US" dirty="0"/>
          </a:p>
        </p:txBody>
      </p:sp>
      <p:cxnSp>
        <p:nvCxnSpPr>
          <p:cNvPr id="28" name="Straight Arrow Connector 27"/>
          <p:cNvCxnSpPr>
            <a:endCxn id="27" idx="1"/>
          </p:cNvCxnSpPr>
          <p:nvPr/>
        </p:nvCxnSpPr>
        <p:spPr>
          <a:xfrm>
            <a:off x="7500938" y="5465763"/>
            <a:ext cx="214312" cy="158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9" name="Oval 28"/>
          <p:cNvSpPr/>
          <p:nvPr/>
        </p:nvSpPr>
        <p:spPr>
          <a:xfrm>
            <a:off x="8215313" y="6286500"/>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31" name="Straight Arrow Connector 30"/>
          <p:cNvCxnSpPr>
            <a:stCxn id="27" idx="2"/>
            <a:endCxn id="29" idx="0"/>
          </p:cNvCxnSpPr>
          <p:nvPr/>
        </p:nvCxnSpPr>
        <p:spPr>
          <a:xfrm rot="16200000" flipH="1">
            <a:off x="8215313" y="6143625"/>
            <a:ext cx="28575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61457" name="TextBox 31"/>
          <p:cNvSpPr txBox="1">
            <a:spLocks noChangeArrowheads="1"/>
          </p:cNvSpPr>
          <p:nvPr/>
        </p:nvSpPr>
        <p:spPr bwMode="auto">
          <a:xfrm>
            <a:off x="3571875" y="6140450"/>
            <a:ext cx="2071688" cy="646113"/>
          </a:xfrm>
          <a:prstGeom prst="rect">
            <a:avLst/>
          </a:prstGeom>
          <a:noFill/>
          <a:ln w="9525">
            <a:noFill/>
            <a:miter lim="800000"/>
            <a:headEnd/>
            <a:tailEnd/>
          </a:ln>
        </p:spPr>
        <p:txBody>
          <a:bodyPr>
            <a:spAutoFit/>
          </a:bodyPr>
          <a:lstStyle/>
          <a:p>
            <a:pPr algn="ctr"/>
            <a:r>
              <a:rPr lang="en-GB"/>
              <a:t>Suunniteltu pieni työmäärä</a:t>
            </a:r>
            <a:endParaRPr lang="en-US"/>
          </a:p>
        </p:txBody>
      </p:sp>
      <p:sp>
        <p:nvSpPr>
          <p:cNvPr id="61458" name="TextBox 32"/>
          <p:cNvSpPr txBox="1">
            <a:spLocks noChangeArrowheads="1"/>
          </p:cNvSpPr>
          <p:nvPr/>
        </p:nvSpPr>
        <p:spPr bwMode="auto">
          <a:xfrm rot="5400000">
            <a:off x="4267995" y="5374481"/>
            <a:ext cx="785812" cy="1323975"/>
          </a:xfrm>
          <a:prstGeom prst="rect">
            <a:avLst/>
          </a:prstGeom>
          <a:noFill/>
          <a:ln w="9525">
            <a:noFill/>
            <a:miter lim="800000"/>
            <a:headEnd/>
            <a:tailEnd/>
          </a:ln>
        </p:spPr>
        <p:txBody>
          <a:bodyPr>
            <a:spAutoFit/>
          </a:bodyPr>
          <a:lstStyle/>
          <a:p>
            <a:r>
              <a:rPr lang="en-GB" sz="8000"/>
              <a:t>}</a:t>
            </a:r>
            <a:endParaRPr lang="en-US" sz="8000"/>
          </a:p>
        </p:txBody>
      </p:sp>
      <p:sp>
        <p:nvSpPr>
          <p:cNvPr id="34" name="Rectangle 33"/>
          <p:cNvSpPr/>
          <p:nvPr/>
        </p:nvSpPr>
        <p:spPr>
          <a:xfrm>
            <a:off x="214282" y="4214818"/>
            <a:ext cx="2714644" cy="2357454"/>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r>
              <a:rPr lang="en-GB" b="1" dirty="0"/>
              <a:t>Idea</a:t>
            </a:r>
            <a:r>
              <a:rPr lang="en-GB" dirty="0"/>
              <a:t>: </a:t>
            </a:r>
            <a:br>
              <a:rPr lang="en-GB" dirty="0"/>
            </a:br>
            <a:r>
              <a:rPr lang="en-GB" dirty="0" err="1"/>
              <a:t>sijoitetaan</a:t>
            </a:r>
            <a:r>
              <a:rPr lang="en-GB" dirty="0"/>
              <a:t> </a:t>
            </a:r>
            <a:r>
              <a:rPr lang="en-GB" dirty="0" err="1"/>
              <a:t>suunnitteluaikakin</a:t>
            </a:r>
            <a:r>
              <a:rPr lang="en-GB" dirty="0"/>
              <a:t> </a:t>
            </a:r>
            <a:r>
              <a:rPr lang="en-GB" dirty="0" err="1"/>
              <a:t>ajankohtaan</a:t>
            </a:r>
            <a:r>
              <a:rPr lang="en-GB" dirty="0"/>
              <a:t> </a:t>
            </a:r>
            <a:r>
              <a:rPr lang="en-GB" dirty="0" err="1"/>
              <a:t>jossa</a:t>
            </a:r>
            <a:r>
              <a:rPr lang="en-GB" dirty="0"/>
              <a:t> </a:t>
            </a:r>
            <a:r>
              <a:rPr lang="en-GB" dirty="0" err="1"/>
              <a:t>tiedetään</a:t>
            </a:r>
            <a:r>
              <a:rPr lang="en-GB" dirty="0"/>
              <a:t> </a:t>
            </a:r>
            <a:r>
              <a:rPr lang="en-GB" dirty="0" err="1"/>
              <a:t>mahdollisimman</a:t>
            </a:r>
            <a:r>
              <a:rPr lang="en-GB" dirty="0"/>
              <a:t> </a:t>
            </a:r>
            <a:r>
              <a:rPr lang="en-GB" dirty="0" err="1"/>
              <a:t>paljon</a:t>
            </a:r>
            <a:endParaRPr lang="en-US" dirty="0"/>
          </a:p>
        </p:txBody>
      </p:sp>
      <p:sp>
        <p:nvSpPr>
          <p:cNvPr id="21" name="Slide Number Placeholder 20"/>
          <p:cNvSpPr>
            <a:spLocks noGrp="1"/>
          </p:cNvSpPr>
          <p:nvPr>
            <p:ph type="sldNum" sz="quarter" idx="12"/>
          </p:nvPr>
        </p:nvSpPr>
        <p:spPr/>
        <p:txBody>
          <a:bodyPr/>
          <a:lstStyle/>
          <a:p>
            <a:pPr>
              <a:defRPr/>
            </a:pPr>
            <a:fld id="{BF5CF4AC-C759-48FF-8690-91203C8CB0B2}" type="slidenum">
              <a:rPr lang="sv-SE"/>
              <a:pPr>
                <a:defRPr/>
              </a:pPr>
              <a:t>31</a:t>
            </a:fld>
            <a:endParaRPr lang="sv-SE"/>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Can Testing Alone Be Agile?</a:t>
            </a:r>
            <a:endParaRPr lang="en-US" dirty="0"/>
          </a:p>
        </p:txBody>
      </p:sp>
      <p:sp>
        <p:nvSpPr>
          <p:cNvPr id="3" name="Content Placeholder 2"/>
          <p:cNvSpPr>
            <a:spLocks noGrp="1"/>
          </p:cNvSpPr>
          <p:nvPr>
            <p:ph idx="1"/>
          </p:nvPr>
        </p:nvSpPr>
        <p:spPr/>
        <p:txBody>
          <a:bodyPr>
            <a:normAutofit fontScale="85000" lnSpcReduction="20000"/>
          </a:bodyPr>
          <a:lstStyle/>
          <a:p>
            <a:r>
              <a:rPr lang="en-GB" dirty="0" smtClean="0"/>
              <a:t>Look at the values</a:t>
            </a:r>
          </a:p>
          <a:p>
            <a:pPr lvl="1"/>
            <a:r>
              <a:rPr lang="en-GB" b="1" dirty="0" smtClean="0"/>
              <a:t>Individuals and interactions </a:t>
            </a:r>
            <a:r>
              <a:rPr lang="en-GB" dirty="0" smtClean="0"/>
              <a:t>over processes and tools</a:t>
            </a:r>
          </a:p>
          <a:p>
            <a:pPr lvl="1"/>
            <a:r>
              <a:rPr lang="en-GB" b="1" dirty="0" smtClean="0"/>
              <a:t>Working software </a:t>
            </a:r>
            <a:r>
              <a:rPr lang="en-GB" dirty="0" smtClean="0"/>
              <a:t>over comprehensive documentation</a:t>
            </a:r>
          </a:p>
          <a:p>
            <a:pPr lvl="1"/>
            <a:r>
              <a:rPr lang="en-GB" b="1" dirty="0" smtClean="0"/>
              <a:t>Customer collaboration </a:t>
            </a:r>
            <a:r>
              <a:rPr lang="en-GB" dirty="0" smtClean="0"/>
              <a:t>over contract negotiation</a:t>
            </a:r>
          </a:p>
          <a:p>
            <a:pPr lvl="1"/>
            <a:r>
              <a:rPr lang="en-GB" b="1" dirty="0" smtClean="0"/>
              <a:t>Responding to change </a:t>
            </a:r>
            <a:r>
              <a:rPr lang="en-GB" dirty="0" smtClean="0"/>
              <a:t>over following a plan</a:t>
            </a:r>
          </a:p>
          <a:p>
            <a:endParaRPr lang="en-GB" dirty="0" smtClean="0"/>
          </a:p>
          <a:p>
            <a:r>
              <a:rPr lang="en-GB" dirty="0" smtClean="0"/>
              <a:t>Think </a:t>
            </a:r>
            <a:r>
              <a:rPr lang="en-GB" b="1" i="1" dirty="0" smtClean="0"/>
              <a:t>flexible on all levels: strategies, plans, test cases</a:t>
            </a:r>
            <a:endParaRPr lang="en-GB" dirty="0" smtClean="0"/>
          </a:p>
          <a:p>
            <a:pPr lvl="1"/>
            <a:r>
              <a:rPr lang="en-GB" dirty="0" smtClean="0"/>
              <a:t>Testing always needs to respond to change</a:t>
            </a:r>
          </a:p>
          <a:p>
            <a:pPr lvl="1"/>
            <a:r>
              <a:rPr lang="en-GB" dirty="0" smtClean="0"/>
              <a:t>Any time you stop testing you should have done the best testing possible</a:t>
            </a:r>
          </a:p>
          <a:p>
            <a:pPr lvl="1"/>
            <a:r>
              <a:rPr lang="en-GB" dirty="0" smtClean="0"/>
              <a:t>How easy is it for you to be flexible and redo your plans regularly based on what you have learned?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fi-FI" dirty="0" smtClean="0"/>
              <a:t>Vaihteluväli</a:t>
            </a:r>
            <a:endParaRPr lang="fi-FI" dirty="0"/>
          </a:p>
        </p:txBody>
      </p:sp>
      <p:sp>
        <p:nvSpPr>
          <p:cNvPr id="13" name="Text Placeholder 12"/>
          <p:cNvSpPr>
            <a:spLocks noGrp="1"/>
          </p:cNvSpPr>
          <p:nvPr>
            <p:ph type="body" idx="1"/>
          </p:nvPr>
        </p:nvSpPr>
        <p:spPr/>
        <p:txBody>
          <a:bodyPr/>
          <a:lstStyle/>
          <a:p>
            <a:endParaRPr lang="fi-FI"/>
          </a:p>
        </p:txBody>
      </p:sp>
      <p:pic>
        <p:nvPicPr>
          <p:cNvPr id="5122" name="Picture 2" descr="C:\Documents and Settings\Maaret\My Documents\My Pictures\Microsoft Clip Organizer\j0078712.wmf"/>
          <p:cNvPicPr>
            <a:picLocks noChangeAspect="1" noChangeArrowheads="1"/>
          </p:cNvPicPr>
          <p:nvPr/>
        </p:nvPicPr>
        <p:blipFill>
          <a:blip r:embed="rId3" cstate="print"/>
          <a:srcRect/>
          <a:stretch>
            <a:fillRect/>
          </a:stretch>
        </p:blipFill>
        <p:spPr bwMode="auto">
          <a:xfrm>
            <a:off x="5130800" y="255587"/>
            <a:ext cx="3667125" cy="3935413"/>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Ketteryyden käytäntökeskustelun haasteena erilaiset tilanteet</a:t>
            </a:r>
            <a:endParaRPr lang="fi-FI" dirty="0"/>
          </a:p>
        </p:txBody>
      </p:sp>
      <p:sp>
        <p:nvSpPr>
          <p:cNvPr id="6" name="Right Triangle 5"/>
          <p:cNvSpPr/>
          <p:nvPr/>
        </p:nvSpPr>
        <p:spPr>
          <a:xfrm>
            <a:off x="642910" y="2783464"/>
            <a:ext cx="7715271" cy="193142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7" name="Right Triangle 6"/>
          <p:cNvSpPr/>
          <p:nvPr/>
        </p:nvSpPr>
        <p:spPr>
          <a:xfrm rot="10800000">
            <a:off x="642911" y="2783463"/>
            <a:ext cx="7715271" cy="1931420"/>
          </a:xfrm>
          <a:prstGeom prst="r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10" name="TextBox 9"/>
          <p:cNvSpPr txBox="1"/>
          <p:nvPr/>
        </p:nvSpPr>
        <p:spPr>
          <a:xfrm>
            <a:off x="428596" y="5214156"/>
            <a:ext cx="3071834" cy="646331"/>
          </a:xfrm>
          <a:prstGeom prst="rect">
            <a:avLst/>
          </a:prstGeom>
          <a:noFill/>
        </p:spPr>
        <p:txBody>
          <a:bodyPr wrap="square" rtlCol="0">
            <a:spAutoFit/>
          </a:bodyPr>
          <a:lstStyle/>
          <a:p>
            <a:r>
              <a:rPr lang="fi-FI" dirty="0" smtClean="0"/>
              <a:t>Suunnitelmaohjatut ”perinteiset” menetelmät</a:t>
            </a:r>
            <a:endParaRPr lang="fi-FI" dirty="0"/>
          </a:p>
        </p:txBody>
      </p:sp>
      <p:cxnSp>
        <p:nvCxnSpPr>
          <p:cNvPr id="12" name="Straight Arrow Connector 11"/>
          <p:cNvCxnSpPr/>
          <p:nvPr/>
        </p:nvCxnSpPr>
        <p:spPr>
          <a:xfrm rot="5400000" flipH="1" flipV="1">
            <a:off x="465109" y="4964123"/>
            <a:ext cx="356396" cy="794"/>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4" name="TextBox 13"/>
          <p:cNvSpPr txBox="1"/>
          <p:nvPr/>
        </p:nvSpPr>
        <p:spPr>
          <a:xfrm>
            <a:off x="5715008" y="1925413"/>
            <a:ext cx="2786082" cy="369332"/>
          </a:xfrm>
          <a:prstGeom prst="rect">
            <a:avLst/>
          </a:prstGeom>
          <a:noFill/>
        </p:spPr>
        <p:txBody>
          <a:bodyPr wrap="square" rtlCol="0">
            <a:spAutoFit/>
          </a:bodyPr>
          <a:lstStyle/>
          <a:p>
            <a:pPr algn="r"/>
            <a:r>
              <a:rPr lang="fi-FI" dirty="0" smtClean="0"/>
              <a:t>Ketterät menetelmät</a:t>
            </a:r>
            <a:endParaRPr lang="fi-FI" dirty="0"/>
          </a:p>
        </p:txBody>
      </p:sp>
      <p:cxnSp>
        <p:nvCxnSpPr>
          <p:cNvPr id="15" name="Straight Arrow Connector 14"/>
          <p:cNvCxnSpPr/>
          <p:nvPr/>
        </p:nvCxnSpPr>
        <p:spPr>
          <a:xfrm rot="5400000">
            <a:off x="8112546" y="2599709"/>
            <a:ext cx="357984" cy="9524"/>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8" name="Straight Connector 17"/>
          <p:cNvCxnSpPr/>
          <p:nvPr/>
        </p:nvCxnSpPr>
        <p:spPr>
          <a:xfrm rot="5400000">
            <a:off x="2998670" y="3641619"/>
            <a:ext cx="3003785" cy="0"/>
          </a:xfrm>
          <a:prstGeom prst="line">
            <a:avLst/>
          </a:prstGeom>
          <a:ln>
            <a:prstDash val="sysDash"/>
          </a:ln>
        </p:spPr>
        <p:style>
          <a:lnRef idx="3">
            <a:schemeClr val="accent3"/>
          </a:lnRef>
          <a:fillRef idx="0">
            <a:schemeClr val="accent3"/>
          </a:fillRef>
          <a:effectRef idx="2">
            <a:schemeClr val="accent3"/>
          </a:effectRef>
          <a:fontRef idx="minor">
            <a:schemeClr val="tx1"/>
          </a:fontRef>
        </p:style>
      </p:cxnSp>
      <p:sp>
        <p:nvSpPr>
          <p:cNvPr id="20" name="TextBox 19"/>
          <p:cNvSpPr txBox="1"/>
          <p:nvPr/>
        </p:nvSpPr>
        <p:spPr>
          <a:xfrm>
            <a:off x="1214414" y="1782537"/>
            <a:ext cx="3286148" cy="923330"/>
          </a:xfrm>
          <a:prstGeom prst="rect">
            <a:avLst/>
          </a:prstGeom>
          <a:noFill/>
        </p:spPr>
        <p:txBody>
          <a:bodyPr wrap="square" rtlCol="0">
            <a:spAutoFit/>
          </a:bodyPr>
          <a:lstStyle/>
          <a:p>
            <a:pPr algn="r"/>
            <a:r>
              <a:rPr lang="fi-FI" dirty="0" smtClean="0"/>
              <a:t>”Siirtymävaihe” jossa saadaan jo ketteryyden hyötyjä eikä vain lisääntynyttä tuskaa</a:t>
            </a:r>
            <a:endParaRPr lang="fi-FI" dirty="0"/>
          </a:p>
        </p:txBody>
      </p:sp>
      <p:cxnSp>
        <p:nvCxnSpPr>
          <p:cNvPr id="21" name="Straight Arrow Connector 20"/>
          <p:cNvCxnSpPr/>
          <p:nvPr/>
        </p:nvCxnSpPr>
        <p:spPr>
          <a:xfrm>
            <a:off x="4643438" y="3429000"/>
            <a:ext cx="419104"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23" name="Straight Arrow Connector 22"/>
          <p:cNvCxnSpPr/>
          <p:nvPr/>
        </p:nvCxnSpPr>
        <p:spPr>
          <a:xfrm rot="10800000">
            <a:off x="3857620" y="3429000"/>
            <a:ext cx="447676" cy="9524"/>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6" name="TextBox 25"/>
          <p:cNvSpPr txBox="1"/>
          <p:nvPr/>
        </p:nvSpPr>
        <p:spPr>
          <a:xfrm>
            <a:off x="4714876" y="5143512"/>
            <a:ext cx="4357718" cy="156966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i-FI" sz="1600" dirty="0" smtClean="0"/>
              <a:t>Paljon vaikuttavia tekijöitä:</a:t>
            </a:r>
          </a:p>
          <a:p>
            <a:r>
              <a:rPr lang="fi-FI" sz="1600" dirty="0" smtClean="0"/>
              <a:t>Skaala – monenko tiimin työstä puhutaan järjestelmän aikaansaamiseksi? </a:t>
            </a:r>
          </a:p>
          <a:p>
            <a:r>
              <a:rPr lang="fi-FI" sz="1600" dirty="0" smtClean="0"/>
              <a:t>Organisaatiokulttuuri – mikä koetaan mahdolliseksi ja järkeväksi suunnaksi tekemisen muutoksessa? </a:t>
            </a:r>
            <a:endParaRPr lang="fi-FI"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Ketterän testauksen vs. ketterän kehityksen kurssisisällöt</a:t>
            </a:r>
            <a:endParaRPr lang="fi-FI" dirty="0"/>
          </a:p>
        </p:txBody>
      </p:sp>
      <p:graphicFrame>
        <p:nvGraphicFramePr>
          <p:cNvPr id="4" name="Content Placeholder 3"/>
          <p:cNvGraphicFramePr>
            <a:graphicFrameLocks noGrp="1"/>
          </p:cNvGraphicFramePr>
          <p:nvPr>
            <p:ph idx="1"/>
          </p:nvPr>
        </p:nvGraphicFramePr>
        <p:xfrm>
          <a:off x="-1447800" y="1428736"/>
          <a:ext cx="9072594" cy="52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248400" y="2222480"/>
            <a:ext cx="2514600" cy="34163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fi-FI" sz="2400" dirty="0" smtClean="0"/>
              <a:t>Ketterässä tiimissä osaamiset eivät saa henkilöityä. Joukossa voi olla oppimis-/ seuran-tapainotuksia, joka ei tarkoita että ko. henkilö olisi ainoa tekijä.</a:t>
            </a:r>
            <a:endParaRPr lang="fi-FI"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Ketterät menetelmät</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76200" y="30575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Harjoitus: Ketterä sanastobingo</a:t>
            </a:r>
            <a:endParaRPr lang="fi-FI" dirty="0"/>
          </a:p>
        </p:txBody>
      </p:sp>
      <p:sp>
        <p:nvSpPr>
          <p:cNvPr id="6" name="Content Placeholder 5"/>
          <p:cNvSpPr>
            <a:spLocks noGrp="1"/>
          </p:cNvSpPr>
          <p:nvPr>
            <p:ph sz="half" idx="1"/>
          </p:nvPr>
        </p:nvSpPr>
        <p:spPr/>
        <p:txBody>
          <a:bodyPr>
            <a:normAutofit fontScale="92500" lnSpcReduction="10000"/>
          </a:bodyPr>
          <a:lstStyle/>
          <a:p>
            <a:r>
              <a:rPr lang="en-GB" dirty="0" err="1" smtClean="0"/>
              <a:t>Valitse</a:t>
            </a:r>
            <a:r>
              <a:rPr lang="en-GB" dirty="0" smtClean="0"/>
              <a:t> </a:t>
            </a:r>
            <a:r>
              <a:rPr lang="en-GB" dirty="0" err="1" smtClean="0"/>
              <a:t>ketteryyteen</a:t>
            </a:r>
            <a:r>
              <a:rPr lang="en-GB" dirty="0" smtClean="0"/>
              <a:t> </a:t>
            </a:r>
            <a:r>
              <a:rPr lang="en-GB" dirty="0" err="1" smtClean="0"/>
              <a:t>liittyvien</a:t>
            </a:r>
            <a:r>
              <a:rPr lang="en-GB" dirty="0" smtClean="0"/>
              <a:t> </a:t>
            </a:r>
            <a:r>
              <a:rPr lang="en-GB" dirty="0" err="1" smtClean="0"/>
              <a:t>käsitteiden</a:t>
            </a:r>
            <a:r>
              <a:rPr lang="en-GB" dirty="0" smtClean="0"/>
              <a:t> </a:t>
            </a:r>
            <a:r>
              <a:rPr lang="en-GB" dirty="0" err="1" smtClean="0"/>
              <a:t>listalta</a:t>
            </a:r>
            <a:r>
              <a:rPr lang="en-GB" dirty="0" smtClean="0"/>
              <a:t> 9 </a:t>
            </a:r>
            <a:r>
              <a:rPr lang="en-GB" dirty="0" err="1" smtClean="0"/>
              <a:t>jotka</a:t>
            </a:r>
            <a:r>
              <a:rPr lang="en-GB" dirty="0" smtClean="0"/>
              <a:t> </a:t>
            </a:r>
            <a:r>
              <a:rPr lang="en-GB" b="1" dirty="0" err="1" smtClean="0"/>
              <a:t>tunnet</a:t>
            </a:r>
            <a:r>
              <a:rPr lang="en-GB" b="1" dirty="0" smtClean="0"/>
              <a:t> </a:t>
            </a:r>
            <a:r>
              <a:rPr lang="en-GB" b="1" dirty="0" err="1" smtClean="0"/>
              <a:t>heikoimmin</a:t>
            </a:r>
            <a:endParaRPr lang="en-GB" b="1" dirty="0" smtClean="0"/>
          </a:p>
          <a:p>
            <a:r>
              <a:rPr lang="en-GB" dirty="0" err="1" smtClean="0"/>
              <a:t>Kirjoita</a:t>
            </a:r>
            <a:r>
              <a:rPr lang="en-GB" dirty="0" smtClean="0"/>
              <a:t> </a:t>
            </a:r>
            <a:r>
              <a:rPr lang="en-GB" dirty="0" err="1" smtClean="0"/>
              <a:t>nämä</a:t>
            </a:r>
            <a:r>
              <a:rPr lang="en-GB" dirty="0" smtClean="0"/>
              <a:t> 9 </a:t>
            </a:r>
            <a:r>
              <a:rPr lang="en-GB" dirty="0" err="1" smtClean="0"/>
              <a:t>omaan</a:t>
            </a:r>
            <a:r>
              <a:rPr lang="en-GB" dirty="0" smtClean="0"/>
              <a:t> </a:t>
            </a:r>
            <a:r>
              <a:rPr lang="en-GB" dirty="0" err="1" smtClean="0"/>
              <a:t>ruudukkoosi</a:t>
            </a:r>
            <a:endParaRPr lang="en-GB" dirty="0" smtClean="0"/>
          </a:p>
          <a:p>
            <a:endParaRPr lang="fi-FI" dirty="0"/>
          </a:p>
        </p:txBody>
      </p:sp>
      <p:sp>
        <p:nvSpPr>
          <p:cNvPr id="7" name="Content Placeholder 6"/>
          <p:cNvSpPr>
            <a:spLocks noGrp="1"/>
          </p:cNvSpPr>
          <p:nvPr>
            <p:ph sz="half" idx="2"/>
          </p:nvPr>
        </p:nvSpPr>
        <p:spPr/>
        <p:txBody>
          <a:bodyPr>
            <a:normAutofit fontScale="92500" lnSpcReduction="10000"/>
          </a:bodyPr>
          <a:lstStyle/>
          <a:p>
            <a:r>
              <a:rPr lang="fi-FI" dirty="0" smtClean="0"/>
              <a:t>Alan käymään läpi termejä oman käsitykseni mukaan helpoimmasta päästä</a:t>
            </a:r>
          </a:p>
          <a:p>
            <a:r>
              <a:rPr lang="fi-FI" dirty="0" smtClean="0"/>
              <a:t>Odotan kolmea keskeytystä ”BINGO!”</a:t>
            </a:r>
          </a:p>
          <a:p>
            <a:pPr lvl="1"/>
            <a:r>
              <a:rPr lang="fi-FI" dirty="0" smtClean="0"/>
              <a:t>Porukan ensimmäinen vaakarivi</a:t>
            </a:r>
          </a:p>
          <a:p>
            <a:pPr lvl="1"/>
            <a:r>
              <a:rPr lang="fi-FI" dirty="0" smtClean="0"/>
              <a:t>Porukan ensimmäinen pystyrivi</a:t>
            </a:r>
          </a:p>
          <a:p>
            <a:pPr lvl="1"/>
            <a:r>
              <a:rPr lang="fi-FI" dirty="0" smtClean="0"/>
              <a:t>Porukan ensimmäinen täysi taulukko</a:t>
            </a:r>
            <a:endParaRPr lang="fi-FI" dirty="0"/>
          </a:p>
        </p:txBody>
      </p:sp>
      <p:sp>
        <p:nvSpPr>
          <p:cNvPr id="8" name="Rectangle 7"/>
          <p:cNvSpPr/>
          <p:nvPr/>
        </p:nvSpPr>
        <p:spPr>
          <a:xfrm>
            <a:off x="304800" y="4495800"/>
            <a:ext cx="4191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b="1" dirty="0" smtClean="0">
                <a:latin typeface="Bradley Hand ITC" pitchFamily="66" charset="0"/>
              </a:rPr>
              <a:t>Palkitaan ensisijaisesti jos tarpeen tunnustaa ihan perustermienkin vieraus.</a:t>
            </a:r>
            <a:endParaRPr lang="fi-FI" sz="2400" b="1" dirty="0">
              <a:latin typeface="Bradley Hand ITC" pitchFamily="66"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457200" y="304800"/>
          <a:ext cx="8229600" cy="6324600"/>
        </p:xfrm>
        <a:graphic>
          <a:graphicData uri="http://schemas.openxmlformats.org/drawingml/2006/table">
            <a:tbl>
              <a:tblPr firstRow="1" bandRow="1">
                <a:tableStyleId>{C4B1156A-380E-4F78-BDF5-A606A8083BF9}</a:tableStyleId>
              </a:tblPr>
              <a:tblGrid>
                <a:gridCol w="2743200"/>
                <a:gridCol w="2743200"/>
                <a:gridCol w="2743200"/>
              </a:tblGrid>
              <a:tr h="2108200">
                <a:tc>
                  <a:txBody>
                    <a:bodyPr/>
                    <a:lstStyle/>
                    <a:p>
                      <a:endParaRPr lang="fi-FI" dirty="0"/>
                    </a:p>
                  </a:txBody>
                  <a:tcPr/>
                </a:tc>
                <a:tc>
                  <a:txBody>
                    <a:bodyPr/>
                    <a:lstStyle/>
                    <a:p>
                      <a:endParaRPr lang="fi-FI" dirty="0"/>
                    </a:p>
                  </a:txBody>
                  <a:tcPr/>
                </a:tc>
                <a:tc>
                  <a:txBody>
                    <a:bodyPr/>
                    <a:lstStyle/>
                    <a:p>
                      <a:endParaRPr lang="fi-FI"/>
                    </a:p>
                  </a:txBody>
                  <a:tcPr/>
                </a:tc>
              </a:tr>
              <a:tr h="2108200">
                <a:tc>
                  <a:txBody>
                    <a:bodyPr/>
                    <a:lstStyle/>
                    <a:p>
                      <a:endParaRPr lang="fi-FI"/>
                    </a:p>
                  </a:txBody>
                  <a:tcPr/>
                </a:tc>
                <a:tc>
                  <a:txBody>
                    <a:bodyPr/>
                    <a:lstStyle/>
                    <a:p>
                      <a:endParaRPr lang="fi-FI" dirty="0"/>
                    </a:p>
                  </a:txBody>
                  <a:tcPr/>
                </a:tc>
                <a:tc>
                  <a:txBody>
                    <a:bodyPr/>
                    <a:lstStyle/>
                    <a:p>
                      <a:endParaRPr lang="fi-FI" dirty="0"/>
                    </a:p>
                  </a:txBody>
                  <a:tcPr/>
                </a:tc>
              </a:tr>
              <a:tr h="2108200">
                <a:tc>
                  <a:txBody>
                    <a:bodyPr/>
                    <a:lstStyle/>
                    <a:p>
                      <a:endParaRPr lang="fi-FI"/>
                    </a:p>
                  </a:txBody>
                  <a:tcPr/>
                </a:tc>
                <a:tc>
                  <a:txBody>
                    <a:bodyPr/>
                    <a:lstStyle/>
                    <a:p>
                      <a:endParaRPr lang="fi-FI" dirty="0"/>
                    </a:p>
                  </a:txBody>
                  <a:tcPr/>
                </a:tc>
                <a:tc>
                  <a:txBody>
                    <a:bodyPr/>
                    <a:lstStyle/>
                    <a:p>
                      <a:endParaRPr lang="fi-FI" dirty="0"/>
                    </a:p>
                  </a:txBody>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7250"/>
            <a:ext cx="8382000" cy="1446550"/>
          </a:xfrm>
          <a:prstGeom prst="rect">
            <a:avLst/>
          </a:prstGeom>
          <a:noFill/>
        </p:spPr>
        <p:txBody>
          <a:bodyPr wrap="square" rtlCol="0">
            <a:spAutoFit/>
          </a:bodyPr>
          <a:lstStyle/>
          <a:p>
            <a:pPr algn="ctr"/>
            <a:r>
              <a:rPr lang="fi-FI" sz="8800" dirty="0" smtClean="0">
                <a:latin typeface="Bradley Hand ITC" pitchFamily="66" charset="0"/>
              </a:rPr>
              <a:t>sCRUM</a:t>
            </a:r>
            <a:endParaRPr lang="fi-FI" sz="8800" dirty="0">
              <a:latin typeface="Bradley Hand ITC" pitchFamily="66"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7250"/>
            <a:ext cx="8382000" cy="1446550"/>
          </a:xfrm>
          <a:prstGeom prst="rect">
            <a:avLst/>
          </a:prstGeom>
          <a:noFill/>
        </p:spPr>
        <p:txBody>
          <a:bodyPr wrap="square" rtlCol="0">
            <a:spAutoFit/>
          </a:bodyPr>
          <a:lstStyle/>
          <a:p>
            <a:pPr algn="ctr"/>
            <a:r>
              <a:rPr lang="fi-FI" sz="8800" dirty="0" smtClean="0">
                <a:latin typeface="Bradley Hand ITC" pitchFamily="66" charset="0"/>
              </a:rPr>
              <a:t>xp</a:t>
            </a:r>
            <a:endParaRPr lang="fi-FI" sz="8800" dirty="0">
              <a:latin typeface="Bradley Hand ITC" pitchFamily="66"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7250"/>
            <a:ext cx="8382000" cy="1446550"/>
          </a:xfrm>
          <a:prstGeom prst="rect">
            <a:avLst/>
          </a:prstGeom>
          <a:noFill/>
        </p:spPr>
        <p:txBody>
          <a:bodyPr wrap="square" rtlCol="0">
            <a:spAutoFit/>
          </a:bodyPr>
          <a:lstStyle/>
          <a:p>
            <a:pPr algn="ctr"/>
            <a:r>
              <a:rPr lang="fi-FI" sz="8800" dirty="0" smtClean="0">
                <a:latin typeface="Bradley Hand ITC" pitchFamily="66" charset="0"/>
              </a:rPr>
              <a:t>LEAN</a:t>
            </a:r>
            <a:endParaRPr lang="fi-FI" sz="8800" dirty="0">
              <a:latin typeface="Bradley Hand ITC" pitchFamily="66"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Kanban kehitystapa</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Kanban on imuohjaukseen perustuva aikataulutusmekanismi jolla rajoitetaan välivarastoja – Juuri oikeaan tarpeeseen -kehitys</a:t>
            </a:r>
          </a:p>
          <a:p>
            <a:r>
              <a:rPr lang="fi-FI" dirty="0" smtClean="0"/>
              <a:t>Keskeneräistä työtä rajoitetaan siten että se sopii kokonaistiimin läpimenokapasiteettiin</a:t>
            </a:r>
          </a:p>
          <a:p>
            <a:r>
              <a:rPr lang="en-US" dirty="0" err="1" smtClean="0"/>
              <a:t>Kanban</a:t>
            </a:r>
            <a:r>
              <a:rPr lang="en-US" dirty="0" smtClean="0"/>
              <a:t> </a:t>
            </a:r>
            <a:r>
              <a:rPr lang="en-US" dirty="0" err="1" smtClean="0"/>
              <a:t>kehitystavassa</a:t>
            </a:r>
            <a:r>
              <a:rPr lang="en-US" dirty="0" smtClean="0"/>
              <a:t>: </a:t>
            </a:r>
          </a:p>
          <a:p>
            <a:pPr lvl="1"/>
            <a:r>
              <a:rPr lang="en-US" dirty="0" err="1" smtClean="0"/>
              <a:t>Aikarajattu</a:t>
            </a:r>
            <a:r>
              <a:rPr lang="en-US" dirty="0" smtClean="0"/>
              <a:t> </a:t>
            </a:r>
            <a:r>
              <a:rPr lang="en-US" dirty="0" err="1" smtClean="0"/>
              <a:t>kehitystapa</a:t>
            </a:r>
            <a:r>
              <a:rPr lang="en-US" dirty="0" smtClean="0"/>
              <a:t> on </a:t>
            </a:r>
            <a:r>
              <a:rPr lang="en-US" dirty="0" err="1" smtClean="0"/>
              <a:t>poissa</a:t>
            </a:r>
            <a:endParaRPr lang="en-US" dirty="0" smtClean="0"/>
          </a:p>
          <a:p>
            <a:pPr lvl="1"/>
            <a:r>
              <a:rPr lang="en-US" dirty="0" err="1" smtClean="0"/>
              <a:t>Tarinat</a:t>
            </a:r>
            <a:r>
              <a:rPr lang="en-US" dirty="0" smtClean="0"/>
              <a:t> </a:t>
            </a:r>
            <a:r>
              <a:rPr lang="en-US" dirty="0" err="1" smtClean="0"/>
              <a:t>ovat</a:t>
            </a:r>
            <a:r>
              <a:rPr lang="en-US" dirty="0" smtClean="0"/>
              <a:t> </a:t>
            </a:r>
            <a:r>
              <a:rPr lang="en-US" dirty="0" err="1" smtClean="0"/>
              <a:t>suurempia</a:t>
            </a:r>
            <a:r>
              <a:rPr lang="en-US" dirty="0" smtClean="0"/>
              <a:t> </a:t>
            </a:r>
            <a:r>
              <a:rPr lang="en-US" dirty="0" err="1" smtClean="0"/>
              <a:t>ja</a:t>
            </a:r>
            <a:r>
              <a:rPr lang="en-US" dirty="0" smtClean="0"/>
              <a:t> </a:t>
            </a:r>
            <a:r>
              <a:rPr lang="en-US" dirty="0" err="1" smtClean="0"/>
              <a:t>niitä</a:t>
            </a:r>
            <a:r>
              <a:rPr lang="en-US" dirty="0" smtClean="0"/>
              <a:t> on </a:t>
            </a:r>
            <a:r>
              <a:rPr lang="en-US" dirty="0" err="1" smtClean="0"/>
              <a:t>vähemmän</a:t>
            </a:r>
            <a:endParaRPr lang="en-US" dirty="0" smtClean="0"/>
          </a:p>
          <a:p>
            <a:pPr lvl="1"/>
            <a:r>
              <a:rPr lang="en-US" dirty="0" err="1" smtClean="0"/>
              <a:t>Työmääräarviointi</a:t>
            </a:r>
            <a:r>
              <a:rPr lang="en-US" dirty="0" smtClean="0"/>
              <a:t> on </a:t>
            </a:r>
            <a:r>
              <a:rPr lang="en-US" dirty="0" err="1" smtClean="0"/>
              <a:t>vapaaehtoista</a:t>
            </a:r>
            <a:r>
              <a:rPr lang="en-US" dirty="0" smtClean="0"/>
              <a:t> tai </a:t>
            </a:r>
            <a:r>
              <a:rPr lang="en-US" dirty="0" err="1" smtClean="0"/>
              <a:t>sitä</a:t>
            </a:r>
            <a:r>
              <a:rPr lang="en-US" dirty="0" smtClean="0"/>
              <a:t> </a:t>
            </a:r>
            <a:r>
              <a:rPr lang="en-US" dirty="0" err="1" smtClean="0"/>
              <a:t>ei</a:t>
            </a:r>
            <a:r>
              <a:rPr lang="en-US" dirty="0" smtClean="0"/>
              <a:t> </a:t>
            </a:r>
            <a:r>
              <a:rPr lang="en-US" dirty="0" err="1" smtClean="0"/>
              <a:t>tehdä</a:t>
            </a:r>
            <a:endParaRPr lang="en-US" dirty="0" smtClean="0"/>
          </a:p>
          <a:p>
            <a:pPr lvl="1"/>
            <a:r>
              <a:rPr lang="en-US" dirty="0" err="1" smtClean="0"/>
              <a:t>Nopeus</a:t>
            </a:r>
            <a:r>
              <a:rPr lang="en-US" dirty="0" smtClean="0"/>
              <a:t> </a:t>
            </a:r>
            <a:r>
              <a:rPr lang="en-US" dirty="0" err="1" smtClean="0"/>
              <a:t>korvataan</a:t>
            </a:r>
            <a:r>
              <a:rPr lang="en-US" dirty="0" smtClean="0"/>
              <a:t> </a:t>
            </a:r>
            <a:r>
              <a:rPr lang="en-US" dirty="0" err="1" smtClean="0"/>
              <a:t>kiertoajan</a:t>
            </a:r>
            <a:r>
              <a:rPr lang="en-US" dirty="0" smtClean="0"/>
              <a:t> </a:t>
            </a:r>
            <a:r>
              <a:rPr lang="en-US" dirty="0" err="1" smtClean="0"/>
              <a:t>mittauksella</a:t>
            </a:r>
            <a:endParaRPr lang="en-US"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Esimerkki Kanban taulusta</a:t>
            </a:r>
            <a:endParaRPr lang="fi-FI" dirty="0"/>
          </a:p>
        </p:txBody>
      </p:sp>
      <p:sp>
        <p:nvSpPr>
          <p:cNvPr id="5" name="TextBox 4"/>
          <p:cNvSpPr txBox="1"/>
          <p:nvPr/>
        </p:nvSpPr>
        <p:spPr>
          <a:xfrm>
            <a:off x="609600" y="2057400"/>
            <a:ext cx="1447800" cy="307777"/>
          </a:xfrm>
          <a:prstGeom prst="rect">
            <a:avLst/>
          </a:prstGeom>
          <a:noFill/>
        </p:spPr>
        <p:txBody>
          <a:bodyPr wrap="square" rtlCol="0">
            <a:spAutoFit/>
          </a:bodyPr>
          <a:lstStyle/>
          <a:p>
            <a:r>
              <a:rPr lang="fi-FI" sz="1400" dirty="0" smtClean="0">
                <a:latin typeface="Comic Sans MS" pitchFamily="66" charset="0"/>
              </a:rPr>
              <a:t>Tavoitteet</a:t>
            </a:r>
            <a:endParaRPr lang="fi-FI" sz="1400" dirty="0">
              <a:latin typeface="Comic Sans MS" pitchFamily="66" charset="0"/>
            </a:endParaRPr>
          </a:p>
        </p:txBody>
      </p:sp>
      <p:sp>
        <p:nvSpPr>
          <p:cNvPr id="6" name="TextBox 5"/>
          <p:cNvSpPr txBox="1"/>
          <p:nvPr/>
        </p:nvSpPr>
        <p:spPr>
          <a:xfrm>
            <a:off x="1676400" y="2057400"/>
            <a:ext cx="1447800" cy="307777"/>
          </a:xfrm>
          <a:prstGeom prst="rect">
            <a:avLst/>
          </a:prstGeom>
          <a:noFill/>
        </p:spPr>
        <p:txBody>
          <a:bodyPr wrap="square" rtlCol="0">
            <a:spAutoFit/>
          </a:bodyPr>
          <a:lstStyle/>
          <a:p>
            <a:r>
              <a:rPr lang="fi-FI" sz="1400" dirty="0" smtClean="0">
                <a:latin typeface="Comic Sans MS" pitchFamily="66" charset="0"/>
              </a:rPr>
              <a:t>Tarinajono</a:t>
            </a:r>
            <a:endParaRPr lang="fi-FI" sz="1400" dirty="0">
              <a:latin typeface="Comic Sans MS" pitchFamily="66" charset="0"/>
            </a:endParaRPr>
          </a:p>
        </p:txBody>
      </p:sp>
      <p:sp>
        <p:nvSpPr>
          <p:cNvPr id="7" name="TextBox 6"/>
          <p:cNvSpPr txBox="1"/>
          <p:nvPr/>
        </p:nvSpPr>
        <p:spPr>
          <a:xfrm>
            <a:off x="3124200" y="1991380"/>
            <a:ext cx="1447800" cy="523220"/>
          </a:xfrm>
          <a:prstGeom prst="rect">
            <a:avLst/>
          </a:prstGeom>
          <a:noFill/>
        </p:spPr>
        <p:txBody>
          <a:bodyPr wrap="square" rtlCol="0">
            <a:spAutoFit/>
          </a:bodyPr>
          <a:lstStyle/>
          <a:p>
            <a:r>
              <a:rPr lang="fi-FI" sz="1400" dirty="0" smtClean="0">
                <a:latin typeface="Comic Sans MS" pitchFamily="66" charset="0"/>
              </a:rPr>
              <a:t>Kuvaus &amp; hyväksyntä</a:t>
            </a:r>
            <a:endParaRPr lang="fi-FI" sz="1400" dirty="0">
              <a:latin typeface="Comic Sans MS" pitchFamily="66" charset="0"/>
            </a:endParaRPr>
          </a:p>
        </p:txBody>
      </p:sp>
      <p:sp>
        <p:nvSpPr>
          <p:cNvPr id="8" name="TextBox 7"/>
          <p:cNvSpPr txBox="1"/>
          <p:nvPr/>
        </p:nvSpPr>
        <p:spPr>
          <a:xfrm>
            <a:off x="4724400" y="2057400"/>
            <a:ext cx="1447800" cy="307777"/>
          </a:xfrm>
          <a:prstGeom prst="rect">
            <a:avLst/>
          </a:prstGeom>
          <a:noFill/>
        </p:spPr>
        <p:txBody>
          <a:bodyPr wrap="square" rtlCol="0">
            <a:spAutoFit/>
          </a:bodyPr>
          <a:lstStyle/>
          <a:p>
            <a:r>
              <a:rPr lang="fi-FI" sz="1400" dirty="0" smtClean="0">
                <a:latin typeface="Comic Sans MS" pitchFamily="66" charset="0"/>
              </a:rPr>
              <a:t>Kehitys</a:t>
            </a:r>
            <a:endParaRPr lang="fi-FI" sz="1400" dirty="0">
              <a:latin typeface="Comic Sans MS" pitchFamily="66" charset="0"/>
            </a:endParaRPr>
          </a:p>
        </p:txBody>
      </p:sp>
      <p:sp>
        <p:nvSpPr>
          <p:cNvPr id="9" name="TextBox 8"/>
          <p:cNvSpPr txBox="1"/>
          <p:nvPr/>
        </p:nvSpPr>
        <p:spPr>
          <a:xfrm>
            <a:off x="5867400" y="2057400"/>
            <a:ext cx="1447800" cy="307777"/>
          </a:xfrm>
          <a:prstGeom prst="rect">
            <a:avLst/>
          </a:prstGeom>
          <a:noFill/>
        </p:spPr>
        <p:txBody>
          <a:bodyPr wrap="square" rtlCol="0">
            <a:spAutoFit/>
          </a:bodyPr>
          <a:lstStyle/>
          <a:p>
            <a:r>
              <a:rPr lang="fi-FI" sz="1400" dirty="0" smtClean="0">
                <a:latin typeface="Comic Sans MS" pitchFamily="66" charset="0"/>
              </a:rPr>
              <a:t>Testaus</a:t>
            </a:r>
            <a:endParaRPr lang="fi-FI" sz="1400" dirty="0">
              <a:latin typeface="Comic Sans MS" pitchFamily="66" charset="0"/>
            </a:endParaRPr>
          </a:p>
        </p:txBody>
      </p:sp>
      <p:sp>
        <p:nvSpPr>
          <p:cNvPr id="10" name="TextBox 9"/>
          <p:cNvSpPr txBox="1"/>
          <p:nvPr/>
        </p:nvSpPr>
        <p:spPr>
          <a:xfrm>
            <a:off x="6934200" y="1981200"/>
            <a:ext cx="1447800" cy="523220"/>
          </a:xfrm>
          <a:prstGeom prst="rect">
            <a:avLst/>
          </a:prstGeom>
          <a:noFill/>
        </p:spPr>
        <p:txBody>
          <a:bodyPr wrap="square" rtlCol="0">
            <a:spAutoFit/>
          </a:bodyPr>
          <a:lstStyle/>
          <a:p>
            <a:r>
              <a:rPr lang="fi-FI" sz="1400" dirty="0" smtClean="0">
                <a:latin typeface="Comic Sans MS" pitchFamily="66" charset="0"/>
              </a:rPr>
              <a:t>Käyttöön-</a:t>
            </a:r>
            <a:br>
              <a:rPr lang="fi-FI" sz="1400" dirty="0" smtClean="0">
                <a:latin typeface="Comic Sans MS" pitchFamily="66" charset="0"/>
              </a:rPr>
            </a:br>
            <a:r>
              <a:rPr lang="fi-FI" sz="1400" dirty="0" smtClean="0">
                <a:latin typeface="Comic Sans MS" pitchFamily="66" charset="0"/>
              </a:rPr>
              <a:t>otto</a:t>
            </a:r>
            <a:endParaRPr lang="fi-FI" sz="1400" dirty="0">
              <a:latin typeface="Comic Sans MS" pitchFamily="66" charset="0"/>
            </a:endParaRPr>
          </a:p>
        </p:txBody>
      </p:sp>
      <p:sp>
        <p:nvSpPr>
          <p:cNvPr id="11" name="TextBox 10"/>
          <p:cNvSpPr txBox="1"/>
          <p:nvPr/>
        </p:nvSpPr>
        <p:spPr>
          <a:xfrm>
            <a:off x="8077200" y="2067580"/>
            <a:ext cx="990600" cy="307777"/>
          </a:xfrm>
          <a:prstGeom prst="rect">
            <a:avLst/>
          </a:prstGeom>
          <a:noFill/>
        </p:spPr>
        <p:txBody>
          <a:bodyPr wrap="square" rtlCol="0">
            <a:spAutoFit/>
          </a:bodyPr>
          <a:lstStyle/>
          <a:p>
            <a:r>
              <a:rPr lang="fi-FI" sz="1400" dirty="0" smtClean="0">
                <a:latin typeface="Comic Sans MS" pitchFamily="66" charset="0"/>
              </a:rPr>
              <a:t>VALMIS!</a:t>
            </a:r>
            <a:endParaRPr lang="fi-FI" sz="1400" dirty="0">
              <a:latin typeface="Comic Sans MS" pitchFamily="66" charset="0"/>
            </a:endParaRPr>
          </a:p>
        </p:txBody>
      </p:sp>
      <p:sp>
        <p:nvSpPr>
          <p:cNvPr id="12" name="TextBox 11"/>
          <p:cNvSpPr txBox="1"/>
          <p:nvPr/>
        </p:nvSpPr>
        <p:spPr>
          <a:xfrm>
            <a:off x="533400" y="1524000"/>
            <a:ext cx="1447800" cy="307777"/>
          </a:xfrm>
          <a:prstGeom prst="rect">
            <a:avLst/>
          </a:prstGeom>
          <a:noFill/>
        </p:spPr>
        <p:txBody>
          <a:bodyPr wrap="square" rtlCol="0">
            <a:spAutoFit/>
          </a:bodyPr>
          <a:lstStyle/>
          <a:p>
            <a:r>
              <a:rPr lang="fi-FI" sz="1400" dirty="0" smtClean="0">
                <a:latin typeface="Comic Sans MS" pitchFamily="66" charset="0"/>
              </a:rPr>
              <a:t>Pikatie</a:t>
            </a:r>
            <a:r>
              <a:rPr lang="fi-FI" sz="1400" dirty="0" smtClean="0">
                <a:latin typeface="Comic Sans MS" pitchFamily="66" charset="0"/>
                <a:sym typeface="Wingdings" pitchFamily="2" charset="2"/>
              </a:rPr>
              <a:t> </a:t>
            </a:r>
            <a:endParaRPr lang="fi-FI" sz="1400" dirty="0">
              <a:latin typeface="Comic Sans MS" pitchFamily="66" charset="0"/>
            </a:endParaRPr>
          </a:p>
        </p:txBody>
      </p:sp>
      <p:sp>
        <p:nvSpPr>
          <p:cNvPr id="13" name="Rectangle 12"/>
          <p:cNvSpPr/>
          <p:nvPr/>
        </p:nvSpPr>
        <p:spPr>
          <a:xfrm>
            <a:off x="1981200" y="1447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14" name="Rectangle 13"/>
          <p:cNvSpPr/>
          <p:nvPr/>
        </p:nvSpPr>
        <p:spPr>
          <a:xfrm>
            <a:off x="2057400" y="1524000"/>
            <a:ext cx="685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5" name="TextBox 14"/>
          <p:cNvSpPr txBox="1"/>
          <p:nvPr/>
        </p:nvSpPr>
        <p:spPr>
          <a:xfrm>
            <a:off x="2133600" y="6019800"/>
            <a:ext cx="381000" cy="523220"/>
          </a:xfrm>
          <a:prstGeom prst="rect">
            <a:avLst/>
          </a:prstGeom>
          <a:noFill/>
        </p:spPr>
        <p:txBody>
          <a:bodyPr wrap="square" rtlCol="0">
            <a:spAutoFit/>
          </a:bodyPr>
          <a:lstStyle/>
          <a:p>
            <a:r>
              <a:rPr lang="fi-FI" sz="2800" dirty="0" smtClean="0">
                <a:latin typeface="Comic Sans MS" pitchFamily="66" charset="0"/>
              </a:rPr>
              <a:t>5</a:t>
            </a:r>
            <a:endParaRPr lang="fi-FI" sz="2800" dirty="0">
              <a:latin typeface="Comic Sans MS" pitchFamily="66" charset="0"/>
            </a:endParaRPr>
          </a:p>
        </p:txBody>
      </p:sp>
      <p:sp>
        <p:nvSpPr>
          <p:cNvPr id="16" name="TextBox 15"/>
          <p:cNvSpPr txBox="1"/>
          <p:nvPr/>
        </p:nvSpPr>
        <p:spPr>
          <a:xfrm>
            <a:off x="3581400" y="6019800"/>
            <a:ext cx="381000" cy="523220"/>
          </a:xfrm>
          <a:prstGeom prst="rect">
            <a:avLst/>
          </a:prstGeom>
          <a:noFill/>
        </p:spPr>
        <p:txBody>
          <a:bodyPr wrap="square" rtlCol="0">
            <a:spAutoFit/>
          </a:bodyPr>
          <a:lstStyle/>
          <a:p>
            <a:r>
              <a:rPr lang="fi-FI" sz="2800" dirty="0" smtClean="0">
                <a:latin typeface="Comic Sans MS" pitchFamily="66" charset="0"/>
              </a:rPr>
              <a:t>3</a:t>
            </a:r>
            <a:endParaRPr lang="fi-FI" sz="2800" dirty="0">
              <a:latin typeface="Comic Sans MS" pitchFamily="66" charset="0"/>
            </a:endParaRPr>
          </a:p>
        </p:txBody>
      </p:sp>
      <p:sp>
        <p:nvSpPr>
          <p:cNvPr id="17" name="TextBox 16"/>
          <p:cNvSpPr txBox="1"/>
          <p:nvPr/>
        </p:nvSpPr>
        <p:spPr>
          <a:xfrm>
            <a:off x="4953000" y="6019800"/>
            <a:ext cx="381000" cy="523220"/>
          </a:xfrm>
          <a:prstGeom prst="rect">
            <a:avLst/>
          </a:prstGeom>
          <a:noFill/>
        </p:spPr>
        <p:txBody>
          <a:bodyPr wrap="square" rtlCol="0">
            <a:spAutoFit/>
          </a:bodyPr>
          <a:lstStyle/>
          <a:p>
            <a:r>
              <a:rPr lang="fi-FI" sz="2800" dirty="0" smtClean="0">
                <a:latin typeface="Comic Sans MS" pitchFamily="66" charset="0"/>
              </a:rPr>
              <a:t>5</a:t>
            </a:r>
            <a:endParaRPr lang="fi-FI" sz="2800" dirty="0">
              <a:latin typeface="Comic Sans MS" pitchFamily="66" charset="0"/>
            </a:endParaRPr>
          </a:p>
        </p:txBody>
      </p:sp>
      <p:sp>
        <p:nvSpPr>
          <p:cNvPr id="18" name="TextBox 17"/>
          <p:cNvSpPr txBox="1"/>
          <p:nvPr/>
        </p:nvSpPr>
        <p:spPr>
          <a:xfrm>
            <a:off x="6096000" y="6019800"/>
            <a:ext cx="381000" cy="523220"/>
          </a:xfrm>
          <a:prstGeom prst="rect">
            <a:avLst/>
          </a:prstGeom>
          <a:noFill/>
        </p:spPr>
        <p:txBody>
          <a:bodyPr wrap="square" rtlCol="0">
            <a:spAutoFit/>
          </a:bodyPr>
          <a:lstStyle/>
          <a:p>
            <a:r>
              <a:rPr lang="fi-FI" sz="2800" dirty="0" smtClean="0">
                <a:latin typeface="Comic Sans MS" pitchFamily="66" charset="0"/>
              </a:rPr>
              <a:t>3</a:t>
            </a:r>
            <a:endParaRPr lang="fi-FI" sz="2800" dirty="0">
              <a:latin typeface="Comic Sans MS" pitchFamily="66" charset="0"/>
            </a:endParaRPr>
          </a:p>
        </p:txBody>
      </p:sp>
      <p:sp>
        <p:nvSpPr>
          <p:cNvPr id="19" name="TextBox 18"/>
          <p:cNvSpPr txBox="1"/>
          <p:nvPr/>
        </p:nvSpPr>
        <p:spPr>
          <a:xfrm>
            <a:off x="7239000" y="6029980"/>
            <a:ext cx="381000" cy="523220"/>
          </a:xfrm>
          <a:prstGeom prst="rect">
            <a:avLst/>
          </a:prstGeom>
          <a:noFill/>
        </p:spPr>
        <p:txBody>
          <a:bodyPr wrap="square" rtlCol="0">
            <a:spAutoFit/>
          </a:bodyPr>
          <a:lstStyle/>
          <a:p>
            <a:r>
              <a:rPr lang="fi-FI" sz="2800" dirty="0" smtClean="0">
                <a:latin typeface="Comic Sans MS" pitchFamily="66" charset="0"/>
              </a:rPr>
              <a:t>1</a:t>
            </a:r>
            <a:endParaRPr lang="fi-FI" sz="2800" dirty="0">
              <a:latin typeface="Comic Sans MS" pitchFamily="66" charset="0"/>
            </a:endParaRPr>
          </a:p>
        </p:txBody>
      </p:sp>
      <p:cxnSp>
        <p:nvCxnSpPr>
          <p:cNvPr id="22" name="Straight Connector 21"/>
          <p:cNvCxnSpPr/>
          <p:nvPr/>
        </p:nvCxnSpPr>
        <p:spPr>
          <a:xfrm>
            <a:off x="609600" y="2514600"/>
            <a:ext cx="830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5867400" y="3962400"/>
            <a:ext cx="411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800600" y="3962400"/>
            <a:ext cx="411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3657600" y="3962400"/>
            <a:ext cx="411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2400300" y="4000500"/>
            <a:ext cx="419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90599" y="4038599"/>
            <a:ext cx="411480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419100" y="4076700"/>
            <a:ext cx="4191000"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352800" y="1447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1" name="Rectangle 30"/>
          <p:cNvSpPr/>
          <p:nvPr/>
        </p:nvSpPr>
        <p:spPr>
          <a:xfrm>
            <a:off x="4724400" y="1447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2" name="Rectangle 31"/>
          <p:cNvSpPr/>
          <p:nvPr/>
        </p:nvSpPr>
        <p:spPr>
          <a:xfrm>
            <a:off x="5943600" y="1447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3" name="Rectangle 32"/>
          <p:cNvSpPr/>
          <p:nvPr/>
        </p:nvSpPr>
        <p:spPr>
          <a:xfrm>
            <a:off x="7010400" y="1447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5" name="Rectangle 34"/>
          <p:cNvSpPr/>
          <p:nvPr/>
        </p:nvSpPr>
        <p:spPr>
          <a:xfrm>
            <a:off x="3352800" y="32004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7" name="Rectangle 36"/>
          <p:cNvSpPr/>
          <p:nvPr/>
        </p:nvSpPr>
        <p:spPr>
          <a:xfrm>
            <a:off x="1905000" y="2590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38" name="Rectangle 37"/>
          <p:cNvSpPr/>
          <p:nvPr/>
        </p:nvSpPr>
        <p:spPr>
          <a:xfrm>
            <a:off x="1981200" y="2667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39" name="Rectangle 38"/>
          <p:cNvSpPr/>
          <p:nvPr/>
        </p:nvSpPr>
        <p:spPr>
          <a:xfrm>
            <a:off x="1905000" y="32004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40" name="Rectangle 39"/>
          <p:cNvSpPr/>
          <p:nvPr/>
        </p:nvSpPr>
        <p:spPr>
          <a:xfrm>
            <a:off x="1981200" y="3276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1" name="Rectangle 40"/>
          <p:cNvSpPr/>
          <p:nvPr/>
        </p:nvSpPr>
        <p:spPr>
          <a:xfrm>
            <a:off x="1905000" y="38100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42" name="Rectangle 41"/>
          <p:cNvSpPr/>
          <p:nvPr/>
        </p:nvSpPr>
        <p:spPr>
          <a:xfrm>
            <a:off x="1981200" y="38862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3" name="Rectangle 42"/>
          <p:cNvSpPr/>
          <p:nvPr/>
        </p:nvSpPr>
        <p:spPr>
          <a:xfrm>
            <a:off x="1905000" y="44196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44" name="Rectangle 43"/>
          <p:cNvSpPr/>
          <p:nvPr/>
        </p:nvSpPr>
        <p:spPr>
          <a:xfrm>
            <a:off x="1981200" y="44958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5" name="Rectangle 44"/>
          <p:cNvSpPr/>
          <p:nvPr/>
        </p:nvSpPr>
        <p:spPr>
          <a:xfrm>
            <a:off x="1905000" y="50292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46" name="Rectangle 45"/>
          <p:cNvSpPr/>
          <p:nvPr/>
        </p:nvSpPr>
        <p:spPr>
          <a:xfrm>
            <a:off x="1981200" y="51054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7" name="Rectangle 46"/>
          <p:cNvSpPr/>
          <p:nvPr/>
        </p:nvSpPr>
        <p:spPr>
          <a:xfrm>
            <a:off x="3352800" y="2590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48" name="Rectangle 47"/>
          <p:cNvSpPr/>
          <p:nvPr/>
        </p:nvSpPr>
        <p:spPr>
          <a:xfrm>
            <a:off x="3429000" y="2667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9" name="Rectangle 48"/>
          <p:cNvSpPr/>
          <p:nvPr/>
        </p:nvSpPr>
        <p:spPr>
          <a:xfrm>
            <a:off x="3352800" y="51816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50" name="Rectangle 49"/>
          <p:cNvSpPr/>
          <p:nvPr/>
        </p:nvSpPr>
        <p:spPr>
          <a:xfrm>
            <a:off x="3429000" y="52578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1" name="Rectangle 50"/>
          <p:cNvSpPr/>
          <p:nvPr/>
        </p:nvSpPr>
        <p:spPr>
          <a:xfrm>
            <a:off x="4724400" y="2590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52" name="Rectangle 51"/>
          <p:cNvSpPr/>
          <p:nvPr/>
        </p:nvSpPr>
        <p:spPr>
          <a:xfrm>
            <a:off x="4800600" y="2667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3" name="Rectangle 52"/>
          <p:cNvSpPr/>
          <p:nvPr/>
        </p:nvSpPr>
        <p:spPr>
          <a:xfrm>
            <a:off x="4724400" y="32004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54" name="Rectangle 53"/>
          <p:cNvSpPr/>
          <p:nvPr/>
        </p:nvSpPr>
        <p:spPr>
          <a:xfrm>
            <a:off x="4800600" y="3276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5" name="Rectangle 54"/>
          <p:cNvSpPr/>
          <p:nvPr/>
        </p:nvSpPr>
        <p:spPr>
          <a:xfrm>
            <a:off x="4724400" y="38100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56" name="Rectangle 55"/>
          <p:cNvSpPr/>
          <p:nvPr/>
        </p:nvSpPr>
        <p:spPr>
          <a:xfrm>
            <a:off x="4800600" y="38862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7" name="Rectangle 56"/>
          <p:cNvSpPr/>
          <p:nvPr/>
        </p:nvSpPr>
        <p:spPr>
          <a:xfrm>
            <a:off x="4724400" y="44196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58" name="Rectangle 57"/>
          <p:cNvSpPr/>
          <p:nvPr/>
        </p:nvSpPr>
        <p:spPr>
          <a:xfrm>
            <a:off x="4800600" y="44958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9" name="Rectangle 58"/>
          <p:cNvSpPr/>
          <p:nvPr/>
        </p:nvSpPr>
        <p:spPr>
          <a:xfrm>
            <a:off x="4724400" y="51816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61" name="Rectangle 60"/>
          <p:cNvSpPr/>
          <p:nvPr/>
        </p:nvSpPr>
        <p:spPr>
          <a:xfrm>
            <a:off x="5867400" y="2590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62" name="Rectangle 61"/>
          <p:cNvSpPr/>
          <p:nvPr/>
        </p:nvSpPr>
        <p:spPr>
          <a:xfrm>
            <a:off x="5943600" y="2667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63" name="Rectangle 62"/>
          <p:cNvSpPr/>
          <p:nvPr/>
        </p:nvSpPr>
        <p:spPr>
          <a:xfrm>
            <a:off x="5867400" y="32004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64" name="Rectangle 63"/>
          <p:cNvSpPr/>
          <p:nvPr/>
        </p:nvSpPr>
        <p:spPr>
          <a:xfrm>
            <a:off x="5943600" y="3276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65" name="Rectangle 64"/>
          <p:cNvSpPr/>
          <p:nvPr/>
        </p:nvSpPr>
        <p:spPr>
          <a:xfrm>
            <a:off x="5867400" y="51816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67" name="Rectangle 66"/>
          <p:cNvSpPr/>
          <p:nvPr/>
        </p:nvSpPr>
        <p:spPr>
          <a:xfrm>
            <a:off x="7010400" y="2590800"/>
            <a:ext cx="838200" cy="76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 </a:t>
            </a:r>
            <a:endParaRPr lang="fi-FI" dirty="0"/>
          </a:p>
        </p:txBody>
      </p:sp>
      <p:sp>
        <p:nvSpPr>
          <p:cNvPr id="68" name="Rectangle 67"/>
          <p:cNvSpPr/>
          <p:nvPr/>
        </p:nvSpPr>
        <p:spPr>
          <a:xfrm>
            <a:off x="7086600" y="2667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69" name="Rectangle 68"/>
          <p:cNvSpPr/>
          <p:nvPr/>
        </p:nvSpPr>
        <p:spPr>
          <a:xfrm>
            <a:off x="8001000" y="27432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0" name="Rectangle 69"/>
          <p:cNvSpPr/>
          <p:nvPr/>
        </p:nvSpPr>
        <p:spPr>
          <a:xfrm>
            <a:off x="8229600" y="2895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1" name="Rectangle 70"/>
          <p:cNvSpPr/>
          <p:nvPr/>
        </p:nvSpPr>
        <p:spPr>
          <a:xfrm>
            <a:off x="8001000" y="31242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2" name="Rectangle 71"/>
          <p:cNvSpPr/>
          <p:nvPr/>
        </p:nvSpPr>
        <p:spPr>
          <a:xfrm>
            <a:off x="8153400" y="3657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3" name="Rectangle 72"/>
          <p:cNvSpPr/>
          <p:nvPr/>
        </p:nvSpPr>
        <p:spPr>
          <a:xfrm>
            <a:off x="8001000" y="38100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4" name="Rectangle 73"/>
          <p:cNvSpPr/>
          <p:nvPr/>
        </p:nvSpPr>
        <p:spPr>
          <a:xfrm>
            <a:off x="8229600" y="4038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5" name="Rectangle 74"/>
          <p:cNvSpPr/>
          <p:nvPr/>
        </p:nvSpPr>
        <p:spPr>
          <a:xfrm>
            <a:off x="8001000" y="4419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76" name="Rectangle 75"/>
          <p:cNvSpPr/>
          <p:nvPr/>
        </p:nvSpPr>
        <p:spPr>
          <a:xfrm>
            <a:off x="8153400" y="5181600"/>
            <a:ext cx="6858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cxnSp>
        <p:nvCxnSpPr>
          <p:cNvPr id="99" name="Straight Connector 98"/>
          <p:cNvCxnSpPr/>
          <p:nvPr/>
        </p:nvCxnSpPr>
        <p:spPr>
          <a:xfrm>
            <a:off x="3048000" y="5105400"/>
            <a:ext cx="381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0" y="2690336"/>
            <a:ext cx="1447800" cy="523220"/>
          </a:xfrm>
          <a:prstGeom prst="rect">
            <a:avLst/>
          </a:prstGeom>
          <a:noFill/>
        </p:spPr>
        <p:txBody>
          <a:bodyPr wrap="square" rtlCol="0">
            <a:spAutoFit/>
          </a:bodyPr>
          <a:lstStyle/>
          <a:p>
            <a:r>
              <a:rPr lang="fi-FI" sz="1400" dirty="0" smtClean="0">
                <a:latin typeface="Bradley Hand ITC" pitchFamily="66" charset="0"/>
              </a:rPr>
              <a:t>Täällä odotat </a:t>
            </a:r>
            <a:br>
              <a:rPr lang="fi-FI" sz="1400" dirty="0" smtClean="0">
                <a:latin typeface="Bradley Hand ITC" pitchFamily="66" charset="0"/>
              </a:rPr>
            </a:br>
            <a:r>
              <a:rPr lang="fi-FI" sz="1400" b="1" dirty="0" smtClean="0">
                <a:latin typeface="Bradley Hand ITC" pitchFamily="66" charset="0"/>
              </a:rPr>
              <a:t>14 </a:t>
            </a:r>
            <a:r>
              <a:rPr lang="fi-FI" sz="1400" dirty="0" smtClean="0">
                <a:latin typeface="Bradley Hand ITC" pitchFamily="66" charset="0"/>
              </a:rPr>
              <a:t>päivää</a:t>
            </a:r>
            <a:endParaRPr lang="fi-FI" sz="1400" dirty="0">
              <a:latin typeface="Bradley Hand ITC" pitchFamily="66" charset="0"/>
            </a:endParaRPr>
          </a:p>
        </p:txBody>
      </p:sp>
      <p:sp>
        <p:nvSpPr>
          <p:cNvPr id="101" name="TextBox 100"/>
          <p:cNvSpPr txBox="1"/>
          <p:nvPr/>
        </p:nvSpPr>
        <p:spPr>
          <a:xfrm>
            <a:off x="0" y="5257800"/>
            <a:ext cx="1447800" cy="523220"/>
          </a:xfrm>
          <a:prstGeom prst="rect">
            <a:avLst/>
          </a:prstGeom>
          <a:noFill/>
        </p:spPr>
        <p:txBody>
          <a:bodyPr wrap="square" rtlCol="0">
            <a:spAutoFit/>
          </a:bodyPr>
          <a:lstStyle/>
          <a:p>
            <a:r>
              <a:rPr lang="fi-FI" sz="1400" dirty="0" smtClean="0">
                <a:latin typeface="Bradley Hand ITC" pitchFamily="66" charset="0"/>
              </a:rPr>
              <a:t>Täällä odotat</a:t>
            </a:r>
            <a:br>
              <a:rPr lang="fi-FI" sz="1400" dirty="0" smtClean="0">
                <a:latin typeface="Bradley Hand ITC" pitchFamily="66" charset="0"/>
              </a:rPr>
            </a:br>
            <a:r>
              <a:rPr lang="fi-FI" sz="1400" b="1" dirty="0" smtClean="0">
                <a:latin typeface="Bradley Hand ITC" pitchFamily="66" charset="0"/>
              </a:rPr>
              <a:t>21</a:t>
            </a:r>
            <a:r>
              <a:rPr lang="fi-FI" sz="1400" dirty="0" smtClean="0">
                <a:latin typeface="Bradley Hand ITC" pitchFamily="66" charset="0"/>
              </a:rPr>
              <a:t> päivää</a:t>
            </a:r>
            <a:endParaRPr lang="fi-FI" sz="1400" dirty="0">
              <a:latin typeface="Bradley Hand ITC" pitchFamily="66" charset="0"/>
            </a:endParaRPr>
          </a:p>
        </p:txBody>
      </p:sp>
      <p:sp>
        <p:nvSpPr>
          <p:cNvPr id="102" name="Right Arrow 101"/>
          <p:cNvSpPr/>
          <p:nvPr/>
        </p:nvSpPr>
        <p:spPr>
          <a:xfrm>
            <a:off x="1295400" y="28194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3" name="Right Arrow 102"/>
          <p:cNvSpPr/>
          <p:nvPr/>
        </p:nvSpPr>
        <p:spPr>
          <a:xfrm>
            <a:off x="1295400" y="54102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4" name="Rectangle 103"/>
          <p:cNvSpPr/>
          <p:nvPr/>
        </p:nvSpPr>
        <p:spPr>
          <a:xfrm>
            <a:off x="609600" y="4495800"/>
            <a:ext cx="685800" cy="457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i-FI"/>
          </a:p>
        </p:txBody>
      </p:sp>
      <p:sp>
        <p:nvSpPr>
          <p:cNvPr id="105" name="Rectangle 104"/>
          <p:cNvSpPr/>
          <p:nvPr/>
        </p:nvSpPr>
        <p:spPr>
          <a:xfrm>
            <a:off x="609600" y="3962400"/>
            <a:ext cx="685800" cy="457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i-FI"/>
          </a:p>
        </p:txBody>
      </p:sp>
      <p:sp>
        <p:nvSpPr>
          <p:cNvPr id="106" name="Rectangle 105"/>
          <p:cNvSpPr/>
          <p:nvPr/>
        </p:nvSpPr>
        <p:spPr>
          <a:xfrm>
            <a:off x="609600" y="3429000"/>
            <a:ext cx="685800" cy="457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i-FI"/>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 suunnittelu</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76200" y="41243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Ketterä suunnittelu</a:t>
            </a:r>
            <a:endParaRPr lang="fi-FI" dirty="0"/>
          </a:p>
        </p:txBody>
      </p:sp>
      <p:sp>
        <p:nvSpPr>
          <p:cNvPr id="6" name="Text Placeholder 5"/>
          <p:cNvSpPr>
            <a:spLocks noGrp="1"/>
          </p:cNvSpPr>
          <p:nvPr>
            <p:ph type="body" idx="1"/>
          </p:nvPr>
        </p:nvSpPr>
        <p:spPr/>
        <p:txBody>
          <a:bodyPr/>
          <a:lstStyle/>
          <a:p>
            <a:endParaRPr lang="fi-FI"/>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Kuilu laatutiedon tasossa sprintin sisällä</a:t>
            </a:r>
            <a:endParaRPr lang="fi-FI" dirty="0"/>
          </a:p>
        </p:txBody>
      </p:sp>
      <p:sp>
        <p:nvSpPr>
          <p:cNvPr id="4" name="Content Placeholder 3"/>
          <p:cNvSpPr>
            <a:spLocks noGrp="1"/>
          </p:cNvSpPr>
          <p:nvPr>
            <p:ph idx="1"/>
          </p:nvPr>
        </p:nvSpPr>
        <p:spPr/>
        <p:txBody>
          <a:bodyPr>
            <a:normAutofit fontScale="92500"/>
          </a:bodyPr>
          <a:lstStyle/>
          <a:p>
            <a:r>
              <a:rPr lang="fi-FI" dirty="0" smtClean="0"/>
              <a:t>Mitä tietoa toivomme että meillä olisi?</a:t>
            </a:r>
          </a:p>
          <a:p>
            <a:r>
              <a:rPr lang="fi-FI" dirty="0" smtClean="0"/>
              <a:t>Sisällytä testauksen työmääräarviot tarinan yhteyteen</a:t>
            </a:r>
          </a:p>
          <a:p>
            <a:pPr lvl="1"/>
            <a:r>
              <a:rPr lang="fi-FI" dirty="0" smtClean="0"/>
              <a:t>Pieni tarina joka tuo mukanaan järjestelmämuutoksen moniin tuettuihin ympäristöihin ja konfigurointeihin ei ole pieni muutos testauksen näkökulmasta</a:t>
            </a:r>
          </a:p>
          <a:p>
            <a:r>
              <a:rPr lang="fi-FI" dirty="0" smtClean="0"/>
              <a:t>Älä hyväksy enempää työtä sprinttiin kuin mistä tiimi selviää</a:t>
            </a:r>
          </a:p>
          <a:p>
            <a:pPr lvl="1"/>
            <a:r>
              <a:rPr lang="fi-FI" dirty="0" smtClean="0"/>
              <a:t>Testaus!= testaajat, älä koskaan unohda!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Siirtyminen ketteriin menetelmiin</a:t>
            </a:r>
            <a:endParaRPr lang="fi-FI" dirty="0"/>
          </a:p>
        </p:txBody>
      </p:sp>
      <p:sp>
        <p:nvSpPr>
          <p:cNvPr id="6" name="Text Placeholder 5"/>
          <p:cNvSpPr>
            <a:spLocks noGrp="1"/>
          </p:cNvSpPr>
          <p:nvPr>
            <p:ph type="body" idx="1"/>
          </p:nvPr>
        </p:nvSpPr>
        <p:spPr/>
        <p:txBody>
          <a:bodyPr/>
          <a:lstStyle/>
          <a:p>
            <a:endParaRPr lang="fi-FI"/>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huolenaiheita</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Laatu laskee ketterien menetelmien myötä</a:t>
            </a:r>
          </a:p>
          <a:p>
            <a:pPr lvl="1"/>
            <a:r>
              <a:rPr lang="fi-FI" dirty="0" smtClean="0"/>
              <a:t>Mahdollisuudet valmistella perinteistä testausta heikommat dokumentaation puutteen vuoksi</a:t>
            </a:r>
          </a:p>
          <a:p>
            <a:pPr lvl="1"/>
            <a:r>
              <a:rPr lang="fi-FI" dirty="0" smtClean="0"/>
              <a:t>Tiimin kyky löytää vastaavat virheet ei riittävällä tasolla</a:t>
            </a:r>
          </a:p>
          <a:p>
            <a:pPr lvl="1"/>
            <a:r>
              <a:rPr lang="fi-FI" dirty="0" smtClean="0"/>
              <a:t>Jatkuva muutos on hallitsematonta ja seurauksista ei välitetä</a:t>
            </a:r>
          </a:p>
          <a:p>
            <a:pPr lvl="1"/>
            <a:r>
              <a:rPr lang="fi-FI" dirty="0" smtClean="0"/>
              <a:t>Järjestelmänäkökulmasta testattavaa on niin paljon että jokaisen asian testaaminen erikseen on tehotonta jos / kun automaatio ei ole korkealla tasolla</a:t>
            </a:r>
          </a:p>
          <a:p>
            <a:r>
              <a:rPr lang="fi-FI" dirty="0" smtClean="0"/>
              <a:t>Omalla osaamisella ei olekaan enää vastaavaa arvoa</a:t>
            </a:r>
            <a:endParaRPr lang="fi-FI"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i-FI" dirty="0" smtClean="0"/>
              <a:t>Transitioning to Agile</a:t>
            </a:r>
            <a:endParaRPr lang="fi-FI" dirty="0"/>
          </a:p>
        </p:txBody>
      </p:sp>
      <p:sp>
        <p:nvSpPr>
          <p:cNvPr id="7" name="Content Placeholder 6"/>
          <p:cNvSpPr>
            <a:spLocks noGrp="1"/>
          </p:cNvSpPr>
          <p:nvPr>
            <p:ph idx="1"/>
          </p:nvPr>
        </p:nvSpPr>
        <p:spPr/>
        <p:txBody>
          <a:bodyPr>
            <a:normAutofit fontScale="92500" lnSpcReduction="20000"/>
          </a:bodyPr>
          <a:lstStyle/>
          <a:p>
            <a:r>
              <a:rPr lang="en-US" dirty="0" smtClean="0"/>
              <a:t>Often transition to agile emphasizes programming and management practices</a:t>
            </a:r>
          </a:p>
          <a:p>
            <a:r>
              <a:rPr lang="en-US" dirty="0" smtClean="0"/>
              <a:t>Little attention paid to how testing fits during the transition or after</a:t>
            </a:r>
          </a:p>
          <a:p>
            <a:r>
              <a:rPr lang="en-US" dirty="0" smtClean="0"/>
              <a:t>Typical assumption that testing is by nature included without any focus on maintaining or acquiring the </a:t>
            </a:r>
            <a:r>
              <a:rPr lang="en-US" b="1" dirty="0" err="1" smtClean="0"/>
              <a:t>skillset</a:t>
            </a:r>
            <a:r>
              <a:rPr lang="en-US" b="1" dirty="0" smtClean="0"/>
              <a:t> to teams</a:t>
            </a:r>
          </a:p>
          <a:p>
            <a:r>
              <a:rPr lang="en-US" dirty="0" smtClean="0"/>
              <a:t>Personally, I </a:t>
            </a:r>
            <a:r>
              <a:rPr lang="en-US" i="1" dirty="0" smtClean="0"/>
              <a:t>still</a:t>
            </a:r>
            <a:r>
              <a:rPr lang="en-US" dirty="0" smtClean="0"/>
              <a:t> feel testing scope and practices are a true challenge when going for cross-functional teams in multi-team setting sized product</a:t>
            </a:r>
          </a:p>
          <a:p>
            <a:endParaRPr lang="fi-FI" dirty="0"/>
          </a:p>
        </p:txBody>
      </p:sp>
      <p:sp>
        <p:nvSpPr>
          <p:cNvPr id="4" name="Footer Placeholder 3"/>
          <p:cNvSpPr>
            <a:spLocks noGrp="1"/>
          </p:cNvSpPr>
          <p:nvPr>
            <p:ph type="ftr" sz="quarter" idx="11"/>
          </p:nvPr>
        </p:nvSpPr>
        <p:spPr/>
        <p:txBody>
          <a:bodyPr/>
          <a:lstStyle/>
          <a:p>
            <a:r>
              <a:rPr lang="en-US" smtClean="0"/>
              <a:t>DAY 1</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GB" dirty="0" smtClean="0"/>
              <a:t>Testing Mistakes to Avoid on Route to Agile</a:t>
            </a:r>
            <a:endParaRPr lang="en-US" dirty="0"/>
          </a:p>
        </p:txBody>
      </p:sp>
      <p:sp>
        <p:nvSpPr>
          <p:cNvPr id="3" name="Content Placeholder 2"/>
          <p:cNvSpPr>
            <a:spLocks noGrp="1"/>
          </p:cNvSpPr>
          <p:nvPr>
            <p:ph idx="1"/>
          </p:nvPr>
        </p:nvSpPr>
        <p:spPr/>
        <p:txBody>
          <a:bodyPr>
            <a:normAutofit fontScale="70000" lnSpcReduction="20000"/>
          </a:bodyPr>
          <a:lstStyle/>
          <a:p>
            <a:pPr marL="274320" indent="-274320" fontAlgn="auto">
              <a:spcAft>
                <a:spcPts val="0"/>
              </a:spcAft>
              <a:buClr>
                <a:schemeClr val="accent3"/>
              </a:buClr>
              <a:buFont typeface="Wingdings 2"/>
              <a:buChar char=""/>
              <a:defRPr/>
            </a:pPr>
            <a:r>
              <a:rPr lang="en-GB" dirty="0" smtClean="0"/>
              <a:t>Fantasy that unit tests are the same as acceptance tests</a:t>
            </a:r>
          </a:p>
          <a:p>
            <a:pPr marL="274320" indent="-274320" fontAlgn="auto">
              <a:spcAft>
                <a:spcPts val="0"/>
              </a:spcAft>
              <a:buClr>
                <a:schemeClr val="accent3"/>
              </a:buClr>
              <a:buFont typeface="Wingdings 2"/>
              <a:buChar char=""/>
              <a:defRPr/>
            </a:pPr>
            <a:r>
              <a:rPr lang="en-GB" dirty="0" smtClean="0"/>
              <a:t>Declaring product backlog items done before they’ve been tested</a:t>
            </a:r>
          </a:p>
          <a:p>
            <a:pPr marL="274320" indent="-274320" fontAlgn="auto">
              <a:spcAft>
                <a:spcPts val="0"/>
              </a:spcAft>
              <a:buClr>
                <a:schemeClr val="accent3"/>
              </a:buClr>
              <a:buFont typeface="Wingdings 2"/>
              <a:buChar char=""/>
              <a:defRPr/>
            </a:pPr>
            <a:r>
              <a:rPr lang="en-GB" dirty="0" smtClean="0"/>
              <a:t>Not documenting</a:t>
            </a:r>
          </a:p>
          <a:p>
            <a:pPr marL="274320" indent="-274320" fontAlgn="auto">
              <a:spcAft>
                <a:spcPts val="0"/>
              </a:spcAft>
              <a:buClr>
                <a:schemeClr val="accent3"/>
              </a:buClr>
              <a:buFont typeface="Wingdings 2"/>
              <a:buChar char=""/>
              <a:defRPr/>
            </a:pPr>
            <a:r>
              <a:rPr lang="en-GB" dirty="0" smtClean="0"/>
              <a:t>Warehousing fixes to do for later</a:t>
            </a:r>
          </a:p>
          <a:p>
            <a:pPr marL="274320" indent="-274320" fontAlgn="auto">
              <a:spcAft>
                <a:spcPts val="0"/>
              </a:spcAft>
              <a:buClr>
                <a:schemeClr val="accent3"/>
              </a:buClr>
              <a:buFont typeface="Wingdings 2"/>
              <a:buChar char=""/>
              <a:defRPr/>
            </a:pPr>
            <a:r>
              <a:rPr lang="en-GB" dirty="0" smtClean="0"/>
              <a:t>Accepting delay in feedback with respect to change</a:t>
            </a:r>
          </a:p>
          <a:p>
            <a:pPr marL="274320" indent="-274320" fontAlgn="auto">
              <a:spcAft>
                <a:spcPts val="0"/>
              </a:spcAft>
              <a:buClr>
                <a:schemeClr val="accent3"/>
              </a:buClr>
              <a:buFont typeface="Wingdings 2"/>
              <a:buChar char=""/>
              <a:defRPr/>
            </a:pPr>
            <a:r>
              <a:rPr lang="en-GB" dirty="0" smtClean="0"/>
              <a:t>Manual regression testing</a:t>
            </a:r>
          </a:p>
          <a:p>
            <a:pPr marL="274320" indent="-274320" fontAlgn="auto">
              <a:spcAft>
                <a:spcPts val="0"/>
              </a:spcAft>
              <a:buClr>
                <a:schemeClr val="accent3"/>
              </a:buClr>
              <a:buFont typeface="Wingdings 2"/>
              <a:buChar char=""/>
              <a:defRPr/>
            </a:pPr>
            <a:r>
              <a:rPr lang="en-GB" dirty="0" smtClean="0"/>
              <a:t>Too much emphasis of automation and forgetting </a:t>
            </a:r>
            <a:br>
              <a:rPr lang="en-GB" dirty="0" smtClean="0"/>
            </a:br>
            <a:r>
              <a:rPr lang="en-GB" dirty="0" smtClean="0"/>
              <a:t>risk-based testing</a:t>
            </a:r>
          </a:p>
          <a:p>
            <a:pPr marL="274320" indent="-274320" fontAlgn="auto">
              <a:spcAft>
                <a:spcPts val="0"/>
              </a:spcAft>
              <a:buClr>
                <a:schemeClr val="accent3"/>
              </a:buClr>
              <a:buFont typeface="Wingdings 2"/>
              <a:buChar char=""/>
              <a:defRPr/>
            </a:pPr>
            <a:r>
              <a:rPr lang="en-GB" dirty="0" smtClean="0"/>
              <a:t>Leaving out testing from the sprint planning</a:t>
            </a:r>
          </a:p>
          <a:p>
            <a:pPr marL="274320" indent="-274320" fontAlgn="auto">
              <a:spcAft>
                <a:spcPts val="0"/>
              </a:spcAft>
              <a:buClr>
                <a:schemeClr val="accent3"/>
              </a:buClr>
              <a:buFont typeface="Wingdings 2"/>
              <a:buChar char=""/>
              <a:defRPr/>
            </a:pPr>
            <a:r>
              <a:rPr lang="en-GB" dirty="0" smtClean="0"/>
              <a:t>Directing testing activities only to testers in a team</a:t>
            </a:r>
          </a:p>
          <a:p>
            <a:pPr marL="274320" indent="-274320" fontAlgn="auto">
              <a:spcAft>
                <a:spcPts val="0"/>
              </a:spcAft>
              <a:buClr>
                <a:schemeClr val="accent3"/>
              </a:buClr>
              <a:buFont typeface="Wingdings 2"/>
              <a:buChar char=""/>
              <a:defRPr/>
            </a:pPr>
            <a:r>
              <a:rPr lang="en-GB" dirty="0" smtClean="0"/>
              <a:t>Assuming there’s no need for special testing knowledge</a:t>
            </a:r>
          </a:p>
          <a:p>
            <a:pPr marL="274320" indent="-274320" fontAlgn="auto">
              <a:spcAft>
                <a:spcPts val="0"/>
              </a:spcAft>
              <a:buClr>
                <a:schemeClr val="accent3"/>
              </a:buClr>
              <a:buFont typeface="Wingdings 2"/>
              <a:buChar char=""/>
              <a:defRPr/>
            </a:pPr>
            <a:r>
              <a:rPr lang="en-GB" dirty="0" smtClean="0"/>
              <a:t>Undermining scope of testing by assuming it is just confirmatory and functional</a:t>
            </a:r>
          </a:p>
        </p:txBody>
      </p:sp>
      <p:pic>
        <p:nvPicPr>
          <p:cNvPr id="76803" name="Picture 2" descr="C:\Documents and Settings\pyhama\My Documents\My Pictures\Microsoft Clip Organizer\j0078740.wmf"/>
          <p:cNvPicPr>
            <a:picLocks noChangeAspect="1" noChangeArrowheads="1"/>
          </p:cNvPicPr>
          <p:nvPr/>
        </p:nvPicPr>
        <p:blipFill>
          <a:blip r:embed="rId3" cstate="print"/>
          <a:srcRect/>
          <a:stretch>
            <a:fillRect/>
          </a:stretch>
        </p:blipFill>
        <p:spPr bwMode="auto">
          <a:xfrm>
            <a:off x="7772400" y="2971800"/>
            <a:ext cx="1184275" cy="2166938"/>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30627FEF-D545-4365-B34B-7BCF1BC26D65}" type="slidenum">
              <a:rPr lang="sv-SE"/>
              <a:pPr>
                <a:defRPr/>
              </a:pPr>
              <a:t>52</a:t>
            </a:fld>
            <a:endParaRPr lang="sv-SE"/>
          </a:p>
        </p:txBody>
      </p:sp>
      <p:sp>
        <p:nvSpPr>
          <p:cNvPr id="6" name="Footer Placeholder 5"/>
          <p:cNvSpPr>
            <a:spLocks noGrp="1"/>
          </p:cNvSpPr>
          <p:nvPr>
            <p:ph type="ftr" sz="quarter" idx="11"/>
          </p:nvPr>
        </p:nvSpPr>
        <p:spPr/>
        <p:txBody>
          <a:bodyPr/>
          <a:lstStyle/>
          <a:p>
            <a:r>
              <a:rPr lang="en-US" smtClean="0"/>
              <a:t>DAY 1</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fi-FI" dirty="0" smtClean="0"/>
              <a:t>Seven Pillars of a Good Agile Team</a:t>
            </a:r>
            <a:br>
              <a:rPr lang="fi-FI" dirty="0" smtClean="0"/>
            </a:br>
            <a:r>
              <a:rPr lang="fi-FI" sz="1200" dirty="0" smtClean="0"/>
              <a:t>Source: Brian Marick´s blog, www.exampler.com</a:t>
            </a:r>
            <a:endParaRPr lang="fi-FI" dirty="0"/>
          </a:p>
        </p:txBody>
      </p:sp>
      <p:sp>
        <p:nvSpPr>
          <p:cNvPr id="4" name="Footer Placeholder 3"/>
          <p:cNvSpPr>
            <a:spLocks noGrp="1"/>
          </p:cNvSpPr>
          <p:nvPr>
            <p:ph type="ftr" sz="quarter" idx="11"/>
          </p:nvPr>
        </p:nvSpPr>
        <p:spPr/>
        <p:txBody>
          <a:bodyPr/>
          <a:lstStyle/>
          <a:p>
            <a:r>
              <a:rPr lang="en-US" smtClean="0"/>
              <a:t>DAY 1</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dirty="0"/>
          </a:p>
        </p:txBody>
      </p:sp>
      <p:grpSp>
        <p:nvGrpSpPr>
          <p:cNvPr id="2" name="Group 60"/>
          <p:cNvGrpSpPr/>
          <p:nvPr/>
        </p:nvGrpSpPr>
        <p:grpSpPr>
          <a:xfrm>
            <a:off x="228600" y="1371600"/>
            <a:ext cx="7620000" cy="5218331"/>
            <a:chOff x="228600" y="1371600"/>
            <a:chExt cx="7620000" cy="5218331"/>
          </a:xfrm>
        </p:grpSpPr>
        <p:grpSp>
          <p:nvGrpSpPr>
            <p:cNvPr id="3" name="Group 20"/>
            <p:cNvGrpSpPr/>
            <p:nvPr/>
          </p:nvGrpSpPr>
          <p:grpSpPr>
            <a:xfrm>
              <a:off x="1447800" y="1524000"/>
              <a:ext cx="5181600" cy="4648200"/>
              <a:chOff x="2407920" y="1920240"/>
              <a:chExt cx="3718560" cy="3101902"/>
            </a:xfrm>
          </p:grpSpPr>
          <p:sp>
            <p:nvSpPr>
              <p:cNvPr id="13" name="Freeform 12"/>
              <p:cNvSpPr/>
              <p:nvPr/>
            </p:nvSpPr>
            <p:spPr>
              <a:xfrm>
                <a:off x="4343400" y="3352800"/>
                <a:ext cx="1709698" cy="1356360"/>
              </a:xfrm>
              <a:custGeom>
                <a:avLst/>
                <a:gdLst>
                  <a:gd name="connsiteX0" fmla="*/ 0 w 1709698"/>
                  <a:gd name="connsiteY0" fmla="*/ 0 h 1356360"/>
                  <a:gd name="connsiteX1" fmla="*/ 60960 w 1709698"/>
                  <a:gd name="connsiteY1" fmla="*/ 45720 h 1356360"/>
                  <a:gd name="connsiteX2" fmla="*/ 152400 w 1709698"/>
                  <a:gd name="connsiteY2" fmla="*/ 137160 h 1356360"/>
                  <a:gd name="connsiteX3" fmla="*/ 289560 w 1709698"/>
                  <a:gd name="connsiteY3" fmla="*/ 213360 h 1356360"/>
                  <a:gd name="connsiteX4" fmla="*/ 381000 w 1709698"/>
                  <a:gd name="connsiteY4" fmla="*/ 274320 h 1356360"/>
                  <a:gd name="connsiteX5" fmla="*/ 426720 w 1709698"/>
                  <a:gd name="connsiteY5" fmla="*/ 320040 h 1356360"/>
                  <a:gd name="connsiteX6" fmla="*/ 472440 w 1709698"/>
                  <a:gd name="connsiteY6" fmla="*/ 335280 h 1356360"/>
                  <a:gd name="connsiteX7" fmla="*/ 563880 w 1709698"/>
                  <a:gd name="connsiteY7" fmla="*/ 396240 h 1356360"/>
                  <a:gd name="connsiteX8" fmla="*/ 609600 w 1709698"/>
                  <a:gd name="connsiteY8" fmla="*/ 411480 h 1356360"/>
                  <a:gd name="connsiteX9" fmla="*/ 701040 w 1709698"/>
                  <a:gd name="connsiteY9" fmla="*/ 472440 h 1356360"/>
                  <a:gd name="connsiteX10" fmla="*/ 762000 w 1709698"/>
                  <a:gd name="connsiteY10" fmla="*/ 502920 h 1356360"/>
                  <a:gd name="connsiteX11" fmla="*/ 807720 w 1709698"/>
                  <a:gd name="connsiteY11" fmla="*/ 533400 h 1356360"/>
                  <a:gd name="connsiteX12" fmla="*/ 853440 w 1709698"/>
                  <a:gd name="connsiteY12" fmla="*/ 548640 h 1356360"/>
                  <a:gd name="connsiteX13" fmla="*/ 883920 w 1709698"/>
                  <a:gd name="connsiteY13" fmla="*/ 594360 h 1356360"/>
                  <a:gd name="connsiteX14" fmla="*/ 975360 w 1709698"/>
                  <a:gd name="connsiteY14" fmla="*/ 670560 h 1356360"/>
                  <a:gd name="connsiteX15" fmla="*/ 1021080 w 1709698"/>
                  <a:gd name="connsiteY15" fmla="*/ 731520 h 1356360"/>
                  <a:gd name="connsiteX16" fmla="*/ 1112520 w 1709698"/>
                  <a:gd name="connsiteY16" fmla="*/ 822960 h 1356360"/>
                  <a:gd name="connsiteX17" fmla="*/ 1158240 w 1709698"/>
                  <a:gd name="connsiteY17" fmla="*/ 868680 h 1356360"/>
                  <a:gd name="connsiteX18" fmla="*/ 1203960 w 1709698"/>
                  <a:gd name="connsiteY18" fmla="*/ 899160 h 1356360"/>
                  <a:gd name="connsiteX19" fmla="*/ 1234440 w 1709698"/>
                  <a:gd name="connsiteY19" fmla="*/ 944880 h 1356360"/>
                  <a:gd name="connsiteX20" fmla="*/ 1325880 w 1709698"/>
                  <a:gd name="connsiteY20" fmla="*/ 1005840 h 1356360"/>
                  <a:gd name="connsiteX21" fmla="*/ 1417320 w 1709698"/>
                  <a:gd name="connsiteY21" fmla="*/ 1066800 h 1356360"/>
                  <a:gd name="connsiteX22" fmla="*/ 1463040 w 1709698"/>
                  <a:gd name="connsiteY22" fmla="*/ 1097280 h 1356360"/>
                  <a:gd name="connsiteX23" fmla="*/ 1508760 w 1709698"/>
                  <a:gd name="connsiteY23" fmla="*/ 1127760 h 1356360"/>
                  <a:gd name="connsiteX24" fmla="*/ 1539240 w 1709698"/>
                  <a:gd name="connsiteY24" fmla="*/ 1173480 h 1356360"/>
                  <a:gd name="connsiteX25" fmla="*/ 1676400 w 1709698"/>
                  <a:gd name="connsiteY25" fmla="*/ 1295400 h 1356360"/>
                  <a:gd name="connsiteX26" fmla="*/ 1706880 w 1709698"/>
                  <a:gd name="connsiteY26" fmla="*/ 1356360 h 135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9698" h="1356360">
                    <a:moveTo>
                      <a:pt x="0" y="0"/>
                    </a:moveTo>
                    <a:cubicBezTo>
                      <a:pt x="20320" y="15240"/>
                      <a:pt x="42080" y="28728"/>
                      <a:pt x="60960" y="45720"/>
                    </a:cubicBezTo>
                    <a:cubicBezTo>
                      <a:pt x="93000" y="74556"/>
                      <a:pt x="116534" y="113250"/>
                      <a:pt x="152400" y="137160"/>
                    </a:cubicBezTo>
                    <a:cubicBezTo>
                      <a:pt x="257206" y="207031"/>
                      <a:pt x="209087" y="186536"/>
                      <a:pt x="289560" y="213360"/>
                    </a:cubicBezTo>
                    <a:cubicBezTo>
                      <a:pt x="435411" y="359211"/>
                      <a:pt x="248667" y="186098"/>
                      <a:pt x="381000" y="274320"/>
                    </a:cubicBezTo>
                    <a:cubicBezTo>
                      <a:pt x="398933" y="286275"/>
                      <a:pt x="408787" y="308085"/>
                      <a:pt x="426720" y="320040"/>
                    </a:cubicBezTo>
                    <a:cubicBezTo>
                      <a:pt x="440086" y="328951"/>
                      <a:pt x="458397" y="327478"/>
                      <a:pt x="472440" y="335280"/>
                    </a:cubicBezTo>
                    <a:cubicBezTo>
                      <a:pt x="504462" y="353070"/>
                      <a:pt x="529127" y="384656"/>
                      <a:pt x="563880" y="396240"/>
                    </a:cubicBezTo>
                    <a:cubicBezTo>
                      <a:pt x="579120" y="401320"/>
                      <a:pt x="595557" y="403678"/>
                      <a:pt x="609600" y="411480"/>
                    </a:cubicBezTo>
                    <a:cubicBezTo>
                      <a:pt x="641622" y="429270"/>
                      <a:pt x="668275" y="456057"/>
                      <a:pt x="701040" y="472440"/>
                    </a:cubicBezTo>
                    <a:cubicBezTo>
                      <a:pt x="721360" y="482600"/>
                      <a:pt x="742275" y="491648"/>
                      <a:pt x="762000" y="502920"/>
                    </a:cubicBezTo>
                    <a:cubicBezTo>
                      <a:pt x="777903" y="512007"/>
                      <a:pt x="791337" y="525209"/>
                      <a:pt x="807720" y="533400"/>
                    </a:cubicBezTo>
                    <a:cubicBezTo>
                      <a:pt x="822088" y="540584"/>
                      <a:pt x="838200" y="543560"/>
                      <a:pt x="853440" y="548640"/>
                    </a:cubicBezTo>
                    <a:cubicBezTo>
                      <a:pt x="863600" y="563880"/>
                      <a:pt x="870968" y="581408"/>
                      <a:pt x="883920" y="594360"/>
                    </a:cubicBezTo>
                    <a:cubicBezTo>
                      <a:pt x="1025017" y="735457"/>
                      <a:pt x="825560" y="495793"/>
                      <a:pt x="975360" y="670560"/>
                    </a:cubicBezTo>
                    <a:cubicBezTo>
                      <a:pt x="991890" y="689845"/>
                      <a:pt x="1004088" y="712640"/>
                      <a:pt x="1021080" y="731520"/>
                    </a:cubicBezTo>
                    <a:cubicBezTo>
                      <a:pt x="1049916" y="763560"/>
                      <a:pt x="1082040" y="792480"/>
                      <a:pt x="1112520" y="822960"/>
                    </a:cubicBezTo>
                    <a:cubicBezTo>
                      <a:pt x="1127760" y="838200"/>
                      <a:pt x="1140307" y="856725"/>
                      <a:pt x="1158240" y="868680"/>
                    </a:cubicBezTo>
                    <a:lnTo>
                      <a:pt x="1203960" y="899160"/>
                    </a:lnTo>
                    <a:cubicBezTo>
                      <a:pt x="1214120" y="914400"/>
                      <a:pt x="1220656" y="932819"/>
                      <a:pt x="1234440" y="944880"/>
                    </a:cubicBezTo>
                    <a:cubicBezTo>
                      <a:pt x="1262009" y="969003"/>
                      <a:pt x="1295400" y="985520"/>
                      <a:pt x="1325880" y="1005840"/>
                    </a:cubicBezTo>
                    <a:lnTo>
                      <a:pt x="1417320" y="1066800"/>
                    </a:lnTo>
                    <a:lnTo>
                      <a:pt x="1463040" y="1097280"/>
                    </a:lnTo>
                    <a:lnTo>
                      <a:pt x="1508760" y="1127760"/>
                    </a:lnTo>
                    <a:cubicBezTo>
                      <a:pt x="1518920" y="1143000"/>
                      <a:pt x="1527071" y="1159790"/>
                      <a:pt x="1539240" y="1173480"/>
                    </a:cubicBezTo>
                    <a:cubicBezTo>
                      <a:pt x="1615161" y="1258891"/>
                      <a:pt x="1606912" y="1249075"/>
                      <a:pt x="1676400" y="1295400"/>
                    </a:cubicBezTo>
                    <a:cubicBezTo>
                      <a:pt x="1709698" y="1345347"/>
                      <a:pt x="1706880" y="1322804"/>
                      <a:pt x="1706880" y="135636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4" name="Freeform 13"/>
              <p:cNvSpPr/>
              <p:nvPr/>
            </p:nvSpPr>
            <p:spPr>
              <a:xfrm>
                <a:off x="4099037" y="3352800"/>
                <a:ext cx="277533" cy="1669342"/>
              </a:xfrm>
              <a:custGeom>
                <a:avLst/>
                <a:gdLst>
                  <a:gd name="connsiteX0" fmla="*/ 277533 w 277533"/>
                  <a:gd name="connsiteY0" fmla="*/ 0 h 1974447"/>
                  <a:gd name="connsiteX1" fmla="*/ 262293 w 277533"/>
                  <a:gd name="connsiteY1" fmla="*/ 289560 h 1974447"/>
                  <a:gd name="connsiteX2" fmla="*/ 247053 w 277533"/>
                  <a:gd name="connsiteY2" fmla="*/ 396240 h 1974447"/>
                  <a:gd name="connsiteX3" fmla="*/ 231813 w 277533"/>
                  <a:gd name="connsiteY3" fmla="*/ 533400 h 1974447"/>
                  <a:gd name="connsiteX4" fmla="*/ 216573 w 277533"/>
                  <a:gd name="connsiteY4" fmla="*/ 579120 h 1974447"/>
                  <a:gd name="connsiteX5" fmla="*/ 201333 w 277533"/>
                  <a:gd name="connsiteY5" fmla="*/ 655320 h 1974447"/>
                  <a:gd name="connsiteX6" fmla="*/ 186093 w 277533"/>
                  <a:gd name="connsiteY6" fmla="*/ 777240 h 1974447"/>
                  <a:gd name="connsiteX7" fmla="*/ 155613 w 277533"/>
                  <a:gd name="connsiteY7" fmla="*/ 883920 h 1974447"/>
                  <a:gd name="connsiteX8" fmla="*/ 140373 w 277533"/>
                  <a:gd name="connsiteY8" fmla="*/ 960120 h 1974447"/>
                  <a:gd name="connsiteX9" fmla="*/ 125133 w 277533"/>
                  <a:gd name="connsiteY9" fmla="*/ 1005840 h 1974447"/>
                  <a:gd name="connsiteX10" fmla="*/ 109893 w 277533"/>
                  <a:gd name="connsiteY10" fmla="*/ 1066800 h 1974447"/>
                  <a:gd name="connsiteX11" fmla="*/ 79413 w 277533"/>
                  <a:gd name="connsiteY11" fmla="*/ 1158240 h 1974447"/>
                  <a:gd name="connsiteX12" fmla="*/ 64173 w 277533"/>
                  <a:gd name="connsiteY12" fmla="*/ 1203960 h 1974447"/>
                  <a:gd name="connsiteX13" fmla="*/ 48933 w 277533"/>
                  <a:gd name="connsiteY13" fmla="*/ 1249680 h 1974447"/>
                  <a:gd name="connsiteX14" fmla="*/ 33693 w 277533"/>
                  <a:gd name="connsiteY14" fmla="*/ 1310640 h 1974447"/>
                  <a:gd name="connsiteX15" fmla="*/ 18453 w 277533"/>
                  <a:gd name="connsiteY15" fmla="*/ 1706880 h 1974447"/>
                  <a:gd name="connsiteX16" fmla="*/ 3213 w 277533"/>
                  <a:gd name="connsiteY16" fmla="*/ 1783080 h 197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533" h="1974447">
                    <a:moveTo>
                      <a:pt x="277533" y="0"/>
                    </a:moveTo>
                    <a:cubicBezTo>
                      <a:pt x="272453" y="96520"/>
                      <a:pt x="269706" y="193191"/>
                      <a:pt x="262293" y="289560"/>
                    </a:cubicBezTo>
                    <a:cubicBezTo>
                      <a:pt x="259538" y="325375"/>
                      <a:pt x="251508" y="360596"/>
                      <a:pt x="247053" y="396240"/>
                    </a:cubicBezTo>
                    <a:cubicBezTo>
                      <a:pt x="241347" y="441886"/>
                      <a:pt x="239376" y="488025"/>
                      <a:pt x="231813" y="533400"/>
                    </a:cubicBezTo>
                    <a:cubicBezTo>
                      <a:pt x="229172" y="549246"/>
                      <a:pt x="220469" y="563535"/>
                      <a:pt x="216573" y="579120"/>
                    </a:cubicBezTo>
                    <a:cubicBezTo>
                      <a:pt x="210291" y="604250"/>
                      <a:pt x="205272" y="629718"/>
                      <a:pt x="201333" y="655320"/>
                    </a:cubicBezTo>
                    <a:cubicBezTo>
                      <a:pt x="195105" y="695800"/>
                      <a:pt x="192826" y="736841"/>
                      <a:pt x="186093" y="777240"/>
                    </a:cubicBezTo>
                    <a:cubicBezTo>
                      <a:pt x="171840" y="862760"/>
                      <a:pt x="173731" y="811446"/>
                      <a:pt x="155613" y="883920"/>
                    </a:cubicBezTo>
                    <a:cubicBezTo>
                      <a:pt x="149331" y="909050"/>
                      <a:pt x="146655" y="934990"/>
                      <a:pt x="140373" y="960120"/>
                    </a:cubicBezTo>
                    <a:cubicBezTo>
                      <a:pt x="136477" y="975705"/>
                      <a:pt x="129546" y="990394"/>
                      <a:pt x="125133" y="1005840"/>
                    </a:cubicBezTo>
                    <a:cubicBezTo>
                      <a:pt x="119379" y="1025979"/>
                      <a:pt x="115912" y="1046738"/>
                      <a:pt x="109893" y="1066800"/>
                    </a:cubicBezTo>
                    <a:cubicBezTo>
                      <a:pt x="100661" y="1097574"/>
                      <a:pt x="89573" y="1127760"/>
                      <a:pt x="79413" y="1158240"/>
                    </a:cubicBezTo>
                    <a:lnTo>
                      <a:pt x="64173" y="1203960"/>
                    </a:lnTo>
                    <a:cubicBezTo>
                      <a:pt x="59093" y="1219200"/>
                      <a:pt x="52829" y="1234095"/>
                      <a:pt x="48933" y="1249680"/>
                    </a:cubicBezTo>
                    <a:lnTo>
                      <a:pt x="33693" y="1310640"/>
                    </a:lnTo>
                    <a:cubicBezTo>
                      <a:pt x="28613" y="1442720"/>
                      <a:pt x="27547" y="1575016"/>
                      <a:pt x="18453" y="1706880"/>
                    </a:cubicBezTo>
                    <a:cubicBezTo>
                      <a:pt x="0" y="1974447"/>
                      <a:pt x="3213" y="1602323"/>
                      <a:pt x="3213" y="178308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6" name="Freeform 15"/>
              <p:cNvSpPr/>
              <p:nvPr/>
            </p:nvSpPr>
            <p:spPr>
              <a:xfrm>
                <a:off x="2407920" y="3337560"/>
                <a:ext cx="1981200" cy="1082040"/>
              </a:xfrm>
              <a:custGeom>
                <a:avLst/>
                <a:gdLst>
                  <a:gd name="connsiteX0" fmla="*/ 1981200 w 1981200"/>
                  <a:gd name="connsiteY0" fmla="*/ 0 h 1082040"/>
                  <a:gd name="connsiteX1" fmla="*/ 1935480 w 1981200"/>
                  <a:gd name="connsiteY1" fmla="*/ 30480 h 1082040"/>
                  <a:gd name="connsiteX2" fmla="*/ 1813560 w 1981200"/>
                  <a:gd name="connsiteY2" fmla="*/ 76200 h 1082040"/>
                  <a:gd name="connsiteX3" fmla="*/ 1676400 w 1981200"/>
                  <a:gd name="connsiteY3" fmla="*/ 167640 h 1082040"/>
                  <a:gd name="connsiteX4" fmla="*/ 1630680 w 1981200"/>
                  <a:gd name="connsiteY4" fmla="*/ 198120 h 1082040"/>
                  <a:gd name="connsiteX5" fmla="*/ 1584960 w 1981200"/>
                  <a:gd name="connsiteY5" fmla="*/ 213360 h 1082040"/>
                  <a:gd name="connsiteX6" fmla="*/ 1493520 w 1981200"/>
                  <a:gd name="connsiteY6" fmla="*/ 274320 h 1082040"/>
                  <a:gd name="connsiteX7" fmla="*/ 1402080 w 1981200"/>
                  <a:gd name="connsiteY7" fmla="*/ 304800 h 1082040"/>
                  <a:gd name="connsiteX8" fmla="*/ 1280160 w 1981200"/>
                  <a:gd name="connsiteY8" fmla="*/ 396240 h 1082040"/>
                  <a:gd name="connsiteX9" fmla="*/ 1188720 w 1981200"/>
                  <a:gd name="connsiteY9" fmla="*/ 472440 h 1082040"/>
                  <a:gd name="connsiteX10" fmla="*/ 1158240 w 1981200"/>
                  <a:gd name="connsiteY10" fmla="*/ 518160 h 1082040"/>
                  <a:gd name="connsiteX11" fmla="*/ 1021080 w 1981200"/>
                  <a:gd name="connsiteY11" fmla="*/ 594360 h 1082040"/>
                  <a:gd name="connsiteX12" fmla="*/ 960120 w 1981200"/>
                  <a:gd name="connsiteY12" fmla="*/ 624840 h 1082040"/>
                  <a:gd name="connsiteX13" fmla="*/ 914400 w 1981200"/>
                  <a:gd name="connsiteY13" fmla="*/ 640080 h 1082040"/>
                  <a:gd name="connsiteX14" fmla="*/ 746760 w 1981200"/>
                  <a:gd name="connsiteY14" fmla="*/ 670560 h 1082040"/>
                  <a:gd name="connsiteX15" fmla="*/ 594360 w 1981200"/>
                  <a:gd name="connsiteY15" fmla="*/ 716280 h 1082040"/>
                  <a:gd name="connsiteX16" fmla="*/ 457200 w 1981200"/>
                  <a:gd name="connsiteY16" fmla="*/ 807720 h 1082040"/>
                  <a:gd name="connsiteX17" fmla="*/ 411480 w 1981200"/>
                  <a:gd name="connsiteY17" fmla="*/ 838200 h 1082040"/>
                  <a:gd name="connsiteX18" fmla="*/ 365760 w 1981200"/>
                  <a:gd name="connsiteY18" fmla="*/ 853440 h 1082040"/>
                  <a:gd name="connsiteX19" fmla="*/ 274320 w 1981200"/>
                  <a:gd name="connsiteY19" fmla="*/ 914400 h 1082040"/>
                  <a:gd name="connsiteX20" fmla="*/ 213360 w 1981200"/>
                  <a:gd name="connsiteY20" fmla="*/ 944880 h 1082040"/>
                  <a:gd name="connsiteX21" fmla="*/ 167640 w 1981200"/>
                  <a:gd name="connsiteY21" fmla="*/ 975360 h 1082040"/>
                  <a:gd name="connsiteX22" fmla="*/ 121920 w 1981200"/>
                  <a:gd name="connsiteY22" fmla="*/ 990600 h 1082040"/>
                  <a:gd name="connsiteX23" fmla="*/ 76200 w 1981200"/>
                  <a:gd name="connsiteY23" fmla="*/ 1036320 h 1082040"/>
                  <a:gd name="connsiteX24" fmla="*/ 0 w 1981200"/>
                  <a:gd name="connsiteY24" fmla="*/ 1082040 h 10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1200" h="1082040">
                    <a:moveTo>
                      <a:pt x="1981200" y="0"/>
                    </a:moveTo>
                    <a:cubicBezTo>
                      <a:pt x="1965960" y="10160"/>
                      <a:pt x="1952315" y="23265"/>
                      <a:pt x="1935480" y="30480"/>
                    </a:cubicBezTo>
                    <a:cubicBezTo>
                      <a:pt x="1808881" y="84737"/>
                      <a:pt x="1940543" y="10"/>
                      <a:pt x="1813560" y="76200"/>
                    </a:cubicBezTo>
                    <a:lnTo>
                      <a:pt x="1676400" y="167640"/>
                    </a:lnTo>
                    <a:cubicBezTo>
                      <a:pt x="1661160" y="177800"/>
                      <a:pt x="1648056" y="192328"/>
                      <a:pt x="1630680" y="198120"/>
                    </a:cubicBezTo>
                    <a:cubicBezTo>
                      <a:pt x="1615440" y="203200"/>
                      <a:pt x="1599003" y="205558"/>
                      <a:pt x="1584960" y="213360"/>
                    </a:cubicBezTo>
                    <a:cubicBezTo>
                      <a:pt x="1552938" y="231150"/>
                      <a:pt x="1528273" y="262736"/>
                      <a:pt x="1493520" y="274320"/>
                    </a:cubicBezTo>
                    <a:lnTo>
                      <a:pt x="1402080" y="304800"/>
                    </a:lnTo>
                    <a:cubicBezTo>
                      <a:pt x="1361440" y="335280"/>
                      <a:pt x="1308339" y="353972"/>
                      <a:pt x="1280160" y="396240"/>
                    </a:cubicBezTo>
                    <a:cubicBezTo>
                      <a:pt x="1237078" y="460863"/>
                      <a:pt x="1266063" y="433769"/>
                      <a:pt x="1188720" y="472440"/>
                    </a:cubicBezTo>
                    <a:cubicBezTo>
                      <a:pt x="1178560" y="487680"/>
                      <a:pt x="1172024" y="506099"/>
                      <a:pt x="1158240" y="518160"/>
                    </a:cubicBezTo>
                    <a:cubicBezTo>
                      <a:pt x="1063195" y="601324"/>
                      <a:pt x="1097272" y="561706"/>
                      <a:pt x="1021080" y="594360"/>
                    </a:cubicBezTo>
                    <a:cubicBezTo>
                      <a:pt x="1000198" y="603309"/>
                      <a:pt x="981002" y="615891"/>
                      <a:pt x="960120" y="624840"/>
                    </a:cubicBezTo>
                    <a:cubicBezTo>
                      <a:pt x="945355" y="631168"/>
                      <a:pt x="929846" y="635667"/>
                      <a:pt x="914400" y="640080"/>
                    </a:cubicBezTo>
                    <a:cubicBezTo>
                      <a:pt x="842544" y="660610"/>
                      <a:pt x="833097" y="658226"/>
                      <a:pt x="746760" y="670560"/>
                    </a:cubicBezTo>
                    <a:cubicBezTo>
                      <a:pt x="635449" y="707664"/>
                      <a:pt x="686489" y="693248"/>
                      <a:pt x="594360" y="716280"/>
                    </a:cubicBezTo>
                    <a:lnTo>
                      <a:pt x="457200" y="807720"/>
                    </a:lnTo>
                    <a:cubicBezTo>
                      <a:pt x="441960" y="817880"/>
                      <a:pt x="428856" y="832408"/>
                      <a:pt x="411480" y="838200"/>
                    </a:cubicBezTo>
                    <a:cubicBezTo>
                      <a:pt x="396240" y="843280"/>
                      <a:pt x="379803" y="845638"/>
                      <a:pt x="365760" y="853440"/>
                    </a:cubicBezTo>
                    <a:cubicBezTo>
                      <a:pt x="333738" y="871230"/>
                      <a:pt x="307085" y="898017"/>
                      <a:pt x="274320" y="914400"/>
                    </a:cubicBezTo>
                    <a:cubicBezTo>
                      <a:pt x="254000" y="924560"/>
                      <a:pt x="233085" y="933608"/>
                      <a:pt x="213360" y="944880"/>
                    </a:cubicBezTo>
                    <a:cubicBezTo>
                      <a:pt x="197457" y="953967"/>
                      <a:pt x="184023" y="967169"/>
                      <a:pt x="167640" y="975360"/>
                    </a:cubicBezTo>
                    <a:cubicBezTo>
                      <a:pt x="153272" y="982544"/>
                      <a:pt x="137160" y="985520"/>
                      <a:pt x="121920" y="990600"/>
                    </a:cubicBezTo>
                    <a:cubicBezTo>
                      <a:pt x="106680" y="1005840"/>
                      <a:pt x="92757" y="1022522"/>
                      <a:pt x="76200" y="1036320"/>
                    </a:cubicBezTo>
                    <a:cubicBezTo>
                      <a:pt x="48614" y="1059308"/>
                      <a:pt x="29755" y="1067163"/>
                      <a:pt x="0" y="108204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7" name="Freeform 16"/>
              <p:cNvSpPr/>
              <p:nvPr/>
            </p:nvSpPr>
            <p:spPr>
              <a:xfrm>
                <a:off x="2423160" y="3088901"/>
                <a:ext cx="1950720" cy="294379"/>
              </a:xfrm>
              <a:custGeom>
                <a:avLst/>
                <a:gdLst>
                  <a:gd name="connsiteX0" fmla="*/ 1950720 w 1950720"/>
                  <a:gd name="connsiteY0" fmla="*/ 294379 h 294379"/>
                  <a:gd name="connsiteX1" fmla="*/ 975360 w 1950720"/>
                  <a:gd name="connsiteY1" fmla="*/ 263899 h 294379"/>
                  <a:gd name="connsiteX2" fmla="*/ 868680 w 1950720"/>
                  <a:gd name="connsiteY2" fmla="*/ 248659 h 294379"/>
                  <a:gd name="connsiteX3" fmla="*/ 746760 w 1950720"/>
                  <a:gd name="connsiteY3" fmla="*/ 218179 h 294379"/>
                  <a:gd name="connsiteX4" fmla="*/ 563880 w 1950720"/>
                  <a:gd name="connsiteY4" fmla="*/ 187699 h 294379"/>
                  <a:gd name="connsiteX5" fmla="*/ 457200 w 1950720"/>
                  <a:gd name="connsiteY5" fmla="*/ 126739 h 294379"/>
                  <a:gd name="connsiteX6" fmla="*/ 350520 w 1950720"/>
                  <a:gd name="connsiteY6" fmla="*/ 96259 h 294379"/>
                  <a:gd name="connsiteX7" fmla="*/ 304800 w 1950720"/>
                  <a:gd name="connsiteY7" fmla="*/ 65779 h 294379"/>
                  <a:gd name="connsiteX8" fmla="*/ 91440 w 1950720"/>
                  <a:gd name="connsiteY8" fmla="*/ 20059 h 294379"/>
                  <a:gd name="connsiteX9" fmla="*/ 0 w 1950720"/>
                  <a:gd name="connsiteY9" fmla="*/ 4819 h 29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720" h="294379">
                    <a:moveTo>
                      <a:pt x="1950720" y="294379"/>
                    </a:moveTo>
                    <a:lnTo>
                      <a:pt x="975360" y="263899"/>
                    </a:lnTo>
                    <a:cubicBezTo>
                      <a:pt x="939800" y="258819"/>
                      <a:pt x="903903" y="255704"/>
                      <a:pt x="868680" y="248659"/>
                    </a:cubicBezTo>
                    <a:cubicBezTo>
                      <a:pt x="827603" y="240444"/>
                      <a:pt x="788327" y="223375"/>
                      <a:pt x="746760" y="218179"/>
                    </a:cubicBezTo>
                    <a:cubicBezTo>
                      <a:pt x="604056" y="200341"/>
                      <a:pt x="664573" y="212872"/>
                      <a:pt x="563880" y="187699"/>
                    </a:cubicBezTo>
                    <a:cubicBezTo>
                      <a:pt x="517964" y="157088"/>
                      <a:pt x="511340" y="149942"/>
                      <a:pt x="457200" y="126739"/>
                    </a:cubicBezTo>
                    <a:cubicBezTo>
                      <a:pt x="426591" y="113621"/>
                      <a:pt x="381454" y="103993"/>
                      <a:pt x="350520" y="96259"/>
                    </a:cubicBezTo>
                    <a:cubicBezTo>
                      <a:pt x="335280" y="86099"/>
                      <a:pt x="322013" y="72038"/>
                      <a:pt x="304800" y="65779"/>
                    </a:cubicBezTo>
                    <a:cubicBezTo>
                      <a:pt x="204257" y="29218"/>
                      <a:pt x="186320" y="41143"/>
                      <a:pt x="91440" y="20059"/>
                    </a:cubicBezTo>
                    <a:cubicBezTo>
                      <a:pt x="1173" y="0"/>
                      <a:pt x="90329" y="4819"/>
                      <a:pt x="0" y="4819"/>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8" name="Freeform 17"/>
              <p:cNvSpPr/>
              <p:nvPr/>
            </p:nvSpPr>
            <p:spPr>
              <a:xfrm>
                <a:off x="3230880" y="2103120"/>
                <a:ext cx="1127760" cy="1310640"/>
              </a:xfrm>
              <a:custGeom>
                <a:avLst/>
                <a:gdLst>
                  <a:gd name="connsiteX0" fmla="*/ 1127760 w 1127760"/>
                  <a:gd name="connsiteY0" fmla="*/ 1310640 h 1310640"/>
                  <a:gd name="connsiteX1" fmla="*/ 1082040 w 1127760"/>
                  <a:gd name="connsiteY1" fmla="*/ 1249680 h 1310640"/>
                  <a:gd name="connsiteX2" fmla="*/ 1066800 w 1127760"/>
                  <a:gd name="connsiteY2" fmla="*/ 1203960 h 1310640"/>
                  <a:gd name="connsiteX3" fmla="*/ 1021080 w 1127760"/>
                  <a:gd name="connsiteY3" fmla="*/ 1173480 h 1310640"/>
                  <a:gd name="connsiteX4" fmla="*/ 975360 w 1127760"/>
                  <a:gd name="connsiteY4" fmla="*/ 1112520 h 1310640"/>
                  <a:gd name="connsiteX5" fmla="*/ 838200 w 1127760"/>
                  <a:gd name="connsiteY5" fmla="*/ 990600 h 1310640"/>
                  <a:gd name="connsiteX6" fmla="*/ 822960 w 1127760"/>
                  <a:gd name="connsiteY6" fmla="*/ 944880 h 1310640"/>
                  <a:gd name="connsiteX7" fmla="*/ 731520 w 1127760"/>
                  <a:gd name="connsiteY7" fmla="*/ 883920 h 1310640"/>
                  <a:gd name="connsiteX8" fmla="*/ 685800 w 1127760"/>
                  <a:gd name="connsiteY8" fmla="*/ 792480 h 1310640"/>
                  <a:gd name="connsiteX9" fmla="*/ 655320 w 1127760"/>
                  <a:gd name="connsiteY9" fmla="*/ 731520 h 1310640"/>
                  <a:gd name="connsiteX10" fmla="*/ 594360 w 1127760"/>
                  <a:gd name="connsiteY10" fmla="*/ 640080 h 1310640"/>
                  <a:gd name="connsiteX11" fmla="*/ 533400 w 1127760"/>
                  <a:gd name="connsiteY11" fmla="*/ 487680 h 1310640"/>
                  <a:gd name="connsiteX12" fmla="*/ 487680 w 1127760"/>
                  <a:gd name="connsiteY12" fmla="*/ 441960 h 1310640"/>
                  <a:gd name="connsiteX13" fmla="*/ 472440 w 1127760"/>
                  <a:gd name="connsiteY13" fmla="*/ 396240 h 1310640"/>
                  <a:gd name="connsiteX14" fmla="*/ 320040 w 1127760"/>
                  <a:gd name="connsiteY14" fmla="*/ 213360 h 1310640"/>
                  <a:gd name="connsiteX15" fmla="*/ 274320 w 1127760"/>
                  <a:gd name="connsiteY15" fmla="*/ 167640 h 1310640"/>
                  <a:gd name="connsiteX16" fmla="*/ 228600 w 1127760"/>
                  <a:gd name="connsiteY16" fmla="*/ 121920 h 1310640"/>
                  <a:gd name="connsiteX17" fmla="*/ 137160 w 1127760"/>
                  <a:gd name="connsiteY17" fmla="*/ 60960 h 1310640"/>
                  <a:gd name="connsiteX18" fmla="*/ 91440 w 1127760"/>
                  <a:gd name="connsiteY18" fmla="*/ 30480 h 1310640"/>
                  <a:gd name="connsiteX19" fmla="*/ 0 w 1127760"/>
                  <a:gd name="connsiteY19" fmla="*/ 0 h 131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27760" h="1310640">
                    <a:moveTo>
                      <a:pt x="1127760" y="1310640"/>
                    </a:moveTo>
                    <a:cubicBezTo>
                      <a:pt x="1112520" y="1290320"/>
                      <a:pt x="1094642" y="1271733"/>
                      <a:pt x="1082040" y="1249680"/>
                    </a:cubicBezTo>
                    <a:cubicBezTo>
                      <a:pt x="1074070" y="1235732"/>
                      <a:pt x="1076835" y="1216504"/>
                      <a:pt x="1066800" y="1203960"/>
                    </a:cubicBezTo>
                    <a:cubicBezTo>
                      <a:pt x="1055358" y="1189657"/>
                      <a:pt x="1034032" y="1186432"/>
                      <a:pt x="1021080" y="1173480"/>
                    </a:cubicBezTo>
                    <a:cubicBezTo>
                      <a:pt x="1003119" y="1155519"/>
                      <a:pt x="992352" y="1131400"/>
                      <a:pt x="975360" y="1112520"/>
                    </a:cubicBezTo>
                    <a:cubicBezTo>
                      <a:pt x="897066" y="1025527"/>
                      <a:pt x="908696" y="1037598"/>
                      <a:pt x="838200" y="990600"/>
                    </a:cubicBezTo>
                    <a:cubicBezTo>
                      <a:pt x="833120" y="975360"/>
                      <a:pt x="834319" y="956239"/>
                      <a:pt x="822960" y="944880"/>
                    </a:cubicBezTo>
                    <a:cubicBezTo>
                      <a:pt x="797057" y="918977"/>
                      <a:pt x="731520" y="883920"/>
                      <a:pt x="731520" y="883920"/>
                    </a:cubicBezTo>
                    <a:cubicBezTo>
                      <a:pt x="703578" y="800095"/>
                      <a:pt x="733069" y="875201"/>
                      <a:pt x="685800" y="792480"/>
                    </a:cubicBezTo>
                    <a:cubicBezTo>
                      <a:pt x="674528" y="772755"/>
                      <a:pt x="667009" y="751001"/>
                      <a:pt x="655320" y="731520"/>
                    </a:cubicBezTo>
                    <a:cubicBezTo>
                      <a:pt x="636473" y="700108"/>
                      <a:pt x="605944" y="674833"/>
                      <a:pt x="594360" y="640080"/>
                    </a:cubicBezTo>
                    <a:cubicBezTo>
                      <a:pt x="580480" y="598441"/>
                      <a:pt x="561430" y="526922"/>
                      <a:pt x="533400" y="487680"/>
                    </a:cubicBezTo>
                    <a:cubicBezTo>
                      <a:pt x="520873" y="470142"/>
                      <a:pt x="502920" y="457200"/>
                      <a:pt x="487680" y="441960"/>
                    </a:cubicBezTo>
                    <a:cubicBezTo>
                      <a:pt x="482600" y="426720"/>
                      <a:pt x="480242" y="410283"/>
                      <a:pt x="472440" y="396240"/>
                    </a:cubicBezTo>
                    <a:cubicBezTo>
                      <a:pt x="419396" y="300761"/>
                      <a:pt x="399933" y="293253"/>
                      <a:pt x="320040" y="213360"/>
                    </a:cubicBezTo>
                    <a:lnTo>
                      <a:pt x="274320" y="167640"/>
                    </a:lnTo>
                    <a:cubicBezTo>
                      <a:pt x="259080" y="152400"/>
                      <a:pt x="246533" y="133875"/>
                      <a:pt x="228600" y="121920"/>
                    </a:cubicBezTo>
                    <a:lnTo>
                      <a:pt x="137160" y="60960"/>
                    </a:lnTo>
                    <a:cubicBezTo>
                      <a:pt x="121920" y="50800"/>
                      <a:pt x="108816" y="36272"/>
                      <a:pt x="91440" y="30480"/>
                    </a:cubicBezTo>
                    <a:lnTo>
                      <a:pt x="0" y="0"/>
                    </a:ln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19" name="Freeform 18"/>
              <p:cNvSpPr/>
              <p:nvPr/>
            </p:nvSpPr>
            <p:spPr>
              <a:xfrm>
                <a:off x="4389120" y="1920240"/>
                <a:ext cx="582658" cy="1478280"/>
              </a:xfrm>
              <a:custGeom>
                <a:avLst/>
                <a:gdLst>
                  <a:gd name="connsiteX0" fmla="*/ 0 w 582658"/>
                  <a:gd name="connsiteY0" fmla="*/ 1478280 h 1478280"/>
                  <a:gd name="connsiteX1" fmla="*/ 15240 w 582658"/>
                  <a:gd name="connsiteY1" fmla="*/ 1371600 h 1478280"/>
                  <a:gd name="connsiteX2" fmla="*/ 45720 w 582658"/>
                  <a:gd name="connsiteY2" fmla="*/ 1325880 h 1478280"/>
                  <a:gd name="connsiteX3" fmla="*/ 76200 w 582658"/>
                  <a:gd name="connsiteY3" fmla="*/ 1264920 h 1478280"/>
                  <a:gd name="connsiteX4" fmla="*/ 121920 w 582658"/>
                  <a:gd name="connsiteY4" fmla="*/ 1203960 h 1478280"/>
                  <a:gd name="connsiteX5" fmla="*/ 152400 w 582658"/>
                  <a:gd name="connsiteY5" fmla="*/ 1158240 h 1478280"/>
                  <a:gd name="connsiteX6" fmla="*/ 198120 w 582658"/>
                  <a:gd name="connsiteY6" fmla="*/ 1112520 h 1478280"/>
                  <a:gd name="connsiteX7" fmla="*/ 274320 w 582658"/>
                  <a:gd name="connsiteY7" fmla="*/ 1005840 h 1478280"/>
                  <a:gd name="connsiteX8" fmla="*/ 335280 w 582658"/>
                  <a:gd name="connsiteY8" fmla="*/ 914400 h 1478280"/>
                  <a:gd name="connsiteX9" fmla="*/ 365760 w 582658"/>
                  <a:gd name="connsiteY9" fmla="*/ 822960 h 1478280"/>
                  <a:gd name="connsiteX10" fmla="*/ 381000 w 582658"/>
                  <a:gd name="connsiteY10" fmla="*/ 777240 h 1478280"/>
                  <a:gd name="connsiteX11" fmla="*/ 396240 w 582658"/>
                  <a:gd name="connsiteY11" fmla="*/ 701040 h 1478280"/>
                  <a:gd name="connsiteX12" fmla="*/ 441960 w 582658"/>
                  <a:gd name="connsiteY12" fmla="*/ 426720 h 1478280"/>
                  <a:gd name="connsiteX13" fmla="*/ 472440 w 582658"/>
                  <a:gd name="connsiteY13" fmla="*/ 335280 h 1478280"/>
                  <a:gd name="connsiteX14" fmla="*/ 502920 w 582658"/>
                  <a:gd name="connsiteY14" fmla="*/ 289560 h 1478280"/>
                  <a:gd name="connsiteX15" fmla="*/ 533400 w 582658"/>
                  <a:gd name="connsiteY15" fmla="*/ 198120 h 1478280"/>
                  <a:gd name="connsiteX16" fmla="*/ 579120 w 582658"/>
                  <a:gd name="connsiteY16" fmla="*/ 106680 h 1478280"/>
                  <a:gd name="connsiteX17" fmla="*/ 579120 w 582658"/>
                  <a:gd name="connsiteY17" fmla="*/ 0 h 14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2658" h="1478280">
                    <a:moveTo>
                      <a:pt x="0" y="1478280"/>
                    </a:moveTo>
                    <a:cubicBezTo>
                      <a:pt x="5080" y="1442720"/>
                      <a:pt x="4918" y="1406006"/>
                      <a:pt x="15240" y="1371600"/>
                    </a:cubicBezTo>
                    <a:cubicBezTo>
                      <a:pt x="20503" y="1354056"/>
                      <a:pt x="36633" y="1341783"/>
                      <a:pt x="45720" y="1325880"/>
                    </a:cubicBezTo>
                    <a:cubicBezTo>
                      <a:pt x="56992" y="1306155"/>
                      <a:pt x="64159" y="1284185"/>
                      <a:pt x="76200" y="1264920"/>
                    </a:cubicBezTo>
                    <a:cubicBezTo>
                      <a:pt x="89662" y="1243381"/>
                      <a:pt x="107157" y="1224629"/>
                      <a:pt x="121920" y="1203960"/>
                    </a:cubicBezTo>
                    <a:cubicBezTo>
                      <a:pt x="132566" y="1189055"/>
                      <a:pt x="140674" y="1172311"/>
                      <a:pt x="152400" y="1158240"/>
                    </a:cubicBezTo>
                    <a:cubicBezTo>
                      <a:pt x="166198" y="1141683"/>
                      <a:pt x="185593" y="1130058"/>
                      <a:pt x="198120" y="1112520"/>
                    </a:cubicBezTo>
                    <a:cubicBezTo>
                      <a:pt x="298417" y="972105"/>
                      <a:pt x="155446" y="1124714"/>
                      <a:pt x="274320" y="1005840"/>
                    </a:cubicBezTo>
                    <a:cubicBezTo>
                      <a:pt x="324738" y="854585"/>
                      <a:pt x="240148" y="1085638"/>
                      <a:pt x="335280" y="914400"/>
                    </a:cubicBezTo>
                    <a:cubicBezTo>
                      <a:pt x="350883" y="886314"/>
                      <a:pt x="355600" y="853440"/>
                      <a:pt x="365760" y="822960"/>
                    </a:cubicBezTo>
                    <a:cubicBezTo>
                      <a:pt x="370840" y="807720"/>
                      <a:pt x="377850" y="792992"/>
                      <a:pt x="381000" y="777240"/>
                    </a:cubicBezTo>
                    <a:cubicBezTo>
                      <a:pt x="386080" y="751840"/>
                      <a:pt x="392817" y="726716"/>
                      <a:pt x="396240" y="701040"/>
                    </a:cubicBezTo>
                    <a:cubicBezTo>
                      <a:pt x="414822" y="561672"/>
                      <a:pt x="399775" y="553274"/>
                      <a:pt x="441960" y="426720"/>
                    </a:cubicBezTo>
                    <a:cubicBezTo>
                      <a:pt x="452120" y="396240"/>
                      <a:pt x="454618" y="362013"/>
                      <a:pt x="472440" y="335280"/>
                    </a:cubicBezTo>
                    <a:cubicBezTo>
                      <a:pt x="482600" y="320040"/>
                      <a:pt x="495481" y="306298"/>
                      <a:pt x="502920" y="289560"/>
                    </a:cubicBezTo>
                    <a:cubicBezTo>
                      <a:pt x="515969" y="260200"/>
                      <a:pt x="515578" y="224853"/>
                      <a:pt x="533400" y="198120"/>
                    </a:cubicBezTo>
                    <a:cubicBezTo>
                      <a:pt x="553042" y="168656"/>
                      <a:pt x="575408" y="143795"/>
                      <a:pt x="579120" y="106680"/>
                    </a:cubicBezTo>
                    <a:cubicBezTo>
                      <a:pt x="582658" y="71296"/>
                      <a:pt x="579120" y="35560"/>
                      <a:pt x="57912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20" name="Freeform 19"/>
              <p:cNvSpPr/>
              <p:nvPr/>
            </p:nvSpPr>
            <p:spPr>
              <a:xfrm>
                <a:off x="4419600" y="3002280"/>
                <a:ext cx="1706880" cy="426720"/>
              </a:xfrm>
              <a:custGeom>
                <a:avLst/>
                <a:gdLst>
                  <a:gd name="connsiteX0" fmla="*/ 0 w 1706880"/>
                  <a:gd name="connsiteY0" fmla="*/ 426720 h 426720"/>
                  <a:gd name="connsiteX1" fmla="*/ 182880 w 1706880"/>
                  <a:gd name="connsiteY1" fmla="*/ 350520 h 426720"/>
                  <a:gd name="connsiteX2" fmla="*/ 243840 w 1706880"/>
                  <a:gd name="connsiteY2" fmla="*/ 320040 h 426720"/>
                  <a:gd name="connsiteX3" fmla="*/ 365760 w 1706880"/>
                  <a:gd name="connsiteY3" fmla="*/ 289560 h 426720"/>
                  <a:gd name="connsiteX4" fmla="*/ 426720 w 1706880"/>
                  <a:gd name="connsiteY4" fmla="*/ 259080 h 426720"/>
                  <a:gd name="connsiteX5" fmla="*/ 563880 w 1706880"/>
                  <a:gd name="connsiteY5" fmla="*/ 228600 h 426720"/>
                  <a:gd name="connsiteX6" fmla="*/ 609600 w 1706880"/>
                  <a:gd name="connsiteY6" fmla="*/ 198120 h 426720"/>
                  <a:gd name="connsiteX7" fmla="*/ 746760 w 1706880"/>
                  <a:gd name="connsiteY7" fmla="*/ 167640 h 426720"/>
                  <a:gd name="connsiteX8" fmla="*/ 838200 w 1706880"/>
                  <a:gd name="connsiteY8" fmla="*/ 137160 h 426720"/>
                  <a:gd name="connsiteX9" fmla="*/ 883920 w 1706880"/>
                  <a:gd name="connsiteY9" fmla="*/ 121920 h 426720"/>
                  <a:gd name="connsiteX10" fmla="*/ 929640 w 1706880"/>
                  <a:gd name="connsiteY10" fmla="*/ 91440 h 426720"/>
                  <a:gd name="connsiteX11" fmla="*/ 1021080 w 1706880"/>
                  <a:gd name="connsiteY11" fmla="*/ 45720 h 426720"/>
                  <a:gd name="connsiteX12" fmla="*/ 1554480 w 1706880"/>
                  <a:gd name="connsiteY12" fmla="*/ 45720 h 426720"/>
                  <a:gd name="connsiteX13" fmla="*/ 1600200 w 1706880"/>
                  <a:gd name="connsiteY13" fmla="*/ 30480 h 426720"/>
                  <a:gd name="connsiteX14" fmla="*/ 1706880 w 1706880"/>
                  <a:gd name="connsiteY14"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6880" h="426720">
                    <a:moveTo>
                      <a:pt x="0" y="426720"/>
                    </a:moveTo>
                    <a:cubicBezTo>
                      <a:pt x="60960" y="401320"/>
                      <a:pt x="122377" y="376990"/>
                      <a:pt x="182880" y="350520"/>
                    </a:cubicBezTo>
                    <a:cubicBezTo>
                      <a:pt x="203694" y="341414"/>
                      <a:pt x="222287" y="327224"/>
                      <a:pt x="243840" y="320040"/>
                    </a:cubicBezTo>
                    <a:cubicBezTo>
                      <a:pt x="283581" y="306793"/>
                      <a:pt x="326019" y="302807"/>
                      <a:pt x="365760" y="289560"/>
                    </a:cubicBezTo>
                    <a:cubicBezTo>
                      <a:pt x="387313" y="282376"/>
                      <a:pt x="404960" y="265608"/>
                      <a:pt x="426720" y="259080"/>
                    </a:cubicBezTo>
                    <a:cubicBezTo>
                      <a:pt x="485253" y="241520"/>
                      <a:pt x="514191" y="253445"/>
                      <a:pt x="563880" y="228600"/>
                    </a:cubicBezTo>
                    <a:cubicBezTo>
                      <a:pt x="580263" y="220409"/>
                      <a:pt x="593217" y="206311"/>
                      <a:pt x="609600" y="198120"/>
                    </a:cubicBezTo>
                    <a:cubicBezTo>
                      <a:pt x="653203" y="176318"/>
                      <a:pt x="699934" y="179347"/>
                      <a:pt x="746760" y="167640"/>
                    </a:cubicBezTo>
                    <a:cubicBezTo>
                      <a:pt x="777929" y="159848"/>
                      <a:pt x="807720" y="147320"/>
                      <a:pt x="838200" y="137160"/>
                    </a:cubicBezTo>
                    <a:cubicBezTo>
                      <a:pt x="853440" y="132080"/>
                      <a:pt x="870554" y="130831"/>
                      <a:pt x="883920" y="121920"/>
                    </a:cubicBezTo>
                    <a:cubicBezTo>
                      <a:pt x="899160" y="111760"/>
                      <a:pt x="913257" y="99631"/>
                      <a:pt x="929640" y="91440"/>
                    </a:cubicBezTo>
                    <a:cubicBezTo>
                      <a:pt x="1055833" y="28344"/>
                      <a:pt x="890053" y="133071"/>
                      <a:pt x="1021080" y="45720"/>
                    </a:cubicBezTo>
                    <a:cubicBezTo>
                      <a:pt x="1260239" y="55286"/>
                      <a:pt x="1353073" y="76706"/>
                      <a:pt x="1554480" y="45720"/>
                    </a:cubicBezTo>
                    <a:cubicBezTo>
                      <a:pt x="1570358" y="43277"/>
                      <a:pt x="1584615" y="34376"/>
                      <a:pt x="1600200" y="30480"/>
                    </a:cubicBezTo>
                    <a:cubicBezTo>
                      <a:pt x="1705006" y="4278"/>
                      <a:pt x="1645572" y="30654"/>
                      <a:pt x="170688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grpSp>
        <p:sp>
          <p:nvSpPr>
            <p:cNvPr id="22" name="TextBox 21"/>
            <p:cNvSpPr txBox="1"/>
            <p:nvPr/>
          </p:nvSpPr>
          <p:spPr>
            <a:xfrm>
              <a:off x="457200" y="5257800"/>
              <a:ext cx="1447800" cy="646331"/>
            </a:xfrm>
            <a:prstGeom prst="rect">
              <a:avLst/>
            </a:prstGeom>
            <a:noFill/>
          </p:spPr>
          <p:txBody>
            <a:bodyPr wrap="square" rtlCol="0">
              <a:spAutoFit/>
            </a:bodyPr>
            <a:lstStyle/>
            <a:p>
              <a:pPr algn="ctr"/>
              <a:r>
                <a:rPr lang="fi-FI" dirty="0" smtClean="0">
                  <a:latin typeface="Comic Sans MS" pitchFamily="66" charset="0"/>
                </a:rPr>
                <a:t>Technical Excellence</a:t>
              </a:r>
              <a:endParaRPr lang="fi-FI" dirty="0">
                <a:latin typeface="Comic Sans MS" pitchFamily="66" charset="0"/>
              </a:endParaRPr>
            </a:p>
          </p:txBody>
        </p:sp>
        <p:sp>
          <p:nvSpPr>
            <p:cNvPr id="23" name="TextBox 22"/>
            <p:cNvSpPr txBox="1"/>
            <p:nvPr/>
          </p:nvSpPr>
          <p:spPr>
            <a:xfrm>
              <a:off x="3352800" y="6019800"/>
              <a:ext cx="1447800" cy="369332"/>
            </a:xfrm>
            <a:prstGeom prst="rect">
              <a:avLst/>
            </a:prstGeom>
            <a:noFill/>
          </p:spPr>
          <p:txBody>
            <a:bodyPr wrap="square" rtlCol="0">
              <a:spAutoFit/>
            </a:bodyPr>
            <a:lstStyle/>
            <a:p>
              <a:pPr algn="ctr"/>
              <a:r>
                <a:rPr lang="fi-FI" dirty="0" smtClean="0">
                  <a:latin typeface="Comic Sans MS" pitchFamily="66" charset="0"/>
                </a:rPr>
                <a:t>Confidence</a:t>
              </a:r>
              <a:endParaRPr lang="fi-FI" dirty="0">
                <a:latin typeface="Comic Sans MS" pitchFamily="66" charset="0"/>
              </a:endParaRPr>
            </a:p>
          </p:txBody>
        </p:sp>
        <p:sp>
          <p:nvSpPr>
            <p:cNvPr id="24" name="TextBox 23"/>
            <p:cNvSpPr txBox="1"/>
            <p:nvPr/>
          </p:nvSpPr>
          <p:spPr>
            <a:xfrm>
              <a:off x="228600" y="2630269"/>
              <a:ext cx="1981200" cy="646331"/>
            </a:xfrm>
            <a:prstGeom prst="rect">
              <a:avLst/>
            </a:prstGeom>
            <a:noFill/>
          </p:spPr>
          <p:txBody>
            <a:bodyPr wrap="square" rtlCol="0">
              <a:spAutoFit/>
            </a:bodyPr>
            <a:lstStyle/>
            <a:p>
              <a:pPr algn="ctr"/>
              <a:r>
                <a:rPr lang="fi-FI" dirty="0" smtClean="0">
                  <a:latin typeface="Comic Sans MS" pitchFamily="66" charset="0"/>
                </a:rPr>
                <a:t>Self-improvement</a:t>
              </a:r>
              <a:endParaRPr lang="fi-FI" dirty="0">
                <a:latin typeface="Comic Sans MS" pitchFamily="66" charset="0"/>
              </a:endParaRPr>
            </a:p>
          </p:txBody>
        </p:sp>
        <p:sp>
          <p:nvSpPr>
            <p:cNvPr id="25" name="TextBox 24"/>
            <p:cNvSpPr txBox="1"/>
            <p:nvPr/>
          </p:nvSpPr>
          <p:spPr>
            <a:xfrm>
              <a:off x="1371600" y="1371600"/>
              <a:ext cx="1524000" cy="646331"/>
            </a:xfrm>
            <a:prstGeom prst="rect">
              <a:avLst/>
            </a:prstGeom>
            <a:noFill/>
          </p:spPr>
          <p:txBody>
            <a:bodyPr wrap="square" rtlCol="0">
              <a:spAutoFit/>
            </a:bodyPr>
            <a:lstStyle/>
            <a:p>
              <a:pPr algn="ctr"/>
              <a:r>
                <a:rPr lang="fi-FI" dirty="0" smtClean="0">
                  <a:latin typeface="Comic Sans MS" pitchFamily="66" charset="0"/>
                </a:rPr>
                <a:t>Product Sense</a:t>
              </a:r>
              <a:endParaRPr lang="fi-FI" dirty="0">
                <a:latin typeface="Comic Sans MS" pitchFamily="66" charset="0"/>
              </a:endParaRPr>
            </a:p>
          </p:txBody>
        </p:sp>
        <p:sp>
          <p:nvSpPr>
            <p:cNvPr id="26" name="TextBox 25"/>
            <p:cNvSpPr txBox="1"/>
            <p:nvPr/>
          </p:nvSpPr>
          <p:spPr>
            <a:xfrm>
              <a:off x="4800600" y="1371600"/>
              <a:ext cx="1524000" cy="646331"/>
            </a:xfrm>
            <a:prstGeom prst="rect">
              <a:avLst/>
            </a:prstGeom>
            <a:noFill/>
          </p:spPr>
          <p:txBody>
            <a:bodyPr wrap="square" rtlCol="0">
              <a:spAutoFit/>
            </a:bodyPr>
            <a:lstStyle/>
            <a:p>
              <a:pPr algn="ctr"/>
              <a:r>
                <a:rPr lang="fi-FI" dirty="0" smtClean="0">
                  <a:latin typeface="Comic Sans MS" pitchFamily="66" charset="0"/>
                </a:rPr>
                <a:t>Business Value</a:t>
              </a:r>
              <a:endParaRPr lang="fi-FI" dirty="0">
                <a:latin typeface="Comic Sans MS" pitchFamily="66" charset="0"/>
              </a:endParaRPr>
            </a:p>
          </p:txBody>
        </p:sp>
        <p:sp>
          <p:nvSpPr>
            <p:cNvPr id="27" name="TextBox 26"/>
            <p:cNvSpPr txBox="1"/>
            <p:nvPr/>
          </p:nvSpPr>
          <p:spPr>
            <a:xfrm>
              <a:off x="6172200" y="2819400"/>
              <a:ext cx="1676400" cy="369332"/>
            </a:xfrm>
            <a:prstGeom prst="rect">
              <a:avLst/>
            </a:prstGeom>
            <a:noFill/>
          </p:spPr>
          <p:txBody>
            <a:bodyPr wrap="square" rtlCol="0">
              <a:spAutoFit/>
            </a:bodyPr>
            <a:lstStyle/>
            <a:p>
              <a:pPr algn="ctr"/>
              <a:r>
                <a:rPr lang="fi-FI" dirty="0" smtClean="0">
                  <a:latin typeface="Comic Sans MS" pitchFamily="66" charset="0"/>
                </a:rPr>
                <a:t>Collaboration</a:t>
              </a:r>
              <a:endParaRPr lang="fi-FI" dirty="0">
                <a:latin typeface="Comic Sans MS" pitchFamily="66" charset="0"/>
              </a:endParaRPr>
            </a:p>
          </p:txBody>
        </p:sp>
        <p:sp>
          <p:nvSpPr>
            <p:cNvPr id="28" name="TextBox 27"/>
            <p:cNvSpPr txBox="1"/>
            <p:nvPr/>
          </p:nvSpPr>
          <p:spPr>
            <a:xfrm>
              <a:off x="5638800" y="5943600"/>
              <a:ext cx="1676400" cy="646331"/>
            </a:xfrm>
            <a:prstGeom prst="rect">
              <a:avLst/>
            </a:prstGeom>
            <a:noFill/>
          </p:spPr>
          <p:txBody>
            <a:bodyPr wrap="square" rtlCol="0">
              <a:spAutoFit/>
            </a:bodyPr>
            <a:lstStyle/>
            <a:p>
              <a:pPr algn="ctr"/>
              <a:r>
                <a:rPr lang="fi-FI" dirty="0" smtClean="0">
                  <a:latin typeface="Comic Sans MS" pitchFamily="66" charset="0"/>
                </a:rPr>
                <a:t>Supportive Culture</a:t>
              </a:r>
              <a:endParaRPr lang="fi-FI" dirty="0">
                <a:latin typeface="Comic Sans MS" pitchFamily="66" charset="0"/>
              </a:endParaRPr>
            </a:p>
          </p:txBody>
        </p:sp>
        <p:sp>
          <p:nvSpPr>
            <p:cNvPr id="30" name="Freeform 29"/>
            <p:cNvSpPr/>
            <p:nvPr/>
          </p:nvSpPr>
          <p:spPr>
            <a:xfrm>
              <a:off x="3947160" y="42672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1" name="Freeform 30"/>
            <p:cNvSpPr/>
            <p:nvPr/>
          </p:nvSpPr>
          <p:spPr>
            <a:xfrm>
              <a:off x="4526280" y="38862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2" name="Freeform 31"/>
            <p:cNvSpPr/>
            <p:nvPr/>
          </p:nvSpPr>
          <p:spPr>
            <a:xfrm>
              <a:off x="4709160" y="344424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3" name="Freeform 32"/>
            <p:cNvSpPr/>
            <p:nvPr/>
          </p:nvSpPr>
          <p:spPr>
            <a:xfrm>
              <a:off x="4267200" y="32004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4" name="Freeform 33"/>
            <p:cNvSpPr/>
            <p:nvPr/>
          </p:nvSpPr>
          <p:spPr>
            <a:xfrm>
              <a:off x="3655994" y="321564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5" name="Freeform 34"/>
            <p:cNvSpPr/>
            <p:nvPr/>
          </p:nvSpPr>
          <p:spPr>
            <a:xfrm>
              <a:off x="3490413" y="356616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6" name="Freeform 35"/>
            <p:cNvSpPr/>
            <p:nvPr/>
          </p:nvSpPr>
          <p:spPr>
            <a:xfrm>
              <a:off x="3572951" y="39166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7" name="Freeform 36"/>
            <p:cNvSpPr/>
            <p:nvPr/>
          </p:nvSpPr>
          <p:spPr>
            <a:xfrm>
              <a:off x="3886200" y="4572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8" name="Freeform 37"/>
            <p:cNvSpPr/>
            <p:nvPr/>
          </p:nvSpPr>
          <p:spPr>
            <a:xfrm>
              <a:off x="3810000" y="4953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39" name="Freeform 38"/>
            <p:cNvSpPr/>
            <p:nvPr/>
          </p:nvSpPr>
          <p:spPr>
            <a:xfrm>
              <a:off x="3733800" y="5282948"/>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0" name="Freeform 39"/>
            <p:cNvSpPr/>
            <p:nvPr/>
          </p:nvSpPr>
          <p:spPr>
            <a:xfrm>
              <a:off x="3657600" y="56388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1" name="Freeform 40"/>
            <p:cNvSpPr/>
            <p:nvPr/>
          </p:nvSpPr>
          <p:spPr>
            <a:xfrm>
              <a:off x="4876800" y="41300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2" name="Freeform 41"/>
            <p:cNvSpPr/>
            <p:nvPr/>
          </p:nvSpPr>
          <p:spPr>
            <a:xfrm>
              <a:off x="5257800" y="43586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3" name="Freeform 42"/>
            <p:cNvSpPr/>
            <p:nvPr/>
          </p:nvSpPr>
          <p:spPr>
            <a:xfrm>
              <a:off x="5562600" y="46634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4" name="Freeform 43"/>
            <p:cNvSpPr/>
            <p:nvPr/>
          </p:nvSpPr>
          <p:spPr>
            <a:xfrm>
              <a:off x="5867400" y="49530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5" name="Freeform 44"/>
            <p:cNvSpPr/>
            <p:nvPr/>
          </p:nvSpPr>
          <p:spPr>
            <a:xfrm>
              <a:off x="5029200" y="33528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6" name="Freeform 45"/>
            <p:cNvSpPr/>
            <p:nvPr/>
          </p:nvSpPr>
          <p:spPr>
            <a:xfrm>
              <a:off x="5410200" y="32004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7" name="Freeform 46"/>
            <p:cNvSpPr/>
            <p:nvPr/>
          </p:nvSpPr>
          <p:spPr>
            <a:xfrm>
              <a:off x="57912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8" name="Freeform 47"/>
            <p:cNvSpPr/>
            <p:nvPr/>
          </p:nvSpPr>
          <p:spPr>
            <a:xfrm>
              <a:off x="60960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49" name="Freeform 48"/>
            <p:cNvSpPr/>
            <p:nvPr/>
          </p:nvSpPr>
          <p:spPr>
            <a:xfrm>
              <a:off x="4419600" y="28956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0" name="Freeform 49"/>
            <p:cNvSpPr/>
            <p:nvPr/>
          </p:nvSpPr>
          <p:spPr>
            <a:xfrm>
              <a:off x="4572000" y="256032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1" name="Freeform 50"/>
            <p:cNvSpPr/>
            <p:nvPr/>
          </p:nvSpPr>
          <p:spPr>
            <a:xfrm>
              <a:off x="4648200" y="22098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2" name="Freeform 51"/>
            <p:cNvSpPr/>
            <p:nvPr/>
          </p:nvSpPr>
          <p:spPr>
            <a:xfrm>
              <a:off x="4724400" y="19050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3" name="Freeform 52"/>
            <p:cNvSpPr/>
            <p:nvPr/>
          </p:nvSpPr>
          <p:spPr>
            <a:xfrm>
              <a:off x="3429000" y="28956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4" name="Freeform 53"/>
            <p:cNvSpPr/>
            <p:nvPr/>
          </p:nvSpPr>
          <p:spPr>
            <a:xfrm>
              <a:off x="3276600" y="25755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5" name="Freeform 54"/>
            <p:cNvSpPr/>
            <p:nvPr/>
          </p:nvSpPr>
          <p:spPr>
            <a:xfrm>
              <a:off x="3124200" y="22707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6" name="Freeform 55"/>
            <p:cNvSpPr/>
            <p:nvPr/>
          </p:nvSpPr>
          <p:spPr>
            <a:xfrm>
              <a:off x="2895600" y="19812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7" name="Freeform 56"/>
            <p:cNvSpPr/>
            <p:nvPr/>
          </p:nvSpPr>
          <p:spPr>
            <a:xfrm>
              <a:off x="3155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8" name="Freeform 57"/>
            <p:cNvSpPr/>
            <p:nvPr/>
          </p:nvSpPr>
          <p:spPr>
            <a:xfrm>
              <a:off x="2774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59" name="Freeform 58"/>
            <p:cNvSpPr/>
            <p:nvPr/>
          </p:nvSpPr>
          <p:spPr>
            <a:xfrm>
              <a:off x="2438400" y="34290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0" name="Freeform 59"/>
            <p:cNvSpPr/>
            <p:nvPr/>
          </p:nvSpPr>
          <p:spPr>
            <a:xfrm>
              <a:off x="2088333" y="33528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2" name="Freeform 61"/>
            <p:cNvSpPr/>
            <p:nvPr/>
          </p:nvSpPr>
          <p:spPr>
            <a:xfrm>
              <a:off x="3200400" y="40690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3" name="Freeform 62"/>
            <p:cNvSpPr/>
            <p:nvPr/>
          </p:nvSpPr>
          <p:spPr>
            <a:xfrm>
              <a:off x="2887151" y="4358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dirty="0"/>
            </a:p>
          </p:txBody>
        </p:sp>
        <p:sp>
          <p:nvSpPr>
            <p:cNvPr id="64" name="Freeform 63"/>
            <p:cNvSpPr/>
            <p:nvPr/>
          </p:nvSpPr>
          <p:spPr>
            <a:xfrm>
              <a:off x="2506151" y="45110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sp>
          <p:nvSpPr>
            <p:cNvPr id="65" name="Freeform 64"/>
            <p:cNvSpPr/>
            <p:nvPr/>
          </p:nvSpPr>
          <p:spPr>
            <a:xfrm>
              <a:off x="2048951" y="4739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Exercise: What Your Testing Knowledge Can Give an Agile Team</a:t>
            </a:r>
            <a:endParaRPr lang="fi-FI" dirty="0"/>
          </a:p>
        </p:txBody>
      </p:sp>
      <p:sp>
        <p:nvSpPr>
          <p:cNvPr id="6" name="Content Placeholder 5"/>
          <p:cNvSpPr>
            <a:spLocks noGrp="1"/>
          </p:cNvSpPr>
          <p:nvPr>
            <p:ph idx="1"/>
          </p:nvPr>
        </p:nvSpPr>
        <p:spPr/>
        <p:txBody>
          <a:bodyPr>
            <a:normAutofit lnSpcReduction="10000"/>
          </a:bodyPr>
          <a:lstStyle/>
          <a:p>
            <a:r>
              <a:rPr lang="fi-FI" dirty="0" smtClean="0"/>
              <a:t>Consider the Seven Pillars of a Good Agile Team </a:t>
            </a:r>
          </a:p>
          <a:p>
            <a:r>
              <a:rPr lang="fi-FI" dirty="0" smtClean="0"/>
              <a:t>Identify what could you </a:t>
            </a:r>
            <a:br>
              <a:rPr lang="fi-FI" dirty="0" smtClean="0"/>
            </a:br>
            <a:r>
              <a:rPr lang="fi-FI" dirty="0" smtClean="0"/>
              <a:t>bring with your testing </a:t>
            </a:r>
            <a:br>
              <a:rPr lang="fi-FI" dirty="0" smtClean="0"/>
            </a:br>
            <a:r>
              <a:rPr lang="fi-FI" dirty="0" smtClean="0"/>
              <a:t>knowledge to an </a:t>
            </a:r>
            <a:br>
              <a:rPr lang="fi-FI" dirty="0" smtClean="0"/>
            </a:br>
            <a:r>
              <a:rPr lang="fi-FI" dirty="0" smtClean="0"/>
              <a:t>agile team</a:t>
            </a:r>
          </a:p>
          <a:p>
            <a:r>
              <a:rPr lang="fi-FI" dirty="0" smtClean="0"/>
              <a:t>Are some axes more </a:t>
            </a:r>
            <a:br>
              <a:rPr lang="fi-FI" dirty="0" smtClean="0"/>
            </a:br>
            <a:r>
              <a:rPr lang="fi-FI" dirty="0" smtClean="0"/>
              <a:t>heavily testing-related?</a:t>
            </a:r>
          </a:p>
          <a:p>
            <a:r>
              <a:rPr lang="fi-FI" dirty="0" smtClean="0"/>
              <a:t>Discuss in groups</a:t>
            </a:r>
          </a:p>
        </p:txBody>
      </p:sp>
      <p:sp>
        <p:nvSpPr>
          <p:cNvPr id="3" name="Footer Placeholder 2"/>
          <p:cNvSpPr>
            <a:spLocks noGrp="1"/>
          </p:cNvSpPr>
          <p:nvPr>
            <p:ph type="ftr" sz="quarter" idx="11"/>
          </p:nvPr>
        </p:nvSpPr>
        <p:spPr/>
        <p:txBody>
          <a:bodyPr/>
          <a:lstStyle/>
          <a:p>
            <a:r>
              <a:rPr lang="en-US" smtClean="0"/>
              <a:t>DAY 1</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grpSp>
        <p:nvGrpSpPr>
          <p:cNvPr id="2" name="Group 14"/>
          <p:cNvGrpSpPr/>
          <p:nvPr/>
        </p:nvGrpSpPr>
        <p:grpSpPr>
          <a:xfrm>
            <a:off x="4267200" y="2849531"/>
            <a:ext cx="4953000" cy="3703669"/>
            <a:chOff x="228600" y="1371600"/>
            <a:chExt cx="7620000" cy="5359545"/>
          </a:xfrm>
        </p:grpSpPr>
        <p:grpSp>
          <p:nvGrpSpPr>
            <p:cNvPr id="7" name="Group 20"/>
            <p:cNvGrpSpPr/>
            <p:nvPr/>
          </p:nvGrpSpPr>
          <p:grpSpPr>
            <a:xfrm>
              <a:off x="1447801" y="1523999"/>
              <a:ext cx="5181602" cy="4648198"/>
              <a:chOff x="2407920" y="1920240"/>
              <a:chExt cx="3718560" cy="3101902"/>
            </a:xfrm>
          </p:grpSpPr>
          <p:sp>
            <p:nvSpPr>
              <p:cNvPr id="59" name="Freeform 58"/>
              <p:cNvSpPr/>
              <p:nvPr/>
            </p:nvSpPr>
            <p:spPr>
              <a:xfrm>
                <a:off x="4343400" y="3352800"/>
                <a:ext cx="1709698" cy="1356360"/>
              </a:xfrm>
              <a:custGeom>
                <a:avLst/>
                <a:gdLst>
                  <a:gd name="connsiteX0" fmla="*/ 0 w 1709698"/>
                  <a:gd name="connsiteY0" fmla="*/ 0 h 1356360"/>
                  <a:gd name="connsiteX1" fmla="*/ 60960 w 1709698"/>
                  <a:gd name="connsiteY1" fmla="*/ 45720 h 1356360"/>
                  <a:gd name="connsiteX2" fmla="*/ 152400 w 1709698"/>
                  <a:gd name="connsiteY2" fmla="*/ 137160 h 1356360"/>
                  <a:gd name="connsiteX3" fmla="*/ 289560 w 1709698"/>
                  <a:gd name="connsiteY3" fmla="*/ 213360 h 1356360"/>
                  <a:gd name="connsiteX4" fmla="*/ 381000 w 1709698"/>
                  <a:gd name="connsiteY4" fmla="*/ 274320 h 1356360"/>
                  <a:gd name="connsiteX5" fmla="*/ 426720 w 1709698"/>
                  <a:gd name="connsiteY5" fmla="*/ 320040 h 1356360"/>
                  <a:gd name="connsiteX6" fmla="*/ 472440 w 1709698"/>
                  <a:gd name="connsiteY6" fmla="*/ 335280 h 1356360"/>
                  <a:gd name="connsiteX7" fmla="*/ 563880 w 1709698"/>
                  <a:gd name="connsiteY7" fmla="*/ 396240 h 1356360"/>
                  <a:gd name="connsiteX8" fmla="*/ 609600 w 1709698"/>
                  <a:gd name="connsiteY8" fmla="*/ 411480 h 1356360"/>
                  <a:gd name="connsiteX9" fmla="*/ 701040 w 1709698"/>
                  <a:gd name="connsiteY9" fmla="*/ 472440 h 1356360"/>
                  <a:gd name="connsiteX10" fmla="*/ 762000 w 1709698"/>
                  <a:gd name="connsiteY10" fmla="*/ 502920 h 1356360"/>
                  <a:gd name="connsiteX11" fmla="*/ 807720 w 1709698"/>
                  <a:gd name="connsiteY11" fmla="*/ 533400 h 1356360"/>
                  <a:gd name="connsiteX12" fmla="*/ 853440 w 1709698"/>
                  <a:gd name="connsiteY12" fmla="*/ 548640 h 1356360"/>
                  <a:gd name="connsiteX13" fmla="*/ 883920 w 1709698"/>
                  <a:gd name="connsiteY13" fmla="*/ 594360 h 1356360"/>
                  <a:gd name="connsiteX14" fmla="*/ 975360 w 1709698"/>
                  <a:gd name="connsiteY14" fmla="*/ 670560 h 1356360"/>
                  <a:gd name="connsiteX15" fmla="*/ 1021080 w 1709698"/>
                  <a:gd name="connsiteY15" fmla="*/ 731520 h 1356360"/>
                  <a:gd name="connsiteX16" fmla="*/ 1112520 w 1709698"/>
                  <a:gd name="connsiteY16" fmla="*/ 822960 h 1356360"/>
                  <a:gd name="connsiteX17" fmla="*/ 1158240 w 1709698"/>
                  <a:gd name="connsiteY17" fmla="*/ 868680 h 1356360"/>
                  <a:gd name="connsiteX18" fmla="*/ 1203960 w 1709698"/>
                  <a:gd name="connsiteY18" fmla="*/ 899160 h 1356360"/>
                  <a:gd name="connsiteX19" fmla="*/ 1234440 w 1709698"/>
                  <a:gd name="connsiteY19" fmla="*/ 944880 h 1356360"/>
                  <a:gd name="connsiteX20" fmla="*/ 1325880 w 1709698"/>
                  <a:gd name="connsiteY20" fmla="*/ 1005840 h 1356360"/>
                  <a:gd name="connsiteX21" fmla="*/ 1417320 w 1709698"/>
                  <a:gd name="connsiteY21" fmla="*/ 1066800 h 1356360"/>
                  <a:gd name="connsiteX22" fmla="*/ 1463040 w 1709698"/>
                  <a:gd name="connsiteY22" fmla="*/ 1097280 h 1356360"/>
                  <a:gd name="connsiteX23" fmla="*/ 1508760 w 1709698"/>
                  <a:gd name="connsiteY23" fmla="*/ 1127760 h 1356360"/>
                  <a:gd name="connsiteX24" fmla="*/ 1539240 w 1709698"/>
                  <a:gd name="connsiteY24" fmla="*/ 1173480 h 1356360"/>
                  <a:gd name="connsiteX25" fmla="*/ 1676400 w 1709698"/>
                  <a:gd name="connsiteY25" fmla="*/ 1295400 h 1356360"/>
                  <a:gd name="connsiteX26" fmla="*/ 1706880 w 1709698"/>
                  <a:gd name="connsiteY26" fmla="*/ 1356360 h 135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9698" h="1356360">
                    <a:moveTo>
                      <a:pt x="0" y="0"/>
                    </a:moveTo>
                    <a:cubicBezTo>
                      <a:pt x="20320" y="15240"/>
                      <a:pt x="42080" y="28728"/>
                      <a:pt x="60960" y="45720"/>
                    </a:cubicBezTo>
                    <a:cubicBezTo>
                      <a:pt x="93000" y="74556"/>
                      <a:pt x="116534" y="113250"/>
                      <a:pt x="152400" y="137160"/>
                    </a:cubicBezTo>
                    <a:cubicBezTo>
                      <a:pt x="257206" y="207031"/>
                      <a:pt x="209087" y="186536"/>
                      <a:pt x="289560" y="213360"/>
                    </a:cubicBezTo>
                    <a:cubicBezTo>
                      <a:pt x="435411" y="359211"/>
                      <a:pt x="248667" y="186098"/>
                      <a:pt x="381000" y="274320"/>
                    </a:cubicBezTo>
                    <a:cubicBezTo>
                      <a:pt x="398933" y="286275"/>
                      <a:pt x="408787" y="308085"/>
                      <a:pt x="426720" y="320040"/>
                    </a:cubicBezTo>
                    <a:cubicBezTo>
                      <a:pt x="440086" y="328951"/>
                      <a:pt x="458397" y="327478"/>
                      <a:pt x="472440" y="335280"/>
                    </a:cubicBezTo>
                    <a:cubicBezTo>
                      <a:pt x="504462" y="353070"/>
                      <a:pt x="529127" y="384656"/>
                      <a:pt x="563880" y="396240"/>
                    </a:cubicBezTo>
                    <a:cubicBezTo>
                      <a:pt x="579120" y="401320"/>
                      <a:pt x="595557" y="403678"/>
                      <a:pt x="609600" y="411480"/>
                    </a:cubicBezTo>
                    <a:cubicBezTo>
                      <a:pt x="641622" y="429270"/>
                      <a:pt x="668275" y="456057"/>
                      <a:pt x="701040" y="472440"/>
                    </a:cubicBezTo>
                    <a:cubicBezTo>
                      <a:pt x="721360" y="482600"/>
                      <a:pt x="742275" y="491648"/>
                      <a:pt x="762000" y="502920"/>
                    </a:cubicBezTo>
                    <a:cubicBezTo>
                      <a:pt x="777903" y="512007"/>
                      <a:pt x="791337" y="525209"/>
                      <a:pt x="807720" y="533400"/>
                    </a:cubicBezTo>
                    <a:cubicBezTo>
                      <a:pt x="822088" y="540584"/>
                      <a:pt x="838200" y="543560"/>
                      <a:pt x="853440" y="548640"/>
                    </a:cubicBezTo>
                    <a:cubicBezTo>
                      <a:pt x="863600" y="563880"/>
                      <a:pt x="870968" y="581408"/>
                      <a:pt x="883920" y="594360"/>
                    </a:cubicBezTo>
                    <a:cubicBezTo>
                      <a:pt x="1025017" y="735457"/>
                      <a:pt x="825560" y="495793"/>
                      <a:pt x="975360" y="670560"/>
                    </a:cubicBezTo>
                    <a:cubicBezTo>
                      <a:pt x="991890" y="689845"/>
                      <a:pt x="1004088" y="712640"/>
                      <a:pt x="1021080" y="731520"/>
                    </a:cubicBezTo>
                    <a:cubicBezTo>
                      <a:pt x="1049916" y="763560"/>
                      <a:pt x="1082040" y="792480"/>
                      <a:pt x="1112520" y="822960"/>
                    </a:cubicBezTo>
                    <a:cubicBezTo>
                      <a:pt x="1127760" y="838200"/>
                      <a:pt x="1140307" y="856725"/>
                      <a:pt x="1158240" y="868680"/>
                    </a:cubicBezTo>
                    <a:lnTo>
                      <a:pt x="1203960" y="899160"/>
                    </a:lnTo>
                    <a:cubicBezTo>
                      <a:pt x="1214120" y="914400"/>
                      <a:pt x="1220656" y="932819"/>
                      <a:pt x="1234440" y="944880"/>
                    </a:cubicBezTo>
                    <a:cubicBezTo>
                      <a:pt x="1262009" y="969003"/>
                      <a:pt x="1295400" y="985520"/>
                      <a:pt x="1325880" y="1005840"/>
                    </a:cubicBezTo>
                    <a:lnTo>
                      <a:pt x="1417320" y="1066800"/>
                    </a:lnTo>
                    <a:lnTo>
                      <a:pt x="1463040" y="1097280"/>
                    </a:lnTo>
                    <a:lnTo>
                      <a:pt x="1508760" y="1127760"/>
                    </a:lnTo>
                    <a:cubicBezTo>
                      <a:pt x="1518920" y="1143000"/>
                      <a:pt x="1527071" y="1159790"/>
                      <a:pt x="1539240" y="1173480"/>
                    </a:cubicBezTo>
                    <a:cubicBezTo>
                      <a:pt x="1615161" y="1258891"/>
                      <a:pt x="1606912" y="1249075"/>
                      <a:pt x="1676400" y="1295400"/>
                    </a:cubicBezTo>
                    <a:cubicBezTo>
                      <a:pt x="1709698" y="1345347"/>
                      <a:pt x="1706880" y="1322804"/>
                      <a:pt x="1706880" y="135636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0" name="Freeform 59"/>
              <p:cNvSpPr/>
              <p:nvPr/>
            </p:nvSpPr>
            <p:spPr>
              <a:xfrm>
                <a:off x="4099037" y="3352800"/>
                <a:ext cx="277533" cy="1669342"/>
              </a:xfrm>
              <a:custGeom>
                <a:avLst/>
                <a:gdLst>
                  <a:gd name="connsiteX0" fmla="*/ 277533 w 277533"/>
                  <a:gd name="connsiteY0" fmla="*/ 0 h 1974447"/>
                  <a:gd name="connsiteX1" fmla="*/ 262293 w 277533"/>
                  <a:gd name="connsiteY1" fmla="*/ 289560 h 1974447"/>
                  <a:gd name="connsiteX2" fmla="*/ 247053 w 277533"/>
                  <a:gd name="connsiteY2" fmla="*/ 396240 h 1974447"/>
                  <a:gd name="connsiteX3" fmla="*/ 231813 w 277533"/>
                  <a:gd name="connsiteY3" fmla="*/ 533400 h 1974447"/>
                  <a:gd name="connsiteX4" fmla="*/ 216573 w 277533"/>
                  <a:gd name="connsiteY4" fmla="*/ 579120 h 1974447"/>
                  <a:gd name="connsiteX5" fmla="*/ 201333 w 277533"/>
                  <a:gd name="connsiteY5" fmla="*/ 655320 h 1974447"/>
                  <a:gd name="connsiteX6" fmla="*/ 186093 w 277533"/>
                  <a:gd name="connsiteY6" fmla="*/ 777240 h 1974447"/>
                  <a:gd name="connsiteX7" fmla="*/ 155613 w 277533"/>
                  <a:gd name="connsiteY7" fmla="*/ 883920 h 1974447"/>
                  <a:gd name="connsiteX8" fmla="*/ 140373 w 277533"/>
                  <a:gd name="connsiteY8" fmla="*/ 960120 h 1974447"/>
                  <a:gd name="connsiteX9" fmla="*/ 125133 w 277533"/>
                  <a:gd name="connsiteY9" fmla="*/ 1005840 h 1974447"/>
                  <a:gd name="connsiteX10" fmla="*/ 109893 w 277533"/>
                  <a:gd name="connsiteY10" fmla="*/ 1066800 h 1974447"/>
                  <a:gd name="connsiteX11" fmla="*/ 79413 w 277533"/>
                  <a:gd name="connsiteY11" fmla="*/ 1158240 h 1974447"/>
                  <a:gd name="connsiteX12" fmla="*/ 64173 w 277533"/>
                  <a:gd name="connsiteY12" fmla="*/ 1203960 h 1974447"/>
                  <a:gd name="connsiteX13" fmla="*/ 48933 w 277533"/>
                  <a:gd name="connsiteY13" fmla="*/ 1249680 h 1974447"/>
                  <a:gd name="connsiteX14" fmla="*/ 33693 w 277533"/>
                  <a:gd name="connsiteY14" fmla="*/ 1310640 h 1974447"/>
                  <a:gd name="connsiteX15" fmla="*/ 18453 w 277533"/>
                  <a:gd name="connsiteY15" fmla="*/ 1706880 h 1974447"/>
                  <a:gd name="connsiteX16" fmla="*/ 3213 w 277533"/>
                  <a:gd name="connsiteY16" fmla="*/ 1783080 h 197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533" h="1974447">
                    <a:moveTo>
                      <a:pt x="277533" y="0"/>
                    </a:moveTo>
                    <a:cubicBezTo>
                      <a:pt x="272453" y="96520"/>
                      <a:pt x="269706" y="193191"/>
                      <a:pt x="262293" y="289560"/>
                    </a:cubicBezTo>
                    <a:cubicBezTo>
                      <a:pt x="259538" y="325375"/>
                      <a:pt x="251508" y="360596"/>
                      <a:pt x="247053" y="396240"/>
                    </a:cubicBezTo>
                    <a:cubicBezTo>
                      <a:pt x="241347" y="441886"/>
                      <a:pt x="239376" y="488025"/>
                      <a:pt x="231813" y="533400"/>
                    </a:cubicBezTo>
                    <a:cubicBezTo>
                      <a:pt x="229172" y="549246"/>
                      <a:pt x="220469" y="563535"/>
                      <a:pt x="216573" y="579120"/>
                    </a:cubicBezTo>
                    <a:cubicBezTo>
                      <a:pt x="210291" y="604250"/>
                      <a:pt x="205272" y="629718"/>
                      <a:pt x="201333" y="655320"/>
                    </a:cubicBezTo>
                    <a:cubicBezTo>
                      <a:pt x="195105" y="695800"/>
                      <a:pt x="192826" y="736841"/>
                      <a:pt x="186093" y="777240"/>
                    </a:cubicBezTo>
                    <a:cubicBezTo>
                      <a:pt x="171840" y="862760"/>
                      <a:pt x="173731" y="811446"/>
                      <a:pt x="155613" y="883920"/>
                    </a:cubicBezTo>
                    <a:cubicBezTo>
                      <a:pt x="149331" y="909050"/>
                      <a:pt x="146655" y="934990"/>
                      <a:pt x="140373" y="960120"/>
                    </a:cubicBezTo>
                    <a:cubicBezTo>
                      <a:pt x="136477" y="975705"/>
                      <a:pt x="129546" y="990394"/>
                      <a:pt x="125133" y="1005840"/>
                    </a:cubicBezTo>
                    <a:cubicBezTo>
                      <a:pt x="119379" y="1025979"/>
                      <a:pt x="115912" y="1046738"/>
                      <a:pt x="109893" y="1066800"/>
                    </a:cubicBezTo>
                    <a:cubicBezTo>
                      <a:pt x="100661" y="1097574"/>
                      <a:pt x="89573" y="1127760"/>
                      <a:pt x="79413" y="1158240"/>
                    </a:cubicBezTo>
                    <a:lnTo>
                      <a:pt x="64173" y="1203960"/>
                    </a:lnTo>
                    <a:cubicBezTo>
                      <a:pt x="59093" y="1219200"/>
                      <a:pt x="52829" y="1234095"/>
                      <a:pt x="48933" y="1249680"/>
                    </a:cubicBezTo>
                    <a:lnTo>
                      <a:pt x="33693" y="1310640"/>
                    </a:lnTo>
                    <a:cubicBezTo>
                      <a:pt x="28613" y="1442720"/>
                      <a:pt x="27547" y="1575016"/>
                      <a:pt x="18453" y="1706880"/>
                    </a:cubicBezTo>
                    <a:cubicBezTo>
                      <a:pt x="0" y="1974447"/>
                      <a:pt x="3213" y="1602323"/>
                      <a:pt x="3213" y="178308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1" name="Freeform 60"/>
              <p:cNvSpPr/>
              <p:nvPr/>
            </p:nvSpPr>
            <p:spPr>
              <a:xfrm>
                <a:off x="2407920" y="3337560"/>
                <a:ext cx="1981200" cy="1082040"/>
              </a:xfrm>
              <a:custGeom>
                <a:avLst/>
                <a:gdLst>
                  <a:gd name="connsiteX0" fmla="*/ 1981200 w 1981200"/>
                  <a:gd name="connsiteY0" fmla="*/ 0 h 1082040"/>
                  <a:gd name="connsiteX1" fmla="*/ 1935480 w 1981200"/>
                  <a:gd name="connsiteY1" fmla="*/ 30480 h 1082040"/>
                  <a:gd name="connsiteX2" fmla="*/ 1813560 w 1981200"/>
                  <a:gd name="connsiteY2" fmla="*/ 76200 h 1082040"/>
                  <a:gd name="connsiteX3" fmla="*/ 1676400 w 1981200"/>
                  <a:gd name="connsiteY3" fmla="*/ 167640 h 1082040"/>
                  <a:gd name="connsiteX4" fmla="*/ 1630680 w 1981200"/>
                  <a:gd name="connsiteY4" fmla="*/ 198120 h 1082040"/>
                  <a:gd name="connsiteX5" fmla="*/ 1584960 w 1981200"/>
                  <a:gd name="connsiteY5" fmla="*/ 213360 h 1082040"/>
                  <a:gd name="connsiteX6" fmla="*/ 1493520 w 1981200"/>
                  <a:gd name="connsiteY6" fmla="*/ 274320 h 1082040"/>
                  <a:gd name="connsiteX7" fmla="*/ 1402080 w 1981200"/>
                  <a:gd name="connsiteY7" fmla="*/ 304800 h 1082040"/>
                  <a:gd name="connsiteX8" fmla="*/ 1280160 w 1981200"/>
                  <a:gd name="connsiteY8" fmla="*/ 396240 h 1082040"/>
                  <a:gd name="connsiteX9" fmla="*/ 1188720 w 1981200"/>
                  <a:gd name="connsiteY9" fmla="*/ 472440 h 1082040"/>
                  <a:gd name="connsiteX10" fmla="*/ 1158240 w 1981200"/>
                  <a:gd name="connsiteY10" fmla="*/ 518160 h 1082040"/>
                  <a:gd name="connsiteX11" fmla="*/ 1021080 w 1981200"/>
                  <a:gd name="connsiteY11" fmla="*/ 594360 h 1082040"/>
                  <a:gd name="connsiteX12" fmla="*/ 960120 w 1981200"/>
                  <a:gd name="connsiteY12" fmla="*/ 624840 h 1082040"/>
                  <a:gd name="connsiteX13" fmla="*/ 914400 w 1981200"/>
                  <a:gd name="connsiteY13" fmla="*/ 640080 h 1082040"/>
                  <a:gd name="connsiteX14" fmla="*/ 746760 w 1981200"/>
                  <a:gd name="connsiteY14" fmla="*/ 670560 h 1082040"/>
                  <a:gd name="connsiteX15" fmla="*/ 594360 w 1981200"/>
                  <a:gd name="connsiteY15" fmla="*/ 716280 h 1082040"/>
                  <a:gd name="connsiteX16" fmla="*/ 457200 w 1981200"/>
                  <a:gd name="connsiteY16" fmla="*/ 807720 h 1082040"/>
                  <a:gd name="connsiteX17" fmla="*/ 411480 w 1981200"/>
                  <a:gd name="connsiteY17" fmla="*/ 838200 h 1082040"/>
                  <a:gd name="connsiteX18" fmla="*/ 365760 w 1981200"/>
                  <a:gd name="connsiteY18" fmla="*/ 853440 h 1082040"/>
                  <a:gd name="connsiteX19" fmla="*/ 274320 w 1981200"/>
                  <a:gd name="connsiteY19" fmla="*/ 914400 h 1082040"/>
                  <a:gd name="connsiteX20" fmla="*/ 213360 w 1981200"/>
                  <a:gd name="connsiteY20" fmla="*/ 944880 h 1082040"/>
                  <a:gd name="connsiteX21" fmla="*/ 167640 w 1981200"/>
                  <a:gd name="connsiteY21" fmla="*/ 975360 h 1082040"/>
                  <a:gd name="connsiteX22" fmla="*/ 121920 w 1981200"/>
                  <a:gd name="connsiteY22" fmla="*/ 990600 h 1082040"/>
                  <a:gd name="connsiteX23" fmla="*/ 76200 w 1981200"/>
                  <a:gd name="connsiteY23" fmla="*/ 1036320 h 1082040"/>
                  <a:gd name="connsiteX24" fmla="*/ 0 w 1981200"/>
                  <a:gd name="connsiteY24" fmla="*/ 1082040 h 10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1200" h="1082040">
                    <a:moveTo>
                      <a:pt x="1981200" y="0"/>
                    </a:moveTo>
                    <a:cubicBezTo>
                      <a:pt x="1965960" y="10160"/>
                      <a:pt x="1952315" y="23265"/>
                      <a:pt x="1935480" y="30480"/>
                    </a:cubicBezTo>
                    <a:cubicBezTo>
                      <a:pt x="1808881" y="84737"/>
                      <a:pt x="1940543" y="10"/>
                      <a:pt x="1813560" y="76200"/>
                    </a:cubicBezTo>
                    <a:lnTo>
                      <a:pt x="1676400" y="167640"/>
                    </a:lnTo>
                    <a:cubicBezTo>
                      <a:pt x="1661160" y="177800"/>
                      <a:pt x="1648056" y="192328"/>
                      <a:pt x="1630680" y="198120"/>
                    </a:cubicBezTo>
                    <a:cubicBezTo>
                      <a:pt x="1615440" y="203200"/>
                      <a:pt x="1599003" y="205558"/>
                      <a:pt x="1584960" y="213360"/>
                    </a:cubicBezTo>
                    <a:cubicBezTo>
                      <a:pt x="1552938" y="231150"/>
                      <a:pt x="1528273" y="262736"/>
                      <a:pt x="1493520" y="274320"/>
                    </a:cubicBezTo>
                    <a:lnTo>
                      <a:pt x="1402080" y="304800"/>
                    </a:lnTo>
                    <a:cubicBezTo>
                      <a:pt x="1361440" y="335280"/>
                      <a:pt x="1308339" y="353972"/>
                      <a:pt x="1280160" y="396240"/>
                    </a:cubicBezTo>
                    <a:cubicBezTo>
                      <a:pt x="1237078" y="460863"/>
                      <a:pt x="1266063" y="433769"/>
                      <a:pt x="1188720" y="472440"/>
                    </a:cubicBezTo>
                    <a:cubicBezTo>
                      <a:pt x="1178560" y="487680"/>
                      <a:pt x="1172024" y="506099"/>
                      <a:pt x="1158240" y="518160"/>
                    </a:cubicBezTo>
                    <a:cubicBezTo>
                      <a:pt x="1063195" y="601324"/>
                      <a:pt x="1097272" y="561706"/>
                      <a:pt x="1021080" y="594360"/>
                    </a:cubicBezTo>
                    <a:cubicBezTo>
                      <a:pt x="1000198" y="603309"/>
                      <a:pt x="981002" y="615891"/>
                      <a:pt x="960120" y="624840"/>
                    </a:cubicBezTo>
                    <a:cubicBezTo>
                      <a:pt x="945355" y="631168"/>
                      <a:pt x="929846" y="635667"/>
                      <a:pt x="914400" y="640080"/>
                    </a:cubicBezTo>
                    <a:cubicBezTo>
                      <a:pt x="842544" y="660610"/>
                      <a:pt x="833097" y="658226"/>
                      <a:pt x="746760" y="670560"/>
                    </a:cubicBezTo>
                    <a:cubicBezTo>
                      <a:pt x="635449" y="707664"/>
                      <a:pt x="686489" y="693248"/>
                      <a:pt x="594360" y="716280"/>
                    </a:cubicBezTo>
                    <a:lnTo>
                      <a:pt x="457200" y="807720"/>
                    </a:lnTo>
                    <a:cubicBezTo>
                      <a:pt x="441960" y="817880"/>
                      <a:pt x="428856" y="832408"/>
                      <a:pt x="411480" y="838200"/>
                    </a:cubicBezTo>
                    <a:cubicBezTo>
                      <a:pt x="396240" y="843280"/>
                      <a:pt x="379803" y="845638"/>
                      <a:pt x="365760" y="853440"/>
                    </a:cubicBezTo>
                    <a:cubicBezTo>
                      <a:pt x="333738" y="871230"/>
                      <a:pt x="307085" y="898017"/>
                      <a:pt x="274320" y="914400"/>
                    </a:cubicBezTo>
                    <a:cubicBezTo>
                      <a:pt x="254000" y="924560"/>
                      <a:pt x="233085" y="933608"/>
                      <a:pt x="213360" y="944880"/>
                    </a:cubicBezTo>
                    <a:cubicBezTo>
                      <a:pt x="197457" y="953967"/>
                      <a:pt x="184023" y="967169"/>
                      <a:pt x="167640" y="975360"/>
                    </a:cubicBezTo>
                    <a:cubicBezTo>
                      <a:pt x="153272" y="982544"/>
                      <a:pt x="137160" y="985520"/>
                      <a:pt x="121920" y="990600"/>
                    </a:cubicBezTo>
                    <a:cubicBezTo>
                      <a:pt x="106680" y="1005840"/>
                      <a:pt x="92757" y="1022522"/>
                      <a:pt x="76200" y="1036320"/>
                    </a:cubicBezTo>
                    <a:cubicBezTo>
                      <a:pt x="48614" y="1059308"/>
                      <a:pt x="29755" y="1067163"/>
                      <a:pt x="0" y="108204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2" name="Freeform 61"/>
              <p:cNvSpPr/>
              <p:nvPr/>
            </p:nvSpPr>
            <p:spPr>
              <a:xfrm>
                <a:off x="2423160" y="3088901"/>
                <a:ext cx="1950720" cy="294379"/>
              </a:xfrm>
              <a:custGeom>
                <a:avLst/>
                <a:gdLst>
                  <a:gd name="connsiteX0" fmla="*/ 1950720 w 1950720"/>
                  <a:gd name="connsiteY0" fmla="*/ 294379 h 294379"/>
                  <a:gd name="connsiteX1" fmla="*/ 975360 w 1950720"/>
                  <a:gd name="connsiteY1" fmla="*/ 263899 h 294379"/>
                  <a:gd name="connsiteX2" fmla="*/ 868680 w 1950720"/>
                  <a:gd name="connsiteY2" fmla="*/ 248659 h 294379"/>
                  <a:gd name="connsiteX3" fmla="*/ 746760 w 1950720"/>
                  <a:gd name="connsiteY3" fmla="*/ 218179 h 294379"/>
                  <a:gd name="connsiteX4" fmla="*/ 563880 w 1950720"/>
                  <a:gd name="connsiteY4" fmla="*/ 187699 h 294379"/>
                  <a:gd name="connsiteX5" fmla="*/ 457200 w 1950720"/>
                  <a:gd name="connsiteY5" fmla="*/ 126739 h 294379"/>
                  <a:gd name="connsiteX6" fmla="*/ 350520 w 1950720"/>
                  <a:gd name="connsiteY6" fmla="*/ 96259 h 294379"/>
                  <a:gd name="connsiteX7" fmla="*/ 304800 w 1950720"/>
                  <a:gd name="connsiteY7" fmla="*/ 65779 h 294379"/>
                  <a:gd name="connsiteX8" fmla="*/ 91440 w 1950720"/>
                  <a:gd name="connsiteY8" fmla="*/ 20059 h 294379"/>
                  <a:gd name="connsiteX9" fmla="*/ 0 w 1950720"/>
                  <a:gd name="connsiteY9" fmla="*/ 4819 h 29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0720" h="294379">
                    <a:moveTo>
                      <a:pt x="1950720" y="294379"/>
                    </a:moveTo>
                    <a:lnTo>
                      <a:pt x="975360" y="263899"/>
                    </a:lnTo>
                    <a:cubicBezTo>
                      <a:pt x="939800" y="258819"/>
                      <a:pt x="903903" y="255704"/>
                      <a:pt x="868680" y="248659"/>
                    </a:cubicBezTo>
                    <a:cubicBezTo>
                      <a:pt x="827603" y="240444"/>
                      <a:pt x="788327" y="223375"/>
                      <a:pt x="746760" y="218179"/>
                    </a:cubicBezTo>
                    <a:cubicBezTo>
                      <a:pt x="604056" y="200341"/>
                      <a:pt x="664573" y="212872"/>
                      <a:pt x="563880" y="187699"/>
                    </a:cubicBezTo>
                    <a:cubicBezTo>
                      <a:pt x="517964" y="157088"/>
                      <a:pt x="511340" y="149942"/>
                      <a:pt x="457200" y="126739"/>
                    </a:cubicBezTo>
                    <a:cubicBezTo>
                      <a:pt x="426591" y="113621"/>
                      <a:pt x="381454" y="103993"/>
                      <a:pt x="350520" y="96259"/>
                    </a:cubicBezTo>
                    <a:cubicBezTo>
                      <a:pt x="335280" y="86099"/>
                      <a:pt x="322013" y="72038"/>
                      <a:pt x="304800" y="65779"/>
                    </a:cubicBezTo>
                    <a:cubicBezTo>
                      <a:pt x="204257" y="29218"/>
                      <a:pt x="186320" y="41143"/>
                      <a:pt x="91440" y="20059"/>
                    </a:cubicBezTo>
                    <a:cubicBezTo>
                      <a:pt x="1173" y="0"/>
                      <a:pt x="90329" y="4819"/>
                      <a:pt x="0" y="4819"/>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3" name="Freeform 62"/>
              <p:cNvSpPr/>
              <p:nvPr/>
            </p:nvSpPr>
            <p:spPr>
              <a:xfrm>
                <a:off x="3230880" y="2103120"/>
                <a:ext cx="1127760" cy="1310640"/>
              </a:xfrm>
              <a:custGeom>
                <a:avLst/>
                <a:gdLst>
                  <a:gd name="connsiteX0" fmla="*/ 1127760 w 1127760"/>
                  <a:gd name="connsiteY0" fmla="*/ 1310640 h 1310640"/>
                  <a:gd name="connsiteX1" fmla="*/ 1082040 w 1127760"/>
                  <a:gd name="connsiteY1" fmla="*/ 1249680 h 1310640"/>
                  <a:gd name="connsiteX2" fmla="*/ 1066800 w 1127760"/>
                  <a:gd name="connsiteY2" fmla="*/ 1203960 h 1310640"/>
                  <a:gd name="connsiteX3" fmla="*/ 1021080 w 1127760"/>
                  <a:gd name="connsiteY3" fmla="*/ 1173480 h 1310640"/>
                  <a:gd name="connsiteX4" fmla="*/ 975360 w 1127760"/>
                  <a:gd name="connsiteY4" fmla="*/ 1112520 h 1310640"/>
                  <a:gd name="connsiteX5" fmla="*/ 838200 w 1127760"/>
                  <a:gd name="connsiteY5" fmla="*/ 990600 h 1310640"/>
                  <a:gd name="connsiteX6" fmla="*/ 822960 w 1127760"/>
                  <a:gd name="connsiteY6" fmla="*/ 944880 h 1310640"/>
                  <a:gd name="connsiteX7" fmla="*/ 731520 w 1127760"/>
                  <a:gd name="connsiteY7" fmla="*/ 883920 h 1310640"/>
                  <a:gd name="connsiteX8" fmla="*/ 685800 w 1127760"/>
                  <a:gd name="connsiteY8" fmla="*/ 792480 h 1310640"/>
                  <a:gd name="connsiteX9" fmla="*/ 655320 w 1127760"/>
                  <a:gd name="connsiteY9" fmla="*/ 731520 h 1310640"/>
                  <a:gd name="connsiteX10" fmla="*/ 594360 w 1127760"/>
                  <a:gd name="connsiteY10" fmla="*/ 640080 h 1310640"/>
                  <a:gd name="connsiteX11" fmla="*/ 533400 w 1127760"/>
                  <a:gd name="connsiteY11" fmla="*/ 487680 h 1310640"/>
                  <a:gd name="connsiteX12" fmla="*/ 487680 w 1127760"/>
                  <a:gd name="connsiteY12" fmla="*/ 441960 h 1310640"/>
                  <a:gd name="connsiteX13" fmla="*/ 472440 w 1127760"/>
                  <a:gd name="connsiteY13" fmla="*/ 396240 h 1310640"/>
                  <a:gd name="connsiteX14" fmla="*/ 320040 w 1127760"/>
                  <a:gd name="connsiteY14" fmla="*/ 213360 h 1310640"/>
                  <a:gd name="connsiteX15" fmla="*/ 274320 w 1127760"/>
                  <a:gd name="connsiteY15" fmla="*/ 167640 h 1310640"/>
                  <a:gd name="connsiteX16" fmla="*/ 228600 w 1127760"/>
                  <a:gd name="connsiteY16" fmla="*/ 121920 h 1310640"/>
                  <a:gd name="connsiteX17" fmla="*/ 137160 w 1127760"/>
                  <a:gd name="connsiteY17" fmla="*/ 60960 h 1310640"/>
                  <a:gd name="connsiteX18" fmla="*/ 91440 w 1127760"/>
                  <a:gd name="connsiteY18" fmla="*/ 30480 h 1310640"/>
                  <a:gd name="connsiteX19" fmla="*/ 0 w 1127760"/>
                  <a:gd name="connsiteY19" fmla="*/ 0 h 131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27760" h="1310640">
                    <a:moveTo>
                      <a:pt x="1127760" y="1310640"/>
                    </a:moveTo>
                    <a:cubicBezTo>
                      <a:pt x="1112520" y="1290320"/>
                      <a:pt x="1094642" y="1271733"/>
                      <a:pt x="1082040" y="1249680"/>
                    </a:cubicBezTo>
                    <a:cubicBezTo>
                      <a:pt x="1074070" y="1235732"/>
                      <a:pt x="1076835" y="1216504"/>
                      <a:pt x="1066800" y="1203960"/>
                    </a:cubicBezTo>
                    <a:cubicBezTo>
                      <a:pt x="1055358" y="1189657"/>
                      <a:pt x="1034032" y="1186432"/>
                      <a:pt x="1021080" y="1173480"/>
                    </a:cubicBezTo>
                    <a:cubicBezTo>
                      <a:pt x="1003119" y="1155519"/>
                      <a:pt x="992352" y="1131400"/>
                      <a:pt x="975360" y="1112520"/>
                    </a:cubicBezTo>
                    <a:cubicBezTo>
                      <a:pt x="897066" y="1025527"/>
                      <a:pt x="908696" y="1037598"/>
                      <a:pt x="838200" y="990600"/>
                    </a:cubicBezTo>
                    <a:cubicBezTo>
                      <a:pt x="833120" y="975360"/>
                      <a:pt x="834319" y="956239"/>
                      <a:pt x="822960" y="944880"/>
                    </a:cubicBezTo>
                    <a:cubicBezTo>
                      <a:pt x="797057" y="918977"/>
                      <a:pt x="731520" y="883920"/>
                      <a:pt x="731520" y="883920"/>
                    </a:cubicBezTo>
                    <a:cubicBezTo>
                      <a:pt x="703578" y="800095"/>
                      <a:pt x="733069" y="875201"/>
                      <a:pt x="685800" y="792480"/>
                    </a:cubicBezTo>
                    <a:cubicBezTo>
                      <a:pt x="674528" y="772755"/>
                      <a:pt x="667009" y="751001"/>
                      <a:pt x="655320" y="731520"/>
                    </a:cubicBezTo>
                    <a:cubicBezTo>
                      <a:pt x="636473" y="700108"/>
                      <a:pt x="605944" y="674833"/>
                      <a:pt x="594360" y="640080"/>
                    </a:cubicBezTo>
                    <a:cubicBezTo>
                      <a:pt x="580480" y="598441"/>
                      <a:pt x="561430" y="526922"/>
                      <a:pt x="533400" y="487680"/>
                    </a:cubicBezTo>
                    <a:cubicBezTo>
                      <a:pt x="520873" y="470142"/>
                      <a:pt x="502920" y="457200"/>
                      <a:pt x="487680" y="441960"/>
                    </a:cubicBezTo>
                    <a:cubicBezTo>
                      <a:pt x="482600" y="426720"/>
                      <a:pt x="480242" y="410283"/>
                      <a:pt x="472440" y="396240"/>
                    </a:cubicBezTo>
                    <a:cubicBezTo>
                      <a:pt x="419396" y="300761"/>
                      <a:pt x="399933" y="293253"/>
                      <a:pt x="320040" y="213360"/>
                    </a:cubicBezTo>
                    <a:lnTo>
                      <a:pt x="274320" y="167640"/>
                    </a:lnTo>
                    <a:cubicBezTo>
                      <a:pt x="259080" y="152400"/>
                      <a:pt x="246533" y="133875"/>
                      <a:pt x="228600" y="121920"/>
                    </a:cubicBezTo>
                    <a:lnTo>
                      <a:pt x="137160" y="60960"/>
                    </a:lnTo>
                    <a:cubicBezTo>
                      <a:pt x="121920" y="50800"/>
                      <a:pt x="108816" y="36272"/>
                      <a:pt x="91440" y="30480"/>
                    </a:cubicBezTo>
                    <a:lnTo>
                      <a:pt x="0" y="0"/>
                    </a:ln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4" name="Freeform 63"/>
              <p:cNvSpPr/>
              <p:nvPr/>
            </p:nvSpPr>
            <p:spPr>
              <a:xfrm>
                <a:off x="4389120" y="1920240"/>
                <a:ext cx="582658" cy="1478280"/>
              </a:xfrm>
              <a:custGeom>
                <a:avLst/>
                <a:gdLst>
                  <a:gd name="connsiteX0" fmla="*/ 0 w 582658"/>
                  <a:gd name="connsiteY0" fmla="*/ 1478280 h 1478280"/>
                  <a:gd name="connsiteX1" fmla="*/ 15240 w 582658"/>
                  <a:gd name="connsiteY1" fmla="*/ 1371600 h 1478280"/>
                  <a:gd name="connsiteX2" fmla="*/ 45720 w 582658"/>
                  <a:gd name="connsiteY2" fmla="*/ 1325880 h 1478280"/>
                  <a:gd name="connsiteX3" fmla="*/ 76200 w 582658"/>
                  <a:gd name="connsiteY3" fmla="*/ 1264920 h 1478280"/>
                  <a:gd name="connsiteX4" fmla="*/ 121920 w 582658"/>
                  <a:gd name="connsiteY4" fmla="*/ 1203960 h 1478280"/>
                  <a:gd name="connsiteX5" fmla="*/ 152400 w 582658"/>
                  <a:gd name="connsiteY5" fmla="*/ 1158240 h 1478280"/>
                  <a:gd name="connsiteX6" fmla="*/ 198120 w 582658"/>
                  <a:gd name="connsiteY6" fmla="*/ 1112520 h 1478280"/>
                  <a:gd name="connsiteX7" fmla="*/ 274320 w 582658"/>
                  <a:gd name="connsiteY7" fmla="*/ 1005840 h 1478280"/>
                  <a:gd name="connsiteX8" fmla="*/ 335280 w 582658"/>
                  <a:gd name="connsiteY8" fmla="*/ 914400 h 1478280"/>
                  <a:gd name="connsiteX9" fmla="*/ 365760 w 582658"/>
                  <a:gd name="connsiteY9" fmla="*/ 822960 h 1478280"/>
                  <a:gd name="connsiteX10" fmla="*/ 381000 w 582658"/>
                  <a:gd name="connsiteY10" fmla="*/ 777240 h 1478280"/>
                  <a:gd name="connsiteX11" fmla="*/ 396240 w 582658"/>
                  <a:gd name="connsiteY11" fmla="*/ 701040 h 1478280"/>
                  <a:gd name="connsiteX12" fmla="*/ 441960 w 582658"/>
                  <a:gd name="connsiteY12" fmla="*/ 426720 h 1478280"/>
                  <a:gd name="connsiteX13" fmla="*/ 472440 w 582658"/>
                  <a:gd name="connsiteY13" fmla="*/ 335280 h 1478280"/>
                  <a:gd name="connsiteX14" fmla="*/ 502920 w 582658"/>
                  <a:gd name="connsiteY14" fmla="*/ 289560 h 1478280"/>
                  <a:gd name="connsiteX15" fmla="*/ 533400 w 582658"/>
                  <a:gd name="connsiteY15" fmla="*/ 198120 h 1478280"/>
                  <a:gd name="connsiteX16" fmla="*/ 579120 w 582658"/>
                  <a:gd name="connsiteY16" fmla="*/ 106680 h 1478280"/>
                  <a:gd name="connsiteX17" fmla="*/ 579120 w 582658"/>
                  <a:gd name="connsiteY17" fmla="*/ 0 h 14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2658" h="1478280">
                    <a:moveTo>
                      <a:pt x="0" y="1478280"/>
                    </a:moveTo>
                    <a:cubicBezTo>
                      <a:pt x="5080" y="1442720"/>
                      <a:pt x="4918" y="1406006"/>
                      <a:pt x="15240" y="1371600"/>
                    </a:cubicBezTo>
                    <a:cubicBezTo>
                      <a:pt x="20503" y="1354056"/>
                      <a:pt x="36633" y="1341783"/>
                      <a:pt x="45720" y="1325880"/>
                    </a:cubicBezTo>
                    <a:cubicBezTo>
                      <a:pt x="56992" y="1306155"/>
                      <a:pt x="64159" y="1284185"/>
                      <a:pt x="76200" y="1264920"/>
                    </a:cubicBezTo>
                    <a:cubicBezTo>
                      <a:pt x="89662" y="1243381"/>
                      <a:pt x="107157" y="1224629"/>
                      <a:pt x="121920" y="1203960"/>
                    </a:cubicBezTo>
                    <a:cubicBezTo>
                      <a:pt x="132566" y="1189055"/>
                      <a:pt x="140674" y="1172311"/>
                      <a:pt x="152400" y="1158240"/>
                    </a:cubicBezTo>
                    <a:cubicBezTo>
                      <a:pt x="166198" y="1141683"/>
                      <a:pt x="185593" y="1130058"/>
                      <a:pt x="198120" y="1112520"/>
                    </a:cubicBezTo>
                    <a:cubicBezTo>
                      <a:pt x="298417" y="972105"/>
                      <a:pt x="155446" y="1124714"/>
                      <a:pt x="274320" y="1005840"/>
                    </a:cubicBezTo>
                    <a:cubicBezTo>
                      <a:pt x="324738" y="854585"/>
                      <a:pt x="240148" y="1085638"/>
                      <a:pt x="335280" y="914400"/>
                    </a:cubicBezTo>
                    <a:cubicBezTo>
                      <a:pt x="350883" y="886314"/>
                      <a:pt x="355600" y="853440"/>
                      <a:pt x="365760" y="822960"/>
                    </a:cubicBezTo>
                    <a:cubicBezTo>
                      <a:pt x="370840" y="807720"/>
                      <a:pt x="377850" y="792992"/>
                      <a:pt x="381000" y="777240"/>
                    </a:cubicBezTo>
                    <a:cubicBezTo>
                      <a:pt x="386080" y="751840"/>
                      <a:pt x="392817" y="726716"/>
                      <a:pt x="396240" y="701040"/>
                    </a:cubicBezTo>
                    <a:cubicBezTo>
                      <a:pt x="414822" y="561672"/>
                      <a:pt x="399775" y="553274"/>
                      <a:pt x="441960" y="426720"/>
                    </a:cubicBezTo>
                    <a:cubicBezTo>
                      <a:pt x="452120" y="396240"/>
                      <a:pt x="454618" y="362013"/>
                      <a:pt x="472440" y="335280"/>
                    </a:cubicBezTo>
                    <a:cubicBezTo>
                      <a:pt x="482600" y="320040"/>
                      <a:pt x="495481" y="306298"/>
                      <a:pt x="502920" y="289560"/>
                    </a:cubicBezTo>
                    <a:cubicBezTo>
                      <a:pt x="515969" y="260200"/>
                      <a:pt x="515578" y="224853"/>
                      <a:pt x="533400" y="198120"/>
                    </a:cubicBezTo>
                    <a:cubicBezTo>
                      <a:pt x="553042" y="168656"/>
                      <a:pt x="575408" y="143795"/>
                      <a:pt x="579120" y="106680"/>
                    </a:cubicBezTo>
                    <a:cubicBezTo>
                      <a:pt x="582658" y="71296"/>
                      <a:pt x="579120" y="35560"/>
                      <a:pt x="57912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65" name="Freeform 64"/>
              <p:cNvSpPr/>
              <p:nvPr/>
            </p:nvSpPr>
            <p:spPr>
              <a:xfrm>
                <a:off x="4419600" y="3002280"/>
                <a:ext cx="1706880" cy="426720"/>
              </a:xfrm>
              <a:custGeom>
                <a:avLst/>
                <a:gdLst>
                  <a:gd name="connsiteX0" fmla="*/ 0 w 1706880"/>
                  <a:gd name="connsiteY0" fmla="*/ 426720 h 426720"/>
                  <a:gd name="connsiteX1" fmla="*/ 182880 w 1706880"/>
                  <a:gd name="connsiteY1" fmla="*/ 350520 h 426720"/>
                  <a:gd name="connsiteX2" fmla="*/ 243840 w 1706880"/>
                  <a:gd name="connsiteY2" fmla="*/ 320040 h 426720"/>
                  <a:gd name="connsiteX3" fmla="*/ 365760 w 1706880"/>
                  <a:gd name="connsiteY3" fmla="*/ 289560 h 426720"/>
                  <a:gd name="connsiteX4" fmla="*/ 426720 w 1706880"/>
                  <a:gd name="connsiteY4" fmla="*/ 259080 h 426720"/>
                  <a:gd name="connsiteX5" fmla="*/ 563880 w 1706880"/>
                  <a:gd name="connsiteY5" fmla="*/ 228600 h 426720"/>
                  <a:gd name="connsiteX6" fmla="*/ 609600 w 1706880"/>
                  <a:gd name="connsiteY6" fmla="*/ 198120 h 426720"/>
                  <a:gd name="connsiteX7" fmla="*/ 746760 w 1706880"/>
                  <a:gd name="connsiteY7" fmla="*/ 167640 h 426720"/>
                  <a:gd name="connsiteX8" fmla="*/ 838200 w 1706880"/>
                  <a:gd name="connsiteY8" fmla="*/ 137160 h 426720"/>
                  <a:gd name="connsiteX9" fmla="*/ 883920 w 1706880"/>
                  <a:gd name="connsiteY9" fmla="*/ 121920 h 426720"/>
                  <a:gd name="connsiteX10" fmla="*/ 929640 w 1706880"/>
                  <a:gd name="connsiteY10" fmla="*/ 91440 h 426720"/>
                  <a:gd name="connsiteX11" fmla="*/ 1021080 w 1706880"/>
                  <a:gd name="connsiteY11" fmla="*/ 45720 h 426720"/>
                  <a:gd name="connsiteX12" fmla="*/ 1554480 w 1706880"/>
                  <a:gd name="connsiteY12" fmla="*/ 45720 h 426720"/>
                  <a:gd name="connsiteX13" fmla="*/ 1600200 w 1706880"/>
                  <a:gd name="connsiteY13" fmla="*/ 30480 h 426720"/>
                  <a:gd name="connsiteX14" fmla="*/ 1706880 w 1706880"/>
                  <a:gd name="connsiteY14" fmla="*/ 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6880" h="426720">
                    <a:moveTo>
                      <a:pt x="0" y="426720"/>
                    </a:moveTo>
                    <a:cubicBezTo>
                      <a:pt x="60960" y="401320"/>
                      <a:pt x="122377" y="376990"/>
                      <a:pt x="182880" y="350520"/>
                    </a:cubicBezTo>
                    <a:cubicBezTo>
                      <a:pt x="203694" y="341414"/>
                      <a:pt x="222287" y="327224"/>
                      <a:pt x="243840" y="320040"/>
                    </a:cubicBezTo>
                    <a:cubicBezTo>
                      <a:pt x="283581" y="306793"/>
                      <a:pt x="326019" y="302807"/>
                      <a:pt x="365760" y="289560"/>
                    </a:cubicBezTo>
                    <a:cubicBezTo>
                      <a:pt x="387313" y="282376"/>
                      <a:pt x="404960" y="265608"/>
                      <a:pt x="426720" y="259080"/>
                    </a:cubicBezTo>
                    <a:cubicBezTo>
                      <a:pt x="485253" y="241520"/>
                      <a:pt x="514191" y="253445"/>
                      <a:pt x="563880" y="228600"/>
                    </a:cubicBezTo>
                    <a:cubicBezTo>
                      <a:pt x="580263" y="220409"/>
                      <a:pt x="593217" y="206311"/>
                      <a:pt x="609600" y="198120"/>
                    </a:cubicBezTo>
                    <a:cubicBezTo>
                      <a:pt x="653203" y="176318"/>
                      <a:pt x="699934" y="179347"/>
                      <a:pt x="746760" y="167640"/>
                    </a:cubicBezTo>
                    <a:cubicBezTo>
                      <a:pt x="777929" y="159848"/>
                      <a:pt x="807720" y="147320"/>
                      <a:pt x="838200" y="137160"/>
                    </a:cubicBezTo>
                    <a:cubicBezTo>
                      <a:pt x="853440" y="132080"/>
                      <a:pt x="870554" y="130831"/>
                      <a:pt x="883920" y="121920"/>
                    </a:cubicBezTo>
                    <a:cubicBezTo>
                      <a:pt x="899160" y="111760"/>
                      <a:pt x="913257" y="99631"/>
                      <a:pt x="929640" y="91440"/>
                    </a:cubicBezTo>
                    <a:cubicBezTo>
                      <a:pt x="1055833" y="28344"/>
                      <a:pt x="890053" y="133071"/>
                      <a:pt x="1021080" y="45720"/>
                    </a:cubicBezTo>
                    <a:cubicBezTo>
                      <a:pt x="1260239" y="55286"/>
                      <a:pt x="1353073" y="76706"/>
                      <a:pt x="1554480" y="45720"/>
                    </a:cubicBezTo>
                    <a:cubicBezTo>
                      <a:pt x="1570358" y="43277"/>
                      <a:pt x="1584615" y="34376"/>
                      <a:pt x="1600200" y="30480"/>
                    </a:cubicBezTo>
                    <a:cubicBezTo>
                      <a:pt x="1705006" y="4278"/>
                      <a:pt x="1645572" y="30654"/>
                      <a:pt x="1706880" y="0"/>
                    </a:cubicBezTo>
                  </a:path>
                </a:pathLst>
              </a:cu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grpSp>
        <p:sp>
          <p:nvSpPr>
            <p:cNvPr id="17" name="TextBox 16"/>
            <p:cNvSpPr txBox="1"/>
            <p:nvPr/>
          </p:nvSpPr>
          <p:spPr>
            <a:xfrm>
              <a:off x="457200" y="5257800"/>
              <a:ext cx="1447800" cy="1219449"/>
            </a:xfrm>
            <a:prstGeom prst="rect">
              <a:avLst/>
            </a:prstGeom>
            <a:noFill/>
          </p:spPr>
          <p:txBody>
            <a:bodyPr wrap="square" rtlCol="0">
              <a:spAutoFit/>
            </a:bodyPr>
            <a:lstStyle/>
            <a:p>
              <a:pPr algn="ctr"/>
              <a:r>
                <a:rPr lang="fi-FI" sz="1050" dirty="0" smtClean="0">
                  <a:latin typeface="Comic Sans MS" pitchFamily="66" charset="0"/>
                </a:rPr>
                <a:t>Technical Excellence</a:t>
              </a:r>
              <a:endParaRPr lang="fi-FI" sz="1050" dirty="0">
                <a:latin typeface="Comic Sans MS" pitchFamily="66" charset="0"/>
              </a:endParaRPr>
            </a:p>
          </p:txBody>
        </p:sp>
        <p:sp>
          <p:nvSpPr>
            <p:cNvPr id="18" name="TextBox 17"/>
            <p:cNvSpPr txBox="1"/>
            <p:nvPr/>
          </p:nvSpPr>
          <p:spPr>
            <a:xfrm>
              <a:off x="3352800" y="6019800"/>
              <a:ext cx="1447800" cy="711345"/>
            </a:xfrm>
            <a:prstGeom prst="rect">
              <a:avLst/>
            </a:prstGeom>
            <a:noFill/>
          </p:spPr>
          <p:txBody>
            <a:bodyPr wrap="square" rtlCol="0">
              <a:spAutoFit/>
            </a:bodyPr>
            <a:lstStyle/>
            <a:p>
              <a:pPr algn="ctr"/>
              <a:r>
                <a:rPr lang="fi-FI" sz="1050" dirty="0" smtClean="0">
                  <a:latin typeface="Comic Sans MS" pitchFamily="66" charset="0"/>
                </a:rPr>
                <a:t>Confidence</a:t>
              </a:r>
              <a:endParaRPr lang="fi-FI" sz="1050" dirty="0">
                <a:latin typeface="Comic Sans MS" pitchFamily="66" charset="0"/>
              </a:endParaRPr>
            </a:p>
          </p:txBody>
        </p:sp>
        <p:sp>
          <p:nvSpPr>
            <p:cNvPr id="19" name="TextBox 18"/>
            <p:cNvSpPr txBox="1"/>
            <p:nvPr/>
          </p:nvSpPr>
          <p:spPr>
            <a:xfrm>
              <a:off x="228600" y="2630269"/>
              <a:ext cx="1981200" cy="711345"/>
            </a:xfrm>
            <a:prstGeom prst="rect">
              <a:avLst/>
            </a:prstGeom>
            <a:noFill/>
          </p:spPr>
          <p:txBody>
            <a:bodyPr wrap="square" rtlCol="0">
              <a:spAutoFit/>
            </a:bodyPr>
            <a:lstStyle/>
            <a:p>
              <a:pPr algn="ctr"/>
              <a:r>
                <a:rPr lang="fi-FI" sz="1050" dirty="0" smtClean="0">
                  <a:latin typeface="Comic Sans MS" pitchFamily="66" charset="0"/>
                </a:rPr>
                <a:t>Self-improvement</a:t>
              </a:r>
              <a:endParaRPr lang="fi-FI" sz="1050" dirty="0">
                <a:latin typeface="Comic Sans MS" pitchFamily="66" charset="0"/>
              </a:endParaRPr>
            </a:p>
          </p:txBody>
        </p:sp>
        <p:sp>
          <p:nvSpPr>
            <p:cNvPr id="20" name="TextBox 19"/>
            <p:cNvSpPr txBox="1"/>
            <p:nvPr/>
          </p:nvSpPr>
          <p:spPr>
            <a:xfrm>
              <a:off x="1371600" y="1371600"/>
              <a:ext cx="1524000" cy="711345"/>
            </a:xfrm>
            <a:prstGeom prst="rect">
              <a:avLst/>
            </a:prstGeom>
            <a:noFill/>
          </p:spPr>
          <p:txBody>
            <a:bodyPr wrap="square" rtlCol="0">
              <a:spAutoFit/>
            </a:bodyPr>
            <a:lstStyle/>
            <a:p>
              <a:pPr algn="ctr"/>
              <a:r>
                <a:rPr lang="fi-FI" sz="1050" dirty="0" smtClean="0">
                  <a:latin typeface="Comic Sans MS" pitchFamily="66" charset="0"/>
                </a:rPr>
                <a:t>Product Sense</a:t>
              </a:r>
              <a:endParaRPr lang="fi-FI" sz="1050" dirty="0">
                <a:latin typeface="Comic Sans MS" pitchFamily="66" charset="0"/>
              </a:endParaRPr>
            </a:p>
          </p:txBody>
        </p:sp>
        <p:sp>
          <p:nvSpPr>
            <p:cNvPr id="21" name="TextBox 20"/>
            <p:cNvSpPr txBox="1"/>
            <p:nvPr/>
          </p:nvSpPr>
          <p:spPr>
            <a:xfrm>
              <a:off x="4800600" y="1371600"/>
              <a:ext cx="1524000" cy="711345"/>
            </a:xfrm>
            <a:prstGeom prst="rect">
              <a:avLst/>
            </a:prstGeom>
            <a:noFill/>
          </p:spPr>
          <p:txBody>
            <a:bodyPr wrap="square" rtlCol="0">
              <a:spAutoFit/>
            </a:bodyPr>
            <a:lstStyle/>
            <a:p>
              <a:pPr algn="ctr"/>
              <a:r>
                <a:rPr lang="fi-FI" sz="1050" dirty="0" smtClean="0">
                  <a:latin typeface="Comic Sans MS" pitchFamily="66" charset="0"/>
                </a:rPr>
                <a:t>Business Value</a:t>
              </a:r>
              <a:endParaRPr lang="fi-FI" sz="1050" dirty="0">
                <a:latin typeface="Comic Sans MS" pitchFamily="66" charset="0"/>
              </a:endParaRPr>
            </a:p>
          </p:txBody>
        </p:sp>
        <p:sp>
          <p:nvSpPr>
            <p:cNvPr id="22" name="TextBox 21"/>
            <p:cNvSpPr txBox="1"/>
            <p:nvPr/>
          </p:nvSpPr>
          <p:spPr>
            <a:xfrm>
              <a:off x="6172200" y="2819401"/>
              <a:ext cx="1676400" cy="711345"/>
            </a:xfrm>
            <a:prstGeom prst="rect">
              <a:avLst/>
            </a:prstGeom>
            <a:noFill/>
          </p:spPr>
          <p:txBody>
            <a:bodyPr wrap="square" rtlCol="0">
              <a:spAutoFit/>
            </a:bodyPr>
            <a:lstStyle/>
            <a:p>
              <a:pPr algn="ctr"/>
              <a:r>
                <a:rPr lang="fi-FI" sz="1050" dirty="0" smtClean="0">
                  <a:latin typeface="Comic Sans MS" pitchFamily="66" charset="0"/>
                </a:rPr>
                <a:t>Collaboration</a:t>
              </a:r>
              <a:endParaRPr lang="fi-FI" sz="1050" dirty="0">
                <a:latin typeface="Comic Sans MS" pitchFamily="66" charset="0"/>
              </a:endParaRPr>
            </a:p>
          </p:txBody>
        </p:sp>
        <p:sp>
          <p:nvSpPr>
            <p:cNvPr id="23" name="TextBox 22"/>
            <p:cNvSpPr txBox="1"/>
            <p:nvPr/>
          </p:nvSpPr>
          <p:spPr>
            <a:xfrm>
              <a:off x="5638800" y="5943600"/>
              <a:ext cx="1676400" cy="711345"/>
            </a:xfrm>
            <a:prstGeom prst="rect">
              <a:avLst/>
            </a:prstGeom>
            <a:noFill/>
          </p:spPr>
          <p:txBody>
            <a:bodyPr wrap="square" rtlCol="0">
              <a:spAutoFit/>
            </a:bodyPr>
            <a:lstStyle/>
            <a:p>
              <a:pPr algn="ctr"/>
              <a:r>
                <a:rPr lang="fi-FI" sz="1050" dirty="0" smtClean="0">
                  <a:latin typeface="Comic Sans MS" pitchFamily="66" charset="0"/>
                </a:rPr>
                <a:t>Supportive Culture</a:t>
              </a:r>
              <a:endParaRPr lang="fi-FI" sz="1050" dirty="0">
                <a:latin typeface="Comic Sans MS" pitchFamily="66" charset="0"/>
              </a:endParaRPr>
            </a:p>
          </p:txBody>
        </p:sp>
        <p:sp>
          <p:nvSpPr>
            <p:cNvPr id="24" name="Freeform 23"/>
            <p:cNvSpPr/>
            <p:nvPr/>
          </p:nvSpPr>
          <p:spPr>
            <a:xfrm>
              <a:off x="3947160" y="42672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5" name="Freeform 24"/>
            <p:cNvSpPr/>
            <p:nvPr/>
          </p:nvSpPr>
          <p:spPr>
            <a:xfrm>
              <a:off x="4526280" y="38862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6" name="Freeform 25"/>
            <p:cNvSpPr/>
            <p:nvPr/>
          </p:nvSpPr>
          <p:spPr>
            <a:xfrm>
              <a:off x="4709160" y="344424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7" name="Freeform 26"/>
            <p:cNvSpPr/>
            <p:nvPr/>
          </p:nvSpPr>
          <p:spPr>
            <a:xfrm>
              <a:off x="4267200" y="32004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8" name="Freeform 27"/>
            <p:cNvSpPr/>
            <p:nvPr/>
          </p:nvSpPr>
          <p:spPr>
            <a:xfrm>
              <a:off x="3655994" y="321564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29" name="Freeform 28"/>
            <p:cNvSpPr/>
            <p:nvPr/>
          </p:nvSpPr>
          <p:spPr>
            <a:xfrm>
              <a:off x="3490413" y="356616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0" name="Freeform 29"/>
            <p:cNvSpPr/>
            <p:nvPr/>
          </p:nvSpPr>
          <p:spPr>
            <a:xfrm>
              <a:off x="3572951" y="39166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1" name="Freeform 30"/>
            <p:cNvSpPr/>
            <p:nvPr/>
          </p:nvSpPr>
          <p:spPr>
            <a:xfrm>
              <a:off x="3886200" y="4572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2" name="Freeform 31"/>
            <p:cNvSpPr/>
            <p:nvPr/>
          </p:nvSpPr>
          <p:spPr>
            <a:xfrm>
              <a:off x="3810000" y="49530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3" name="Freeform 32"/>
            <p:cNvSpPr/>
            <p:nvPr/>
          </p:nvSpPr>
          <p:spPr>
            <a:xfrm>
              <a:off x="3733800" y="5282948"/>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4" name="Freeform 33"/>
            <p:cNvSpPr/>
            <p:nvPr/>
          </p:nvSpPr>
          <p:spPr>
            <a:xfrm>
              <a:off x="3657600" y="5638800"/>
              <a:ext cx="304800" cy="51052"/>
            </a:xfrm>
            <a:custGeom>
              <a:avLst/>
              <a:gdLst>
                <a:gd name="connsiteX0" fmla="*/ 0 w 304800"/>
                <a:gd name="connsiteY0" fmla="*/ 0 h 51052"/>
                <a:gd name="connsiteX1" fmla="*/ 91440 w 304800"/>
                <a:gd name="connsiteY1" fmla="*/ 30480 h 51052"/>
                <a:gd name="connsiteX2" fmla="*/ 137160 w 304800"/>
                <a:gd name="connsiteY2" fmla="*/ 45720 h 51052"/>
                <a:gd name="connsiteX3" fmla="*/ 304800 w 304800"/>
                <a:gd name="connsiteY3" fmla="*/ 15240 h 51052"/>
              </a:gdLst>
              <a:ahLst/>
              <a:cxnLst>
                <a:cxn ang="0">
                  <a:pos x="connsiteX0" y="connsiteY0"/>
                </a:cxn>
                <a:cxn ang="0">
                  <a:pos x="connsiteX1" y="connsiteY1"/>
                </a:cxn>
                <a:cxn ang="0">
                  <a:pos x="connsiteX2" y="connsiteY2"/>
                </a:cxn>
                <a:cxn ang="0">
                  <a:pos x="connsiteX3" y="connsiteY3"/>
                </a:cxn>
              </a:cxnLst>
              <a:rect l="l" t="t" r="r" b="b"/>
              <a:pathLst>
                <a:path w="304800" h="51052">
                  <a:moveTo>
                    <a:pt x="0" y="0"/>
                  </a:moveTo>
                  <a:lnTo>
                    <a:pt x="91440" y="30480"/>
                  </a:lnTo>
                  <a:lnTo>
                    <a:pt x="137160" y="45720"/>
                  </a:lnTo>
                  <a:cubicBezTo>
                    <a:pt x="285610" y="29226"/>
                    <a:pt x="233175" y="51052"/>
                    <a:pt x="304800" y="152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5" name="Freeform 34"/>
            <p:cNvSpPr/>
            <p:nvPr/>
          </p:nvSpPr>
          <p:spPr>
            <a:xfrm>
              <a:off x="4876800" y="41300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6" name="Freeform 35"/>
            <p:cNvSpPr/>
            <p:nvPr/>
          </p:nvSpPr>
          <p:spPr>
            <a:xfrm>
              <a:off x="5257800" y="43586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7" name="Freeform 36"/>
            <p:cNvSpPr/>
            <p:nvPr/>
          </p:nvSpPr>
          <p:spPr>
            <a:xfrm>
              <a:off x="5562600" y="466344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8" name="Freeform 37"/>
            <p:cNvSpPr/>
            <p:nvPr/>
          </p:nvSpPr>
          <p:spPr>
            <a:xfrm>
              <a:off x="5867400" y="4953000"/>
              <a:ext cx="152400" cy="289560"/>
            </a:xfrm>
            <a:custGeom>
              <a:avLst/>
              <a:gdLst>
                <a:gd name="connsiteX0" fmla="*/ 0 w 152400"/>
                <a:gd name="connsiteY0" fmla="*/ 289560 h 289560"/>
                <a:gd name="connsiteX1" fmla="*/ 45720 w 152400"/>
                <a:gd name="connsiteY1" fmla="*/ 243840 h 289560"/>
                <a:gd name="connsiteX2" fmla="*/ 91440 w 152400"/>
                <a:gd name="connsiteY2" fmla="*/ 213360 h 289560"/>
                <a:gd name="connsiteX3" fmla="*/ 106680 w 152400"/>
                <a:gd name="connsiteY3" fmla="*/ 152400 h 289560"/>
                <a:gd name="connsiteX4" fmla="*/ 121920 w 152400"/>
                <a:gd name="connsiteY4" fmla="*/ 106680 h 289560"/>
                <a:gd name="connsiteX5" fmla="*/ 137160 w 152400"/>
                <a:gd name="connsiteY5" fmla="*/ 45720 h 289560"/>
                <a:gd name="connsiteX6" fmla="*/ 152400 w 152400"/>
                <a:gd name="connsiteY6"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289560">
                  <a:moveTo>
                    <a:pt x="0" y="289560"/>
                  </a:moveTo>
                  <a:cubicBezTo>
                    <a:pt x="15240" y="274320"/>
                    <a:pt x="29163" y="257638"/>
                    <a:pt x="45720" y="243840"/>
                  </a:cubicBezTo>
                  <a:cubicBezTo>
                    <a:pt x="59791" y="232114"/>
                    <a:pt x="81280" y="228600"/>
                    <a:pt x="91440" y="213360"/>
                  </a:cubicBezTo>
                  <a:cubicBezTo>
                    <a:pt x="103058" y="195932"/>
                    <a:pt x="100926" y="172539"/>
                    <a:pt x="106680" y="152400"/>
                  </a:cubicBezTo>
                  <a:cubicBezTo>
                    <a:pt x="111093" y="136954"/>
                    <a:pt x="117507" y="122126"/>
                    <a:pt x="121920" y="106680"/>
                  </a:cubicBezTo>
                  <a:cubicBezTo>
                    <a:pt x="127674" y="86541"/>
                    <a:pt x="131406" y="65859"/>
                    <a:pt x="137160" y="45720"/>
                  </a:cubicBezTo>
                  <a:cubicBezTo>
                    <a:pt x="141573" y="30274"/>
                    <a:pt x="152400" y="0"/>
                    <a:pt x="15240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39" name="Freeform 38"/>
            <p:cNvSpPr/>
            <p:nvPr/>
          </p:nvSpPr>
          <p:spPr>
            <a:xfrm>
              <a:off x="5029200" y="33528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0" name="Freeform 39"/>
            <p:cNvSpPr/>
            <p:nvPr/>
          </p:nvSpPr>
          <p:spPr>
            <a:xfrm>
              <a:off x="5410200" y="32004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1" name="Freeform 40"/>
            <p:cNvSpPr/>
            <p:nvPr/>
          </p:nvSpPr>
          <p:spPr>
            <a:xfrm>
              <a:off x="57912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2" name="Freeform 41"/>
            <p:cNvSpPr/>
            <p:nvPr/>
          </p:nvSpPr>
          <p:spPr>
            <a:xfrm>
              <a:off x="6096000" y="3124200"/>
              <a:ext cx="76200" cy="274320"/>
            </a:xfrm>
            <a:custGeom>
              <a:avLst/>
              <a:gdLst>
                <a:gd name="connsiteX0" fmla="*/ 15240 w 76200"/>
                <a:gd name="connsiteY0" fmla="*/ 274320 h 274320"/>
                <a:gd name="connsiteX1" fmla="*/ 60960 w 76200"/>
                <a:gd name="connsiteY1" fmla="*/ 137160 h 274320"/>
                <a:gd name="connsiteX2" fmla="*/ 76200 w 76200"/>
                <a:gd name="connsiteY2" fmla="*/ 91440 h 274320"/>
                <a:gd name="connsiteX3" fmla="*/ 60960 w 76200"/>
                <a:gd name="connsiteY3" fmla="*/ 45720 h 274320"/>
                <a:gd name="connsiteX4" fmla="*/ 15240 w 76200"/>
                <a:gd name="connsiteY4" fmla="*/ 15240 h 274320"/>
                <a:gd name="connsiteX5" fmla="*/ 0 w 76200"/>
                <a:gd name="connsiteY5" fmla="*/ 0 h 27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274320">
                  <a:moveTo>
                    <a:pt x="15240" y="274320"/>
                  </a:moveTo>
                  <a:lnTo>
                    <a:pt x="60960" y="137160"/>
                  </a:lnTo>
                  <a:lnTo>
                    <a:pt x="76200" y="91440"/>
                  </a:lnTo>
                  <a:cubicBezTo>
                    <a:pt x="71120" y="76200"/>
                    <a:pt x="70995" y="58264"/>
                    <a:pt x="60960" y="45720"/>
                  </a:cubicBezTo>
                  <a:cubicBezTo>
                    <a:pt x="49518" y="31417"/>
                    <a:pt x="29893" y="26230"/>
                    <a:pt x="15240" y="15240"/>
                  </a:cubicBezTo>
                  <a:cubicBezTo>
                    <a:pt x="9493" y="10929"/>
                    <a:pt x="5080" y="5080"/>
                    <a:pt x="0"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3" name="Freeform 42"/>
            <p:cNvSpPr/>
            <p:nvPr/>
          </p:nvSpPr>
          <p:spPr>
            <a:xfrm>
              <a:off x="4419600" y="28956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4" name="Freeform 43"/>
            <p:cNvSpPr/>
            <p:nvPr/>
          </p:nvSpPr>
          <p:spPr>
            <a:xfrm>
              <a:off x="4572000" y="256032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5" name="Freeform 44"/>
            <p:cNvSpPr/>
            <p:nvPr/>
          </p:nvSpPr>
          <p:spPr>
            <a:xfrm>
              <a:off x="4648200" y="22098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6" name="Freeform 45"/>
            <p:cNvSpPr/>
            <p:nvPr/>
          </p:nvSpPr>
          <p:spPr>
            <a:xfrm>
              <a:off x="4724400" y="1905000"/>
              <a:ext cx="381000" cy="106680"/>
            </a:xfrm>
            <a:custGeom>
              <a:avLst/>
              <a:gdLst>
                <a:gd name="connsiteX0" fmla="*/ 228600 w 228600"/>
                <a:gd name="connsiteY0" fmla="*/ 129190 h 129190"/>
                <a:gd name="connsiteX1" fmla="*/ 121920 w 228600"/>
                <a:gd name="connsiteY1" fmla="*/ 7270 h 129190"/>
                <a:gd name="connsiteX2" fmla="*/ 0 w 228600"/>
                <a:gd name="connsiteY2" fmla="*/ 7270 h 129190"/>
              </a:gdLst>
              <a:ahLst/>
              <a:cxnLst>
                <a:cxn ang="0">
                  <a:pos x="connsiteX0" y="connsiteY0"/>
                </a:cxn>
                <a:cxn ang="0">
                  <a:pos x="connsiteX1" y="connsiteY1"/>
                </a:cxn>
                <a:cxn ang="0">
                  <a:pos x="connsiteX2" y="connsiteY2"/>
                </a:cxn>
              </a:cxnLst>
              <a:rect l="l" t="t" r="r" b="b"/>
              <a:pathLst>
                <a:path w="228600" h="129190">
                  <a:moveTo>
                    <a:pt x="228600" y="129190"/>
                  </a:moveTo>
                  <a:cubicBezTo>
                    <a:pt x="213535" y="106593"/>
                    <a:pt x="170092" y="16029"/>
                    <a:pt x="121920" y="7270"/>
                  </a:cubicBezTo>
                  <a:cubicBezTo>
                    <a:pt x="81936" y="0"/>
                    <a:pt x="40640" y="7270"/>
                    <a:pt x="0" y="727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7" name="Freeform 46"/>
            <p:cNvSpPr/>
            <p:nvPr/>
          </p:nvSpPr>
          <p:spPr>
            <a:xfrm>
              <a:off x="3429000" y="28956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8" name="Freeform 47"/>
            <p:cNvSpPr/>
            <p:nvPr/>
          </p:nvSpPr>
          <p:spPr>
            <a:xfrm>
              <a:off x="3276600" y="25755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49" name="Freeform 48"/>
            <p:cNvSpPr/>
            <p:nvPr/>
          </p:nvSpPr>
          <p:spPr>
            <a:xfrm>
              <a:off x="3124200" y="227076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0" name="Freeform 49"/>
            <p:cNvSpPr/>
            <p:nvPr/>
          </p:nvSpPr>
          <p:spPr>
            <a:xfrm>
              <a:off x="2895600" y="1981200"/>
              <a:ext cx="260686" cy="167640"/>
            </a:xfrm>
            <a:custGeom>
              <a:avLst/>
              <a:gdLst>
                <a:gd name="connsiteX0" fmla="*/ 260686 w 260686"/>
                <a:gd name="connsiteY0" fmla="*/ 0 h 167640"/>
                <a:gd name="connsiteX1" fmla="*/ 199726 w 260686"/>
                <a:gd name="connsiteY1" fmla="*/ 15240 h 167640"/>
                <a:gd name="connsiteX2" fmla="*/ 108286 w 260686"/>
                <a:gd name="connsiteY2" fmla="*/ 76200 h 167640"/>
                <a:gd name="connsiteX3" fmla="*/ 16846 w 260686"/>
                <a:gd name="connsiteY3" fmla="*/ 106680 h 167640"/>
                <a:gd name="connsiteX4" fmla="*/ 1606 w 260686"/>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686" h="167640">
                  <a:moveTo>
                    <a:pt x="260686" y="0"/>
                  </a:moveTo>
                  <a:cubicBezTo>
                    <a:pt x="240366" y="5080"/>
                    <a:pt x="218460" y="5873"/>
                    <a:pt x="199726" y="15240"/>
                  </a:cubicBezTo>
                  <a:cubicBezTo>
                    <a:pt x="166961" y="31623"/>
                    <a:pt x="143039" y="64616"/>
                    <a:pt x="108286" y="76200"/>
                  </a:cubicBezTo>
                  <a:lnTo>
                    <a:pt x="16846" y="106680"/>
                  </a:lnTo>
                  <a:cubicBezTo>
                    <a:pt x="0" y="157219"/>
                    <a:pt x="1606" y="136336"/>
                    <a:pt x="1606" y="16764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1" name="Freeform 50"/>
            <p:cNvSpPr/>
            <p:nvPr/>
          </p:nvSpPr>
          <p:spPr>
            <a:xfrm>
              <a:off x="3155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2" name="Freeform 51"/>
            <p:cNvSpPr/>
            <p:nvPr/>
          </p:nvSpPr>
          <p:spPr>
            <a:xfrm>
              <a:off x="2774133" y="35052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3" name="Freeform 52"/>
            <p:cNvSpPr/>
            <p:nvPr/>
          </p:nvSpPr>
          <p:spPr>
            <a:xfrm>
              <a:off x="2438400" y="34290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4" name="Freeform 53"/>
            <p:cNvSpPr/>
            <p:nvPr/>
          </p:nvSpPr>
          <p:spPr>
            <a:xfrm>
              <a:off x="2088333" y="3352800"/>
              <a:ext cx="121467" cy="320040"/>
            </a:xfrm>
            <a:custGeom>
              <a:avLst/>
              <a:gdLst>
                <a:gd name="connsiteX0" fmla="*/ 75747 w 121467"/>
                <a:gd name="connsiteY0" fmla="*/ 320040 h 320040"/>
                <a:gd name="connsiteX1" fmla="*/ 121467 w 121467"/>
                <a:gd name="connsiteY1" fmla="*/ 0 h 320040"/>
              </a:gdLst>
              <a:ahLst/>
              <a:cxnLst>
                <a:cxn ang="0">
                  <a:pos x="connsiteX0" y="connsiteY0"/>
                </a:cxn>
                <a:cxn ang="0">
                  <a:pos x="connsiteX1" y="connsiteY1"/>
                </a:cxn>
              </a:cxnLst>
              <a:rect l="l" t="t" r="r" b="b"/>
              <a:pathLst>
                <a:path w="121467" h="320040">
                  <a:moveTo>
                    <a:pt x="75747" y="320040"/>
                  </a:moveTo>
                  <a:cubicBezTo>
                    <a:pt x="91554" y="3895"/>
                    <a:pt x="0" y="60734"/>
                    <a:pt x="121467" y="0"/>
                  </a:cubicBez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5" name="Freeform 54"/>
            <p:cNvSpPr/>
            <p:nvPr/>
          </p:nvSpPr>
          <p:spPr>
            <a:xfrm>
              <a:off x="3200400" y="406908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6" name="Freeform 55"/>
            <p:cNvSpPr/>
            <p:nvPr/>
          </p:nvSpPr>
          <p:spPr>
            <a:xfrm>
              <a:off x="2887151" y="4358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dirty="0"/>
            </a:p>
          </p:txBody>
        </p:sp>
        <p:sp>
          <p:nvSpPr>
            <p:cNvPr id="57" name="Freeform 56"/>
            <p:cNvSpPr/>
            <p:nvPr/>
          </p:nvSpPr>
          <p:spPr>
            <a:xfrm>
              <a:off x="2506151" y="45110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sp>
          <p:nvSpPr>
            <p:cNvPr id="58" name="Freeform 57"/>
            <p:cNvSpPr/>
            <p:nvPr/>
          </p:nvSpPr>
          <p:spPr>
            <a:xfrm>
              <a:off x="2048951" y="4739640"/>
              <a:ext cx="160849" cy="213360"/>
            </a:xfrm>
            <a:custGeom>
              <a:avLst/>
              <a:gdLst>
                <a:gd name="connsiteX0" fmla="*/ 160849 w 160849"/>
                <a:gd name="connsiteY0" fmla="*/ 213360 h 213360"/>
                <a:gd name="connsiteX1" fmla="*/ 99889 w 160849"/>
                <a:gd name="connsiteY1" fmla="*/ 182880 h 213360"/>
                <a:gd name="connsiteX2" fmla="*/ 8449 w 160849"/>
                <a:gd name="connsiteY2" fmla="*/ 121920 h 213360"/>
                <a:gd name="connsiteX3" fmla="*/ 23689 w 160849"/>
                <a:gd name="connsiteY3" fmla="*/ 0 h 213360"/>
              </a:gdLst>
              <a:ahLst/>
              <a:cxnLst>
                <a:cxn ang="0">
                  <a:pos x="connsiteX0" y="connsiteY0"/>
                </a:cxn>
                <a:cxn ang="0">
                  <a:pos x="connsiteX1" y="connsiteY1"/>
                </a:cxn>
                <a:cxn ang="0">
                  <a:pos x="connsiteX2" y="connsiteY2"/>
                </a:cxn>
                <a:cxn ang="0">
                  <a:pos x="connsiteX3" y="connsiteY3"/>
                </a:cxn>
              </a:cxnLst>
              <a:rect l="l" t="t" r="r" b="b"/>
              <a:pathLst>
                <a:path w="160849" h="213360">
                  <a:moveTo>
                    <a:pt x="160849" y="213360"/>
                  </a:moveTo>
                  <a:cubicBezTo>
                    <a:pt x="140529" y="203200"/>
                    <a:pt x="118376" y="196085"/>
                    <a:pt x="99889" y="182880"/>
                  </a:cubicBezTo>
                  <a:cubicBezTo>
                    <a:pt x="0" y="111531"/>
                    <a:pt x="106524" y="154612"/>
                    <a:pt x="8449" y="121920"/>
                  </a:cubicBezTo>
                  <a:lnTo>
                    <a:pt x="23689" y="0"/>
                  </a:lnTo>
                </a:path>
              </a:pathLst>
            </a:cu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i-FI" sz="1050"/>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Making Traditional Testing Flexible != Agile</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Goes sometimes like this:</a:t>
            </a:r>
          </a:p>
          <a:p>
            <a:pPr lvl="1"/>
            <a:r>
              <a:rPr lang="fi-FI" dirty="0" smtClean="0"/>
              <a:t>Everything is prioritized in test plans and test cases</a:t>
            </a:r>
          </a:p>
          <a:p>
            <a:pPr lvl="1"/>
            <a:r>
              <a:rPr lang="fi-FI" dirty="0" smtClean="0"/>
              <a:t>A schedule / effort buffer is negotiated on, as big as possible. Assumptions of what needs to happen before (shifting blame) and after are communicated with entry / exit criteria</a:t>
            </a:r>
          </a:p>
          <a:p>
            <a:pPr lvl="1"/>
            <a:r>
              <a:rPr lang="fi-FI" dirty="0" smtClean="0"/>
              <a:t>When flexibility is needed, drop in order of priority – if possible at that point of time</a:t>
            </a:r>
          </a:p>
          <a:p>
            <a:pPr lvl="1"/>
            <a:r>
              <a:rPr lang="fi-FI" dirty="0" smtClean="0"/>
              <a:t>When dropping work is not enough, drop the whole plan and do another plan of ”just test until we must stop”</a:t>
            </a:r>
          </a:p>
          <a:p>
            <a:pPr lvl="1"/>
            <a:r>
              <a:rPr lang="fi-FI" dirty="0" smtClean="0"/>
              <a:t>Negotiate on minimum fixes to control the regression risk for good enough quality – lower expectation and try to communicate the tradeoff of time vs. quality</a:t>
            </a:r>
          </a:p>
          <a:p>
            <a:r>
              <a:rPr lang="fi-FI" dirty="0" smtClean="0"/>
              <a:t>Flexibility in details, changing just a little, is often not enough. This is just flexibility, this is </a:t>
            </a:r>
            <a:r>
              <a:rPr lang="fi-FI" dirty="0" smtClean="0">
                <a:solidFill>
                  <a:schemeClr val="accent1"/>
                </a:solidFill>
              </a:rPr>
              <a:t>adjustment of a plan</a:t>
            </a:r>
            <a:r>
              <a:rPr lang="fi-FI"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5" name="Footer Placeholder 4"/>
          <p:cNvSpPr>
            <a:spLocks noGrp="1"/>
          </p:cNvSpPr>
          <p:nvPr>
            <p:ph type="ftr" sz="quarter" idx="11"/>
          </p:nvPr>
        </p:nvSpPr>
        <p:spPr/>
        <p:txBody>
          <a:bodyPr/>
          <a:lstStyle/>
          <a:p>
            <a:r>
              <a:rPr lang="en-US" smtClean="0"/>
              <a:t>DAY 1</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7234" name="Rectangle 2"/>
          <p:cNvSpPr>
            <a:spLocks noGrp="1" noChangeArrowheads="1"/>
          </p:cNvSpPr>
          <p:nvPr>
            <p:ph type="title"/>
          </p:nvPr>
        </p:nvSpPr>
        <p:spPr>
          <a:xfrm>
            <a:off x="0" y="304800"/>
            <a:ext cx="6248400" cy="1143000"/>
          </a:xfrm>
        </p:spPr>
        <p:txBody>
          <a:bodyPr>
            <a:normAutofit fontScale="90000"/>
          </a:bodyPr>
          <a:lstStyle/>
          <a:p>
            <a:r>
              <a:rPr lang="en-GB" sz="4000" dirty="0"/>
              <a:t>What Was “Traditional </a:t>
            </a:r>
            <a:r>
              <a:rPr lang="en-GB" sz="4000" dirty="0" smtClean="0"/>
              <a:t/>
            </a:r>
            <a:br>
              <a:rPr lang="en-GB" sz="4000" dirty="0" smtClean="0"/>
            </a:br>
            <a:r>
              <a:rPr lang="en-GB" sz="4000" dirty="0" smtClean="0"/>
              <a:t>Testing</a:t>
            </a:r>
            <a:r>
              <a:rPr lang="en-GB" sz="4000" dirty="0"/>
              <a:t>” Again?</a:t>
            </a:r>
          </a:p>
        </p:txBody>
      </p:sp>
      <p:sp>
        <p:nvSpPr>
          <p:cNvPr id="1247235" name="Rectangle 3"/>
          <p:cNvSpPr>
            <a:spLocks noGrp="1" noChangeArrowheads="1"/>
          </p:cNvSpPr>
          <p:nvPr>
            <p:ph sz="half" idx="1"/>
          </p:nvPr>
        </p:nvSpPr>
        <p:spPr>
          <a:xfrm>
            <a:off x="457200" y="3857627"/>
            <a:ext cx="4038600" cy="2497297"/>
          </a:xfrm>
        </p:spPr>
        <p:txBody>
          <a:bodyPr>
            <a:noAutofit/>
          </a:bodyPr>
          <a:lstStyle/>
          <a:p>
            <a:r>
              <a:rPr lang="en-GB" sz="2000" dirty="0"/>
              <a:t>Testing is not about </a:t>
            </a:r>
            <a:r>
              <a:rPr lang="en-GB" sz="2000" dirty="0" smtClean="0"/>
              <a:t>blaming programmer </a:t>
            </a:r>
            <a:r>
              <a:rPr lang="en-GB" sz="2000" dirty="0"/>
              <a:t>and being failsafe mechanism for their lack of skill. </a:t>
            </a:r>
          </a:p>
          <a:p>
            <a:r>
              <a:rPr lang="fi-FI" sz="2000" b="1" dirty="0">
                <a:solidFill>
                  <a:schemeClr val="tx2"/>
                </a:solidFill>
              </a:rPr>
              <a:t>The business opportunity of testing is facilitation of the development of an acceptable product in the face of rapid change</a:t>
            </a:r>
            <a:endParaRPr lang="en-GB" sz="2000" dirty="0">
              <a:solidFill>
                <a:schemeClr val="tx2"/>
              </a:solidFill>
            </a:endParaRPr>
          </a:p>
        </p:txBody>
      </p:sp>
      <p:sp>
        <p:nvSpPr>
          <p:cNvPr id="1247237" name="Rectangle 5"/>
          <p:cNvSpPr>
            <a:spLocks noGrp="1" noChangeArrowheads="1"/>
          </p:cNvSpPr>
          <p:nvPr>
            <p:ph sz="half" idx="2"/>
          </p:nvPr>
        </p:nvSpPr>
        <p:spPr>
          <a:xfrm>
            <a:off x="4648200" y="1722437"/>
            <a:ext cx="4267200" cy="4525963"/>
          </a:xfrm>
        </p:spPr>
        <p:txBody>
          <a:bodyPr>
            <a:noAutofit/>
          </a:bodyPr>
          <a:lstStyle/>
          <a:p>
            <a:pPr>
              <a:lnSpc>
                <a:spcPct val="110000"/>
              </a:lnSpc>
            </a:pPr>
            <a:r>
              <a:rPr lang="en-US" sz="1600" dirty="0"/>
              <a:t>Is it this:</a:t>
            </a:r>
          </a:p>
          <a:p>
            <a:pPr lvl="1">
              <a:lnSpc>
                <a:spcPct val="90000"/>
              </a:lnSpc>
            </a:pPr>
            <a:r>
              <a:rPr lang="en-US" sz="1400" dirty="0"/>
              <a:t>Separate testers, unskilled labor to test based on detailed instructions</a:t>
            </a:r>
          </a:p>
          <a:p>
            <a:pPr lvl="1">
              <a:lnSpc>
                <a:spcPct val="90000"/>
              </a:lnSpc>
            </a:pPr>
            <a:r>
              <a:rPr lang="en-US" sz="1400" dirty="0"/>
              <a:t>Strict processes delivering documents to keep the herd of testers up-to-date on what should be verified</a:t>
            </a:r>
          </a:p>
          <a:p>
            <a:pPr lvl="1">
              <a:lnSpc>
                <a:spcPct val="90000"/>
              </a:lnSpc>
            </a:pPr>
            <a:r>
              <a:rPr lang="en-US" sz="1400" dirty="0"/>
              <a:t>Developers don’t test</a:t>
            </a:r>
          </a:p>
          <a:p>
            <a:pPr lvl="1">
              <a:lnSpc>
                <a:spcPct val="90000"/>
              </a:lnSpc>
            </a:pPr>
            <a:r>
              <a:rPr lang="en-US" sz="1400" dirty="0"/>
              <a:t>Testing is scheduled to be “two weeks in the end”, with long preparation without touching the software</a:t>
            </a:r>
          </a:p>
          <a:p>
            <a:pPr>
              <a:lnSpc>
                <a:spcPct val="110000"/>
              </a:lnSpc>
            </a:pPr>
            <a:r>
              <a:rPr lang="en-US" sz="1600" dirty="0"/>
              <a:t>Or this: </a:t>
            </a:r>
          </a:p>
          <a:p>
            <a:pPr lvl="1">
              <a:lnSpc>
                <a:spcPct val="90000"/>
              </a:lnSpc>
            </a:pPr>
            <a:r>
              <a:rPr lang="en-US" sz="1400" dirty="0"/>
              <a:t>Trained professionals with a different perspective than the developers</a:t>
            </a:r>
          </a:p>
          <a:p>
            <a:pPr lvl="1">
              <a:lnSpc>
                <a:spcPct val="90000"/>
              </a:lnSpc>
            </a:pPr>
            <a:r>
              <a:rPr lang="en-US" sz="1400" dirty="0"/>
              <a:t>Continuous collaboration with the whole development team and various perspectives to learn what to test</a:t>
            </a:r>
          </a:p>
          <a:p>
            <a:pPr lvl="1">
              <a:lnSpc>
                <a:spcPct val="90000"/>
              </a:lnSpc>
            </a:pPr>
            <a:r>
              <a:rPr lang="en-US" sz="1400" dirty="0"/>
              <a:t>Developers test and there’s still work for separate tester</a:t>
            </a:r>
          </a:p>
          <a:p>
            <a:pPr lvl="1">
              <a:lnSpc>
                <a:spcPct val="90000"/>
              </a:lnSpc>
            </a:pPr>
            <a:r>
              <a:rPr lang="en-US" sz="1400" dirty="0"/>
              <a:t>Testing is continuous and how it is organized and resourced can vary a lot</a:t>
            </a:r>
          </a:p>
          <a:p>
            <a:pPr lvl="1">
              <a:lnSpc>
                <a:spcPct val="90000"/>
              </a:lnSpc>
            </a:pPr>
            <a:endParaRPr lang="en-GB" sz="1050" dirty="0"/>
          </a:p>
        </p:txBody>
      </p:sp>
      <p:sp>
        <p:nvSpPr>
          <p:cNvPr id="1247236" name="Rectangle 4"/>
          <p:cNvSpPr>
            <a:spLocks noChangeArrowheads="1"/>
          </p:cNvSpPr>
          <p:nvPr/>
        </p:nvSpPr>
        <p:spPr bwMode="auto">
          <a:xfrm>
            <a:off x="428596" y="1828800"/>
            <a:ext cx="3810000" cy="18034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p>
            <a:pPr algn="ctr" eaLnBrk="1" hangingPunct="1"/>
            <a:r>
              <a:rPr lang="fi-FI" sz="1600" b="1" dirty="0">
                <a:solidFill>
                  <a:schemeClr val="bg1"/>
                </a:solidFill>
                <a:latin typeface="Courier New" pitchFamily="49" charset="0"/>
              </a:rPr>
              <a:t>You don’t believe this, right?</a:t>
            </a:r>
            <a:br>
              <a:rPr lang="fi-FI" sz="1600" b="1" dirty="0">
                <a:solidFill>
                  <a:schemeClr val="bg1"/>
                </a:solidFill>
                <a:latin typeface="Courier New" pitchFamily="49" charset="0"/>
              </a:rPr>
            </a:br>
            <a:endParaRPr lang="fi-FI" sz="1600" b="1" dirty="0">
              <a:solidFill>
                <a:schemeClr val="bg1"/>
              </a:solidFill>
              <a:latin typeface="Courier New" pitchFamily="49" charset="0"/>
            </a:endParaRPr>
          </a:p>
          <a:p>
            <a:pPr algn="ctr" eaLnBrk="1" hangingPunct="1"/>
            <a:r>
              <a:rPr lang="fi-FI" sz="1600" b="1" dirty="0">
                <a:solidFill>
                  <a:schemeClr val="bg1"/>
                </a:solidFill>
                <a:latin typeface="Courier New" pitchFamily="49" charset="0"/>
              </a:rPr>
              <a:t>IF DEVELOPERS DO WHAT THEY ARE SUPPOSED TO DO PROPERLY THEN THERE WOULD BE NO NEED FOR TESTING AT ALL.</a:t>
            </a:r>
            <a:endParaRPr lang="en-GB" sz="1600" b="1" dirty="0">
              <a:solidFill>
                <a:schemeClr val="bg1"/>
              </a:solidFill>
              <a:latin typeface="Courier New" pitchFamily="49" charset="0"/>
            </a:endParaRPr>
          </a:p>
        </p:txBody>
      </p:sp>
      <p:sp>
        <p:nvSpPr>
          <p:cNvPr id="1247238" name="Rectangle 6"/>
          <p:cNvSpPr>
            <a:spLocks noChangeArrowheads="1"/>
          </p:cNvSpPr>
          <p:nvPr/>
        </p:nvSpPr>
        <p:spPr bwMode="auto">
          <a:xfrm>
            <a:off x="6096000" y="471502"/>
            <a:ext cx="3000396" cy="1357298"/>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lIns="90000" tIns="46800" rIns="90000" bIns="46800" anchor="ctr"/>
          <a:lstStyle/>
          <a:p>
            <a:pPr algn="ctr"/>
            <a:r>
              <a:rPr lang="en-GB" dirty="0"/>
              <a:t>The closer your testing is to what traditional testing </a:t>
            </a:r>
            <a:r>
              <a:rPr lang="en-GB" i="1" dirty="0"/>
              <a:t>could </a:t>
            </a:r>
            <a:r>
              <a:rPr lang="en-GB" dirty="0"/>
              <a:t>be, the easier the transition to agile.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56</a:t>
            </a:fld>
            <a:endParaRPr lang="en-US"/>
          </a:p>
        </p:txBody>
      </p:sp>
      <p:sp>
        <p:nvSpPr>
          <p:cNvPr id="8" name="Footer Placeholder 7"/>
          <p:cNvSpPr>
            <a:spLocks noGrp="1"/>
          </p:cNvSpPr>
          <p:nvPr>
            <p:ph type="ftr" sz="quarter" idx="11"/>
          </p:nvPr>
        </p:nvSpPr>
        <p:spPr/>
        <p:txBody>
          <a:bodyPr/>
          <a:lstStyle/>
          <a:p>
            <a:r>
              <a:rPr lang="en-US" smtClean="0"/>
              <a:t>DAY 1</a:t>
            </a:r>
            <a:endParaRPr lang="en-US" dirty="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Experiences on Pre-Agile Methods Flexible Testing Practices</a:t>
            </a:r>
            <a:endParaRPr lang="fi-FI" dirty="0"/>
          </a:p>
        </p:txBody>
      </p:sp>
      <p:sp>
        <p:nvSpPr>
          <p:cNvPr id="3" name="Content Placeholder 2"/>
          <p:cNvSpPr>
            <a:spLocks noGrp="1"/>
          </p:cNvSpPr>
          <p:nvPr>
            <p:ph idx="1"/>
          </p:nvPr>
        </p:nvSpPr>
        <p:spPr/>
        <p:txBody>
          <a:bodyPr>
            <a:noAutofit/>
          </a:bodyPr>
          <a:lstStyle/>
          <a:p>
            <a:r>
              <a:rPr lang="fi-FI" sz="2000" dirty="0" smtClean="0"/>
              <a:t>From traditional projects, with flexible / agile testing:</a:t>
            </a:r>
          </a:p>
          <a:p>
            <a:pPr lvl="1"/>
            <a:r>
              <a:rPr lang="fi-FI" sz="1800" dirty="0" smtClean="0"/>
              <a:t>Testing controlled based on information value, not the list of test cases planned</a:t>
            </a:r>
          </a:p>
          <a:p>
            <a:pPr lvl="1"/>
            <a:r>
              <a:rPr lang="fi-FI" sz="1800" dirty="0" smtClean="0"/>
              <a:t>Attitude towards changes – can you fix bugs?</a:t>
            </a:r>
          </a:p>
          <a:p>
            <a:pPr lvl="1"/>
            <a:r>
              <a:rPr lang="fi-FI" sz="1800" dirty="0" smtClean="0"/>
              <a:t>Tight collaboration for developers and testers</a:t>
            </a:r>
          </a:p>
          <a:p>
            <a:pPr lvl="1"/>
            <a:r>
              <a:rPr lang="fi-FI" sz="1800" dirty="0" smtClean="0"/>
              <a:t>Consulting testing as a valuable source of information</a:t>
            </a:r>
          </a:p>
          <a:p>
            <a:pPr lvl="1"/>
            <a:r>
              <a:rPr lang="fi-FI" sz="1800" dirty="0" smtClean="0"/>
              <a:t>Lighten up the specialization within testing – from component testers to application testers</a:t>
            </a:r>
          </a:p>
          <a:p>
            <a:pPr lvl="1"/>
            <a:r>
              <a:rPr lang="fi-FI" sz="1800" dirty="0" smtClean="0"/>
              <a:t>Continuous software delivery to real customers for trial use to get feedback on quality of testing</a:t>
            </a:r>
          </a:p>
          <a:p>
            <a:pPr lvl="1"/>
            <a:r>
              <a:rPr lang="fi-FI" sz="1800" dirty="0" smtClean="0"/>
              <a:t>Regular integration that happens often</a:t>
            </a:r>
          </a:p>
          <a:p>
            <a:pPr lvl="1"/>
            <a:r>
              <a:rPr lang="fi-FI" sz="1800" dirty="0" smtClean="0"/>
              <a:t>Requirements are for support instead of ”right answers”</a:t>
            </a:r>
          </a:p>
          <a:p>
            <a:pPr lvl="1"/>
            <a:r>
              <a:rPr lang="fi-FI" sz="1800" dirty="0" smtClean="0"/>
              <a:t>From document before doing to document while doing</a:t>
            </a:r>
          </a:p>
          <a:p>
            <a:pPr lvl="1"/>
            <a:r>
              <a:rPr lang="fi-FI" sz="1800" dirty="0" smtClean="0"/>
              <a:t>Addressing quality reporting as a group experience</a:t>
            </a:r>
          </a:p>
          <a:p>
            <a:pPr lvl="1"/>
            <a:r>
              <a:rPr lang="fi-FI" sz="1800" dirty="0" smtClean="0"/>
              <a:t>Module test automation of the piece that causes weird system behavior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Footer Placeholder 4"/>
          <p:cNvSpPr>
            <a:spLocks noGrp="1"/>
          </p:cNvSpPr>
          <p:nvPr>
            <p:ph type="ftr" sz="quarter" idx="11"/>
          </p:nvPr>
        </p:nvSpPr>
        <p:spPr/>
        <p:txBody>
          <a:bodyPr/>
          <a:lstStyle/>
          <a:p>
            <a:r>
              <a:rPr lang="en-US" smtClean="0"/>
              <a:t>DAY 1</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More Flexible Testing Practices Post-Agile</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From agile projects with agile testing:</a:t>
            </a:r>
          </a:p>
          <a:p>
            <a:pPr lvl="1"/>
            <a:r>
              <a:rPr lang="fi-FI" dirty="0" smtClean="0"/>
              <a:t>Communication of what has been changed and why in daily meetings</a:t>
            </a:r>
          </a:p>
          <a:p>
            <a:pPr lvl="1"/>
            <a:r>
              <a:rPr lang="fi-FI" dirty="0" smtClean="0"/>
              <a:t>Definition of done to include testing to an acceptable risk level</a:t>
            </a:r>
          </a:p>
          <a:p>
            <a:pPr lvl="1"/>
            <a:r>
              <a:rPr lang="fi-FI" dirty="0" smtClean="0"/>
              <a:t>In-team risk-based test management</a:t>
            </a:r>
          </a:p>
          <a:p>
            <a:pPr lvl="1"/>
            <a:r>
              <a:rPr lang="fi-FI" dirty="0" smtClean="0"/>
              <a:t>Product backlog includes a holistic view to value: all testing is included</a:t>
            </a:r>
          </a:p>
          <a:p>
            <a:pPr lvl="1"/>
            <a:r>
              <a:rPr lang="fi-FI" dirty="0" smtClean="0"/>
              <a:t>Quality and technical debt communication and negotiation</a:t>
            </a:r>
          </a:p>
          <a:p>
            <a:pPr lvl="1"/>
            <a:r>
              <a:rPr lang="fi-FI" dirty="0" smtClean="0"/>
              <a:t>Unit test automation</a:t>
            </a:r>
          </a:p>
          <a:p>
            <a:pPr lvl="1"/>
            <a:r>
              <a:rPr lang="fi-FI" dirty="0" smtClean="0"/>
              <a:t>Continuous integration with quality baselining</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Footer Placeholder 4"/>
          <p:cNvSpPr>
            <a:spLocks noGrp="1"/>
          </p:cNvSpPr>
          <p:nvPr>
            <p:ph type="ftr" sz="quarter" idx="11"/>
          </p:nvPr>
        </p:nvSpPr>
        <p:spPr/>
        <p:txBody>
          <a:bodyPr/>
          <a:lstStyle/>
          <a:p>
            <a:r>
              <a:rPr lang="en-US" smtClean="0"/>
              <a:t>DAY 1</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Case: Timeline of Changes</a:t>
            </a:r>
            <a:endParaRPr lang="fi-FI" dirty="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59</a:t>
            </a:fld>
            <a:endParaRPr lang="en-US"/>
          </a:p>
        </p:txBody>
      </p:sp>
      <p:cxnSp>
        <p:nvCxnSpPr>
          <p:cNvPr id="7" name="Straight Arrow Connector 6"/>
          <p:cNvCxnSpPr/>
          <p:nvPr/>
        </p:nvCxnSpPr>
        <p:spPr>
          <a:xfrm>
            <a:off x="381000" y="3313331"/>
            <a:ext cx="86106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Oval 9"/>
          <p:cNvSpPr/>
          <p:nvPr/>
        </p:nvSpPr>
        <p:spPr>
          <a:xfrm>
            <a:off x="762000" y="3237131"/>
            <a:ext cx="228600" cy="228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fi-FI"/>
          </a:p>
        </p:txBody>
      </p:sp>
      <p:sp>
        <p:nvSpPr>
          <p:cNvPr id="11" name="Oval 10"/>
          <p:cNvSpPr/>
          <p:nvPr/>
        </p:nvSpPr>
        <p:spPr>
          <a:xfrm>
            <a:off x="8382000" y="3237131"/>
            <a:ext cx="228600" cy="2286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fi-FI"/>
          </a:p>
        </p:txBody>
      </p:sp>
      <p:sp>
        <p:nvSpPr>
          <p:cNvPr id="12" name="TextBox 11"/>
          <p:cNvSpPr txBox="1"/>
          <p:nvPr/>
        </p:nvSpPr>
        <p:spPr>
          <a:xfrm>
            <a:off x="228600" y="3618131"/>
            <a:ext cx="838200" cy="369332"/>
          </a:xfrm>
          <a:prstGeom prst="rect">
            <a:avLst/>
          </a:prstGeom>
          <a:noFill/>
        </p:spPr>
        <p:txBody>
          <a:bodyPr wrap="square" rtlCol="0">
            <a:spAutoFit/>
          </a:bodyPr>
          <a:lstStyle/>
          <a:p>
            <a:r>
              <a:rPr lang="fi-FI" dirty="0" smtClean="0"/>
              <a:t>START</a:t>
            </a:r>
            <a:endParaRPr lang="fi-FI" dirty="0"/>
          </a:p>
        </p:txBody>
      </p:sp>
      <p:sp>
        <p:nvSpPr>
          <p:cNvPr id="13" name="TextBox 12"/>
          <p:cNvSpPr txBox="1"/>
          <p:nvPr/>
        </p:nvSpPr>
        <p:spPr>
          <a:xfrm>
            <a:off x="8077200" y="2779931"/>
            <a:ext cx="838200" cy="369332"/>
          </a:xfrm>
          <a:prstGeom prst="rect">
            <a:avLst/>
          </a:prstGeom>
          <a:noFill/>
        </p:spPr>
        <p:txBody>
          <a:bodyPr wrap="square" rtlCol="0">
            <a:spAutoFit/>
          </a:bodyPr>
          <a:lstStyle/>
          <a:p>
            <a:pPr algn="ctr"/>
            <a:r>
              <a:rPr lang="fi-FI" dirty="0" smtClean="0"/>
              <a:t>STOP</a:t>
            </a:r>
            <a:endParaRPr lang="fi-FI" dirty="0"/>
          </a:p>
        </p:txBody>
      </p:sp>
      <p:sp>
        <p:nvSpPr>
          <p:cNvPr id="14" name="TextBox 13"/>
          <p:cNvSpPr txBox="1"/>
          <p:nvPr/>
        </p:nvSpPr>
        <p:spPr>
          <a:xfrm>
            <a:off x="914400" y="2094131"/>
            <a:ext cx="2133600" cy="646331"/>
          </a:xfrm>
          <a:prstGeom prst="rect">
            <a:avLst/>
          </a:prstGeom>
          <a:noFill/>
        </p:spPr>
        <p:txBody>
          <a:bodyPr wrap="square" rtlCol="0">
            <a:spAutoFit/>
          </a:bodyPr>
          <a:lstStyle/>
          <a:p>
            <a:pPr algn="ctr"/>
            <a:r>
              <a:rPr lang="fi-FI" dirty="0" smtClean="0"/>
              <a:t>No separate system testing team</a:t>
            </a:r>
            <a:endParaRPr lang="fi-FI" dirty="0"/>
          </a:p>
        </p:txBody>
      </p:sp>
      <p:sp>
        <p:nvSpPr>
          <p:cNvPr id="15" name="TextBox 14"/>
          <p:cNvSpPr txBox="1"/>
          <p:nvPr/>
        </p:nvSpPr>
        <p:spPr>
          <a:xfrm>
            <a:off x="304800" y="4380131"/>
            <a:ext cx="2133600" cy="646331"/>
          </a:xfrm>
          <a:prstGeom prst="rect">
            <a:avLst/>
          </a:prstGeom>
          <a:noFill/>
        </p:spPr>
        <p:txBody>
          <a:bodyPr wrap="square" rtlCol="0">
            <a:spAutoFit/>
          </a:bodyPr>
          <a:lstStyle/>
          <a:p>
            <a:pPr algn="ctr"/>
            <a:r>
              <a:rPr lang="fi-FI" dirty="0" smtClean="0"/>
              <a:t>30 sec effort planning for PBL</a:t>
            </a:r>
            <a:endParaRPr lang="fi-FI" dirty="0"/>
          </a:p>
        </p:txBody>
      </p:sp>
      <p:sp>
        <p:nvSpPr>
          <p:cNvPr id="16" name="TextBox 15"/>
          <p:cNvSpPr txBox="1"/>
          <p:nvPr/>
        </p:nvSpPr>
        <p:spPr>
          <a:xfrm>
            <a:off x="2057400" y="1560731"/>
            <a:ext cx="2133600" cy="369332"/>
          </a:xfrm>
          <a:prstGeom prst="rect">
            <a:avLst/>
          </a:prstGeom>
          <a:noFill/>
        </p:spPr>
        <p:txBody>
          <a:bodyPr wrap="square" rtlCol="0">
            <a:spAutoFit/>
          </a:bodyPr>
          <a:lstStyle/>
          <a:p>
            <a:pPr algn="ctr"/>
            <a:r>
              <a:rPr lang="fi-FI" dirty="0" smtClean="0"/>
              <a:t>PBL practices</a:t>
            </a:r>
            <a:endParaRPr lang="fi-FI" dirty="0"/>
          </a:p>
        </p:txBody>
      </p:sp>
      <p:sp>
        <p:nvSpPr>
          <p:cNvPr id="17" name="TextBox 16"/>
          <p:cNvSpPr txBox="1"/>
          <p:nvPr/>
        </p:nvSpPr>
        <p:spPr>
          <a:xfrm>
            <a:off x="3429000" y="3541931"/>
            <a:ext cx="2133600" cy="923330"/>
          </a:xfrm>
          <a:prstGeom prst="rect">
            <a:avLst/>
          </a:prstGeom>
          <a:noFill/>
        </p:spPr>
        <p:txBody>
          <a:bodyPr wrap="square" rtlCol="0">
            <a:spAutoFit/>
          </a:bodyPr>
          <a:lstStyle/>
          <a:p>
            <a:pPr algn="ctr"/>
            <a:r>
              <a:rPr lang="fi-FI" dirty="0" smtClean="0"/>
              <a:t>Requirement workshops and use cases</a:t>
            </a:r>
            <a:endParaRPr lang="fi-FI" dirty="0"/>
          </a:p>
        </p:txBody>
      </p:sp>
      <p:sp>
        <p:nvSpPr>
          <p:cNvPr id="18" name="TextBox 17"/>
          <p:cNvSpPr txBox="1"/>
          <p:nvPr/>
        </p:nvSpPr>
        <p:spPr>
          <a:xfrm>
            <a:off x="7162800" y="3922931"/>
            <a:ext cx="2133600" cy="369332"/>
          </a:xfrm>
          <a:prstGeom prst="rect">
            <a:avLst/>
          </a:prstGeom>
          <a:noFill/>
        </p:spPr>
        <p:txBody>
          <a:bodyPr wrap="square" rtlCol="0">
            <a:spAutoFit/>
          </a:bodyPr>
          <a:lstStyle/>
          <a:p>
            <a:pPr algn="ctr"/>
            <a:r>
              <a:rPr lang="fi-FI" dirty="0" smtClean="0"/>
              <a:t>Feature teams</a:t>
            </a:r>
            <a:endParaRPr lang="fi-FI" dirty="0"/>
          </a:p>
        </p:txBody>
      </p:sp>
      <p:sp>
        <p:nvSpPr>
          <p:cNvPr id="19" name="TextBox 18"/>
          <p:cNvSpPr txBox="1"/>
          <p:nvPr/>
        </p:nvSpPr>
        <p:spPr>
          <a:xfrm>
            <a:off x="5410200" y="3694331"/>
            <a:ext cx="2133600" cy="923330"/>
          </a:xfrm>
          <a:prstGeom prst="rect">
            <a:avLst/>
          </a:prstGeom>
          <a:noFill/>
        </p:spPr>
        <p:txBody>
          <a:bodyPr wrap="square" rtlCol="0">
            <a:spAutoFit/>
          </a:bodyPr>
          <a:lstStyle/>
          <a:p>
            <a:pPr algn="ctr"/>
            <a:r>
              <a:rPr lang="fi-FI" dirty="0" smtClean="0"/>
              <a:t>Test in SBL:</a:t>
            </a:r>
            <a:br>
              <a:rPr lang="fi-FI" dirty="0" smtClean="0"/>
            </a:br>
            <a:r>
              <a:rPr lang="fi-FI" dirty="0" smtClean="0"/>
              <a:t> time-box vs. estimate</a:t>
            </a:r>
            <a:endParaRPr lang="fi-FI" dirty="0"/>
          </a:p>
        </p:txBody>
      </p:sp>
      <p:sp>
        <p:nvSpPr>
          <p:cNvPr id="20" name="TextBox 19"/>
          <p:cNvSpPr txBox="1"/>
          <p:nvPr/>
        </p:nvSpPr>
        <p:spPr>
          <a:xfrm>
            <a:off x="4267200" y="1560731"/>
            <a:ext cx="2133600" cy="369332"/>
          </a:xfrm>
          <a:prstGeom prst="rect">
            <a:avLst/>
          </a:prstGeom>
          <a:noFill/>
        </p:spPr>
        <p:txBody>
          <a:bodyPr wrap="square" rtlCol="0">
            <a:spAutoFit/>
          </a:bodyPr>
          <a:lstStyle/>
          <a:p>
            <a:pPr algn="ctr"/>
            <a:r>
              <a:rPr lang="fi-FI" dirty="0" smtClean="0"/>
              <a:t>Commitment</a:t>
            </a:r>
            <a:endParaRPr lang="fi-FI" dirty="0"/>
          </a:p>
        </p:txBody>
      </p:sp>
      <p:sp>
        <p:nvSpPr>
          <p:cNvPr id="21" name="TextBox 20"/>
          <p:cNvSpPr txBox="1"/>
          <p:nvPr/>
        </p:nvSpPr>
        <p:spPr>
          <a:xfrm>
            <a:off x="4419600" y="4684931"/>
            <a:ext cx="2133600" cy="369332"/>
          </a:xfrm>
          <a:prstGeom prst="rect">
            <a:avLst/>
          </a:prstGeom>
          <a:noFill/>
        </p:spPr>
        <p:txBody>
          <a:bodyPr wrap="square" rtlCol="0">
            <a:spAutoFit/>
          </a:bodyPr>
          <a:lstStyle/>
          <a:p>
            <a:pPr algn="ctr"/>
            <a:r>
              <a:rPr lang="fi-FI" dirty="0" smtClean="0"/>
              <a:t>Risk-driven done</a:t>
            </a:r>
            <a:endParaRPr lang="fi-FI" dirty="0"/>
          </a:p>
        </p:txBody>
      </p:sp>
      <p:sp>
        <p:nvSpPr>
          <p:cNvPr id="22" name="TextBox 21"/>
          <p:cNvSpPr txBox="1"/>
          <p:nvPr/>
        </p:nvSpPr>
        <p:spPr>
          <a:xfrm>
            <a:off x="6477000" y="1713131"/>
            <a:ext cx="2133600" cy="646331"/>
          </a:xfrm>
          <a:prstGeom prst="rect">
            <a:avLst/>
          </a:prstGeom>
          <a:noFill/>
        </p:spPr>
        <p:txBody>
          <a:bodyPr wrap="square" rtlCol="0">
            <a:spAutoFit/>
          </a:bodyPr>
          <a:lstStyle/>
          <a:p>
            <a:pPr algn="ctr"/>
            <a:r>
              <a:rPr lang="fi-FI" dirty="0" smtClean="0"/>
              <a:t>System test automation</a:t>
            </a:r>
            <a:endParaRPr lang="fi-FI" dirty="0"/>
          </a:p>
        </p:txBody>
      </p:sp>
      <p:sp>
        <p:nvSpPr>
          <p:cNvPr id="23" name="TextBox 22"/>
          <p:cNvSpPr txBox="1"/>
          <p:nvPr/>
        </p:nvSpPr>
        <p:spPr>
          <a:xfrm>
            <a:off x="-152400" y="1066800"/>
            <a:ext cx="2133600" cy="646331"/>
          </a:xfrm>
          <a:prstGeom prst="rect">
            <a:avLst/>
          </a:prstGeom>
          <a:noFill/>
        </p:spPr>
        <p:txBody>
          <a:bodyPr wrap="square" rtlCol="0">
            <a:spAutoFit/>
          </a:bodyPr>
          <a:lstStyle/>
          <a:p>
            <a:pPr algn="ctr"/>
            <a:r>
              <a:rPr lang="fi-FI" dirty="0" smtClean="0"/>
              <a:t>Continuous integration system</a:t>
            </a:r>
            <a:endParaRPr lang="fi-FI" dirty="0"/>
          </a:p>
        </p:txBody>
      </p:sp>
      <p:sp>
        <p:nvSpPr>
          <p:cNvPr id="24" name="TextBox 23"/>
          <p:cNvSpPr txBox="1"/>
          <p:nvPr/>
        </p:nvSpPr>
        <p:spPr>
          <a:xfrm>
            <a:off x="3124200" y="2017931"/>
            <a:ext cx="2133600" cy="369332"/>
          </a:xfrm>
          <a:prstGeom prst="rect">
            <a:avLst/>
          </a:prstGeom>
          <a:noFill/>
        </p:spPr>
        <p:txBody>
          <a:bodyPr wrap="square" rtlCol="0">
            <a:spAutoFit/>
          </a:bodyPr>
          <a:lstStyle/>
          <a:p>
            <a:pPr algn="ctr"/>
            <a:r>
              <a:rPr lang="fi-FI" dirty="0" smtClean="0"/>
              <a:t>Quality debt</a:t>
            </a:r>
            <a:endParaRPr lang="fi-FI" dirty="0"/>
          </a:p>
        </p:txBody>
      </p:sp>
      <p:sp>
        <p:nvSpPr>
          <p:cNvPr id="25" name="TextBox 24"/>
          <p:cNvSpPr txBox="1"/>
          <p:nvPr/>
        </p:nvSpPr>
        <p:spPr>
          <a:xfrm>
            <a:off x="1371600" y="3922931"/>
            <a:ext cx="2133600" cy="369332"/>
          </a:xfrm>
          <a:prstGeom prst="rect">
            <a:avLst/>
          </a:prstGeom>
          <a:noFill/>
        </p:spPr>
        <p:txBody>
          <a:bodyPr wrap="square" rtlCol="0">
            <a:spAutoFit/>
          </a:bodyPr>
          <a:lstStyle/>
          <a:p>
            <a:pPr algn="ctr"/>
            <a:r>
              <a:rPr lang="fi-FI" dirty="0" smtClean="0"/>
              <a:t>No test manager</a:t>
            </a:r>
            <a:endParaRPr lang="fi-FI" dirty="0"/>
          </a:p>
        </p:txBody>
      </p:sp>
      <p:cxnSp>
        <p:nvCxnSpPr>
          <p:cNvPr id="27" name="Straight Arrow Connector 26"/>
          <p:cNvCxnSpPr>
            <a:endCxn id="10" idx="0"/>
          </p:cNvCxnSpPr>
          <p:nvPr/>
        </p:nvCxnSpPr>
        <p:spPr>
          <a:xfrm rot="16200000" flipH="1">
            <a:off x="150089" y="2510920"/>
            <a:ext cx="1447800" cy="46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5" idx="0"/>
          </p:cNvCxnSpPr>
          <p:nvPr/>
        </p:nvCxnSpPr>
        <p:spPr>
          <a:xfrm rot="5400000" flipH="1" flipV="1">
            <a:off x="838200" y="3846731"/>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4" idx="2"/>
          </p:cNvCxnSpPr>
          <p:nvPr/>
        </p:nvCxnSpPr>
        <p:spPr>
          <a:xfrm rot="5400000">
            <a:off x="1732866" y="2988796"/>
            <a:ext cx="4966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flipH="1" flipV="1">
            <a:off x="2133600" y="3618131"/>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6" idx="2"/>
          </p:cNvCxnSpPr>
          <p:nvPr/>
        </p:nvCxnSpPr>
        <p:spPr>
          <a:xfrm rot="5400000">
            <a:off x="2432566" y="2621697"/>
            <a:ext cx="13832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4" idx="2"/>
          </p:cNvCxnSpPr>
          <p:nvPr/>
        </p:nvCxnSpPr>
        <p:spPr>
          <a:xfrm rot="5400000">
            <a:off x="3727966" y="2850297"/>
            <a:ext cx="9260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8" idx="0"/>
          </p:cNvCxnSpPr>
          <p:nvPr/>
        </p:nvCxnSpPr>
        <p:spPr>
          <a:xfrm rot="5400000" flipH="1" flipV="1">
            <a:off x="7924800" y="3618131"/>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2" idx="2"/>
          </p:cNvCxnSpPr>
          <p:nvPr/>
        </p:nvCxnSpPr>
        <p:spPr>
          <a:xfrm rot="5400000">
            <a:off x="7066866" y="2836396"/>
            <a:ext cx="9538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715000" y="2322731"/>
            <a:ext cx="2133600" cy="646331"/>
          </a:xfrm>
          <a:prstGeom prst="rect">
            <a:avLst/>
          </a:prstGeom>
          <a:noFill/>
        </p:spPr>
        <p:txBody>
          <a:bodyPr wrap="square" rtlCol="0">
            <a:spAutoFit/>
          </a:bodyPr>
          <a:lstStyle/>
          <a:p>
            <a:pPr algn="ctr"/>
            <a:r>
              <a:rPr lang="fi-FI" dirty="0" smtClean="0"/>
              <a:t>Career track planning</a:t>
            </a:r>
            <a:endParaRPr lang="fi-FI" dirty="0"/>
          </a:p>
        </p:txBody>
      </p:sp>
      <p:cxnSp>
        <p:nvCxnSpPr>
          <p:cNvPr id="46" name="Straight Arrow Connector 45"/>
          <p:cNvCxnSpPr>
            <a:stCxn id="44" idx="2"/>
          </p:cNvCxnSpPr>
          <p:nvPr/>
        </p:nvCxnSpPr>
        <p:spPr>
          <a:xfrm rot="5400000">
            <a:off x="6647766" y="3103096"/>
            <a:ext cx="26806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7" idx="0"/>
          </p:cNvCxnSpPr>
          <p:nvPr/>
        </p:nvCxnSpPr>
        <p:spPr>
          <a:xfrm rot="5400000" flipH="1" flipV="1">
            <a:off x="4381500" y="3427631"/>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20" idx="2"/>
          </p:cNvCxnSpPr>
          <p:nvPr/>
        </p:nvCxnSpPr>
        <p:spPr>
          <a:xfrm rot="5400000">
            <a:off x="4642366" y="2621697"/>
            <a:ext cx="13832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21" idx="0"/>
          </p:cNvCxnSpPr>
          <p:nvPr/>
        </p:nvCxnSpPr>
        <p:spPr>
          <a:xfrm rot="5400000" flipH="1" flipV="1">
            <a:off x="4800600" y="3999131"/>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9" idx="0"/>
          </p:cNvCxnSpPr>
          <p:nvPr/>
        </p:nvCxnSpPr>
        <p:spPr>
          <a:xfrm rot="5400000" flipH="1" flipV="1">
            <a:off x="6286500" y="3503831"/>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209800" y="5029200"/>
            <a:ext cx="4876800" cy="1754326"/>
          </a:xfrm>
          <a:prstGeom prst="rect">
            <a:avLst/>
          </a:prstGeom>
          <a:noFill/>
        </p:spPr>
        <p:txBody>
          <a:bodyPr wrap="square" rtlCol="0">
            <a:spAutoFit/>
          </a:bodyPr>
          <a:lstStyle/>
          <a:p>
            <a:r>
              <a:rPr lang="fi-FI" u="sng" dirty="0" smtClean="0"/>
              <a:t>Before START:</a:t>
            </a:r>
          </a:p>
          <a:p>
            <a:pPr>
              <a:buFont typeface="Arial" pitchFamily="34" charset="0"/>
              <a:buChar char="•"/>
            </a:pPr>
            <a:r>
              <a:rPr lang="fi-FI" dirty="0" smtClean="0"/>
              <a:t>Quality reporting</a:t>
            </a:r>
          </a:p>
          <a:p>
            <a:pPr>
              <a:buFont typeface="Arial" pitchFamily="34" charset="0"/>
              <a:buChar char="•"/>
            </a:pPr>
            <a:r>
              <a:rPr lang="fi-FI" dirty="0" smtClean="0"/>
              <a:t>Exploratory testing and high level test specs</a:t>
            </a:r>
          </a:p>
          <a:p>
            <a:pPr>
              <a:buFont typeface="Arial" pitchFamily="34" charset="0"/>
              <a:buChar char="•"/>
            </a:pPr>
            <a:r>
              <a:rPr lang="fi-FI" dirty="0" smtClean="0"/>
              <a:t>Testing as virtual team</a:t>
            </a:r>
          </a:p>
          <a:p>
            <a:pPr>
              <a:buFont typeface="Arial" pitchFamily="34" charset="0"/>
              <a:buChar char="•"/>
            </a:pPr>
            <a:r>
              <a:rPr lang="fi-FI" dirty="0" smtClean="0"/>
              <a:t>Removing specialization in test</a:t>
            </a:r>
          </a:p>
          <a:p>
            <a:pPr>
              <a:buFont typeface="Arial" pitchFamily="34" charset="0"/>
              <a:buChar char="•"/>
            </a:pPr>
            <a:r>
              <a:rPr lang="fi-FI" dirty="0" smtClean="0"/>
              <a:t>Unit testing as functional testing</a:t>
            </a:r>
            <a:endParaRPr lang="fi-FI"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 Did Not See It This Far</a:t>
            </a:r>
            <a:endParaRPr lang="fi-FI" dirty="0"/>
          </a:p>
        </p:txBody>
      </p:sp>
      <p:sp>
        <p:nvSpPr>
          <p:cNvPr id="3" name="Content Placeholder 2"/>
          <p:cNvSpPr>
            <a:spLocks noGrp="1"/>
          </p:cNvSpPr>
          <p:nvPr>
            <p:ph idx="1"/>
          </p:nvPr>
        </p:nvSpPr>
        <p:spPr/>
        <p:txBody>
          <a:bodyPr>
            <a:normAutofit lnSpcReduction="10000"/>
          </a:bodyPr>
          <a:lstStyle/>
          <a:p>
            <a:r>
              <a:rPr lang="fi-FI" dirty="0" smtClean="0"/>
              <a:t>From agile projects with agile testing dreamworld:</a:t>
            </a:r>
          </a:p>
          <a:p>
            <a:pPr lvl="1"/>
            <a:r>
              <a:rPr lang="fi-FI" dirty="0" smtClean="0"/>
              <a:t>Test-driven development</a:t>
            </a:r>
          </a:p>
          <a:p>
            <a:pPr lvl="1"/>
            <a:r>
              <a:rPr lang="fi-FI" dirty="0" smtClean="0"/>
              <a:t>Executable requirements with acceptance test-driven development</a:t>
            </a:r>
          </a:p>
          <a:p>
            <a:pPr lvl="1"/>
            <a:r>
              <a:rPr lang="fi-FI" dirty="0" smtClean="0"/>
              <a:t>Extensive test automation (90+% of testing run with automation)</a:t>
            </a:r>
          </a:p>
          <a:p>
            <a:pPr lvl="1"/>
            <a:r>
              <a:rPr lang="fi-FI" dirty="0" smtClean="0"/>
              <a:t>Controlled and visible exploratory testing that enables sharing of testing work in an in-depth manner</a:t>
            </a:r>
          </a:p>
          <a:p>
            <a:pPr lvl="1"/>
            <a:endParaRPr lang="fi-FI" dirty="0"/>
          </a:p>
        </p:txBody>
      </p:sp>
      <p:sp>
        <p:nvSpPr>
          <p:cNvPr id="4" name="TextBox 3"/>
          <p:cNvSpPr txBox="1"/>
          <p:nvPr/>
        </p:nvSpPr>
        <p:spPr>
          <a:xfrm>
            <a:off x="5286380" y="5715016"/>
            <a:ext cx="2928958" cy="830997"/>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400" smtClean="0"/>
              <a:t>Trial does not mean yet </a:t>
            </a:r>
            <a:r>
              <a:rPr lang="fi-FI" sz="2400" dirty="0" smtClean="0"/>
              <a:t>doing it... </a:t>
            </a:r>
            <a:endParaRPr lang="fi-FI"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60</a:t>
            </a:fld>
            <a:endParaRPr lang="en-US"/>
          </a:p>
        </p:txBody>
      </p:sp>
      <p:sp>
        <p:nvSpPr>
          <p:cNvPr id="6" name="Footer Placeholder 5"/>
          <p:cNvSpPr>
            <a:spLocks noGrp="1"/>
          </p:cNvSpPr>
          <p:nvPr>
            <p:ph type="ftr" sz="quarter" idx="11"/>
          </p:nvPr>
        </p:nvSpPr>
        <p:spPr/>
        <p:txBody>
          <a:bodyPr/>
          <a:lstStyle/>
          <a:p>
            <a:r>
              <a:rPr lang="en-US" smtClean="0"/>
              <a:t>DAY 1</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To End This With...</a:t>
            </a:r>
            <a:endParaRPr lang="fi-FI" dirty="0"/>
          </a:p>
        </p:txBody>
      </p:sp>
      <p:sp>
        <p:nvSpPr>
          <p:cNvPr id="3" name="Content Placeholder 2"/>
          <p:cNvSpPr>
            <a:spLocks noGrp="1"/>
          </p:cNvSpPr>
          <p:nvPr>
            <p:ph idx="1"/>
          </p:nvPr>
        </p:nvSpPr>
        <p:spPr/>
        <p:txBody>
          <a:bodyPr>
            <a:normAutofit/>
          </a:bodyPr>
          <a:lstStyle/>
          <a:p>
            <a:r>
              <a:rPr lang="fi-FI" sz="2800" dirty="0" smtClean="0"/>
              <a:t>Starting with agile practices does not yet make one agile</a:t>
            </a:r>
          </a:p>
          <a:p>
            <a:r>
              <a:rPr lang="fi-FI" sz="2800" dirty="0" smtClean="0"/>
              <a:t>There´s a fine line on what practices you can leave out from your adaptation and still maintain the right values</a:t>
            </a:r>
          </a:p>
          <a:p>
            <a:r>
              <a:rPr lang="fi-FI" sz="2800" dirty="0" smtClean="0"/>
              <a:t>There´s also implementations of all Scrum / XP practices that are very much not agile as per values</a:t>
            </a:r>
          </a:p>
          <a:p>
            <a:pPr>
              <a:buNone/>
            </a:pPr>
            <a:endParaRPr lang="fi-FI" sz="2800" dirty="0"/>
          </a:p>
        </p:txBody>
      </p:sp>
      <p:sp>
        <p:nvSpPr>
          <p:cNvPr id="4" name="Footer Placeholder 3"/>
          <p:cNvSpPr>
            <a:spLocks noGrp="1"/>
          </p:cNvSpPr>
          <p:nvPr>
            <p:ph type="ftr" sz="quarter" idx="11"/>
          </p:nvPr>
        </p:nvSpPr>
        <p:spPr/>
        <p:txBody>
          <a:bodyPr/>
          <a:lstStyle/>
          <a:p>
            <a:r>
              <a:rPr lang="en-US" smtClean="0"/>
              <a:t>DAY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61</a:t>
            </a:fld>
            <a:endParaRPr lang="en-US"/>
          </a:p>
        </p:txBody>
      </p:sp>
      <p:sp>
        <p:nvSpPr>
          <p:cNvPr id="6" name="TextBox 5"/>
          <p:cNvSpPr txBox="1"/>
          <p:nvPr/>
        </p:nvSpPr>
        <p:spPr>
          <a:xfrm>
            <a:off x="1581004" y="5105400"/>
            <a:ext cx="6267596"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i-FI" sz="2400" dirty="0" smtClean="0"/>
              <a:t>It does not matter whether you´re agile or not ”for real”. What matters is if you are providing value for your organization. </a:t>
            </a:r>
            <a:endParaRPr lang="fi-FI" sz="24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Paremman laadun lupauksen saavuttaminen</a:t>
            </a:r>
            <a:endParaRPr lang="fi-FI" dirty="0"/>
          </a:p>
        </p:txBody>
      </p:sp>
      <p:sp>
        <p:nvSpPr>
          <p:cNvPr id="5" name="TextBox 4"/>
          <p:cNvSpPr txBox="1"/>
          <p:nvPr/>
        </p:nvSpPr>
        <p:spPr>
          <a:xfrm>
            <a:off x="3071802" y="1467137"/>
            <a:ext cx="2500330" cy="461665"/>
          </a:xfrm>
          <a:prstGeom prst="rect">
            <a:avLst/>
          </a:prstGeom>
          <a:noFill/>
        </p:spPr>
        <p:txBody>
          <a:bodyPr wrap="square" rtlCol="0">
            <a:spAutoFit/>
          </a:bodyPr>
          <a:lstStyle/>
          <a:p>
            <a:pPr algn="ctr"/>
            <a:r>
              <a:rPr lang="fi-FI" sz="2400" b="1" dirty="0" smtClean="0">
                <a:solidFill>
                  <a:schemeClr val="accent4"/>
                </a:solidFill>
              </a:rPr>
              <a:t>Parempi laatu</a:t>
            </a:r>
            <a:endParaRPr lang="fi-FI" sz="2400" b="1" dirty="0">
              <a:solidFill>
                <a:schemeClr val="accent4"/>
              </a:solidFill>
            </a:endParaRPr>
          </a:p>
        </p:txBody>
      </p:sp>
      <p:sp>
        <p:nvSpPr>
          <p:cNvPr id="6" name="TextBox 5"/>
          <p:cNvSpPr txBox="1"/>
          <p:nvPr/>
        </p:nvSpPr>
        <p:spPr>
          <a:xfrm>
            <a:off x="0" y="3857628"/>
            <a:ext cx="2500330" cy="461665"/>
          </a:xfrm>
          <a:prstGeom prst="rect">
            <a:avLst/>
          </a:prstGeom>
          <a:noFill/>
        </p:spPr>
        <p:txBody>
          <a:bodyPr wrap="square" rtlCol="0">
            <a:spAutoFit/>
          </a:bodyPr>
          <a:lstStyle/>
          <a:p>
            <a:pPr algn="ctr"/>
            <a:r>
              <a:rPr lang="fi-FI" sz="2400" dirty="0" smtClean="0">
                <a:solidFill>
                  <a:schemeClr val="accent2"/>
                </a:solidFill>
              </a:rPr>
              <a:t>Pysähdy-ja-korjaa</a:t>
            </a:r>
            <a:endParaRPr lang="fi-FI" sz="2400" dirty="0">
              <a:solidFill>
                <a:schemeClr val="accent2"/>
              </a:solidFill>
            </a:endParaRPr>
          </a:p>
        </p:txBody>
      </p:sp>
      <p:sp>
        <p:nvSpPr>
          <p:cNvPr id="7" name="TextBox 6"/>
          <p:cNvSpPr txBox="1"/>
          <p:nvPr/>
        </p:nvSpPr>
        <p:spPr>
          <a:xfrm>
            <a:off x="571472" y="4500570"/>
            <a:ext cx="2500330" cy="830997"/>
          </a:xfrm>
          <a:prstGeom prst="rect">
            <a:avLst/>
          </a:prstGeom>
          <a:noFill/>
        </p:spPr>
        <p:txBody>
          <a:bodyPr wrap="square" rtlCol="0">
            <a:spAutoFit/>
          </a:bodyPr>
          <a:lstStyle/>
          <a:p>
            <a:pPr algn="ctr"/>
            <a:r>
              <a:rPr lang="fi-FI" sz="2400" dirty="0" smtClean="0">
                <a:solidFill>
                  <a:schemeClr val="accent2"/>
                </a:solidFill>
              </a:rPr>
              <a:t>Tekninen erinomaisuus</a:t>
            </a:r>
            <a:endParaRPr lang="fi-FI" sz="2400" dirty="0">
              <a:solidFill>
                <a:schemeClr val="accent2"/>
              </a:solidFill>
            </a:endParaRPr>
          </a:p>
        </p:txBody>
      </p:sp>
      <p:sp>
        <p:nvSpPr>
          <p:cNvPr id="8" name="TextBox 7"/>
          <p:cNvSpPr txBox="1"/>
          <p:nvPr/>
        </p:nvSpPr>
        <p:spPr>
          <a:xfrm>
            <a:off x="6715140" y="3500438"/>
            <a:ext cx="2500330" cy="830997"/>
          </a:xfrm>
          <a:prstGeom prst="rect">
            <a:avLst/>
          </a:prstGeom>
          <a:noFill/>
        </p:spPr>
        <p:txBody>
          <a:bodyPr wrap="square" rtlCol="0">
            <a:spAutoFit/>
          </a:bodyPr>
          <a:lstStyle/>
          <a:p>
            <a:pPr algn="ctr"/>
            <a:r>
              <a:rPr lang="fi-FI" sz="2400" dirty="0" smtClean="0">
                <a:solidFill>
                  <a:schemeClr val="accent3"/>
                </a:solidFill>
              </a:rPr>
              <a:t>Laatuvelan kerääminen</a:t>
            </a:r>
            <a:endParaRPr lang="fi-FI" sz="2400" dirty="0">
              <a:solidFill>
                <a:schemeClr val="accent3"/>
              </a:solidFill>
            </a:endParaRPr>
          </a:p>
        </p:txBody>
      </p:sp>
      <p:sp>
        <p:nvSpPr>
          <p:cNvPr id="9" name="TextBox 8"/>
          <p:cNvSpPr txBox="1"/>
          <p:nvPr/>
        </p:nvSpPr>
        <p:spPr>
          <a:xfrm>
            <a:off x="214282" y="5500702"/>
            <a:ext cx="1857388" cy="830997"/>
          </a:xfrm>
          <a:prstGeom prst="rect">
            <a:avLst/>
          </a:prstGeom>
          <a:noFill/>
        </p:spPr>
        <p:txBody>
          <a:bodyPr wrap="square" rtlCol="0">
            <a:spAutoFit/>
          </a:bodyPr>
          <a:lstStyle/>
          <a:p>
            <a:pPr algn="ctr"/>
            <a:r>
              <a:rPr lang="fi-FI" sz="2400" dirty="0" smtClean="0">
                <a:solidFill>
                  <a:schemeClr val="accent2"/>
                </a:solidFill>
              </a:rPr>
              <a:t>Valmiin määritelmä</a:t>
            </a:r>
            <a:endParaRPr lang="fi-FI" sz="2400" dirty="0">
              <a:solidFill>
                <a:schemeClr val="accent2"/>
              </a:solidFill>
            </a:endParaRPr>
          </a:p>
        </p:txBody>
      </p:sp>
      <p:sp>
        <p:nvSpPr>
          <p:cNvPr id="10" name="TextBox 9"/>
          <p:cNvSpPr txBox="1"/>
          <p:nvPr/>
        </p:nvSpPr>
        <p:spPr>
          <a:xfrm>
            <a:off x="785786" y="2643182"/>
            <a:ext cx="2500330" cy="830997"/>
          </a:xfrm>
          <a:prstGeom prst="rect">
            <a:avLst/>
          </a:prstGeom>
          <a:noFill/>
        </p:spPr>
        <p:txBody>
          <a:bodyPr wrap="square" rtlCol="0">
            <a:spAutoFit/>
          </a:bodyPr>
          <a:lstStyle/>
          <a:p>
            <a:pPr algn="ctr"/>
            <a:r>
              <a:rPr lang="fi-FI" sz="2400" b="1" dirty="0" smtClean="0">
                <a:solidFill>
                  <a:schemeClr val="accent2"/>
                </a:solidFill>
              </a:rPr>
              <a:t>Onnistumisen tekijöitä</a:t>
            </a:r>
            <a:endParaRPr lang="fi-FI" sz="2400" b="1" dirty="0">
              <a:solidFill>
                <a:schemeClr val="accent2"/>
              </a:solidFill>
            </a:endParaRPr>
          </a:p>
        </p:txBody>
      </p:sp>
      <p:sp>
        <p:nvSpPr>
          <p:cNvPr id="11" name="TextBox 10"/>
          <p:cNvSpPr txBox="1"/>
          <p:nvPr/>
        </p:nvSpPr>
        <p:spPr>
          <a:xfrm>
            <a:off x="5357818" y="2643182"/>
            <a:ext cx="2500330" cy="830997"/>
          </a:xfrm>
          <a:prstGeom prst="rect">
            <a:avLst/>
          </a:prstGeom>
          <a:noFill/>
        </p:spPr>
        <p:txBody>
          <a:bodyPr wrap="square" rtlCol="0">
            <a:spAutoFit/>
          </a:bodyPr>
          <a:lstStyle/>
          <a:p>
            <a:pPr algn="ctr"/>
            <a:r>
              <a:rPr lang="fi-FI" sz="2400" b="1" dirty="0" smtClean="0">
                <a:solidFill>
                  <a:schemeClr val="accent3"/>
                </a:solidFill>
              </a:rPr>
              <a:t>Epäonnistumisen tekijöitä</a:t>
            </a:r>
            <a:endParaRPr lang="fi-FI" sz="2400" b="1" dirty="0">
              <a:solidFill>
                <a:schemeClr val="accent3"/>
              </a:solidFill>
            </a:endParaRPr>
          </a:p>
        </p:txBody>
      </p:sp>
      <p:cxnSp>
        <p:nvCxnSpPr>
          <p:cNvPr id="13" name="Straight Arrow Connector 12"/>
          <p:cNvCxnSpPr>
            <a:stCxn id="5" idx="2"/>
            <a:endCxn id="10" idx="0"/>
          </p:cNvCxnSpPr>
          <p:nvPr/>
        </p:nvCxnSpPr>
        <p:spPr>
          <a:xfrm rot="5400000">
            <a:off x="2821769" y="1142984"/>
            <a:ext cx="714380" cy="2286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2"/>
            <a:endCxn id="11" idx="0"/>
          </p:cNvCxnSpPr>
          <p:nvPr/>
        </p:nvCxnSpPr>
        <p:spPr>
          <a:xfrm rot="16200000" flipH="1">
            <a:off x="5107785" y="1142984"/>
            <a:ext cx="714380" cy="2286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285984" y="3714752"/>
            <a:ext cx="2500330" cy="830997"/>
          </a:xfrm>
          <a:prstGeom prst="rect">
            <a:avLst/>
          </a:prstGeom>
          <a:noFill/>
        </p:spPr>
        <p:txBody>
          <a:bodyPr wrap="square" rtlCol="0">
            <a:spAutoFit/>
          </a:bodyPr>
          <a:lstStyle/>
          <a:p>
            <a:pPr algn="ctr"/>
            <a:r>
              <a:rPr lang="fi-FI" sz="2400" dirty="0" smtClean="0">
                <a:solidFill>
                  <a:schemeClr val="accent2"/>
                </a:solidFill>
              </a:rPr>
              <a:t>Laatuvelan ymmärrys</a:t>
            </a:r>
            <a:endParaRPr lang="fi-FI" sz="2400" dirty="0">
              <a:solidFill>
                <a:schemeClr val="accent2"/>
              </a:solidFill>
            </a:endParaRPr>
          </a:p>
        </p:txBody>
      </p:sp>
      <p:sp>
        <p:nvSpPr>
          <p:cNvPr id="19" name="TextBox 18"/>
          <p:cNvSpPr txBox="1"/>
          <p:nvPr/>
        </p:nvSpPr>
        <p:spPr>
          <a:xfrm>
            <a:off x="4572000" y="3500438"/>
            <a:ext cx="2000264" cy="830997"/>
          </a:xfrm>
          <a:prstGeom prst="rect">
            <a:avLst/>
          </a:prstGeom>
          <a:noFill/>
        </p:spPr>
        <p:txBody>
          <a:bodyPr wrap="square" rtlCol="0">
            <a:spAutoFit/>
          </a:bodyPr>
          <a:lstStyle/>
          <a:p>
            <a:pPr algn="ctr"/>
            <a:r>
              <a:rPr lang="fi-FI" sz="2400" dirty="0" smtClean="0">
                <a:solidFill>
                  <a:schemeClr val="accent3"/>
                </a:solidFill>
              </a:rPr>
              <a:t>Siiloutuneet scrumtiimit</a:t>
            </a:r>
            <a:endParaRPr lang="fi-FI" sz="2400" dirty="0">
              <a:solidFill>
                <a:schemeClr val="accent3"/>
              </a:solidFill>
            </a:endParaRPr>
          </a:p>
        </p:txBody>
      </p:sp>
      <p:sp>
        <p:nvSpPr>
          <p:cNvPr id="20" name="TextBox 19"/>
          <p:cNvSpPr txBox="1"/>
          <p:nvPr/>
        </p:nvSpPr>
        <p:spPr>
          <a:xfrm>
            <a:off x="6643670" y="5214950"/>
            <a:ext cx="2500330" cy="1569660"/>
          </a:xfrm>
          <a:prstGeom prst="rect">
            <a:avLst/>
          </a:prstGeom>
          <a:noFill/>
        </p:spPr>
        <p:txBody>
          <a:bodyPr wrap="square" rtlCol="0">
            <a:spAutoFit/>
          </a:bodyPr>
          <a:lstStyle/>
          <a:p>
            <a:pPr algn="ctr"/>
            <a:r>
              <a:rPr lang="fi-FI" sz="2400" dirty="0" smtClean="0">
                <a:solidFill>
                  <a:schemeClr val="accent3"/>
                </a:solidFill>
              </a:rPr>
              <a:t>Scrumtiimi ilman keskeisiä palautetaitoja (testaus)</a:t>
            </a:r>
            <a:endParaRPr lang="fi-FI" sz="2400" dirty="0">
              <a:solidFill>
                <a:schemeClr val="accent3"/>
              </a:solidFill>
            </a:endParaRPr>
          </a:p>
        </p:txBody>
      </p:sp>
      <p:sp>
        <p:nvSpPr>
          <p:cNvPr id="21" name="TextBox 20"/>
          <p:cNvSpPr txBox="1"/>
          <p:nvPr/>
        </p:nvSpPr>
        <p:spPr>
          <a:xfrm>
            <a:off x="4953000" y="4357694"/>
            <a:ext cx="3571868" cy="830997"/>
          </a:xfrm>
          <a:prstGeom prst="rect">
            <a:avLst/>
          </a:prstGeom>
          <a:noFill/>
        </p:spPr>
        <p:txBody>
          <a:bodyPr wrap="square" rtlCol="0">
            <a:spAutoFit/>
          </a:bodyPr>
          <a:lstStyle/>
          <a:p>
            <a:pPr algn="ctr"/>
            <a:r>
              <a:rPr lang="fi-FI" sz="2400" dirty="0" smtClean="0">
                <a:solidFill>
                  <a:schemeClr val="accent3"/>
                </a:solidFill>
              </a:rPr>
              <a:t>Myöhästetyn palautteen hyväksyminen</a:t>
            </a:r>
            <a:endParaRPr lang="fi-FI" sz="2400" dirty="0">
              <a:solidFill>
                <a:schemeClr val="accent3"/>
              </a:solidFill>
            </a:endParaRPr>
          </a:p>
        </p:txBody>
      </p:sp>
      <p:sp>
        <p:nvSpPr>
          <p:cNvPr id="22" name="TextBox 21"/>
          <p:cNvSpPr txBox="1"/>
          <p:nvPr/>
        </p:nvSpPr>
        <p:spPr>
          <a:xfrm>
            <a:off x="2714612" y="4643446"/>
            <a:ext cx="1857388" cy="830997"/>
          </a:xfrm>
          <a:prstGeom prst="rect">
            <a:avLst/>
          </a:prstGeom>
          <a:noFill/>
        </p:spPr>
        <p:txBody>
          <a:bodyPr wrap="square" rtlCol="0">
            <a:spAutoFit/>
          </a:bodyPr>
          <a:lstStyle/>
          <a:p>
            <a:pPr algn="ctr"/>
            <a:r>
              <a:rPr lang="fi-FI" sz="2400" dirty="0" smtClean="0">
                <a:solidFill>
                  <a:schemeClr val="accent2"/>
                </a:solidFill>
              </a:rPr>
              <a:t>Tiimin laatuvastuu</a:t>
            </a:r>
            <a:endParaRPr lang="fi-FI" sz="2400" dirty="0">
              <a:solidFill>
                <a:schemeClr val="accent2"/>
              </a:solidFill>
            </a:endParaRPr>
          </a:p>
        </p:txBody>
      </p:sp>
      <p:sp>
        <p:nvSpPr>
          <p:cNvPr id="23" name="TextBox 22"/>
          <p:cNvSpPr txBox="1"/>
          <p:nvPr/>
        </p:nvSpPr>
        <p:spPr>
          <a:xfrm>
            <a:off x="1943080" y="5562600"/>
            <a:ext cx="2857520" cy="1200329"/>
          </a:xfrm>
          <a:prstGeom prst="rect">
            <a:avLst/>
          </a:prstGeom>
          <a:noFill/>
        </p:spPr>
        <p:txBody>
          <a:bodyPr wrap="square" rtlCol="0">
            <a:spAutoFit/>
          </a:bodyPr>
          <a:lstStyle/>
          <a:p>
            <a:pPr algn="ctr"/>
            <a:r>
              <a:rPr lang="fi-FI" sz="2400" dirty="0" smtClean="0">
                <a:solidFill>
                  <a:schemeClr val="accent2"/>
                </a:solidFill>
              </a:rPr>
              <a:t>Monenlaisia palautemekanismeja (testaus)</a:t>
            </a:r>
            <a:endParaRPr lang="fi-FI" sz="2400" dirty="0">
              <a:solidFill>
                <a:schemeClr val="accent2"/>
              </a:solidFill>
            </a:endParaRPr>
          </a:p>
        </p:txBody>
      </p:sp>
      <p:sp>
        <p:nvSpPr>
          <p:cNvPr id="24" name="TextBox 23"/>
          <p:cNvSpPr txBox="1"/>
          <p:nvPr/>
        </p:nvSpPr>
        <p:spPr>
          <a:xfrm>
            <a:off x="6215074" y="928670"/>
            <a:ext cx="2776526" cy="1200329"/>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marL="342900" indent="-342900">
              <a:buAutoNum type="arabicPeriod"/>
            </a:pPr>
            <a:r>
              <a:rPr lang="fi-FI" dirty="0" smtClean="0"/>
              <a:t>RAKENNA = TAHTO JA TAIDOT TEKEMISEEN</a:t>
            </a:r>
          </a:p>
          <a:p>
            <a:pPr marL="342900" indent="-342900">
              <a:buAutoNum type="arabicPeriod"/>
            </a:pPr>
            <a:r>
              <a:rPr lang="fi-FI" dirty="0" smtClean="0"/>
              <a:t>TIEDÄ = TESTAA</a:t>
            </a:r>
          </a:p>
          <a:p>
            <a:pPr marL="342900" indent="-342900">
              <a:buAutoNum type="arabicPeriod"/>
            </a:pPr>
            <a:r>
              <a:rPr lang="fi-FI" dirty="0" smtClean="0"/>
              <a:t>REAGOI = KORJAA</a:t>
            </a:r>
            <a:endParaRPr lang="fi-FI" dirty="0"/>
          </a:p>
        </p:txBody>
      </p:sp>
      <p:sp>
        <p:nvSpPr>
          <p:cNvPr id="25" name="TextBox 24"/>
          <p:cNvSpPr txBox="1"/>
          <p:nvPr/>
        </p:nvSpPr>
        <p:spPr>
          <a:xfrm>
            <a:off x="4495800" y="5429071"/>
            <a:ext cx="2500330" cy="1200329"/>
          </a:xfrm>
          <a:prstGeom prst="rect">
            <a:avLst/>
          </a:prstGeom>
          <a:noFill/>
        </p:spPr>
        <p:txBody>
          <a:bodyPr wrap="square" rtlCol="0">
            <a:spAutoFit/>
          </a:bodyPr>
          <a:lstStyle/>
          <a:p>
            <a:pPr algn="ctr"/>
            <a:r>
              <a:rPr lang="fi-FI" sz="2400" dirty="0" smtClean="0">
                <a:solidFill>
                  <a:schemeClr val="accent3"/>
                </a:solidFill>
              </a:rPr>
              <a:t>Rajoittamaton, hallitsematon muutos</a:t>
            </a:r>
            <a:endParaRPr lang="fi-FI" sz="2400" dirty="0">
              <a:solidFill>
                <a:schemeClr val="accent3"/>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Viivästynyt palaute ja seuraukset</a:t>
            </a:r>
            <a:endParaRPr lang="fi-FI" dirty="0"/>
          </a:p>
        </p:txBody>
      </p:sp>
      <p:sp>
        <p:nvSpPr>
          <p:cNvPr id="5" name="TextBox 4"/>
          <p:cNvSpPr txBox="1"/>
          <p:nvPr/>
        </p:nvSpPr>
        <p:spPr>
          <a:xfrm>
            <a:off x="3886200" y="2057400"/>
            <a:ext cx="1371600" cy="1569660"/>
          </a:xfrm>
          <a:prstGeom prst="rect">
            <a:avLst/>
          </a:prstGeom>
          <a:noFill/>
        </p:spPr>
        <p:txBody>
          <a:bodyPr wrap="square" rtlCol="0">
            <a:spAutoFit/>
          </a:bodyPr>
          <a:lstStyle/>
          <a:p>
            <a:pPr algn="ctr"/>
            <a:r>
              <a:rPr lang="fi-FI" sz="9600" b="1" dirty="0" smtClean="0"/>
              <a:t>?</a:t>
            </a:r>
            <a:endParaRPr lang="fi-FI" sz="9600" b="1" dirty="0"/>
          </a:p>
        </p:txBody>
      </p:sp>
      <p:sp>
        <p:nvSpPr>
          <p:cNvPr id="6" name="Right Arrow 5"/>
          <p:cNvSpPr/>
          <p:nvPr/>
        </p:nvSpPr>
        <p:spPr>
          <a:xfrm>
            <a:off x="4953000" y="2590800"/>
            <a:ext cx="685800" cy="4572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7" name="Right Arrow 6"/>
          <p:cNvSpPr/>
          <p:nvPr/>
        </p:nvSpPr>
        <p:spPr>
          <a:xfrm rot="10800000">
            <a:off x="3517380" y="2590800"/>
            <a:ext cx="685800" cy="4572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8" name="Rounded Rectangle 7"/>
          <p:cNvSpPr/>
          <p:nvPr/>
        </p:nvSpPr>
        <p:spPr>
          <a:xfrm>
            <a:off x="6248400" y="1981200"/>
            <a:ext cx="2362200" cy="3810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i-FI" dirty="0" smtClean="0"/>
              <a:t> 	</a:t>
            </a:r>
            <a:endParaRPr lang="fi-FI" dirty="0"/>
          </a:p>
        </p:txBody>
      </p:sp>
      <p:sp>
        <p:nvSpPr>
          <p:cNvPr id="9" name="TextBox 8"/>
          <p:cNvSpPr txBox="1"/>
          <p:nvPr/>
        </p:nvSpPr>
        <p:spPr>
          <a:xfrm>
            <a:off x="6400800" y="1600200"/>
            <a:ext cx="2057400" cy="830997"/>
          </a:xfrm>
          <a:prstGeom prst="rect">
            <a:avLst/>
          </a:prstGeom>
          <a:solidFill>
            <a:schemeClr val="bg1"/>
          </a:solidFill>
        </p:spPr>
        <p:txBody>
          <a:bodyPr wrap="square" rtlCol="0">
            <a:spAutoFit/>
          </a:bodyPr>
          <a:lstStyle/>
          <a:p>
            <a:pPr algn="ctr"/>
            <a:r>
              <a:rPr lang="fi-FI" sz="2400" b="1" dirty="0" smtClean="0"/>
              <a:t>TUOTTEEN TEHTÄVÄLISTA</a:t>
            </a:r>
            <a:endParaRPr lang="fi-FI" sz="2400" b="1" dirty="0"/>
          </a:p>
        </p:txBody>
      </p:sp>
      <p:sp>
        <p:nvSpPr>
          <p:cNvPr id="10" name="Cloud 9"/>
          <p:cNvSpPr/>
          <p:nvPr/>
        </p:nvSpPr>
        <p:spPr>
          <a:xfrm>
            <a:off x="6629400" y="48006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1" name="Cloud 10"/>
          <p:cNvSpPr/>
          <p:nvPr/>
        </p:nvSpPr>
        <p:spPr>
          <a:xfrm>
            <a:off x="6629400" y="43434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2" name="Cloud 11"/>
          <p:cNvSpPr/>
          <p:nvPr/>
        </p:nvSpPr>
        <p:spPr>
          <a:xfrm>
            <a:off x="6629400" y="38862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3" name="Cloud 12"/>
          <p:cNvSpPr/>
          <p:nvPr/>
        </p:nvSpPr>
        <p:spPr>
          <a:xfrm>
            <a:off x="6629400" y="34290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4" name="Cloud 13"/>
          <p:cNvSpPr/>
          <p:nvPr/>
        </p:nvSpPr>
        <p:spPr>
          <a:xfrm>
            <a:off x="6629400" y="29718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5" name="Cloud 14"/>
          <p:cNvSpPr/>
          <p:nvPr/>
        </p:nvSpPr>
        <p:spPr>
          <a:xfrm>
            <a:off x="6629400" y="2514600"/>
            <a:ext cx="1752600" cy="83820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dirty="0" smtClean="0"/>
              <a:t>Tarina</a:t>
            </a:r>
            <a:endParaRPr lang="fi-FI" dirty="0"/>
          </a:p>
        </p:txBody>
      </p:sp>
      <p:sp>
        <p:nvSpPr>
          <p:cNvPr id="16" name="Rounded Rectangle 15"/>
          <p:cNvSpPr/>
          <p:nvPr/>
        </p:nvSpPr>
        <p:spPr>
          <a:xfrm>
            <a:off x="609600" y="1905000"/>
            <a:ext cx="2362200" cy="38100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dirty="0" smtClean="0"/>
              <a:t> 	</a:t>
            </a:r>
            <a:endParaRPr lang="fi-FI" dirty="0"/>
          </a:p>
        </p:txBody>
      </p:sp>
      <p:sp>
        <p:nvSpPr>
          <p:cNvPr id="17" name="TextBox 16"/>
          <p:cNvSpPr txBox="1"/>
          <p:nvPr/>
        </p:nvSpPr>
        <p:spPr>
          <a:xfrm>
            <a:off x="838200" y="1524000"/>
            <a:ext cx="1905000" cy="461665"/>
          </a:xfrm>
          <a:prstGeom prst="rect">
            <a:avLst/>
          </a:prstGeom>
          <a:solidFill>
            <a:schemeClr val="bg1"/>
          </a:solidFill>
        </p:spPr>
        <p:txBody>
          <a:bodyPr wrap="square" rtlCol="0">
            <a:spAutoFit/>
          </a:bodyPr>
          <a:lstStyle/>
          <a:p>
            <a:pPr algn="ctr"/>
            <a:r>
              <a:rPr lang="fi-FI" sz="2400" b="1" dirty="0" smtClean="0"/>
              <a:t>LAATUVELKA</a:t>
            </a:r>
            <a:endParaRPr lang="fi-FI" sz="2400" b="1" dirty="0"/>
          </a:p>
        </p:txBody>
      </p:sp>
      <p:cxnSp>
        <p:nvCxnSpPr>
          <p:cNvPr id="19" name="Straight Connector 18"/>
          <p:cNvCxnSpPr/>
          <p:nvPr/>
        </p:nvCxnSpPr>
        <p:spPr>
          <a:xfrm rot="5400000">
            <a:off x="304800" y="3962400"/>
            <a:ext cx="289560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16200000">
            <a:off x="-147934" y="3486834"/>
            <a:ext cx="2743202" cy="646331"/>
          </a:xfrm>
          <a:prstGeom prst="rect">
            <a:avLst/>
          </a:prstGeom>
          <a:noFill/>
        </p:spPr>
        <p:txBody>
          <a:bodyPr wrap="square" rtlCol="0">
            <a:spAutoFit/>
          </a:bodyPr>
          <a:lstStyle/>
          <a:p>
            <a:pPr algn="ctr"/>
            <a:r>
              <a:rPr lang="fi-FI" b="1" dirty="0" smtClean="0"/>
              <a:t>TUNNETTU</a:t>
            </a:r>
            <a:r>
              <a:rPr lang="fi-FI" dirty="0" smtClean="0"/>
              <a:t>: raportoidut, korjaamattomat ongelmat</a:t>
            </a:r>
          </a:p>
        </p:txBody>
      </p:sp>
      <p:sp>
        <p:nvSpPr>
          <p:cNvPr id="21" name="TextBox 20"/>
          <p:cNvSpPr txBox="1"/>
          <p:nvPr/>
        </p:nvSpPr>
        <p:spPr>
          <a:xfrm rot="16200000">
            <a:off x="972233" y="3563036"/>
            <a:ext cx="2743202" cy="646331"/>
          </a:xfrm>
          <a:prstGeom prst="rect">
            <a:avLst/>
          </a:prstGeom>
          <a:noFill/>
        </p:spPr>
        <p:txBody>
          <a:bodyPr wrap="square" rtlCol="0">
            <a:spAutoFit/>
          </a:bodyPr>
          <a:lstStyle/>
          <a:p>
            <a:pPr algn="ctr"/>
            <a:r>
              <a:rPr lang="fi-FI" b="1" dirty="0" smtClean="0"/>
              <a:t>TUNTEMATON</a:t>
            </a:r>
            <a:r>
              <a:rPr lang="fi-FI" dirty="0" smtClean="0"/>
              <a:t>: bugit joita ei vielä ole raportoitu</a:t>
            </a:r>
          </a:p>
        </p:txBody>
      </p:sp>
      <p:pic>
        <p:nvPicPr>
          <p:cNvPr id="1026" name="Picture 2" descr="C:\Documents and Settings\Maaret\My Documents\My Pictures\Microsoft Clip Organizer\j0287567.wmf"/>
          <p:cNvPicPr>
            <a:picLocks noChangeAspect="1" noChangeArrowheads="1"/>
          </p:cNvPicPr>
          <p:nvPr/>
        </p:nvPicPr>
        <p:blipFill>
          <a:blip r:embed="rId3" cstate="print"/>
          <a:srcRect/>
          <a:stretch>
            <a:fillRect/>
          </a:stretch>
        </p:blipFill>
        <p:spPr bwMode="auto">
          <a:xfrm>
            <a:off x="1295400" y="4800600"/>
            <a:ext cx="1049338" cy="849719"/>
          </a:xfrm>
          <a:prstGeom prst="rect">
            <a:avLst/>
          </a:prstGeom>
          <a:noFill/>
        </p:spPr>
      </p:pic>
      <p:sp>
        <p:nvSpPr>
          <p:cNvPr id="23" name="TextBox 22"/>
          <p:cNvSpPr txBox="1"/>
          <p:nvPr/>
        </p:nvSpPr>
        <p:spPr>
          <a:xfrm>
            <a:off x="3200400" y="3886200"/>
            <a:ext cx="2667000" cy="2308324"/>
          </a:xfrm>
          <a:prstGeom prst="rect">
            <a:avLst/>
          </a:prstGeom>
          <a:noFill/>
        </p:spPr>
        <p:txBody>
          <a:bodyPr wrap="square" rtlCol="0">
            <a:spAutoFit/>
          </a:bodyPr>
          <a:lstStyle/>
          <a:p>
            <a:pPr algn="ctr"/>
            <a:r>
              <a:rPr lang="fi-FI" sz="2400" b="1" dirty="0" smtClean="0"/>
              <a:t>Pysähdy-ja-korjaa</a:t>
            </a:r>
            <a:r>
              <a:rPr lang="fi-FI" sz="2400" dirty="0" smtClean="0"/>
              <a:t>: </a:t>
            </a:r>
            <a:br>
              <a:rPr lang="fi-FI" sz="2400" dirty="0" smtClean="0"/>
            </a:br>
            <a:r>
              <a:rPr lang="fi-FI" sz="2400" dirty="0" smtClean="0"/>
              <a:t>Hankkiudu eroon laatuvelasta. Tee ongelmista näkyviä (testaa) ja korjaa ne. </a:t>
            </a:r>
            <a:endParaRPr lang="fi-FI"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Ketterä testaus kun organisaatio on tarpeeksi iso</a:t>
            </a:r>
            <a:endParaRPr lang="fi-FI" dirty="0"/>
          </a:p>
        </p:txBody>
      </p:sp>
      <p:sp>
        <p:nvSpPr>
          <p:cNvPr id="5" name="Rectangle 4"/>
          <p:cNvSpPr/>
          <p:nvPr/>
        </p:nvSpPr>
        <p:spPr>
          <a:xfrm>
            <a:off x="11430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 name="Rectangle 5"/>
          <p:cNvSpPr/>
          <p:nvPr/>
        </p:nvSpPr>
        <p:spPr>
          <a:xfrm>
            <a:off x="22098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7" name="Rectangle 6"/>
          <p:cNvSpPr/>
          <p:nvPr/>
        </p:nvSpPr>
        <p:spPr>
          <a:xfrm>
            <a:off x="32766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8" name="Rectangle 7"/>
          <p:cNvSpPr/>
          <p:nvPr/>
        </p:nvSpPr>
        <p:spPr>
          <a:xfrm>
            <a:off x="43434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9" name="Rectangle 8"/>
          <p:cNvSpPr/>
          <p:nvPr/>
        </p:nvSpPr>
        <p:spPr>
          <a:xfrm>
            <a:off x="54102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0" name="Rectangle 9"/>
          <p:cNvSpPr/>
          <p:nvPr/>
        </p:nvSpPr>
        <p:spPr>
          <a:xfrm>
            <a:off x="64770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1" name="Rectangle 10"/>
          <p:cNvSpPr/>
          <p:nvPr/>
        </p:nvSpPr>
        <p:spPr>
          <a:xfrm>
            <a:off x="7543800" y="5410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2" name="Rectangle 11"/>
          <p:cNvSpPr/>
          <p:nvPr/>
        </p:nvSpPr>
        <p:spPr>
          <a:xfrm>
            <a:off x="11430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3" name="Rectangle 12"/>
          <p:cNvSpPr/>
          <p:nvPr/>
        </p:nvSpPr>
        <p:spPr>
          <a:xfrm>
            <a:off x="22098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4" name="Rectangle 13"/>
          <p:cNvSpPr/>
          <p:nvPr/>
        </p:nvSpPr>
        <p:spPr>
          <a:xfrm>
            <a:off x="32766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5" name="Rectangle 14"/>
          <p:cNvSpPr/>
          <p:nvPr/>
        </p:nvSpPr>
        <p:spPr>
          <a:xfrm>
            <a:off x="43434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6" name="Rectangle 15"/>
          <p:cNvSpPr/>
          <p:nvPr/>
        </p:nvSpPr>
        <p:spPr>
          <a:xfrm>
            <a:off x="54102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7" name="Rectangle 16"/>
          <p:cNvSpPr/>
          <p:nvPr/>
        </p:nvSpPr>
        <p:spPr>
          <a:xfrm>
            <a:off x="64770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8" name="Rectangle 17"/>
          <p:cNvSpPr/>
          <p:nvPr/>
        </p:nvSpPr>
        <p:spPr>
          <a:xfrm>
            <a:off x="7543800" y="4648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19" name="Rectangle 18"/>
          <p:cNvSpPr/>
          <p:nvPr/>
        </p:nvSpPr>
        <p:spPr>
          <a:xfrm>
            <a:off x="11430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0" name="Rectangle 19"/>
          <p:cNvSpPr/>
          <p:nvPr/>
        </p:nvSpPr>
        <p:spPr>
          <a:xfrm>
            <a:off x="22098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1" name="Rectangle 20"/>
          <p:cNvSpPr/>
          <p:nvPr/>
        </p:nvSpPr>
        <p:spPr>
          <a:xfrm>
            <a:off x="32766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2" name="Rectangle 21"/>
          <p:cNvSpPr/>
          <p:nvPr/>
        </p:nvSpPr>
        <p:spPr>
          <a:xfrm>
            <a:off x="43434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3" name="Rectangle 22"/>
          <p:cNvSpPr/>
          <p:nvPr/>
        </p:nvSpPr>
        <p:spPr>
          <a:xfrm>
            <a:off x="54102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4" name="Rectangle 23"/>
          <p:cNvSpPr/>
          <p:nvPr/>
        </p:nvSpPr>
        <p:spPr>
          <a:xfrm>
            <a:off x="64770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5" name="Rectangle 24"/>
          <p:cNvSpPr/>
          <p:nvPr/>
        </p:nvSpPr>
        <p:spPr>
          <a:xfrm>
            <a:off x="7543800" y="38862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6" name="Rectangle 25"/>
          <p:cNvSpPr/>
          <p:nvPr/>
        </p:nvSpPr>
        <p:spPr>
          <a:xfrm>
            <a:off x="9906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7" name="Rectangle 26"/>
          <p:cNvSpPr/>
          <p:nvPr/>
        </p:nvSpPr>
        <p:spPr>
          <a:xfrm>
            <a:off x="20574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8" name="Rectangle 27"/>
          <p:cNvSpPr/>
          <p:nvPr/>
        </p:nvSpPr>
        <p:spPr>
          <a:xfrm>
            <a:off x="31242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29" name="Rectangle 28"/>
          <p:cNvSpPr/>
          <p:nvPr/>
        </p:nvSpPr>
        <p:spPr>
          <a:xfrm>
            <a:off x="41910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0" name="Rectangle 29"/>
          <p:cNvSpPr/>
          <p:nvPr/>
        </p:nvSpPr>
        <p:spPr>
          <a:xfrm>
            <a:off x="52578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1" name="Rectangle 30"/>
          <p:cNvSpPr/>
          <p:nvPr/>
        </p:nvSpPr>
        <p:spPr>
          <a:xfrm>
            <a:off x="63246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2" name="Rectangle 31"/>
          <p:cNvSpPr/>
          <p:nvPr/>
        </p:nvSpPr>
        <p:spPr>
          <a:xfrm>
            <a:off x="7391400" y="5562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3" name="Rectangle 32"/>
          <p:cNvSpPr/>
          <p:nvPr/>
        </p:nvSpPr>
        <p:spPr>
          <a:xfrm>
            <a:off x="9906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4" name="Rectangle 33"/>
          <p:cNvSpPr/>
          <p:nvPr/>
        </p:nvSpPr>
        <p:spPr>
          <a:xfrm>
            <a:off x="20574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5" name="Rectangle 34"/>
          <p:cNvSpPr/>
          <p:nvPr/>
        </p:nvSpPr>
        <p:spPr>
          <a:xfrm>
            <a:off x="31242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6" name="Rectangle 35"/>
          <p:cNvSpPr/>
          <p:nvPr/>
        </p:nvSpPr>
        <p:spPr>
          <a:xfrm>
            <a:off x="41910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7" name="Rectangle 36"/>
          <p:cNvSpPr/>
          <p:nvPr/>
        </p:nvSpPr>
        <p:spPr>
          <a:xfrm>
            <a:off x="52578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8" name="Rectangle 37"/>
          <p:cNvSpPr/>
          <p:nvPr/>
        </p:nvSpPr>
        <p:spPr>
          <a:xfrm>
            <a:off x="63246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39" name="Rectangle 38"/>
          <p:cNvSpPr/>
          <p:nvPr/>
        </p:nvSpPr>
        <p:spPr>
          <a:xfrm>
            <a:off x="7391400" y="4800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0" name="Rectangle 39"/>
          <p:cNvSpPr/>
          <p:nvPr/>
        </p:nvSpPr>
        <p:spPr>
          <a:xfrm>
            <a:off x="9906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1" name="Rectangle 40"/>
          <p:cNvSpPr/>
          <p:nvPr/>
        </p:nvSpPr>
        <p:spPr>
          <a:xfrm>
            <a:off x="20574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2" name="Rectangle 41"/>
          <p:cNvSpPr/>
          <p:nvPr/>
        </p:nvSpPr>
        <p:spPr>
          <a:xfrm>
            <a:off x="31242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3" name="Rectangle 42"/>
          <p:cNvSpPr/>
          <p:nvPr/>
        </p:nvSpPr>
        <p:spPr>
          <a:xfrm>
            <a:off x="41910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4" name="Rectangle 43"/>
          <p:cNvSpPr/>
          <p:nvPr/>
        </p:nvSpPr>
        <p:spPr>
          <a:xfrm>
            <a:off x="52578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5" name="Rectangle 44"/>
          <p:cNvSpPr/>
          <p:nvPr/>
        </p:nvSpPr>
        <p:spPr>
          <a:xfrm>
            <a:off x="63246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6" name="Rectangle 45"/>
          <p:cNvSpPr/>
          <p:nvPr/>
        </p:nvSpPr>
        <p:spPr>
          <a:xfrm>
            <a:off x="7391400" y="40386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7" name="Rectangle 46"/>
          <p:cNvSpPr/>
          <p:nvPr/>
        </p:nvSpPr>
        <p:spPr>
          <a:xfrm>
            <a:off x="8382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8" name="Rectangle 47"/>
          <p:cNvSpPr/>
          <p:nvPr/>
        </p:nvSpPr>
        <p:spPr>
          <a:xfrm>
            <a:off x="19050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49" name="Rectangle 48"/>
          <p:cNvSpPr/>
          <p:nvPr/>
        </p:nvSpPr>
        <p:spPr>
          <a:xfrm>
            <a:off x="29718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0" name="Rectangle 49"/>
          <p:cNvSpPr/>
          <p:nvPr/>
        </p:nvSpPr>
        <p:spPr>
          <a:xfrm>
            <a:off x="40386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1" name="Rectangle 50"/>
          <p:cNvSpPr/>
          <p:nvPr/>
        </p:nvSpPr>
        <p:spPr>
          <a:xfrm>
            <a:off x="51054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2" name="Rectangle 51"/>
          <p:cNvSpPr/>
          <p:nvPr/>
        </p:nvSpPr>
        <p:spPr>
          <a:xfrm>
            <a:off x="61722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3" name="Rectangle 52"/>
          <p:cNvSpPr/>
          <p:nvPr/>
        </p:nvSpPr>
        <p:spPr>
          <a:xfrm>
            <a:off x="7239000" y="5715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4" name="Rectangle 53"/>
          <p:cNvSpPr/>
          <p:nvPr/>
        </p:nvSpPr>
        <p:spPr>
          <a:xfrm>
            <a:off x="8382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5" name="Rectangle 54"/>
          <p:cNvSpPr/>
          <p:nvPr/>
        </p:nvSpPr>
        <p:spPr>
          <a:xfrm>
            <a:off x="19050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6" name="Rectangle 55"/>
          <p:cNvSpPr/>
          <p:nvPr/>
        </p:nvSpPr>
        <p:spPr>
          <a:xfrm>
            <a:off x="29718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7" name="Rectangle 56"/>
          <p:cNvSpPr/>
          <p:nvPr/>
        </p:nvSpPr>
        <p:spPr>
          <a:xfrm>
            <a:off x="40386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8" name="Rectangle 57"/>
          <p:cNvSpPr/>
          <p:nvPr/>
        </p:nvSpPr>
        <p:spPr>
          <a:xfrm>
            <a:off x="51054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59" name="Rectangle 58"/>
          <p:cNvSpPr/>
          <p:nvPr/>
        </p:nvSpPr>
        <p:spPr>
          <a:xfrm>
            <a:off x="61722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0" name="Rectangle 59"/>
          <p:cNvSpPr/>
          <p:nvPr/>
        </p:nvSpPr>
        <p:spPr>
          <a:xfrm>
            <a:off x="7239000" y="4953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1" name="Rectangle 60"/>
          <p:cNvSpPr/>
          <p:nvPr/>
        </p:nvSpPr>
        <p:spPr>
          <a:xfrm>
            <a:off x="8382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2" name="Rectangle 61"/>
          <p:cNvSpPr/>
          <p:nvPr/>
        </p:nvSpPr>
        <p:spPr>
          <a:xfrm>
            <a:off x="19050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3" name="Rectangle 62"/>
          <p:cNvSpPr/>
          <p:nvPr/>
        </p:nvSpPr>
        <p:spPr>
          <a:xfrm>
            <a:off x="29718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4" name="Rectangle 63"/>
          <p:cNvSpPr/>
          <p:nvPr/>
        </p:nvSpPr>
        <p:spPr>
          <a:xfrm>
            <a:off x="40386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5" name="Rectangle 64"/>
          <p:cNvSpPr/>
          <p:nvPr/>
        </p:nvSpPr>
        <p:spPr>
          <a:xfrm>
            <a:off x="51054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6" name="Rectangle 65"/>
          <p:cNvSpPr/>
          <p:nvPr/>
        </p:nvSpPr>
        <p:spPr>
          <a:xfrm>
            <a:off x="61722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7" name="Rectangle 66"/>
          <p:cNvSpPr/>
          <p:nvPr/>
        </p:nvSpPr>
        <p:spPr>
          <a:xfrm>
            <a:off x="7239000" y="41910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team</a:t>
            </a:r>
            <a:endParaRPr lang="fi-FI" dirty="0"/>
          </a:p>
        </p:txBody>
      </p:sp>
      <p:sp>
        <p:nvSpPr>
          <p:cNvPr id="68" name="Rectangle 67"/>
          <p:cNvSpPr/>
          <p:nvPr/>
        </p:nvSpPr>
        <p:spPr>
          <a:xfrm>
            <a:off x="6858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69" name="Rectangle 68"/>
          <p:cNvSpPr/>
          <p:nvPr/>
        </p:nvSpPr>
        <p:spPr>
          <a:xfrm>
            <a:off x="17526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0" name="Rectangle 69"/>
          <p:cNvSpPr/>
          <p:nvPr/>
        </p:nvSpPr>
        <p:spPr>
          <a:xfrm>
            <a:off x="28194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1" name="Rectangle 70"/>
          <p:cNvSpPr/>
          <p:nvPr/>
        </p:nvSpPr>
        <p:spPr>
          <a:xfrm>
            <a:off x="38862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2" name="Rectangle 71"/>
          <p:cNvSpPr/>
          <p:nvPr/>
        </p:nvSpPr>
        <p:spPr>
          <a:xfrm>
            <a:off x="49530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3" name="Rectangle 72"/>
          <p:cNvSpPr/>
          <p:nvPr/>
        </p:nvSpPr>
        <p:spPr>
          <a:xfrm>
            <a:off x="60198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4" name="Rectangle 73"/>
          <p:cNvSpPr/>
          <p:nvPr/>
        </p:nvSpPr>
        <p:spPr>
          <a:xfrm>
            <a:off x="7086600" y="5867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5" name="Rectangle 74"/>
          <p:cNvSpPr/>
          <p:nvPr/>
        </p:nvSpPr>
        <p:spPr>
          <a:xfrm>
            <a:off x="6858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6" name="Rectangle 75"/>
          <p:cNvSpPr/>
          <p:nvPr/>
        </p:nvSpPr>
        <p:spPr>
          <a:xfrm>
            <a:off x="17526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7" name="Rectangle 76"/>
          <p:cNvSpPr/>
          <p:nvPr/>
        </p:nvSpPr>
        <p:spPr>
          <a:xfrm>
            <a:off x="28194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8" name="Rectangle 77"/>
          <p:cNvSpPr/>
          <p:nvPr/>
        </p:nvSpPr>
        <p:spPr>
          <a:xfrm>
            <a:off x="38862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79" name="Rectangle 78"/>
          <p:cNvSpPr/>
          <p:nvPr/>
        </p:nvSpPr>
        <p:spPr>
          <a:xfrm>
            <a:off x="49530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0" name="Rectangle 79"/>
          <p:cNvSpPr/>
          <p:nvPr/>
        </p:nvSpPr>
        <p:spPr>
          <a:xfrm>
            <a:off x="60198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1" name="Rectangle 80"/>
          <p:cNvSpPr/>
          <p:nvPr/>
        </p:nvSpPr>
        <p:spPr>
          <a:xfrm>
            <a:off x="7086600" y="5105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2" name="Rectangle 81"/>
          <p:cNvSpPr/>
          <p:nvPr/>
        </p:nvSpPr>
        <p:spPr>
          <a:xfrm>
            <a:off x="6858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3" name="Rectangle 82"/>
          <p:cNvSpPr/>
          <p:nvPr/>
        </p:nvSpPr>
        <p:spPr>
          <a:xfrm>
            <a:off x="17526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4" name="Rectangle 83"/>
          <p:cNvSpPr/>
          <p:nvPr/>
        </p:nvSpPr>
        <p:spPr>
          <a:xfrm>
            <a:off x="28194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5" name="Rectangle 84"/>
          <p:cNvSpPr/>
          <p:nvPr/>
        </p:nvSpPr>
        <p:spPr>
          <a:xfrm>
            <a:off x="38862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6" name="Rectangle 85"/>
          <p:cNvSpPr/>
          <p:nvPr/>
        </p:nvSpPr>
        <p:spPr>
          <a:xfrm>
            <a:off x="49530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7" name="Rectangle 86"/>
          <p:cNvSpPr/>
          <p:nvPr/>
        </p:nvSpPr>
        <p:spPr>
          <a:xfrm>
            <a:off x="60198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8" name="Rectangle 87"/>
          <p:cNvSpPr/>
          <p:nvPr/>
        </p:nvSpPr>
        <p:spPr>
          <a:xfrm>
            <a:off x="7086600" y="4343400"/>
            <a:ext cx="990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Scrum tiimi</a:t>
            </a:r>
            <a:endParaRPr lang="fi-FI" dirty="0"/>
          </a:p>
        </p:txBody>
      </p:sp>
      <p:sp>
        <p:nvSpPr>
          <p:cNvPr id="89" name="Cloud 88"/>
          <p:cNvSpPr/>
          <p:nvPr/>
        </p:nvSpPr>
        <p:spPr>
          <a:xfrm>
            <a:off x="2286000" y="1752600"/>
            <a:ext cx="4343400" cy="1295400"/>
          </a:xfrm>
          <a:prstGeom prst="cloud">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fi-FI" sz="2000" dirty="0" smtClean="0"/>
              <a:t>Järjestelmätestaus</a:t>
            </a:r>
            <a:endParaRPr lang="fi-FI" sz="2000" dirty="0"/>
          </a:p>
        </p:txBody>
      </p:sp>
      <p:sp>
        <p:nvSpPr>
          <p:cNvPr id="90" name="TextBox 89"/>
          <p:cNvSpPr txBox="1"/>
          <p:nvPr/>
        </p:nvSpPr>
        <p:spPr>
          <a:xfrm>
            <a:off x="228600" y="1828800"/>
            <a:ext cx="2209800" cy="369332"/>
          </a:xfrm>
          <a:prstGeom prst="rect">
            <a:avLst/>
          </a:prstGeom>
          <a:noFill/>
        </p:spPr>
        <p:txBody>
          <a:bodyPr wrap="square" rtlCol="0">
            <a:spAutoFit/>
          </a:bodyPr>
          <a:lstStyle/>
          <a:p>
            <a:pPr algn="ctr"/>
            <a:r>
              <a:rPr lang="fi-FI" dirty="0" smtClean="0"/>
              <a:t>Eri käyttöjärjestelmät</a:t>
            </a:r>
            <a:endParaRPr lang="fi-FI" dirty="0"/>
          </a:p>
        </p:txBody>
      </p:sp>
      <p:sp>
        <p:nvSpPr>
          <p:cNvPr id="91" name="TextBox 90"/>
          <p:cNvSpPr txBox="1"/>
          <p:nvPr/>
        </p:nvSpPr>
        <p:spPr>
          <a:xfrm>
            <a:off x="152400" y="2362200"/>
            <a:ext cx="1905000" cy="1200329"/>
          </a:xfrm>
          <a:prstGeom prst="rect">
            <a:avLst/>
          </a:prstGeom>
          <a:noFill/>
        </p:spPr>
        <p:txBody>
          <a:bodyPr wrap="square" rtlCol="0">
            <a:spAutoFit/>
          </a:bodyPr>
          <a:lstStyle/>
          <a:p>
            <a:pPr algn="ctr"/>
            <a:r>
              <a:rPr lang="fi-FI" dirty="0" smtClean="0"/>
              <a:t>Yhteensopivuus kolmannen osapuolen kilkkeisiin</a:t>
            </a:r>
            <a:endParaRPr lang="fi-FI" dirty="0"/>
          </a:p>
        </p:txBody>
      </p:sp>
      <p:sp>
        <p:nvSpPr>
          <p:cNvPr id="92" name="TextBox 91"/>
          <p:cNvSpPr txBox="1"/>
          <p:nvPr/>
        </p:nvSpPr>
        <p:spPr>
          <a:xfrm>
            <a:off x="6858000" y="1371600"/>
            <a:ext cx="1905000" cy="923330"/>
          </a:xfrm>
          <a:prstGeom prst="rect">
            <a:avLst/>
          </a:prstGeom>
          <a:noFill/>
        </p:spPr>
        <p:txBody>
          <a:bodyPr wrap="square" rtlCol="0">
            <a:spAutoFit/>
          </a:bodyPr>
          <a:lstStyle/>
          <a:p>
            <a:pPr algn="ctr"/>
            <a:r>
              <a:rPr lang="fi-FI" dirty="0" smtClean="0"/>
              <a:t>Järjestelmän ei-toiminnalliset ominaisuudet</a:t>
            </a:r>
            <a:endParaRPr lang="fi-FI" dirty="0"/>
          </a:p>
        </p:txBody>
      </p:sp>
      <p:sp>
        <p:nvSpPr>
          <p:cNvPr id="93" name="TextBox 92"/>
          <p:cNvSpPr txBox="1"/>
          <p:nvPr/>
        </p:nvSpPr>
        <p:spPr>
          <a:xfrm>
            <a:off x="6629400" y="2429470"/>
            <a:ext cx="1905000" cy="369332"/>
          </a:xfrm>
          <a:prstGeom prst="rect">
            <a:avLst/>
          </a:prstGeom>
          <a:noFill/>
        </p:spPr>
        <p:txBody>
          <a:bodyPr wrap="square" rtlCol="0">
            <a:spAutoFit/>
          </a:bodyPr>
          <a:lstStyle/>
          <a:p>
            <a:pPr algn="ctr"/>
            <a:r>
              <a:rPr lang="fi-FI" dirty="0" smtClean="0"/>
              <a:t>Lokalisoinnit</a:t>
            </a:r>
            <a:endParaRPr lang="fi-FI" dirty="0"/>
          </a:p>
        </p:txBody>
      </p:sp>
      <p:sp>
        <p:nvSpPr>
          <p:cNvPr id="94" name="TextBox 93"/>
          <p:cNvSpPr txBox="1"/>
          <p:nvPr/>
        </p:nvSpPr>
        <p:spPr>
          <a:xfrm>
            <a:off x="5410200" y="2971800"/>
            <a:ext cx="2362200" cy="646331"/>
          </a:xfrm>
          <a:prstGeom prst="rect">
            <a:avLst/>
          </a:prstGeom>
          <a:noFill/>
        </p:spPr>
        <p:txBody>
          <a:bodyPr wrap="square" rtlCol="0">
            <a:spAutoFit/>
          </a:bodyPr>
          <a:lstStyle/>
          <a:p>
            <a:pPr algn="ctr"/>
            <a:r>
              <a:rPr lang="fi-FI" dirty="0" smtClean="0"/>
              <a:t>Useiden tuotteiden paketointi</a:t>
            </a:r>
            <a:endParaRPr lang="fi-FI" dirty="0"/>
          </a:p>
        </p:txBody>
      </p:sp>
      <p:sp>
        <p:nvSpPr>
          <p:cNvPr id="95" name="TextBox 94"/>
          <p:cNvSpPr txBox="1"/>
          <p:nvPr/>
        </p:nvSpPr>
        <p:spPr>
          <a:xfrm>
            <a:off x="1447800" y="2971800"/>
            <a:ext cx="1905000" cy="646331"/>
          </a:xfrm>
          <a:prstGeom prst="rect">
            <a:avLst/>
          </a:prstGeom>
          <a:noFill/>
        </p:spPr>
        <p:txBody>
          <a:bodyPr wrap="square" rtlCol="0">
            <a:spAutoFit/>
          </a:bodyPr>
          <a:lstStyle/>
          <a:p>
            <a:pPr algn="ctr"/>
            <a:r>
              <a:rPr lang="fi-FI" dirty="0" smtClean="0"/>
              <a:t>Tuotteen sertifiointi</a:t>
            </a:r>
            <a:endParaRPr lang="fi-FI" dirty="0"/>
          </a:p>
        </p:txBody>
      </p:sp>
      <p:sp>
        <p:nvSpPr>
          <p:cNvPr id="96" name="TextBox 95"/>
          <p:cNvSpPr txBox="1"/>
          <p:nvPr/>
        </p:nvSpPr>
        <p:spPr>
          <a:xfrm>
            <a:off x="3200400" y="3087469"/>
            <a:ext cx="2514600" cy="646331"/>
          </a:xfrm>
          <a:prstGeom prst="rect">
            <a:avLst/>
          </a:prstGeom>
          <a:noFill/>
        </p:spPr>
        <p:txBody>
          <a:bodyPr wrap="square" rtlCol="0">
            <a:spAutoFit/>
          </a:bodyPr>
          <a:lstStyle/>
          <a:p>
            <a:pPr algn="ctr"/>
            <a:r>
              <a:rPr lang="fi-FI" dirty="0" smtClean="0"/>
              <a:t>Monimutkaiset laitteistot testilabrassa</a:t>
            </a:r>
            <a:endParaRPr lang="fi-FI" dirty="0"/>
          </a:p>
        </p:txBody>
      </p:sp>
      <p:sp>
        <p:nvSpPr>
          <p:cNvPr id="97" name="TextBox 96"/>
          <p:cNvSpPr txBox="1"/>
          <p:nvPr/>
        </p:nvSpPr>
        <p:spPr>
          <a:xfrm>
            <a:off x="1524000" y="1219200"/>
            <a:ext cx="1676400" cy="646331"/>
          </a:xfrm>
          <a:prstGeom prst="rect">
            <a:avLst/>
          </a:prstGeom>
          <a:noFill/>
        </p:spPr>
        <p:txBody>
          <a:bodyPr wrap="square" rtlCol="0">
            <a:spAutoFit/>
          </a:bodyPr>
          <a:lstStyle/>
          <a:p>
            <a:pPr algn="ctr"/>
            <a:r>
              <a:rPr lang="fi-FI" dirty="0" smtClean="0"/>
              <a:t>Päästä päähän -toiminnallisuus</a:t>
            </a:r>
            <a:endParaRPr lang="fi-FI"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Ketterä testaus kun organisaatio on tarpeeksi iso</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Liiankin usein tiimit tyytyvät siihen että ”emme voi olla vastuussa järjestelmästä”</a:t>
            </a:r>
          </a:p>
          <a:p>
            <a:pPr lvl="1"/>
            <a:r>
              <a:rPr lang="fi-FI" dirty="0" smtClean="0"/>
              <a:t>Suositaan ”komponentteja” jättäen laatuvelkaa: tuntematonta laatua kokonaisuuden näkökulmassa</a:t>
            </a:r>
          </a:p>
          <a:p>
            <a:r>
              <a:rPr lang="fi-FI" dirty="0" smtClean="0"/>
              <a:t>Ei ole mahdollista että kaikki tiimit tekevät kaikenlaista testausta</a:t>
            </a:r>
          </a:p>
          <a:p>
            <a:pPr lvl="1"/>
            <a:r>
              <a:rPr lang="fi-FI" dirty="0" smtClean="0"/>
              <a:t>Automaatio auttaa vain tiettyyn pisteeseen...</a:t>
            </a:r>
          </a:p>
          <a:p>
            <a:pPr lvl="1"/>
            <a:r>
              <a:rPr lang="fi-FI" dirty="0" smtClean="0"/>
              <a:t>Vähäisestä automaatiosta riittävään ei tapahtu hetkessä</a:t>
            </a:r>
          </a:p>
          <a:p>
            <a:pPr lvl="1"/>
            <a:r>
              <a:rPr lang="fi-FI" dirty="0" smtClean="0"/>
              <a:t>Fyysisiä rajoitteita, kuten laitteiston saatavuus tiimeille</a:t>
            </a:r>
          </a:p>
        </p:txBody>
      </p:sp>
      <p:sp>
        <p:nvSpPr>
          <p:cNvPr id="4" name="TextBox 3"/>
          <p:cNvSpPr txBox="1"/>
          <p:nvPr/>
        </p:nvSpPr>
        <p:spPr>
          <a:xfrm>
            <a:off x="3048000" y="5689937"/>
            <a:ext cx="5486400" cy="1015663"/>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000" dirty="0" smtClean="0"/>
              <a:t>Myös suuret asiat rakennetaan paloina. Paloittelustrategian osalta voidaan tehdä monenlaisia valintoja. </a:t>
            </a:r>
            <a:endParaRPr lang="fi-FI"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i-FI" sz="3200" dirty="0" smtClean="0"/>
              <a:t>Miten ison järjestelmän testauksen näkökulmat voi saada scrum-tiimin vastuulle?</a:t>
            </a:r>
            <a:endParaRPr lang="fi-FI" sz="3200" dirty="0"/>
          </a:p>
        </p:txBody>
      </p:sp>
      <p:sp>
        <p:nvSpPr>
          <p:cNvPr id="3" name="Content Placeholder 2"/>
          <p:cNvSpPr>
            <a:spLocks noGrp="1"/>
          </p:cNvSpPr>
          <p:nvPr>
            <p:ph idx="1"/>
          </p:nvPr>
        </p:nvSpPr>
        <p:spPr/>
        <p:txBody>
          <a:bodyPr>
            <a:normAutofit fontScale="92500" lnSpcReduction="10000"/>
          </a:bodyPr>
          <a:lstStyle/>
          <a:p>
            <a:r>
              <a:rPr lang="fi-FI" dirty="0" smtClean="0"/>
              <a:t>Perinteisellä toteutusmallilla kahdeksan V-mallin testaustasoa eritasoisia integraatioita sisältäen</a:t>
            </a:r>
          </a:p>
          <a:p>
            <a:r>
              <a:rPr lang="fi-FI" dirty="0" smtClean="0"/>
              <a:t>Tiimien ominaisuuksia:</a:t>
            </a:r>
          </a:p>
          <a:p>
            <a:pPr lvl="1"/>
            <a:r>
              <a:rPr lang="fi-FI" dirty="0" smtClean="0"/>
              <a:t>Monitoimintotiimit (cross-functional): kaikenlainen tarvittava osaaminen tiimin sisällä tiimin olemassaolon laajuuteen. </a:t>
            </a:r>
          </a:p>
          <a:p>
            <a:pPr lvl="1"/>
            <a:r>
              <a:rPr lang="fi-FI" dirty="0" smtClean="0"/>
              <a:t>Ominaisuustiimit (feature): Tiimin  olemassaolon laajuuteen kuuluu järjestelmän asiakkaalle näkyvien kokonaisputkien toteuttaminen</a:t>
            </a:r>
          </a:p>
          <a:p>
            <a:pPr lvl="1"/>
            <a:r>
              <a:rPr lang="fi-FI" i="1" dirty="0" smtClean="0"/>
              <a:t>Voi olla cross-functional component team tai non-cross-functional feature team</a:t>
            </a:r>
          </a:p>
          <a:p>
            <a:endParaRPr lang="fi-FI"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838200" y="2133600"/>
            <a:ext cx="3276600" cy="0"/>
          </a:xfrm>
          <a:prstGeom prst="line">
            <a:avLst/>
          </a:prstGeom>
        </p:spPr>
        <p:style>
          <a:lnRef idx="2">
            <a:schemeClr val="accent2"/>
          </a:lnRef>
          <a:fillRef idx="0">
            <a:schemeClr val="accent2"/>
          </a:fillRef>
          <a:effectRef idx="1">
            <a:schemeClr val="accent2"/>
          </a:effectRef>
          <a:fontRef idx="minor">
            <a:schemeClr val="tx1"/>
          </a:fontRef>
        </p:style>
      </p:cxnSp>
      <p:sp>
        <p:nvSpPr>
          <p:cNvPr id="2" name="Title 1"/>
          <p:cNvSpPr>
            <a:spLocks noGrp="1"/>
          </p:cNvSpPr>
          <p:nvPr>
            <p:ph type="title"/>
          </p:nvPr>
        </p:nvSpPr>
        <p:spPr/>
        <p:txBody>
          <a:bodyPr/>
          <a:lstStyle/>
          <a:p>
            <a:r>
              <a:rPr lang="fi-FI" dirty="0" smtClean="0"/>
              <a:t>Stabilointisprintti</a:t>
            </a:r>
            <a:endParaRPr lang="fi-FI" dirty="0"/>
          </a:p>
        </p:txBody>
      </p:sp>
      <p:cxnSp>
        <p:nvCxnSpPr>
          <p:cNvPr id="4" name="Straight Arrow Connector 3"/>
          <p:cNvCxnSpPr/>
          <p:nvPr/>
        </p:nvCxnSpPr>
        <p:spPr>
          <a:xfrm rot="5400000" flipH="1" flipV="1">
            <a:off x="-190500" y="2857500"/>
            <a:ext cx="20574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6" name="Straight Arrow Connector 5"/>
          <p:cNvCxnSpPr/>
          <p:nvPr/>
        </p:nvCxnSpPr>
        <p:spPr>
          <a:xfrm>
            <a:off x="838200" y="3886200"/>
            <a:ext cx="33528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7" name="TextBox 6"/>
          <p:cNvSpPr txBox="1"/>
          <p:nvPr/>
        </p:nvSpPr>
        <p:spPr>
          <a:xfrm rot="16200000">
            <a:off x="-375166" y="2672834"/>
            <a:ext cx="2057400" cy="369332"/>
          </a:xfrm>
          <a:prstGeom prst="rect">
            <a:avLst/>
          </a:prstGeom>
          <a:noFill/>
        </p:spPr>
        <p:txBody>
          <a:bodyPr wrap="square" rtlCol="0">
            <a:spAutoFit/>
          </a:bodyPr>
          <a:lstStyle/>
          <a:p>
            <a:pPr algn="ctr"/>
            <a:r>
              <a:rPr lang="fi-FI" dirty="0" smtClean="0"/>
              <a:t>Luottamus</a:t>
            </a:r>
            <a:endParaRPr lang="fi-FI" dirty="0"/>
          </a:p>
        </p:txBody>
      </p:sp>
      <p:sp>
        <p:nvSpPr>
          <p:cNvPr id="10" name="TextBox 9"/>
          <p:cNvSpPr txBox="1"/>
          <p:nvPr/>
        </p:nvSpPr>
        <p:spPr>
          <a:xfrm>
            <a:off x="2743200" y="1764268"/>
            <a:ext cx="1524000" cy="369332"/>
          </a:xfrm>
          <a:prstGeom prst="rect">
            <a:avLst/>
          </a:prstGeom>
          <a:noFill/>
        </p:spPr>
        <p:txBody>
          <a:bodyPr wrap="square" rtlCol="0">
            <a:spAutoFit/>
          </a:bodyPr>
          <a:lstStyle/>
          <a:p>
            <a:r>
              <a:rPr lang="fi-FI" dirty="0" smtClean="0"/>
              <a:t>Ihanteellinen</a:t>
            </a:r>
            <a:endParaRPr lang="fi-FI" dirty="0"/>
          </a:p>
        </p:txBody>
      </p:sp>
      <p:sp>
        <p:nvSpPr>
          <p:cNvPr id="11" name="Freeform 10"/>
          <p:cNvSpPr/>
          <p:nvPr/>
        </p:nvSpPr>
        <p:spPr>
          <a:xfrm>
            <a:off x="859971" y="2852057"/>
            <a:ext cx="3265715" cy="1023257"/>
          </a:xfrm>
          <a:custGeom>
            <a:avLst/>
            <a:gdLst>
              <a:gd name="connsiteX0" fmla="*/ 0 w 3265715"/>
              <a:gd name="connsiteY0" fmla="*/ 1023257 h 1023257"/>
              <a:gd name="connsiteX1" fmla="*/ 1611086 w 3265715"/>
              <a:gd name="connsiteY1" fmla="*/ 566057 h 1023257"/>
              <a:gd name="connsiteX2" fmla="*/ 2656115 w 3265715"/>
              <a:gd name="connsiteY2" fmla="*/ 468086 h 1023257"/>
              <a:gd name="connsiteX3" fmla="*/ 3265715 w 3265715"/>
              <a:gd name="connsiteY3" fmla="*/ 0 h 1023257"/>
            </a:gdLst>
            <a:ahLst/>
            <a:cxnLst>
              <a:cxn ang="0">
                <a:pos x="connsiteX0" y="connsiteY0"/>
              </a:cxn>
              <a:cxn ang="0">
                <a:pos x="connsiteX1" y="connsiteY1"/>
              </a:cxn>
              <a:cxn ang="0">
                <a:pos x="connsiteX2" y="connsiteY2"/>
              </a:cxn>
              <a:cxn ang="0">
                <a:pos x="connsiteX3" y="connsiteY3"/>
              </a:cxn>
            </a:cxnLst>
            <a:rect l="l" t="t" r="r" b="b"/>
            <a:pathLst>
              <a:path w="3265715" h="1023257">
                <a:moveTo>
                  <a:pt x="0" y="1023257"/>
                </a:moveTo>
                <a:cubicBezTo>
                  <a:pt x="584200" y="840921"/>
                  <a:pt x="1168400" y="658585"/>
                  <a:pt x="1611086" y="566057"/>
                </a:cubicBezTo>
                <a:cubicBezTo>
                  <a:pt x="2053772" y="473529"/>
                  <a:pt x="2380343" y="562429"/>
                  <a:pt x="2656115" y="468086"/>
                </a:cubicBezTo>
                <a:cubicBezTo>
                  <a:pt x="2931887" y="373743"/>
                  <a:pt x="3160487" y="85271"/>
                  <a:pt x="3265715" y="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fi-FI"/>
          </a:p>
        </p:txBody>
      </p:sp>
      <p:cxnSp>
        <p:nvCxnSpPr>
          <p:cNvPr id="13" name="Straight Arrow Connector 12"/>
          <p:cNvCxnSpPr/>
          <p:nvPr/>
        </p:nvCxnSpPr>
        <p:spPr>
          <a:xfrm rot="5400000">
            <a:off x="3810000" y="2514600"/>
            <a:ext cx="609600" cy="1588"/>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14" name="TextBox 13"/>
          <p:cNvSpPr txBox="1"/>
          <p:nvPr/>
        </p:nvSpPr>
        <p:spPr>
          <a:xfrm>
            <a:off x="4267200" y="2133600"/>
            <a:ext cx="1828800" cy="1754326"/>
          </a:xfrm>
          <a:prstGeom prst="rect">
            <a:avLst/>
          </a:prstGeom>
          <a:noFill/>
        </p:spPr>
        <p:txBody>
          <a:bodyPr wrap="square" rtlCol="0">
            <a:spAutoFit/>
          </a:bodyPr>
          <a:lstStyle/>
          <a:p>
            <a:r>
              <a:rPr lang="fi-FI" dirty="0" smtClean="0"/>
              <a:t>Tekemättä jäänyttä testaustyötä, potentiaalia tuntemattomalle korjaustyölle</a:t>
            </a:r>
          </a:p>
        </p:txBody>
      </p:sp>
      <p:sp>
        <p:nvSpPr>
          <p:cNvPr id="15" name="TextBox 14"/>
          <p:cNvSpPr txBox="1"/>
          <p:nvPr/>
        </p:nvSpPr>
        <p:spPr>
          <a:xfrm>
            <a:off x="2590800" y="2895600"/>
            <a:ext cx="1295400" cy="369332"/>
          </a:xfrm>
          <a:prstGeom prst="rect">
            <a:avLst/>
          </a:prstGeom>
          <a:noFill/>
        </p:spPr>
        <p:txBody>
          <a:bodyPr wrap="square" rtlCol="0">
            <a:spAutoFit/>
          </a:bodyPr>
          <a:lstStyle/>
          <a:p>
            <a:r>
              <a:rPr lang="fi-FI" dirty="0" smtClean="0"/>
              <a:t>Todellinen</a:t>
            </a:r>
            <a:endParaRPr lang="fi-FI" dirty="0"/>
          </a:p>
        </p:txBody>
      </p:sp>
      <p:sp>
        <p:nvSpPr>
          <p:cNvPr id="16" name="Rectangle 15"/>
          <p:cNvSpPr/>
          <p:nvPr/>
        </p:nvSpPr>
        <p:spPr>
          <a:xfrm>
            <a:off x="685800" y="4648200"/>
            <a:ext cx="2057400" cy="9144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dirty="0" smtClean="0"/>
              <a:t>Sprintti</a:t>
            </a:r>
            <a:endParaRPr lang="fi-FI" dirty="0"/>
          </a:p>
        </p:txBody>
      </p:sp>
      <p:sp>
        <p:nvSpPr>
          <p:cNvPr id="17" name="Rectangle 16"/>
          <p:cNvSpPr/>
          <p:nvPr/>
        </p:nvSpPr>
        <p:spPr>
          <a:xfrm>
            <a:off x="3200400" y="4648200"/>
            <a:ext cx="2057400" cy="9144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dirty="0" smtClean="0"/>
              <a:t>Sprintti</a:t>
            </a:r>
            <a:endParaRPr lang="fi-FI" dirty="0"/>
          </a:p>
        </p:txBody>
      </p:sp>
      <p:sp>
        <p:nvSpPr>
          <p:cNvPr id="18" name="Rectangle 17"/>
          <p:cNvSpPr/>
          <p:nvPr/>
        </p:nvSpPr>
        <p:spPr>
          <a:xfrm>
            <a:off x="5638800" y="4648200"/>
            <a:ext cx="2057400" cy="9144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Tekemättä jäänyt työ = Stabilointisprintti</a:t>
            </a:r>
            <a:endParaRPr lang="fi-FI" dirty="0"/>
          </a:p>
        </p:txBody>
      </p:sp>
      <p:sp>
        <p:nvSpPr>
          <p:cNvPr id="19" name="Cloud 18"/>
          <p:cNvSpPr/>
          <p:nvPr/>
        </p:nvSpPr>
        <p:spPr>
          <a:xfrm>
            <a:off x="1905000" y="5257800"/>
            <a:ext cx="1219200" cy="1066800"/>
          </a:xfrm>
          <a:prstGeom prst="clou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Ei valmis</a:t>
            </a:r>
            <a:endParaRPr lang="fi-FI" dirty="0"/>
          </a:p>
        </p:txBody>
      </p:sp>
      <p:sp>
        <p:nvSpPr>
          <p:cNvPr id="20" name="Cloud 19"/>
          <p:cNvSpPr/>
          <p:nvPr/>
        </p:nvSpPr>
        <p:spPr>
          <a:xfrm>
            <a:off x="4419600" y="5334000"/>
            <a:ext cx="1219200" cy="1066800"/>
          </a:xfrm>
          <a:prstGeom prst="clou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Ei valmis</a:t>
            </a:r>
            <a:endParaRPr lang="fi-FI" dirty="0"/>
          </a:p>
        </p:txBody>
      </p:sp>
      <p:sp>
        <p:nvSpPr>
          <p:cNvPr id="21" name="Right Arrow 20"/>
          <p:cNvSpPr/>
          <p:nvPr/>
        </p:nvSpPr>
        <p:spPr>
          <a:xfrm>
            <a:off x="2895600" y="4953000"/>
            <a:ext cx="228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2" name="Right Arrow 21"/>
          <p:cNvSpPr/>
          <p:nvPr/>
        </p:nvSpPr>
        <p:spPr>
          <a:xfrm>
            <a:off x="5334000" y="4953000"/>
            <a:ext cx="228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3" name="Content Placeholder 5"/>
          <p:cNvSpPr txBox="1">
            <a:spLocks/>
          </p:cNvSpPr>
          <p:nvPr/>
        </p:nvSpPr>
        <p:spPr>
          <a:xfrm>
            <a:off x="6324600" y="1524000"/>
            <a:ext cx="2667000" cy="2971800"/>
          </a:xfrm>
          <a:prstGeom prst="rect">
            <a:avLst/>
          </a:prstGeom>
        </p:spPr>
        <p:style>
          <a:lnRef idx="2">
            <a:schemeClr val="accent3"/>
          </a:lnRef>
          <a:fillRef idx="1">
            <a:schemeClr val="lt1"/>
          </a:fillRef>
          <a:effectRef idx="0">
            <a:schemeClr val="accent3"/>
          </a:effectRef>
          <a:fontRef idx="minor">
            <a:schemeClr val="dk1"/>
          </a:fontRef>
        </p:style>
        <p:txBody>
          <a:bodyPr>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b="0" i="0" u="none" strike="noStrike" kern="1200" cap="none" spc="0" normalizeH="0" baseline="0" noProof="0" dirty="0" smtClean="0">
                <a:ln>
                  <a:noFill/>
                </a:ln>
                <a:solidFill>
                  <a:schemeClr val="tx1"/>
                </a:solidFill>
                <a:effectLst/>
                <a:uLnTx/>
                <a:uFillTx/>
                <a:latin typeface="+mn-lt"/>
                <a:ea typeface="+mn-ea"/>
                <a:cs typeface="+mn-cs"/>
              </a:rPr>
              <a:t>Ei käytännöllistä</a:t>
            </a:r>
            <a:r>
              <a:rPr kumimoji="0" lang="fi-FI" b="0" i="0" u="none" strike="noStrike" kern="1200" cap="none" spc="0" normalizeH="0" noProof="0" dirty="0" smtClean="0">
                <a:ln>
                  <a:noFill/>
                </a:ln>
                <a:solidFill>
                  <a:schemeClr val="tx1"/>
                </a:solidFill>
                <a:effectLst/>
                <a:uLnTx/>
                <a:uFillTx/>
                <a:latin typeface="+mn-lt"/>
                <a:ea typeface="+mn-ea"/>
                <a:cs typeface="+mn-cs"/>
              </a:rPr>
              <a:t> kieltää olemassaoloa siirtymävaiheessa ketterämpään</a:t>
            </a:r>
            <a:endParaRPr kumimoji="0" lang="fi-FI"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b="0" i="0" u="none" strike="noStrike" kern="1200" cap="none" spc="0" normalizeH="0" baseline="0" noProof="0" dirty="0" smtClean="0">
                <a:ln>
                  <a:noFill/>
                </a:ln>
                <a:solidFill>
                  <a:schemeClr val="tx1"/>
                </a:solidFill>
                <a:effectLst/>
                <a:uLnTx/>
                <a:uFillTx/>
                <a:latin typeface="+mn-lt"/>
                <a:ea typeface="+mn-ea"/>
                <a:cs typeface="+mn-cs"/>
              </a:rPr>
              <a:t>Luovuus:</a:t>
            </a:r>
            <a:r>
              <a:rPr kumimoji="0" lang="fi-FI" b="0" i="0" u="none" strike="noStrike" kern="1200" cap="none" spc="0" normalizeH="0" noProof="0" dirty="0" smtClean="0">
                <a:ln>
                  <a:noFill/>
                </a:ln>
                <a:solidFill>
                  <a:schemeClr val="tx1"/>
                </a:solidFill>
                <a:effectLst/>
                <a:uLnTx/>
                <a:uFillTx/>
                <a:latin typeface="+mn-lt"/>
                <a:ea typeface="+mn-ea"/>
                <a:cs typeface="+mn-cs"/>
              </a:rPr>
              <a:t> voit siirtää testaustyötä arvoketjussa alkuunpäin. Suunnittele testausta aina kuin olisit juuri julkaisemassa. </a:t>
            </a:r>
            <a:endParaRPr kumimoji="0" lang="fi-FI"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Muista käytännöllisyys</a:t>
            </a:r>
            <a:endParaRPr lang="fi-FI" dirty="0"/>
          </a:p>
        </p:txBody>
      </p:sp>
      <p:sp>
        <p:nvSpPr>
          <p:cNvPr id="3" name="Content Placeholder 2"/>
          <p:cNvSpPr>
            <a:spLocks noGrp="1"/>
          </p:cNvSpPr>
          <p:nvPr>
            <p:ph idx="1"/>
          </p:nvPr>
        </p:nvSpPr>
        <p:spPr/>
        <p:txBody>
          <a:bodyPr>
            <a:normAutofit/>
          </a:bodyPr>
          <a:lstStyle/>
          <a:p>
            <a:r>
              <a:rPr lang="fi-FI" dirty="0" smtClean="0"/>
              <a:t>Kaikki ei muutu ketterien menetelmien ideologiaan vain koska tavoite asetetaan</a:t>
            </a:r>
          </a:p>
          <a:p>
            <a:r>
              <a:rPr lang="fi-FI" dirty="0" smtClean="0"/>
              <a:t>Visio suuntana ei tarkoita että selviät välttämättä ilman välivaiheita matkalla kohti visiotilaa</a:t>
            </a:r>
          </a:p>
          <a:p>
            <a:r>
              <a:rPr lang="fi-FI" dirty="0" smtClean="0"/>
              <a:t>Tunnista </a:t>
            </a:r>
            <a:r>
              <a:rPr lang="fi-FI" i="1" dirty="0" smtClean="0"/>
              <a:t>siirtymävaiheen</a:t>
            </a:r>
            <a:r>
              <a:rPr lang="fi-FI" dirty="0" smtClean="0"/>
              <a:t> käytännöt ja varo ettet rakenna niihin liikaa riippuvuuksia</a:t>
            </a:r>
          </a:p>
          <a:p>
            <a:pPr lvl="1"/>
            <a:r>
              <a:rPr lang="fi-FI" dirty="0" smtClean="0"/>
              <a:t>Esimerkiksi erillinen testauksen tehtävälista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Definition of Done</a:t>
            </a:r>
            <a:endParaRPr lang="fi-FI" dirty="0"/>
          </a:p>
        </p:txBody>
      </p:sp>
      <p:sp>
        <p:nvSpPr>
          <p:cNvPr id="3" name="Content Placeholder 2"/>
          <p:cNvSpPr>
            <a:spLocks noGrp="1"/>
          </p:cNvSpPr>
          <p:nvPr>
            <p:ph idx="1"/>
          </p:nvPr>
        </p:nvSpPr>
        <p:spPr/>
        <p:txBody>
          <a:bodyPr/>
          <a:lstStyle/>
          <a:p>
            <a:r>
              <a:rPr lang="fi-FI" dirty="0" smtClean="0"/>
              <a:t>It’s not done until its tested</a:t>
            </a:r>
          </a:p>
          <a:p>
            <a:pPr lvl="1"/>
            <a:r>
              <a:rPr lang="fi-FI" dirty="0" smtClean="0"/>
              <a:t>Done means implemented and tested. Tested means checked and explored. When we declare things done prematurely, we increase risk of failure.</a:t>
            </a:r>
          </a:p>
          <a:p>
            <a:r>
              <a:rPr lang="fi-FI" dirty="0" smtClean="0"/>
              <a:t>It’s not done until its released</a:t>
            </a:r>
          </a:p>
          <a:p>
            <a:pPr lvl="1"/>
            <a:r>
              <a:rPr lang="fi-FI" dirty="0" smtClean="0"/>
              <a:t>Done means tested and built to a level where you can deliver it for end users. Not being able to release tends reveal missing parts of Done. </a:t>
            </a:r>
            <a:endParaRPr lang="fi-FI"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taidot</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76200" y="5334000"/>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 ja havainnot</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4419600" y="1905000"/>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Bug Reporting Practices</a:t>
            </a:r>
            <a:r>
              <a:rPr lang="fi-FI" sz="3200" dirty="0" smtClean="0"/>
              <a:t/>
            </a:r>
            <a:br>
              <a:rPr lang="fi-FI" sz="3200" dirty="0" smtClean="0"/>
            </a:br>
            <a:endParaRPr lang="fi-FI" dirty="0"/>
          </a:p>
        </p:txBody>
      </p:sp>
      <p:sp>
        <p:nvSpPr>
          <p:cNvPr id="3" name="Text Placeholder 2"/>
          <p:cNvSpPr>
            <a:spLocks noGrp="1"/>
          </p:cNvSpPr>
          <p:nvPr>
            <p:ph type="body" idx="1"/>
          </p:nvPr>
        </p:nvSpPr>
        <p:spPr/>
        <p:txBody>
          <a:bodyPr/>
          <a:lstStyle/>
          <a:p>
            <a:endParaRPr lang="fi-FI"/>
          </a:p>
        </p:txBody>
      </p:sp>
      <p:pic>
        <p:nvPicPr>
          <p:cNvPr id="9219" name="Picture 3" descr="C:\Documents and Settings\Maaret\My Documents\My Pictures\Microsoft Clip Organizer\j0078787.wmf"/>
          <p:cNvPicPr>
            <a:picLocks noChangeAspect="1" noChangeArrowheads="1"/>
          </p:cNvPicPr>
          <p:nvPr/>
        </p:nvPicPr>
        <p:blipFill>
          <a:blip r:embed="rId3" cstate="print"/>
          <a:srcRect/>
          <a:stretch>
            <a:fillRect/>
          </a:stretch>
        </p:blipFill>
        <p:spPr bwMode="auto">
          <a:xfrm>
            <a:off x="6705600" y="304800"/>
            <a:ext cx="1847850" cy="3859115"/>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Bug Tracking and Fixing</a:t>
            </a:r>
            <a:endParaRPr lang="fi-FI" dirty="0"/>
          </a:p>
        </p:txBody>
      </p:sp>
      <p:sp>
        <p:nvSpPr>
          <p:cNvPr id="3" name="Content Placeholder 2"/>
          <p:cNvSpPr>
            <a:spLocks noGrp="1"/>
          </p:cNvSpPr>
          <p:nvPr>
            <p:ph idx="1"/>
          </p:nvPr>
        </p:nvSpPr>
        <p:spPr/>
        <p:txBody>
          <a:bodyPr>
            <a:normAutofit fontScale="62500" lnSpcReduction="20000"/>
          </a:bodyPr>
          <a:lstStyle/>
          <a:p>
            <a:r>
              <a:rPr lang="fi-FI" dirty="0" smtClean="0"/>
              <a:t>Bugs should be fixed as they are found</a:t>
            </a:r>
          </a:p>
          <a:p>
            <a:pPr lvl="1"/>
            <a:r>
              <a:rPr lang="fi-FI" dirty="0" smtClean="0"/>
              <a:t>Fixing old has priority over implementing new </a:t>
            </a:r>
            <a:br>
              <a:rPr lang="fi-FI" dirty="0" smtClean="0"/>
            </a:br>
            <a:r>
              <a:rPr lang="fi-FI" dirty="0" smtClean="0"/>
              <a:t>(stop-and-fix –principle)</a:t>
            </a:r>
          </a:p>
          <a:p>
            <a:pPr lvl="1"/>
            <a:r>
              <a:rPr lang="fi-FI" dirty="0" smtClean="0"/>
              <a:t>Avoiding inventory-building and quality debt</a:t>
            </a:r>
          </a:p>
          <a:p>
            <a:r>
              <a:rPr lang="fi-FI" dirty="0" smtClean="0"/>
              <a:t>Decision making on issues: fix before release or not</a:t>
            </a:r>
          </a:p>
          <a:p>
            <a:pPr lvl="1"/>
            <a:r>
              <a:rPr lang="fi-FI" dirty="0" smtClean="0"/>
              <a:t>Some things will still remain as decided not to be fixed </a:t>
            </a:r>
          </a:p>
          <a:p>
            <a:r>
              <a:rPr lang="fi-FI" dirty="0" smtClean="0"/>
              <a:t>From controlling the changes to enabling them</a:t>
            </a:r>
          </a:p>
          <a:p>
            <a:pPr lvl="1"/>
            <a:r>
              <a:rPr lang="fi-FI" dirty="0" smtClean="0"/>
              <a:t>Issues have also internal impact (team morale, ease of work) and self-organized teams can decide on fixes and seek for guidance when needed</a:t>
            </a:r>
          </a:p>
          <a:p>
            <a:r>
              <a:rPr lang="fi-FI" dirty="0" smtClean="0"/>
              <a:t>Fix-and-forget over bug tracking</a:t>
            </a:r>
          </a:p>
          <a:p>
            <a:pPr lvl="1"/>
            <a:r>
              <a:rPr lang="fi-FI" dirty="0" smtClean="0"/>
              <a:t>Controversial value for future testing of bug databases</a:t>
            </a:r>
          </a:p>
          <a:p>
            <a:r>
              <a:rPr lang="fi-FI" dirty="0" smtClean="0"/>
              <a:t>From exclusive-by-default to inclusive-until-decided </a:t>
            </a:r>
          </a:p>
          <a:p>
            <a:pPr lvl="1"/>
            <a:r>
              <a:rPr lang="fi-FI" dirty="0" smtClean="0"/>
              <a:t>Bugs coming from production on this system should come on the active project and majority of those could be reacted to within current new development</a:t>
            </a:r>
            <a:endParaRPr lang="fi-FI" dirty="0"/>
          </a:p>
        </p:txBody>
      </p:sp>
      <p:pic>
        <p:nvPicPr>
          <p:cNvPr id="1026" name="Picture 2" descr="C:\Documents and Settings\Maaret\My Documents\My Pictures\Microsoft Clip Organizer\j0287567.wmf"/>
          <p:cNvPicPr>
            <a:picLocks noChangeAspect="1" noChangeArrowheads="1"/>
          </p:cNvPicPr>
          <p:nvPr/>
        </p:nvPicPr>
        <p:blipFill>
          <a:blip r:embed="rId3" cstate="print"/>
          <a:srcRect/>
          <a:stretch>
            <a:fillRect/>
          </a:stretch>
        </p:blipFill>
        <p:spPr bwMode="auto">
          <a:xfrm>
            <a:off x="7311971" y="1219200"/>
            <a:ext cx="1832029" cy="1483517"/>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a:p>
        </p:txBody>
      </p:sp>
      <p:sp>
        <p:nvSpPr>
          <p:cNvPr id="6" name="Footer Placeholder 5"/>
          <p:cNvSpPr>
            <a:spLocks noGrp="1"/>
          </p:cNvSpPr>
          <p:nvPr>
            <p:ph type="ftr" sz="quarter" idx="11"/>
          </p:nvPr>
        </p:nvSpPr>
        <p:spPr/>
        <p:txBody>
          <a:bodyPr/>
          <a:lstStyle/>
          <a:p>
            <a:r>
              <a:rPr lang="en-US" smtClean="0"/>
              <a:t>DAY 2</a:t>
            </a:r>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285720" y="2000240"/>
            <a:ext cx="8501122" cy="2214578"/>
          </a:xfrm>
          <a:prstGeom prst="rect">
            <a:avLst/>
          </a:prstGeom>
        </p:spPr>
        <p:style>
          <a:lnRef idx="1">
            <a:schemeClr val="accent4"/>
          </a:lnRef>
          <a:fillRef idx="2">
            <a:schemeClr val="accent4"/>
          </a:fillRef>
          <a:effectRef idx="1">
            <a:schemeClr val="accent4"/>
          </a:effectRef>
          <a:fontRef idx="minor">
            <a:schemeClr val="dk1"/>
          </a:fontRef>
        </p:style>
        <p:txBody>
          <a:bodyPr rtlCol="0" anchor="t" anchorCtr="0"/>
          <a:lstStyle/>
          <a:p>
            <a:r>
              <a:rPr lang="en-GB" dirty="0" smtClean="0"/>
              <a:t>NON-AGILE</a:t>
            </a:r>
            <a:endParaRPr lang="en-US" dirty="0"/>
          </a:p>
        </p:txBody>
      </p:sp>
      <p:sp>
        <p:nvSpPr>
          <p:cNvPr id="16" name="Rectangle 15"/>
          <p:cNvSpPr/>
          <p:nvPr/>
        </p:nvSpPr>
        <p:spPr>
          <a:xfrm>
            <a:off x="285720" y="4429132"/>
            <a:ext cx="8501122" cy="2214578"/>
          </a:xfrm>
          <a:prstGeom prst="rect">
            <a:avLst/>
          </a:prstGeom>
        </p:spPr>
        <p:style>
          <a:lnRef idx="1">
            <a:schemeClr val="accent2"/>
          </a:lnRef>
          <a:fillRef idx="2">
            <a:schemeClr val="accent2"/>
          </a:fillRef>
          <a:effectRef idx="1">
            <a:schemeClr val="accent2"/>
          </a:effectRef>
          <a:fontRef idx="minor">
            <a:schemeClr val="dk1"/>
          </a:fontRef>
        </p:style>
        <p:txBody>
          <a:bodyPr rtlCol="0" anchor="t" anchorCtr="0"/>
          <a:lstStyle/>
          <a:p>
            <a:r>
              <a:rPr lang="en-GB" dirty="0" smtClean="0"/>
              <a:t>AGILE</a:t>
            </a:r>
            <a:endParaRPr lang="en-US" dirty="0"/>
          </a:p>
        </p:txBody>
      </p:sp>
      <p:sp>
        <p:nvSpPr>
          <p:cNvPr id="4" name="Title 3"/>
          <p:cNvSpPr>
            <a:spLocks noGrp="1"/>
          </p:cNvSpPr>
          <p:nvPr>
            <p:ph type="title"/>
          </p:nvPr>
        </p:nvSpPr>
        <p:spPr/>
        <p:txBody>
          <a:bodyPr/>
          <a:lstStyle/>
          <a:p>
            <a:r>
              <a:rPr lang="en-GB" dirty="0" smtClean="0"/>
              <a:t>Issue Handling Process</a:t>
            </a:r>
            <a:endParaRPr lang="en-US" dirty="0"/>
          </a:p>
        </p:txBody>
      </p:sp>
      <p:grpSp>
        <p:nvGrpSpPr>
          <p:cNvPr id="2" name="Group 11"/>
          <p:cNvGrpSpPr/>
          <p:nvPr/>
        </p:nvGrpSpPr>
        <p:grpSpPr>
          <a:xfrm rot="16200000">
            <a:off x="2939004" y="990029"/>
            <a:ext cx="1694355" cy="4143404"/>
            <a:chOff x="2591891" y="1844913"/>
            <a:chExt cx="3960217" cy="3168174"/>
          </a:xfrm>
        </p:grpSpPr>
        <p:sp>
          <p:nvSpPr>
            <p:cNvPr id="13" name=" 3"/>
            <p:cNvSpPr/>
            <p:nvPr/>
          </p:nvSpPr>
          <p:spPr>
            <a:xfrm>
              <a:off x="2591891" y="1844913"/>
              <a:ext cx="3960217" cy="3168174"/>
            </a:xfrm>
            <a:prstGeom prst="funnel">
              <a:avLst/>
            </a:pr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14" name="Oval 13"/>
            <p:cNvSpPr/>
            <p:nvPr/>
          </p:nvSpPr>
          <p:spPr>
            <a:xfrm>
              <a:off x="2747473" y="1899537"/>
              <a:ext cx="3649057" cy="1474840"/>
            </a:xfrm>
            <a:prstGeom prst="ellipse">
              <a:avLst/>
            </a:prstGeom>
          </p:spPr>
          <p:style>
            <a:lnRef idx="0">
              <a:schemeClr val="accent2">
                <a:hueOff val="0"/>
                <a:satOff val="0"/>
                <a:lumOff val="0"/>
                <a:alphaOff val="0"/>
              </a:schemeClr>
            </a:lnRef>
            <a:fillRef idx="1">
              <a:schemeClr val="accent2">
                <a:tint val="50000"/>
                <a:alpha val="40000"/>
                <a:hueOff val="0"/>
                <a:satOff val="0"/>
                <a:lumOff val="0"/>
                <a:alphaOff val="0"/>
              </a:schemeClr>
            </a:fillRef>
            <a:effectRef idx="0">
              <a:schemeClr val="accent2">
                <a:tint val="50000"/>
                <a:alpha val="40000"/>
                <a:hueOff val="0"/>
                <a:satOff val="0"/>
                <a:lumOff val="0"/>
                <a:alphaOff val="0"/>
              </a:schemeClr>
            </a:effectRef>
            <a:fontRef idx="minor">
              <a:schemeClr val="lt1">
                <a:hueOff val="0"/>
                <a:satOff val="0"/>
                <a:lumOff val="0"/>
                <a:alphaOff val="0"/>
              </a:schemeClr>
            </a:fontRef>
          </p:style>
        </p:sp>
      </p:grpSp>
      <p:sp>
        <p:nvSpPr>
          <p:cNvPr id="17" name="Oval 16"/>
          <p:cNvSpPr/>
          <p:nvPr/>
        </p:nvSpPr>
        <p:spPr>
          <a:xfrm>
            <a:off x="1142976" y="2285992"/>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sp>
        <p:nvSpPr>
          <p:cNvPr id="19" name="Oval 18"/>
          <p:cNvSpPr/>
          <p:nvPr/>
        </p:nvSpPr>
        <p:spPr>
          <a:xfrm>
            <a:off x="785786" y="2786058"/>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sp>
        <p:nvSpPr>
          <p:cNvPr id="20" name="Oval 19"/>
          <p:cNvSpPr/>
          <p:nvPr/>
        </p:nvSpPr>
        <p:spPr>
          <a:xfrm>
            <a:off x="1214414" y="3357562"/>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sp>
        <p:nvSpPr>
          <p:cNvPr id="22" name="Right Arrow 21"/>
          <p:cNvSpPr/>
          <p:nvPr/>
        </p:nvSpPr>
        <p:spPr>
          <a:xfrm>
            <a:off x="1571604" y="2857496"/>
            <a:ext cx="714380"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000760" y="2857496"/>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sp>
        <p:nvSpPr>
          <p:cNvPr id="24" name="Oval 23"/>
          <p:cNvSpPr/>
          <p:nvPr/>
        </p:nvSpPr>
        <p:spPr>
          <a:xfrm>
            <a:off x="714348" y="5000636"/>
            <a:ext cx="500066" cy="50006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dirty="0" smtClean="0"/>
              <a:t>#</a:t>
            </a:r>
            <a:endParaRPr lang="en-US" dirty="0"/>
          </a:p>
        </p:txBody>
      </p:sp>
      <p:pic>
        <p:nvPicPr>
          <p:cNvPr id="1028" name="Picture 4" descr="C:\Documents and Settings\pyhama\My Documents\My Pictures\Microsoft Clip Organizer\j0417574.wmf"/>
          <p:cNvPicPr>
            <a:picLocks noChangeAspect="1" noChangeArrowheads="1"/>
          </p:cNvPicPr>
          <p:nvPr/>
        </p:nvPicPr>
        <p:blipFill>
          <a:blip r:embed="rId3" cstate="print"/>
          <a:srcRect/>
          <a:stretch>
            <a:fillRect/>
          </a:stretch>
        </p:blipFill>
        <p:spPr bwMode="auto">
          <a:xfrm>
            <a:off x="1722218" y="174114"/>
            <a:ext cx="178007" cy="172439"/>
          </a:xfrm>
          <a:prstGeom prst="rect">
            <a:avLst/>
          </a:prstGeom>
          <a:noFill/>
        </p:spPr>
      </p:pic>
      <p:pic>
        <p:nvPicPr>
          <p:cNvPr id="1030"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1428728" y="4500570"/>
            <a:ext cx="523892" cy="519753"/>
          </a:xfrm>
          <a:prstGeom prst="rect">
            <a:avLst/>
          </a:prstGeom>
          <a:noFill/>
        </p:spPr>
      </p:pic>
      <p:pic>
        <p:nvPicPr>
          <p:cNvPr id="1031" name="Picture 7" descr="C:\Documents and Settings\pyhama\My Documents\My Pictures\Microsoft Clip Organizer\j0417560.wmf"/>
          <p:cNvPicPr>
            <a:picLocks noChangeAspect="1" noChangeArrowheads="1"/>
          </p:cNvPicPr>
          <p:nvPr/>
        </p:nvPicPr>
        <p:blipFill>
          <a:blip r:embed="rId5" cstate="print"/>
          <a:srcRect/>
          <a:stretch>
            <a:fillRect/>
          </a:stretch>
        </p:blipFill>
        <p:spPr bwMode="auto">
          <a:xfrm>
            <a:off x="2643174" y="6138906"/>
            <a:ext cx="440490" cy="433366"/>
          </a:xfrm>
          <a:prstGeom prst="rect">
            <a:avLst/>
          </a:prstGeom>
          <a:noFill/>
        </p:spPr>
      </p:pic>
      <p:sp>
        <p:nvSpPr>
          <p:cNvPr id="31" name="Oval 30"/>
          <p:cNvSpPr/>
          <p:nvPr/>
        </p:nvSpPr>
        <p:spPr>
          <a:xfrm>
            <a:off x="1000100" y="5929330"/>
            <a:ext cx="500066" cy="50006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dirty="0" smtClean="0"/>
              <a:t>#</a:t>
            </a:r>
            <a:endParaRPr lang="en-US" dirty="0"/>
          </a:p>
        </p:txBody>
      </p:sp>
      <p:sp>
        <p:nvSpPr>
          <p:cNvPr id="32" name="Oval 31"/>
          <p:cNvSpPr/>
          <p:nvPr/>
        </p:nvSpPr>
        <p:spPr>
          <a:xfrm>
            <a:off x="1428728" y="5429264"/>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pic>
        <p:nvPicPr>
          <p:cNvPr id="33"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6429388" y="2143116"/>
            <a:ext cx="523892" cy="519753"/>
          </a:xfrm>
          <a:prstGeom prst="rect">
            <a:avLst/>
          </a:prstGeom>
          <a:noFill/>
        </p:spPr>
      </p:pic>
      <p:cxnSp>
        <p:nvCxnSpPr>
          <p:cNvPr id="35" name="Elbow Connector 34"/>
          <p:cNvCxnSpPr>
            <a:stCxn id="24" idx="6"/>
            <a:endCxn id="1030" idx="1"/>
          </p:cNvCxnSpPr>
          <p:nvPr/>
        </p:nvCxnSpPr>
        <p:spPr>
          <a:xfrm flipV="1">
            <a:off x="1214414" y="4760447"/>
            <a:ext cx="214314" cy="49022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a:stCxn id="31" idx="6"/>
            <a:endCxn id="1031" idx="1"/>
          </p:cNvCxnSpPr>
          <p:nvPr/>
        </p:nvCxnSpPr>
        <p:spPr>
          <a:xfrm>
            <a:off x="1500166" y="6179363"/>
            <a:ext cx="1143008" cy="17622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pic>
        <p:nvPicPr>
          <p:cNvPr id="38" name="Picture 2" descr="C:\Documents and Settings\pyhama\My Documents\My Pictures\Microsoft Clip Organizer\j0417566.wmf"/>
          <p:cNvPicPr>
            <a:picLocks noChangeAspect="1" noChangeArrowheads="1"/>
          </p:cNvPicPr>
          <p:nvPr/>
        </p:nvPicPr>
        <p:blipFill>
          <a:blip r:embed="rId6" cstate="print"/>
          <a:srcRect/>
          <a:stretch>
            <a:fillRect/>
          </a:stretch>
        </p:blipFill>
        <p:spPr bwMode="auto">
          <a:xfrm>
            <a:off x="2357422" y="1214422"/>
            <a:ext cx="433787" cy="451157"/>
          </a:xfrm>
          <a:prstGeom prst="rect">
            <a:avLst/>
          </a:prstGeom>
          <a:noFill/>
        </p:spPr>
      </p:pic>
      <p:pic>
        <p:nvPicPr>
          <p:cNvPr id="39" name="Picture 3" descr="C:\Documents and Settings\pyhama\My Documents\My Pictures\Microsoft Clip Organizer\j0417576.wmf"/>
          <p:cNvPicPr>
            <a:picLocks noChangeAspect="1" noChangeArrowheads="1"/>
          </p:cNvPicPr>
          <p:nvPr/>
        </p:nvPicPr>
        <p:blipFill>
          <a:blip r:embed="rId7" cstate="print"/>
          <a:srcRect/>
          <a:stretch>
            <a:fillRect/>
          </a:stretch>
        </p:blipFill>
        <p:spPr bwMode="auto">
          <a:xfrm>
            <a:off x="2357422" y="1712174"/>
            <a:ext cx="500075" cy="503907"/>
          </a:xfrm>
          <a:prstGeom prst="rect">
            <a:avLst/>
          </a:prstGeom>
          <a:noFill/>
        </p:spPr>
      </p:pic>
      <p:pic>
        <p:nvPicPr>
          <p:cNvPr id="40" name="Picture 5" descr="C:\Documents and Settings\pyhama\My Documents\My Pictures\Microsoft Clip Organizer\j0417568.wmf"/>
          <p:cNvPicPr>
            <a:picLocks noChangeAspect="1" noChangeArrowheads="1"/>
          </p:cNvPicPr>
          <p:nvPr/>
        </p:nvPicPr>
        <p:blipFill>
          <a:blip r:embed="rId8" cstate="print"/>
          <a:srcRect/>
          <a:stretch>
            <a:fillRect/>
          </a:stretch>
        </p:blipFill>
        <p:spPr bwMode="auto">
          <a:xfrm>
            <a:off x="2857488" y="1404512"/>
            <a:ext cx="428628" cy="500897"/>
          </a:xfrm>
          <a:prstGeom prst="rect">
            <a:avLst/>
          </a:prstGeom>
          <a:noFill/>
        </p:spPr>
      </p:pic>
      <p:pic>
        <p:nvPicPr>
          <p:cNvPr id="41" name="Picture 2" descr="C:\Documents and Settings\pyhama\My Documents\My Pictures\Microsoft Clip Organizer\j0417566.wmf"/>
          <p:cNvPicPr>
            <a:picLocks noChangeAspect="1" noChangeArrowheads="1"/>
          </p:cNvPicPr>
          <p:nvPr/>
        </p:nvPicPr>
        <p:blipFill>
          <a:blip r:embed="rId6" cstate="print"/>
          <a:srcRect/>
          <a:stretch>
            <a:fillRect/>
          </a:stretch>
        </p:blipFill>
        <p:spPr bwMode="auto">
          <a:xfrm>
            <a:off x="5072066" y="4643446"/>
            <a:ext cx="433787" cy="451157"/>
          </a:xfrm>
          <a:prstGeom prst="rect">
            <a:avLst/>
          </a:prstGeom>
          <a:noFill/>
        </p:spPr>
      </p:pic>
      <p:pic>
        <p:nvPicPr>
          <p:cNvPr id="42" name="Picture 3" descr="C:\Documents and Settings\pyhama\My Documents\My Pictures\Microsoft Clip Organizer\j0417576.wmf"/>
          <p:cNvPicPr>
            <a:picLocks noChangeAspect="1" noChangeArrowheads="1"/>
          </p:cNvPicPr>
          <p:nvPr/>
        </p:nvPicPr>
        <p:blipFill>
          <a:blip r:embed="rId7" cstate="print"/>
          <a:srcRect/>
          <a:stretch>
            <a:fillRect/>
          </a:stretch>
        </p:blipFill>
        <p:spPr bwMode="auto">
          <a:xfrm>
            <a:off x="5072066" y="5141198"/>
            <a:ext cx="500075" cy="503907"/>
          </a:xfrm>
          <a:prstGeom prst="rect">
            <a:avLst/>
          </a:prstGeom>
          <a:noFill/>
        </p:spPr>
      </p:pic>
      <p:pic>
        <p:nvPicPr>
          <p:cNvPr id="43" name="Picture 5" descr="C:\Documents and Settings\pyhama\My Documents\My Pictures\Microsoft Clip Organizer\j0417568.wmf"/>
          <p:cNvPicPr>
            <a:picLocks noChangeAspect="1" noChangeArrowheads="1"/>
          </p:cNvPicPr>
          <p:nvPr/>
        </p:nvPicPr>
        <p:blipFill>
          <a:blip r:embed="rId8" cstate="print"/>
          <a:srcRect/>
          <a:stretch>
            <a:fillRect/>
          </a:stretch>
        </p:blipFill>
        <p:spPr bwMode="auto">
          <a:xfrm>
            <a:off x="5572132" y="4833536"/>
            <a:ext cx="428628" cy="500897"/>
          </a:xfrm>
          <a:prstGeom prst="rect">
            <a:avLst/>
          </a:prstGeom>
          <a:noFill/>
        </p:spPr>
      </p:pic>
      <p:pic>
        <p:nvPicPr>
          <p:cNvPr id="44"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1928794" y="1428736"/>
            <a:ext cx="523892" cy="519753"/>
          </a:xfrm>
          <a:prstGeom prst="rect">
            <a:avLst/>
          </a:prstGeom>
          <a:noFill/>
        </p:spPr>
      </p:pic>
      <p:pic>
        <p:nvPicPr>
          <p:cNvPr id="45"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4572000" y="4857760"/>
            <a:ext cx="523892" cy="519753"/>
          </a:xfrm>
          <a:prstGeom prst="rect">
            <a:avLst/>
          </a:prstGeom>
          <a:noFill/>
        </p:spPr>
      </p:pic>
      <p:pic>
        <p:nvPicPr>
          <p:cNvPr id="46" name="Picture 3" descr="C:\Documents and Settings\pyhama\My Documents\My Pictures\Microsoft Clip Organizer\j0417576.wmf"/>
          <p:cNvPicPr>
            <a:picLocks noChangeAspect="1" noChangeArrowheads="1"/>
          </p:cNvPicPr>
          <p:nvPr/>
        </p:nvPicPr>
        <p:blipFill>
          <a:blip r:embed="rId7" cstate="print"/>
          <a:srcRect/>
          <a:stretch>
            <a:fillRect/>
          </a:stretch>
        </p:blipFill>
        <p:spPr bwMode="auto">
          <a:xfrm>
            <a:off x="3143231" y="5141198"/>
            <a:ext cx="500075" cy="503907"/>
          </a:xfrm>
          <a:prstGeom prst="rect">
            <a:avLst/>
          </a:prstGeom>
          <a:noFill/>
        </p:spPr>
      </p:pic>
      <p:pic>
        <p:nvPicPr>
          <p:cNvPr id="47"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2714603" y="4857760"/>
            <a:ext cx="523892" cy="519753"/>
          </a:xfrm>
          <a:prstGeom prst="rect">
            <a:avLst/>
          </a:prstGeom>
          <a:noFill/>
        </p:spPr>
      </p:pic>
      <p:sp>
        <p:nvSpPr>
          <p:cNvPr id="48" name="Oval 47"/>
          <p:cNvSpPr/>
          <p:nvPr/>
        </p:nvSpPr>
        <p:spPr>
          <a:xfrm>
            <a:off x="1928794" y="4929198"/>
            <a:ext cx="500066" cy="500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smtClean="0"/>
              <a:t>#</a:t>
            </a:r>
            <a:endParaRPr lang="en-US" dirty="0"/>
          </a:p>
        </p:txBody>
      </p:sp>
      <p:cxnSp>
        <p:nvCxnSpPr>
          <p:cNvPr id="50" name="Elbow Connector 49"/>
          <p:cNvCxnSpPr>
            <a:stCxn id="48" idx="6"/>
            <a:endCxn id="47" idx="1"/>
          </p:cNvCxnSpPr>
          <p:nvPr/>
        </p:nvCxnSpPr>
        <p:spPr>
          <a:xfrm flipV="1">
            <a:off x="2428860" y="5117637"/>
            <a:ext cx="285743" cy="6159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32" idx="6"/>
            <a:endCxn id="46" idx="1"/>
          </p:cNvCxnSpPr>
          <p:nvPr/>
        </p:nvCxnSpPr>
        <p:spPr>
          <a:xfrm flipV="1">
            <a:off x="1928794" y="5393152"/>
            <a:ext cx="1214437" cy="28614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hape 54"/>
          <p:cNvCxnSpPr>
            <a:stCxn id="46" idx="0"/>
            <a:endCxn id="45" idx="1"/>
          </p:cNvCxnSpPr>
          <p:nvPr/>
        </p:nvCxnSpPr>
        <p:spPr>
          <a:xfrm rot="5400000" flipH="1" flipV="1">
            <a:off x="3970854" y="4540053"/>
            <a:ext cx="23561" cy="117873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2714612" y="1071546"/>
            <a:ext cx="714380" cy="369332"/>
          </a:xfrm>
          <a:prstGeom prst="rect">
            <a:avLst/>
          </a:prstGeom>
          <a:noFill/>
        </p:spPr>
        <p:txBody>
          <a:bodyPr wrap="square" rtlCol="0">
            <a:spAutoFit/>
          </a:bodyPr>
          <a:lstStyle/>
          <a:p>
            <a:r>
              <a:rPr lang="en-GB" dirty="0" smtClean="0"/>
              <a:t>CCB</a:t>
            </a:r>
            <a:endParaRPr lang="en-US" dirty="0"/>
          </a:p>
        </p:txBody>
      </p:sp>
      <p:sp>
        <p:nvSpPr>
          <p:cNvPr id="57" name="TextBox 56"/>
          <p:cNvSpPr txBox="1"/>
          <p:nvPr/>
        </p:nvSpPr>
        <p:spPr>
          <a:xfrm>
            <a:off x="4500562" y="4500570"/>
            <a:ext cx="714380" cy="369332"/>
          </a:xfrm>
          <a:prstGeom prst="rect">
            <a:avLst/>
          </a:prstGeom>
          <a:noFill/>
        </p:spPr>
        <p:txBody>
          <a:bodyPr wrap="square" rtlCol="0">
            <a:spAutoFit/>
          </a:bodyPr>
          <a:lstStyle/>
          <a:p>
            <a:r>
              <a:rPr lang="en-GB" dirty="0" smtClean="0"/>
              <a:t>CAB</a:t>
            </a:r>
            <a:endParaRPr lang="en-US" dirty="0"/>
          </a:p>
        </p:txBody>
      </p:sp>
      <p:sp>
        <p:nvSpPr>
          <p:cNvPr id="58" name="TextBox 57"/>
          <p:cNvSpPr txBox="1"/>
          <p:nvPr/>
        </p:nvSpPr>
        <p:spPr>
          <a:xfrm>
            <a:off x="5072066" y="6072206"/>
            <a:ext cx="3571900" cy="369332"/>
          </a:xfrm>
          <a:prstGeom prst="rect">
            <a:avLst/>
          </a:prstGeom>
          <a:noFill/>
        </p:spPr>
        <p:txBody>
          <a:bodyPr wrap="square" rtlCol="0">
            <a:spAutoFit/>
          </a:bodyPr>
          <a:lstStyle/>
          <a:p>
            <a:pPr algn="ctr"/>
            <a:r>
              <a:rPr lang="en-GB" dirty="0" smtClean="0">
                <a:latin typeface="Algerian" pitchFamily="82" charset="0"/>
              </a:rPr>
              <a:t>Self-organized Triage</a:t>
            </a:r>
            <a:endParaRPr lang="en-US" dirty="0">
              <a:latin typeface="Algerian" pitchFamily="82" charset="0"/>
            </a:endParaRPr>
          </a:p>
        </p:txBody>
      </p:sp>
      <p:sp>
        <p:nvSpPr>
          <p:cNvPr id="61" name="Oval 60"/>
          <p:cNvSpPr/>
          <p:nvPr/>
        </p:nvSpPr>
        <p:spPr>
          <a:xfrm>
            <a:off x="6929454" y="4786322"/>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a:t>
            </a:r>
            <a:endParaRPr lang="en-US" dirty="0"/>
          </a:p>
        </p:txBody>
      </p:sp>
      <p:grpSp>
        <p:nvGrpSpPr>
          <p:cNvPr id="3" name="Group 63"/>
          <p:cNvGrpSpPr/>
          <p:nvPr/>
        </p:nvGrpSpPr>
        <p:grpSpPr>
          <a:xfrm rot="16200000">
            <a:off x="6189433" y="4669087"/>
            <a:ext cx="489433" cy="723902"/>
            <a:chOff x="2591891" y="1844913"/>
            <a:chExt cx="3960217" cy="3168174"/>
          </a:xfrm>
        </p:grpSpPr>
        <p:sp>
          <p:nvSpPr>
            <p:cNvPr id="65" name=" 3"/>
            <p:cNvSpPr/>
            <p:nvPr/>
          </p:nvSpPr>
          <p:spPr>
            <a:xfrm>
              <a:off x="2591891" y="1844913"/>
              <a:ext cx="3960217" cy="3168174"/>
            </a:xfrm>
            <a:prstGeom prst="funnel">
              <a:avLst/>
            </a:pr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66" name="Oval 65"/>
            <p:cNvSpPr/>
            <p:nvPr/>
          </p:nvSpPr>
          <p:spPr>
            <a:xfrm>
              <a:off x="2747473" y="1899537"/>
              <a:ext cx="3649057" cy="1474840"/>
            </a:xfrm>
            <a:prstGeom prst="ellipse">
              <a:avLst/>
            </a:prstGeom>
          </p:spPr>
          <p:style>
            <a:lnRef idx="0">
              <a:schemeClr val="accent2">
                <a:hueOff val="0"/>
                <a:satOff val="0"/>
                <a:lumOff val="0"/>
                <a:alphaOff val="0"/>
              </a:schemeClr>
            </a:lnRef>
            <a:fillRef idx="1">
              <a:schemeClr val="accent2">
                <a:tint val="50000"/>
                <a:alpha val="40000"/>
                <a:hueOff val="0"/>
                <a:satOff val="0"/>
                <a:lumOff val="0"/>
                <a:alphaOff val="0"/>
              </a:schemeClr>
            </a:fillRef>
            <a:effectRef idx="0">
              <a:schemeClr val="accent2">
                <a:tint val="50000"/>
                <a:alpha val="40000"/>
                <a:hueOff val="0"/>
                <a:satOff val="0"/>
                <a:lumOff val="0"/>
                <a:alphaOff val="0"/>
              </a:schemeClr>
            </a:effectRef>
            <a:fontRef idx="minor">
              <a:schemeClr val="lt1">
                <a:hueOff val="0"/>
                <a:satOff val="0"/>
                <a:lumOff val="0"/>
                <a:alphaOff val="0"/>
              </a:schemeClr>
            </a:fontRef>
          </p:style>
        </p:sp>
      </p:grpSp>
      <p:pic>
        <p:nvPicPr>
          <p:cNvPr id="1032" name="Picture 8" descr="C:\Documents and Settings\pyhama\My Documents\My Pictures\Microsoft Clip Organizer\j0417556.wmf"/>
          <p:cNvPicPr>
            <a:picLocks noChangeAspect="1" noChangeArrowheads="1"/>
          </p:cNvPicPr>
          <p:nvPr/>
        </p:nvPicPr>
        <p:blipFill>
          <a:blip r:embed="rId9" cstate="print"/>
          <a:srcRect/>
          <a:stretch>
            <a:fillRect/>
          </a:stretch>
        </p:blipFill>
        <p:spPr bwMode="auto">
          <a:xfrm>
            <a:off x="4643438" y="5429264"/>
            <a:ext cx="412750" cy="486999"/>
          </a:xfrm>
          <a:prstGeom prst="rect">
            <a:avLst/>
          </a:prstGeom>
          <a:noFill/>
        </p:spPr>
      </p:pic>
      <p:pic>
        <p:nvPicPr>
          <p:cNvPr id="68" name="Picture 8" descr="C:\Documents and Settings\pyhama\My Documents\My Pictures\Microsoft Clip Organizer\j0417556.wmf"/>
          <p:cNvPicPr>
            <a:picLocks noChangeAspect="1" noChangeArrowheads="1"/>
          </p:cNvPicPr>
          <p:nvPr/>
        </p:nvPicPr>
        <p:blipFill>
          <a:blip r:embed="rId9" cstate="print"/>
          <a:srcRect/>
          <a:stretch>
            <a:fillRect/>
          </a:stretch>
        </p:blipFill>
        <p:spPr bwMode="auto">
          <a:xfrm>
            <a:off x="1500166" y="1500174"/>
            <a:ext cx="412750" cy="486999"/>
          </a:xfrm>
          <a:prstGeom prst="rect">
            <a:avLst/>
          </a:prstGeom>
          <a:noFill/>
        </p:spPr>
      </p:pic>
      <p:pic>
        <p:nvPicPr>
          <p:cNvPr id="69" name="Picture 6" descr="C:\Documents and Settings\pyhama\My Documents\My Pictures\Microsoft Clip Organizer\j0417564.wmf"/>
          <p:cNvPicPr>
            <a:picLocks noChangeAspect="1" noChangeArrowheads="1"/>
          </p:cNvPicPr>
          <p:nvPr/>
        </p:nvPicPr>
        <p:blipFill>
          <a:blip r:embed="rId4" cstate="print"/>
          <a:srcRect/>
          <a:stretch>
            <a:fillRect/>
          </a:stretch>
        </p:blipFill>
        <p:spPr bwMode="auto">
          <a:xfrm>
            <a:off x="7500958" y="4572008"/>
            <a:ext cx="523892" cy="519753"/>
          </a:xfrm>
          <a:prstGeom prst="rect">
            <a:avLst/>
          </a:prstGeom>
          <a:noFill/>
        </p:spPr>
      </p:pic>
      <p:cxnSp>
        <p:nvCxnSpPr>
          <p:cNvPr id="51" name="Straight Arrow Connector 50"/>
          <p:cNvCxnSpPr/>
          <p:nvPr/>
        </p:nvCxnSpPr>
        <p:spPr>
          <a:xfrm>
            <a:off x="5214942" y="1643050"/>
            <a:ext cx="285752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6786578" y="1295400"/>
            <a:ext cx="1357322" cy="369332"/>
          </a:xfrm>
          <a:prstGeom prst="rect">
            <a:avLst/>
          </a:prstGeom>
          <a:noFill/>
        </p:spPr>
        <p:txBody>
          <a:bodyPr wrap="square" rtlCol="0">
            <a:spAutoFit/>
          </a:bodyPr>
          <a:lstStyle/>
          <a:p>
            <a:pPr algn="ctr"/>
            <a:r>
              <a:rPr lang="en-GB" dirty="0" smtClean="0"/>
              <a:t>time</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Bug Advocacy in Agile</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Bug advocacy is attitude towards increasing understanding of relevance of a bug and its fix</a:t>
            </a:r>
          </a:p>
          <a:p>
            <a:r>
              <a:rPr lang="fi-FI" dirty="0" smtClean="0"/>
              <a:t>A tester should increase awareness of the known issues and help advocate for the right choices of fixes</a:t>
            </a:r>
          </a:p>
          <a:p>
            <a:r>
              <a:rPr lang="fi-FI" dirty="0" smtClean="0"/>
              <a:t>Agile entails an idea that a fix is made </a:t>
            </a:r>
            <a:r>
              <a:rPr lang="fi-FI" i="1" dirty="0" smtClean="0"/>
              <a:t>right now</a:t>
            </a:r>
            <a:r>
              <a:rPr lang="fi-FI" dirty="0" smtClean="0"/>
              <a:t> if a fix is needed at all</a:t>
            </a:r>
          </a:p>
          <a:p>
            <a:r>
              <a:rPr lang="fi-FI" dirty="0" smtClean="0"/>
              <a:t>Postponing fixes to a later time adds costs: </a:t>
            </a:r>
            <a:r>
              <a:rPr lang="fi-FI" i="1" dirty="0" smtClean="0"/>
              <a:t>quality debt </a:t>
            </a:r>
            <a:r>
              <a:rPr lang="fi-FI" dirty="0" smtClean="0"/>
              <a:t>has interest</a:t>
            </a:r>
          </a:p>
          <a:p>
            <a:pPr lvl="1"/>
            <a:r>
              <a:rPr lang="fi-FI" dirty="0" smtClean="0"/>
              <a:t>Uncertainty in schedules</a:t>
            </a:r>
          </a:p>
          <a:p>
            <a:pPr lvl="1"/>
            <a:r>
              <a:rPr lang="fi-FI" dirty="0" smtClean="0"/>
              <a:t>Slower testing (in duplicate </a:t>
            </a:r>
            <a:br>
              <a:rPr lang="fi-FI" dirty="0" smtClean="0"/>
            </a:br>
            <a:r>
              <a:rPr lang="fi-FI" dirty="0" smtClean="0"/>
              <a:t>report avoidance)</a:t>
            </a:r>
          </a:p>
          <a:p>
            <a:pPr lvl="1"/>
            <a:r>
              <a:rPr lang="fi-FI" dirty="0" smtClean="0"/>
              <a:t>...</a:t>
            </a:r>
            <a:endParaRPr lang="fi-FI" dirty="0"/>
          </a:p>
        </p:txBody>
      </p:sp>
      <p:sp>
        <p:nvSpPr>
          <p:cNvPr id="5" name="Content Placeholder 4"/>
          <p:cNvSpPr>
            <a:spLocks noGrp="1"/>
          </p:cNvSpPr>
          <p:nvPr>
            <p:ph sz="half" idx="4294967295"/>
          </p:nvPr>
        </p:nvSpPr>
        <p:spPr>
          <a:xfrm>
            <a:off x="4953000" y="4724400"/>
            <a:ext cx="4038600" cy="1676400"/>
          </a:xfrm>
        </p:spPr>
        <p:style>
          <a:lnRef idx="1">
            <a:schemeClr val="accent4"/>
          </a:lnRef>
          <a:fillRef idx="2">
            <a:schemeClr val="accent4"/>
          </a:fillRef>
          <a:effectRef idx="1">
            <a:schemeClr val="accent4"/>
          </a:effectRef>
          <a:fontRef idx="minor">
            <a:schemeClr val="dk1"/>
          </a:fontRef>
        </p:style>
        <p:txBody>
          <a:bodyPr>
            <a:normAutofit fontScale="70000" lnSpcReduction="20000"/>
          </a:bodyPr>
          <a:lstStyle/>
          <a:p>
            <a:pPr algn="ctr">
              <a:buNone/>
            </a:pPr>
            <a:r>
              <a:rPr lang="fi-FI" b="1" dirty="0" smtClean="0"/>
              <a:t>EXPECTED FROM TEAM MEMBER WITH TEST EMPHASIS</a:t>
            </a:r>
          </a:p>
          <a:p>
            <a:pPr>
              <a:buAutoNum type="arabicPeriod"/>
            </a:pPr>
            <a:r>
              <a:rPr lang="fi-FI" dirty="0" smtClean="0"/>
              <a:t>Advocate for stakeholder relevance of inclusion</a:t>
            </a:r>
          </a:p>
          <a:p>
            <a:pPr>
              <a:buAutoNum type="arabicPeriod"/>
            </a:pPr>
            <a:r>
              <a:rPr lang="fi-FI" dirty="0" smtClean="0"/>
              <a:t>Advocate for stop-and-fix</a:t>
            </a:r>
          </a:p>
          <a:p>
            <a:endParaRPr lang="fi-FI"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Encouraging Stop-and-Fix </a:t>
            </a:r>
            <a:endParaRPr lang="fi-FI" dirty="0"/>
          </a:p>
        </p:txBody>
      </p:sp>
      <p:sp>
        <p:nvSpPr>
          <p:cNvPr id="3" name="Content Placeholder 2"/>
          <p:cNvSpPr>
            <a:spLocks noGrp="1"/>
          </p:cNvSpPr>
          <p:nvPr>
            <p:ph idx="1"/>
          </p:nvPr>
        </p:nvSpPr>
        <p:spPr/>
        <p:txBody>
          <a:bodyPr>
            <a:normAutofit/>
          </a:bodyPr>
          <a:lstStyle/>
          <a:p>
            <a:r>
              <a:rPr lang="fi-FI" dirty="0" smtClean="0"/>
              <a:t>Use visual management</a:t>
            </a:r>
          </a:p>
          <a:p>
            <a:pPr lvl="1"/>
            <a:r>
              <a:rPr lang="fi-FI" dirty="0" smtClean="0"/>
              <a:t>Colored index cards on task board</a:t>
            </a:r>
          </a:p>
          <a:p>
            <a:pPr lvl="1"/>
            <a:r>
              <a:rPr lang="fi-FI" dirty="0" smtClean="0"/>
              <a:t>Index cards in color folders – maintains also history</a:t>
            </a:r>
          </a:p>
          <a:p>
            <a:pPr lvl="1"/>
            <a:r>
              <a:rPr lang="fi-FI" dirty="0" smtClean="0"/>
              <a:t>Daily bug budgets </a:t>
            </a:r>
          </a:p>
          <a:p>
            <a:r>
              <a:rPr lang="fi-FI" dirty="0" smtClean="0"/>
              <a:t>Technical tools hide relevant understanding</a:t>
            </a:r>
          </a:p>
        </p:txBody>
      </p:sp>
      <p:sp>
        <p:nvSpPr>
          <p:cNvPr id="4" name="Footer Placeholder 3"/>
          <p:cNvSpPr>
            <a:spLocks noGrp="1"/>
          </p:cNvSpPr>
          <p:nvPr>
            <p:ph type="ftr" sz="quarter" idx="11"/>
          </p:nvPr>
        </p:nvSpPr>
        <p:spPr/>
        <p:txBody>
          <a:bodyPr/>
          <a:lstStyle/>
          <a:p>
            <a:r>
              <a:rPr lang="en-US" smtClean="0"/>
              <a:t>DAY 2</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What to Document on Bugs</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For the fix:</a:t>
            </a:r>
          </a:p>
          <a:p>
            <a:pPr lvl="1"/>
            <a:r>
              <a:rPr lang="fi-FI" dirty="0" smtClean="0"/>
              <a:t>Discussion: fix-right-now-and-I-test-it</a:t>
            </a:r>
          </a:p>
          <a:p>
            <a:pPr lvl="1"/>
            <a:r>
              <a:rPr lang="fi-FI" dirty="0" smtClean="0"/>
              <a:t>Post-it-note: fix-real-soon-and-I-test-it</a:t>
            </a:r>
          </a:p>
          <a:p>
            <a:pPr lvl="1"/>
            <a:r>
              <a:rPr lang="fi-FI" dirty="0" smtClean="0"/>
              <a:t>Bug-database: Will-not-fix-and-others-may-see-as-relevant</a:t>
            </a:r>
          </a:p>
          <a:p>
            <a:r>
              <a:rPr lang="fi-FI" dirty="0" smtClean="0"/>
              <a:t>For future, analysis:</a:t>
            </a:r>
          </a:p>
          <a:p>
            <a:pPr lvl="1"/>
            <a:r>
              <a:rPr lang="fi-FI" dirty="0" smtClean="0"/>
              <a:t>Fix-and-forget outweighs </a:t>
            </a:r>
            <a:br>
              <a:rPr lang="fi-FI" dirty="0" smtClean="0"/>
            </a:br>
            <a:r>
              <a:rPr lang="fi-FI" dirty="0" smtClean="0"/>
              <a:t>the benefits of recording</a:t>
            </a:r>
          </a:p>
          <a:p>
            <a:pPr lvl="1"/>
            <a:r>
              <a:rPr lang="fi-FI" dirty="0" smtClean="0"/>
              <a:t>Two fixes in agile: the bug </a:t>
            </a:r>
            <a:br>
              <a:rPr lang="fi-FI" dirty="0" smtClean="0"/>
            </a:br>
            <a:r>
              <a:rPr lang="fi-FI" dirty="0" smtClean="0"/>
              <a:t>and the </a:t>
            </a:r>
            <a:r>
              <a:rPr lang="fi-FI" i="1" dirty="0" smtClean="0"/>
              <a:t>root cause </a:t>
            </a:r>
            <a:r>
              <a:rPr lang="fi-FI" dirty="0" smtClean="0"/>
              <a:t>of the </a:t>
            </a:r>
            <a:br>
              <a:rPr lang="fi-FI" dirty="0" smtClean="0"/>
            </a:br>
            <a:r>
              <a:rPr lang="fi-FI" dirty="0" smtClean="0"/>
              <a:t>bug</a:t>
            </a:r>
          </a:p>
        </p:txBody>
      </p:sp>
      <p:sp>
        <p:nvSpPr>
          <p:cNvPr id="4" name="Rectangle 3"/>
          <p:cNvSpPr/>
          <p:nvPr/>
        </p:nvSpPr>
        <p:spPr>
          <a:xfrm>
            <a:off x="5105400" y="3441918"/>
            <a:ext cx="3962400" cy="181588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fi-FI" sz="2800" b="1" dirty="0" smtClean="0"/>
              <a:t>Defect treshold </a:t>
            </a:r>
            <a:r>
              <a:rPr lang="fi-FI" sz="2800" dirty="0" smtClean="0"/>
              <a:t>= A bug reporting tool is used when bug is not fixed within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Agile Teams Often Skip Bug Databases ... At least to an extent</a:t>
            </a:r>
            <a:endParaRPr lang="fi-FI" dirty="0"/>
          </a:p>
        </p:txBody>
      </p:sp>
      <p:sp>
        <p:nvSpPr>
          <p:cNvPr id="7" name="Content Placeholder 6"/>
          <p:cNvSpPr>
            <a:spLocks noGrp="1"/>
          </p:cNvSpPr>
          <p:nvPr>
            <p:ph idx="1"/>
          </p:nvPr>
        </p:nvSpPr>
        <p:spPr/>
        <p:txBody>
          <a:bodyPr>
            <a:normAutofit fontScale="85000" lnSpcReduction="10000"/>
          </a:bodyPr>
          <a:lstStyle/>
          <a:p>
            <a:r>
              <a:rPr lang="fi-FI" dirty="0" smtClean="0"/>
              <a:t>Fix-and-forget outweighs the benefits of recording</a:t>
            </a:r>
          </a:p>
          <a:p>
            <a:pPr lvl="1"/>
            <a:r>
              <a:rPr lang="fi-FI" dirty="0" smtClean="0"/>
              <a:t>Two fixes in agile: the bug and the root cause of the bug</a:t>
            </a:r>
          </a:p>
          <a:p>
            <a:r>
              <a:rPr lang="fi-FI" dirty="0" smtClean="0"/>
              <a:t>The objective is not to get rid of bug tracking system – it is to not need one</a:t>
            </a:r>
          </a:p>
          <a:p>
            <a:r>
              <a:rPr lang="fi-FI" dirty="0" smtClean="0"/>
              <a:t>To not need one requires a change of culture that manifests in practices</a:t>
            </a:r>
          </a:p>
          <a:p>
            <a:pPr lvl="1"/>
            <a:r>
              <a:rPr lang="en-US" dirty="0" smtClean="0"/>
              <a:t>automated test case to replace a bug report</a:t>
            </a:r>
          </a:p>
          <a:p>
            <a:pPr lvl="1"/>
            <a:r>
              <a:rPr lang="en-US" dirty="0" smtClean="0"/>
              <a:t>fixing right away without writing a report at all</a:t>
            </a:r>
          </a:p>
          <a:p>
            <a:pPr lvl="1"/>
            <a:r>
              <a:rPr lang="en-US" dirty="0" smtClean="0"/>
              <a:t>reporting on paper / on whiteboard</a:t>
            </a:r>
          </a:p>
          <a:p>
            <a:pPr lvl="1"/>
            <a:r>
              <a:rPr lang="en-US" dirty="0" smtClean="0"/>
              <a:t>deciding by each individual if a fix is needed</a:t>
            </a:r>
          </a:p>
          <a:p>
            <a:pPr lvl="1"/>
            <a:r>
              <a:rPr lang="en-US" dirty="0" smtClean="0"/>
              <a:t>identifying why problems emerge and fixing the root cause</a:t>
            </a:r>
          </a:p>
        </p:txBody>
      </p:sp>
      <p:sp>
        <p:nvSpPr>
          <p:cNvPr id="4" name="Footer Placeholder 3"/>
          <p:cNvSpPr>
            <a:spLocks noGrp="1"/>
          </p:cNvSpPr>
          <p:nvPr>
            <p:ph type="ftr" sz="quarter" idx="11"/>
          </p:nvPr>
        </p:nvSpPr>
        <p:spPr/>
        <p:txBody>
          <a:bodyPr/>
          <a:lstStyle/>
          <a:p>
            <a:r>
              <a:rPr lang="en-US" smtClean="0"/>
              <a:t>DAY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80</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The Negative Impact of Issue Tracking Systems</a:t>
            </a:r>
            <a:endParaRPr lang="fi-FI" dirty="0"/>
          </a:p>
        </p:txBody>
      </p:sp>
      <p:sp>
        <p:nvSpPr>
          <p:cNvPr id="3" name="Content Placeholder 2"/>
          <p:cNvSpPr>
            <a:spLocks noGrp="1"/>
          </p:cNvSpPr>
          <p:nvPr>
            <p:ph idx="1"/>
          </p:nvPr>
        </p:nvSpPr>
        <p:spPr/>
        <p:txBody>
          <a:bodyPr>
            <a:normAutofit lnSpcReduction="10000"/>
          </a:bodyPr>
          <a:lstStyle/>
          <a:p>
            <a:r>
              <a:rPr lang="fi-FI" dirty="0" smtClean="0"/>
              <a:t>Lack of promoting collaboration</a:t>
            </a:r>
          </a:p>
          <a:p>
            <a:pPr lvl="1"/>
            <a:r>
              <a:rPr lang="fi-FI" dirty="0" smtClean="0"/>
              <a:t>Substitutes direct communication to person</a:t>
            </a:r>
          </a:p>
          <a:p>
            <a:pPr lvl="1"/>
            <a:r>
              <a:rPr lang="fi-FI" dirty="0" smtClean="0"/>
              <a:t>Introduces a latency</a:t>
            </a:r>
          </a:p>
          <a:p>
            <a:r>
              <a:rPr lang="fi-FI" dirty="0" smtClean="0"/>
              <a:t>Misguides with attitude: leaving problems for later is </a:t>
            </a:r>
            <a:r>
              <a:rPr lang="fi-FI" u="sng" dirty="0" smtClean="0"/>
              <a:t>really not ok</a:t>
            </a:r>
          </a:p>
          <a:p>
            <a:r>
              <a:rPr lang="fi-FI" dirty="0" smtClean="0"/>
              <a:t>Significant cost to ”just-in-case” documentation</a:t>
            </a:r>
          </a:p>
          <a:p>
            <a:pPr lvl="1"/>
            <a:r>
              <a:rPr lang="fi-FI" dirty="0" smtClean="0"/>
              <a:t>”just in case we don’t recognize recurring patterns any other way”</a:t>
            </a:r>
          </a:p>
        </p:txBody>
      </p:sp>
      <p:sp>
        <p:nvSpPr>
          <p:cNvPr id="4" name="Footer Placeholder 3"/>
          <p:cNvSpPr>
            <a:spLocks noGrp="1"/>
          </p:cNvSpPr>
          <p:nvPr>
            <p:ph type="ftr" sz="quarter" idx="11"/>
          </p:nvPr>
        </p:nvSpPr>
        <p:spPr/>
        <p:txBody>
          <a:bodyPr/>
          <a:lstStyle/>
          <a:p>
            <a:r>
              <a:rPr lang="en-US" smtClean="0"/>
              <a:t>DAY 2</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Wrap-Up – # Bug Reporting Exercise</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How long did it take to write a formal report?</a:t>
            </a:r>
          </a:p>
          <a:p>
            <a:r>
              <a:rPr lang="fi-FI" dirty="0" smtClean="0"/>
              <a:t>How does the time for this bug compare with your usual work bug reporting times?</a:t>
            </a:r>
          </a:p>
          <a:p>
            <a:r>
              <a:rPr lang="fi-FI" dirty="0" smtClean="0"/>
              <a:t>Was your colleague able to reproduce the bug based on your instructions?</a:t>
            </a:r>
          </a:p>
          <a:p>
            <a:r>
              <a:rPr lang="fi-FI" dirty="0" smtClean="0"/>
              <a:t>Would the guy in India be able to reproduce the bug based on your instructions?</a:t>
            </a:r>
          </a:p>
          <a:p>
            <a:r>
              <a:rPr lang="fi-FI" dirty="0" smtClean="0"/>
              <a:t>Would the project manager make right decisions about importance based on your report?</a:t>
            </a:r>
          </a:p>
          <a:p>
            <a:r>
              <a:rPr lang="fi-FI" dirty="0" smtClean="0"/>
              <a:t>Would business people undertand the implications of leaving this bug based on your report?</a:t>
            </a:r>
            <a:endParaRPr lang="fi-FI"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hallinta</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4419600" y="29813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Vaatimukset ja hyväksymistestiohjattu kehitys</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86</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4419600" y="41243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Reasons for Lack of ATDD</a:t>
            </a:r>
            <a:endParaRPr lang="fi-FI" dirty="0"/>
          </a:p>
        </p:txBody>
      </p:sp>
      <p:sp>
        <p:nvSpPr>
          <p:cNvPr id="4" name="Content Placeholder 3"/>
          <p:cNvSpPr>
            <a:spLocks noGrp="1"/>
          </p:cNvSpPr>
          <p:nvPr>
            <p:ph sz="half" idx="1"/>
          </p:nvPr>
        </p:nvSpPr>
        <p:spPr/>
        <p:txBody>
          <a:bodyPr>
            <a:noAutofit/>
          </a:bodyPr>
          <a:lstStyle/>
          <a:p>
            <a:r>
              <a:rPr lang="fi-FI" sz="1800" dirty="0" smtClean="0"/>
              <a:t>Can’t work in incremental fashion</a:t>
            </a:r>
          </a:p>
          <a:p>
            <a:pPr lvl="1"/>
            <a:r>
              <a:rPr lang="fi-FI" sz="1600" dirty="0" smtClean="0"/>
              <a:t>Increment does not provide a new slice of business value, but more like building pieces for future business value</a:t>
            </a:r>
          </a:p>
          <a:p>
            <a:r>
              <a:rPr lang="fi-FI" sz="1800" dirty="0" smtClean="0"/>
              <a:t>Can’t define acceptance criteria fast enough</a:t>
            </a:r>
          </a:p>
          <a:p>
            <a:pPr lvl="1"/>
            <a:r>
              <a:rPr lang="fi-FI" sz="1600" dirty="0" smtClean="0"/>
              <a:t>Acceptance criteria for a focused change with past tests supporting might be possible, but there’s a lot of implications on changes and little time during planning day if you can’t rely on past in scales</a:t>
            </a:r>
          </a:p>
          <a:p>
            <a:r>
              <a:rPr lang="fi-FI" sz="1800" dirty="0" smtClean="0"/>
              <a:t>Can’t automate enough</a:t>
            </a:r>
          </a:p>
          <a:p>
            <a:pPr lvl="1"/>
            <a:r>
              <a:rPr lang="fi-FI" sz="1600" dirty="0" smtClean="0"/>
              <a:t>With incremental development, there’s more to test after every addition. If the automation does not take of the old, the old takes a lot of manual effort from the team. </a:t>
            </a:r>
          </a:p>
        </p:txBody>
      </p:sp>
      <p:sp>
        <p:nvSpPr>
          <p:cNvPr id="5" name="Content Placeholder 4"/>
          <p:cNvSpPr>
            <a:spLocks noGrp="1"/>
          </p:cNvSpPr>
          <p:nvPr>
            <p:ph sz="half" idx="2"/>
          </p:nvPr>
        </p:nvSpPr>
        <p:spPr/>
        <p:txBody>
          <a:bodyPr/>
          <a:lstStyle/>
          <a:p>
            <a:r>
              <a:rPr lang="fi-FI" sz="1800" dirty="0" smtClean="0"/>
              <a:t>Can’t automate fast enough</a:t>
            </a:r>
          </a:p>
          <a:p>
            <a:pPr lvl="1"/>
            <a:r>
              <a:rPr lang="fi-FI" sz="1600" dirty="0" smtClean="0"/>
              <a:t>Transforming test ideas to test automation does not fit the sprint work, there’s no quick enough way of automating on acceptance level</a:t>
            </a:r>
          </a:p>
          <a:p>
            <a:r>
              <a:rPr lang="fi-FI" sz="1800" dirty="0" smtClean="0"/>
              <a:t>Concern for skewed focus on automation over investigative testing</a:t>
            </a:r>
          </a:p>
          <a:p>
            <a:pPr lvl="1"/>
            <a:r>
              <a:rPr lang="fi-FI" sz="1600" dirty="0" smtClean="0"/>
              <a:t>Too much focus on automation and you end up not including  really relevant in-depth exploratory testing</a:t>
            </a:r>
          </a:p>
          <a:p>
            <a:pPr lvl="1"/>
            <a:r>
              <a:rPr lang="fi-FI" sz="1600" dirty="0" smtClean="0"/>
              <a:t>A manual test is not the same as automated, but for a lot of cases it does not matter – except for people who are convinced of 100 % test automation</a:t>
            </a:r>
          </a:p>
          <a:p>
            <a:endParaRPr lang="fi-FI"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Testiautomaatio</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89</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sp>
        <p:nvSpPr>
          <p:cNvPr id="10" name="Right Arrow 9"/>
          <p:cNvSpPr/>
          <p:nvPr/>
        </p:nvSpPr>
        <p:spPr>
          <a:xfrm>
            <a:off x="4419600" y="5267332"/>
            <a:ext cx="304800" cy="523868"/>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i-FI"/>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219200"/>
            <a:ext cx="8686800" cy="4154984"/>
          </a:xfrm>
          <a:prstGeom prst="rect">
            <a:avLst/>
          </a:prstGeom>
          <a:noFill/>
        </p:spPr>
        <p:txBody>
          <a:bodyPr wrap="square" rtlCol="0">
            <a:spAutoFit/>
          </a:bodyPr>
          <a:lstStyle/>
          <a:p>
            <a:pPr algn="ctr"/>
            <a:r>
              <a:rPr lang="fi-FI" sz="8800" dirty="0" smtClean="0">
                <a:latin typeface="Bradley Hand ITC" pitchFamily="66" charset="0"/>
              </a:rPr>
              <a:t>MAINTAINABLE TEST AUTOMATION</a:t>
            </a:r>
            <a:endParaRPr lang="fi-FI" sz="8800" dirty="0">
              <a:latin typeface="Bradley Hand ITC" pitchFamily="66"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Agile and Full Automation Debate</a:t>
            </a:r>
            <a:endParaRPr lang="fi-FI" dirty="0"/>
          </a:p>
        </p:txBody>
      </p:sp>
      <p:sp>
        <p:nvSpPr>
          <p:cNvPr id="3" name="Content Placeholder 2"/>
          <p:cNvSpPr>
            <a:spLocks noGrp="1"/>
          </p:cNvSpPr>
          <p:nvPr>
            <p:ph idx="1"/>
          </p:nvPr>
        </p:nvSpPr>
        <p:spPr/>
        <p:txBody>
          <a:bodyPr>
            <a:normAutofit fontScale="92500"/>
          </a:bodyPr>
          <a:lstStyle/>
          <a:p>
            <a:r>
              <a:rPr lang="fi-FI" dirty="0" smtClean="0"/>
              <a:t>Automation experts within agile say that you can and mostly should automate all tests</a:t>
            </a:r>
          </a:p>
          <a:p>
            <a:r>
              <a:rPr lang="fi-FI" dirty="0" smtClean="0"/>
              <a:t>For people like me, that already inflicts a bias towards not wanting to come up with so much to test, as it falls down to stupiding my idea down to a level where I eventually have to claim the automated test is the same as I had in mind</a:t>
            </a:r>
          </a:p>
          <a:p>
            <a:r>
              <a:rPr lang="fi-FI" dirty="0" smtClean="0"/>
              <a:t>”Requirements-oriented” approach, what you can’t describe is left out. </a:t>
            </a:r>
            <a:endParaRPr lang="fi-FI"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Kysymyksiä, ideoita?</a:t>
            </a:r>
            <a:endParaRPr lang="fi-FI" dirty="0"/>
          </a:p>
        </p:txBody>
      </p:sp>
      <p:graphicFrame>
        <p:nvGraphicFramePr>
          <p:cNvPr id="5" name="Content Placeholder 4"/>
          <p:cNvGraphicFramePr>
            <a:graphicFrameLocks noGrp="1"/>
          </p:cNvGraphicFramePr>
          <p:nvPr>
            <p:ph sz="half" idx="1"/>
          </p:nvPr>
        </p:nvGraphicFramePr>
        <p:xfrm>
          <a:off x="304800" y="1600200"/>
          <a:ext cx="41910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graphicFrame>
        <p:nvGraphicFramePr>
          <p:cNvPr id="7" name="Content Placeholder 4"/>
          <p:cNvGraphicFramePr>
            <a:graphicFrameLocks noGrp="1"/>
          </p:cNvGraphicFramePr>
          <p:nvPr>
            <p:ph sz="half" idx="2"/>
          </p:nvPr>
        </p:nvGraphicFramePr>
        <p:xfrm>
          <a:off x="4648200" y="1600200"/>
          <a:ext cx="41910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1524000" y="1219200"/>
            <a:ext cx="1752600" cy="369332"/>
          </a:xfrm>
          <a:prstGeom prst="rect">
            <a:avLst/>
          </a:prstGeom>
          <a:noFill/>
        </p:spPr>
        <p:txBody>
          <a:bodyPr wrap="square" rtlCol="0">
            <a:spAutoFit/>
          </a:bodyPr>
          <a:lstStyle/>
          <a:p>
            <a:pPr algn="ctr"/>
            <a:r>
              <a:rPr lang="fi-FI" b="1" dirty="0" smtClean="0"/>
              <a:t>PÄIVÄ 1</a:t>
            </a:r>
            <a:endParaRPr lang="fi-FI" b="1" dirty="0"/>
          </a:p>
        </p:txBody>
      </p:sp>
      <p:sp>
        <p:nvSpPr>
          <p:cNvPr id="9" name="TextBox 8"/>
          <p:cNvSpPr txBox="1"/>
          <p:nvPr/>
        </p:nvSpPr>
        <p:spPr>
          <a:xfrm>
            <a:off x="6019800" y="1219200"/>
            <a:ext cx="1752600" cy="369332"/>
          </a:xfrm>
          <a:prstGeom prst="rect">
            <a:avLst/>
          </a:prstGeom>
          <a:noFill/>
        </p:spPr>
        <p:txBody>
          <a:bodyPr wrap="square" rtlCol="0">
            <a:spAutoFit/>
          </a:bodyPr>
          <a:lstStyle/>
          <a:p>
            <a:pPr algn="ctr"/>
            <a:r>
              <a:rPr lang="fi-FI" b="1" dirty="0" smtClean="0"/>
              <a:t>PÄIVÄ 2</a:t>
            </a:r>
            <a:endParaRPr lang="fi-FI" b="1" dirty="0"/>
          </a:p>
        </p:txBody>
      </p:sp>
      <p:pic>
        <p:nvPicPr>
          <p:cNvPr id="11" name="Picture 10" descr="C:\Documents and Settings\mpyhajar.CONFORMIQ\Application Data\Microsoft\Media Catalog\Downloaded Clips\cl1f\j0078711.wmf"/>
          <p:cNvPicPr>
            <a:picLocks noChangeAspect="1" noChangeArrowheads="1"/>
          </p:cNvPicPr>
          <p:nvPr/>
        </p:nvPicPr>
        <p:blipFill>
          <a:blip r:embed="rId13" cstate="print"/>
          <a:srcRect/>
          <a:stretch>
            <a:fillRect/>
          </a:stretch>
        </p:blipFill>
        <p:spPr bwMode="auto">
          <a:xfrm>
            <a:off x="2209800" y="1676400"/>
            <a:ext cx="1622425" cy="3933825"/>
          </a:xfrm>
          <a:prstGeom prst="rect">
            <a:avLst/>
          </a:prstGeom>
          <a:noFill/>
        </p:spPr>
      </p:pic>
      <p:pic>
        <p:nvPicPr>
          <p:cNvPr id="12" name="Picture 11" descr="C:\Documents and Settings\mpyhajar.CONFORMIQ\Application Data\Microsoft\Media Catalog\Downloaded Clips\cl1f\j0078625.wmf"/>
          <p:cNvPicPr>
            <a:picLocks noChangeAspect="1" noChangeArrowheads="1"/>
          </p:cNvPicPr>
          <p:nvPr/>
        </p:nvPicPr>
        <p:blipFill>
          <a:blip r:embed="rId14" cstate="print"/>
          <a:srcRect/>
          <a:stretch>
            <a:fillRect/>
          </a:stretch>
        </p:blipFill>
        <p:spPr bwMode="auto">
          <a:xfrm>
            <a:off x="6553200" y="1600200"/>
            <a:ext cx="1295400" cy="3933825"/>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1806</TotalTime>
  <Words>5764</Words>
  <Application>Microsoft Office PowerPoint</Application>
  <PresentationFormat>On-screen Show (4:3)</PresentationFormat>
  <Paragraphs>1346</Paragraphs>
  <Slides>92</Slides>
  <Notes>92</Notes>
  <HiddenSlides>5</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94" baseType="lpstr">
      <vt:lpstr>Office Theme</vt:lpstr>
      <vt:lpstr>Slide</vt:lpstr>
      <vt:lpstr>Ketterä testaus</vt:lpstr>
      <vt:lpstr>Materiaalista</vt:lpstr>
      <vt:lpstr>Maaretin taustasta suhteessa ketterään testaukseen</vt:lpstr>
      <vt:lpstr>Esittäytymiset ja odotukset</vt:lpstr>
      <vt:lpstr>Kurssin oppimistavoitteet</vt:lpstr>
      <vt:lpstr>Suositeltavaa lukemistoa</vt:lpstr>
      <vt:lpstr>Muita erinomaisia lähteitä</vt:lpstr>
      <vt:lpstr>Seuraamisen arvoisia nimiä ketterän testauksen osalta</vt:lpstr>
      <vt:lpstr>Hyviä testaustiedon lähteitä verkossa</vt:lpstr>
      <vt:lpstr>Sisältö</vt:lpstr>
      <vt:lpstr>Ketterä testaus</vt:lpstr>
      <vt:lpstr>Mitä testaus on?</vt:lpstr>
      <vt:lpstr>Testaus on vaikeaa  Lähde: James Bach. </vt:lpstr>
      <vt:lpstr>Mitä testaus ei ole</vt:lpstr>
      <vt:lpstr>Ketterän testauksen kaksi maailmaa</vt:lpstr>
      <vt:lpstr>Testaus perinteisesti projektissa</vt:lpstr>
      <vt:lpstr>Ketterä testaus – ketterissä menetelmissä</vt:lpstr>
      <vt:lpstr>Projekti ketterillä arvoilla ja menetelmillä</vt:lpstr>
      <vt:lpstr>Ketteryyden määritelmä julistuksen kautta</vt:lpstr>
      <vt:lpstr>Plan-Driven vs. Agile - Rationale</vt:lpstr>
      <vt:lpstr>Perinteinen vs. ketterä testaus</vt:lpstr>
      <vt:lpstr>The Usual Ways of Testing Will Not Work</vt:lpstr>
      <vt:lpstr>Changed Meaning of ”Unit” and ”Acceptance” Testing</vt:lpstr>
      <vt:lpstr>Testiohjattu kehitystapa</vt:lpstr>
      <vt:lpstr>Ketterän testauksen nelikenttä</vt:lpstr>
      <vt:lpstr>Testaajan rooli</vt:lpstr>
      <vt:lpstr>Mitä ketterä testaaja tekee... Viikon työt esimerkkinä</vt:lpstr>
      <vt:lpstr>XP Testaajan oikeuksien julistus Lähde: Testing Extreme Programming by Lisa Crispin and Tip House (Addison-Wesley, 2002) </vt:lpstr>
      <vt:lpstr>Oliko vielä muuta?</vt:lpstr>
      <vt:lpstr>Ketterä testaus – Perinteisissä menetelmissä</vt:lpstr>
      <vt:lpstr>Testaus puoliketterästi   testaukseen ketterät arvot ja menetelmät</vt:lpstr>
      <vt:lpstr>Can Testing Alone Be Agile?</vt:lpstr>
      <vt:lpstr>Vaihteluväli</vt:lpstr>
      <vt:lpstr>Ketteryyden käytäntökeskustelun haasteena erilaiset tilanteet</vt:lpstr>
      <vt:lpstr>Ketterän testauksen vs. ketterän kehityksen kurssisisällöt</vt:lpstr>
      <vt:lpstr>Ideoita, ajatuksia,  kysymyksiä?</vt:lpstr>
      <vt:lpstr>Ketterät menetelmät</vt:lpstr>
      <vt:lpstr>Harjoitus: Ketterä sanastobingo</vt:lpstr>
      <vt:lpstr>Slide 39</vt:lpstr>
      <vt:lpstr>Slide 40</vt:lpstr>
      <vt:lpstr>Slide 41</vt:lpstr>
      <vt:lpstr>Slide 42</vt:lpstr>
      <vt:lpstr>Kanban kehitystapa</vt:lpstr>
      <vt:lpstr>Esimerkki Kanban taulusta</vt:lpstr>
      <vt:lpstr>Ideoita, ajatuksia,  kysymyksiä?</vt:lpstr>
      <vt:lpstr>Ketterä suunnittelu</vt:lpstr>
      <vt:lpstr>Ketterä suunnittelu</vt:lpstr>
      <vt:lpstr>Kuilu laatutiedon tasossa sprintin sisällä</vt:lpstr>
      <vt:lpstr>Siirtyminen ketteriin menetelmiin</vt:lpstr>
      <vt:lpstr>Testauksen huolenaiheita</vt:lpstr>
      <vt:lpstr>Transitioning to Agile</vt:lpstr>
      <vt:lpstr>Testing Mistakes to Avoid on Route to Agile</vt:lpstr>
      <vt:lpstr>Seven Pillars of a Good Agile Team Source: Brian Marick´s blog, www.exampler.com</vt:lpstr>
      <vt:lpstr>Exercise: What Your Testing Knowledge Can Give an Agile Team</vt:lpstr>
      <vt:lpstr>Making Traditional Testing Flexible != Agile</vt:lpstr>
      <vt:lpstr>What Was “Traditional  Testing” Again?</vt:lpstr>
      <vt:lpstr>Experiences on Pre-Agile Methods Flexible Testing Practices</vt:lpstr>
      <vt:lpstr>More Flexible Testing Practices Post-Agile</vt:lpstr>
      <vt:lpstr>Case: Timeline of Changes</vt:lpstr>
      <vt:lpstr>I Did Not See It This Far</vt:lpstr>
      <vt:lpstr>To End This With...</vt:lpstr>
      <vt:lpstr>Paremman laadun lupauksen saavuttaminen</vt:lpstr>
      <vt:lpstr>Viivästynyt palaute ja seuraukset</vt:lpstr>
      <vt:lpstr>Ketterä testaus kun organisaatio on tarpeeksi iso</vt:lpstr>
      <vt:lpstr>Ketterä testaus kun organisaatio on tarpeeksi iso</vt:lpstr>
      <vt:lpstr>Miten ison järjestelmän testauksen näkökulmat voi saada scrum-tiimin vastuulle?</vt:lpstr>
      <vt:lpstr>Stabilointisprintti</vt:lpstr>
      <vt:lpstr>Muista käytännöllisyys</vt:lpstr>
      <vt:lpstr>Definition of Done</vt:lpstr>
      <vt:lpstr>Ideoita, ajatuksia,  kysymyksiä?</vt:lpstr>
      <vt:lpstr>Testauksen taidot</vt:lpstr>
      <vt:lpstr>Ideoita, ajatuksia,  kysymyksiä?</vt:lpstr>
      <vt:lpstr>Testit ja havainnot</vt:lpstr>
      <vt:lpstr>Agile Bug Reporting Practices </vt:lpstr>
      <vt:lpstr>Agile Bug Tracking and Fixing</vt:lpstr>
      <vt:lpstr>Issue Handling Process</vt:lpstr>
      <vt:lpstr>Bug Advocacy in Agile</vt:lpstr>
      <vt:lpstr>Encouraging Stop-and-Fix </vt:lpstr>
      <vt:lpstr>What to Document on Bugs</vt:lpstr>
      <vt:lpstr>Agile Teams Often Skip Bug Databases ... At least to an extent</vt:lpstr>
      <vt:lpstr>The Negative Impact of Issue Tracking Systems</vt:lpstr>
      <vt:lpstr>Wrap-Up – # Bug Reporting Exercise</vt:lpstr>
      <vt:lpstr>Ideoita, ajatuksia,  kysymyksiä?</vt:lpstr>
      <vt:lpstr>Testauksen hallinta</vt:lpstr>
      <vt:lpstr>Ideoita, ajatuksia,  kysymyksiä?</vt:lpstr>
      <vt:lpstr>Vaatimukset ja hyväksymistestiohjattu kehitys</vt:lpstr>
      <vt:lpstr>Reasons for Lack of ATDD</vt:lpstr>
      <vt:lpstr>Ideoita, ajatuksia,  kysymyksiä?</vt:lpstr>
      <vt:lpstr>Testiautomaatio</vt:lpstr>
      <vt:lpstr>Slide 90</vt:lpstr>
      <vt:lpstr>Agile and Full Automation Debate</vt:lpstr>
      <vt:lpstr>Kysymyksiä, ideoita?</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Tutkivan testauksen työkurssi</dc:title>
  <dc:creator>Maaret Pyhäjärvi</dc:creator>
  <cp:lastModifiedBy> </cp:lastModifiedBy>
  <cp:revision>164</cp:revision>
  <dcterms:created xsi:type="dcterms:W3CDTF">2006-08-16T00:00:00Z</dcterms:created>
  <dcterms:modified xsi:type="dcterms:W3CDTF">2009-12-07T08:17:52Z</dcterms:modified>
</cp:coreProperties>
</file>