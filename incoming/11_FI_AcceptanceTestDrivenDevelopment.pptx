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8" r:id="rId3"/>
    <p:sldId id="277" r:id="rId4"/>
    <p:sldId id="273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59" r:id="rId15"/>
    <p:sldId id="268" r:id="rId16"/>
    <p:sldId id="275" r:id="rId17"/>
    <p:sldId id="260" r:id="rId18"/>
    <p:sldId id="261" r:id="rId19"/>
    <p:sldId id="262" r:id="rId20"/>
    <p:sldId id="270" r:id="rId21"/>
    <p:sldId id="274" r:id="rId22"/>
    <p:sldId id="263" r:id="rId23"/>
    <p:sldId id="264" r:id="rId24"/>
    <p:sldId id="271" r:id="rId25"/>
    <p:sldId id="272" r:id="rId26"/>
    <p:sldId id="276" r:id="rId27"/>
    <p:sldId id="257" r:id="rId28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9073" autoAdjust="0"/>
    <p:restoredTop sz="83309" autoAdjust="0"/>
  </p:normalViewPr>
  <p:slideViewPr>
    <p:cSldViewPr>
      <p:cViewPr varScale="1">
        <p:scale>
          <a:sx n="67" d="100"/>
          <a:sy n="67" d="100"/>
        </p:scale>
        <p:origin x="-172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BC21C9-950B-469E-92F0-207EF1D0D786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#3" csCatId="colorful" phldr="1"/>
      <dgm:spPr/>
      <dgm:t>
        <a:bodyPr/>
        <a:lstStyle/>
        <a:p>
          <a:endParaRPr lang="fi-FI"/>
        </a:p>
      </dgm:t>
    </dgm:pt>
    <dgm:pt modelId="{E015AB29-A42C-4E15-9F91-9BA48D72BB1D}">
      <dgm:prSet phldrT="[Text]"/>
      <dgm:spPr/>
      <dgm:t>
        <a:bodyPr/>
        <a:lstStyle/>
        <a:p>
          <a:r>
            <a:rPr lang="fi-FI" dirty="0" smtClean="0"/>
            <a:t>Themes</a:t>
          </a:r>
          <a:endParaRPr lang="fi-FI" dirty="0"/>
        </a:p>
      </dgm:t>
    </dgm:pt>
    <dgm:pt modelId="{8204DBA9-125F-411A-A949-FA82CEB68453}" type="parTrans" cxnId="{88D19164-7DE4-461F-B30D-A830B34B64B5}">
      <dgm:prSet/>
      <dgm:spPr/>
      <dgm:t>
        <a:bodyPr/>
        <a:lstStyle/>
        <a:p>
          <a:endParaRPr lang="fi-FI"/>
        </a:p>
      </dgm:t>
    </dgm:pt>
    <dgm:pt modelId="{353648E7-1069-49FB-9025-D731E97697E8}" type="sibTrans" cxnId="{88D19164-7DE4-461F-B30D-A830B34B64B5}">
      <dgm:prSet/>
      <dgm:spPr/>
      <dgm:t>
        <a:bodyPr/>
        <a:lstStyle/>
        <a:p>
          <a:endParaRPr lang="fi-FI"/>
        </a:p>
      </dgm:t>
    </dgm:pt>
    <dgm:pt modelId="{0617DFFC-E773-4698-BA8D-13EF89A1812C}">
      <dgm:prSet phldrT="[Text]"/>
      <dgm:spPr/>
      <dgm:t>
        <a:bodyPr/>
        <a:lstStyle/>
        <a:p>
          <a:r>
            <a:rPr lang="fi-FI" dirty="0" smtClean="0"/>
            <a:t>Epics</a:t>
          </a:r>
          <a:endParaRPr lang="fi-FI" dirty="0"/>
        </a:p>
      </dgm:t>
    </dgm:pt>
    <dgm:pt modelId="{DCCBB63D-0D8B-49C5-B7E8-82EF927A289D}" type="parTrans" cxnId="{2BD3450D-EAA9-47E5-8A28-C1DC5007945E}">
      <dgm:prSet/>
      <dgm:spPr/>
      <dgm:t>
        <a:bodyPr/>
        <a:lstStyle/>
        <a:p>
          <a:endParaRPr lang="fi-FI"/>
        </a:p>
      </dgm:t>
    </dgm:pt>
    <dgm:pt modelId="{E7A404F3-7542-4F4F-AACF-1EAB0205B4B3}" type="sibTrans" cxnId="{2BD3450D-EAA9-47E5-8A28-C1DC5007945E}">
      <dgm:prSet/>
      <dgm:spPr/>
      <dgm:t>
        <a:bodyPr/>
        <a:lstStyle/>
        <a:p>
          <a:endParaRPr lang="fi-FI"/>
        </a:p>
      </dgm:t>
    </dgm:pt>
    <dgm:pt modelId="{8D7F934F-18C7-4BBB-9434-681328DC7134}">
      <dgm:prSet phldrT="[Text]"/>
      <dgm:spPr/>
      <dgm:t>
        <a:bodyPr/>
        <a:lstStyle/>
        <a:p>
          <a:r>
            <a:rPr lang="fi-FI" dirty="0" smtClean="0"/>
            <a:t>User Stories</a:t>
          </a:r>
          <a:endParaRPr lang="fi-FI" dirty="0"/>
        </a:p>
      </dgm:t>
    </dgm:pt>
    <dgm:pt modelId="{AC54C56E-E36E-4123-B8A7-7A0F90944350}" type="parTrans" cxnId="{488B41B5-C5C2-44EE-8ACC-E23D9E010514}">
      <dgm:prSet/>
      <dgm:spPr/>
      <dgm:t>
        <a:bodyPr/>
        <a:lstStyle/>
        <a:p>
          <a:endParaRPr lang="fi-FI"/>
        </a:p>
      </dgm:t>
    </dgm:pt>
    <dgm:pt modelId="{5A21859A-B7A8-4908-A183-067AC7223EF5}" type="sibTrans" cxnId="{488B41B5-C5C2-44EE-8ACC-E23D9E010514}">
      <dgm:prSet/>
      <dgm:spPr/>
      <dgm:t>
        <a:bodyPr/>
        <a:lstStyle/>
        <a:p>
          <a:endParaRPr lang="fi-FI"/>
        </a:p>
      </dgm:t>
    </dgm:pt>
    <dgm:pt modelId="{6E782245-2268-49FD-AED6-54E8D77D0D0A}">
      <dgm:prSet phldrT="[Text]"/>
      <dgm:spPr/>
      <dgm:t>
        <a:bodyPr/>
        <a:lstStyle/>
        <a:p>
          <a:r>
            <a:rPr lang="fi-FI" dirty="0" smtClean="0"/>
            <a:t>User Stories</a:t>
          </a:r>
          <a:endParaRPr lang="fi-FI" dirty="0"/>
        </a:p>
      </dgm:t>
    </dgm:pt>
    <dgm:pt modelId="{9307570D-1BFA-46B1-BBE9-A534C69F8F89}" type="parTrans" cxnId="{928C9659-A9F8-4423-92B9-133B46418EEA}">
      <dgm:prSet/>
      <dgm:spPr/>
      <dgm:t>
        <a:bodyPr/>
        <a:lstStyle/>
        <a:p>
          <a:endParaRPr lang="fi-FI"/>
        </a:p>
      </dgm:t>
    </dgm:pt>
    <dgm:pt modelId="{76B149AF-D6A7-497D-82E5-0ABC6E38A520}" type="sibTrans" cxnId="{928C9659-A9F8-4423-92B9-133B46418EEA}">
      <dgm:prSet/>
      <dgm:spPr/>
      <dgm:t>
        <a:bodyPr/>
        <a:lstStyle/>
        <a:p>
          <a:endParaRPr lang="fi-FI"/>
        </a:p>
      </dgm:t>
    </dgm:pt>
    <dgm:pt modelId="{15F8932C-1386-4E5E-9E8A-13FD494279E7}">
      <dgm:prSet phldrT="[Text]"/>
      <dgm:spPr/>
      <dgm:t>
        <a:bodyPr/>
        <a:lstStyle/>
        <a:p>
          <a:r>
            <a:rPr lang="fi-FI" dirty="0" smtClean="0"/>
            <a:t>Epics</a:t>
          </a:r>
          <a:endParaRPr lang="fi-FI" dirty="0"/>
        </a:p>
      </dgm:t>
    </dgm:pt>
    <dgm:pt modelId="{36AF5307-3B97-408B-B265-389F770BAF4B}" type="parTrans" cxnId="{81D61DDE-B24B-4B30-9AAC-BFADA523E0C1}">
      <dgm:prSet/>
      <dgm:spPr/>
      <dgm:t>
        <a:bodyPr/>
        <a:lstStyle/>
        <a:p>
          <a:endParaRPr lang="fi-FI"/>
        </a:p>
      </dgm:t>
    </dgm:pt>
    <dgm:pt modelId="{A35CC5A0-4696-4AA0-AB14-926EB1C6045C}" type="sibTrans" cxnId="{81D61DDE-B24B-4B30-9AAC-BFADA523E0C1}">
      <dgm:prSet/>
      <dgm:spPr/>
      <dgm:t>
        <a:bodyPr/>
        <a:lstStyle/>
        <a:p>
          <a:endParaRPr lang="fi-FI"/>
        </a:p>
      </dgm:t>
    </dgm:pt>
    <dgm:pt modelId="{565D3AFC-E6B2-49C6-A62F-FBBB08DEB7A6}">
      <dgm:prSet phldrT="[Text]"/>
      <dgm:spPr/>
      <dgm:t>
        <a:bodyPr/>
        <a:lstStyle/>
        <a:p>
          <a:r>
            <a:rPr lang="fi-FI" dirty="0" smtClean="0"/>
            <a:t>User Stories</a:t>
          </a:r>
          <a:endParaRPr lang="fi-FI" dirty="0"/>
        </a:p>
      </dgm:t>
    </dgm:pt>
    <dgm:pt modelId="{A9C3F324-4421-4939-866B-963F94D20356}" type="parTrans" cxnId="{CF3B825A-B477-46ED-944F-07C5FA39BE24}">
      <dgm:prSet/>
      <dgm:spPr/>
      <dgm:t>
        <a:bodyPr/>
        <a:lstStyle/>
        <a:p>
          <a:endParaRPr lang="fi-FI"/>
        </a:p>
      </dgm:t>
    </dgm:pt>
    <dgm:pt modelId="{A314614A-317C-42D4-B136-57D02BEE0AD3}" type="sibTrans" cxnId="{CF3B825A-B477-46ED-944F-07C5FA39BE24}">
      <dgm:prSet/>
      <dgm:spPr/>
      <dgm:t>
        <a:bodyPr/>
        <a:lstStyle/>
        <a:p>
          <a:endParaRPr lang="fi-FI"/>
        </a:p>
      </dgm:t>
    </dgm:pt>
    <dgm:pt modelId="{DC348FA4-0C77-4E8B-BE5A-7C62B66B1FF1}">
      <dgm:prSet phldrT="[Text]"/>
      <dgm:spPr/>
      <dgm:t>
        <a:bodyPr/>
        <a:lstStyle/>
        <a:p>
          <a:r>
            <a:rPr lang="fi-FI" dirty="0" smtClean="0"/>
            <a:t>Tasks</a:t>
          </a:r>
          <a:endParaRPr lang="fi-FI" dirty="0"/>
        </a:p>
      </dgm:t>
    </dgm:pt>
    <dgm:pt modelId="{E9BC8124-1FCE-4BBA-BCC8-FFE6B863FE9E}" type="parTrans" cxnId="{0AE928A2-1984-4A21-9C3E-DCC282DC5A81}">
      <dgm:prSet/>
      <dgm:spPr/>
      <dgm:t>
        <a:bodyPr/>
        <a:lstStyle/>
        <a:p>
          <a:endParaRPr lang="fi-FI"/>
        </a:p>
      </dgm:t>
    </dgm:pt>
    <dgm:pt modelId="{E6631B50-783D-45D6-B4A1-9909E71F2959}" type="sibTrans" cxnId="{0AE928A2-1984-4A21-9C3E-DCC282DC5A81}">
      <dgm:prSet/>
      <dgm:spPr/>
    </dgm:pt>
    <dgm:pt modelId="{B1039B8A-9099-4A7E-A313-A4B677AFBBE8}">
      <dgm:prSet phldrT="[Text]"/>
      <dgm:spPr/>
      <dgm:t>
        <a:bodyPr/>
        <a:lstStyle/>
        <a:p>
          <a:r>
            <a:rPr lang="fi-FI" dirty="0" smtClean="0"/>
            <a:t>Tasks</a:t>
          </a:r>
          <a:endParaRPr lang="fi-FI" dirty="0"/>
        </a:p>
      </dgm:t>
    </dgm:pt>
    <dgm:pt modelId="{E6B2EBE5-4030-40BA-8656-22F44E606FD9}" type="parTrans" cxnId="{2D6A2BB8-7DC0-4D41-929E-898B9E42F614}">
      <dgm:prSet/>
      <dgm:spPr/>
      <dgm:t>
        <a:bodyPr/>
        <a:lstStyle/>
        <a:p>
          <a:endParaRPr lang="fi-FI"/>
        </a:p>
      </dgm:t>
    </dgm:pt>
    <dgm:pt modelId="{31E4DF17-E905-4B88-A7F6-D968486FC9D9}" type="sibTrans" cxnId="{2D6A2BB8-7DC0-4D41-929E-898B9E42F614}">
      <dgm:prSet/>
      <dgm:spPr/>
    </dgm:pt>
    <dgm:pt modelId="{02106B15-8A5F-4FB2-9410-5DE0CA05122F}">
      <dgm:prSet phldrT="[Text]"/>
      <dgm:spPr/>
      <dgm:t>
        <a:bodyPr/>
        <a:lstStyle/>
        <a:p>
          <a:r>
            <a:rPr lang="fi-FI" dirty="0" smtClean="0"/>
            <a:t>Tasks</a:t>
          </a:r>
          <a:endParaRPr lang="fi-FI" dirty="0"/>
        </a:p>
      </dgm:t>
    </dgm:pt>
    <dgm:pt modelId="{262848A6-F74B-44F4-8341-02DBCA31F71A}" type="parTrans" cxnId="{7D87E14C-71FD-4C5C-A5A0-9F728C77DD24}">
      <dgm:prSet/>
      <dgm:spPr/>
      <dgm:t>
        <a:bodyPr/>
        <a:lstStyle/>
        <a:p>
          <a:endParaRPr lang="fi-FI"/>
        </a:p>
      </dgm:t>
    </dgm:pt>
    <dgm:pt modelId="{AC23F148-9FD3-4C4E-8B2C-D849D61E3F35}" type="sibTrans" cxnId="{7D87E14C-71FD-4C5C-A5A0-9F728C77DD24}">
      <dgm:prSet/>
      <dgm:spPr/>
    </dgm:pt>
    <dgm:pt modelId="{B0A67B22-39CB-414A-8A0F-DF8E7F475FAD}">
      <dgm:prSet phldrT="[Text]"/>
      <dgm:spPr/>
      <dgm:t>
        <a:bodyPr/>
        <a:lstStyle/>
        <a:p>
          <a:r>
            <a:rPr lang="fi-FI" dirty="0" smtClean="0"/>
            <a:t>Tasks</a:t>
          </a:r>
          <a:endParaRPr lang="fi-FI" dirty="0"/>
        </a:p>
      </dgm:t>
    </dgm:pt>
    <dgm:pt modelId="{6C503A3F-1306-4658-A3AC-99DD221892EF}" type="parTrans" cxnId="{CEA7269C-6FF2-4193-AE89-AF273E239546}">
      <dgm:prSet/>
      <dgm:spPr/>
      <dgm:t>
        <a:bodyPr/>
        <a:lstStyle/>
        <a:p>
          <a:endParaRPr lang="fi-FI"/>
        </a:p>
      </dgm:t>
    </dgm:pt>
    <dgm:pt modelId="{1B9D4A4D-3E7A-40A2-9A15-2BD88721810A}" type="sibTrans" cxnId="{CEA7269C-6FF2-4193-AE89-AF273E239546}">
      <dgm:prSet/>
      <dgm:spPr/>
    </dgm:pt>
    <dgm:pt modelId="{AF412E45-0955-4674-B834-0FCC5248D052}" type="pres">
      <dgm:prSet presAssocID="{8DBC21C9-950B-469E-92F0-207EF1D0D78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i-FI"/>
        </a:p>
      </dgm:t>
    </dgm:pt>
    <dgm:pt modelId="{A84453E7-D94E-41C1-AE7C-7288218E51FF}" type="pres">
      <dgm:prSet presAssocID="{E015AB29-A42C-4E15-9F91-9BA48D72BB1D}" presName="root1" presStyleCnt="0"/>
      <dgm:spPr/>
    </dgm:pt>
    <dgm:pt modelId="{E385F727-62BE-494C-AF24-FFCA7F245432}" type="pres">
      <dgm:prSet presAssocID="{E015AB29-A42C-4E15-9F91-9BA48D72BB1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26CE9938-ED77-48B6-9A0A-F899CD27864F}" type="pres">
      <dgm:prSet presAssocID="{E015AB29-A42C-4E15-9F91-9BA48D72BB1D}" presName="level2hierChild" presStyleCnt="0"/>
      <dgm:spPr/>
    </dgm:pt>
    <dgm:pt modelId="{D1D9D55F-9075-4BA9-B7F2-613929A42ABF}" type="pres">
      <dgm:prSet presAssocID="{DCCBB63D-0D8B-49C5-B7E8-82EF927A289D}" presName="conn2-1" presStyleLbl="parChTrans1D2" presStyleIdx="0" presStyleCnt="2"/>
      <dgm:spPr/>
      <dgm:t>
        <a:bodyPr/>
        <a:lstStyle/>
        <a:p>
          <a:endParaRPr lang="fi-FI"/>
        </a:p>
      </dgm:t>
    </dgm:pt>
    <dgm:pt modelId="{C15B3903-80A0-4105-8B1B-6A10BCAD1F88}" type="pres">
      <dgm:prSet presAssocID="{DCCBB63D-0D8B-49C5-B7E8-82EF927A289D}" presName="connTx" presStyleLbl="parChTrans1D2" presStyleIdx="0" presStyleCnt="2"/>
      <dgm:spPr/>
      <dgm:t>
        <a:bodyPr/>
        <a:lstStyle/>
        <a:p>
          <a:endParaRPr lang="fi-FI"/>
        </a:p>
      </dgm:t>
    </dgm:pt>
    <dgm:pt modelId="{FA843D36-BEEB-4DF6-A595-A8EEF40A9A56}" type="pres">
      <dgm:prSet presAssocID="{0617DFFC-E773-4698-BA8D-13EF89A1812C}" presName="root2" presStyleCnt="0"/>
      <dgm:spPr/>
    </dgm:pt>
    <dgm:pt modelId="{8D6C6E3A-D9CA-4E13-86FC-B32B58BA50F3}" type="pres">
      <dgm:prSet presAssocID="{0617DFFC-E773-4698-BA8D-13EF89A1812C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5963E963-6361-4B64-8B3B-126DEE3C4AD8}" type="pres">
      <dgm:prSet presAssocID="{0617DFFC-E773-4698-BA8D-13EF89A1812C}" presName="level3hierChild" presStyleCnt="0"/>
      <dgm:spPr/>
    </dgm:pt>
    <dgm:pt modelId="{C45D45D9-F4AA-4480-85C4-57ADE18A86F5}" type="pres">
      <dgm:prSet presAssocID="{AC54C56E-E36E-4123-B8A7-7A0F90944350}" presName="conn2-1" presStyleLbl="parChTrans1D3" presStyleIdx="0" presStyleCnt="3"/>
      <dgm:spPr/>
      <dgm:t>
        <a:bodyPr/>
        <a:lstStyle/>
        <a:p>
          <a:endParaRPr lang="fi-FI"/>
        </a:p>
      </dgm:t>
    </dgm:pt>
    <dgm:pt modelId="{E6902A13-1F7B-4210-9CB3-DDFCC8F7BB9C}" type="pres">
      <dgm:prSet presAssocID="{AC54C56E-E36E-4123-B8A7-7A0F90944350}" presName="connTx" presStyleLbl="parChTrans1D3" presStyleIdx="0" presStyleCnt="3"/>
      <dgm:spPr/>
      <dgm:t>
        <a:bodyPr/>
        <a:lstStyle/>
        <a:p>
          <a:endParaRPr lang="fi-FI"/>
        </a:p>
      </dgm:t>
    </dgm:pt>
    <dgm:pt modelId="{7AF1DBAC-8860-4608-8EF7-01E8821A6DBA}" type="pres">
      <dgm:prSet presAssocID="{8D7F934F-18C7-4BBB-9434-681328DC7134}" presName="root2" presStyleCnt="0"/>
      <dgm:spPr/>
    </dgm:pt>
    <dgm:pt modelId="{0824CC66-2A7F-41C9-B669-D34C57862749}" type="pres">
      <dgm:prSet presAssocID="{8D7F934F-18C7-4BBB-9434-681328DC7134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4859CB01-2A92-40A6-8B3D-0A39624F7300}" type="pres">
      <dgm:prSet presAssocID="{8D7F934F-18C7-4BBB-9434-681328DC7134}" presName="level3hierChild" presStyleCnt="0"/>
      <dgm:spPr/>
    </dgm:pt>
    <dgm:pt modelId="{B0F11C9C-9BB4-4356-82A8-76F36895CF53}" type="pres">
      <dgm:prSet presAssocID="{262848A6-F74B-44F4-8341-02DBCA31F71A}" presName="conn2-1" presStyleLbl="parChTrans1D4" presStyleIdx="0" presStyleCnt="4"/>
      <dgm:spPr/>
      <dgm:t>
        <a:bodyPr/>
        <a:lstStyle/>
        <a:p>
          <a:endParaRPr lang="fi-FI"/>
        </a:p>
      </dgm:t>
    </dgm:pt>
    <dgm:pt modelId="{A420E0DC-646A-4B33-99DC-46C453FC63BB}" type="pres">
      <dgm:prSet presAssocID="{262848A6-F74B-44F4-8341-02DBCA31F71A}" presName="connTx" presStyleLbl="parChTrans1D4" presStyleIdx="0" presStyleCnt="4"/>
      <dgm:spPr/>
      <dgm:t>
        <a:bodyPr/>
        <a:lstStyle/>
        <a:p>
          <a:endParaRPr lang="fi-FI"/>
        </a:p>
      </dgm:t>
    </dgm:pt>
    <dgm:pt modelId="{23FD0CBC-D032-41EE-A7F7-688AC60A0B14}" type="pres">
      <dgm:prSet presAssocID="{02106B15-8A5F-4FB2-9410-5DE0CA05122F}" presName="root2" presStyleCnt="0"/>
      <dgm:spPr/>
    </dgm:pt>
    <dgm:pt modelId="{083D3153-B154-4266-8480-237B811E2A34}" type="pres">
      <dgm:prSet presAssocID="{02106B15-8A5F-4FB2-9410-5DE0CA05122F}" presName="LevelTwoTextNode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1C4515BC-106E-4108-B0C2-1C85052A1D01}" type="pres">
      <dgm:prSet presAssocID="{02106B15-8A5F-4FB2-9410-5DE0CA05122F}" presName="level3hierChild" presStyleCnt="0"/>
      <dgm:spPr/>
    </dgm:pt>
    <dgm:pt modelId="{CF7763F4-CF43-4E45-8896-DCFC50942C52}" type="pres">
      <dgm:prSet presAssocID="{9307570D-1BFA-46B1-BBE9-A534C69F8F89}" presName="conn2-1" presStyleLbl="parChTrans1D3" presStyleIdx="1" presStyleCnt="3"/>
      <dgm:spPr/>
      <dgm:t>
        <a:bodyPr/>
        <a:lstStyle/>
        <a:p>
          <a:endParaRPr lang="fi-FI"/>
        </a:p>
      </dgm:t>
    </dgm:pt>
    <dgm:pt modelId="{F53A1A28-7C80-4C94-A0EB-DFADEED7763B}" type="pres">
      <dgm:prSet presAssocID="{9307570D-1BFA-46B1-BBE9-A534C69F8F89}" presName="connTx" presStyleLbl="parChTrans1D3" presStyleIdx="1" presStyleCnt="3"/>
      <dgm:spPr/>
      <dgm:t>
        <a:bodyPr/>
        <a:lstStyle/>
        <a:p>
          <a:endParaRPr lang="fi-FI"/>
        </a:p>
      </dgm:t>
    </dgm:pt>
    <dgm:pt modelId="{0AF4DA33-E2C7-4EFB-8A06-D2C6C71DBB10}" type="pres">
      <dgm:prSet presAssocID="{6E782245-2268-49FD-AED6-54E8D77D0D0A}" presName="root2" presStyleCnt="0"/>
      <dgm:spPr/>
    </dgm:pt>
    <dgm:pt modelId="{4044563B-AB44-4B42-8CE9-A11B67F9835B}" type="pres">
      <dgm:prSet presAssocID="{6E782245-2268-49FD-AED6-54E8D77D0D0A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1224A879-5C6D-4965-A914-03C866F64834}" type="pres">
      <dgm:prSet presAssocID="{6E782245-2268-49FD-AED6-54E8D77D0D0A}" presName="level3hierChild" presStyleCnt="0"/>
      <dgm:spPr/>
    </dgm:pt>
    <dgm:pt modelId="{DF4ED0CC-C9DC-482B-8043-6DE2263CC5D3}" type="pres">
      <dgm:prSet presAssocID="{E9BC8124-1FCE-4BBA-BCC8-FFE6B863FE9E}" presName="conn2-1" presStyleLbl="parChTrans1D4" presStyleIdx="1" presStyleCnt="4"/>
      <dgm:spPr/>
      <dgm:t>
        <a:bodyPr/>
        <a:lstStyle/>
        <a:p>
          <a:endParaRPr lang="fi-FI"/>
        </a:p>
      </dgm:t>
    </dgm:pt>
    <dgm:pt modelId="{BD8EC961-B013-4594-B73B-A18FB29D09A0}" type="pres">
      <dgm:prSet presAssocID="{E9BC8124-1FCE-4BBA-BCC8-FFE6B863FE9E}" presName="connTx" presStyleLbl="parChTrans1D4" presStyleIdx="1" presStyleCnt="4"/>
      <dgm:spPr/>
      <dgm:t>
        <a:bodyPr/>
        <a:lstStyle/>
        <a:p>
          <a:endParaRPr lang="fi-FI"/>
        </a:p>
      </dgm:t>
    </dgm:pt>
    <dgm:pt modelId="{093CA118-6335-4929-8B6C-F4D1F67C4466}" type="pres">
      <dgm:prSet presAssocID="{DC348FA4-0C77-4E8B-BE5A-7C62B66B1FF1}" presName="root2" presStyleCnt="0"/>
      <dgm:spPr/>
    </dgm:pt>
    <dgm:pt modelId="{883DCC8F-7B2D-43E7-82F3-577AE663F25C}" type="pres">
      <dgm:prSet presAssocID="{DC348FA4-0C77-4E8B-BE5A-7C62B66B1FF1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88C2CB7C-8F3D-40E7-95A6-995A78B33F3A}" type="pres">
      <dgm:prSet presAssocID="{DC348FA4-0C77-4E8B-BE5A-7C62B66B1FF1}" presName="level3hierChild" presStyleCnt="0"/>
      <dgm:spPr/>
    </dgm:pt>
    <dgm:pt modelId="{6347CBC3-AED1-4DE0-9A7D-E18D058382C7}" type="pres">
      <dgm:prSet presAssocID="{E6B2EBE5-4030-40BA-8656-22F44E606FD9}" presName="conn2-1" presStyleLbl="parChTrans1D4" presStyleIdx="2" presStyleCnt="4"/>
      <dgm:spPr/>
      <dgm:t>
        <a:bodyPr/>
        <a:lstStyle/>
        <a:p>
          <a:endParaRPr lang="fi-FI"/>
        </a:p>
      </dgm:t>
    </dgm:pt>
    <dgm:pt modelId="{04F0B871-728A-4FA7-9A80-866DF60CB92B}" type="pres">
      <dgm:prSet presAssocID="{E6B2EBE5-4030-40BA-8656-22F44E606FD9}" presName="connTx" presStyleLbl="parChTrans1D4" presStyleIdx="2" presStyleCnt="4"/>
      <dgm:spPr/>
      <dgm:t>
        <a:bodyPr/>
        <a:lstStyle/>
        <a:p>
          <a:endParaRPr lang="fi-FI"/>
        </a:p>
      </dgm:t>
    </dgm:pt>
    <dgm:pt modelId="{E41A4E29-6249-4B42-AD65-3B37117C2CED}" type="pres">
      <dgm:prSet presAssocID="{B1039B8A-9099-4A7E-A313-A4B677AFBBE8}" presName="root2" presStyleCnt="0"/>
      <dgm:spPr/>
    </dgm:pt>
    <dgm:pt modelId="{793D0AB2-A19B-4C55-A0C8-0514A327EEC7}" type="pres">
      <dgm:prSet presAssocID="{B1039B8A-9099-4A7E-A313-A4B677AFBBE8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C2CD9F81-CA17-48F4-B04F-F14C4E4E4249}" type="pres">
      <dgm:prSet presAssocID="{B1039B8A-9099-4A7E-A313-A4B677AFBBE8}" presName="level3hierChild" presStyleCnt="0"/>
      <dgm:spPr/>
    </dgm:pt>
    <dgm:pt modelId="{5F4E5031-49B8-4061-A10C-4969CAA200E4}" type="pres">
      <dgm:prSet presAssocID="{36AF5307-3B97-408B-B265-389F770BAF4B}" presName="conn2-1" presStyleLbl="parChTrans1D2" presStyleIdx="1" presStyleCnt="2"/>
      <dgm:spPr/>
      <dgm:t>
        <a:bodyPr/>
        <a:lstStyle/>
        <a:p>
          <a:endParaRPr lang="fi-FI"/>
        </a:p>
      </dgm:t>
    </dgm:pt>
    <dgm:pt modelId="{DB079F62-F769-4AFA-85D7-F5ADF829A338}" type="pres">
      <dgm:prSet presAssocID="{36AF5307-3B97-408B-B265-389F770BAF4B}" presName="connTx" presStyleLbl="parChTrans1D2" presStyleIdx="1" presStyleCnt="2"/>
      <dgm:spPr/>
      <dgm:t>
        <a:bodyPr/>
        <a:lstStyle/>
        <a:p>
          <a:endParaRPr lang="fi-FI"/>
        </a:p>
      </dgm:t>
    </dgm:pt>
    <dgm:pt modelId="{10C66423-7104-4E09-9FA1-35CE70C9D23E}" type="pres">
      <dgm:prSet presAssocID="{15F8932C-1386-4E5E-9E8A-13FD494279E7}" presName="root2" presStyleCnt="0"/>
      <dgm:spPr/>
    </dgm:pt>
    <dgm:pt modelId="{0DDE5D5D-9E96-4535-BD8E-3E06C0A457DE}" type="pres">
      <dgm:prSet presAssocID="{15F8932C-1386-4E5E-9E8A-13FD494279E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FC5B6DE3-9DAF-4F97-9717-E0EDE211FF98}" type="pres">
      <dgm:prSet presAssocID="{15F8932C-1386-4E5E-9E8A-13FD494279E7}" presName="level3hierChild" presStyleCnt="0"/>
      <dgm:spPr/>
    </dgm:pt>
    <dgm:pt modelId="{C056667A-92EB-405A-A960-7B773E8AF740}" type="pres">
      <dgm:prSet presAssocID="{A9C3F324-4421-4939-866B-963F94D20356}" presName="conn2-1" presStyleLbl="parChTrans1D3" presStyleIdx="2" presStyleCnt="3"/>
      <dgm:spPr/>
      <dgm:t>
        <a:bodyPr/>
        <a:lstStyle/>
        <a:p>
          <a:endParaRPr lang="fi-FI"/>
        </a:p>
      </dgm:t>
    </dgm:pt>
    <dgm:pt modelId="{421A83C2-096D-4C3E-9DD8-6CB27F5F4A65}" type="pres">
      <dgm:prSet presAssocID="{A9C3F324-4421-4939-866B-963F94D20356}" presName="connTx" presStyleLbl="parChTrans1D3" presStyleIdx="2" presStyleCnt="3"/>
      <dgm:spPr/>
      <dgm:t>
        <a:bodyPr/>
        <a:lstStyle/>
        <a:p>
          <a:endParaRPr lang="fi-FI"/>
        </a:p>
      </dgm:t>
    </dgm:pt>
    <dgm:pt modelId="{414D38E4-35A7-4995-8637-4BD62B89A1FD}" type="pres">
      <dgm:prSet presAssocID="{565D3AFC-E6B2-49C6-A62F-FBBB08DEB7A6}" presName="root2" presStyleCnt="0"/>
      <dgm:spPr/>
    </dgm:pt>
    <dgm:pt modelId="{A215BD59-8DF2-4C2B-B30C-FD75086D2EC1}" type="pres">
      <dgm:prSet presAssocID="{565D3AFC-E6B2-49C6-A62F-FBBB08DEB7A6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6D9560A0-13A1-43C2-AC42-A1761E167094}" type="pres">
      <dgm:prSet presAssocID="{565D3AFC-E6B2-49C6-A62F-FBBB08DEB7A6}" presName="level3hierChild" presStyleCnt="0"/>
      <dgm:spPr/>
    </dgm:pt>
    <dgm:pt modelId="{78AC8586-D62D-4B24-A506-F67FDDE85D49}" type="pres">
      <dgm:prSet presAssocID="{6C503A3F-1306-4658-A3AC-99DD221892EF}" presName="conn2-1" presStyleLbl="parChTrans1D4" presStyleIdx="3" presStyleCnt="4"/>
      <dgm:spPr/>
      <dgm:t>
        <a:bodyPr/>
        <a:lstStyle/>
        <a:p>
          <a:endParaRPr lang="fi-FI"/>
        </a:p>
      </dgm:t>
    </dgm:pt>
    <dgm:pt modelId="{498E52D1-2D04-4B02-84CB-EB5A0474CD16}" type="pres">
      <dgm:prSet presAssocID="{6C503A3F-1306-4658-A3AC-99DD221892EF}" presName="connTx" presStyleLbl="parChTrans1D4" presStyleIdx="3" presStyleCnt="4"/>
      <dgm:spPr/>
      <dgm:t>
        <a:bodyPr/>
        <a:lstStyle/>
        <a:p>
          <a:endParaRPr lang="fi-FI"/>
        </a:p>
      </dgm:t>
    </dgm:pt>
    <dgm:pt modelId="{9D1B5148-D6DF-41EB-A137-E53BDDD2F94A}" type="pres">
      <dgm:prSet presAssocID="{B0A67B22-39CB-414A-8A0F-DF8E7F475FAD}" presName="root2" presStyleCnt="0"/>
      <dgm:spPr/>
    </dgm:pt>
    <dgm:pt modelId="{9CD446EC-ADE3-486C-84A3-340E04AC263A}" type="pres">
      <dgm:prSet presAssocID="{B0A67B22-39CB-414A-8A0F-DF8E7F475FAD}" presName="LevelTwoTextNode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fi-FI"/>
        </a:p>
      </dgm:t>
    </dgm:pt>
    <dgm:pt modelId="{6BCCA4FA-3E4F-413F-8C42-CBB3993B5F8A}" type="pres">
      <dgm:prSet presAssocID="{B0A67B22-39CB-414A-8A0F-DF8E7F475FAD}" presName="level3hierChild" presStyleCnt="0"/>
      <dgm:spPr/>
    </dgm:pt>
  </dgm:ptLst>
  <dgm:cxnLst>
    <dgm:cxn modelId="{240864DF-6D13-4424-BB78-CA99F7608D1D}" type="presOf" srcId="{02106B15-8A5F-4FB2-9410-5DE0CA05122F}" destId="{083D3153-B154-4266-8480-237B811E2A34}" srcOrd="0" destOrd="0" presId="urn:microsoft.com/office/officeart/2005/8/layout/hierarchy2"/>
    <dgm:cxn modelId="{7D87E14C-71FD-4C5C-A5A0-9F728C77DD24}" srcId="{8D7F934F-18C7-4BBB-9434-681328DC7134}" destId="{02106B15-8A5F-4FB2-9410-5DE0CA05122F}" srcOrd="0" destOrd="0" parTransId="{262848A6-F74B-44F4-8341-02DBCA31F71A}" sibTransId="{AC23F148-9FD3-4C4E-8B2C-D849D61E3F35}"/>
    <dgm:cxn modelId="{69B460B7-CD80-4ED9-B8E1-ACF4011B9933}" type="presOf" srcId="{8DBC21C9-950B-469E-92F0-207EF1D0D786}" destId="{AF412E45-0955-4674-B834-0FCC5248D052}" srcOrd="0" destOrd="0" presId="urn:microsoft.com/office/officeart/2005/8/layout/hierarchy2"/>
    <dgm:cxn modelId="{0FC5A02C-CA91-40C6-AD39-CBD2363C930F}" type="presOf" srcId="{9307570D-1BFA-46B1-BBE9-A534C69F8F89}" destId="{F53A1A28-7C80-4C94-A0EB-DFADEED7763B}" srcOrd="1" destOrd="0" presId="urn:microsoft.com/office/officeart/2005/8/layout/hierarchy2"/>
    <dgm:cxn modelId="{70704969-2DC6-46F6-AC40-55D62DFFAE41}" type="presOf" srcId="{262848A6-F74B-44F4-8341-02DBCA31F71A}" destId="{A420E0DC-646A-4B33-99DC-46C453FC63BB}" srcOrd="1" destOrd="0" presId="urn:microsoft.com/office/officeart/2005/8/layout/hierarchy2"/>
    <dgm:cxn modelId="{BC2FD23C-9CD0-413A-99B6-64D6F933F915}" type="presOf" srcId="{A9C3F324-4421-4939-866B-963F94D20356}" destId="{C056667A-92EB-405A-A960-7B773E8AF740}" srcOrd="0" destOrd="0" presId="urn:microsoft.com/office/officeart/2005/8/layout/hierarchy2"/>
    <dgm:cxn modelId="{75850B0C-F6BD-4EAC-AB5D-8FB289653F0B}" type="presOf" srcId="{DC348FA4-0C77-4E8B-BE5A-7C62B66B1FF1}" destId="{883DCC8F-7B2D-43E7-82F3-577AE663F25C}" srcOrd="0" destOrd="0" presId="urn:microsoft.com/office/officeart/2005/8/layout/hierarchy2"/>
    <dgm:cxn modelId="{10A30D89-CB2C-4880-8DCC-24CFD63D2A40}" type="presOf" srcId="{A9C3F324-4421-4939-866B-963F94D20356}" destId="{421A83C2-096D-4C3E-9DD8-6CB27F5F4A65}" srcOrd="1" destOrd="0" presId="urn:microsoft.com/office/officeart/2005/8/layout/hierarchy2"/>
    <dgm:cxn modelId="{CEA7269C-6FF2-4193-AE89-AF273E239546}" srcId="{565D3AFC-E6B2-49C6-A62F-FBBB08DEB7A6}" destId="{B0A67B22-39CB-414A-8A0F-DF8E7F475FAD}" srcOrd="0" destOrd="0" parTransId="{6C503A3F-1306-4658-A3AC-99DD221892EF}" sibTransId="{1B9D4A4D-3E7A-40A2-9A15-2BD88721810A}"/>
    <dgm:cxn modelId="{88403673-81E2-4372-9C81-23D6108A6329}" type="presOf" srcId="{0617DFFC-E773-4698-BA8D-13EF89A1812C}" destId="{8D6C6E3A-D9CA-4E13-86FC-B32B58BA50F3}" srcOrd="0" destOrd="0" presId="urn:microsoft.com/office/officeart/2005/8/layout/hierarchy2"/>
    <dgm:cxn modelId="{88D19164-7DE4-461F-B30D-A830B34B64B5}" srcId="{8DBC21C9-950B-469E-92F0-207EF1D0D786}" destId="{E015AB29-A42C-4E15-9F91-9BA48D72BB1D}" srcOrd="0" destOrd="0" parTransId="{8204DBA9-125F-411A-A949-FA82CEB68453}" sibTransId="{353648E7-1069-49FB-9025-D731E97697E8}"/>
    <dgm:cxn modelId="{488B41B5-C5C2-44EE-8ACC-E23D9E010514}" srcId="{0617DFFC-E773-4698-BA8D-13EF89A1812C}" destId="{8D7F934F-18C7-4BBB-9434-681328DC7134}" srcOrd="0" destOrd="0" parTransId="{AC54C56E-E36E-4123-B8A7-7A0F90944350}" sibTransId="{5A21859A-B7A8-4908-A183-067AC7223EF5}"/>
    <dgm:cxn modelId="{C6622DB2-8CDE-4B2D-8FDD-E1CE803A9E2A}" type="presOf" srcId="{E9BC8124-1FCE-4BBA-BCC8-FFE6B863FE9E}" destId="{BD8EC961-B013-4594-B73B-A18FB29D09A0}" srcOrd="1" destOrd="0" presId="urn:microsoft.com/office/officeart/2005/8/layout/hierarchy2"/>
    <dgm:cxn modelId="{A7C4466B-243F-4073-8CC6-E916B0C5E620}" type="presOf" srcId="{6C503A3F-1306-4658-A3AC-99DD221892EF}" destId="{498E52D1-2D04-4B02-84CB-EB5A0474CD16}" srcOrd="1" destOrd="0" presId="urn:microsoft.com/office/officeart/2005/8/layout/hierarchy2"/>
    <dgm:cxn modelId="{5038B6C6-0E20-40A6-A9A3-F429D479DA08}" type="presOf" srcId="{E015AB29-A42C-4E15-9F91-9BA48D72BB1D}" destId="{E385F727-62BE-494C-AF24-FFCA7F245432}" srcOrd="0" destOrd="0" presId="urn:microsoft.com/office/officeart/2005/8/layout/hierarchy2"/>
    <dgm:cxn modelId="{2BD3450D-EAA9-47E5-8A28-C1DC5007945E}" srcId="{E015AB29-A42C-4E15-9F91-9BA48D72BB1D}" destId="{0617DFFC-E773-4698-BA8D-13EF89A1812C}" srcOrd="0" destOrd="0" parTransId="{DCCBB63D-0D8B-49C5-B7E8-82EF927A289D}" sibTransId="{E7A404F3-7542-4F4F-AACF-1EAB0205B4B3}"/>
    <dgm:cxn modelId="{3A056750-A40A-45C2-A615-41405B6D258E}" type="presOf" srcId="{DCCBB63D-0D8B-49C5-B7E8-82EF927A289D}" destId="{D1D9D55F-9075-4BA9-B7F2-613929A42ABF}" srcOrd="0" destOrd="0" presId="urn:microsoft.com/office/officeart/2005/8/layout/hierarchy2"/>
    <dgm:cxn modelId="{4A4A413F-C52C-4934-A8E8-C53C221DD670}" type="presOf" srcId="{AC54C56E-E36E-4123-B8A7-7A0F90944350}" destId="{E6902A13-1F7B-4210-9CB3-DDFCC8F7BB9C}" srcOrd="1" destOrd="0" presId="urn:microsoft.com/office/officeart/2005/8/layout/hierarchy2"/>
    <dgm:cxn modelId="{81D61DDE-B24B-4B30-9AAC-BFADA523E0C1}" srcId="{E015AB29-A42C-4E15-9F91-9BA48D72BB1D}" destId="{15F8932C-1386-4E5E-9E8A-13FD494279E7}" srcOrd="1" destOrd="0" parTransId="{36AF5307-3B97-408B-B265-389F770BAF4B}" sibTransId="{A35CC5A0-4696-4AA0-AB14-926EB1C6045C}"/>
    <dgm:cxn modelId="{9721FE48-905A-427F-B045-D08CA8DB6D4B}" type="presOf" srcId="{DCCBB63D-0D8B-49C5-B7E8-82EF927A289D}" destId="{C15B3903-80A0-4105-8B1B-6A10BCAD1F88}" srcOrd="1" destOrd="0" presId="urn:microsoft.com/office/officeart/2005/8/layout/hierarchy2"/>
    <dgm:cxn modelId="{0AE928A2-1984-4A21-9C3E-DCC282DC5A81}" srcId="{6E782245-2268-49FD-AED6-54E8D77D0D0A}" destId="{DC348FA4-0C77-4E8B-BE5A-7C62B66B1FF1}" srcOrd="0" destOrd="0" parTransId="{E9BC8124-1FCE-4BBA-BCC8-FFE6B863FE9E}" sibTransId="{E6631B50-783D-45D6-B4A1-9909E71F2959}"/>
    <dgm:cxn modelId="{B14244D8-F582-4652-B156-C90FEF99CD39}" type="presOf" srcId="{E9BC8124-1FCE-4BBA-BCC8-FFE6B863FE9E}" destId="{DF4ED0CC-C9DC-482B-8043-6DE2263CC5D3}" srcOrd="0" destOrd="0" presId="urn:microsoft.com/office/officeart/2005/8/layout/hierarchy2"/>
    <dgm:cxn modelId="{2D6A2BB8-7DC0-4D41-929E-898B9E42F614}" srcId="{6E782245-2268-49FD-AED6-54E8D77D0D0A}" destId="{B1039B8A-9099-4A7E-A313-A4B677AFBBE8}" srcOrd="1" destOrd="0" parTransId="{E6B2EBE5-4030-40BA-8656-22F44E606FD9}" sibTransId="{31E4DF17-E905-4B88-A7F6-D968486FC9D9}"/>
    <dgm:cxn modelId="{2B73BF09-48AD-44F3-A23F-071EFA4686A9}" type="presOf" srcId="{8D7F934F-18C7-4BBB-9434-681328DC7134}" destId="{0824CC66-2A7F-41C9-B669-D34C57862749}" srcOrd="0" destOrd="0" presId="urn:microsoft.com/office/officeart/2005/8/layout/hierarchy2"/>
    <dgm:cxn modelId="{CF3B825A-B477-46ED-944F-07C5FA39BE24}" srcId="{15F8932C-1386-4E5E-9E8A-13FD494279E7}" destId="{565D3AFC-E6B2-49C6-A62F-FBBB08DEB7A6}" srcOrd="0" destOrd="0" parTransId="{A9C3F324-4421-4939-866B-963F94D20356}" sibTransId="{A314614A-317C-42D4-B136-57D02BEE0AD3}"/>
    <dgm:cxn modelId="{AF672C94-18DE-4221-96C0-C7E336CC4E0A}" type="presOf" srcId="{E6B2EBE5-4030-40BA-8656-22F44E606FD9}" destId="{04F0B871-728A-4FA7-9A80-866DF60CB92B}" srcOrd="1" destOrd="0" presId="urn:microsoft.com/office/officeart/2005/8/layout/hierarchy2"/>
    <dgm:cxn modelId="{35AB1E6B-7BE5-4E35-8E45-CBA4A962CCA1}" type="presOf" srcId="{6E782245-2268-49FD-AED6-54E8D77D0D0A}" destId="{4044563B-AB44-4B42-8CE9-A11B67F9835B}" srcOrd="0" destOrd="0" presId="urn:microsoft.com/office/officeart/2005/8/layout/hierarchy2"/>
    <dgm:cxn modelId="{A631B67F-27A4-4BAE-82E1-D98272AC19B5}" type="presOf" srcId="{B1039B8A-9099-4A7E-A313-A4B677AFBBE8}" destId="{793D0AB2-A19B-4C55-A0C8-0514A327EEC7}" srcOrd="0" destOrd="0" presId="urn:microsoft.com/office/officeart/2005/8/layout/hierarchy2"/>
    <dgm:cxn modelId="{E529AE8D-F3DD-4DDF-8B55-7504EEF212F3}" type="presOf" srcId="{B0A67B22-39CB-414A-8A0F-DF8E7F475FAD}" destId="{9CD446EC-ADE3-486C-84A3-340E04AC263A}" srcOrd="0" destOrd="0" presId="urn:microsoft.com/office/officeart/2005/8/layout/hierarchy2"/>
    <dgm:cxn modelId="{854EE442-0001-4813-B08C-F186AA16A894}" type="presOf" srcId="{565D3AFC-E6B2-49C6-A62F-FBBB08DEB7A6}" destId="{A215BD59-8DF2-4C2B-B30C-FD75086D2EC1}" srcOrd="0" destOrd="0" presId="urn:microsoft.com/office/officeart/2005/8/layout/hierarchy2"/>
    <dgm:cxn modelId="{EA6E2321-E814-4296-9A97-3492F7966F93}" type="presOf" srcId="{15F8932C-1386-4E5E-9E8A-13FD494279E7}" destId="{0DDE5D5D-9E96-4535-BD8E-3E06C0A457DE}" srcOrd="0" destOrd="0" presId="urn:microsoft.com/office/officeart/2005/8/layout/hierarchy2"/>
    <dgm:cxn modelId="{EBCD9ADB-ABBD-4575-BE06-B8683F6CEFC9}" type="presOf" srcId="{9307570D-1BFA-46B1-BBE9-A534C69F8F89}" destId="{CF7763F4-CF43-4E45-8896-DCFC50942C52}" srcOrd="0" destOrd="0" presId="urn:microsoft.com/office/officeart/2005/8/layout/hierarchy2"/>
    <dgm:cxn modelId="{0339F7C9-6374-405D-B737-89CBC84C815C}" type="presOf" srcId="{AC54C56E-E36E-4123-B8A7-7A0F90944350}" destId="{C45D45D9-F4AA-4480-85C4-57ADE18A86F5}" srcOrd="0" destOrd="0" presId="urn:microsoft.com/office/officeart/2005/8/layout/hierarchy2"/>
    <dgm:cxn modelId="{928C9659-A9F8-4423-92B9-133B46418EEA}" srcId="{0617DFFC-E773-4698-BA8D-13EF89A1812C}" destId="{6E782245-2268-49FD-AED6-54E8D77D0D0A}" srcOrd="1" destOrd="0" parTransId="{9307570D-1BFA-46B1-BBE9-A534C69F8F89}" sibTransId="{76B149AF-D6A7-497D-82E5-0ABC6E38A520}"/>
    <dgm:cxn modelId="{E61A10FC-88F2-4FD9-BBEF-FE1C975C0914}" type="presOf" srcId="{E6B2EBE5-4030-40BA-8656-22F44E606FD9}" destId="{6347CBC3-AED1-4DE0-9A7D-E18D058382C7}" srcOrd="0" destOrd="0" presId="urn:microsoft.com/office/officeart/2005/8/layout/hierarchy2"/>
    <dgm:cxn modelId="{1D9075D8-946F-49C8-9DD7-71B6CD082E02}" type="presOf" srcId="{262848A6-F74B-44F4-8341-02DBCA31F71A}" destId="{B0F11C9C-9BB4-4356-82A8-76F36895CF53}" srcOrd="0" destOrd="0" presId="urn:microsoft.com/office/officeart/2005/8/layout/hierarchy2"/>
    <dgm:cxn modelId="{B5C94C62-858C-4656-A6CB-019B24CA0904}" type="presOf" srcId="{36AF5307-3B97-408B-B265-389F770BAF4B}" destId="{DB079F62-F769-4AFA-85D7-F5ADF829A338}" srcOrd="1" destOrd="0" presId="urn:microsoft.com/office/officeart/2005/8/layout/hierarchy2"/>
    <dgm:cxn modelId="{3EE8FD23-032F-4E98-AA67-B23D507079AC}" type="presOf" srcId="{6C503A3F-1306-4658-A3AC-99DD221892EF}" destId="{78AC8586-D62D-4B24-A506-F67FDDE85D49}" srcOrd="0" destOrd="0" presId="urn:microsoft.com/office/officeart/2005/8/layout/hierarchy2"/>
    <dgm:cxn modelId="{7BCAE6C8-9528-4893-8A1E-2C89A21A0F24}" type="presOf" srcId="{36AF5307-3B97-408B-B265-389F770BAF4B}" destId="{5F4E5031-49B8-4061-A10C-4969CAA200E4}" srcOrd="0" destOrd="0" presId="urn:microsoft.com/office/officeart/2005/8/layout/hierarchy2"/>
    <dgm:cxn modelId="{3673922F-0C71-4B8B-AD5A-80B99CFCC90D}" type="presParOf" srcId="{AF412E45-0955-4674-B834-0FCC5248D052}" destId="{A84453E7-D94E-41C1-AE7C-7288218E51FF}" srcOrd="0" destOrd="0" presId="urn:microsoft.com/office/officeart/2005/8/layout/hierarchy2"/>
    <dgm:cxn modelId="{7CDD4EF3-28A7-4DA0-8559-2D374A619229}" type="presParOf" srcId="{A84453E7-D94E-41C1-AE7C-7288218E51FF}" destId="{E385F727-62BE-494C-AF24-FFCA7F245432}" srcOrd="0" destOrd="0" presId="urn:microsoft.com/office/officeart/2005/8/layout/hierarchy2"/>
    <dgm:cxn modelId="{0FBF1721-F061-45C1-B4DC-98611E8904C5}" type="presParOf" srcId="{A84453E7-D94E-41C1-AE7C-7288218E51FF}" destId="{26CE9938-ED77-48B6-9A0A-F899CD27864F}" srcOrd="1" destOrd="0" presId="urn:microsoft.com/office/officeart/2005/8/layout/hierarchy2"/>
    <dgm:cxn modelId="{531B8912-28A4-4864-B537-050892A8582F}" type="presParOf" srcId="{26CE9938-ED77-48B6-9A0A-F899CD27864F}" destId="{D1D9D55F-9075-4BA9-B7F2-613929A42ABF}" srcOrd="0" destOrd="0" presId="urn:microsoft.com/office/officeart/2005/8/layout/hierarchy2"/>
    <dgm:cxn modelId="{CA817379-9F47-4E89-BE28-16CC46BE037F}" type="presParOf" srcId="{D1D9D55F-9075-4BA9-B7F2-613929A42ABF}" destId="{C15B3903-80A0-4105-8B1B-6A10BCAD1F88}" srcOrd="0" destOrd="0" presId="urn:microsoft.com/office/officeart/2005/8/layout/hierarchy2"/>
    <dgm:cxn modelId="{8654A5ED-7752-4982-830F-E44389D1ADCD}" type="presParOf" srcId="{26CE9938-ED77-48B6-9A0A-F899CD27864F}" destId="{FA843D36-BEEB-4DF6-A595-A8EEF40A9A56}" srcOrd="1" destOrd="0" presId="urn:microsoft.com/office/officeart/2005/8/layout/hierarchy2"/>
    <dgm:cxn modelId="{369027AB-4D98-4896-B2E1-4764C9CF8993}" type="presParOf" srcId="{FA843D36-BEEB-4DF6-A595-A8EEF40A9A56}" destId="{8D6C6E3A-D9CA-4E13-86FC-B32B58BA50F3}" srcOrd="0" destOrd="0" presId="urn:microsoft.com/office/officeart/2005/8/layout/hierarchy2"/>
    <dgm:cxn modelId="{5B836CB8-79FE-4722-BBE6-9EC1EDFDD515}" type="presParOf" srcId="{FA843D36-BEEB-4DF6-A595-A8EEF40A9A56}" destId="{5963E963-6361-4B64-8B3B-126DEE3C4AD8}" srcOrd="1" destOrd="0" presId="urn:microsoft.com/office/officeart/2005/8/layout/hierarchy2"/>
    <dgm:cxn modelId="{55E35843-D444-4D19-9607-0627B562F423}" type="presParOf" srcId="{5963E963-6361-4B64-8B3B-126DEE3C4AD8}" destId="{C45D45D9-F4AA-4480-85C4-57ADE18A86F5}" srcOrd="0" destOrd="0" presId="urn:microsoft.com/office/officeart/2005/8/layout/hierarchy2"/>
    <dgm:cxn modelId="{CA4C1E40-B04F-4B53-ABF4-F66D5F19C0A9}" type="presParOf" srcId="{C45D45D9-F4AA-4480-85C4-57ADE18A86F5}" destId="{E6902A13-1F7B-4210-9CB3-DDFCC8F7BB9C}" srcOrd="0" destOrd="0" presId="urn:microsoft.com/office/officeart/2005/8/layout/hierarchy2"/>
    <dgm:cxn modelId="{7BA87FB7-956F-4138-A850-79ECB89A9EAA}" type="presParOf" srcId="{5963E963-6361-4B64-8B3B-126DEE3C4AD8}" destId="{7AF1DBAC-8860-4608-8EF7-01E8821A6DBA}" srcOrd="1" destOrd="0" presId="urn:microsoft.com/office/officeart/2005/8/layout/hierarchy2"/>
    <dgm:cxn modelId="{D6767095-C3B1-46BB-ADB3-21378B56CF95}" type="presParOf" srcId="{7AF1DBAC-8860-4608-8EF7-01E8821A6DBA}" destId="{0824CC66-2A7F-41C9-B669-D34C57862749}" srcOrd="0" destOrd="0" presId="urn:microsoft.com/office/officeart/2005/8/layout/hierarchy2"/>
    <dgm:cxn modelId="{2E1758EE-32FD-4BB6-8B0A-F5B3EC101F59}" type="presParOf" srcId="{7AF1DBAC-8860-4608-8EF7-01E8821A6DBA}" destId="{4859CB01-2A92-40A6-8B3D-0A39624F7300}" srcOrd="1" destOrd="0" presId="urn:microsoft.com/office/officeart/2005/8/layout/hierarchy2"/>
    <dgm:cxn modelId="{B465AD61-5E42-4FFE-888C-EC110DCFC3BC}" type="presParOf" srcId="{4859CB01-2A92-40A6-8B3D-0A39624F7300}" destId="{B0F11C9C-9BB4-4356-82A8-76F36895CF53}" srcOrd="0" destOrd="0" presId="urn:microsoft.com/office/officeart/2005/8/layout/hierarchy2"/>
    <dgm:cxn modelId="{3C21E587-BF70-4CE4-BD94-B3D4BF94631B}" type="presParOf" srcId="{B0F11C9C-9BB4-4356-82A8-76F36895CF53}" destId="{A420E0DC-646A-4B33-99DC-46C453FC63BB}" srcOrd="0" destOrd="0" presId="urn:microsoft.com/office/officeart/2005/8/layout/hierarchy2"/>
    <dgm:cxn modelId="{9F1859A4-F0E0-4928-A221-4CF1A6F9A394}" type="presParOf" srcId="{4859CB01-2A92-40A6-8B3D-0A39624F7300}" destId="{23FD0CBC-D032-41EE-A7F7-688AC60A0B14}" srcOrd="1" destOrd="0" presId="urn:microsoft.com/office/officeart/2005/8/layout/hierarchy2"/>
    <dgm:cxn modelId="{F9B4267F-BE32-49B4-A0DB-E64DBB280DFA}" type="presParOf" srcId="{23FD0CBC-D032-41EE-A7F7-688AC60A0B14}" destId="{083D3153-B154-4266-8480-237B811E2A34}" srcOrd="0" destOrd="0" presId="urn:microsoft.com/office/officeart/2005/8/layout/hierarchy2"/>
    <dgm:cxn modelId="{379E28F4-DE0D-479A-98D4-88933DE76512}" type="presParOf" srcId="{23FD0CBC-D032-41EE-A7F7-688AC60A0B14}" destId="{1C4515BC-106E-4108-B0C2-1C85052A1D01}" srcOrd="1" destOrd="0" presId="urn:microsoft.com/office/officeart/2005/8/layout/hierarchy2"/>
    <dgm:cxn modelId="{EB39AC91-B462-43E3-8DC1-030132B5535F}" type="presParOf" srcId="{5963E963-6361-4B64-8B3B-126DEE3C4AD8}" destId="{CF7763F4-CF43-4E45-8896-DCFC50942C52}" srcOrd="2" destOrd="0" presId="urn:microsoft.com/office/officeart/2005/8/layout/hierarchy2"/>
    <dgm:cxn modelId="{441B07D1-5CAC-49CB-B839-2D9AA53F0FF8}" type="presParOf" srcId="{CF7763F4-CF43-4E45-8896-DCFC50942C52}" destId="{F53A1A28-7C80-4C94-A0EB-DFADEED7763B}" srcOrd="0" destOrd="0" presId="urn:microsoft.com/office/officeart/2005/8/layout/hierarchy2"/>
    <dgm:cxn modelId="{282E9150-7971-43D1-AAA0-9580260D9197}" type="presParOf" srcId="{5963E963-6361-4B64-8B3B-126DEE3C4AD8}" destId="{0AF4DA33-E2C7-4EFB-8A06-D2C6C71DBB10}" srcOrd="3" destOrd="0" presId="urn:microsoft.com/office/officeart/2005/8/layout/hierarchy2"/>
    <dgm:cxn modelId="{80CF71A8-272F-47A1-98BC-E95314F4CB11}" type="presParOf" srcId="{0AF4DA33-E2C7-4EFB-8A06-D2C6C71DBB10}" destId="{4044563B-AB44-4B42-8CE9-A11B67F9835B}" srcOrd="0" destOrd="0" presId="urn:microsoft.com/office/officeart/2005/8/layout/hierarchy2"/>
    <dgm:cxn modelId="{70F02415-CDF4-49F2-BA07-8184DEA0FE2D}" type="presParOf" srcId="{0AF4DA33-E2C7-4EFB-8A06-D2C6C71DBB10}" destId="{1224A879-5C6D-4965-A914-03C866F64834}" srcOrd="1" destOrd="0" presId="urn:microsoft.com/office/officeart/2005/8/layout/hierarchy2"/>
    <dgm:cxn modelId="{33079706-E529-468D-8CC3-7D6DCB6A9ECA}" type="presParOf" srcId="{1224A879-5C6D-4965-A914-03C866F64834}" destId="{DF4ED0CC-C9DC-482B-8043-6DE2263CC5D3}" srcOrd="0" destOrd="0" presId="urn:microsoft.com/office/officeart/2005/8/layout/hierarchy2"/>
    <dgm:cxn modelId="{0267C5AE-9B79-49AD-ABBE-684CE4E0E95A}" type="presParOf" srcId="{DF4ED0CC-C9DC-482B-8043-6DE2263CC5D3}" destId="{BD8EC961-B013-4594-B73B-A18FB29D09A0}" srcOrd="0" destOrd="0" presId="urn:microsoft.com/office/officeart/2005/8/layout/hierarchy2"/>
    <dgm:cxn modelId="{92B6C8B0-89CF-4388-89A4-64DAE9C9CBD5}" type="presParOf" srcId="{1224A879-5C6D-4965-A914-03C866F64834}" destId="{093CA118-6335-4929-8B6C-F4D1F67C4466}" srcOrd="1" destOrd="0" presId="urn:microsoft.com/office/officeart/2005/8/layout/hierarchy2"/>
    <dgm:cxn modelId="{FF54B469-1E4C-46B6-AEB2-3AF73DB1DE93}" type="presParOf" srcId="{093CA118-6335-4929-8B6C-F4D1F67C4466}" destId="{883DCC8F-7B2D-43E7-82F3-577AE663F25C}" srcOrd="0" destOrd="0" presId="urn:microsoft.com/office/officeart/2005/8/layout/hierarchy2"/>
    <dgm:cxn modelId="{90DFC464-CA24-4424-9626-ECEB70468713}" type="presParOf" srcId="{093CA118-6335-4929-8B6C-F4D1F67C4466}" destId="{88C2CB7C-8F3D-40E7-95A6-995A78B33F3A}" srcOrd="1" destOrd="0" presId="urn:microsoft.com/office/officeart/2005/8/layout/hierarchy2"/>
    <dgm:cxn modelId="{A0E5BB9D-4353-43BD-A3EA-B3539FD821F4}" type="presParOf" srcId="{1224A879-5C6D-4965-A914-03C866F64834}" destId="{6347CBC3-AED1-4DE0-9A7D-E18D058382C7}" srcOrd="2" destOrd="0" presId="urn:microsoft.com/office/officeart/2005/8/layout/hierarchy2"/>
    <dgm:cxn modelId="{E0737D41-5E29-427F-936C-7B1B62BD6731}" type="presParOf" srcId="{6347CBC3-AED1-4DE0-9A7D-E18D058382C7}" destId="{04F0B871-728A-4FA7-9A80-866DF60CB92B}" srcOrd="0" destOrd="0" presId="urn:microsoft.com/office/officeart/2005/8/layout/hierarchy2"/>
    <dgm:cxn modelId="{8735DF1B-E014-4052-8559-8FF746DA55E4}" type="presParOf" srcId="{1224A879-5C6D-4965-A914-03C866F64834}" destId="{E41A4E29-6249-4B42-AD65-3B37117C2CED}" srcOrd="3" destOrd="0" presId="urn:microsoft.com/office/officeart/2005/8/layout/hierarchy2"/>
    <dgm:cxn modelId="{91DC1B39-5AC6-43C6-ACDD-2E82A211F8FD}" type="presParOf" srcId="{E41A4E29-6249-4B42-AD65-3B37117C2CED}" destId="{793D0AB2-A19B-4C55-A0C8-0514A327EEC7}" srcOrd="0" destOrd="0" presId="urn:microsoft.com/office/officeart/2005/8/layout/hierarchy2"/>
    <dgm:cxn modelId="{2BC73850-62C6-4689-8241-480D5CCB6395}" type="presParOf" srcId="{E41A4E29-6249-4B42-AD65-3B37117C2CED}" destId="{C2CD9F81-CA17-48F4-B04F-F14C4E4E4249}" srcOrd="1" destOrd="0" presId="urn:microsoft.com/office/officeart/2005/8/layout/hierarchy2"/>
    <dgm:cxn modelId="{0D161706-546B-466B-BF29-1432EECF53A5}" type="presParOf" srcId="{26CE9938-ED77-48B6-9A0A-F899CD27864F}" destId="{5F4E5031-49B8-4061-A10C-4969CAA200E4}" srcOrd="2" destOrd="0" presId="urn:microsoft.com/office/officeart/2005/8/layout/hierarchy2"/>
    <dgm:cxn modelId="{3895043B-6629-40E5-AE3F-BA2962470439}" type="presParOf" srcId="{5F4E5031-49B8-4061-A10C-4969CAA200E4}" destId="{DB079F62-F769-4AFA-85D7-F5ADF829A338}" srcOrd="0" destOrd="0" presId="urn:microsoft.com/office/officeart/2005/8/layout/hierarchy2"/>
    <dgm:cxn modelId="{B9D5A96E-9167-4B82-B164-BE35AF1CAFEE}" type="presParOf" srcId="{26CE9938-ED77-48B6-9A0A-F899CD27864F}" destId="{10C66423-7104-4E09-9FA1-35CE70C9D23E}" srcOrd="3" destOrd="0" presId="urn:microsoft.com/office/officeart/2005/8/layout/hierarchy2"/>
    <dgm:cxn modelId="{138D1EA0-278E-4265-9797-A8B85FA948EF}" type="presParOf" srcId="{10C66423-7104-4E09-9FA1-35CE70C9D23E}" destId="{0DDE5D5D-9E96-4535-BD8E-3E06C0A457DE}" srcOrd="0" destOrd="0" presId="urn:microsoft.com/office/officeart/2005/8/layout/hierarchy2"/>
    <dgm:cxn modelId="{915ADF6B-AD65-464E-B34A-EDAA7BD521BB}" type="presParOf" srcId="{10C66423-7104-4E09-9FA1-35CE70C9D23E}" destId="{FC5B6DE3-9DAF-4F97-9717-E0EDE211FF98}" srcOrd="1" destOrd="0" presId="urn:microsoft.com/office/officeart/2005/8/layout/hierarchy2"/>
    <dgm:cxn modelId="{E504A637-B742-4A19-9B9C-9A41D1EA39CB}" type="presParOf" srcId="{FC5B6DE3-9DAF-4F97-9717-E0EDE211FF98}" destId="{C056667A-92EB-405A-A960-7B773E8AF740}" srcOrd="0" destOrd="0" presId="urn:microsoft.com/office/officeart/2005/8/layout/hierarchy2"/>
    <dgm:cxn modelId="{67266D21-3936-41C0-83AD-23CF1CB303F9}" type="presParOf" srcId="{C056667A-92EB-405A-A960-7B773E8AF740}" destId="{421A83C2-096D-4C3E-9DD8-6CB27F5F4A65}" srcOrd="0" destOrd="0" presId="urn:microsoft.com/office/officeart/2005/8/layout/hierarchy2"/>
    <dgm:cxn modelId="{547E4A91-8375-4AFD-BC57-2267BA9FE5C3}" type="presParOf" srcId="{FC5B6DE3-9DAF-4F97-9717-E0EDE211FF98}" destId="{414D38E4-35A7-4995-8637-4BD62B89A1FD}" srcOrd="1" destOrd="0" presId="urn:microsoft.com/office/officeart/2005/8/layout/hierarchy2"/>
    <dgm:cxn modelId="{BAF20948-BA2D-435C-A080-F391EEE5B4DF}" type="presParOf" srcId="{414D38E4-35A7-4995-8637-4BD62B89A1FD}" destId="{A215BD59-8DF2-4C2B-B30C-FD75086D2EC1}" srcOrd="0" destOrd="0" presId="urn:microsoft.com/office/officeart/2005/8/layout/hierarchy2"/>
    <dgm:cxn modelId="{DFC4DD2A-DBDB-4584-A626-5E89591CA0AD}" type="presParOf" srcId="{414D38E4-35A7-4995-8637-4BD62B89A1FD}" destId="{6D9560A0-13A1-43C2-AC42-A1761E167094}" srcOrd="1" destOrd="0" presId="urn:microsoft.com/office/officeart/2005/8/layout/hierarchy2"/>
    <dgm:cxn modelId="{A3BE45BD-5D78-4C71-BE60-6EF6ACCF99F3}" type="presParOf" srcId="{6D9560A0-13A1-43C2-AC42-A1761E167094}" destId="{78AC8586-D62D-4B24-A506-F67FDDE85D49}" srcOrd="0" destOrd="0" presId="urn:microsoft.com/office/officeart/2005/8/layout/hierarchy2"/>
    <dgm:cxn modelId="{175F0848-F39D-4364-B361-7EE050056D5C}" type="presParOf" srcId="{78AC8586-D62D-4B24-A506-F67FDDE85D49}" destId="{498E52D1-2D04-4B02-84CB-EB5A0474CD16}" srcOrd="0" destOrd="0" presId="urn:microsoft.com/office/officeart/2005/8/layout/hierarchy2"/>
    <dgm:cxn modelId="{7A183559-5F07-4CDB-905A-7F17A8B34688}" type="presParOf" srcId="{6D9560A0-13A1-43C2-AC42-A1761E167094}" destId="{9D1B5148-D6DF-41EB-A137-E53BDDD2F94A}" srcOrd="1" destOrd="0" presId="urn:microsoft.com/office/officeart/2005/8/layout/hierarchy2"/>
    <dgm:cxn modelId="{ACA3E95D-EE53-41E0-9B2A-F6ED61B61160}" type="presParOf" srcId="{9D1B5148-D6DF-41EB-A137-E53BDDD2F94A}" destId="{9CD446EC-ADE3-486C-84A3-340E04AC263A}" srcOrd="0" destOrd="0" presId="urn:microsoft.com/office/officeart/2005/8/layout/hierarchy2"/>
    <dgm:cxn modelId="{0A32092A-53F1-43DF-B702-52BEE3B886E3}" type="presParOf" srcId="{9D1B5148-D6DF-41EB-A137-E53BDDD2F94A}" destId="{6BCCA4FA-3E4F-413F-8C42-CBB3993B5F8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5F727-62BE-494C-AF24-FFCA7F245432}">
      <dsp:nvSpPr>
        <dsp:cNvPr id="0" name=""/>
        <dsp:cNvSpPr/>
      </dsp:nvSpPr>
      <dsp:spPr>
        <a:xfrm>
          <a:off x="770" y="2208589"/>
          <a:ext cx="1582319" cy="791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Themes</a:t>
          </a:r>
          <a:endParaRPr lang="fi-FI" sz="2500" kern="1200" dirty="0"/>
        </a:p>
      </dsp:txBody>
      <dsp:txXfrm>
        <a:off x="23942" y="2231761"/>
        <a:ext cx="1535975" cy="744815"/>
      </dsp:txXfrm>
    </dsp:sp>
    <dsp:sp modelId="{D1D9D55F-9075-4BA9-B7F2-613929A42ABF}">
      <dsp:nvSpPr>
        <dsp:cNvPr id="0" name=""/>
        <dsp:cNvSpPr/>
      </dsp:nvSpPr>
      <dsp:spPr>
        <a:xfrm rot="18103853">
          <a:off x="1297831" y="2076655"/>
          <a:ext cx="1203444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1203444" y="157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1869467" y="2062301"/>
        <a:ext cx="60172" cy="60172"/>
      </dsp:txXfrm>
    </dsp:sp>
    <dsp:sp modelId="{8D6C6E3A-D9CA-4E13-86FC-B32B58BA50F3}">
      <dsp:nvSpPr>
        <dsp:cNvPr id="0" name=""/>
        <dsp:cNvSpPr/>
      </dsp:nvSpPr>
      <dsp:spPr>
        <a:xfrm>
          <a:off x="2216017" y="1185026"/>
          <a:ext cx="1582319" cy="791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Epics</a:t>
          </a:r>
          <a:endParaRPr lang="fi-FI" sz="2500" kern="1200" dirty="0"/>
        </a:p>
      </dsp:txBody>
      <dsp:txXfrm>
        <a:off x="2239189" y="1208198"/>
        <a:ext cx="1535975" cy="744815"/>
      </dsp:txXfrm>
    </dsp:sp>
    <dsp:sp modelId="{C45D45D9-F4AA-4480-85C4-57ADE18A86F5}">
      <dsp:nvSpPr>
        <dsp:cNvPr id="0" name=""/>
        <dsp:cNvSpPr/>
      </dsp:nvSpPr>
      <dsp:spPr>
        <a:xfrm rot="18770822">
          <a:off x="3649441" y="1223686"/>
          <a:ext cx="930716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930716" y="157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4091532" y="1216150"/>
        <a:ext cx="46535" cy="46535"/>
      </dsp:txXfrm>
    </dsp:sp>
    <dsp:sp modelId="{0824CC66-2A7F-41C9-B669-D34C57862749}">
      <dsp:nvSpPr>
        <dsp:cNvPr id="0" name=""/>
        <dsp:cNvSpPr/>
      </dsp:nvSpPr>
      <dsp:spPr>
        <a:xfrm>
          <a:off x="4431263" y="502651"/>
          <a:ext cx="1582319" cy="791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User Stories</a:t>
          </a:r>
          <a:endParaRPr lang="fi-FI" sz="2500" kern="1200" dirty="0"/>
        </a:p>
      </dsp:txBody>
      <dsp:txXfrm>
        <a:off x="4454435" y="525823"/>
        <a:ext cx="1535975" cy="744815"/>
      </dsp:txXfrm>
    </dsp:sp>
    <dsp:sp modelId="{B0F11C9C-9BB4-4356-82A8-76F36895CF53}">
      <dsp:nvSpPr>
        <dsp:cNvPr id="0" name=""/>
        <dsp:cNvSpPr/>
      </dsp:nvSpPr>
      <dsp:spPr>
        <a:xfrm>
          <a:off x="6013582" y="882498"/>
          <a:ext cx="632927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632927" y="157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6314223" y="882408"/>
        <a:ext cx="31646" cy="31646"/>
      </dsp:txXfrm>
    </dsp:sp>
    <dsp:sp modelId="{083D3153-B154-4266-8480-237B811E2A34}">
      <dsp:nvSpPr>
        <dsp:cNvPr id="0" name=""/>
        <dsp:cNvSpPr/>
      </dsp:nvSpPr>
      <dsp:spPr>
        <a:xfrm>
          <a:off x="6646510" y="502651"/>
          <a:ext cx="1582319" cy="7911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Tasks</a:t>
          </a:r>
          <a:endParaRPr lang="fi-FI" sz="2500" kern="1200" dirty="0"/>
        </a:p>
      </dsp:txBody>
      <dsp:txXfrm>
        <a:off x="6669682" y="525823"/>
        <a:ext cx="1535975" cy="744815"/>
      </dsp:txXfrm>
    </dsp:sp>
    <dsp:sp modelId="{CF7763F4-CF43-4E45-8896-DCFC50942C52}">
      <dsp:nvSpPr>
        <dsp:cNvPr id="0" name=""/>
        <dsp:cNvSpPr/>
      </dsp:nvSpPr>
      <dsp:spPr>
        <a:xfrm rot="2829178">
          <a:off x="3649441" y="1906061"/>
          <a:ext cx="930716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930716" y="157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4091532" y="1898526"/>
        <a:ext cx="46535" cy="46535"/>
      </dsp:txXfrm>
    </dsp:sp>
    <dsp:sp modelId="{4044563B-AB44-4B42-8CE9-A11B67F9835B}">
      <dsp:nvSpPr>
        <dsp:cNvPr id="0" name=""/>
        <dsp:cNvSpPr/>
      </dsp:nvSpPr>
      <dsp:spPr>
        <a:xfrm>
          <a:off x="4431263" y="1867401"/>
          <a:ext cx="1582319" cy="791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User Stories</a:t>
          </a:r>
          <a:endParaRPr lang="fi-FI" sz="2500" kern="1200" dirty="0"/>
        </a:p>
      </dsp:txBody>
      <dsp:txXfrm>
        <a:off x="4454435" y="1890573"/>
        <a:ext cx="1535975" cy="744815"/>
      </dsp:txXfrm>
    </dsp:sp>
    <dsp:sp modelId="{DF4ED0CC-C9DC-482B-8043-6DE2263CC5D3}">
      <dsp:nvSpPr>
        <dsp:cNvPr id="0" name=""/>
        <dsp:cNvSpPr/>
      </dsp:nvSpPr>
      <dsp:spPr>
        <a:xfrm rot="19457599">
          <a:off x="5940320" y="2019790"/>
          <a:ext cx="779452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779452" y="157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6310560" y="2016036"/>
        <a:ext cx="38972" cy="38972"/>
      </dsp:txXfrm>
    </dsp:sp>
    <dsp:sp modelId="{883DCC8F-7B2D-43E7-82F3-577AE663F25C}">
      <dsp:nvSpPr>
        <dsp:cNvPr id="0" name=""/>
        <dsp:cNvSpPr/>
      </dsp:nvSpPr>
      <dsp:spPr>
        <a:xfrm>
          <a:off x="6646510" y="1412484"/>
          <a:ext cx="1582319" cy="7911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Tasks</a:t>
          </a:r>
          <a:endParaRPr lang="fi-FI" sz="2500" kern="1200" dirty="0"/>
        </a:p>
      </dsp:txBody>
      <dsp:txXfrm>
        <a:off x="6669682" y="1435656"/>
        <a:ext cx="1535975" cy="744815"/>
      </dsp:txXfrm>
    </dsp:sp>
    <dsp:sp modelId="{6347CBC3-AED1-4DE0-9A7D-E18D058382C7}">
      <dsp:nvSpPr>
        <dsp:cNvPr id="0" name=""/>
        <dsp:cNvSpPr/>
      </dsp:nvSpPr>
      <dsp:spPr>
        <a:xfrm rot="2142401">
          <a:off x="5940320" y="2474707"/>
          <a:ext cx="779452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779452" y="157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6310560" y="2470953"/>
        <a:ext cx="38972" cy="38972"/>
      </dsp:txXfrm>
    </dsp:sp>
    <dsp:sp modelId="{793D0AB2-A19B-4C55-A0C8-0514A327EEC7}">
      <dsp:nvSpPr>
        <dsp:cNvPr id="0" name=""/>
        <dsp:cNvSpPr/>
      </dsp:nvSpPr>
      <dsp:spPr>
        <a:xfrm>
          <a:off x="6646510" y="2322318"/>
          <a:ext cx="1582319" cy="7911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Tasks</a:t>
          </a:r>
          <a:endParaRPr lang="fi-FI" sz="2500" kern="1200" dirty="0"/>
        </a:p>
      </dsp:txBody>
      <dsp:txXfrm>
        <a:off x="6669682" y="2345490"/>
        <a:ext cx="1535975" cy="744815"/>
      </dsp:txXfrm>
    </dsp:sp>
    <dsp:sp modelId="{5F4E5031-49B8-4061-A10C-4969CAA200E4}">
      <dsp:nvSpPr>
        <dsp:cNvPr id="0" name=""/>
        <dsp:cNvSpPr/>
      </dsp:nvSpPr>
      <dsp:spPr>
        <a:xfrm rot="3496147">
          <a:off x="1297831" y="3100217"/>
          <a:ext cx="1203444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1203444" y="157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1869467" y="3085864"/>
        <a:ext cx="60172" cy="60172"/>
      </dsp:txXfrm>
    </dsp:sp>
    <dsp:sp modelId="{0DDE5D5D-9E96-4535-BD8E-3E06C0A457DE}">
      <dsp:nvSpPr>
        <dsp:cNvPr id="0" name=""/>
        <dsp:cNvSpPr/>
      </dsp:nvSpPr>
      <dsp:spPr>
        <a:xfrm>
          <a:off x="2216017" y="3232151"/>
          <a:ext cx="1582319" cy="7911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Epics</a:t>
          </a:r>
          <a:endParaRPr lang="fi-FI" sz="2500" kern="1200" dirty="0"/>
        </a:p>
      </dsp:txBody>
      <dsp:txXfrm>
        <a:off x="2239189" y="3255323"/>
        <a:ext cx="1535975" cy="744815"/>
      </dsp:txXfrm>
    </dsp:sp>
    <dsp:sp modelId="{C056667A-92EB-405A-A960-7B773E8AF740}">
      <dsp:nvSpPr>
        <dsp:cNvPr id="0" name=""/>
        <dsp:cNvSpPr/>
      </dsp:nvSpPr>
      <dsp:spPr>
        <a:xfrm>
          <a:off x="3798336" y="3611999"/>
          <a:ext cx="632927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632927" y="15732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4098976" y="3611908"/>
        <a:ext cx="31646" cy="31646"/>
      </dsp:txXfrm>
    </dsp:sp>
    <dsp:sp modelId="{A215BD59-8DF2-4C2B-B30C-FD75086D2EC1}">
      <dsp:nvSpPr>
        <dsp:cNvPr id="0" name=""/>
        <dsp:cNvSpPr/>
      </dsp:nvSpPr>
      <dsp:spPr>
        <a:xfrm>
          <a:off x="4431263" y="3232151"/>
          <a:ext cx="1582319" cy="7911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User Stories</a:t>
          </a:r>
          <a:endParaRPr lang="fi-FI" sz="2500" kern="1200" dirty="0"/>
        </a:p>
      </dsp:txBody>
      <dsp:txXfrm>
        <a:off x="4454435" y="3255323"/>
        <a:ext cx="1535975" cy="744815"/>
      </dsp:txXfrm>
    </dsp:sp>
    <dsp:sp modelId="{78AC8586-D62D-4B24-A506-F67FDDE85D49}">
      <dsp:nvSpPr>
        <dsp:cNvPr id="0" name=""/>
        <dsp:cNvSpPr/>
      </dsp:nvSpPr>
      <dsp:spPr>
        <a:xfrm>
          <a:off x="6013582" y="3611999"/>
          <a:ext cx="632927" cy="31464"/>
        </a:xfrm>
        <a:custGeom>
          <a:avLst/>
          <a:gdLst/>
          <a:ahLst/>
          <a:cxnLst/>
          <a:rect l="0" t="0" r="0" b="0"/>
          <a:pathLst>
            <a:path>
              <a:moveTo>
                <a:pt x="0" y="15732"/>
              </a:moveTo>
              <a:lnTo>
                <a:pt x="632927" y="157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i-FI" sz="500" kern="1200"/>
        </a:p>
      </dsp:txBody>
      <dsp:txXfrm>
        <a:off x="6314223" y="3611908"/>
        <a:ext cx="31646" cy="31646"/>
      </dsp:txXfrm>
    </dsp:sp>
    <dsp:sp modelId="{9CD446EC-ADE3-486C-84A3-340E04AC263A}">
      <dsp:nvSpPr>
        <dsp:cNvPr id="0" name=""/>
        <dsp:cNvSpPr/>
      </dsp:nvSpPr>
      <dsp:spPr>
        <a:xfrm>
          <a:off x="6646510" y="3232151"/>
          <a:ext cx="1582319" cy="7911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2500" kern="1200" dirty="0" smtClean="0"/>
            <a:t>Tasks</a:t>
          </a:r>
          <a:endParaRPr lang="fi-FI" sz="2500" kern="1200" dirty="0"/>
        </a:p>
      </dsp:txBody>
      <dsp:txXfrm>
        <a:off x="6669682" y="3255323"/>
        <a:ext cx="1535975" cy="744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30/05/17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8969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err="1" smtClean="0"/>
              <a:t>Cucumber</a:t>
            </a:r>
            <a:r>
              <a:rPr lang="fi-FI" dirty="0" smtClean="0"/>
              <a:t> – </a:t>
            </a:r>
            <a:r>
              <a:rPr lang="fi-FI" dirty="0" err="1" smtClean="0"/>
              <a:t>Ruby</a:t>
            </a:r>
            <a:endParaRPr lang="fi-FI" dirty="0" smtClean="0"/>
          </a:p>
          <a:p>
            <a:r>
              <a:rPr lang="fi-FI" dirty="0" err="1" smtClean="0"/>
              <a:t>Robot</a:t>
            </a:r>
            <a:r>
              <a:rPr lang="fi-FI" dirty="0" smtClean="0"/>
              <a:t> </a:t>
            </a:r>
            <a:r>
              <a:rPr lang="fi-FI" dirty="0" err="1" smtClean="0"/>
              <a:t>Framework</a:t>
            </a:r>
            <a:r>
              <a:rPr lang="fi-FI" baseline="0" dirty="0" smtClean="0"/>
              <a:t> </a:t>
            </a:r>
            <a:r>
              <a:rPr lang="fi-FI" baseline="0" smtClean="0"/>
              <a:t>- Python</a:t>
            </a:r>
            <a:endParaRPr lang="en-US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CE70F74-C7D7-4E88-B5D1-B34E9F359E4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31F9F7-0D65-4F3D-A6C9-4C7C91DA1D89}" type="slidenum">
              <a:rPr lang="fi-FI" smtClean="0"/>
              <a:pPr/>
              <a:t>16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0C2CD-670E-42F8-9548-303C8DB7B926}" type="slidenum">
              <a:rPr lang="fi-FI" smtClean="0"/>
              <a:pPr/>
              <a:t>18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0C2CD-670E-42F8-9548-303C8DB7B926}" type="slidenum">
              <a:rPr lang="fi-FI" smtClean="0"/>
              <a:pPr/>
              <a:t>20</a:t>
            </a:fld>
            <a:endParaRPr lang="fi-FI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21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FFC6A-3EB0-4D98-8761-2976D23540E4}" type="slidenum">
              <a:rPr lang="fi-FI" smtClean="0"/>
              <a:pPr/>
              <a:t>23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0C2CD-670E-42F8-9548-303C8DB7B926}" type="slidenum">
              <a:rPr lang="fi-FI" smtClean="0"/>
              <a:pPr/>
              <a:t>24</a:t>
            </a:fld>
            <a:endParaRPr lang="fi-FI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0C2CD-670E-42F8-9548-303C8DB7B926}" type="slidenum">
              <a:rPr lang="fi-FI" smtClean="0"/>
              <a:pPr/>
              <a:t>25</a:t>
            </a:fld>
            <a:endParaRPr lang="fi-FI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26</a:t>
            </a:fld>
            <a:endParaRPr lang="fi-FI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27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9317-C994-42B9-8732-6F69C1E5ADCD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C923-7101-4276-B825-F198A71DF883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D20A-E901-4D4C-A428-5291CCE036B9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8E37-3404-4A42-A687-25603913CF4A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496AD-9603-45D5-8F37-B884C1FD86ED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15555-4253-4FE9-8793-DDA8851820DE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9D58-B44E-4C31-948C-A2C01BF7A5AE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A54D5-DB3A-4305-9336-CDEEFF248AEA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AABD-5A23-40F0-88B3-8087688AB4AE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4701-77E7-4C69-A948-FE1E884BEF24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5DAE-4A71-4DCD-A1CD-08136C9D6845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41D5F-5C21-4634-A331-28175474F324}" type="datetime1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DAY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hyperlink" Target="http://creativecommons.org/licenses/by/1.0/fi/" TargetMode="External"/><Relationship Id="rId5" Type="http://schemas.openxmlformats.org/officeDocument/2006/relationships/hyperlink" Target="http://creativecommons.org/licenses/by/1.0/fi/deed.en" TargetMode="External"/><Relationship Id="rId6" Type="http://schemas.openxmlformats.org/officeDocument/2006/relationships/image" Target="../media/image2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Vaatimukset ja hyväksymistestiohjattu kehitys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smtClean="0"/>
              <a:t>...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4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pic>
        <p:nvPicPr>
          <p:cNvPr id="11" name="Picture 2" descr="C:\Documents and Settings\Maaret\My Documents\My Pictures\Microsoft Clip Organizer\j0078734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00525" y="525463"/>
            <a:ext cx="4105275" cy="31270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Harjoitus</a:t>
            </a:r>
            <a:r>
              <a:rPr lang="en-US" dirty="0" smtClean="0"/>
              <a:t>: </a:t>
            </a:r>
            <a:r>
              <a:rPr lang="en-US" dirty="0" err="1" smtClean="0"/>
              <a:t>Paripiirtäminen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Sopikaa</a:t>
            </a:r>
            <a:r>
              <a:rPr lang="en-US" dirty="0" smtClean="0"/>
              <a:t> </a:t>
            </a:r>
            <a:r>
              <a:rPr lang="en-US" dirty="0" err="1" smtClean="0"/>
              <a:t>roolit</a:t>
            </a:r>
            <a:endParaRPr lang="en-US" dirty="0" smtClean="0"/>
          </a:p>
          <a:p>
            <a:pPr lvl="1"/>
            <a:r>
              <a:rPr lang="en-US" dirty="0" err="1" smtClean="0"/>
              <a:t>Piirtäjä</a:t>
            </a:r>
            <a:endParaRPr lang="en-US" dirty="0" smtClean="0"/>
          </a:p>
          <a:p>
            <a:pPr lvl="1"/>
            <a:r>
              <a:rPr lang="en-US" dirty="0" err="1" smtClean="0"/>
              <a:t>Selittäjä</a:t>
            </a:r>
            <a:endParaRPr lang="en-US" dirty="0" smtClean="0"/>
          </a:p>
          <a:p>
            <a:r>
              <a:rPr lang="en-US" dirty="0" err="1" smtClean="0"/>
              <a:t>Piirtäjä</a:t>
            </a:r>
            <a:r>
              <a:rPr lang="en-US" dirty="0" smtClean="0"/>
              <a:t> </a:t>
            </a:r>
            <a:r>
              <a:rPr lang="en-US" dirty="0" err="1" smtClean="0"/>
              <a:t>sulkee</a:t>
            </a:r>
            <a:r>
              <a:rPr lang="en-US" dirty="0" smtClean="0"/>
              <a:t> </a:t>
            </a:r>
            <a:r>
              <a:rPr lang="en-US" dirty="0" err="1" smtClean="0"/>
              <a:t>silmät</a:t>
            </a:r>
            <a:r>
              <a:rPr lang="en-US" dirty="0" smtClean="0"/>
              <a:t> 30 </a:t>
            </a:r>
            <a:r>
              <a:rPr lang="en-US" dirty="0" err="1" smtClean="0"/>
              <a:t>sekunniksi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Selittäjä</a:t>
            </a:r>
            <a:r>
              <a:rPr lang="en-US" dirty="0" smtClean="0"/>
              <a:t> </a:t>
            </a:r>
            <a:r>
              <a:rPr lang="en-US" dirty="0" err="1" smtClean="0"/>
              <a:t>näkee</a:t>
            </a:r>
            <a:r>
              <a:rPr lang="en-US" dirty="0" smtClean="0"/>
              <a:t> </a:t>
            </a:r>
            <a:r>
              <a:rPr lang="en-US" dirty="0" err="1" smtClean="0"/>
              <a:t>kuvan</a:t>
            </a:r>
            <a:endParaRPr lang="en-US" dirty="0" smtClean="0"/>
          </a:p>
          <a:p>
            <a:r>
              <a:rPr lang="en-US" dirty="0" err="1" smtClean="0"/>
              <a:t>Selittäjä</a:t>
            </a:r>
            <a:r>
              <a:rPr lang="en-US" dirty="0" smtClean="0"/>
              <a:t> </a:t>
            </a:r>
            <a:r>
              <a:rPr lang="en-US" dirty="0" err="1" smtClean="0"/>
              <a:t>auttaa</a:t>
            </a:r>
            <a:r>
              <a:rPr lang="en-US" dirty="0" smtClean="0"/>
              <a:t> </a:t>
            </a:r>
            <a:r>
              <a:rPr lang="en-US" dirty="0" err="1" smtClean="0"/>
              <a:t>piirtäjää</a:t>
            </a:r>
            <a:r>
              <a:rPr lang="en-US" dirty="0" smtClean="0"/>
              <a:t> </a:t>
            </a:r>
            <a:r>
              <a:rPr lang="en-US" dirty="0" err="1" smtClean="0"/>
              <a:t>piirtämään</a:t>
            </a:r>
            <a:r>
              <a:rPr lang="en-US" dirty="0" smtClean="0"/>
              <a:t> </a:t>
            </a:r>
            <a:r>
              <a:rPr lang="en-US" dirty="0" err="1" smtClean="0"/>
              <a:t>kuvan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4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1143000"/>
            <a:ext cx="8991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49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Working Software vs. Documentation</a:t>
            </a:r>
            <a:endParaRPr lang="fi-FI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Agile values state working software is valued over comprehensive documentation</a:t>
            </a:r>
          </a:p>
          <a:p>
            <a:r>
              <a:rPr lang="fi-FI" dirty="0" smtClean="0"/>
              <a:t>Often heard from testers: ”agile: doing exactly what we did except for not getting any documentation”</a:t>
            </a:r>
          </a:p>
          <a:p>
            <a:r>
              <a:rPr lang="fi-FI" dirty="0" smtClean="0"/>
              <a:t>To replace documentation, there is tight collaboration with various parties</a:t>
            </a:r>
          </a:p>
          <a:p>
            <a:r>
              <a:rPr lang="fi-FI" dirty="0" smtClean="0"/>
              <a:t>Externally needed documentation – ”a part of the product” – is often done in teams with tester involved due to natural interests</a:t>
            </a:r>
          </a:p>
          <a:p>
            <a:r>
              <a:rPr lang="fi-FI" dirty="0" smtClean="0"/>
              <a:t>An essential practice: conversational test creation</a:t>
            </a:r>
          </a:p>
          <a:p>
            <a:pPr lvl="1"/>
            <a:r>
              <a:rPr lang="fi-FI" dirty="0" smtClean="0"/>
              <a:t>Collaborate with customer and the team to find out what should and must be tested</a:t>
            </a:r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tsikk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Specification by Example (SBE)</a:t>
            </a:r>
            <a:endParaRPr lang="en-US" smtClean="0"/>
          </a:p>
        </p:txBody>
      </p:sp>
      <p:sp>
        <p:nvSpPr>
          <p:cNvPr id="4" name="Sisällön paikkamerkki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err="1" smtClean="0"/>
              <a:t>Also</a:t>
            </a:r>
            <a:r>
              <a:rPr lang="fi-FI" dirty="0" smtClean="0"/>
              <a:t> </a:t>
            </a:r>
            <a:r>
              <a:rPr lang="fi-FI" dirty="0" err="1" smtClean="0"/>
              <a:t>known</a:t>
            </a:r>
            <a:r>
              <a:rPr lang="fi-FI" dirty="0" smtClean="0"/>
              <a:t> as</a:t>
            </a:r>
          </a:p>
          <a:p>
            <a:pPr lvl="1"/>
            <a:r>
              <a:rPr lang="fi-FI" dirty="0" err="1" smtClean="0"/>
              <a:t>Executable</a:t>
            </a:r>
            <a:r>
              <a:rPr lang="fi-FI" dirty="0" smtClean="0"/>
              <a:t> </a:t>
            </a:r>
            <a:r>
              <a:rPr lang="fi-FI" dirty="0" err="1" smtClean="0"/>
              <a:t>specifications</a:t>
            </a:r>
            <a:endParaRPr lang="fi-FI" dirty="0" smtClean="0"/>
          </a:p>
          <a:p>
            <a:pPr lvl="1"/>
            <a:r>
              <a:rPr lang="fi-FI" dirty="0" err="1" smtClean="0"/>
              <a:t>Automated</a:t>
            </a:r>
            <a:r>
              <a:rPr lang="fi-FI" dirty="0" smtClean="0"/>
              <a:t> </a:t>
            </a:r>
            <a:r>
              <a:rPr lang="fi-FI" dirty="0" err="1" smtClean="0"/>
              <a:t>acceptance</a:t>
            </a:r>
            <a:r>
              <a:rPr lang="fi-FI" dirty="0" smtClean="0"/>
              <a:t> </a:t>
            </a:r>
            <a:r>
              <a:rPr lang="fi-FI" dirty="0" err="1" smtClean="0"/>
              <a:t>testing</a:t>
            </a:r>
            <a:endParaRPr lang="fi-FI" dirty="0" smtClean="0"/>
          </a:p>
          <a:p>
            <a:pPr lvl="1"/>
            <a:r>
              <a:rPr lang="fi-FI" dirty="0" err="1" smtClean="0"/>
              <a:t>Acceptance-test</a:t>
            </a:r>
            <a:r>
              <a:rPr lang="fi-FI" dirty="0" smtClean="0"/>
              <a:t> </a:t>
            </a:r>
            <a:r>
              <a:rPr lang="fi-FI" dirty="0" err="1" smtClean="0"/>
              <a:t>driven</a:t>
            </a:r>
            <a:r>
              <a:rPr lang="fi-FI" dirty="0" smtClean="0"/>
              <a:t> </a:t>
            </a:r>
            <a:r>
              <a:rPr lang="fi-FI" dirty="0" err="1" smtClean="0"/>
              <a:t>development</a:t>
            </a:r>
            <a:endParaRPr lang="fi-FI" dirty="0" smtClean="0"/>
          </a:p>
          <a:p>
            <a:pPr lvl="1"/>
            <a:r>
              <a:rPr lang="fi-FI" dirty="0" err="1" smtClean="0"/>
              <a:t>Behavior-Driven</a:t>
            </a:r>
            <a:r>
              <a:rPr lang="fi-FI" dirty="0" smtClean="0"/>
              <a:t> </a:t>
            </a:r>
            <a:r>
              <a:rPr lang="fi-FI" dirty="0" err="1" smtClean="0"/>
              <a:t>Development</a:t>
            </a:r>
            <a:endParaRPr lang="fi-FI" dirty="0" smtClean="0"/>
          </a:p>
          <a:p>
            <a:r>
              <a:rPr lang="fi-FI" dirty="0" smtClean="0"/>
              <a:t>SBE – </a:t>
            </a:r>
            <a:r>
              <a:rPr lang="fi-FI" dirty="0" err="1" smtClean="0"/>
              <a:t>Specification</a:t>
            </a:r>
            <a:r>
              <a:rPr lang="fi-FI" dirty="0" smtClean="0"/>
              <a:t> </a:t>
            </a:r>
            <a:r>
              <a:rPr lang="fi-FI" dirty="0" err="1" smtClean="0"/>
              <a:t>by</a:t>
            </a:r>
            <a:r>
              <a:rPr lang="fi-FI" dirty="0" smtClean="0"/>
              <a:t> </a:t>
            </a:r>
            <a:r>
              <a:rPr lang="fi-FI" dirty="0" err="1" smtClean="0"/>
              <a:t>Example</a:t>
            </a:r>
            <a:endParaRPr lang="fi-FI" dirty="0" smtClean="0"/>
          </a:p>
          <a:p>
            <a:pPr lvl="1"/>
            <a:r>
              <a:rPr lang="fi-FI" dirty="0" err="1" smtClean="0"/>
              <a:t>Not</a:t>
            </a:r>
            <a:r>
              <a:rPr lang="fi-FI" dirty="0" smtClean="0"/>
              <a:t> a </a:t>
            </a:r>
            <a:r>
              <a:rPr lang="fi-FI" i="1" dirty="0" err="1" smtClean="0"/>
              <a:t>testing</a:t>
            </a:r>
            <a:r>
              <a:rPr lang="fi-FI" dirty="0" smtClean="0"/>
              <a:t> </a:t>
            </a:r>
            <a:r>
              <a:rPr lang="fi-FI" dirty="0" err="1" smtClean="0"/>
              <a:t>method</a:t>
            </a:r>
            <a:r>
              <a:rPr lang="fi-FI" dirty="0" smtClean="0"/>
              <a:t>, </a:t>
            </a:r>
            <a:r>
              <a:rPr lang="fi-FI" dirty="0" err="1" smtClean="0"/>
              <a:t>but</a:t>
            </a:r>
            <a:r>
              <a:rPr lang="fi-FI" dirty="0" smtClean="0"/>
              <a:t> a </a:t>
            </a:r>
            <a:r>
              <a:rPr lang="fi-FI" dirty="0" err="1" smtClean="0"/>
              <a:t>specification</a:t>
            </a:r>
            <a:r>
              <a:rPr lang="fi-FI" dirty="0" smtClean="0"/>
              <a:t> </a:t>
            </a:r>
            <a:r>
              <a:rPr lang="fi-FI" dirty="0" err="1" smtClean="0"/>
              <a:t>method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just </a:t>
            </a:r>
            <a:r>
              <a:rPr lang="fi-FI" dirty="0" err="1" smtClean="0"/>
              <a:t>happens</a:t>
            </a:r>
            <a:r>
              <a:rPr lang="fi-FI" dirty="0" smtClean="0"/>
              <a:t> to </a:t>
            </a:r>
            <a:r>
              <a:rPr lang="fi-FI" dirty="0" err="1" smtClean="0"/>
              <a:t>equate</a:t>
            </a:r>
            <a:r>
              <a:rPr lang="fi-FI" dirty="0" smtClean="0"/>
              <a:t> </a:t>
            </a:r>
            <a:r>
              <a:rPr lang="fi-FI" dirty="0" err="1" smtClean="0"/>
              <a:t>key</a:t>
            </a:r>
            <a:r>
              <a:rPr lang="fi-FI" dirty="0" smtClean="0"/>
              <a:t> </a:t>
            </a:r>
            <a:r>
              <a:rPr lang="fi-FI" dirty="0" err="1" smtClean="0"/>
              <a:t>examples</a:t>
            </a:r>
            <a:r>
              <a:rPr lang="fi-FI" dirty="0" smtClean="0"/>
              <a:t> and </a:t>
            </a:r>
            <a:r>
              <a:rPr lang="fi-FI" dirty="0" err="1" smtClean="0"/>
              <a:t>tests</a:t>
            </a:r>
            <a:r>
              <a:rPr lang="fi-FI" dirty="0" smtClean="0"/>
              <a:t> </a:t>
            </a:r>
            <a:r>
              <a:rPr lang="fi-FI" dirty="0" err="1" smtClean="0"/>
              <a:t>that</a:t>
            </a:r>
            <a:r>
              <a:rPr lang="fi-FI" dirty="0" smtClean="0"/>
              <a:t> </a:t>
            </a:r>
            <a:r>
              <a:rPr lang="fi-FI" dirty="0" err="1" smtClean="0"/>
              <a:t>should</a:t>
            </a:r>
            <a:r>
              <a:rPr lang="fi-FI" dirty="0" smtClean="0"/>
              <a:t> at </a:t>
            </a:r>
            <a:r>
              <a:rPr lang="fi-FI" dirty="0" err="1" smtClean="0"/>
              <a:t>least</a:t>
            </a:r>
            <a:r>
              <a:rPr lang="fi-FI" dirty="0" smtClean="0"/>
              <a:t> </a:t>
            </a:r>
            <a:r>
              <a:rPr lang="fi-FI" dirty="0" err="1" smtClean="0"/>
              <a:t>be</a:t>
            </a:r>
            <a:r>
              <a:rPr lang="fi-FI" dirty="0" smtClean="0"/>
              <a:t> </a:t>
            </a:r>
            <a:r>
              <a:rPr lang="fi-FI" dirty="0" err="1" smtClean="0"/>
              <a:t>confirmed</a:t>
            </a:r>
            <a:r>
              <a:rPr lang="fi-FI" dirty="0" smtClean="0"/>
              <a:t> to </a:t>
            </a:r>
            <a:r>
              <a:rPr lang="fi-FI" dirty="0" err="1" smtClean="0"/>
              <a:t>pass</a:t>
            </a:r>
            <a:endParaRPr lang="fi-FI" dirty="0" smtClean="0"/>
          </a:p>
        </p:txBody>
      </p:sp>
    </p:spTree>
    <p:extLst>
      <p:ext uri="{BB962C8B-B14F-4D97-AF65-F5344CB8AC3E}">
        <p14:creationId xmlns:p14="http://schemas.microsoft.com/office/powerpoint/2010/main" val="4105477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Feature: Sign up</a:t>
            </a:r>
            <a:br>
              <a:rPr lang="en-US" dirty="0" smtClean="0"/>
            </a:br>
            <a:r>
              <a:rPr lang="en-US" sz="2000" dirty="0" smtClean="0"/>
              <a:t>From Cucumber-book</a:t>
            </a:r>
            <a:endParaRPr lang="en-US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Sign-up works in three stages: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1. Apply for an account via a form on the website. Applicant gets an email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2. Follow the confirmation in the email to activate the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3. Fill out profile information. By this stage the user has an account but we try to collect more information about them.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sz="1100" dirty="0" smtClean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Scenario: Apply for an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GIVEN I do not have an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WHEN I follow the sign up link from the homepage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AND I fill out the form with valid details and submit it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THEN I should see a confirmation message telling me to check my email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sz="1100" dirty="0" smtClean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Scenario: Confirm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GIVEN I have applied for an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AND I have confirmed my application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WHEN I log in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THEN I should not see a message telling me to confirm my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BUT I should see a welcome message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AND I should see a form asking me to fill out my account profile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sz="1100" dirty="0" smtClean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Scenario: Fill out account profile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GIVEN I have logged in to a brand new account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WHEN I fill out my profile details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AND I log out and log in again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US" sz="1100" dirty="0" smtClean="0"/>
              <a:t>	THEN I should not see the form asking me to fill out my account profile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648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tsikk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smtClean="0"/>
              <a:t>Testing is Feedback</a:t>
            </a:r>
            <a:endParaRPr lang="en-US" smtClean="0"/>
          </a:p>
        </p:txBody>
      </p:sp>
      <p:grpSp>
        <p:nvGrpSpPr>
          <p:cNvPr id="2" name="Ryhmä 15"/>
          <p:cNvGrpSpPr>
            <a:grpSpLocks/>
          </p:cNvGrpSpPr>
          <p:nvPr/>
        </p:nvGrpSpPr>
        <p:grpSpPr bwMode="auto">
          <a:xfrm>
            <a:off x="467544" y="1484784"/>
            <a:ext cx="5975350" cy="3525838"/>
            <a:chOff x="1043608" y="1952528"/>
            <a:chExt cx="4968552" cy="2595501"/>
          </a:xfrm>
        </p:grpSpPr>
        <p:sp>
          <p:nvSpPr>
            <p:cNvPr id="6" name="Tekstikehys 5"/>
            <p:cNvSpPr txBox="1"/>
            <p:nvPr/>
          </p:nvSpPr>
          <p:spPr>
            <a:xfrm>
              <a:off x="1043608" y="3717141"/>
              <a:ext cx="1296259" cy="830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i-FI" sz="2400" b="1" dirty="0">
                  <a:latin typeface="+mn-lt"/>
                  <a:cs typeface="+mn-cs"/>
                </a:rPr>
                <a:t>IDEA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i-FI" sz="2400" b="1" dirty="0">
                  <a:solidFill>
                    <a:schemeClr val="accent4"/>
                  </a:solidFill>
                  <a:latin typeface="+mn-lt"/>
                  <a:cs typeface="+mn-cs"/>
                </a:rPr>
                <a:t>€</a:t>
              </a:r>
              <a:endParaRPr lang="en-US" sz="2400" b="1" dirty="0">
                <a:solidFill>
                  <a:schemeClr val="accent4"/>
                </a:solidFill>
                <a:latin typeface="+mn-lt"/>
                <a:cs typeface="+mn-cs"/>
              </a:endParaRPr>
            </a:p>
          </p:txBody>
        </p:sp>
        <p:cxnSp>
          <p:nvCxnSpPr>
            <p:cNvPr id="8" name="Suora nuoliyhdysviiva 7"/>
            <p:cNvCxnSpPr/>
            <p:nvPr/>
          </p:nvCxnSpPr>
          <p:spPr>
            <a:xfrm>
              <a:off x="2411148" y="3933336"/>
              <a:ext cx="115237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kstikehys 8"/>
            <p:cNvSpPr txBox="1"/>
            <p:nvPr/>
          </p:nvSpPr>
          <p:spPr>
            <a:xfrm>
              <a:off x="3780007" y="3678577"/>
              <a:ext cx="2232153" cy="830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i-FI" sz="2400" b="1" dirty="0">
                  <a:latin typeface="+mn-lt"/>
                  <a:cs typeface="+mn-cs"/>
                </a:rPr>
                <a:t>REAL BENEFIT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i-FI" sz="2400" b="1" dirty="0" err="1">
                  <a:solidFill>
                    <a:schemeClr val="accent4"/>
                  </a:solidFill>
                  <a:latin typeface="+mn-lt"/>
                  <a:cs typeface="+mn-cs"/>
                </a:rPr>
                <a:t>solution</a:t>
              </a:r>
              <a:endParaRPr lang="en-US" sz="2400" b="1" dirty="0">
                <a:solidFill>
                  <a:schemeClr val="accent4"/>
                </a:solidFill>
                <a:latin typeface="+mn-lt"/>
                <a:cs typeface="+mn-cs"/>
              </a:endParaRPr>
            </a:p>
          </p:txBody>
        </p:sp>
        <p:sp>
          <p:nvSpPr>
            <p:cNvPr id="10" name="Puolivapaa piirto 9"/>
            <p:cNvSpPr/>
            <p:nvPr/>
          </p:nvSpPr>
          <p:spPr>
            <a:xfrm>
              <a:off x="1926700" y="2868725"/>
              <a:ext cx="2267793" cy="856597"/>
            </a:xfrm>
            <a:custGeom>
              <a:avLst/>
              <a:gdLst>
                <a:gd name="connsiteX0" fmla="*/ 2267108 w 2267108"/>
                <a:gd name="connsiteY0" fmla="*/ 841349 h 856463"/>
                <a:gd name="connsiteX1" fmla="*/ 1080655 w 2267108"/>
                <a:gd name="connsiteY1" fmla="*/ 2519 h 856463"/>
                <a:gd name="connsiteX2" fmla="*/ 0 w 2267108"/>
                <a:gd name="connsiteY2" fmla="*/ 856463 h 856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7108" h="856463">
                  <a:moveTo>
                    <a:pt x="2267108" y="841349"/>
                  </a:moveTo>
                  <a:cubicBezTo>
                    <a:pt x="1862807" y="420674"/>
                    <a:pt x="1458506" y="0"/>
                    <a:pt x="1080655" y="2519"/>
                  </a:cubicBezTo>
                  <a:cubicBezTo>
                    <a:pt x="702804" y="5038"/>
                    <a:pt x="313617" y="675094"/>
                    <a:pt x="0" y="85646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Puolivapaa piirto 10"/>
            <p:cNvSpPr/>
            <p:nvPr/>
          </p:nvSpPr>
          <p:spPr>
            <a:xfrm>
              <a:off x="1776218" y="2217805"/>
              <a:ext cx="3461090" cy="1485313"/>
            </a:xfrm>
            <a:custGeom>
              <a:avLst/>
              <a:gdLst>
                <a:gd name="connsiteX0" fmla="*/ 3461117 w 3461117"/>
                <a:gd name="connsiteY0" fmla="*/ 1484955 h 1484955"/>
                <a:gd name="connsiteX1" fmla="*/ 1277137 w 3461117"/>
                <a:gd name="connsiteY1" fmla="*/ 11335 h 1484955"/>
                <a:gd name="connsiteX2" fmla="*/ 0 w 3461117"/>
                <a:gd name="connsiteY2" fmla="*/ 1416942 h 148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61117" h="1484955">
                  <a:moveTo>
                    <a:pt x="3461117" y="1484955"/>
                  </a:moveTo>
                  <a:cubicBezTo>
                    <a:pt x="2657553" y="753812"/>
                    <a:pt x="1853990" y="22670"/>
                    <a:pt x="1277137" y="11335"/>
                  </a:cubicBezTo>
                  <a:cubicBezTo>
                    <a:pt x="700284" y="0"/>
                    <a:pt x="209078" y="1195269"/>
                    <a:pt x="0" y="1416942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30" name="Tekstikehys 11"/>
            <p:cNvSpPr txBox="1">
              <a:spLocks noChangeArrowheads="1"/>
            </p:cNvSpPr>
            <p:nvPr/>
          </p:nvSpPr>
          <p:spPr bwMode="auto">
            <a:xfrm rot="2698390">
              <a:off x="3996490" y="2852364"/>
              <a:ext cx="1081096" cy="2489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i-FI" sz="1600">
                  <a:latin typeface="+mj-lt"/>
                  <a:cs typeface="Arial" charset="0"/>
                </a:rPr>
                <a:t>Feedback</a:t>
              </a:r>
              <a:endParaRPr lang="en-US" sz="1600">
                <a:latin typeface="+mj-lt"/>
                <a:cs typeface="Arial" charset="0"/>
              </a:endParaRPr>
            </a:p>
          </p:txBody>
        </p:sp>
        <p:sp>
          <p:nvSpPr>
            <p:cNvPr id="5131" name="Tekstikehys 12"/>
            <p:cNvSpPr txBox="1">
              <a:spLocks noChangeArrowheads="1"/>
            </p:cNvSpPr>
            <p:nvPr/>
          </p:nvSpPr>
          <p:spPr bwMode="auto">
            <a:xfrm rot="2527864">
              <a:off x="3307440" y="3129327"/>
              <a:ext cx="1079776" cy="2489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i-FI" sz="1600">
                  <a:latin typeface="+mj-lt"/>
                  <a:cs typeface="Arial" charset="0"/>
                </a:rPr>
                <a:t>Feedback</a:t>
              </a:r>
              <a:endParaRPr lang="en-US" sz="1600">
                <a:latin typeface="+mj-lt"/>
                <a:cs typeface="Arial" charset="0"/>
              </a:endParaRPr>
            </a:p>
          </p:txBody>
        </p:sp>
        <p:sp>
          <p:nvSpPr>
            <p:cNvPr id="5132" name="Tekstikehys 13"/>
            <p:cNvSpPr txBox="1">
              <a:spLocks noChangeArrowheads="1"/>
            </p:cNvSpPr>
            <p:nvPr/>
          </p:nvSpPr>
          <p:spPr bwMode="auto">
            <a:xfrm>
              <a:off x="2771513" y="2642013"/>
              <a:ext cx="576849" cy="271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i-FI" b="1" dirty="0">
                  <a:solidFill>
                    <a:schemeClr val="accent2"/>
                  </a:solidFill>
                  <a:latin typeface="+mj-lt"/>
                  <a:cs typeface="Arial" charset="0"/>
                </a:rPr>
                <a:t>SBE</a:t>
              </a:r>
              <a:endParaRPr lang="en-US" b="1" dirty="0">
                <a:solidFill>
                  <a:schemeClr val="accent2"/>
                </a:solidFill>
                <a:latin typeface="+mj-lt"/>
                <a:cs typeface="Arial" charset="0"/>
              </a:endParaRPr>
            </a:p>
          </p:txBody>
        </p:sp>
        <p:sp>
          <p:nvSpPr>
            <p:cNvPr id="15" name="Tekstikehys 14"/>
            <p:cNvSpPr txBox="1"/>
            <p:nvPr/>
          </p:nvSpPr>
          <p:spPr>
            <a:xfrm>
              <a:off x="2240865" y="1952528"/>
              <a:ext cx="1584023" cy="2722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i-FI" b="1" dirty="0">
                  <a:solidFill>
                    <a:schemeClr val="accent3"/>
                  </a:solidFill>
                  <a:latin typeface="+mn-lt"/>
                  <a:cs typeface="+mn-cs"/>
                </a:rPr>
                <a:t>INCREMENT</a:t>
              </a:r>
              <a:endParaRPr lang="en-US" b="1" dirty="0">
                <a:solidFill>
                  <a:schemeClr val="accent3"/>
                </a:solidFill>
                <a:latin typeface="+mn-lt"/>
                <a:cs typeface="+mn-cs"/>
              </a:endParaRPr>
            </a:p>
          </p:txBody>
        </p:sp>
      </p:grpSp>
      <p:sp>
        <p:nvSpPr>
          <p:cNvPr id="17" name="Suorakulmio 16"/>
          <p:cNvSpPr/>
          <p:nvPr/>
        </p:nvSpPr>
        <p:spPr>
          <a:xfrm>
            <a:off x="6588224" y="1340768"/>
            <a:ext cx="2304951" cy="32403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dirty="0" err="1"/>
              <a:t>First</a:t>
            </a:r>
            <a:r>
              <a:rPr lang="fi-FI" sz="1600" dirty="0"/>
              <a:t>, </a:t>
            </a:r>
            <a:r>
              <a:rPr lang="fi-FI" sz="1600" dirty="0" err="1"/>
              <a:t>make</a:t>
            </a:r>
            <a:r>
              <a:rPr lang="fi-FI" sz="1600" dirty="0"/>
              <a:t> sure </a:t>
            </a:r>
            <a:r>
              <a:rPr lang="fi-FI" sz="1600" dirty="0" err="1"/>
              <a:t>you</a:t>
            </a:r>
            <a:r>
              <a:rPr lang="fi-FI" sz="1600" dirty="0"/>
              <a:t> </a:t>
            </a:r>
            <a:r>
              <a:rPr lang="fi-FI" sz="1600" u="sng" dirty="0" err="1"/>
              <a:t>understand</a:t>
            </a:r>
            <a:r>
              <a:rPr lang="fi-FI" sz="1600" u="sng" dirty="0"/>
              <a:t> the idea </a:t>
            </a:r>
            <a:r>
              <a:rPr lang="fi-FI" sz="1600" dirty="0" err="1"/>
              <a:t>well</a:t>
            </a:r>
            <a:r>
              <a:rPr lang="fi-FI" sz="1600" dirty="0"/>
              <a:t> </a:t>
            </a:r>
            <a:r>
              <a:rPr lang="fi-FI" sz="1600" dirty="0" err="1"/>
              <a:t>enough</a:t>
            </a:r>
            <a:r>
              <a:rPr lang="fi-FI" sz="1600" dirty="0"/>
              <a:t> to </a:t>
            </a:r>
            <a:r>
              <a:rPr lang="fi-FI" sz="1600" dirty="0" err="1"/>
              <a:t>implement</a:t>
            </a:r>
            <a:r>
              <a:rPr lang="fi-FI" sz="1600" dirty="0"/>
              <a:t> the </a:t>
            </a:r>
            <a:r>
              <a:rPr lang="fi-FI" sz="1600" dirty="0" err="1"/>
              <a:t>right</a:t>
            </a:r>
            <a:r>
              <a:rPr lang="fi-FI" sz="1600" dirty="0"/>
              <a:t> </a:t>
            </a:r>
            <a:r>
              <a:rPr lang="fi-FI" sz="1600" dirty="0" err="1"/>
              <a:t>solution</a:t>
            </a:r>
            <a:endParaRPr lang="fi-FI" sz="1600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i-FI" sz="1600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i-FI" sz="1600" dirty="0" err="1"/>
              <a:t>Second</a:t>
            </a:r>
            <a:r>
              <a:rPr lang="fi-FI" sz="1600" dirty="0"/>
              <a:t>, </a:t>
            </a:r>
            <a:r>
              <a:rPr lang="fi-FI" sz="1600" dirty="0" err="1"/>
              <a:t>deliver</a:t>
            </a:r>
            <a:r>
              <a:rPr lang="fi-FI" sz="1600" dirty="0"/>
              <a:t> </a:t>
            </a:r>
            <a:r>
              <a:rPr lang="fi-FI" sz="1600" dirty="0" err="1"/>
              <a:t>soon</a:t>
            </a:r>
            <a:r>
              <a:rPr lang="fi-FI" sz="1600" dirty="0"/>
              <a:t> and </a:t>
            </a:r>
            <a:r>
              <a:rPr lang="fi-FI" sz="1600" u="sng" dirty="0" err="1"/>
              <a:t>test</a:t>
            </a:r>
            <a:r>
              <a:rPr lang="fi-FI" sz="1600" u="sng" dirty="0"/>
              <a:t> for </a:t>
            </a:r>
            <a:r>
              <a:rPr lang="fi-FI" sz="1600" u="sng" dirty="0" err="1"/>
              <a:t>surprising</a:t>
            </a:r>
            <a:r>
              <a:rPr lang="fi-FI" sz="1600" u="sng" dirty="0"/>
              <a:t> </a:t>
            </a:r>
            <a:r>
              <a:rPr lang="fi-FI" sz="1600" u="sng" dirty="0" err="1"/>
              <a:t>limitations</a:t>
            </a:r>
            <a:r>
              <a:rPr lang="fi-FI" sz="1600" dirty="0"/>
              <a:t> </a:t>
            </a:r>
            <a:r>
              <a:rPr lang="fi-FI" sz="1600" dirty="0" err="1"/>
              <a:t>that</a:t>
            </a:r>
            <a:r>
              <a:rPr lang="fi-FI" sz="1600" dirty="0"/>
              <a:t> </a:t>
            </a:r>
            <a:r>
              <a:rPr lang="fi-FI" sz="1600" dirty="0" err="1"/>
              <a:t>may</a:t>
            </a:r>
            <a:r>
              <a:rPr lang="fi-FI" sz="1600" dirty="0"/>
              <a:t> </a:t>
            </a:r>
            <a:r>
              <a:rPr lang="fi-FI" sz="1600" dirty="0" err="1"/>
              <a:t>threaten</a:t>
            </a:r>
            <a:r>
              <a:rPr lang="fi-FI" sz="1600" dirty="0"/>
              <a:t> the </a:t>
            </a:r>
            <a:r>
              <a:rPr lang="fi-FI" sz="1600" dirty="0" err="1"/>
              <a:t>value</a:t>
            </a:r>
            <a:r>
              <a:rPr lang="fi-FI" sz="1600" dirty="0"/>
              <a:t>. </a:t>
            </a:r>
            <a:endParaRPr lang="en-US" sz="1600" dirty="0"/>
          </a:p>
        </p:txBody>
      </p:sp>
      <p:sp>
        <p:nvSpPr>
          <p:cNvPr id="14" name="Puolivapaa piirto 13"/>
          <p:cNvSpPr/>
          <p:nvPr/>
        </p:nvSpPr>
        <p:spPr>
          <a:xfrm>
            <a:off x="4426769" y="3497734"/>
            <a:ext cx="420687" cy="339725"/>
          </a:xfrm>
          <a:custGeom>
            <a:avLst/>
            <a:gdLst>
              <a:gd name="connsiteX0" fmla="*/ 218090 w 420414"/>
              <a:gd name="connsiteY0" fmla="*/ 338959 h 338959"/>
              <a:gd name="connsiteX1" fmla="*/ 391511 w 420414"/>
              <a:gd name="connsiteY1" fmla="*/ 55180 h 338959"/>
              <a:gd name="connsiteX2" fmla="*/ 44669 w 420414"/>
              <a:gd name="connsiteY2" fmla="*/ 39414 h 338959"/>
              <a:gd name="connsiteX3" fmla="*/ 123497 w 420414"/>
              <a:gd name="connsiteY3" fmla="*/ 291663 h 338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414" h="338959">
                <a:moveTo>
                  <a:pt x="218090" y="338959"/>
                </a:moveTo>
                <a:cubicBezTo>
                  <a:pt x="319252" y="222031"/>
                  <a:pt x="420414" y="105104"/>
                  <a:pt x="391511" y="55180"/>
                </a:cubicBezTo>
                <a:cubicBezTo>
                  <a:pt x="362608" y="5256"/>
                  <a:pt x="89338" y="0"/>
                  <a:pt x="44669" y="39414"/>
                </a:cubicBezTo>
                <a:cubicBezTo>
                  <a:pt x="0" y="78828"/>
                  <a:pt x="112987" y="239111"/>
                  <a:pt x="123497" y="291663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ekstikehys 13"/>
          <p:cNvSpPr txBox="1">
            <a:spLocks noChangeArrowheads="1"/>
          </p:cNvSpPr>
          <p:nvPr/>
        </p:nvSpPr>
        <p:spPr bwMode="auto">
          <a:xfrm>
            <a:off x="4210869" y="3137372"/>
            <a:ext cx="6937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i-FI" b="1" dirty="0">
                <a:solidFill>
                  <a:schemeClr val="accent6"/>
                </a:solidFill>
                <a:latin typeface="+mj-lt"/>
                <a:cs typeface="Arial" charset="0"/>
              </a:rPr>
              <a:t>TDD</a:t>
            </a:r>
            <a:endParaRPr lang="en-US" b="1" dirty="0">
              <a:solidFill>
                <a:schemeClr val="accent6"/>
              </a:solidFill>
              <a:latin typeface="+mj-lt"/>
              <a:cs typeface="Arial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47864" y="4797152"/>
            <a:ext cx="2664296" cy="1855791"/>
          </a:xfrm>
          <a:prstGeom prst="rect">
            <a:avLst/>
          </a:prstGeom>
          <a:noFill/>
        </p:spPr>
      </p:pic>
      <p:sp>
        <p:nvSpPr>
          <p:cNvPr id="19" name="Tekstikehys 18"/>
          <p:cNvSpPr txBox="1"/>
          <p:nvPr/>
        </p:nvSpPr>
        <p:spPr>
          <a:xfrm>
            <a:off x="3491880" y="6581775"/>
            <a:ext cx="2881312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i-FI" sz="1200" dirty="0" err="1" smtClean="0">
                <a:latin typeface="+mj-lt"/>
                <a:cs typeface="Arial" charset="0"/>
              </a:rPr>
              <a:t>Source</a:t>
            </a:r>
            <a:r>
              <a:rPr lang="fi-FI" sz="1200" dirty="0" smtClean="0">
                <a:latin typeface="+mj-lt"/>
                <a:cs typeface="Arial" charset="0"/>
              </a:rPr>
              <a:t>: </a:t>
            </a:r>
            <a:r>
              <a:rPr lang="fi-FI" sz="1200" dirty="0">
                <a:latin typeface="+mj-lt"/>
                <a:cs typeface="Arial" charset="0"/>
              </a:rPr>
              <a:t>Elisabeth </a:t>
            </a:r>
            <a:r>
              <a:rPr lang="fi-FI" sz="1200" dirty="0" err="1">
                <a:latin typeface="+mj-lt"/>
                <a:cs typeface="Arial" charset="0"/>
              </a:rPr>
              <a:t>Hendrickson</a:t>
            </a:r>
            <a:endParaRPr lang="en-US" sz="1200" dirty="0">
              <a:latin typeface="+mj-lt"/>
              <a:cs typeface="Arial" charset="0"/>
            </a:endParaRPr>
          </a:p>
        </p:txBody>
      </p:sp>
      <p:grpSp>
        <p:nvGrpSpPr>
          <p:cNvPr id="3" name="Ryhmä 11"/>
          <p:cNvGrpSpPr>
            <a:grpSpLocks/>
          </p:cNvGrpSpPr>
          <p:nvPr/>
        </p:nvGrpSpPr>
        <p:grpSpPr bwMode="auto">
          <a:xfrm>
            <a:off x="6156176" y="4725144"/>
            <a:ext cx="2016224" cy="2062560"/>
            <a:chOff x="642910" y="1857363"/>
            <a:chExt cx="4357718" cy="4857785"/>
          </a:xfrm>
        </p:grpSpPr>
        <p:sp>
          <p:nvSpPr>
            <p:cNvPr id="21" name="Right Arrow 8"/>
            <p:cNvSpPr/>
            <p:nvPr/>
          </p:nvSpPr>
          <p:spPr>
            <a:xfrm>
              <a:off x="2927932" y="3858157"/>
              <a:ext cx="2072696" cy="85619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100" b="1" dirty="0"/>
                <a:t>Able</a:t>
              </a:r>
              <a:endParaRPr lang="en-US" sz="1100" b="1" dirty="0"/>
            </a:p>
          </p:txBody>
        </p:sp>
        <p:sp>
          <p:nvSpPr>
            <p:cNvPr id="22" name="Right Arrow 9"/>
            <p:cNvSpPr/>
            <p:nvPr/>
          </p:nvSpPr>
          <p:spPr>
            <a:xfrm flipH="1">
              <a:off x="642910" y="3858157"/>
              <a:ext cx="2072696" cy="85619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100" b="1" dirty="0"/>
                <a:t>Unable</a:t>
              </a:r>
              <a:endParaRPr lang="en-US" sz="1100" b="1" dirty="0"/>
            </a:p>
          </p:txBody>
        </p:sp>
        <p:sp>
          <p:nvSpPr>
            <p:cNvPr id="23" name="Right Arrow 10"/>
            <p:cNvSpPr/>
            <p:nvPr/>
          </p:nvSpPr>
          <p:spPr>
            <a:xfrm rot="5400000" flipH="1">
              <a:off x="1748669" y="2465370"/>
              <a:ext cx="2072895" cy="856882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100" b="1" dirty="0"/>
                <a:t>Willing</a:t>
              </a:r>
              <a:endParaRPr lang="en-US" sz="1100" b="1" dirty="0"/>
            </a:p>
          </p:txBody>
        </p:sp>
        <p:sp>
          <p:nvSpPr>
            <p:cNvPr id="24" name="Right Arrow 11"/>
            <p:cNvSpPr/>
            <p:nvPr/>
          </p:nvSpPr>
          <p:spPr>
            <a:xfrm rot="16200000" flipH="1" flipV="1">
              <a:off x="1748669" y="5250260"/>
              <a:ext cx="2072895" cy="856882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100" b="1" dirty="0"/>
                <a:t>Unwilling</a:t>
              </a:r>
              <a:endParaRPr lang="en-US" sz="1100" b="1" dirty="0"/>
            </a:p>
          </p:txBody>
        </p:sp>
      </p:grpSp>
      <p:sp>
        <p:nvSpPr>
          <p:cNvPr id="25" name="5-sakarainen tähti 24"/>
          <p:cNvSpPr/>
          <p:nvPr/>
        </p:nvSpPr>
        <p:spPr>
          <a:xfrm>
            <a:off x="7668344" y="4847425"/>
            <a:ext cx="329521" cy="309767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tsikk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</a:t>
            </a:r>
            <a:r>
              <a:rPr lang="fi-FI" dirty="0" err="1" smtClean="0"/>
              <a:t>Testing</a:t>
            </a:r>
            <a:r>
              <a:rPr lang="fi-FI" dirty="0" smtClean="0"/>
              <a:t> </a:t>
            </a:r>
            <a:r>
              <a:rPr lang="fi-FI" dirty="0" err="1" smtClean="0"/>
              <a:t>Quadrants</a:t>
            </a:r>
            <a:r>
              <a:rPr lang="fi-FI" dirty="0" smtClean="0"/>
              <a:t> </a:t>
            </a:r>
            <a:br>
              <a:rPr lang="fi-FI" dirty="0" smtClean="0"/>
            </a:br>
            <a:r>
              <a:rPr lang="fi-FI" sz="1600" dirty="0" smtClean="0"/>
              <a:t>(</a:t>
            </a:r>
            <a:r>
              <a:rPr lang="fi-FI" sz="1600" dirty="0" err="1" smtClean="0"/>
              <a:t>Adapted</a:t>
            </a:r>
            <a:r>
              <a:rPr lang="fi-FI" sz="1600" dirty="0" smtClean="0"/>
              <a:t> </a:t>
            </a:r>
            <a:r>
              <a:rPr lang="fi-FI" sz="1600" dirty="0" err="1" smtClean="0"/>
              <a:t>from</a:t>
            </a:r>
            <a:r>
              <a:rPr lang="fi-FI" sz="1600" dirty="0" smtClean="0"/>
              <a:t> </a:t>
            </a:r>
            <a:r>
              <a:rPr lang="fi-FI" sz="1600" dirty="0" err="1" smtClean="0"/>
              <a:t>Marick</a:t>
            </a:r>
            <a:r>
              <a:rPr lang="fi-FI" sz="1600" dirty="0" smtClean="0"/>
              <a:t>, </a:t>
            </a:r>
            <a:r>
              <a:rPr lang="fi-FI" sz="1600" dirty="0" err="1" smtClean="0"/>
              <a:t>Crispin&amp;Gregory</a:t>
            </a:r>
            <a:r>
              <a:rPr lang="fi-FI" sz="1600" dirty="0" smtClean="0"/>
              <a:t>, </a:t>
            </a:r>
            <a:r>
              <a:rPr lang="fi-FI" sz="1600" dirty="0" err="1" smtClean="0"/>
              <a:t>Hendrickson</a:t>
            </a:r>
            <a:r>
              <a:rPr lang="fi-FI" sz="1600" dirty="0" smtClean="0"/>
              <a:t>)</a:t>
            </a:r>
            <a:endParaRPr lang="en-US" dirty="0"/>
          </a:p>
        </p:txBody>
      </p:sp>
      <p:cxnSp>
        <p:nvCxnSpPr>
          <p:cNvPr id="7" name="Suora yhdysviiva 6"/>
          <p:cNvCxnSpPr/>
          <p:nvPr/>
        </p:nvCxnSpPr>
        <p:spPr>
          <a:xfrm>
            <a:off x="395536" y="4290379"/>
            <a:ext cx="8136904" cy="271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kstikehys 9"/>
          <p:cNvSpPr txBox="1"/>
          <p:nvPr/>
        </p:nvSpPr>
        <p:spPr>
          <a:xfrm>
            <a:off x="777598" y="3111351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i-FI" sz="2400" dirty="0" smtClean="0">
                <a:latin typeface="+mn-lt"/>
              </a:rPr>
              <a:t>BUSINESS</a:t>
            </a:r>
            <a:endParaRPr lang="en-US" sz="2400" dirty="0">
              <a:latin typeface="+mn-lt"/>
            </a:endParaRPr>
          </a:p>
        </p:txBody>
      </p:sp>
      <p:sp>
        <p:nvSpPr>
          <p:cNvPr id="11" name="Tekstikehys 10"/>
          <p:cNvSpPr txBox="1"/>
          <p:nvPr/>
        </p:nvSpPr>
        <p:spPr>
          <a:xfrm>
            <a:off x="323528" y="5055567"/>
            <a:ext cx="2319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i-FI" sz="2400" dirty="0" smtClean="0">
                <a:latin typeface="+mn-lt"/>
              </a:rPr>
              <a:t>TECHNOLOGY</a:t>
            </a:r>
            <a:endParaRPr lang="en-US" sz="2400" dirty="0">
              <a:latin typeface="+mn-lt"/>
            </a:endParaRPr>
          </a:p>
        </p:txBody>
      </p:sp>
      <p:sp>
        <p:nvSpPr>
          <p:cNvPr id="12" name="Tekstikehys 11"/>
          <p:cNvSpPr txBox="1"/>
          <p:nvPr/>
        </p:nvSpPr>
        <p:spPr>
          <a:xfrm>
            <a:off x="2771800" y="2906941"/>
            <a:ext cx="2520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smtClean="0">
                <a:latin typeface="+mn-lt"/>
              </a:rPr>
              <a:t>Business </a:t>
            </a:r>
            <a:r>
              <a:rPr lang="fi-FI" sz="2800" dirty="0" err="1" smtClean="0">
                <a:latin typeface="+mn-lt"/>
              </a:rPr>
              <a:t>expectations</a:t>
            </a:r>
            <a:endParaRPr lang="en-US" sz="2800" dirty="0">
              <a:latin typeface="+mn-lt"/>
            </a:endParaRPr>
          </a:p>
        </p:txBody>
      </p:sp>
      <p:sp>
        <p:nvSpPr>
          <p:cNvPr id="13" name="Tekstikehys 12"/>
          <p:cNvSpPr txBox="1"/>
          <p:nvPr/>
        </p:nvSpPr>
        <p:spPr>
          <a:xfrm>
            <a:off x="2843808" y="4779149"/>
            <a:ext cx="2520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err="1" smtClean="0">
                <a:latin typeface="+mn-lt"/>
              </a:rPr>
              <a:t>Technology</a:t>
            </a:r>
            <a:r>
              <a:rPr lang="fi-FI" sz="2800" dirty="0" smtClean="0">
                <a:latin typeface="+mn-lt"/>
              </a:rPr>
              <a:t> </a:t>
            </a:r>
            <a:r>
              <a:rPr lang="fi-FI" sz="2800" dirty="0" err="1" smtClean="0">
                <a:latin typeface="+mn-lt"/>
              </a:rPr>
              <a:t>expectations</a:t>
            </a:r>
            <a:endParaRPr lang="en-US" sz="2800" dirty="0">
              <a:latin typeface="+mn-lt"/>
            </a:endParaRPr>
          </a:p>
        </p:txBody>
      </p:sp>
      <p:sp>
        <p:nvSpPr>
          <p:cNvPr id="14" name="Tekstikehys 13"/>
          <p:cNvSpPr txBox="1"/>
          <p:nvPr/>
        </p:nvSpPr>
        <p:spPr>
          <a:xfrm>
            <a:off x="2843808" y="1772816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latin typeface="+mn-lt"/>
              </a:rPr>
              <a:t>CONFIRM</a:t>
            </a:r>
            <a:endParaRPr lang="en-US" sz="2400" dirty="0">
              <a:latin typeface="+mn-lt"/>
            </a:endParaRPr>
          </a:p>
        </p:txBody>
      </p:sp>
      <p:sp>
        <p:nvSpPr>
          <p:cNvPr id="15" name="Tekstikehys 14"/>
          <p:cNvSpPr txBox="1"/>
          <p:nvPr/>
        </p:nvSpPr>
        <p:spPr>
          <a:xfrm>
            <a:off x="5796136" y="1772816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400" dirty="0" smtClean="0">
                <a:latin typeface="+mn-lt"/>
              </a:rPr>
              <a:t>INVESTIGATE</a:t>
            </a:r>
            <a:endParaRPr lang="en-US" sz="2400" dirty="0">
              <a:latin typeface="+mn-lt"/>
            </a:endParaRPr>
          </a:p>
        </p:txBody>
      </p:sp>
      <p:sp>
        <p:nvSpPr>
          <p:cNvPr id="16" name="Tekstikehys 15"/>
          <p:cNvSpPr txBox="1"/>
          <p:nvPr/>
        </p:nvSpPr>
        <p:spPr>
          <a:xfrm>
            <a:off x="5796136" y="2852936"/>
            <a:ext cx="25202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err="1" smtClean="0">
                <a:latin typeface="+mn-lt"/>
              </a:rPr>
              <a:t>External</a:t>
            </a:r>
            <a:r>
              <a:rPr lang="fi-FI" sz="2800" dirty="0" smtClean="0">
                <a:latin typeface="+mn-lt"/>
              </a:rPr>
              <a:t> </a:t>
            </a:r>
            <a:r>
              <a:rPr lang="fi-FI" sz="2800" dirty="0" err="1" smtClean="0">
                <a:latin typeface="+mn-lt"/>
              </a:rPr>
              <a:t>quality</a:t>
            </a:r>
            <a:r>
              <a:rPr lang="fi-FI" sz="2800" dirty="0" smtClean="0">
                <a:latin typeface="+mn-lt"/>
              </a:rPr>
              <a:t> </a:t>
            </a:r>
            <a:r>
              <a:rPr lang="fi-FI" sz="2800" dirty="0" err="1" smtClean="0">
                <a:latin typeface="+mn-lt"/>
              </a:rPr>
              <a:t>risks</a:t>
            </a:r>
            <a:endParaRPr lang="fi-FI" sz="2800" dirty="0" smtClean="0">
              <a:latin typeface="+mn-lt"/>
            </a:endParaRPr>
          </a:p>
          <a:p>
            <a:pPr algn="ctr"/>
            <a:r>
              <a:rPr lang="fi-FI" sz="1600" dirty="0" err="1" smtClean="0">
                <a:latin typeface="+mn-lt"/>
              </a:rPr>
              <a:t>Customer-</a:t>
            </a:r>
            <a:r>
              <a:rPr lang="fi-FI" sz="1600" dirty="0" smtClean="0">
                <a:latin typeface="+mn-lt"/>
              </a:rPr>
              <a:t>, </a:t>
            </a:r>
            <a:r>
              <a:rPr lang="fi-FI" sz="1600" dirty="0" err="1" smtClean="0">
                <a:latin typeface="+mn-lt"/>
              </a:rPr>
              <a:t>user-value</a:t>
            </a:r>
            <a:endParaRPr lang="en-US" sz="1600" dirty="0">
              <a:latin typeface="+mn-lt"/>
            </a:endParaRPr>
          </a:p>
        </p:txBody>
      </p:sp>
      <p:sp>
        <p:nvSpPr>
          <p:cNvPr id="17" name="Tekstikehys 16"/>
          <p:cNvSpPr txBox="1"/>
          <p:nvPr/>
        </p:nvSpPr>
        <p:spPr>
          <a:xfrm>
            <a:off x="5868144" y="4574738"/>
            <a:ext cx="2520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err="1" smtClean="0">
                <a:latin typeface="+mn-lt"/>
              </a:rPr>
              <a:t>Internal</a:t>
            </a:r>
            <a:r>
              <a:rPr lang="fi-FI" sz="2800" dirty="0" smtClean="0">
                <a:latin typeface="+mn-lt"/>
              </a:rPr>
              <a:t> </a:t>
            </a:r>
            <a:r>
              <a:rPr lang="fi-FI" sz="2800" dirty="0" err="1" smtClean="0">
                <a:latin typeface="+mn-lt"/>
              </a:rPr>
              <a:t>quality</a:t>
            </a:r>
            <a:r>
              <a:rPr lang="fi-FI" sz="2800" dirty="0" smtClean="0">
                <a:latin typeface="+mn-lt"/>
              </a:rPr>
              <a:t> </a:t>
            </a:r>
            <a:r>
              <a:rPr lang="fi-FI" sz="2800" dirty="0" err="1" smtClean="0">
                <a:latin typeface="+mn-lt"/>
              </a:rPr>
              <a:t>risks</a:t>
            </a:r>
            <a:endParaRPr lang="fi-FI" sz="2800" dirty="0" smtClean="0">
              <a:latin typeface="+mn-lt"/>
            </a:endParaRPr>
          </a:p>
          <a:p>
            <a:pPr algn="ctr"/>
            <a:r>
              <a:rPr lang="fi-FI" sz="1600" dirty="0" err="1" smtClean="0">
                <a:latin typeface="+mn-lt"/>
              </a:rPr>
              <a:t>Predictability</a:t>
            </a:r>
            <a:r>
              <a:rPr lang="fi-FI" sz="1600" dirty="0" smtClean="0">
                <a:latin typeface="+mn-lt"/>
              </a:rPr>
              <a:t>, </a:t>
            </a:r>
            <a:r>
              <a:rPr lang="fi-FI" sz="1600" dirty="0" err="1" smtClean="0">
                <a:latin typeface="+mn-lt"/>
              </a:rPr>
              <a:t>efficiency</a:t>
            </a:r>
            <a:endParaRPr lang="en-US" sz="1600" dirty="0">
              <a:latin typeface="+mn-lt"/>
            </a:endParaRPr>
          </a:p>
        </p:txBody>
      </p:sp>
      <p:cxnSp>
        <p:nvCxnSpPr>
          <p:cNvPr id="19" name="Suora yhdysviiva 18"/>
          <p:cNvCxnSpPr/>
          <p:nvPr/>
        </p:nvCxnSpPr>
        <p:spPr>
          <a:xfrm>
            <a:off x="8532440" y="1412776"/>
            <a:ext cx="0" cy="47525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uora yhdysviiva 19"/>
          <p:cNvCxnSpPr/>
          <p:nvPr/>
        </p:nvCxnSpPr>
        <p:spPr>
          <a:xfrm>
            <a:off x="395536" y="6162587"/>
            <a:ext cx="8136904" cy="271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uora yhdysviiva 20"/>
          <p:cNvCxnSpPr/>
          <p:nvPr/>
        </p:nvCxnSpPr>
        <p:spPr>
          <a:xfrm>
            <a:off x="395536" y="2420888"/>
            <a:ext cx="8136904" cy="271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uora yhdysviiva 21"/>
          <p:cNvCxnSpPr/>
          <p:nvPr/>
        </p:nvCxnSpPr>
        <p:spPr>
          <a:xfrm>
            <a:off x="5652120" y="1412776"/>
            <a:ext cx="0" cy="47525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uora yhdysviiva 22"/>
          <p:cNvCxnSpPr/>
          <p:nvPr/>
        </p:nvCxnSpPr>
        <p:spPr>
          <a:xfrm>
            <a:off x="2699792" y="1412776"/>
            <a:ext cx="0" cy="475252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Suorakulmio 23"/>
          <p:cNvSpPr/>
          <p:nvPr/>
        </p:nvSpPr>
        <p:spPr>
          <a:xfrm>
            <a:off x="2699792" y="2420888"/>
            <a:ext cx="2952328" cy="1872208"/>
          </a:xfrm>
          <a:prstGeom prst="rect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18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tsikk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The ”</a:t>
            </a:r>
            <a:r>
              <a:rPr lang="fi-FI" dirty="0" err="1" smtClean="0"/>
              <a:t>Beer</a:t>
            </a:r>
            <a:r>
              <a:rPr lang="fi-FI" dirty="0" smtClean="0"/>
              <a:t> </a:t>
            </a:r>
            <a:r>
              <a:rPr lang="fi-FI" dirty="0" err="1" smtClean="0"/>
              <a:t>Game</a:t>
            </a:r>
            <a:r>
              <a:rPr lang="fi-FI" dirty="0" smtClean="0"/>
              <a:t>” </a:t>
            </a:r>
            <a:endParaRPr lang="en-US" dirty="0"/>
          </a:p>
        </p:txBody>
      </p:sp>
      <p:sp>
        <p:nvSpPr>
          <p:cNvPr id="5" name="Sisällön paikkamerkki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 smtClean="0"/>
              <a:t>Can I get a beer, please?</a:t>
            </a:r>
          </a:p>
          <a:p>
            <a:pPr lvl="1"/>
            <a:r>
              <a:rPr lang="en-US" sz="1200" dirty="0" smtClean="0"/>
              <a:t>Waiter comes and pours a bucket of beer to your head. Not what you wanted, so make your order more specific. </a:t>
            </a:r>
          </a:p>
          <a:p>
            <a:r>
              <a:rPr lang="en-US" sz="1400" dirty="0" smtClean="0"/>
              <a:t>Can I get a beer in glass on the table, please?</a:t>
            </a:r>
          </a:p>
          <a:p>
            <a:pPr lvl="1"/>
            <a:r>
              <a:rPr lang="en-US" sz="1200" dirty="0" smtClean="0"/>
              <a:t>Waiter brings you a shot glass of beer. Still not what you wanted, so make your order more specific. </a:t>
            </a:r>
          </a:p>
          <a:p>
            <a:r>
              <a:rPr lang="en-US" sz="1400" dirty="0" smtClean="0"/>
              <a:t>Can I get a beer in a pint glass on the table, please?</a:t>
            </a:r>
          </a:p>
          <a:p>
            <a:pPr lvl="1"/>
            <a:r>
              <a:rPr lang="en-US" sz="1200" dirty="0" smtClean="0"/>
              <a:t>Waiter brings you a pint glass of boiling beer.</a:t>
            </a:r>
          </a:p>
          <a:p>
            <a:r>
              <a:rPr lang="en-US" sz="1400" dirty="0" smtClean="0"/>
              <a:t>Can I get a cold beer in a pint glass on the table, please?</a:t>
            </a:r>
          </a:p>
          <a:p>
            <a:pPr lvl="1"/>
            <a:r>
              <a:rPr lang="en-US" sz="1200" dirty="0" smtClean="0"/>
              <a:t>Waiter brings you a pint glass of frozen beer.</a:t>
            </a:r>
          </a:p>
          <a:p>
            <a:r>
              <a:rPr lang="en-US" sz="1400" dirty="0" smtClean="0"/>
              <a:t>Can I get a 8C degree beer in a pint glass on the table, please?</a:t>
            </a:r>
          </a:p>
          <a:p>
            <a:pPr lvl="1"/>
            <a:r>
              <a:rPr lang="en-US" sz="1200" dirty="0" smtClean="0"/>
              <a:t>Waiter brings you a pint glass of 8C degree beer, but the glass has a tennis ball inside it.</a:t>
            </a:r>
          </a:p>
          <a:p>
            <a:r>
              <a:rPr lang="en-US" sz="1400" dirty="0" smtClean="0"/>
              <a:t>Can I get a 8C degree beer in a pint glass that does not contain any other objects on the table, please?</a:t>
            </a:r>
          </a:p>
          <a:p>
            <a:pPr lvl="1"/>
            <a:r>
              <a:rPr lang="en-US" sz="1200" dirty="0" smtClean="0"/>
              <a:t>Goes 30 minutes and you do not get anything. So you ask from waiter what is taking so long? Waiter explains that the kitchen is building a new dust free room, and it will take some days to get your beer without any objects.</a:t>
            </a:r>
            <a:endParaRPr lang="en-US" sz="1400" dirty="0" smtClean="0"/>
          </a:p>
          <a:p>
            <a:r>
              <a:rPr lang="en-US" sz="1400" dirty="0" smtClean="0"/>
              <a:t>Can I get a 8C degree beer in a pint glass that does not contain any big size other objects but small particles are ok on the table, please?</a:t>
            </a:r>
          </a:p>
          <a:p>
            <a:pPr lvl="1"/>
            <a:r>
              <a:rPr lang="en-US" sz="1200" dirty="0" smtClean="0"/>
              <a:t>Waiter brings you a pint glass of 8C degree beer. And warns you that it has some small residue of plutonium in it.</a:t>
            </a:r>
          </a:p>
          <a:p>
            <a:pPr algn="ctr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What Should We Learn from This?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90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Our</a:t>
            </a:r>
            <a:r>
              <a:rPr lang="fi-FI" dirty="0" smtClean="0"/>
              <a:t> </a:t>
            </a:r>
            <a:r>
              <a:rPr lang="fi-FI" dirty="0" err="1" smtClean="0"/>
              <a:t>Environment</a:t>
            </a:r>
            <a:r>
              <a:rPr lang="fi-FI" dirty="0" smtClean="0"/>
              <a:t> and </a:t>
            </a:r>
            <a:r>
              <a:rPr lang="fi-FI" dirty="0" err="1" smtClean="0"/>
              <a:t>Toolset</a:t>
            </a:r>
            <a:endParaRPr lang="en-US" dirty="0"/>
          </a:p>
        </p:txBody>
      </p:sp>
      <p:sp>
        <p:nvSpPr>
          <p:cNvPr id="7" name="Sisällön paikkamerkki 6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18856" cy="4525963"/>
          </a:xfrm>
        </p:spPr>
        <p:txBody>
          <a:bodyPr/>
          <a:lstStyle/>
          <a:p>
            <a:r>
              <a:rPr lang="fi-FI" dirty="0" smtClean="0"/>
              <a:t>Software </a:t>
            </a:r>
            <a:r>
              <a:rPr lang="fi-FI" dirty="0" err="1" smtClean="0"/>
              <a:t>development</a:t>
            </a:r>
            <a:r>
              <a:rPr lang="fi-FI" dirty="0" smtClean="0"/>
              <a:t> </a:t>
            </a:r>
            <a:r>
              <a:rPr lang="fi-FI" dirty="0" err="1" smtClean="0"/>
              <a:t>team</a:t>
            </a:r>
            <a:r>
              <a:rPr lang="fi-FI" dirty="0" smtClean="0"/>
              <a:t> of 9+1</a:t>
            </a:r>
          </a:p>
          <a:p>
            <a:r>
              <a:rPr lang="fi-FI" dirty="0" err="1" smtClean="0"/>
              <a:t>Product</a:t>
            </a:r>
            <a:r>
              <a:rPr lang="fi-FI" dirty="0" smtClean="0"/>
              <a:t> management </a:t>
            </a:r>
            <a:r>
              <a:rPr lang="fi-FI" dirty="0" err="1" smtClean="0"/>
              <a:t>team</a:t>
            </a:r>
            <a:r>
              <a:rPr lang="fi-FI" dirty="0" smtClean="0"/>
              <a:t> of 4+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3140968"/>
            <a:ext cx="2676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kstikehys 4"/>
          <p:cNvSpPr txBox="1"/>
          <p:nvPr/>
        </p:nvSpPr>
        <p:spPr>
          <a:xfrm>
            <a:off x="5148064" y="1700808"/>
            <a:ext cx="3779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 smtClean="0">
                <a:solidFill>
                  <a:schemeClr val="accent2"/>
                </a:solidFill>
                <a:latin typeface="+mn-lt"/>
              </a:rPr>
              <a:t>C# for .NET </a:t>
            </a:r>
            <a:r>
              <a:rPr lang="fi-FI" sz="2800" dirty="0" err="1" smtClean="0">
                <a:solidFill>
                  <a:schemeClr val="accent2"/>
                </a:solidFill>
                <a:latin typeface="+mn-lt"/>
              </a:rPr>
              <a:t>web</a:t>
            </a:r>
            <a:r>
              <a:rPr lang="fi-FI" sz="2800" dirty="0" smtClean="0">
                <a:solidFill>
                  <a:schemeClr val="accent2"/>
                </a:solidFill>
                <a:latin typeface="+mn-lt"/>
              </a:rPr>
              <a:t> </a:t>
            </a:r>
            <a:r>
              <a:rPr lang="fi-FI" sz="2800" dirty="0" err="1" smtClean="0">
                <a:solidFill>
                  <a:schemeClr val="accent2"/>
                </a:solidFill>
                <a:latin typeface="+mn-lt"/>
              </a:rPr>
              <a:t>applications</a:t>
            </a:r>
            <a:endParaRPr lang="en-US" sz="2800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4437112"/>
            <a:ext cx="22002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60796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6632"/>
            <a:ext cx="8762949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284984"/>
            <a:ext cx="8712968" cy="3476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2867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err="1" smtClean="0"/>
              <a:t>Trying</a:t>
            </a:r>
            <a:r>
              <a:rPr lang="fi-FI" dirty="0" smtClean="0"/>
              <a:t> </a:t>
            </a:r>
            <a:r>
              <a:rPr lang="fi-FI" dirty="0" err="1" smtClean="0"/>
              <a:t>It</a:t>
            </a:r>
            <a:r>
              <a:rPr lang="fi-FI" dirty="0" smtClean="0"/>
              <a:t> Out </a:t>
            </a:r>
            <a:r>
              <a:rPr lang="fi-FI" dirty="0" err="1" smtClean="0"/>
              <a:t>Taught</a:t>
            </a:r>
            <a:r>
              <a:rPr lang="fi-FI" dirty="0" smtClean="0"/>
              <a:t> Me </a:t>
            </a:r>
            <a:r>
              <a:rPr lang="fi-FI" dirty="0" err="1" smtClean="0"/>
              <a:t>About</a:t>
            </a:r>
            <a:r>
              <a:rPr lang="fi-FI" dirty="0" smtClean="0"/>
              <a:t> </a:t>
            </a:r>
            <a:r>
              <a:rPr lang="fi-FI" dirty="0" err="1" smtClean="0"/>
              <a:t>People</a:t>
            </a:r>
            <a:endParaRPr lang="en-US" dirty="0"/>
          </a:p>
        </p:txBody>
      </p:sp>
      <p:sp>
        <p:nvSpPr>
          <p:cNvPr id="4" name="Sisällön paikkamerkki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sz="2800" dirty="0" err="1" smtClean="0"/>
              <a:t>Specifying</a:t>
            </a:r>
            <a:r>
              <a:rPr lang="fi-FI" sz="2800" dirty="0" smtClean="0"/>
              <a:t> in </a:t>
            </a:r>
            <a:r>
              <a:rPr lang="fi-FI" sz="2800" dirty="0" err="1" smtClean="0"/>
              <a:t>prose</a:t>
            </a:r>
            <a:r>
              <a:rPr lang="fi-FI" sz="2800" dirty="0" smtClean="0"/>
              <a:t> </a:t>
            </a:r>
            <a:r>
              <a:rPr lang="fi-FI" sz="2800" dirty="0" err="1" smtClean="0"/>
              <a:t>allows</a:t>
            </a:r>
            <a:r>
              <a:rPr lang="fi-FI" sz="2800" dirty="0" smtClean="0"/>
              <a:t> </a:t>
            </a:r>
            <a:r>
              <a:rPr lang="fi-FI" sz="2800" dirty="0" err="1" smtClean="0"/>
              <a:t>you</a:t>
            </a:r>
            <a:r>
              <a:rPr lang="fi-FI" sz="2800" dirty="0" smtClean="0"/>
              <a:t> to </a:t>
            </a:r>
            <a:r>
              <a:rPr lang="fi-FI" sz="2800" dirty="0" err="1" smtClean="0"/>
              <a:t>pass</a:t>
            </a:r>
            <a:r>
              <a:rPr lang="fi-FI" sz="2800" dirty="0" smtClean="0"/>
              <a:t> on </a:t>
            </a:r>
            <a:r>
              <a:rPr lang="fi-FI" sz="2800" dirty="0" err="1" smtClean="0"/>
              <a:t>requirements</a:t>
            </a:r>
            <a:r>
              <a:rPr lang="fi-FI" sz="2800" dirty="0" smtClean="0"/>
              <a:t> </a:t>
            </a:r>
            <a:r>
              <a:rPr lang="fi-FI" sz="2800" dirty="0" err="1" smtClean="0"/>
              <a:t>without</a:t>
            </a:r>
            <a:r>
              <a:rPr lang="fi-FI" sz="2800" dirty="0" smtClean="0"/>
              <a:t> </a:t>
            </a:r>
            <a:r>
              <a:rPr lang="fi-FI" sz="2800" dirty="0" err="1" smtClean="0"/>
              <a:t>specifying</a:t>
            </a:r>
            <a:r>
              <a:rPr lang="fi-FI" sz="2800" dirty="0" smtClean="0"/>
              <a:t> the </a:t>
            </a:r>
            <a:r>
              <a:rPr lang="fi-FI" sz="2800" dirty="0" err="1" smtClean="0"/>
              <a:t>implications</a:t>
            </a:r>
            <a:r>
              <a:rPr lang="fi-FI" sz="2800" dirty="0" smtClean="0"/>
              <a:t> – ”</a:t>
            </a:r>
            <a:r>
              <a:rPr lang="fi-FI" sz="2800" dirty="0" err="1" smtClean="0"/>
              <a:t>not</a:t>
            </a:r>
            <a:r>
              <a:rPr lang="fi-FI" sz="2800" dirty="0" smtClean="0"/>
              <a:t> out </a:t>
            </a:r>
            <a:r>
              <a:rPr lang="fi-FI" sz="2800" dirty="0" err="1" smtClean="0"/>
              <a:t>job</a:t>
            </a:r>
            <a:r>
              <a:rPr lang="fi-FI" sz="2800" dirty="0" smtClean="0"/>
              <a:t>” –</a:t>
            </a:r>
            <a:r>
              <a:rPr lang="fi-FI" sz="2800" dirty="0" err="1" smtClean="0"/>
              <a:t>attitude</a:t>
            </a:r>
            <a:endParaRPr lang="fi-FI" sz="2800" dirty="0" smtClean="0"/>
          </a:p>
          <a:p>
            <a:r>
              <a:rPr lang="fi-FI" sz="2800" dirty="0" err="1" smtClean="0"/>
              <a:t>Specifying</a:t>
            </a:r>
            <a:r>
              <a:rPr lang="fi-FI" sz="2800" dirty="0" smtClean="0"/>
              <a:t> </a:t>
            </a:r>
            <a:r>
              <a:rPr lang="fi-FI" sz="2800" dirty="0" err="1" smtClean="0"/>
              <a:t>but</a:t>
            </a:r>
            <a:r>
              <a:rPr lang="fi-FI" sz="2800" dirty="0" smtClean="0"/>
              <a:t> </a:t>
            </a:r>
            <a:r>
              <a:rPr lang="fi-FI" sz="2800" dirty="0" err="1" smtClean="0"/>
              <a:t>not</a:t>
            </a:r>
            <a:r>
              <a:rPr lang="fi-FI" sz="2800" dirty="0" smtClean="0"/>
              <a:t> </a:t>
            </a:r>
            <a:r>
              <a:rPr lang="fi-FI" sz="2800" dirty="0" err="1" smtClean="0"/>
              <a:t>managing</a:t>
            </a:r>
            <a:r>
              <a:rPr lang="fi-FI" sz="2800" dirty="0" smtClean="0"/>
              <a:t> to </a:t>
            </a:r>
            <a:r>
              <a:rPr lang="fi-FI" sz="2800" dirty="0" err="1" smtClean="0"/>
              <a:t>get</a:t>
            </a:r>
            <a:r>
              <a:rPr lang="fi-FI" sz="2800" dirty="0" smtClean="0"/>
              <a:t> </a:t>
            </a:r>
            <a:r>
              <a:rPr lang="fi-FI" sz="2800" dirty="0" err="1" smtClean="0"/>
              <a:t>core</a:t>
            </a:r>
            <a:r>
              <a:rPr lang="fi-FI" sz="2800" dirty="0" smtClean="0"/>
              <a:t> </a:t>
            </a:r>
            <a:r>
              <a:rPr lang="fi-FI" sz="2800" dirty="0" err="1" smtClean="0"/>
              <a:t>understood</a:t>
            </a:r>
            <a:r>
              <a:rPr lang="fi-FI" sz="2800" dirty="0" smtClean="0"/>
              <a:t> </a:t>
            </a:r>
            <a:r>
              <a:rPr lang="fi-FI" sz="2800" dirty="0" err="1" smtClean="0"/>
              <a:t>gives</a:t>
            </a:r>
            <a:r>
              <a:rPr lang="fi-FI" sz="2800" dirty="0" smtClean="0"/>
              <a:t> a ”I </a:t>
            </a:r>
            <a:r>
              <a:rPr lang="fi-FI" sz="2800" dirty="0" err="1" smtClean="0"/>
              <a:t>told</a:t>
            </a:r>
            <a:r>
              <a:rPr lang="fi-FI" sz="2800" dirty="0" smtClean="0"/>
              <a:t> </a:t>
            </a:r>
            <a:r>
              <a:rPr lang="fi-FI" sz="2800" dirty="0" err="1" smtClean="0"/>
              <a:t>you</a:t>
            </a:r>
            <a:r>
              <a:rPr lang="fi-FI" sz="2800" dirty="0" smtClean="0"/>
              <a:t> </a:t>
            </a:r>
            <a:r>
              <a:rPr lang="fi-FI" sz="2800" dirty="0" err="1" smtClean="0"/>
              <a:t>so</a:t>
            </a:r>
            <a:r>
              <a:rPr lang="fi-FI" sz="2800" dirty="0" smtClean="0"/>
              <a:t>” –</a:t>
            </a:r>
            <a:r>
              <a:rPr lang="fi-FI" sz="2800" dirty="0" err="1" smtClean="0"/>
              <a:t>feeling</a:t>
            </a:r>
            <a:endParaRPr lang="fi-FI" sz="2800" dirty="0" smtClean="0"/>
          </a:p>
          <a:p>
            <a:r>
              <a:rPr lang="fi-FI" sz="2800" dirty="0" err="1" smtClean="0"/>
              <a:t>Specifying</a:t>
            </a:r>
            <a:r>
              <a:rPr lang="fi-FI" sz="2800" dirty="0" smtClean="0"/>
              <a:t> </a:t>
            </a:r>
            <a:r>
              <a:rPr lang="fi-FI" sz="2800" dirty="0" err="1" smtClean="0"/>
              <a:t>but</a:t>
            </a:r>
            <a:r>
              <a:rPr lang="fi-FI" sz="2800" dirty="0" smtClean="0"/>
              <a:t> </a:t>
            </a:r>
            <a:r>
              <a:rPr lang="fi-FI" sz="2800" dirty="0" err="1" smtClean="0"/>
              <a:t>still</a:t>
            </a:r>
            <a:r>
              <a:rPr lang="fi-FI" sz="2800" dirty="0" smtClean="0"/>
              <a:t> </a:t>
            </a:r>
            <a:r>
              <a:rPr lang="fi-FI" sz="2800" dirty="0" err="1" smtClean="0"/>
              <a:t>learning</a:t>
            </a:r>
            <a:r>
              <a:rPr lang="fi-FI" sz="2800" dirty="0" smtClean="0"/>
              <a:t> </a:t>
            </a:r>
            <a:r>
              <a:rPr lang="fi-FI" sz="2800" dirty="0" err="1" smtClean="0"/>
              <a:t>while</a:t>
            </a:r>
            <a:r>
              <a:rPr lang="fi-FI" sz="2800" dirty="0" smtClean="0"/>
              <a:t> </a:t>
            </a:r>
            <a:r>
              <a:rPr lang="fi-FI" sz="2800" dirty="0" err="1" smtClean="0"/>
              <a:t>testing</a:t>
            </a:r>
            <a:r>
              <a:rPr lang="fi-FI" sz="2800" dirty="0" smtClean="0"/>
              <a:t> </a:t>
            </a:r>
            <a:r>
              <a:rPr lang="fi-FI" sz="2800" dirty="0" err="1" smtClean="0"/>
              <a:t>changed</a:t>
            </a:r>
            <a:r>
              <a:rPr lang="fi-FI" sz="2800" dirty="0" smtClean="0"/>
              <a:t> the </a:t>
            </a:r>
            <a:r>
              <a:rPr lang="fi-FI" sz="2800" dirty="0" err="1" smtClean="0"/>
              <a:t>specifications</a:t>
            </a:r>
            <a:r>
              <a:rPr lang="fi-FI" sz="2800" dirty="0" smtClean="0"/>
              <a:t> – software </a:t>
            </a:r>
            <a:r>
              <a:rPr lang="fi-FI" sz="2800" dirty="0" err="1" smtClean="0"/>
              <a:t>talks</a:t>
            </a:r>
            <a:r>
              <a:rPr lang="fi-FI" sz="2800" dirty="0" smtClean="0"/>
              <a:t> to us </a:t>
            </a:r>
            <a:r>
              <a:rPr lang="fi-FI" sz="2800" dirty="0" err="1" smtClean="0"/>
              <a:t>who</a:t>
            </a:r>
            <a:r>
              <a:rPr lang="fi-FI" sz="2800" dirty="0" smtClean="0"/>
              <a:t> </a:t>
            </a:r>
            <a:r>
              <a:rPr lang="fi-FI" sz="2800" dirty="0" err="1" smtClean="0"/>
              <a:t>listen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722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 smtClean="0"/>
              <a:t>Letting</a:t>
            </a:r>
            <a:r>
              <a:rPr lang="fi-FI" dirty="0" smtClean="0"/>
              <a:t> </a:t>
            </a:r>
            <a:r>
              <a:rPr lang="fi-FI" dirty="0" err="1" smtClean="0"/>
              <a:t>It</a:t>
            </a:r>
            <a:r>
              <a:rPr lang="fi-FI" dirty="0" smtClean="0"/>
              <a:t> </a:t>
            </a:r>
            <a:r>
              <a:rPr lang="fi-FI" dirty="0" err="1" smtClean="0"/>
              <a:t>Sink</a:t>
            </a:r>
            <a:r>
              <a:rPr lang="fi-FI" dirty="0" smtClean="0"/>
              <a:t> In…</a:t>
            </a:r>
            <a:endParaRPr lang="en-US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sz="2800" dirty="0" err="1" smtClean="0"/>
              <a:t>Gojko’s</a:t>
            </a:r>
            <a:r>
              <a:rPr lang="fi-FI" sz="2800" dirty="0" smtClean="0"/>
              <a:t> SBE workshop: ”</a:t>
            </a:r>
            <a:r>
              <a:rPr lang="fi-FI" sz="2800" dirty="0" err="1" smtClean="0"/>
              <a:t>It’s</a:t>
            </a:r>
            <a:r>
              <a:rPr lang="fi-FI" sz="2800" dirty="0" smtClean="0"/>
              <a:t> </a:t>
            </a:r>
            <a:r>
              <a:rPr lang="fi-FI" sz="2800" dirty="0" err="1" smtClean="0"/>
              <a:t>about</a:t>
            </a:r>
            <a:r>
              <a:rPr lang="fi-FI" sz="2800" dirty="0" smtClean="0"/>
              <a:t> </a:t>
            </a:r>
            <a:r>
              <a:rPr lang="fi-FI" sz="2800" dirty="0" err="1" smtClean="0"/>
              <a:t>domain</a:t>
            </a:r>
            <a:r>
              <a:rPr lang="fi-FI" sz="2800" dirty="0" smtClean="0"/>
              <a:t> </a:t>
            </a:r>
            <a:r>
              <a:rPr lang="fi-FI" sz="2800" dirty="0" err="1" smtClean="0"/>
              <a:t>modeling</a:t>
            </a:r>
            <a:r>
              <a:rPr lang="fi-FI" sz="2800" dirty="0" smtClean="0"/>
              <a:t> – </a:t>
            </a:r>
            <a:r>
              <a:rPr lang="fi-FI" sz="2800" dirty="0" err="1" smtClean="0"/>
              <a:t>making</a:t>
            </a:r>
            <a:r>
              <a:rPr lang="fi-FI" sz="2800" dirty="0" smtClean="0"/>
              <a:t> business </a:t>
            </a:r>
            <a:r>
              <a:rPr lang="fi-FI" sz="2800" dirty="0" err="1" smtClean="0"/>
              <a:t>terms</a:t>
            </a:r>
            <a:r>
              <a:rPr lang="fi-FI" sz="2800" dirty="0" smtClean="0"/>
              <a:t> </a:t>
            </a:r>
            <a:r>
              <a:rPr lang="fi-FI" sz="2800" dirty="0" err="1" smtClean="0"/>
              <a:t>match</a:t>
            </a:r>
            <a:r>
              <a:rPr lang="fi-FI" sz="2800" dirty="0" smtClean="0"/>
              <a:t> the </a:t>
            </a:r>
            <a:r>
              <a:rPr lang="fi-FI" sz="2800" dirty="0" err="1" smtClean="0"/>
              <a:t>technical</a:t>
            </a:r>
            <a:r>
              <a:rPr lang="fi-FI" sz="2800" dirty="0" smtClean="0"/>
              <a:t> </a:t>
            </a:r>
            <a:r>
              <a:rPr lang="fi-FI" sz="2800" dirty="0" err="1" smtClean="0"/>
              <a:t>implementation</a:t>
            </a:r>
            <a:r>
              <a:rPr lang="fi-FI" sz="2800" dirty="0" smtClean="0"/>
              <a:t>”</a:t>
            </a:r>
          </a:p>
          <a:p>
            <a:r>
              <a:rPr lang="fi-FI" sz="2800" dirty="0" err="1" smtClean="0"/>
              <a:t>All</a:t>
            </a:r>
            <a:r>
              <a:rPr lang="fi-FI" sz="2800" dirty="0" smtClean="0"/>
              <a:t> </a:t>
            </a:r>
            <a:r>
              <a:rPr lang="fi-FI" sz="2800" dirty="0" err="1" smtClean="0"/>
              <a:t>printed</a:t>
            </a:r>
            <a:r>
              <a:rPr lang="fi-FI" sz="2800" dirty="0" smtClean="0"/>
              <a:t> </a:t>
            </a:r>
            <a:r>
              <a:rPr lang="fi-FI" sz="2800" dirty="0" err="1" smtClean="0"/>
              <a:t>examples</a:t>
            </a:r>
            <a:r>
              <a:rPr lang="fi-FI" sz="2800" dirty="0" smtClean="0"/>
              <a:t> look </a:t>
            </a:r>
            <a:r>
              <a:rPr lang="fi-FI" sz="2800" dirty="0" err="1" smtClean="0"/>
              <a:t>bad</a:t>
            </a:r>
            <a:r>
              <a:rPr lang="fi-FI" sz="2800" dirty="0" smtClean="0"/>
              <a:t> – </a:t>
            </a:r>
            <a:r>
              <a:rPr lang="fi-FI" sz="2800" dirty="0" err="1" smtClean="0"/>
              <a:t>so</a:t>
            </a:r>
            <a:r>
              <a:rPr lang="fi-FI" sz="2800" dirty="0" smtClean="0"/>
              <a:t>  </a:t>
            </a:r>
            <a:r>
              <a:rPr lang="fi-FI" sz="2800" dirty="0" err="1" smtClean="0"/>
              <a:t>much</a:t>
            </a:r>
            <a:r>
              <a:rPr lang="fi-FI" sz="2800" dirty="0" smtClean="0"/>
              <a:t> </a:t>
            </a:r>
            <a:r>
              <a:rPr lang="fi-FI" sz="2800" dirty="0" err="1" smtClean="0"/>
              <a:t>context</a:t>
            </a:r>
            <a:r>
              <a:rPr lang="fi-FI" sz="2800" dirty="0" smtClean="0"/>
              <a:t> </a:t>
            </a:r>
            <a:r>
              <a:rPr lang="fi-FI" sz="2800" dirty="0" err="1" smtClean="0"/>
              <a:t>around</a:t>
            </a:r>
            <a:r>
              <a:rPr lang="fi-FI" sz="2800" dirty="0" smtClean="0"/>
              <a:t> </a:t>
            </a:r>
            <a:r>
              <a:rPr lang="fi-FI" sz="2800" dirty="0" err="1" smtClean="0"/>
              <a:t>why</a:t>
            </a:r>
            <a:r>
              <a:rPr lang="fi-FI" sz="2800" dirty="0" smtClean="0"/>
              <a:t> </a:t>
            </a:r>
            <a:r>
              <a:rPr lang="fi-FI" sz="2800" dirty="0" err="1" smtClean="0"/>
              <a:t>we</a:t>
            </a:r>
            <a:r>
              <a:rPr lang="fi-FI" sz="2800" dirty="0" smtClean="0"/>
              <a:t> </a:t>
            </a:r>
            <a:r>
              <a:rPr lang="fi-FI" sz="2800" dirty="0" err="1" smtClean="0"/>
              <a:t>need</a:t>
            </a:r>
            <a:r>
              <a:rPr lang="fi-FI" sz="2800" dirty="0" smtClean="0"/>
              <a:t> to </a:t>
            </a:r>
            <a:r>
              <a:rPr lang="fi-FI" sz="2800" dirty="0" err="1" smtClean="0"/>
              <a:t>discuss</a:t>
            </a:r>
            <a:r>
              <a:rPr lang="fi-FI" sz="2800" dirty="0" smtClean="0"/>
              <a:t> </a:t>
            </a:r>
            <a:r>
              <a:rPr lang="fi-FI" sz="2800" dirty="0" err="1" smtClean="0"/>
              <a:t>this</a:t>
            </a:r>
            <a:r>
              <a:rPr lang="fi-FI" sz="2800" dirty="0" smtClean="0"/>
              <a:t> </a:t>
            </a:r>
            <a:r>
              <a:rPr lang="fi-FI" sz="2800" dirty="0" err="1" smtClean="0"/>
              <a:t>detail</a:t>
            </a:r>
            <a:endParaRPr lang="fi-FI" sz="2800" dirty="0" smtClean="0"/>
          </a:p>
          <a:p>
            <a:r>
              <a:rPr lang="fi-FI" sz="2800" dirty="0" err="1" smtClean="0"/>
              <a:t>Discussion</a:t>
            </a:r>
            <a:r>
              <a:rPr lang="fi-FI" sz="2800" dirty="0" smtClean="0"/>
              <a:t> is the </a:t>
            </a:r>
            <a:r>
              <a:rPr lang="fi-FI" sz="2800" dirty="0" err="1" smtClean="0"/>
              <a:t>key</a:t>
            </a:r>
            <a:r>
              <a:rPr lang="fi-FI" sz="2800" dirty="0" smtClean="0"/>
              <a:t>, the </a:t>
            </a:r>
            <a:r>
              <a:rPr lang="fi-FI" sz="2800" dirty="0" err="1" smtClean="0"/>
              <a:t>automation</a:t>
            </a:r>
            <a:r>
              <a:rPr lang="fi-FI" sz="2800" dirty="0" smtClean="0"/>
              <a:t> </a:t>
            </a:r>
            <a:r>
              <a:rPr lang="fi-FI" sz="2800" dirty="0" err="1" smtClean="0"/>
              <a:t>may</a:t>
            </a:r>
            <a:r>
              <a:rPr lang="fi-FI" sz="2800" dirty="0" smtClean="0"/>
              <a:t> </a:t>
            </a:r>
            <a:r>
              <a:rPr lang="fi-FI" sz="2800" dirty="0" err="1" smtClean="0"/>
              <a:t>be</a:t>
            </a:r>
            <a:r>
              <a:rPr lang="fi-FI" sz="2800" dirty="0" smtClean="0"/>
              <a:t> a </a:t>
            </a:r>
            <a:r>
              <a:rPr lang="fi-FI" sz="2800" dirty="0" err="1" smtClean="0"/>
              <a:t>nice</a:t>
            </a:r>
            <a:r>
              <a:rPr lang="fi-FI" sz="2800" dirty="0" smtClean="0"/>
              <a:t> bonus – </a:t>
            </a:r>
            <a:r>
              <a:rPr lang="fi-FI" sz="2800" dirty="0" err="1" smtClean="0"/>
              <a:t>provided</a:t>
            </a:r>
            <a:r>
              <a:rPr lang="fi-FI" sz="2800" dirty="0" smtClean="0"/>
              <a:t> </a:t>
            </a:r>
            <a:r>
              <a:rPr lang="fi-FI" sz="2800" dirty="0" err="1" smtClean="0"/>
              <a:t>you</a:t>
            </a:r>
            <a:r>
              <a:rPr lang="fi-FI" sz="2800" dirty="0" smtClean="0"/>
              <a:t> </a:t>
            </a:r>
            <a:r>
              <a:rPr lang="fi-FI" sz="2800" dirty="0" err="1" smtClean="0"/>
              <a:t>can</a:t>
            </a:r>
            <a:r>
              <a:rPr lang="fi-FI" sz="2800" dirty="0" smtClean="0"/>
              <a:t> </a:t>
            </a:r>
            <a:r>
              <a:rPr lang="fi-FI" sz="2800" dirty="0" err="1" smtClean="0"/>
              <a:t>rely</a:t>
            </a:r>
            <a:r>
              <a:rPr lang="fi-FI" sz="2800" dirty="0" smtClean="0"/>
              <a:t> on the </a:t>
            </a:r>
            <a:r>
              <a:rPr lang="fi-FI" sz="2800" dirty="0" err="1" smtClean="0"/>
              <a:t>interface</a:t>
            </a:r>
            <a:r>
              <a:rPr lang="fi-FI" sz="2800" dirty="0" smtClean="0"/>
              <a:t> </a:t>
            </a:r>
            <a:r>
              <a:rPr lang="fi-FI" sz="2800" dirty="0" err="1" smtClean="0"/>
              <a:t>you</a:t>
            </a:r>
            <a:r>
              <a:rPr lang="fi-FI" sz="2800" dirty="0" smtClean="0"/>
              <a:t> </a:t>
            </a:r>
            <a:r>
              <a:rPr lang="fi-FI" sz="2800" dirty="0" err="1" smtClean="0"/>
              <a:t>connect</a:t>
            </a:r>
            <a:r>
              <a:rPr lang="fi-FI" sz="2800" dirty="0" smtClean="0"/>
              <a:t> </a:t>
            </a:r>
            <a:r>
              <a:rPr lang="fi-FI" sz="2800" dirty="0" err="1" smtClean="0"/>
              <a:t>with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128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Agile Specification?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There is no such thing as </a:t>
            </a:r>
            <a:r>
              <a:rPr lang="fi-FI" i="1" dirty="0" smtClean="0"/>
              <a:t>agile specification</a:t>
            </a:r>
            <a:endParaRPr lang="fi-FI" dirty="0" smtClean="0"/>
          </a:p>
          <a:p>
            <a:pPr lvl="1"/>
            <a:r>
              <a:rPr lang="fi-FI" dirty="0" smtClean="0"/>
              <a:t>But, there may be a project-specific specification practice that your agile project uses</a:t>
            </a:r>
          </a:p>
          <a:p>
            <a:r>
              <a:rPr lang="fi-FI" dirty="0" smtClean="0"/>
              <a:t>Emphasis on different forms for different needs and </a:t>
            </a:r>
            <a:r>
              <a:rPr lang="fi-FI" i="1" dirty="0" smtClean="0"/>
              <a:t>working software over comprehensive documentation</a:t>
            </a:r>
          </a:p>
          <a:p>
            <a:r>
              <a:rPr lang="fi-FI" dirty="0" smtClean="0"/>
              <a:t>Requirements are often handled as conversations and workshops – with team included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Building Something for the Future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Instead of building in diversity, do the simplest thing that could possibly work</a:t>
            </a:r>
          </a:p>
          <a:p>
            <a:r>
              <a:rPr lang="fi-FI" dirty="0" smtClean="0"/>
              <a:t>Build in adaptability: prepare to change, don’t fix things in stone</a:t>
            </a:r>
          </a:p>
          <a:p>
            <a:r>
              <a:rPr lang="fi-FI" dirty="0" smtClean="0"/>
              <a:t>”I knew we’d need this later”</a:t>
            </a:r>
          </a:p>
          <a:p>
            <a:pPr lvl="1"/>
            <a:r>
              <a:rPr lang="fi-FI" dirty="0" smtClean="0"/>
              <a:t>We’ve built a lot of things we did not need later to be right at some</a:t>
            </a:r>
          </a:p>
          <a:p>
            <a:pPr lvl="1"/>
            <a:r>
              <a:rPr lang="fi-FI" dirty="0" smtClean="0"/>
              <a:t>Instead, focus on value. </a:t>
            </a:r>
          </a:p>
          <a:p>
            <a:pPr lvl="1"/>
            <a:r>
              <a:rPr lang="fi-FI" dirty="0" smtClean="0"/>
              <a:t>DISCUSS and suggest, don’t assume decisions base on absolute knowledge of everything 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Effectiveness </a:t>
            </a:r>
            <a:r>
              <a:rPr lang="en-US" sz="3600" smtClean="0"/>
              <a:t>of Communication </a:t>
            </a:r>
            <a:r>
              <a:rPr lang="en-US" sz="3600" dirty="0"/>
              <a:t>S</a:t>
            </a:r>
            <a:r>
              <a:rPr lang="en-US" sz="3600" smtClean="0"/>
              <a:t>trategies on Agile </a:t>
            </a:r>
            <a:r>
              <a:rPr lang="en-US" sz="3600"/>
              <a:t>D</a:t>
            </a:r>
            <a:r>
              <a:rPr lang="en-US" sz="3600" smtClean="0"/>
              <a:t>evelopment </a:t>
            </a:r>
            <a:r>
              <a:rPr lang="en-US" sz="3600" dirty="0"/>
              <a:t>T</a:t>
            </a:r>
            <a:r>
              <a:rPr lang="en-US" sz="3600" smtClean="0"/>
              <a:t>eams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1200" dirty="0" smtClean="0"/>
              <a:t>Source: Scott Ambler, Requirements Specifications on Agile Projects, Modern Analyst May 2009</a:t>
            </a:r>
            <a:endParaRPr lang="fi-FI" sz="1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676"/>
                <a:gridCol w="2071702"/>
                <a:gridCol w="1900222"/>
              </a:tblGrid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Communication strategy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Within team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With stakeholders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Face to face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4,25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4,06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Face to face at whiteboard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4,24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3,46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Overview diagrams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2,54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1,89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Online chat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2,1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0,15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Overview documentation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1,84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1,86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Teleconference</a:t>
                      </a:r>
                      <a:r>
                        <a:rPr lang="fi-FI" baseline="0" dirty="0" smtClean="0"/>
                        <a:t> calls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1,42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1,51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Videoconferencing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1,34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1,62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Email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1,08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1,32</a:t>
                      </a:r>
                      <a:endParaRPr lang="fi-FI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dirty="0" smtClean="0"/>
                        <a:t>Detailed documentation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-0,34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0,16</a:t>
                      </a:r>
                      <a:endParaRPr lang="fi-FI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00562" y="5786454"/>
            <a:ext cx="4286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Rated on a range of -5 (very ineffective) to +5 (very effective)</a:t>
            </a:r>
            <a:endParaRPr lang="fi-FI" dirty="0"/>
          </a:p>
        </p:txBody>
      </p:sp>
      <p:sp>
        <p:nvSpPr>
          <p:cNvPr id="9" name="Rectangle 8"/>
          <p:cNvSpPr/>
          <p:nvPr/>
        </p:nvSpPr>
        <p:spPr>
          <a:xfrm>
            <a:off x="71406" y="5863256"/>
            <a:ext cx="435768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/>
              <a:t>Media Richness Theory: documentation is the worst strategy available to communicate information between people</a:t>
            </a:r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User Story Format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b="1" dirty="0" smtClean="0"/>
              <a:t>As a &lt;role&gt;,</a:t>
            </a:r>
            <a:br>
              <a:rPr lang="en-US" b="1" dirty="0" smtClean="0"/>
            </a:br>
            <a:r>
              <a:rPr lang="en-US" b="1" dirty="0" smtClean="0"/>
              <a:t>I want &lt;capability&gt;</a:t>
            </a:r>
            <a:br>
              <a:rPr lang="en-US" b="1" dirty="0" smtClean="0"/>
            </a:br>
            <a:r>
              <a:rPr lang="en-US" b="1" dirty="0" smtClean="0"/>
              <a:t>so that I can &lt;accomplishment&gt;</a:t>
            </a:r>
          </a:p>
          <a:p>
            <a:pPr algn="ctr">
              <a:buNone/>
            </a:pPr>
            <a:r>
              <a:rPr lang="en-US" b="1" i="1" dirty="0" smtClean="0">
                <a:solidFill>
                  <a:schemeClr val="accent1"/>
                </a:solidFill>
              </a:rPr>
              <a:t>And can see that it does &lt;example.&gt;</a:t>
            </a:r>
          </a:p>
          <a:p>
            <a:endParaRPr lang="en-US" dirty="0" smtClean="0"/>
          </a:p>
          <a:p>
            <a:r>
              <a:rPr lang="en-US" dirty="0" smtClean="0"/>
              <a:t>Defining by epics and stories</a:t>
            </a:r>
          </a:p>
          <a:p>
            <a:pPr lvl="1"/>
            <a:r>
              <a:rPr lang="en-US" dirty="0" smtClean="0"/>
              <a:t>Epic = big story, a theme</a:t>
            </a:r>
          </a:p>
          <a:p>
            <a:pPr lvl="1"/>
            <a:r>
              <a:rPr lang="en-US" dirty="0" smtClean="0"/>
              <a:t>Minimum marketable feature could be several stories or even epics</a:t>
            </a:r>
          </a:p>
          <a:p>
            <a:pPr lvl="1"/>
            <a:r>
              <a:rPr lang="en-US" dirty="0" smtClean="0"/>
              <a:t>Story should fit to be implemented in a sprint</a:t>
            </a:r>
          </a:p>
          <a:p>
            <a:pPr lvl="2"/>
            <a:r>
              <a:rPr lang="en-US" dirty="0" smtClean="0"/>
              <a:t>Think of the smallest possible deliverable value to add at a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Agile Requirements Hierarchy</a:t>
            </a:r>
            <a:endParaRPr lang="fi-FI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6-Point Star 5"/>
          <p:cNvSpPr/>
          <p:nvPr/>
        </p:nvSpPr>
        <p:spPr>
          <a:xfrm>
            <a:off x="142844" y="1500174"/>
            <a:ext cx="1571636" cy="1571636"/>
          </a:xfrm>
          <a:prstGeom prst="star6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b="1" dirty="0" smtClean="0"/>
              <a:t>VISION</a:t>
            </a:r>
            <a:endParaRPr lang="fi-FI" sz="2000" b="1" dirty="0"/>
          </a:p>
        </p:txBody>
      </p:sp>
      <p:sp>
        <p:nvSpPr>
          <p:cNvPr id="7" name="Cloud 6"/>
          <p:cNvSpPr/>
          <p:nvPr/>
        </p:nvSpPr>
        <p:spPr>
          <a:xfrm>
            <a:off x="5500694" y="5786454"/>
            <a:ext cx="2857520" cy="1000132"/>
          </a:xfrm>
          <a:prstGeom prst="cloud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800" dirty="0" smtClean="0"/>
              <a:t>Acceptance criteria</a:t>
            </a:r>
            <a:endParaRPr lang="fi-FI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Working with Stories: the 3*C Critical Aspects 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Card</a:t>
            </a:r>
          </a:p>
          <a:p>
            <a:pPr lvl="1"/>
            <a:r>
              <a:rPr lang="fi-FI" dirty="0" smtClean="0"/>
              <a:t>One line requirement reminder</a:t>
            </a:r>
          </a:p>
          <a:p>
            <a:pPr lvl="1"/>
            <a:r>
              <a:rPr lang="fi-FI" dirty="0" smtClean="0"/>
              <a:t>Identification is essential, card is a token</a:t>
            </a:r>
          </a:p>
          <a:p>
            <a:r>
              <a:rPr lang="fi-FI" dirty="0" smtClean="0"/>
              <a:t>Conversation</a:t>
            </a:r>
          </a:p>
          <a:p>
            <a:pPr lvl="1"/>
            <a:r>
              <a:rPr lang="fi-FI" dirty="0" smtClean="0"/>
              <a:t>Exchange of thoughts, opinions and feelings</a:t>
            </a:r>
          </a:p>
          <a:p>
            <a:pPr lvl="1"/>
            <a:r>
              <a:rPr lang="fi-FI" dirty="0" smtClean="0"/>
              <a:t>Largely verbal, supported with documents</a:t>
            </a:r>
          </a:p>
          <a:p>
            <a:r>
              <a:rPr lang="fi-FI" dirty="0" smtClean="0"/>
              <a:t>Confirmation</a:t>
            </a:r>
          </a:p>
          <a:p>
            <a:pPr lvl="1"/>
            <a:r>
              <a:rPr lang="fi-FI" dirty="0" smtClean="0"/>
              <a:t>The acceptance test defining criteria for Done</a:t>
            </a:r>
          </a:p>
          <a:p>
            <a:pPr lvl="1"/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I.N.V.E.S.T. – Good Backlog Items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i-FI" b="1" dirty="0" smtClean="0">
                <a:solidFill>
                  <a:schemeClr val="accent2"/>
                </a:solidFill>
              </a:rPr>
              <a:t>I</a:t>
            </a:r>
            <a:r>
              <a:rPr lang="fi-FI" dirty="0" smtClean="0"/>
              <a:t>ndependent</a:t>
            </a:r>
          </a:p>
          <a:p>
            <a:pPr lvl="1"/>
            <a:r>
              <a:rPr lang="fi-FI" dirty="0" smtClean="0"/>
              <a:t>Value to be delivered solo</a:t>
            </a:r>
          </a:p>
          <a:p>
            <a:r>
              <a:rPr lang="fi-FI" b="1" dirty="0" smtClean="0">
                <a:solidFill>
                  <a:schemeClr val="accent2"/>
                </a:solidFill>
              </a:rPr>
              <a:t>N</a:t>
            </a:r>
            <a:r>
              <a:rPr lang="fi-FI" dirty="0" smtClean="0"/>
              <a:t>egotiable</a:t>
            </a:r>
          </a:p>
          <a:p>
            <a:pPr lvl="1"/>
            <a:r>
              <a:rPr lang="fi-FI" dirty="0" smtClean="0"/>
              <a:t>In solution space – implementations may vary for the value to deliver</a:t>
            </a:r>
          </a:p>
          <a:p>
            <a:r>
              <a:rPr lang="fi-FI" b="1" dirty="0" smtClean="0">
                <a:solidFill>
                  <a:schemeClr val="accent2"/>
                </a:solidFill>
              </a:rPr>
              <a:t>V</a:t>
            </a:r>
            <a:r>
              <a:rPr lang="fi-FI" dirty="0" smtClean="0"/>
              <a:t>aluable</a:t>
            </a:r>
          </a:p>
          <a:p>
            <a:pPr lvl="1"/>
            <a:r>
              <a:rPr lang="fi-FI" dirty="0" smtClean="0"/>
              <a:t>Should have priority – inventory is waste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i-FI" b="1" dirty="0" smtClean="0">
                <a:solidFill>
                  <a:schemeClr val="accent2"/>
                </a:solidFill>
              </a:rPr>
              <a:t>E</a:t>
            </a:r>
            <a:r>
              <a:rPr lang="fi-FI" dirty="0" smtClean="0"/>
              <a:t>stimable</a:t>
            </a:r>
          </a:p>
          <a:p>
            <a:pPr lvl="1"/>
            <a:r>
              <a:rPr lang="fi-FI" dirty="0" smtClean="0"/>
              <a:t>Rough size, don’t waste too much effort on estimating</a:t>
            </a:r>
          </a:p>
          <a:p>
            <a:r>
              <a:rPr lang="fi-FI" b="1" dirty="0" smtClean="0">
                <a:solidFill>
                  <a:schemeClr val="accent2"/>
                </a:solidFill>
              </a:rPr>
              <a:t>S</a:t>
            </a:r>
            <a:r>
              <a:rPr lang="fi-FI" dirty="0" smtClean="0"/>
              <a:t>mall</a:t>
            </a:r>
          </a:p>
          <a:p>
            <a:pPr lvl="1"/>
            <a:r>
              <a:rPr lang="fi-FI" dirty="0" smtClean="0"/>
              <a:t>Early delivery, early feedback results in needed learning.</a:t>
            </a:r>
          </a:p>
          <a:p>
            <a:r>
              <a:rPr lang="fi-FI" b="1" dirty="0" smtClean="0">
                <a:solidFill>
                  <a:schemeClr val="accent2"/>
                </a:solidFill>
              </a:rPr>
              <a:t>T</a:t>
            </a:r>
            <a:r>
              <a:rPr lang="fi-FI" dirty="0" smtClean="0"/>
              <a:t>estable</a:t>
            </a:r>
          </a:p>
          <a:p>
            <a:pPr lvl="1"/>
            <a:r>
              <a:rPr lang="fi-FI" dirty="0" smtClean="0"/>
              <a:t>Knowing when it’s done. </a:t>
            </a:r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Acceptance Test Driven Development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Each Story to implement is made tangible with Acceptance tests</a:t>
            </a:r>
          </a:p>
          <a:p>
            <a:r>
              <a:rPr lang="fi-FI" dirty="0" smtClean="0"/>
              <a:t>Acceptance tests are defined in the early parts of the sprint</a:t>
            </a:r>
          </a:p>
          <a:p>
            <a:pPr lvl="1"/>
            <a:r>
              <a:rPr lang="fi-FI" dirty="0" smtClean="0"/>
              <a:t>Not ready in planning day</a:t>
            </a:r>
          </a:p>
          <a:p>
            <a:pPr lvl="1"/>
            <a:r>
              <a:rPr lang="fi-FI" dirty="0" smtClean="0"/>
              <a:t>Involve a lot of discussions – essentially whole-team test planning with examples</a:t>
            </a:r>
          </a:p>
          <a:p>
            <a:r>
              <a:rPr lang="fi-FI" dirty="0" smtClean="0"/>
              <a:t>Role of test automation essential: high level cases transformed to implemented acceptance tests during the sprint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Team Takes Action in Acceptance Testing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i-FI" dirty="0" smtClean="0"/>
              <a:t>In start of sprint</a:t>
            </a:r>
          </a:p>
          <a:p>
            <a:pPr lvl="1"/>
            <a:r>
              <a:rPr lang="fi-FI" dirty="0" smtClean="0"/>
              <a:t>Defining requirements and commitment</a:t>
            </a:r>
          </a:p>
          <a:p>
            <a:pPr lvl="1"/>
            <a:r>
              <a:rPr lang="fi-FI" dirty="0" smtClean="0"/>
              <a:t>Outlining acceptance tests</a:t>
            </a:r>
          </a:p>
          <a:p>
            <a:pPr lvl="2"/>
            <a:r>
              <a:rPr lang="fi-FI" dirty="0" smtClean="0"/>
              <a:t>Conversational test creation</a:t>
            </a:r>
          </a:p>
          <a:p>
            <a:pPr lvl="3"/>
            <a:r>
              <a:rPr lang="fi-FI" dirty="0" smtClean="0"/>
              <a:t>Working together with customer and team to find out what to test</a:t>
            </a:r>
          </a:p>
          <a:p>
            <a:pPr lvl="2"/>
            <a:r>
              <a:rPr lang="fi-FI" dirty="0" smtClean="0"/>
              <a:t>Specification by example</a:t>
            </a:r>
          </a:p>
          <a:p>
            <a:pPr lvl="3"/>
            <a:r>
              <a:rPr lang="fi-FI" dirty="0" smtClean="0"/>
              <a:t>Definition of scope in examples that can be executed to show completeness</a:t>
            </a:r>
          </a:p>
          <a:p>
            <a:r>
              <a:rPr lang="fi-FI" dirty="0" smtClean="0"/>
              <a:t>During the sprint</a:t>
            </a:r>
          </a:p>
          <a:p>
            <a:pPr lvl="1"/>
            <a:r>
              <a:rPr lang="fi-FI" dirty="0" smtClean="0"/>
              <a:t>Adding more examples into the acceptance tests to refine requirements</a:t>
            </a:r>
          </a:p>
          <a:p>
            <a:pPr lvl="1"/>
            <a:r>
              <a:rPr lang="fi-FI" dirty="0" smtClean="0"/>
              <a:t>Implementing test automation for acceptance tests</a:t>
            </a:r>
          </a:p>
          <a:p>
            <a:pPr lvl="1"/>
            <a:r>
              <a:rPr lang="fi-FI" dirty="0" smtClean="0"/>
              <a:t>Implementing features that will eventually pass the acceptance tests</a:t>
            </a:r>
          </a:p>
          <a:p>
            <a:r>
              <a:rPr lang="fi-FI" dirty="0" smtClean="0"/>
              <a:t>End of sprint</a:t>
            </a:r>
          </a:p>
          <a:p>
            <a:pPr lvl="1"/>
            <a:r>
              <a:rPr lang="fi-FI" dirty="0" smtClean="0"/>
              <a:t>Measuring done in testing against Tested Running Features – for all things implemented until this sprint, not only in this sprint</a:t>
            </a:r>
          </a:p>
          <a:p>
            <a:pPr lvl="1"/>
            <a:r>
              <a:rPr lang="fi-FI" dirty="0" smtClean="0"/>
              <a:t>Demo</a:t>
            </a:r>
          </a:p>
          <a:p>
            <a:pPr lvl="1"/>
            <a:r>
              <a:rPr lang="fi-FI" dirty="0" smtClean="0"/>
              <a:t>For work not done, two options: </a:t>
            </a:r>
          </a:p>
          <a:p>
            <a:pPr lvl="2"/>
            <a:r>
              <a:rPr lang="fi-FI" dirty="0" smtClean="0"/>
              <a:t>Say the product backlog item was not done</a:t>
            </a:r>
          </a:p>
          <a:p>
            <a:pPr lvl="2"/>
            <a:r>
              <a:rPr lang="fi-FI" dirty="0" smtClean="0"/>
              <a:t>Identify (testing) work left as quality debt if you could actually also deliver without the information with a significant risk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1600200"/>
            <a:ext cx="2133600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Acceptance Test Driven Development = Executable Requirements Approach</a:t>
            </a:r>
            <a:endParaRPr lang="fi-FI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Reasons for Lack of ATDD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fi-FI" sz="1800" dirty="0" smtClean="0"/>
              <a:t>Can’t work in incremental fashion</a:t>
            </a:r>
          </a:p>
          <a:p>
            <a:pPr lvl="1"/>
            <a:r>
              <a:rPr lang="fi-FI" sz="1600" dirty="0" smtClean="0"/>
              <a:t>Increment does not provide a new slice of business value, but more like building pieces for future business value</a:t>
            </a:r>
          </a:p>
          <a:p>
            <a:r>
              <a:rPr lang="fi-FI" sz="1800" dirty="0" smtClean="0"/>
              <a:t>Can’t define acceptance criteria fast enough</a:t>
            </a:r>
          </a:p>
          <a:p>
            <a:pPr lvl="1"/>
            <a:r>
              <a:rPr lang="fi-FI" sz="1600" dirty="0" smtClean="0"/>
              <a:t>Acceptance criteria for a focused change with past tests supporting might be possible, but there’s a lot of implications on changes and little time during planning day if you can’t rely on past in scales</a:t>
            </a:r>
          </a:p>
          <a:p>
            <a:r>
              <a:rPr lang="fi-FI" sz="1800" dirty="0" smtClean="0"/>
              <a:t>Can’t automate enough</a:t>
            </a:r>
          </a:p>
          <a:p>
            <a:pPr lvl="1"/>
            <a:r>
              <a:rPr lang="fi-FI" sz="1600" dirty="0" smtClean="0"/>
              <a:t>With incremental development, there’s more to test after every addition. If the automation does not take of the old, the old takes a lot of manual effort from the team.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sz="1800" dirty="0" smtClean="0"/>
              <a:t>Can’t automate fast enough</a:t>
            </a:r>
          </a:p>
          <a:p>
            <a:pPr lvl="1"/>
            <a:r>
              <a:rPr lang="fi-FI" sz="1600" dirty="0" smtClean="0"/>
              <a:t>Transforming test ideas to test automation does not fit the sprint work, there’s no quick enough way of automating on acceptance level</a:t>
            </a:r>
          </a:p>
          <a:p>
            <a:r>
              <a:rPr lang="fi-FI" sz="1800" dirty="0" smtClean="0"/>
              <a:t>Concern for skewed focus on automation over investigative testing</a:t>
            </a:r>
          </a:p>
          <a:p>
            <a:pPr lvl="1"/>
            <a:r>
              <a:rPr lang="fi-FI" sz="1600" dirty="0" smtClean="0"/>
              <a:t>Too much focus on automation and you end up not including  really relevant in-depth exploratory testing</a:t>
            </a:r>
          </a:p>
          <a:p>
            <a:pPr lvl="1"/>
            <a:r>
              <a:rPr lang="fi-FI" sz="1600" dirty="0" smtClean="0"/>
              <a:t>A manual test is not the same as automated, but for a lot of cases it does not matter – except for people who are convinced of 100 % test automation</a:t>
            </a:r>
          </a:p>
          <a:p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Non-functional Requirements in Agile Backlogs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15064" cy="4525963"/>
          </a:xfrm>
        </p:spPr>
        <p:txBody>
          <a:bodyPr>
            <a:normAutofit/>
          </a:bodyPr>
          <a:lstStyle/>
          <a:p>
            <a:r>
              <a:rPr lang="fi-FI" dirty="0" smtClean="0"/>
              <a:t>Write test-stories on non-functional requirements</a:t>
            </a:r>
          </a:p>
          <a:p>
            <a:pPr lvl="1"/>
            <a:r>
              <a:rPr lang="fi-FI" dirty="0" smtClean="0"/>
              <a:t>Non-functional features are not free and can to some extent be added later – cost varies</a:t>
            </a:r>
          </a:p>
          <a:p>
            <a:r>
              <a:rPr lang="fi-FI" dirty="0" smtClean="0"/>
              <a:t>For maintaining status quo on non-functional requirements, include in definition of DONE and acceptance criteria of the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074" y="2000240"/>
            <a:ext cx="2643190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i-FI" sz="3200" dirty="0" smtClean="0"/>
              <a:t>System features: performance, scalability, usability, ...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Make Tradeoff-priorities Visible</a:t>
            </a:r>
            <a:endParaRPr lang="fi-FI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43230"/>
                <a:gridCol w="1857388"/>
                <a:gridCol w="1643074"/>
                <a:gridCol w="1685908"/>
              </a:tblGrid>
              <a:tr h="370840">
                <a:tc>
                  <a:txBody>
                    <a:bodyPr/>
                    <a:lstStyle/>
                    <a:p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Sacrifice others for this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Try to maintain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Sacrifice these for others</a:t>
                      </a:r>
                      <a:endParaRPr lang="fi-FI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Flexibility in use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Ease of use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Stability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Security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Fancy-look</a:t>
                      </a:r>
                      <a:r>
                        <a:rPr lang="fi-FI" sz="2400" baseline="0" dirty="0" smtClean="0"/>
                        <a:t>ing UI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Schedule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i-FI" sz="2400" dirty="0" smtClean="0"/>
                        <a:t>Performance</a:t>
                      </a:r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i-FI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sz="2400" dirty="0" smtClean="0"/>
                        <a:t>x</a:t>
                      </a:r>
                      <a:endParaRPr lang="fi-FI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Why Customers Find Bad Bugs We Don’t Find?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If you rely on written requirements, you are bound to fail</a:t>
            </a:r>
          </a:p>
          <a:p>
            <a:r>
              <a:rPr lang="fi-FI" dirty="0" smtClean="0"/>
              <a:t>Customer / user perception is different and has unpredictable aspects</a:t>
            </a:r>
          </a:p>
          <a:p>
            <a:r>
              <a:rPr lang="fi-FI" dirty="0" smtClean="0"/>
              <a:t>Meeting real users and customers personally improves tester’s capabilities to sympathize correctly</a:t>
            </a:r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1491</Words>
  <Application>Microsoft Macintosh PowerPoint</Application>
  <PresentationFormat>On-screen Show (4:3)</PresentationFormat>
  <Paragraphs>301</Paragraphs>
  <Slides>27</Slides>
  <Notes>17</Notes>
  <HiddenSlides>9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Vaatimukset ja hyväksymistestiohjattu kehitys</vt:lpstr>
      <vt:lpstr>Harjoitus: Paripiirtäminen</vt:lpstr>
      <vt:lpstr>PowerPoint Presentation</vt:lpstr>
      <vt:lpstr>Working Software vs. Documentation</vt:lpstr>
      <vt:lpstr>Specification by Example (SBE)</vt:lpstr>
      <vt:lpstr>Feature: Sign up From Cucumber-book</vt:lpstr>
      <vt:lpstr>Testing is Feedback</vt:lpstr>
      <vt:lpstr>The Testing Quadrants  (Adapted from Marick, Crispin&amp;Gregory, Hendrickson)</vt:lpstr>
      <vt:lpstr>The ”Beer Game” </vt:lpstr>
      <vt:lpstr>Our Environment and Toolset</vt:lpstr>
      <vt:lpstr>PowerPoint Presentation</vt:lpstr>
      <vt:lpstr>Trying It Out Taught Me About People</vt:lpstr>
      <vt:lpstr>Letting It Sink In…</vt:lpstr>
      <vt:lpstr>Agile Specification?</vt:lpstr>
      <vt:lpstr>Building Something for the Future</vt:lpstr>
      <vt:lpstr>Effectiveness of Communication Strategies on Agile Development Teams Source: Scott Ambler, Requirements Specifications on Agile Projects, Modern Analyst May 2009</vt:lpstr>
      <vt:lpstr>User Story Format</vt:lpstr>
      <vt:lpstr>Agile Requirements Hierarchy</vt:lpstr>
      <vt:lpstr>Working with Stories: the 3*C Critical Aspects </vt:lpstr>
      <vt:lpstr>I.N.V.E.S.T. – Good Backlog Items</vt:lpstr>
      <vt:lpstr>Acceptance Test Driven Development</vt:lpstr>
      <vt:lpstr>Team Takes Action in Acceptance Testing</vt:lpstr>
      <vt:lpstr>Reasons for Lack of ATDD</vt:lpstr>
      <vt:lpstr>Non-functional Requirements in Agile Backlogs</vt:lpstr>
      <vt:lpstr>Make Tradeoff-priorities Visible</vt:lpstr>
      <vt:lpstr>Why Customers Find Bad Bugs We Don’t Find?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Havaintojen kirjaaminen ja Virheiden korjaaminen</dc:title>
  <dc:creator>Maaret Pyhäjärvi</dc:creator>
  <cp:lastModifiedBy>Maaret Pyhäjärvi</cp:lastModifiedBy>
  <cp:revision>18</cp:revision>
  <dcterms:created xsi:type="dcterms:W3CDTF">2006-08-16T00:00:00Z</dcterms:created>
  <dcterms:modified xsi:type="dcterms:W3CDTF">2017-05-30T07:03:27Z</dcterms:modified>
</cp:coreProperties>
</file>