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image/gif" Extension="gif"/>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Lst>
  <p:sldSz cy="6858000" cx="9144000"/>
  <p:notesSz cx="6735750" cy="9869475"/>
  <p:embeddedFontLst>
    <p:embeddedFont>
      <p:font typeface="Caveat"/>
      <p:regular r:id="rId102"/>
      <p:bold r:id="rId103"/>
    </p:embeddedFont>
    <p:embeddedFont>
      <p:font typeface="Arial Black"/>
      <p:regular r:id="rId104"/>
    </p:embeddedFont>
    <p:embeddedFont>
      <p:font typeface="Gill Sans"/>
      <p:regular r:id="rId105"/>
      <p:bold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07" roundtripDataSignature="AMtx7mjO8nYB86xEPHq6EYJpq+W9z33H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22D00A-0D2C-46F2-92E8-5E025648F992}">
  <a:tblStyle styleId="{2922D00A-0D2C-46F2-92E8-5E025648F99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customschemas.google.com/relationships/presentationmetadata" Target="metadata"/><Relationship Id="rId106" Type="http://schemas.openxmlformats.org/officeDocument/2006/relationships/font" Target="fonts/GillSans-bold.fntdata"/><Relationship Id="rId105" Type="http://schemas.openxmlformats.org/officeDocument/2006/relationships/font" Target="fonts/GillSans-regular.fntdata"/><Relationship Id="rId104" Type="http://schemas.openxmlformats.org/officeDocument/2006/relationships/font" Target="fonts/ArialBlack-regular.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Caveat-bold.fntdata"/><Relationship Id="rId102" Type="http://schemas.openxmlformats.org/officeDocument/2006/relationships/font" Target="fonts/Caveat-regular.fntdata"/><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18831" cy="49347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15373" y="0"/>
            <a:ext cx="2918831" cy="493474"/>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374301"/>
            <a:ext cx="2918831" cy="493474"/>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i-FI"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113" name="Google Shape;113;p3: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3: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4: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8" name="Google Shape;128;p4: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5: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7" name="Google Shape;137;p5: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7: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8: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8: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5" name="Google Shape;235;p8: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9: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0: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0: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fi-FI" sz="1200"/>
              <a:t>Lisähuomiona:  perinteiset testausvaiheet väärin nimetty, ovat korjausvaiheita. Hyväksymistestaus on ainoa testausvaihe – ja vain mikäli järjestelmätestaus on tuotannonkaltaista. </a:t>
            </a:r>
            <a:endParaRPr/>
          </a:p>
          <a:p>
            <a:pPr indent="0" lvl="0" marL="0" rtl="0" algn="ctr">
              <a:spcBef>
                <a:spcPts val="0"/>
              </a:spcBef>
              <a:spcAft>
                <a:spcPts val="0"/>
              </a:spcAft>
              <a:buNone/>
            </a:pPr>
            <a:r>
              <a:rPr lang="fi-FI" sz="1200">
                <a:solidFill>
                  <a:schemeClr val="accent3"/>
                </a:solidFill>
              </a:rPr>
              <a:t>Boltonin sertifiointi: </a:t>
            </a:r>
            <a:endParaRPr/>
          </a:p>
          <a:p>
            <a:pPr indent="0" lvl="0" marL="0" rtl="0" algn="ctr">
              <a:spcBef>
                <a:spcPts val="0"/>
              </a:spcBef>
              <a:spcAft>
                <a:spcPts val="0"/>
              </a:spcAft>
              <a:buNone/>
            </a:pPr>
            <a:r>
              <a:rPr lang="fi-FI" sz="1200">
                <a:solidFill>
                  <a:schemeClr val="accent3"/>
                </a:solidFill>
              </a:rPr>
              <a:t> "I test. </a:t>
            </a:r>
            <a:endParaRPr/>
          </a:p>
          <a:p>
            <a:pPr indent="0" lvl="0" marL="0" rtl="0" algn="ctr">
              <a:spcBef>
                <a:spcPts val="0"/>
              </a:spcBef>
              <a:spcAft>
                <a:spcPts val="0"/>
              </a:spcAft>
              <a:buNone/>
            </a:pPr>
            <a:r>
              <a:rPr lang="fi-FI" sz="1200">
                <a:solidFill>
                  <a:schemeClr val="accent3"/>
                </a:solidFill>
              </a:rPr>
              <a:t>You observe. </a:t>
            </a:r>
            <a:endParaRPr/>
          </a:p>
          <a:p>
            <a:pPr indent="0" lvl="0" marL="0" rtl="0" algn="ctr">
              <a:spcBef>
                <a:spcPts val="0"/>
              </a:spcBef>
              <a:spcAft>
                <a:spcPts val="0"/>
              </a:spcAft>
              <a:buNone/>
            </a:pPr>
            <a:r>
              <a:rPr lang="fi-FI" sz="1200">
                <a:solidFill>
                  <a:schemeClr val="accent3"/>
                </a:solidFill>
              </a:rPr>
              <a:t>We talk. </a:t>
            </a:r>
            <a:endParaRPr/>
          </a:p>
          <a:p>
            <a:pPr indent="0" lvl="0" marL="0" rtl="0" algn="ctr">
              <a:spcBef>
                <a:spcPts val="0"/>
              </a:spcBef>
              <a:spcAft>
                <a:spcPts val="0"/>
              </a:spcAft>
              <a:buNone/>
            </a:pPr>
            <a:r>
              <a:rPr lang="fi-FI" sz="1200">
                <a:solidFill>
                  <a:schemeClr val="accent3"/>
                </a:solidFill>
              </a:rPr>
              <a:t>You decide".</a:t>
            </a:r>
            <a:endParaRPr sz="1200">
              <a:solidFill>
                <a:schemeClr val="accent3"/>
              </a:solidFill>
            </a:endParaRPr>
          </a:p>
          <a:p>
            <a:pPr indent="0" lvl="0" marL="0" marR="0" rtl="0" algn="l">
              <a:lnSpc>
                <a:spcPct val="100000"/>
              </a:lnSpc>
              <a:spcBef>
                <a:spcPts val="0"/>
              </a:spcBef>
              <a:spcAft>
                <a:spcPts val="0"/>
              </a:spcAft>
              <a:buClr>
                <a:schemeClr val="dk1"/>
              </a:buClr>
              <a:buSzPts val="1200"/>
              <a:buFont typeface="Calibri"/>
              <a:buNone/>
            </a:pPr>
            <a:r>
              <a:t/>
            </a:r>
            <a:endParaRPr sz="1200"/>
          </a:p>
          <a:p>
            <a:pPr indent="0" lvl="0" marL="0" rtl="0" algn="l">
              <a:spcBef>
                <a:spcPts val="0"/>
              </a:spcBef>
              <a:spcAft>
                <a:spcPts val="0"/>
              </a:spcAft>
              <a:buNone/>
            </a:pPr>
            <a:r>
              <a:t/>
            </a:r>
            <a:endParaRPr/>
          </a:p>
        </p:txBody>
      </p:sp>
      <p:sp>
        <p:nvSpPr>
          <p:cNvPr id="283" name="Google Shape;283;p10: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1: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94" name="Google Shape;294;p11: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2: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07" name="Google Shape;307;p12: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3: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3: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4: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5: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6: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6: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fi-FI"/>
              <a:t>We make up what we don’t know – developers are quick to jump to conclusions</a:t>
            </a:r>
            <a:endParaRPr/>
          </a:p>
          <a:p>
            <a:pPr indent="0" lvl="0" marL="0" rtl="0" algn="l">
              <a:spcBef>
                <a:spcPts val="0"/>
              </a:spcBef>
              <a:spcAft>
                <a:spcPts val="0"/>
              </a:spcAft>
              <a:buNone/>
            </a:pPr>
            <a:r>
              <a:t/>
            </a:r>
            <a:endParaRPr/>
          </a:p>
        </p:txBody>
      </p:sp>
      <p:sp>
        <p:nvSpPr>
          <p:cNvPr id="338" name="Google Shape;338;p16: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7: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17: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8: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8: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9: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19: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0: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20: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99" name="Google Shape;399;p20: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21: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08" name="Google Shape;408;p21: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2: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23" name="Google Shape;423;p22: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3: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430" name="Google Shape;430;p23:notes"/>
          <p:cNvSpPr/>
          <p:nvPr>
            <p:ph idx="2" type="sldImg"/>
          </p:nvPr>
        </p:nvSpPr>
        <p:spPr>
          <a:xfrm>
            <a:off x="901700" y="739775"/>
            <a:ext cx="4935538" cy="37020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23:notes"/>
          <p:cNvSpPr txBox="1"/>
          <p:nvPr>
            <p:ph idx="1" type="body"/>
          </p:nvPr>
        </p:nvSpPr>
        <p:spPr>
          <a:xfrm>
            <a:off x="898102" y="4688007"/>
            <a:ext cx="493956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24: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96" name="Google Shape;496;p24: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25: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10" name="Google Shape;510;p25: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6: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26: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7: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27: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65" name="Google Shape;565;p27: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8: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28: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73" name="Google Shape;573;p28: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29: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p29: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83" name="Google Shape;583;p29: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30: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30: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92" name="Google Shape;592;p30: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31: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01" name="Google Shape;601;p31: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3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32: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23" name="Google Shape;623;p32: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3: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p33: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32" name="Google Shape;632;p33: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4: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3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3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p35: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i-FI"/>
              <a:t>cognitive parts vs. the artifacts</a:t>
            </a:r>
            <a:endParaRPr/>
          </a:p>
          <a:p>
            <a:pPr indent="0" lvl="0" marL="0" rtl="0" algn="l">
              <a:spcBef>
                <a:spcPts val="0"/>
              </a:spcBef>
              <a:spcAft>
                <a:spcPts val="0"/>
              </a:spcAft>
              <a:buNone/>
            </a:pPr>
            <a:r>
              <a:rPr lang="fi-FI"/>
              <a:t>"think well and the rest will follow" -- just know that the rest may be bug reports, test cases and such.</a:t>
            </a:r>
            <a:endParaRPr/>
          </a:p>
        </p:txBody>
      </p:sp>
      <p:sp>
        <p:nvSpPr>
          <p:cNvPr id="652" name="Google Shape;652;p35: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36: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p36: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i-FI"/>
              <a:t>Esimerkki FSC:ltä – areas, subareas, kuva riskiperusteisen testauksen kurssilta jne. </a:t>
            </a:r>
            <a:endParaRPr/>
          </a:p>
        </p:txBody>
      </p:sp>
      <p:sp>
        <p:nvSpPr>
          <p:cNvPr id="662" name="Google Shape;662;p36: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37: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37: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85" name="Google Shape;685;p37: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38: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38: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94" name="Google Shape;694;p38: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9: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39: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02" name="Google Shape;702;p39: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40: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40: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10" name="Google Shape;710;p40: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4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p41: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20" name="Google Shape;720;p41: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4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42: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29" name="Google Shape;729;p42: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43: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43: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44: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4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45: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4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46: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p46: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38" name="Google Shape;838;p46: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47: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8" name="Google Shape;868;p47: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69" name="Google Shape;869;p47: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48: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48: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83" name="Google Shape;883;p48: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49: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49: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93" name="Google Shape;893;p49: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50: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p50: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25" name="Google Shape;925;p50: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5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p51: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34" name="Google Shape;934;p51: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5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1" name="Google Shape;941;p52: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42" name="Google Shape;942;p52: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53: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p53: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52" name="Google Shape;952;p53: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54: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5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55: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3" name="Google Shape;973;p5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56: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5" name="Google Shape;1005;p56: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57: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1014" name="Google Shape;1014;p57: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5" name="Google Shape;1015;p57:notes"/>
          <p:cNvSpPr txBox="1"/>
          <p:nvPr>
            <p:ph idx="1" type="body"/>
          </p:nvPr>
        </p:nvSpPr>
        <p:spPr>
          <a:xfrm>
            <a:off x="898102" y="4688007"/>
            <a:ext cx="493956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i-FI"/>
              <a:t>Konkretisoi CQ-esimerkillä ja toisella.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58: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3" name="Google Shape;1023;p58: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24" name="Google Shape;1024;p58: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59: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3" name="Google Shape;1033;p59: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34" name="Google Shape;1034;p59: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60: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1042" name="Google Shape;1042;p60: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3" name="Google Shape;1043;p60: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61: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1084" name="Google Shape;1084;p6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5" name="Google Shape;1085;p61: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6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4" name="Google Shape;1104;p62: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05" name="Google Shape;1105;p62: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63: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5" name="Google Shape;1135;p63: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36" name="Google Shape;1136;p63: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6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9" name="Google Shape;1149;p64: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1150" name="Google Shape;1150;p64: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6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0" name="Google Shape;1220;p65: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21" name="Google Shape;1221;p65: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66: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8" name="Google Shape;1228;p66: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p67: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5" name="Google Shape;1235;p67: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36" name="Google Shape;1236;p67: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68: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4" name="Google Shape;1244;p68: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p69: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4" name="Google Shape;1254;p69: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70: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6" name="Google Shape;1286;p70: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87" name="Google Shape;1287;p70: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7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4" name="Google Shape;1294;p71: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i-FI"/>
              <a:t>Choosing the right kind of quality – not all functionalities have impact on success. Caring for the success of the product (higher layers), not just success of testing (lower layers)</a:t>
            </a:r>
            <a:endParaRPr/>
          </a:p>
        </p:txBody>
      </p:sp>
      <p:sp>
        <p:nvSpPr>
          <p:cNvPr id="1295" name="Google Shape;1295;p71: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7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0" name="Google Shape;1310;p72: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11" name="Google Shape;1311;p72: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73: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9" name="Google Shape;1319;p73: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20" name="Google Shape;1320;p73: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7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p74: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29" name="Google Shape;1329;p74: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p7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7" name="Google Shape;1337;p75: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38" name="Google Shape;1338;p75: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p76: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8" name="Google Shape;1348;p76: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49" name="Google Shape;1349;p76: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77: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1356" name="Google Shape;1356;p77: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7" name="Google Shape;1357;p77: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i-FI"/>
              <a:t>Laatukolmio: ihmiset, aika ja sisällöt – ja näiden laatu.</a:t>
            </a:r>
            <a:endParaRPr/>
          </a:p>
          <a:p>
            <a:pPr indent="0" lvl="0" marL="0" rtl="0" algn="l">
              <a:spcBef>
                <a:spcPts val="0"/>
              </a:spcBef>
              <a:spcAft>
                <a:spcPts val="0"/>
              </a:spcAft>
              <a:buNone/>
            </a:pPr>
            <a:r>
              <a:t/>
            </a:r>
            <a:endParaRPr/>
          </a:p>
          <a:p>
            <a:pPr indent="0" lvl="0" marL="0" rtl="0" algn="l">
              <a:spcBef>
                <a:spcPts val="0"/>
              </a:spcBef>
              <a:spcAft>
                <a:spcPts val="0"/>
              </a:spcAft>
              <a:buNone/>
            </a:pPr>
            <a:r>
              <a:rPr lang="fi-FI"/>
              <a:t>Oikea osaaminen oikeaan aikaan. Virheiden syntyminen mahdollisimman ajoissa ennen kustannusten kertautumista – mielellään jo luojansa tekemänä.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78: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1372" name="Google Shape;1372;p78: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3" name="Google Shape;1373;p78:notes"/>
          <p:cNvSpPr txBox="1"/>
          <p:nvPr>
            <p:ph idx="1" type="body"/>
          </p:nvPr>
        </p:nvSpPr>
        <p:spPr>
          <a:xfrm>
            <a:off x="898102" y="4688007"/>
            <a:ext cx="493956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p79: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7" name="Google Shape;1407;p79: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08" name="Google Shape;1408;p79: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p80: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1416" name="Google Shape;1416;p80: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7" name="Google Shape;1417;p80: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i-FI"/>
              <a:t>Parasta mahdollista voi tarkoittaa montaa asiaa. </a:t>
            </a:r>
            <a:endParaRPr/>
          </a:p>
          <a:p>
            <a:pPr indent="0" lvl="0" marL="0" rtl="0" algn="l">
              <a:spcBef>
                <a:spcPts val="0"/>
              </a:spcBef>
              <a:spcAft>
                <a:spcPts val="0"/>
              </a:spcAft>
              <a:buNone/>
            </a:pPr>
            <a:r>
              <a:rPr lang="fi-FI"/>
              <a:t>Aikaa on aina rajallisesti. Tärkeimmät testit ensimmäisenä. Käytä riskejä suunnatessasi testauksen työmäärää. Koskaan ei kuitenkaan ole määrättömästi aikaa käytettävissä. Sekin kokemus kun sain haluamani ajan perustui siihen että en edes koittanut haluta aikaa kaiken testaamiseen.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p8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4" name="Google Shape;1424;p81: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fi-FI"/>
              <a:t>----- Meeting Notes (23/04/15 10:16) -----</a:t>
            </a:r>
            <a:endParaRPr/>
          </a:p>
          <a:p>
            <a:pPr indent="0" lvl="0" marL="0" rtl="0" algn="l">
              <a:spcBef>
                <a:spcPts val="0"/>
              </a:spcBef>
              <a:spcAft>
                <a:spcPts val="0"/>
              </a:spcAft>
              <a:buNone/>
            </a:pPr>
            <a:r>
              <a:rPr lang="fi-FI"/>
              <a:t>Vie eniten aikaa - korjaamisessa</a:t>
            </a:r>
            <a:endParaRPr/>
          </a:p>
          <a:p>
            <a:pPr indent="0" lvl="0" marL="0" rtl="0" algn="l">
              <a:spcBef>
                <a:spcPts val="0"/>
              </a:spcBef>
              <a:spcAft>
                <a:spcPts val="0"/>
              </a:spcAft>
              <a:buNone/>
            </a:pPr>
            <a:r>
              <a:rPr lang="fi-FI"/>
              <a:t>Tärkeimmät asiat, massat (perustapaukset) menee läpi</a:t>
            </a:r>
            <a:endParaRPr/>
          </a:p>
          <a:p>
            <a:pPr indent="0" lvl="0" marL="0" rtl="0" algn="l">
              <a:spcBef>
                <a:spcPts val="0"/>
              </a:spcBef>
              <a:spcAft>
                <a:spcPts val="0"/>
              </a:spcAft>
              <a:buNone/>
            </a:pPr>
            <a:r>
              <a:rPr lang="fi-FI"/>
              <a:t> </a:t>
            </a:r>
            <a:endParaRPr/>
          </a:p>
        </p:txBody>
      </p:sp>
      <p:sp>
        <p:nvSpPr>
          <p:cNvPr id="1425" name="Google Shape;1425;p81: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p8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3" name="Google Shape;1433;p82: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34" name="Google Shape;1434;p82: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p83: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1" name="Google Shape;1441;p83:notes"/>
          <p:cNvSpPr txBox="1"/>
          <p:nvPr>
            <p:ph idx="1" type="body"/>
          </p:nvPr>
        </p:nvSpPr>
        <p:spPr>
          <a:xfrm>
            <a:off x="673577" y="4688007"/>
            <a:ext cx="5388610" cy="44412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42" name="Google Shape;1442;p83:notes"/>
          <p:cNvSpPr txBox="1"/>
          <p:nvPr>
            <p:ph idx="12" type="sldNum"/>
          </p:nvPr>
        </p:nvSpPr>
        <p:spPr>
          <a:xfrm>
            <a:off x="3815373" y="9374301"/>
            <a:ext cx="2918831" cy="49347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p84: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2" name="Google Shape;1452;p8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85: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4" name="Google Shape;1484;p8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p86: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9" name="Google Shape;1489;p86: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87: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8" name="Google Shape;1498;p87: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88: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5" name="Google Shape;1505;p88: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89: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3" name="Google Shape;1513;p89: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90: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8" name="Google Shape;1518;p90: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91: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5" name="Google Shape;1525;p91: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p92: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1" name="Google Shape;1531;p92: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p93: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7" name="Google Shape;1537;p93: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p94: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4" name="Google Shape;1544;p94: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p95:notes"/>
          <p:cNvSpPr txBox="1"/>
          <p:nvPr>
            <p:ph idx="1" type="body"/>
          </p:nvPr>
        </p:nvSpPr>
        <p:spPr>
          <a:xfrm>
            <a:off x="673577" y="4688007"/>
            <a:ext cx="5388610" cy="444127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0" name="Google Shape;1550;p95:notes"/>
          <p:cNvSpPr/>
          <p:nvPr>
            <p:ph idx="2" type="sldImg"/>
          </p:nvPr>
        </p:nvSpPr>
        <p:spPr>
          <a:xfrm>
            <a:off x="900113" y="739775"/>
            <a:ext cx="4935537"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tsikkodia" type="title">
  <p:cSld name="TITLE">
    <p:spTree>
      <p:nvGrpSpPr>
        <p:cNvPr id="15" name="Shape 15"/>
        <p:cNvGrpSpPr/>
        <p:nvPr/>
      </p:nvGrpSpPr>
      <p:grpSpPr>
        <a:xfrm>
          <a:off x="0" y="0"/>
          <a:ext cx="0" cy="0"/>
          <a:chOff x="0" y="0"/>
          <a:chExt cx="0" cy="0"/>
        </a:xfrm>
      </p:grpSpPr>
      <p:sp>
        <p:nvSpPr>
          <p:cNvPr id="16" name="Google Shape;16;p9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9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tsikko ja sisältö" type="obj">
  <p:cSld name="OBJECT">
    <p:spTree>
      <p:nvGrpSpPr>
        <p:cNvPr id="21" name="Shape 21"/>
        <p:cNvGrpSpPr/>
        <p:nvPr/>
      </p:nvGrpSpPr>
      <p:grpSpPr>
        <a:xfrm>
          <a:off x="0" y="0"/>
          <a:ext cx="0" cy="0"/>
          <a:chOff x="0" y="0"/>
          <a:chExt cx="0" cy="0"/>
        </a:xfrm>
      </p:grpSpPr>
      <p:sp>
        <p:nvSpPr>
          <p:cNvPr id="22" name="Google Shape;22;p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ksi sisältökohdetta" type="twoObj">
  <p:cSld name="TWO_OBJECTS">
    <p:spTree>
      <p:nvGrpSpPr>
        <p:cNvPr id="27" name="Shape 27"/>
        <p:cNvGrpSpPr/>
        <p:nvPr/>
      </p:nvGrpSpPr>
      <p:grpSpPr>
        <a:xfrm>
          <a:off x="0" y="0"/>
          <a:ext cx="0" cy="0"/>
          <a:chOff x="0" y="0"/>
          <a:chExt cx="0" cy="0"/>
        </a:xfrm>
      </p:grpSpPr>
      <p:sp>
        <p:nvSpPr>
          <p:cNvPr id="28" name="Google Shape;28;p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9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9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in otsikko" type="titleOnly">
  <p:cSld name="TITLE_ONLY">
    <p:spTree>
      <p:nvGrpSpPr>
        <p:cNvPr id="34" name="Shape 34"/>
        <p:cNvGrpSpPr/>
        <p:nvPr/>
      </p:nvGrpSpPr>
      <p:grpSpPr>
        <a:xfrm>
          <a:off x="0" y="0"/>
          <a:ext cx="0" cy="0"/>
          <a:chOff x="0" y="0"/>
          <a:chExt cx="0" cy="0"/>
        </a:xfrm>
      </p:grpSpPr>
      <p:sp>
        <p:nvSpPr>
          <p:cNvPr id="35" name="Google Shape;35;p1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hjä" type="blank">
  <p:cSld name="BLANK">
    <p:spTree>
      <p:nvGrpSpPr>
        <p:cNvPr id="39" name="Shape 39"/>
        <p:cNvGrpSpPr/>
        <p:nvPr/>
      </p:nvGrpSpPr>
      <p:grpSpPr>
        <a:xfrm>
          <a:off x="0" y="0"/>
          <a:ext cx="0" cy="0"/>
          <a:chOff x="0" y="0"/>
          <a:chExt cx="0" cy="0"/>
        </a:xfrm>
      </p:grpSpPr>
      <p:sp>
        <p:nvSpPr>
          <p:cNvPr id="40" name="Google Shape;40;p1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ailu" type="twoTxTwoObj">
  <p:cSld name="TWO_OBJECTS_WITH_TEXT">
    <p:spTree>
      <p:nvGrpSpPr>
        <p:cNvPr id="43" name="Shape 43"/>
        <p:cNvGrpSpPr/>
        <p:nvPr/>
      </p:nvGrpSpPr>
      <p:grpSpPr>
        <a:xfrm>
          <a:off x="0" y="0"/>
          <a:ext cx="0" cy="0"/>
          <a:chOff x="0" y="0"/>
          <a:chExt cx="0" cy="0"/>
        </a:xfrm>
      </p:grpSpPr>
      <p:sp>
        <p:nvSpPr>
          <p:cNvPr id="44" name="Google Shape;44;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0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10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10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10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san ylätunniste" type="secHead">
  <p:cSld name="SECTION_HEADER">
    <p:spTree>
      <p:nvGrpSpPr>
        <p:cNvPr id="52" name="Shape 52"/>
        <p:cNvGrpSpPr/>
        <p:nvPr/>
      </p:nvGrpSpPr>
      <p:grpSpPr>
        <a:xfrm>
          <a:off x="0" y="0"/>
          <a:ext cx="0" cy="0"/>
          <a:chOff x="0" y="0"/>
          <a:chExt cx="0" cy="0"/>
        </a:xfrm>
      </p:grpSpPr>
      <p:sp>
        <p:nvSpPr>
          <p:cNvPr id="53" name="Google Shape;53;p10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0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5" name="Google Shape;55;p1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tsikollinen sisältö" type="objTx">
  <p:cSld name="OBJECT_WITH_CAPTION_TEXT">
    <p:spTree>
      <p:nvGrpSpPr>
        <p:cNvPr id="58" name="Shape 58"/>
        <p:cNvGrpSpPr/>
        <p:nvPr/>
      </p:nvGrpSpPr>
      <p:grpSpPr>
        <a:xfrm>
          <a:off x="0" y="0"/>
          <a:ext cx="0" cy="0"/>
          <a:chOff x="0" y="0"/>
          <a:chExt cx="0" cy="0"/>
        </a:xfrm>
      </p:grpSpPr>
      <p:sp>
        <p:nvSpPr>
          <p:cNvPr id="59" name="Google Shape;59;p10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Gill Sans"/>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0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0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tsikollinen kuva" type="picTx">
  <p:cSld name="PICTURE_WITH_CAPTION_TEXT">
    <p:spTree>
      <p:nvGrpSpPr>
        <p:cNvPr id="65" name="Shape 65"/>
        <p:cNvGrpSpPr/>
        <p:nvPr/>
      </p:nvGrpSpPr>
      <p:grpSpPr>
        <a:xfrm>
          <a:off x="0" y="0"/>
          <a:ext cx="0" cy="0"/>
          <a:chOff x="0" y="0"/>
          <a:chExt cx="0" cy="0"/>
        </a:xfrm>
      </p:grpSpPr>
      <p:sp>
        <p:nvSpPr>
          <p:cNvPr id="66" name="Google Shape;66;p10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Gill Sans"/>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5"/>
          <p:cNvSpPr/>
          <p:nvPr>
            <p:ph idx="2" type="pic"/>
          </p:nvPr>
        </p:nvSpPr>
        <p:spPr>
          <a:xfrm>
            <a:off x="1792288" y="612775"/>
            <a:ext cx="5486400" cy="4114800"/>
          </a:xfrm>
          <a:prstGeom prst="rect">
            <a:avLst/>
          </a:prstGeom>
          <a:noFill/>
          <a:ln>
            <a:noFill/>
          </a:ln>
        </p:spPr>
      </p:sp>
      <p:sp>
        <p:nvSpPr>
          <p:cNvPr id="68" name="Google Shape;68;p10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tsikko ja pystysuora teksti" type="vertTx">
  <p:cSld name="VERTICAL_TEXT">
    <p:spTree>
      <p:nvGrpSpPr>
        <p:cNvPr id="72" name="Shape 72"/>
        <p:cNvGrpSpPr/>
        <p:nvPr/>
      </p:nvGrpSpPr>
      <p:grpSpPr>
        <a:xfrm>
          <a:off x="0" y="0"/>
          <a:ext cx="0" cy="0"/>
          <a:chOff x="0" y="0"/>
          <a:chExt cx="0" cy="0"/>
        </a:xfrm>
      </p:grpSpPr>
      <p:sp>
        <p:nvSpPr>
          <p:cNvPr id="73" name="Google Shape;73;p1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0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stysuora otsikko ja teksti" type="vertTitleAndTx">
  <p:cSld name="VERTICAL_TITLE_AND_VERTICAL_TEXT">
    <p:spTree>
      <p:nvGrpSpPr>
        <p:cNvPr id="78" name="Shape 78"/>
        <p:cNvGrpSpPr/>
        <p:nvPr/>
      </p:nvGrpSpPr>
      <p:grpSpPr>
        <a:xfrm>
          <a:off x="0" y="0"/>
          <a:ext cx="0" cy="0"/>
          <a:chOff x="0" y="0"/>
          <a:chExt cx="0" cy="0"/>
        </a:xfrm>
      </p:grpSpPr>
      <p:sp>
        <p:nvSpPr>
          <p:cNvPr id="79" name="Google Shape;79;p10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0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Gill Sans"/>
              <a:buNone/>
              <a:defRPr b="0" i="0" sz="44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2" name="Google Shape;12;p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Gill Sans"/>
                <a:ea typeface="Gill Sans"/>
                <a:cs typeface="Gill Sans"/>
                <a:sym typeface="Gill Sans"/>
              </a:defRPr>
            </a:lvl1pPr>
            <a:lvl2pPr indent="0" lvl="1" marL="0" marR="0" rtl="0" algn="r">
              <a:spcBef>
                <a:spcPts val="0"/>
              </a:spcBef>
              <a:buNone/>
              <a:defRPr b="0" i="0" sz="1200" u="none" cap="none" strike="noStrike">
                <a:solidFill>
                  <a:srgbClr val="888888"/>
                </a:solidFill>
                <a:latin typeface="Gill Sans"/>
                <a:ea typeface="Gill Sans"/>
                <a:cs typeface="Gill Sans"/>
                <a:sym typeface="Gill Sans"/>
              </a:defRPr>
            </a:lvl2pPr>
            <a:lvl3pPr indent="0" lvl="2" marL="0" marR="0" rtl="0" algn="r">
              <a:spcBef>
                <a:spcPts val="0"/>
              </a:spcBef>
              <a:buNone/>
              <a:defRPr b="0" i="0" sz="1200" u="none" cap="none" strike="noStrike">
                <a:solidFill>
                  <a:srgbClr val="888888"/>
                </a:solidFill>
                <a:latin typeface="Gill Sans"/>
                <a:ea typeface="Gill Sans"/>
                <a:cs typeface="Gill Sans"/>
                <a:sym typeface="Gill Sans"/>
              </a:defRPr>
            </a:lvl3pPr>
            <a:lvl4pPr indent="0" lvl="3" marL="0" marR="0" rtl="0" algn="r">
              <a:spcBef>
                <a:spcPts val="0"/>
              </a:spcBef>
              <a:buNone/>
              <a:defRPr b="0" i="0" sz="1200" u="none" cap="none" strike="noStrike">
                <a:solidFill>
                  <a:srgbClr val="888888"/>
                </a:solidFill>
                <a:latin typeface="Gill Sans"/>
                <a:ea typeface="Gill Sans"/>
                <a:cs typeface="Gill Sans"/>
                <a:sym typeface="Gill Sans"/>
              </a:defRPr>
            </a:lvl4pPr>
            <a:lvl5pPr indent="0" lvl="4" marL="0" marR="0" rtl="0" algn="r">
              <a:spcBef>
                <a:spcPts val="0"/>
              </a:spcBef>
              <a:buNone/>
              <a:defRPr b="0" i="0" sz="1200" u="none" cap="none" strike="noStrike">
                <a:solidFill>
                  <a:srgbClr val="888888"/>
                </a:solidFill>
                <a:latin typeface="Gill Sans"/>
                <a:ea typeface="Gill Sans"/>
                <a:cs typeface="Gill Sans"/>
                <a:sym typeface="Gill Sans"/>
              </a:defRPr>
            </a:lvl5pPr>
            <a:lvl6pPr indent="0" lvl="5" marL="0" marR="0" rtl="0" algn="r">
              <a:spcBef>
                <a:spcPts val="0"/>
              </a:spcBef>
              <a:buNone/>
              <a:defRPr b="0" i="0" sz="1200" u="none" cap="none" strike="noStrike">
                <a:solidFill>
                  <a:srgbClr val="888888"/>
                </a:solidFill>
                <a:latin typeface="Gill Sans"/>
                <a:ea typeface="Gill Sans"/>
                <a:cs typeface="Gill Sans"/>
                <a:sym typeface="Gill Sans"/>
              </a:defRPr>
            </a:lvl6pPr>
            <a:lvl7pPr indent="0" lvl="6" marL="0" marR="0" rtl="0" algn="r">
              <a:spcBef>
                <a:spcPts val="0"/>
              </a:spcBef>
              <a:buNone/>
              <a:defRPr b="0" i="0" sz="1200" u="none" cap="none" strike="noStrike">
                <a:solidFill>
                  <a:srgbClr val="888888"/>
                </a:solidFill>
                <a:latin typeface="Gill Sans"/>
                <a:ea typeface="Gill Sans"/>
                <a:cs typeface="Gill Sans"/>
                <a:sym typeface="Gill Sans"/>
              </a:defRPr>
            </a:lvl7pPr>
            <a:lvl8pPr indent="0" lvl="7" marL="0" marR="0" rtl="0" algn="r">
              <a:spcBef>
                <a:spcPts val="0"/>
              </a:spcBef>
              <a:buNone/>
              <a:defRPr b="0" i="0" sz="1200" u="none" cap="none" strike="noStrike">
                <a:solidFill>
                  <a:srgbClr val="888888"/>
                </a:solidFill>
                <a:latin typeface="Gill Sans"/>
                <a:ea typeface="Gill Sans"/>
                <a:cs typeface="Gill Sans"/>
                <a:sym typeface="Gill Sans"/>
              </a:defRPr>
            </a:lvl8pPr>
            <a:lvl9pPr indent="0" lvl="8" marL="0" marR="0" rtl="0" algn="r">
              <a:spcBef>
                <a:spcPts val="0"/>
              </a:spcBef>
              <a:buNone/>
              <a:defRPr b="0" i="0" sz="1200" u="none" cap="none" strike="noStrike">
                <a:solidFill>
                  <a:srgbClr val="888888"/>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fi-FI"/>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creativecommons.org/licenses/by/1.0/fi/" TargetMode="External"/><Relationship Id="rId4" Type="http://schemas.openxmlformats.org/officeDocument/2006/relationships/hyperlink" Target="http://creativecommons.org/licenses/by/1.0/fi/deed.en" TargetMode="External"/><Relationship Id="rId5"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hyperlink" Target="http://testausosy.ttlry.fi/" TargetMode="External"/><Relationship Id="rId9" Type="http://schemas.openxmlformats.org/officeDocument/2006/relationships/image" Target="../media/image2.jpg"/><Relationship Id="rId5" Type="http://schemas.openxmlformats.org/officeDocument/2006/relationships/image" Target="../media/image5.png"/><Relationship Id="rId6" Type="http://schemas.openxmlformats.org/officeDocument/2006/relationships/image" Target="../media/image15.gif"/><Relationship Id="rId7" Type="http://schemas.openxmlformats.org/officeDocument/2006/relationships/image" Target="../media/image3.png"/><Relationship Id="rId8"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creativecommons.org/licenses/by/1.0/fi/" TargetMode="External"/><Relationship Id="rId4" Type="http://schemas.openxmlformats.org/officeDocument/2006/relationships/hyperlink" Target="http://creativecommons.org/licenses/by/1.0/fi/deed.en" TargetMode="External"/><Relationship Id="rId5"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vmlDrawing" Target="../drawings/vmlDrawing1.vml"/><Relationship Id="rId4" Type="http://schemas.openxmlformats.org/officeDocument/2006/relationships/image" Target="../media/image4.png"/><Relationship Id="rId11" Type="http://schemas.openxmlformats.org/officeDocument/2006/relationships/image" Target="../media/image11.png"/><Relationship Id="rId10" Type="http://schemas.openxmlformats.org/officeDocument/2006/relationships/image" Target="../media/image18.png"/><Relationship Id="rId9" Type="http://schemas.openxmlformats.org/officeDocument/2006/relationships/image" Target="../media/image6.png"/><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8.png"/><Relationship Id="rId8"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14.jpg"/><Relationship Id="rId5" Type="http://schemas.openxmlformats.org/officeDocument/2006/relationships/image" Target="../media/image16.jpg"/><Relationship Id="rId6"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viscog.beckman.illinois.edu/flashmovie/15.php" TargetMode="External"/><Relationship Id="rId4" Type="http://schemas.openxmlformats.org/officeDocument/2006/relationships/hyperlink" Target="http://www.dothetest.co.uk/whodunnit.html" TargetMode="External"/><Relationship Id="rId5" Type="http://schemas.openxmlformats.org/officeDocument/2006/relationships/hyperlink" Target="http://www.youtube.com/watch?v=IGQmdoK_Zf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53.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4.png"/><Relationship Id="rId7" Type="http://schemas.openxmlformats.org/officeDocument/2006/relationships/image" Target="../media/image27.png"/><Relationship Id="rId8"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28.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28.png"/><Relationship Id="rId4" Type="http://schemas.openxmlformats.org/officeDocument/2006/relationships/image" Target="../media/image1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45.png"/><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36.png"/><Relationship Id="rId4" Type="http://schemas.openxmlformats.org/officeDocument/2006/relationships/image" Target="../media/image4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37.png"/><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hyperlink" Target="http://www.satisfice.com/tools/perlclip.zip" TargetMode="External"/><Relationship Id="rId4" Type="http://schemas.openxmlformats.org/officeDocument/2006/relationships/hyperlink" Target="https://addons.mozilla.org/fi/firefox/addon/web-developer/" TargetMode="External"/><Relationship Id="rId5" Type="http://schemas.openxmlformats.org/officeDocument/2006/relationships/hyperlink" Target="https://addons.mozilla.org/fi/firefox/addon/fireshot/" TargetMode="External"/><Relationship Id="rId6" Type="http://schemas.openxmlformats.org/officeDocument/2006/relationships/hyperlink" Target="http://getgreenshot.org/" TargetMode="External"/><Relationship Id="rId7" Type="http://schemas.openxmlformats.org/officeDocument/2006/relationships/hyperlink" Target="http://www.screencast-o-matic.com/" TargetMode="External"/><Relationship Id="rId8" Type="http://schemas.openxmlformats.org/officeDocument/2006/relationships/hyperlink" Target="http://www.faststone.org/FSCaptureDetail.htm"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 Id="rId3" Type="http://schemas.openxmlformats.org/officeDocument/2006/relationships/image" Target="../media/image28.png"/><Relationship Id="rId4" Type="http://schemas.openxmlformats.org/officeDocument/2006/relationships/image" Target="../media/image1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46.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3.xml"/><Relationship Id="rId3" Type="http://schemas.openxmlformats.org/officeDocument/2006/relationships/image" Target="../media/image28.png"/><Relationship Id="rId4" Type="http://schemas.openxmlformats.org/officeDocument/2006/relationships/image" Target="../media/image1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 Id="rId3" Type="http://schemas.openxmlformats.org/officeDocument/2006/relationships/image" Target="../media/image54.png"/><Relationship Id="rId4" Type="http://schemas.openxmlformats.org/officeDocument/2006/relationships/image" Target="../media/image4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 Id="rId3" Type="http://schemas.openxmlformats.org/officeDocument/2006/relationships/image" Target="../media/image48.png"/><Relationship Id="rId4" Type="http://schemas.openxmlformats.org/officeDocument/2006/relationships/image" Target="../media/image4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 Id="rId3" Type="http://schemas.openxmlformats.org/officeDocument/2006/relationships/image" Target="../media/image60.png"/><Relationship Id="rId4" Type="http://schemas.openxmlformats.org/officeDocument/2006/relationships/image" Target="../media/image50.png"/><Relationship Id="rId5" Type="http://schemas.openxmlformats.org/officeDocument/2006/relationships/image" Target="../media/image6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 Id="rId3" Type="http://schemas.openxmlformats.org/officeDocument/2006/relationships/image" Target="../media/image59.png"/><Relationship Id="rId4" Type="http://schemas.openxmlformats.org/officeDocument/2006/relationships/image" Target="../media/image5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 Id="rId3" Type="http://schemas.openxmlformats.org/officeDocument/2006/relationships/image" Target="../media/image5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 Id="rId3" Type="http://schemas.openxmlformats.org/officeDocument/2006/relationships/image" Target="../media/image5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 Id="rId3" Type="http://schemas.openxmlformats.org/officeDocument/2006/relationships/image" Target="../media/image5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 Id="rId3" Type="http://schemas.openxmlformats.org/officeDocument/2006/relationships/image" Target="../media/image5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image" Target="../media/image28.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Testitapausten suunnittelu</a:t>
            </a:r>
            <a:endParaRPr sz="3600">
              <a:solidFill>
                <a:schemeClr val="accent3"/>
              </a:solidFill>
            </a:endParaRPr>
          </a:p>
        </p:txBody>
      </p:sp>
      <p:sp>
        <p:nvSpPr>
          <p:cNvPr id="90" name="Google Shape;90;p1"/>
          <p:cNvSpPr txBox="1"/>
          <p:nvPr>
            <p:ph idx="1" type="subTitle"/>
          </p:nvPr>
        </p:nvSpPr>
        <p:spPr>
          <a:xfrm>
            <a:off x="323528" y="3886200"/>
            <a:ext cx="828092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000"/>
              <a:buNone/>
            </a:pPr>
            <a:r>
              <a:rPr b="1" lang="fi-FI" sz="2000"/>
              <a:t>Maaret Pyhäjärvi</a:t>
            </a:r>
            <a:r>
              <a:rPr lang="fi-FI" sz="2000"/>
              <a:t>| &lt;maaret@iki.fi&gt; | Twitter: maaretp</a:t>
            </a:r>
            <a:endParaRPr sz="2000"/>
          </a:p>
          <a:p>
            <a:pPr indent="0" lvl="0" marL="0" rtl="0" algn="ctr">
              <a:spcBef>
                <a:spcPts val="360"/>
              </a:spcBef>
              <a:spcAft>
                <a:spcPts val="0"/>
              </a:spcAft>
              <a:buClr>
                <a:srgbClr val="888888"/>
              </a:buClr>
              <a:buSzPts val="1800"/>
              <a:buNone/>
            </a:pPr>
            <a:r>
              <a:rPr b="1" lang="fi-FI" sz="1800"/>
              <a:t>Testausasiantuntija @ Granlund Oy </a:t>
            </a:r>
            <a:r>
              <a:rPr lang="fi-FI" sz="1800"/>
              <a:t>| Kouluttaja @ Altom | Ohjelmistotestaus ry | TestausOSY | Agile Finland</a:t>
            </a:r>
            <a:endParaRPr/>
          </a:p>
          <a:p>
            <a:pPr indent="0" lvl="0" marL="0" rtl="0" algn="ctr">
              <a:spcBef>
                <a:spcPts val="400"/>
              </a:spcBef>
              <a:spcAft>
                <a:spcPts val="0"/>
              </a:spcAft>
              <a:buClr>
                <a:srgbClr val="888888"/>
              </a:buClr>
              <a:buSzPts val="2000"/>
              <a:buNone/>
            </a:pPr>
            <a:r>
              <a:t/>
            </a:r>
            <a:endParaRPr sz="2000"/>
          </a:p>
        </p:txBody>
      </p:sp>
      <p:grpSp>
        <p:nvGrpSpPr>
          <p:cNvPr id="91" name="Google Shape;91;p1"/>
          <p:cNvGrpSpPr/>
          <p:nvPr/>
        </p:nvGrpSpPr>
        <p:grpSpPr>
          <a:xfrm>
            <a:off x="1979712" y="5007126"/>
            <a:ext cx="5648627" cy="798138"/>
            <a:chOff x="1979712" y="4724406"/>
            <a:chExt cx="5648627" cy="798138"/>
          </a:xfrm>
        </p:grpSpPr>
        <p:grpSp>
          <p:nvGrpSpPr>
            <p:cNvPr id="92" name="Google Shape;92;p1"/>
            <p:cNvGrpSpPr/>
            <p:nvPr/>
          </p:nvGrpSpPr>
          <p:grpSpPr>
            <a:xfrm>
              <a:off x="1979712" y="4724406"/>
              <a:ext cx="5648627" cy="798138"/>
              <a:chOff x="838200" y="5486400"/>
              <a:chExt cx="4138247" cy="690391"/>
            </a:xfrm>
          </p:grpSpPr>
          <p:sp>
            <p:nvSpPr>
              <p:cNvPr id="93" name="Google Shape;93;p1"/>
              <p:cNvSpPr/>
              <p:nvPr/>
            </p:nvSpPr>
            <p:spPr>
              <a:xfrm>
                <a:off x="838200" y="5486400"/>
                <a:ext cx="4114800" cy="685800"/>
              </a:xfrm>
              <a:prstGeom prst="rect">
                <a:avLst/>
              </a:prstGeom>
              <a:gradFill>
                <a:gsLst>
                  <a:gs pos="0">
                    <a:srgbClr val="CBDAFB"/>
                  </a:gs>
                  <a:gs pos="35000">
                    <a:srgbClr val="DAE3FB"/>
                  </a:gs>
                  <a:gs pos="100000">
                    <a:srgbClr val="F0F3FE"/>
                  </a:gs>
                </a:gsLst>
                <a:lin ang="16200000" scaled="0"/>
              </a:gradFill>
              <a:ln cap="flat" cmpd="sng" w="9525">
                <a:solidFill>
                  <a:srgbClr val="A8B4D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100" u="none" cap="none" strike="noStrike">
                  <a:solidFill>
                    <a:schemeClr val="dk1"/>
                  </a:solidFill>
                  <a:latin typeface="Gill Sans"/>
                  <a:ea typeface="Gill Sans"/>
                  <a:cs typeface="Gill Sans"/>
                  <a:sym typeface="Gill Sans"/>
                </a:endParaRPr>
              </a:p>
            </p:txBody>
          </p:sp>
          <p:sp>
            <p:nvSpPr>
              <p:cNvPr id="94" name="Google Shape;94;p1"/>
              <p:cNvSpPr txBox="1"/>
              <p:nvPr/>
            </p:nvSpPr>
            <p:spPr>
              <a:xfrm>
                <a:off x="2157047" y="5511223"/>
                <a:ext cx="2819400" cy="6655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i-FI" sz="1100" u="none" cap="none" strike="noStrike">
                    <a:solidFill>
                      <a:schemeClr val="dk1"/>
                    </a:solidFill>
                    <a:latin typeface="Gill Sans"/>
                    <a:ea typeface="Gill Sans"/>
                    <a:cs typeface="Gill Sans"/>
                    <a:sym typeface="Gill Sans"/>
                  </a:rPr>
                  <a:t>Maaret Pyhäjärvi</a:t>
                </a:r>
                <a:endParaRPr/>
              </a:p>
              <a:p>
                <a:pPr indent="0" lvl="0" marL="0" marR="0" rtl="0" algn="l">
                  <a:spcBef>
                    <a:spcPts val="0"/>
                  </a:spcBef>
                  <a:spcAft>
                    <a:spcPts val="0"/>
                  </a:spcAft>
                  <a:buNone/>
                </a:pPr>
                <a:r>
                  <a:rPr lang="fi-FI" sz="1100">
                    <a:solidFill>
                      <a:schemeClr val="dk1"/>
                    </a:solidFill>
                    <a:latin typeface="Gill Sans"/>
                    <a:ea typeface="Gill Sans"/>
                    <a:cs typeface="Gill Sans"/>
                    <a:sym typeface="Gill Sans"/>
                  </a:rPr>
                  <a:t>Nimeä |  Attribution (Finland)</a:t>
                </a:r>
                <a:endParaRPr/>
              </a:p>
              <a:p>
                <a:pPr indent="0" lvl="1" marL="0" marR="0" rtl="0" algn="l">
                  <a:spcBef>
                    <a:spcPts val="0"/>
                  </a:spcBef>
                  <a:spcAft>
                    <a:spcPts val="0"/>
                  </a:spcAft>
                  <a:buNone/>
                </a:pPr>
                <a:r>
                  <a:rPr b="0" i="0" lang="fi-FI" sz="1100" u="sng" cap="none" strike="noStrike">
                    <a:solidFill>
                      <a:schemeClr val="dk1"/>
                    </a:solidFill>
                    <a:latin typeface="Gill Sans"/>
                    <a:ea typeface="Gill Sans"/>
                    <a:cs typeface="Gill Sans"/>
                    <a:sym typeface="Gill Sans"/>
                    <a:hlinkClick r:id="rId3">
                      <a:extLst>
                        <a:ext uri="{A12FA001-AC4F-418D-AE19-62706E023703}">
                          <ahyp:hlinkClr val="tx"/>
                        </a:ext>
                      </a:extLst>
                    </a:hlinkClick>
                  </a:rPr>
                  <a:t>http://creativecommons.org/licenses/by/1.0/fi/</a:t>
                </a:r>
                <a:endParaRPr b="0" i="0" sz="1100" u="none" cap="none" strike="noStrike">
                  <a:solidFill>
                    <a:schemeClr val="dk1"/>
                  </a:solidFill>
                  <a:latin typeface="Gill Sans"/>
                  <a:ea typeface="Gill Sans"/>
                  <a:cs typeface="Gill Sans"/>
                  <a:sym typeface="Gill Sans"/>
                </a:endParaRPr>
              </a:p>
              <a:p>
                <a:pPr indent="0" lvl="1" marL="0" marR="0" rtl="0" algn="l">
                  <a:spcBef>
                    <a:spcPts val="0"/>
                  </a:spcBef>
                  <a:spcAft>
                    <a:spcPts val="0"/>
                  </a:spcAft>
                  <a:buNone/>
                </a:pPr>
                <a:r>
                  <a:rPr b="0" i="0" lang="fi-FI" sz="1100" u="sng" cap="none" strike="noStrike">
                    <a:solidFill>
                      <a:schemeClr val="dk1"/>
                    </a:solidFill>
                    <a:latin typeface="Gill Sans"/>
                    <a:ea typeface="Gill Sans"/>
                    <a:cs typeface="Gill Sans"/>
                    <a:sym typeface="Gill Sans"/>
                    <a:hlinkClick r:id="rId4">
                      <a:extLst>
                        <a:ext uri="{A12FA001-AC4F-418D-AE19-62706E023703}">
                          <ahyp:hlinkClr val="tx"/>
                        </a:ext>
                      </a:extLst>
                    </a:hlinkClick>
                  </a:rPr>
                  <a:t>http://creativecommons.org/licenses/by/1.0/fi/deed.en</a:t>
                </a:r>
                <a:endParaRPr b="0" i="0" sz="1100" u="none" cap="none" strike="noStrike">
                  <a:solidFill>
                    <a:schemeClr val="dk1"/>
                  </a:solidFill>
                  <a:latin typeface="Gill Sans"/>
                  <a:ea typeface="Gill Sans"/>
                  <a:cs typeface="Gill Sans"/>
                  <a:sym typeface="Gill Sans"/>
                </a:endParaRPr>
              </a:p>
            </p:txBody>
          </p:sp>
        </p:grpSp>
        <p:pic>
          <p:nvPicPr>
            <p:cNvPr descr="88x31.png" id="95" name="Google Shape;95;p1"/>
            <p:cNvPicPr preferRelativeResize="0"/>
            <p:nvPr/>
          </p:nvPicPr>
          <p:blipFill rotWithShape="1">
            <a:blip r:embed="rId5">
              <a:alphaModFix/>
            </a:blip>
            <a:srcRect b="0" l="0" r="0" t="0"/>
            <a:stretch/>
          </p:blipFill>
          <p:spPr>
            <a:xfrm>
              <a:off x="2067486" y="4845268"/>
              <a:ext cx="1613589" cy="568424"/>
            </a:xfrm>
            <a:prstGeom prst="rect">
              <a:avLst/>
            </a:prstGeom>
            <a:noFill/>
            <a:ln>
              <a:noFill/>
            </a:ln>
          </p:spPr>
        </p:pic>
      </p:grpSp>
      <p:sp>
        <p:nvSpPr>
          <p:cNvPr id="96" name="Google Shape;96;p1"/>
          <p:cNvSpPr txBox="1"/>
          <p:nvPr/>
        </p:nvSpPr>
        <p:spPr>
          <a:xfrm>
            <a:off x="5508104" y="116632"/>
            <a:ext cx="338506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2400">
                <a:solidFill>
                  <a:schemeClr val="accent1"/>
                </a:solidFill>
                <a:latin typeface="Gill Sans"/>
                <a:ea typeface="Gill Sans"/>
                <a:cs typeface="Gill Sans"/>
                <a:sym typeface="Gill Sans"/>
              </a:rPr>
              <a:t>Altom Oy / 22.-23.4.2015</a:t>
            </a:r>
            <a:endParaRPr sz="2400">
              <a:solidFill>
                <a:schemeClr val="accent1"/>
              </a:solidFill>
              <a:latin typeface="Gill Sans"/>
              <a:ea typeface="Gill Sans"/>
              <a:cs typeface="Gill Sans"/>
              <a:sym typeface="Gill Sans"/>
            </a:endParaRPr>
          </a:p>
        </p:txBody>
      </p:sp>
      <p:sp>
        <p:nvSpPr>
          <p:cNvPr id="97" name="Google Shape;97;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Kouluttajasta</a:t>
            </a:r>
            <a:endParaRPr/>
          </a:p>
        </p:txBody>
      </p:sp>
      <p:sp>
        <p:nvSpPr>
          <p:cNvPr id="103" name="Google Shape;103;p2"/>
          <p:cNvSpPr txBox="1"/>
          <p:nvPr>
            <p:ph idx="1" type="body"/>
          </p:nvPr>
        </p:nvSpPr>
        <p:spPr>
          <a:xfrm>
            <a:off x="2627784" y="1600200"/>
            <a:ext cx="6059016"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fi-FI"/>
              <a:t>Ohjelmistokehityksen asiantuntija testauspainotuksella ‘95 🡪 </a:t>
            </a:r>
            <a:endParaRPr/>
          </a:p>
          <a:p>
            <a:pPr indent="-342900" lvl="0" marL="342900" rtl="0" algn="l">
              <a:spcBef>
                <a:spcPts val="544"/>
              </a:spcBef>
              <a:spcAft>
                <a:spcPts val="0"/>
              </a:spcAft>
              <a:buClr>
                <a:schemeClr val="dk1"/>
              </a:buClr>
              <a:buSzPct val="100000"/>
              <a:buChar char="•"/>
            </a:pPr>
            <a:r>
              <a:rPr lang="fi-FI"/>
              <a:t>Eri rooleja (testaaja, testausvastaava, opettaja, projektipäällikkö, määrittelijä, kehittäjä)</a:t>
            </a:r>
            <a:endParaRPr/>
          </a:p>
          <a:p>
            <a:pPr indent="-342900" lvl="0" marL="342900" rtl="0" algn="l">
              <a:spcBef>
                <a:spcPts val="544"/>
              </a:spcBef>
              <a:spcAft>
                <a:spcPts val="0"/>
              </a:spcAft>
              <a:buClr>
                <a:schemeClr val="dk1"/>
              </a:buClr>
              <a:buSzPct val="100000"/>
              <a:buChar char="•"/>
            </a:pPr>
            <a:r>
              <a:rPr lang="fi-FI"/>
              <a:t>Eri organisaatioita (Granlund, Ilmarinen, F-Secure, konsultoinnin asiakkaita …)</a:t>
            </a:r>
            <a:endParaRPr/>
          </a:p>
          <a:p>
            <a:pPr indent="-342900" lvl="0" marL="342900" rtl="0" algn="l">
              <a:spcBef>
                <a:spcPts val="544"/>
              </a:spcBef>
              <a:spcAft>
                <a:spcPts val="0"/>
              </a:spcAft>
              <a:buClr>
                <a:schemeClr val="dk1"/>
              </a:buClr>
              <a:buSzPct val="100000"/>
              <a:buChar char="•"/>
            </a:pPr>
            <a:r>
              <a:rPr lang="fi-FI"/>
              <a:t>Onnistunut ja toimiva järjestelmä, ihmisten yhteistyö, jatkuva oppiminen</a:t>
            </a:r>
            <a:endParaRPr/>
          </a:p>
        </p:txBody>
      </p:sp>
      <p:pic>
        <p:nvPicPr>
          <p:cNvPr descr="Granlund-logo.jpg" id="104" name="Google Shape;104;p2"/>
          <p:cNvPicPr preferRelativeResize="0"/>
          <p:nvPr/>
        </p:nvPicPr>
        <p:blipFill rotWithShape="1">
          <a:blip r:embed="rId3">
            <a:alphaModFix/>
          </a:blip>
          <a:srcRect b="0" l="0" r="0" t="0"/>
          <a:stretch/>
        </p:blipFill>
        <p:spPr>
          <a:xfrm>
            <a:off x="251123" y="1844824"/>
            <a:ext cx="1152525" cy="1301750"/>
          </a:xfrm>
          <a:prstGeom prst="rect">
            <a:avLst/>
          </a:prstGeom>
          <a:noFill/>
          <a:ln>
            <a:noFill/>
          </a:ln>
        </p:spPr>
      </p:pic>
      <p:pic>
        <p:nvPicPr>
          <p:cNvPr descr="Etusivu" id="105" name="Google Shape;105;p2">
            <a:hlinkClick r:id="rId4"/>
          </p:cNvPr>
          <p:cNvPicPr preferRelativeResize="0"/>
          <p:nvPr/>
        </p:nvPicPr>
        <p:blipFill rotWithShape="1">
          <a:blip r:embed="rId5">
            <a:alphaModFix/>
          </a:blip>
          <a:srcRect b="0" l="0" r="0" t="0"/>
          <a:stretch/>
        </p:blipFill>
        <p:spPr>
          <a:xfrm>
            <a:off x="1115616" y="5661248"/>
            <a:ext cx="1368425" cy="392113"/>
          </a:xfrm>
          <a:prstGeom prst="rect">
            <a:avLst/>
          </a:prstGeom>
          <a:noFill/>
          <a:ln>
            <a:noFill/>
          </a:ln>
        </p:spPr>
      </p:pic>
      <p:pic>
        <p:nvPicPr>
          <p:cNvPr descr="logo-Altom.gif" id="106" name="Google Shape;106;p2"/>
          <p:cNvPicPr preferRelativeResize="0"/>
          <p:nvPr/>
        </p:nvPicPr>
        <p:blipFill rotWithShape="1">
          <a:blip r:embed="rId6">
            <a:alphaModFix/>
          </a:blip>
          <a:srcRect b="0" l="0" r="0" t="0"/>
          <a:stretch/>
        </p:blipFill>
        <p:spPr>
          <a:xfrm>
            <a:off x="1547664" y="2780928"/>
            <a:ext cx="524361" cy="738386"/>
          </a:xfrm>
          <a:prstGeom prst="rect">
            <a:avLst/>
          </a:prstGeom>
          <a:noFill/>
          <a:ln>
            <a:noFill/>
          </a:ln>
        </p:spPr>
      </p:pic>
      <p:pic>
        <p:nvPicPr>
          <p:cNvPr descr="http://confluence.agilefinland.com/download/attachments/131074/global.logo?version=5&amp;modificationDate=1295549319000" id="107" name="Google Shape;107;p2"/>
          <p:cNvPicPr preferRelativeResize="0"/>
          <p:nvPr/>
        </p:nvPicPr>
        <p:blipFill rotWithShape="1">
          <a:blip r:embed="rId7">
            <a:alphaModFix/>
          </a:blip>
          <a:srcRect b="0" l="0" r="0" t="0"/>
          <a:stretch/>
        </p:blipFill>
        <p:spPr>
          <a:xfrm>
            <a:off x="251520" y="4725144"/>
            <a:ext cx="1143000" cy="857251"/>
          </a:xfrm>
          <a:prstGeom prst="rect">
            <a:avLst/>
          </a:prstGeom>
          <a:noFill/>
          <a:ln>
            <a:noFill/>
          </a:ln>
        </p:spPr>
      </p:pic>
      <p:pic>
        <p:nvPicPr>
          <p:cNvPr id="108" name="Google Shape;108;p2"/>
          <p:cNvPicPr preferRelativeResize="0"/>
          <p:nvPr/>
        </p:nvPicPr>
        <p:blipFill rotWithShape="1">
          <a:blip r:embed="rId8">
            <a:alphaModFix/>
          </a:blip>
          <a:srcRect b="0" l="0" r="0" t="0"/>
          <a:stretch/>
        </p:blipFill>
        <p:spPr>
          <a:xfrm>
            <a:off x="0" y="3573016"/>
            <a:ext cx="2466975" cy="1190625"/>
          </a:xfrm>
          <a:prstGeom prst="rect">
            <a:avLst/>
          </a:prstGeom>
          <a:noFill/>
          <a:ln>
            <a:noFill/>
          </a:ln>
        </p:spPr>
      </p:pic>
      <p:sp>
        <p:nvSpPr>
          <p:cNvPr id="109" name="Google Shape;109;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pic>
        <p:nvPicPr>
          <p:cNvPr descr="maaret032015.jpg" id="110" name="Google Shape;110;p2"/>
          <p:cNvPicPr preferRelativeResize="0"/>
          <p:nvPr/>
        </p:nvPicPr>
        <p:blipFill rotWithShape="1">
          <a:blip r:embed="rId9">
            <a:alphaModFix/>
          </a:blip>
          <a:srcRect b="0" l="0" r="0" t="0"/>
          <a:stretch/>
        </p:blipFill>
        <p:spPr>
          <a:xfrm>
            <a:off x="323528" y="332656"/>
            <a:ext cx="1268760" cy="12687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Materiaalista</a:t>
            </a:r>
            <a:endParaRPr/>
          </a:p>
        </p:txBody>
      </p:sp>
      <p:sp>
        <p:nvSpPr>
          <p:cNvPr id="117" name="Google Shape;117;p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fi-FI" sz="2000"/>
              <a:t>Lisensoitu Creative Commons Tekijä mainittava lisenssillä</a:t>
            </a:r>
            <a:endParaRPr/>
          </a:p>
          <a:p>
            <a:pPr indent="-285750" lvl="1" marL="742950" rtl="0" algn="l">
              <a:spcBef>
                <a:spcPts val="360"/>
              </a:spcBef>
              <a:spcAft>
                <a:spcPts val="0"/>
              </a:spcAft>
              <a:buClr>
                <a:schemeClr val="dk1"/>
              </a:buClr>
              <a:buSzPts val="1800"/>
              <a:buChar char="–"/>
            </a:pPr>
            <a:r>
              <a:rPr lang="fi-FI" sz="1800"/>
              <a:t>Kokonaisuutta tai osia saa uudelleenkäyttää ja muokata käyttöönsä</a:t>
            </a:r>
            <a:endParaRPr sz="1800"/>
          </a:p>
          <a:p>
            <a:pPr indent="-285750" lvl="1" marL="742950" rtl="0" algn="l">
              <a:spcBef>
                <a:spcPts val="360"/>
              </a:spcBef>
              <a:spcAft>
                <a:spcPts val="0"/>
              </a:spcAft>
              <a:buClr>
                <a:schemeClr val="dk1"/>
              </a:buClr>
              <a:buSzPts val="1800"/>
              <a:buChar char="–"/>
            </a:pPr>
            <a:r>
              <a:rPr lang="fi-FI" sz="1800"/>
              <a:t>Mainittava ”perustuu Maaretin materiaaleihin”.</a:t>
            </a:r>
            <a:endParaRPr/>
          </a:p>
          <a:p>
            <a:pPr indent="-285750" lvl="1" marL="742950" rtl="0" algn="l">
              <a:spcBef>
                <a:spcPts val="360"/>
              </a:spcBef>
              <a:spcAft>
                <a:spcPts val="0"/>
              </a:spcAft>
              <a:buClr>
                <a:schemeClr val="dk1"/>
              </a:buClr>
              <a:buSzPts val="1800"/>
              <a:buChar char="–"/>
            </a:pPr>
            <a:r>
              <a:rPr lang="fi-FI" sz="1800"/>
              <a:t>Myös kaupallinen käyttö sallittu</a:t>
            </a:r>
            <a:endParaRPr sz="1800"/>
          </a:p>
        </p:txBody>
      </p:sp>
      <p:sp>
        <p:nvSpPr>
          <p:cNvPr id="118" name="Google Shape;118;p3"/>
          <p:cNvSpPr txBox="1"/>
          <p:nvPr>
            <p:ph idx="2" type="body"/>
          </p:nvPr>
        </p:nvSpPr>
        <p:spPr>
          <a:xfrm>
            <a:off x="5029200" y="1524000"/>
            <a:ext cx="3771900" cy="4243406"/>
          </a:xfrm>
          <a:prstGeom prst="rect">
            <a:avLst/>
          </a:prstGeom>
          <a:gradFill>
            <a:gsLst>
              <a:gs pos="0">
                <a:srgbClr val="FF9D97"/>
              </a:gs>
              <a:gs pos="35000">
                <a:srgbClr val="FDBBB8"/>
              </a:gs>
              <a:gs pos="100000">
                <a:srgbClr val="FFE3E3"/>
              </a:gs>
            </a:gsLst>
            <a:lin ang="16200000" scaled="0"/>
          </a:gradFill>
          <a:ln cap="flat" cmpd="sng" w="9525">
            <a:solidFill>
              <a:srgbClr val="B1271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1800"/>
              <a:buFont typeface="Gill Sans"/>
              <a:buNone/>
            </a:pPr>
            <a:r>
              <a:rPr b="1" lang="fi-FI" sz="1800">
                <a:solidFill>
                  <a:schemeClr val="dk1"/>
                </a:solidFill>
                <a:latin typeface="Gill Sans"/>
                <a:ea typeface="Gill Sans"/>
                <a:cs typeface="Gill Sans"/>
                <a:sym typeface="Gill Sans"/>
              </a:rPr>
              <a:t>VISIO JA TAVOITTEET</a:t>
            </a:r>
            <a:endParaRPr/>
          </a:p>
          <a:p>
            <a:pPr indent="-342900" lvl="0" marL="342900" rtl="0" algn="l">
              <a:spcBef>
                <a:spcPts val="360"/>
              </a:spcBef>
              <a:spcAft>
                <a:spcPts val="0"/>
              </a:spcAft>
              <a:buClr>
                <a:schemeClr val="dk1"/>
              </a:buClr>
              <a:buSzPts val="1800"/>
              <a:buChar char="•"/>
            </a:pPr>
            <a:r>
              <a:rPr lang="fi-FI" sz="1800">
                <a:solidFill>
                  <a:schemeClr val="dk1"/>
                </a:solidFill>
                <a:latin typeface="Gill Sans"/>
                <a:ea typeface="Gill Sans"/>
                <a:cs typeface="Gill Sans"/>
                <a:sym typeface="Gill Sans"/>
              </a:rPr>
              <a:t>Kehittämisresurssien hukkaan heittämisen välttäminen</a:t>
            </a:r>
            <a:endParaRPr/>
          </a:p>
          <a:p>
            <a:pPr indent="-285750" lvl="1" marL="742950" rtl="0" algn="l">
              <a:spcBef>
                <a:spcPts val="320"/>
              </a:spcBef>
              <a:spcAft>
                <a:spcPts val="0"/>
              </a:spcAft>
              <a:buClr>
                <a:schemeClr val="dk1"/>
              </a:buClr>
              <a:buSzPts val="1600"/>
              <a:buChar char="–"/>
            </a:pPr>
            <a:r>
              <a:rPr lang="fi-FI" sz="1600">
                <a:solidFill>
                  <a:schemeClr val="dk1"/>
                </a:solidFill>
                <a:latin typeface="Gill Sans"/>
                <a:ea typeface="Gill Sans"/>
                <a:cs typeface="Gill Sans"/>
                <a:sym typeface="Gill Sans"/>
              </a:rPr>
              <a:t>Tekijänoikeuksien nimissä tuhlataan merkittävästi aikaa saman perustiedon uudelleenpaketoinnissa</a:t>
            </a:r>
            <a:endParaRPr/>
          </a:p>
          <a:p>
            <a:pPr indent="-342900" lvl="0" marL="342900" rtl="0" algn="l">
              <a:spcBef>
                <a:spcPts val="360"/>
              </a:spcBef>
              <a:spcAft>
                <a:spcPts val="0"/>
              </a:spcAft>
              <a:buClr>
                <a:schemeClr val="dk1"/>
              </a:buClr>
              <a:buSzPts val="1800"/>
              <a:buChar char="•"/>
            </a:pPr>
            <a:r>
              <a:rPr lang="fi-FI" sz="1800">
                <a:solidFill>
                  <a:schemeClr val="dk1"/>
                </a:solidFill>
                <a:latin typeface="Gill Sans"/>
                <a:ea typeface="Gill Sans"/>
                <a:cs typeface="Gill Sans"/>
                <a:sym typeface="Gill Sans"/>
              </a:rPr>
              <a:t>Materiaalin todellinen arvo on esittäjissä</a:t>
            </a:r>
            <a:endParaRPr/>
          </a:p>
          <a:p>
            <a:pPr indent="-285750" lvl="1" marL="742950" rtl="0" algn="l">
              <a:spcBef>
                <a:spcPts val="320"/>
              </a:spcBef>
              <a:spcAft>
                <a:spcPts val="0"/>
              </a:spcAft>
              <a:buClr>
                <a:schemeClr val="dk1"/>
              </a:buClr>
              <a:buSzPts val="1600"/>
              <a:buChar char="–"/>
            </a:pPr>
            <a:r>
              <a:rPr lang="fi-FI" sz="1600">
                <a:solidFill>
                  <a:schemeClr val="dk1"/>
                </a:solidFill>
                <a:latin typeface="Gill Sans"/>
                <a:ea typeface="Gill Sans"/>
                <a:cs typeface="Gill Sans"/>
                <a:sym typeface="Gill Sans"/>
              </a:rPr>
              <a:t>Käytännön omakohtaiset esimerkit ovat tärkeitä oppimiselle</a:t>
            </a:r>
            <a:endParaRPr/>
          </a:p>
          <a:p>
            <a:pPr indent="-342900" lvl="0" marL="342900" rtl="0" algn="l">
              <a:spcBef>
                <a:spcPts val="360"/>
              </a:spcBef>
              <a:spcAft>
                <a:spcPts val="0"/>
              </a:spcAft>
              <a:buClr>
                <a:schemeClr val="dk1"/>
              </a:buClr>
              <a:buSzPts val="1800"/>
              <a:buChar char="•"/>
            </a:pPr>
            <a:r>
              <a:rPr lang="fi-FI" sz="1800">
                <a:solidFill>
                  <a:schemeClr val="dk1"/>
                </a:solidFill>
                <a:latin typeface="Gill Sans"/>
                <a:ea typeface="Gill Sans"/>
                <a:cs typeface="Gill Sans"/>
                <a:sym typeface="Gill Sans"/>
              </a:rPr>
              <a:t>Keskittyminen edistykseen</a:t>
            </a:r>
            <a:endParaRPr/>
          </a:p>
          <a:p>
            <a:pPr indent="-285750" lvl="1" marL="742950" rtl="0" algn="l">
              <a:spcBef>
                <a:spcPts val="320"/>
              </a:spcBef>
              <a:spcAft>
                <a:spcPts val="0"/>
              </a:spcAft>
              <a:buClr>
                <a:schemeClr val="dk1"/>
              </a:buClr>
              <a:buSzPts val="1600"/>
              <a:buChar char="–"/>
            </a:pPr>
            <a:r>
              <a:rPr lang="fi-FI" sz="1600">
                <a:solidFill>
                  <a:schemeClr val="dk1"/>
                </a:solidFill>
                <a:latin typeface="Gill Sans"/>
                <a:ea typeface="Gill Sans"/>
                <a:cs typeface="Gill Sans"/>
                <a:sym typeface="Gill Sans"/>
              </a:rPr>
              <a:t>Uusi sisältö uuden muodon asemesta edistää testausalaa</a:t>
            </a:r>
            <a:endParaRPr sz="1600"/>
          </a:p>
        </p:txBody>
      </p:sp>
      <p:sp>
        <p:nvSpPr>
          <p:cNvPr id="119" name="Google Shape;119;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grpSp>
        <p:nvGrpSpPr>
          <p:cNvPr id="120" name="Google Shape;120;p3"/>
          <p:cNvGrpSpPr/>
          <p:nvPr/>
        </p:nvGrpSpPr>
        <p:grpSpPr>
          <a:xfrm>
            <a:off x="179512" y="5877272"/>
            <a:ext cx="5648627" cy="798119"/>
            <a:chOff x="1979712" y="4724421"/>
            <a:chExt cx="5648627" cy="798119"/>
          </a:xfrm>
        </p:grpSpPr>
        <p:grpSp>
          <p:nvGrpSpPr>
            <p:cNvPr id="121" name="Google Shape;121;p3"/>
            <p:cNvGrpSpPr/>
            <p:nvPr/>
          </p:nvGrpSpPr>
          <p:grpSpPr>
            <a:xfrm>
              <a:off x="1979712" y="4724421"/>
              <a:ext cx="5648627" cy="798119"/>
              <a:chOff x="838200" y="5486400"/>
              <a:chExt cx="4138247" cy="690373"/>
            </a:xfrm>
          </p:grpSpPr>
          <p:sp>
            <p:nvSpPr>
              <p:cNvPr id="122" name="Google Shape;122;p3"/>
              <p:cNvSpPr/>
              <p:nvPr/>
            </p:nvSpPr>
            <p:spPr>
              <a:xfrm>
                <a:off x="838200" y="5486400"/>
                <a:ext cx="4114800" cy="685800"/>
              </a:xfrm>
              <a:prstGeom prst="rect">
                <a:avLst/>
              </a:prstGeom>
              <a:gradFill>
                <a:gsLst>
                  <a:gs pos="0">
                    <a:srgbClr val="CBDAFB"/>
                  </a:gs>
                  <a:gs pos="35000">
                    <a:srgbClr val="DAE3FB"/>
                  </a:gs>
                  <a:gs pos="100000">
                    <a:srgbClr val="F0F3FE"/>
                  </a:gs>
                </a:gsLst>
                <a:lin ang="16200000" scaled="0"/>
              </a:gradFill>
              <a:ln cap="flat" cmpd="sng" w="9525">
                <a:solidFill>
                  <a:srgbClr val="A8B4D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dk1"/>
                  </a:solidFill>
                  <a:latin typeface="Gill Sans"/>
                  <a:ea typeface="Gill Sans"/>
                  <a:cs typeface="Gill Sans"/>
                  <a:sym typeface="Gill Sans"/>
                </a:endParaRPr>
              </a:p>
            </p:txBody>
          </p:sp>
          <p:sp>
            <p:nvSpPr>
              <p:cNvPr id="123" name="Google Shape;123;p3"/>
              <p:cNvSpPr txBox="1"/>
              <p:nvPr/>
            </p:nvSpPr>
            <p:spPr>
              <a:xfrm>
                <a:off x="2157047" y="5511207"/>
                <a:ext cx="2819400" cy="6655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100">
                    <a:solidFill>
                      <a:schemeClr val="dk1"/>
                    </a:solidFill>
                    <a:latin typeface="Gill Sans"/>
                    <a:ea typeface="Gill Sans"/>
                    <a:cs typeface="Gill Sans"/>
                    <a:sym typeface="Gill Sans"/>
                  </a:rPr>
                  <a:t>Maaret Pyhäjärvi</a:t>
                </a:r>
                <a:endParaRPr/>
              </a:p>
              <a:p>
                <a:pPr indent="0" lvl="0" marL="0" marR="0" rtl="0" algn="l">
                  <a:spcBef>
                    <a:spcPts val="0"/>
                  </a:spcBef>
                  <a:spcAft>
                    <a:spcPts val="0"/>
                  </a:spcAft>
                  <a:buNone/>
                </a:pPr>
                <a:r>
                  <a:rPr lang="fi-FI" sz="1100">
                    <a:solidFill>
                      <a:schemeClr val="dk1"/>
                    </a:solidFill>
                    <a:latin typeface="Gill Sans"/>
                    <a:ea typeface="Gill Sans"/>
                    <a:cs typeface="Gill Sans"/>
                    <a:sym typeface="Gill Sans"/>
                  </a:rPr>
                  <a:t>Nimeä |  Attribution (Finland)</a:t>
                </a:r>
                <a:endParaRPr/>
              </a:p>
              <a:p>
                <a:pPr indent="0" lvl="1" marL="0" marR="0" rtl="0" algn="l">
                  <a:spcBef>
                    <a:spcPts val="0"/>
                  </a:spcBef>
                  <a:spcAft>
                    <a:spcPts val="0"/>
                  </a:spcAft>
                  <a:buNone/>
                </a:pPr>
                <a:r>
                  <a:rPr b="0" i="0" lang="fi-FI" sz="1100" u="sng" cap="none" strike="noStrike">
                    <a:solidFill>
                      <a:schemeClr val="dk1"/>
                    </a:solidFill>
                    <a:latin typeface="Gill Sans"/>
                    <a:ea typeface="Gill Sans"/>
                    <a:cs typeface="Gill Sans"/>
                    <a:sym typeface="Gill Sans"/>
                    <a:hlinkClick r:id="rId3">
                      <a:extLst>
                        <a:ext uri="{A12FA001-AC4F-418D-AE19-62706E023703}">
                          <ahyp:hlinkClr val="tx"/>
                        </a:ext>
                      </a:extLst>
                    </a:hlinkClick>
                  </a:rPr>
                  <a:t>http://creativecommons.org/licenses/by/1.0/fi/</a:t>
                </a:r>
                <a:endParaRPr b="0" i="0" sz="1100" u="none" cap="none" strike="noStrike">
                  <a:solidFill>
                    <a:schemeClr val="dk1"/>
                  </a:solidFill>
                  <a:latin typeface="Gill Sans"/>
                  <a:ea typeface="Gill Sans"/>
                  <a:cs typeface="Gill Sans"/>
                  <a:sym typeface="Gill Sans"/>
                </a:endParaRPr>
              </a:p>
              <a:p>
                <a:pPr indent="0" lvl="1" marL="0" marR="0" rtl="0" algn="l">
                  <a:spcBef>
                    <a:spcPts val="0"/>
                  </a:spcBef>
                  <a:spcAft>
                    <a:spcPts val="0"/>
                  </a:spcAft>
                  <a:buNone/>
                </a:pPr>
                <a:r>
                  <a:rPr b="0" i="0" lang="fi-FI" sz="1100" u="sng" cap="none" strike="noStrike">
                    <a:solidFill>
                      <a:schemeClr val="dk1"/>
                    </a:solidFill>
                    <a:latin typeface="Gill Sans"/>
                    <a:ea typeface="Gill Sans"/>
                    <a:cs typeface="Gill Sans"/>
                    <a:sym typeface="Gill Sans"/>
                    <a:hlinkClick r:id="rId4">
                      <a:extLst>
                        <a:ext uri="{A12FA001-AC4F-418D-AE19-62706E023703}">
                          <ahyp:hlinkClr val="tx"/>
                        </a:ext>
                      </a:extLst>
                    </a:hlinkClick>
                  </a:rPr>
                  <a:t>http://creativecommons.org/licenses/by/1.0/fi/deed.en</a:t>
                </a:r>
                <a:endParaRPr b="0" i="0" sz="1100" u="none" cap="none" strike="noStrike">
                  <a:solidFill>
                    <a:schemeClr val="dk1"/>
                  </a:solidFill>
                  <a:latin typeface="Gill Sans"/>
                  <a:ea typeface="Gill Sans"/>
                  <a:cs typeface="Gill Sans"/>
                  <a:sym typeface="Gill Sans"/>
                </a:endParaRPr>
              </a:p>
            </p:txBody>
          </p:sp>
        </p:grpSp>
        <p:pic>
          <p:nvPicPr>
            <p:cNvPr descr="88x31.png" id="124" name="Google Shape;124;p3"/>
            <p:cNvPicPr preferRelativeResize="0"/>
            <p:nvPr/>
          </p:nvPicPr>
          <p:blipFill rotWithShape="1">
            <a:blip r:embed="rId5">
              <a:alphaModFix/>
            </a:blip>
            <a:srcRect b="0" l="0" r="0" t="0"/>
            <a:stretch/>
          </p:blipFill>
          <p:spPr>
            <a:xfrm>
              <a:off x="2067486" y="4845268"/>
              <a:ext cx="1613589" cy="568424"/>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Esittäytymiset</a:t>
            </a:r>
            <a:endParaRPr/>
          </a:p>
        </p:txBody>
      </p:sp>
      <p:sp>
        <p:nvSpPr>
          <p:cNvPr id="131" name="Google Shape;131;p4"/>
          <p:cNvSpPr txBox="1"/>
          <p:nvPr>
            <p:ph idx="1" type="body"/>
          </p:nvPr>
        </p:nvSpPr>
        <p:spPr>
          <a:xfrm>
            <a:off x="457200" y="1600200"/>
            <a:ext cx="3754760" cy="4525963"/>
          </a:xfrm>
          <a:prstGeom prst="rect">
            <a:avLst/>
          </a:prstGeom>
          <a:noFill/>
          <a:ln>
            <a:noFill/>
          </a:ln>
        </p:spPr>
        <p:txBody>
          <a:bodyPr anchorCtr="0" anchor="t" bIns="45700" lIns="91425" spcFirstLastPara="1" rIns="91425" wrap="square" tIns="45700">
            <a:normAutofit/>
          </a:bodyPr>
          <a:lstStyle/>
          <a:p>
            <a:pPr indent="-285750" lvl="1" marL="742950" rtl="0" algn="l">
              <a:spcBef>
                <a:spcPts val="0"/>
              </a:spcBef>
              <a:spcAft>
                <a:spcPts val="0"/>
              </a:spcAft>
              <a:buClr>
                <a:schemeClr val="dk1"/>
              </a:buClr>
              <a:buSzPts val="2000"/>
              <a:buChar char="–"/>
            </a:pPr>
            <a:r>
              <a:rPr lang="fi-FI" sz="2000"/>
              <a:t>Organisaatio</a:t>
            </a:r>
            <a:endParaRPr sz="2000"/>
          </a:p>
          <a:p>
            <a:pPr indent="-285750" lvl="1" marL="742950" rtl="0" algn="l">
              <a:spcBef>
                <a:spcPts val="400"/>
              </a:spcBef>
              <a:spcAft>
                <a:spcPts val="0"/>
              </a:spcAft>
              <a:buClr>
                <a:schemeClr val="dk1"/>
              </a:buClr>
              <a:buSzPts val="2000"/>
              <a:buChar char="–"/>
            </a:pPr>
            <a:r>
              <a:rPr lang="fi-FI" sz="2000"/>
              <a:t>Kokemus testauksesta ja </a:t>
            </a:r>
            <a:br>
              <a:rPr lang="fi-FI" sz="2000"/>
            </a:br>
            <a:r>
              <a:rPr lang="fi-FI" sz="2000"/>
              <a:t>testitapausten suunnittelusta</a:t>
            </a:r>
            <a:endParaRPr sz="2000"/>
          </a:p>
          <a:p>
            <a:pPr indent="-285750" lvl="1" marL="742950" rtl="0" algn="l">
              <a:spcBef>
                <a:spcPts val="400"/>
              </a:spcBef>
              <a:spcAft>
                <a:spcPts val="0"/>
              </a:spcAft>
              <a:buClr>
                <a:schemeClr val="dk1"/>
              </a:buClr>
              <a:buSzPts val="2000"/>
              <a:buChar char="–"/>
            </a:pPr>
            <a:r>
              <a:rPr lang="fi-FI" sz="2000"/>
              <a:t>Odotukset kurssille</a:t>
            </a:r>
            <a:endParaRPr sz="2000"/>
          </a:p>
          <a:p>
            <a:pPr indent="-171450" lvl="1" marL="742950" rtl="0" algn="l">
              <a:spcBef>
                <a:spcPts val="360"/>
              </a:spcBef>
              <a:spcAft>
                <a:spcPts val="0"/>
              </a:spcAft>
              <a:buClr>
                <a:schemeClr val="dk1"/>
              </a:buClr>
              <a:buSzPts val="1800"/>
              <a:buNone/>
            </a:pPr>
            <a:r>
              <a:t/>
            </a:r>
            <a:endParaRPr sz="1800"/>
          </a:p>
        </p:txBody>
      </p:sp>
      <p:pic>
        <p:nvPicPr>
          <p:cNvPr id="132" name="Google Shape;132;p4"/>
          <p:cNvPicPr preferRelativeResize="0"/>
          <p:nvPr/>
        </p:nvPicPr>
        <p:blipFill rotWithShape="1">
          <a:blip r:embed="rId3">
            <a:alphaModFix/>
          </a:blip>
          <a:srcRect b="0" l="0" r="0" t="0"/>
          <a:stretch/>
        </p:blipFill>
        <p:spPr>
          <a:xfrm>
            <a:off x="4292600" y="1320800"/>
            <a:ext cx="4775200" cy="4775200"/>
          </a:xfrm>
          <a:prstGeom prst="rect">
            <a:avLst/>
          </a:prstGeom>
          <a:noFill/>
          <a:ln>
            <a:noFill/>
          </a:ln>
        </p:spPr>
      </p:pic>
      <p:sp>
        <p:nvSpPr>
          <p:cNvPr id="133" name="Google Shape;133;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Mitä odottaa – käytännön järjestelyt</a:t>
            </a:r>
            <a:endParaRPr/>
          </a:p>
        </p:txBody>
      </p:sp>
      <p:sp>
        <p:nvSpPr>
          <p:cNvPr id="140" name="Google Shape;140;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fi-FI"/>
              <a:t>Aikataulu: 9-16 kahtena päivänä</a:t>
            </a:r>
            <a:endParaRPr/>
          </a:p>
          <a:p>
            <a:pPr indent="-342900" lvl="0" marL="342900" rtl="0" algn="l">
              <a:spcBef>
                <a:spcPts val="640"/>
              </a:spcBef>
              <a:spcAft>
                <a:spcPts val="0"/>
              </a:spcAft>
              <a:buClr>
                <a:schemeClr val="dk1"/>
              </a:buClr>
              <a:buSzPts val="3200"/>
              <a:buChar char="•"/>
            </a:pPr>
            <a:r>
              <a:rPr lang="fi-FI"/>
              <a:t>Paljon keskustelua ja harjoituksia</a:t>
            </a:r>
            <a:endParaRPr/>
          </a:p>
          <a:p>
            <a:pPr indent="-342900" lvl="0" marL="342900" rtl="0" algn="l">
              <a:spcBef>
                <a:spcPts val="640"/>
              </a:spcBef>
              <a:spcAft>
                <a:spcPts val="0"/>
              </a:spcAft>
              <a:buClr>
                <a:schemeClr val="dk1"/>
              </a:buClr>
              <a:buSzPts val="3200"/>
              <a:buChar char="•"/>
            </a:pPr>
            <a:r>
              <a:rPr lang="fi-FI"/>
              <a:t>Kysy tai kommentoi koska tahansa!</a:t>
            </a:r>
            <a:endParaRPr/>
          </a:p>
          <a:p>
            <a:pPr indent="-342900" lvl="0" marL="342900" rtl="0" algn="l">
              <a:spcBef>
                <a:spcPts val="640"/>
              </a:spcBef>
              <a:spcAft>
                <a:spcPts val="0"/>
              </a:spcAft>
              <a:buClr>
                <a:schemeClr val="dk1"/>
              </a:buClr>
              <a:buSzPts val="3200"/>
              <a:buChar char="•"/>
            </a:pPr>
            <a:r>
              <a:rPr lang="fi-FI"/>
              <a:t>Valmistaudu tekemään töitä ryhmissä ja oppimaan muilta osallistujilta</a:t>
            </a:r>
            <a:endParaRPr/>
          </a:p>
          <a:p>
            <a:pPr indent="-342900" lvl="0" marL="342900" rtl="0" algn="l">
              <a:spcBef>
                <a:spcPts val="640"/>
              </a:spcBef>
              <a:spcAft>
                <a:spcPts val="0"/>
              </a:spcAft>
              <a:buClr>
                <a:schemeClr val="dk1"/>
              </a:buClr>
              <a:buSzPts val="3200"/>
              <a:buChar char="•"/>
            </a:pPr>
            <a:r>
              <a:rPr lang="fi-FI"/>
              <a:t>Taukoilua: raitista ilmaa, kahvia, </a:t>
            </a:r>
            <a:br>
              <a:rPr lang="fi-FI"/>
            </a:br>
            <a:r>
              <a:rPr lang="fi-FI"/>
              <a:t>lounasta</a:t>
            </a:r>
            <a:endParaRPr/>
          </a:p>
          <a:p>
            <a:pPr indent="-139700" lvl="0" marL="342900" rtl="0" algn="l">
              <a:spcBef>
                <a:spcPts val="640"/>
              </a:spcBef>
              <a:spcAft>
                <a:spcPts val="0"/>
              </a:spcAft>
              <a:buClr>
                <a:schemeClr val="dk1"/>
              </a:buClr>
              <a:buSzPts val="3200"/>
              <a:buNone/>
            </a:pPr>
            <a:r>
              <a:t/>
            </a:r>
            <a:endParaRPr/>
          </a:p>
        </p:txBody>
      </p:sp>
      <p:pic>
        <p:nvPicPr>
          <p:cNvPr id="141" name="Google Shape;141;p5"/>
          <p:cNvPicPr preferRelativeResize="0"/>
          <p:nvPr/>
        </p:nvPicPr>
        <p:blipFill rotWithShape="1">
          <a:blip r:embed="rId3">
            <a:alphaModFix/>
          </a:blip>
          <a:srcRect b="0" l="0" r="0" t="0"/>
          <a:stretch/>
        </p:blipFill>
        <p:spPr>
          <a:xfrm>
            <a:off x="6705600" y="4191000"/>
            <a:ext cx="1833563" cy="1874837"/>
          </a:xfrm>
          <a:prstGeom prst="rect">
            <a:avLst/>
          </a:prstGeom>
          <a:noFill/>
          <a:ln>
            <a:noFill/>
          </a:ln>
        </p:spPr>
      </p:pic>
      <p:sp>
        <p:nvSpPr>
          <p:cNvPr id="142" name="Google Shape;14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grpSp>
        <p:nvGrpSpPr>
          <p:cNvPr id="147" name="Google Shape;147;p6"/>
          <p:cNvGrpSpPr/>
          <p:nvPr/>
        </p:nvGrpSpPr>
        <p:grpSpPr>
          <a:xfrm>
            <a:off x="457200" y="647348"/>
            <a:ext cx="4038600" cy="4608360"/>
            <a:chOff x="0" y="477547"/>
            <a:chExt cx="4038600" cy="4608360"/>
          </a:xfrm>
        </p:grpSpPr>
        <p:sp>
          <p:nvSpPr>
            <p:cNvPr id="148" name="Google Shape;148;p6"/>
            <p:cNvSpPr/>
            <p:nvPr/>
          </p:nvSpPr>
          <p:spPr>
            <a:xfrm>
              <a:off x="0" y="477547"/>
              <a:ext cx="4038600" cy="287819"/>
            </a:xfrm>
            <a:prstGeom prst="roundRect">
              <a:avLst>
                <a:gd fmla="val 16667" name="adj"/>
              </a:avLst>
            </a:prstGeom>
            <a:solidFill>
              <a:srgbClr val="ACB9D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txBox="1"/>
            <p:nvPr/>
          </p:nvSpPr>
          <p:spPr>
            <a:xfrm>
              <a:off x="14050" y="491597"/>
              <a:ext cx="4010500"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 testitapaukset ja testaajana toimiminen</a:t>
              </a:r>
              <a:endParaRPr sz="1200">
                <a:solidFill>
                  <a:schemeClr val="lt1"/>
                </a:solidFill>
                <a:latin typeface="Gill Sans"/>
                <a:ea typeface="Gill Sans"/>
                <a:cs typeface="Gill Sans"/>
                <a:sym typeface="Gill Sans"/>
              </a:endParaRPr>
            </a:p>
          </p:txBody>
        </p:sp>
        <p:sp>
          <p:nvSpPr>
            <p:cNvPr id="150" name="Google Shape;150;p6"/>
            <p:cNvSpPr/>
            <p:nvPr/>
          </p:nvSpPr>
          <p:spPr>
            <a:xfrm>
              <a:off x="0" y="765367"/>
              <a:ext cx="4038600"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txBox="1"/>
            <p:nvPr/>
          </p:nvSpPr>
          <p:spPr>
            <a:xfrm>
              <a:off x="0" y="765367"/>
              <a:ext cx="4038600" cy="459540"/>
            </a:xfrm>
            <a:prstGeom prst="rect">
              <a:avLst/>
            </a:prstGeom>
            <a:noFill/>
            <a:ln>
              <a:noFill/>
            </a:ln>
          </p:spPr>
          <p:txBody>
            <a:bodyPr anchorCtr="0" anchor="t" bIns="15225" lIns="12822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Testaustyön luonne ja merkitys / testausmatematiikan perusteet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Määrittelyt testauksen pohjana / määrittelyn limupeli</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ajattelumallit / kuinka testaisin tekstikentän</a:t>
              </a:r>
              <a:endParaRPr b="0" i="0" sz="900" u="none" cap="none" strike="noStrike">
                <a:solidFill>
                  <a:schemeClr val="dk1"/>
                </a:solidFill>
                <a:latin typeface="Gill Sans"/>
                <a:ea typeface="Gill Sans"/>
                <a:cs typeface="Gill Sans"/>
                <a:sym typeface="Gill Sans"/>
              </a:endParaRPr>
            </a:p>
          </p:txBody>
        </p:sp>
        <p:sp>
          <p:nvSpPr>
            <p:cNvPr id="152" name="Google Shape;152;p6"/>
            <p:cNvSpPr/>
            <p:nvPr/>
          </p:nvSpPr>
          <p:spPr>
            <a:xfrm>
              <a:off x="0" y="1224907"/>
              <a:ext cx="4038600" cy="287819"/>
            </a:xfrm>
            <a:prstGeom prst="roundRect">
              <a:avLst>
                <a:gd fmla="val 16667" name="adj"/>
              </a:avLst>
            </a:prstGeom>
            <a:solidFill>
              <a:srgbClr val="9EACC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txBox="1"/>
            <p:nvPr/>
          </p:nvSpPr>
          <p:spPr>
            <a:xfrm>
              <a:off x="14050" y="1238957"/>
              <a:ext cx="4010500"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dokumentointi</a:t>
              </a:r>
              <a:endParaRPr sz="1200">
                <a:solidFill>
                  <a:schemeClr val="lt1"/>
                </a:solidFill>
                <a:latin typeface="Gill Sans"/>
                <a:ea typeface="Gill Sans"/>
                <a:cs typeface="Gill Sans"/>
                <a:sym typeface="Gill Sans"/>
              </a:endParaRPr>
            </a:p>
          </p:txBody>
        </p:sp>
        <p:sp>
          <p:nvSpPr>
            <p:cNvPr id="154" name="Google Shape;154;p6"/>
            <p:cNvSpPr/>
            <p:nvPr/>
          </p:nvSpPr>
          <p:spPr>
            <a:xfrm>
              <a:off x="0" y="1512727"/>
              <a:ext cx="4038600"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txBox="1"/>
            <p:nvPr/>
          </p:nvSpPr>
          <p:spPr>
            <a:xfrm>
              <a:off x="0" y="1512727"/>
              <a:ext cx="4038600" cy="459540"/>
            </a:xfrm>
            <a:prstGeom prst="rect">
              <a:avLst/>
            </a:prstGeom>
            <a:noFill/>
            <a:ln>
              <a:noFill/>
            </a:ln>
          </p:spPr>
          <p:txBody>
            <a:bodyPr anchorCtr="0" anchor="t" bIns="15225" lIns="12822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Oikea-aikainen dokumentointi – valmistaudu ajoissa, älä unohda uusia oppeja!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Miltä oikeat testitapaukset näyttävät?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taso FreeMind Etsi ja korvaa -toiminnolle</a:t>
              </a:r>
              <a:endParaRPr b="0" i="0" sz="900" u="none" cap="none" strike="noStrike">
                <a:solidFill>
                  <a:schemeClr val="dk1"/>
                </a:solidFill>
                <a:latin typeface="Gill Sans"/>
                <a:ea typeface="Gill Sans"/>
                <a:cs typeface="Gill Sans"/>
                <a:sym typeface="Gill Sans"/>
              </a:endParaRPr>
            </a:p>
          </p:txBody>
        </p:sp>
        <p:sp>
          <p:nvSpPr>
            <p:cNvPr id="156" name="Google Shape;156;p6"/>
            <p:cNvSpPr/>
            <p:nvPr/>
          </p:nvSpPr>
          <p:spPr>
            <a:xfrm>
              <a:off x="0" y="1972267"/>
              <a:ext cx="4038600" cy="287819"/>
            </a:xfrm>
            <a:prstGeom prst="roundRect">
              <a:avLst>
                <a:gd fmla="val 16667" name="adj"/>
              </a:avLst>
            </a:prstGeom>
            <a:solidFill>
              <a:srgbClr val="919EB8"/>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txBox="1"/>
            <p:nvPr/>
          </p:nvSpPr>
          <p:spPr>
            <a:xfrm>
              <a:off x="14050" y="1986317"/>
              <a:ext cx="4010500"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Regressiotestaus</a:t>
              </a:r>
              <a:endParaRPr sz="1200">
                <a:solidFill>
                  <a:schemeClr val="lt1"/>
                </a:solidFill>
                <a:latin typeface="Gill Sans"/>
                <a:ea typeface="Gill Sans"/>
                <a:cs typeface="Gill Sans"/>
                <a:sym typeface="Gill Sans"/>
              </a:endParaRPr>
            </a:p>
          </p:txBody>
        </p:sp>
        <p:sp>
          <p:nvSpPr>
            <p:cNvPr id="158" name="Google Shape;158;p6"/>
            <p:cNvSpPr/>
            <p:nvPr/>
          </p:nvSpPr>
          <p:spPr>
            <a:xfrm>
              <a:off x="0" y="2260087"/>
              <a:ext cx="4038600"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txBox="1"/>
            <p:nvPr/>
          </p:nvSpPr>
          <p:spPr>
            <a:xfrm>
              <a:off x="0" y="2260087"/>
              <a:ext cx="4038600" cy="459540"/>
            </a:xfrm>
            <a:prstGeom prst="rect">
              <a:avLst/>
            </a:prstGeom>
            <a:noFill/>
            <a:ln>
              <a:noFill/>
            </a:ln>
          </p:spPr>
          <p:txBody>
            <a:bodyPr anchorCtr="0" anchor="t" bIns="15225" lIns="12822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Testaaminen vs. korjaaminen</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Toimivia regressiotestausmalleja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regressiotestien valinta annetusta testitapausmäärittelystä</a:t>
              </a:r>
              <a:endParaRPr b="0" i="0" sz="900" u="none" cap="none" strike="noStrike">
                <a:solidFill>
                  <a:schemeClr val="dk1"/>
                </a:solidFill>
                <a:latin typeface="Gill Sans"/>
                <a:ea typeface="Gill Sans"/>
                <a:cs typeface="Gill Sans"/>
                <a:sym typeface="Gill Sans"/>
              </a:endParaRPr>
            </a:p>
          </p:txBody>
        </p:sp>
        <p:sp>
          <p:nvSpPr>
            <p:cNvPr id="160" name="Google Shape;160;p6"/>
            <p:cNvSpPr/>
            <p:nvPr/>
          </p:nvSpPr>
          <p:spPr>
            <a:xfrm>
              <a:off x="0" y="2719627"/>
              <a:ext cx="4038600" cy="287819"/>
            </a:xfrm>
            <a:prstGeom prst="roundRect">
              <a:avLst>
                <a:gd fmla="val 16667" name="adj"/>
              </a:avLst>
            </a:prstGeom>
            <a:solidFill>
              <a:srgbClr val="8691A9"/>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txBox="1"/>
            <p:nvPr/>
          </p:nvSpPr>
          <p:spPr>
            <a:xfrm>
              <a:off x="14050" y="2733677"/>
              <a:ext cx="4010500"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hallinnan välinetuki</a:t>
              </a:r>
              <a:endParaRPr sz="1200">
                <a:solidFill>
                  <a:schemeClr val="lt1"/>
                </a:solidFill>
                <a:latin typeface="Gill Sans"/>
                <a:ea typeface="Gill Sans"/>
                <a:cs typeface="Gill Sans"/>
                <a:sym typeface="Gill Sans"/>
              </a:endParaRPr>
            </a:p>
          </p:txBody>
        </p:sp>
        <p:sp>
          <p:nvSpPr>
            <p:cNvPr id="162" name="Google Shape;162;p6"/>
            <p:cNvSpPr/>
            <p:nvPr/>
          </p:nvSpPr>
          <p:spPr>
            <a:xfrm>
              <a:off x="0" y="3007447"/>
              <a:ext cx="4038600"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txBox="1"/>
            <p:nvPr/>
          </p:nvSpPr>
          <p:spPr>
            <a:xfrm>
              <a:off x="0" y="3007447"/>
              <a:ext cx="4038600" cy="459540"/>
            </a:xfrm>
            <a:prstGeom prst="rect">
              <a:avLst/>
            </a:prstGeom>
            <a:noFill/>
            <a:ln>
              <a:noFill/>
            </a:ln>
          </p:spPr>
          <p:txBody>
            <a:bodyPr anchorCtr="0" anchor="t" bIns="15225" lIns="12822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varastointi uudelleenkäyttöön ja suorituksen hallinta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Testauksen aikaiset muistiinpanot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Kaupalliset ja avoimen lähdekoodin vaihtoehdot</a:t>
              </a:r>
              <a:endParaRPr b="0" i="0" sz="900" u="none" cap="none" strike="noStrike">
                <a:solidFill>
                  <a:schemeClr val="dk1"/>
                </a:solidFill>
                <a:latin typeface="Gill Sans"/>
                <a:ea typeface="Gill Sans"/>
                <a:cs typeface="Gill Sans"/>
                <a:sym typeface="Gill Sans"/>
              </a:endParaRPr>
            </a:p>
          </p:txBody>
        </p:sp>
        <p:sp>
          <p:nvSpPr>
            <p:cNvPr id="164" name="Google Shape;164;p6"/>
            <p:cNvSpPr/>
            <p:nvPr/>
          </p:nvSpPr>
          <p:spPr>
            <a:xfrm>
              <a:off x="0" y="3466987"/>
              <a:ext cx="4038600" cy="287819"/>
            </a:xfrm>
            <a:prstGeom prst="roundRect">
              <a:avLst>
                <a:gd fmla="val 16667" name="adj"/>
              </a:avLst>
            </a:prstGeom>
            <a:solidFill>
              <a:srgbClr val="7D879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txBox="1"/>
            <p:nvPr/>
          </p:nvSpPr>
          <p:spPr>
            <a:xfrm>
              <a:off x="14050" y="3481037"/>
              <a:ext cx="4010500"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Testaustyömaan ymmärtämisestä testitapausten tehokäyttöön</a:t>
              </a:r>
              <a:endParaRPr sz="1200">
                <a:solidFill>
                  <a:schemeClr val="lt1"/>
                </a:solidFill>
                <a:latin typeface="Gill Sans"/>
                <a:ea typeface="Gill Sans"/>
                <a:cs typeface="Gill Sans"/>
                <a:sym typeface="Gill Sans"/>
              </a:endParaRPr>
            </a:p>
          </p:txBody>
        </p:sp>
        <p:sp>
          <p:nvSpPr>
            <p:cNvPr id="166" name="Google Shape;166;p6"/>
            <p:cNvSpPr/>
            <p:nvPr/>
          </p:nvSpPr>
          <p:spPr>
            <a:xfrm>
              <a:off x="0" y="3754807"/>
              <a:ext cx="4038600" cy="7327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txBox="1"/>
            <p:nvPr/>
          </p:nvSpPr>
          <p:spPr>
            <a:xfrm>
              <a:off x="0" y="3754807"/>
              <a:ext cx="4038600" cy="732780"/>
            </a:xfrm>
            <a:prstGeom prst="rect">
              <a:avLst/>
            </a:prstGeom>
            <a:noFill/>
            <a:ln>
              <a:noFill/>
            </a:ln>
          </p:spPr>
          <p:txBody>
            <a:bodyPr anchorCtr="0" anchor="t" bIns="15225" lIns="12822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Karkea osittaminen ennen yksityiskohtien suunnittelua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muuntelu testatessa: lisää / poista / toista / vaihda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tekemä testaus suhteessa muuhun testaukseen (yksikkötestit, tekninen testiautomaatio)</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priorisointi suoritusjärjestykseksi</a:t>
              </a:r>
              <a:endParaRPr b="0" i="0" sz="900" u="none" cap="none" strike="noStrike">
                <a:solidFill>
                  <a:schemeClr val="dk1"/>
                </a:solidFill>
                <a:latin typeface="Gill Sans"/>
                <a:ea typeface="Gill Sans"/>
                <a:cs typeface="Gill Sans"/>
                <a:sym typeface="Gill Sans"/>
              </a:endParaRPr>
            </a:p>
          </p:txBody>
        </p:sp>
        <p:sp>
          <p:nvSpPr>
            <p:cNvPr id="168" name="Google Shape;168;p6"/>
            <p:cNvSpPr/>
            <p:nvPr/>
          </p:nvSpPr>
          <p:spPr>
            <a:xfrm>
              <a:off x="0" y="4487587"/>
              <a:ext cx="4038600" cy="287819"/>
            </a:xfrm>
            <a:prstGeom prst="roundRect">
              <a:avLst>
                <a:gd fmla="val 16667" name="adj"/>
              </a:avLst>
            </a:prstGeom>
            <a:solidFill>
              <a:srgbClr val="757B8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txBox="1"/>
            <p:nvPr/>
          </p:nvSpPr>
          <p:spPr>
            <a:xfrm>
              <a:off x="14050" y="4501637"/>
              <a:ext cx="4010500"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Testitapaukset testaustyön jakamisessa useille testaajille</a:t>
              </a:r>
              <a:endParaRPr sz="1200">
                <a:solidFill>
                  <a:schemeClr val="lt1"/>
                </a:solidFill>
                <a:latin typeface="Gill Sans"/>
                <a:ea typeface="Gill Sans"/>
                <a:cs typeface="Gill Sans"/>
                <a:sym typeface="Gill Sans"/>
              </a:endParaRPr>
            </a:p>
          </p:txBody>
        </p:sp>
        <p:sp>
          <p:nvSpPr>
            <p:cNvPr id="170" name="Google Shape;170;p6"/>
            <p:cNvSpPr/>
            <p:nvPr/>
          </p:nvSpPr>
          <p:spPr>
            <a:xfrm>
              <a:off x="0" y="4775407"/>
              <a:ext cx="4038600" cy="31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txBox="1"/>
            <p:nvPr/>
          </p:nvSpPr>
          <p:spPr>
            <a:xfrm>
              <a:off x="0" y="4775407"/>
              <a:ext cx="4038600" cy="310500"/>
            </a:xfrm>
            <a:prstGeom prst="rect">
              <a:avLst/>
            </a:prstGeom>
            <a:noFill/>
            <a:ln>
              <a:noFill/>
            </a:ln>
          </p:spPr>
          <p:txBody>
            <a:bodyPr anchorCtr="0" anchor="t" bIns="15225" lIns="12822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1: Testaustyömaan hallinta vakuutussektorin hyväksymistestauksessa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2: Testaustyömaan hallinta ketterässä tuotekehitystiimissä</a:t>
              </a:r>
              <a:endParaRPr b="0" i="0" sz="900" u="none" cap="none" strike="noStrike">
                <a:solidFill>
                  <a:schemeClr val="dk1"/>
                </a:solidFill>
                <a:latin typeface="Gill Sans"/>
                <a:ea typeface="Gill Sans"/>
                <a:cs typeface="Gill Sans"/>
                <a:sym typeface="Gill Sans"/>
              </a:endParaRPr>
            </a:p>
          </p:txBody>
        </p:sp>
      </p:grpSp>
      <p:grpSp>
        <p:nvGrpSpPr>
          <p:cNvPr id="172" name="Google Shape;172;p6"/>
          <p:cNvGrpSpPr/>
          <p:nvPr/>
        </p:nvGrpSpPr>
        <p:grpSpPr>
          <a:xfrm>
            <a:off x="4648200" y="567997"/>
            <a:ext cx="4038600" cy="5552876"/>
            <a:chOff x="0" y="5289"/>
            <a:chExt cx="4038600" cy="5552876"/>
          </a:xfrm>
        </p:grpSpPr>
        <p:sp>
          <p:nvSpPr>
            <p:cNvPr id="173" name="Google Shape;173;p6"/>
            <p:cNvSpPr/>
            <p:nvPr/>
          </p:nvSpPr>
          <p:spPr>
            <a:xfrm>
              <a:off x="0" y="5289"/>
              <a:ext cx="4038600" cy="412153"/>
            </a:xfrm>
            <a:prstGeom prst="roundRect">
              <a:avLst>
                <a:gd fmla="val 16667" name="adj"/>
              </a:avLst>
            </a:prstGeom>
            <a:solidFill>
              <a:srgbClr val="ACB9D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txBox="1"/>
            <p:nvPr/>
          </p:nvSpPr>
          <p:spPr>
            <a:xfrm>
              <a:off x="20120" y="25409"/>
              <a:ext cx="3998360" cy="371913"/>
            </a:xfrm>
            <a:prstGeom prst="rect">
              <a:avLst/>
            </a:prstGeom>
            <a:noFill/>
            <a:ln>
              <a:noFill/>
            </a:ln>
          </p:spPr>
          <p:txBody>
            <a:bodyPr anchorCtr="0" anchor="ctr" bIns="41900" lIns="41900" spcFirstLastPara="1" rIns="41900" wrap="square" tIns="41900">
              <a:noAutofit/>
            </a:bodyPr>
            <a:lstStyle/>
            <a:p>
              <a:pPr indent="0" lvl="0" marL="0" marR="0" rtl="0" algn="l">
                <a:lnSpc>
                  <a:spcPct val="90000"/>
                </a:lnSpc>
                <a:spcBef>
                  <a:spcPts val="0"/>
                </a:spcBef>
                <a:spcAft>
                  <a:spcPts val="0"/>
                </a:spcAft>
                <a:buNone/>
              </a:pPr>
              <a:r>
                <a:rPr lang="fi-FI" sz="1050">
                  <a:solidFill>
                    <a:schemeClr val="lt1"/>
                  </a:solidFill>
                  <a:latin typeface="Gill Sans"/>
                  <a:ea typeface="Gill Sans"/>
                  <a:cs typeface="Gill Sans"/>
                  <a:sym typeface="Gill Sans"/>
                </a:rPr>
                <a:t>Työpaja: testauskohteena Boggle Flash</a:t>
              </a:r>
              <a:endParaRPr sz="1050">
                <a:solidFill>
                  <a:schemeClr val="lt1"/>
                </a:solidFill>
                <a:latin typeface="Gill Sans"/>
                <a:ea typeface="Gill Sans"/>
                <a:cs typeface="Gill Sans"/>
                <a:sym typeface="Gill Sans"/>
              </a:endParaRPr>
            </a:p>
          </p:txBody>
        </p:sp>
        <p:sp>
          <p:nvSpPr>
            <p:cNvPr id="175" name="Google Shape;175;p6"/>
            <p:cNvSpPr/>
            <p:nvPr/>
          </p:nvSpPr>
          <p:spPr>
            <a:xfrm>
              <a:off x="0" y="417442"/>
              <a:ext cx="4038600" cy="4487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txBox="1"/>
            <p:nvPr/>
          </p:nvSpPr>
          <p:spPr>
            <a:xfrm>
              <a:off x="0" y="417442"/>
              <a:ext cx="4038600" cy="448735"/>
            </a:xfrm>
            <a:prstGeom prst="rect">
              <a:avLst/>
            </a:prstGeom>
            <a:noFill/>
            <a:ln>
              <a:noFill/>
            </a:ln>
          </p:spPr>
          <p:txBody>
            <a:bodyPr anchorCtr="0" anchor="t" bIns="11425" lIns="128225" spcFirstLastPara="1" rIns="64000" wrap="square" tIns="114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Määrittelyn mukaisen toiminnan testaus: pistelasku</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Muistiinpanot testatessa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Testattavuuden merkitys</a:t>
              </a:r>
              <a:endParaRPr b="0" i="0" sz="900" u="none" cap="none" strike="noStrike">
                <a:solidFill>
                  <a:schemeClr val="dk1"/>
                </a:solidFill>
                <a:latin typeface="Gill Sans"/>
                <a:ea typeface="Gill Sans"/>
                <a:cs typeface="Gill Sans"/>
                <a:sym typeface="Gill Sans"/>
              </a:endParaRPr>
            </a:p>
          </p:txBody>
        </p:sp>
        <p:sp>
          <p:nvSpPr>
            <p:cNvPr id="177" name="Google Shape;177;p6"/>
            <p:cNvSpPr/>
            <p:nvPr/>
          </p:nvSpPr>
          <p:spPr>
            <a:xfrm>
              <a:off x="0" y="866178"/>
              <a:ext cx="4038600" cy="412153"/>
            </a:xfrm>
            <a:prstGeom prst="roundRect">
              <a:avLst>
                <a:gd fmla="val 16667" name="adj"/>
              </a:avLst>
            </a:prstGeom>
            <a:solidFill>
              <a:srgbClr val="9EACC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txBox="1"/>
            <p:nvPr/>
          </p:nvSpPr>
          <p:spPr>
            <a:xfrm>
              <a:off x="20120" y="886298"/>
              <a:ext cx="3998360" cy="371913"/>
            </a:xfrm>
            <a:prstGeom prst="rect">
              <a:avLst/>
            </a:prstGeom>
            <a:noFill/>
            <a:ln>
              <a:noFill/>
            </a:ln>
          </p:spPr>
          <p:txBody>
            <a:bodyPr anchorCtr="0" anchor="ctr" bIns="41900" lIns="41900" spcFirstLastPara="1" rIns="41900" wrap="square" tIns="41900">
              <a:noAutofit/>
            </a:bodyPr>
            <a:lstStyle/>
            <a:p>
              <a:pPr indent="0" lvl="0" marL="0" marR="0" rtl="0" algn="l">
                <a:lnSpc>
                  <a:spcPct val="90000"/>
                </a:lnSpc>
                <a:spcBef>
                  <a:spcPts val="0"/>
                </a:spcBef>
                <a:spcAft>
                  <a:spcPts val="0"/>
                </a:spcAft>
                <a:buNone/>
              </a:pPr>
              <a:r>
                <a:rPr lang="fi-FI" sz="1050">
                  <a:solidFill>
                    <a:schemeClr val="lt1"/>
                  </a:solidFill>
                  <a:latin typeface="Gill Sans"/>
                  <a:ea typeface="Gill Sans"/>
                  <a:cs typeface="Gill Sans"/>
                  <a:sym typeface="Gill Sans"/>
                </a:rPr>
                <a:t>Heuristinen testisuunnittelu: monipuolinen testauskohteen analysointi</a:t>
              </a:r>
              <a:endParaRPr sz="1050">
                <a:solidFill>
                  <a:schemeClr val="lt1"/>
                </a:solidFill>
                <a:latin typeface="Gill Sans"/>
                <a:ea typeface="Gill Sans"/>
                <a:cs typeface="Gill Sans"/>
                <a:sym typeface="Gill Sans"/>
              </a:endParaRPr>
            </a:p>
          </p:txBody>
        </p:sp>
        <p:sp>
          <p:nvSpPr>
            <p:cNvPr id="179" name="Google Shape;179;p6"/>
            <p:cNvSpPr/>
            <p:nvPr/>
          </p:nvSpPr>
          <p:spPr>
            <a:xfrm>
              <a:off x="0" y="1278331"/>
              <a:ext cx="4038600" cy="4487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txBox="1"/>
            <p:nvPr/>
          </p:nvSpPr>
          <p:spPr>
            <a:xfrm>
              <a:off x="0" y="1278331"/>
              <a:ext cx="4038600" cy="448735"/>
            </a:xfrm>
            <a:prstGeom prst="rect">
              <a:avLst/>
            </a:prstGeom>
            <a:noFill/>
            <a:ln>
              <a:noFill/>
            </a:ln>
          </p:spPr>
          <p:txBody>
            <a:bodyPr anchorCtr="0" anchor="t" bIns="11425" lIns="128225" spcFirstLastPara="1" rIns="64000" wrap="square" tIns="114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SFDPOT – testattavan ominaisuuden analysointi</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Monipuolisen ajattelun harjoittaminen, monipuoliset heuristiikat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Soveltaminen Freemind Etsi ja korvaa -toiminnolle</a:t>
              </a:r>
              <a:endParaRPr b="0" i="0" sz="900" u="none" cap="none" strike="noStrike">
                <a:solidFill>
                  <a:schemeClr val="dk1"/>
                </a:solidFill>
                <a:latin typeface="Gill Sans"/>
                <a:ea typeface="Gill Sans"/>
                <a:cs typeface="Gill Sans"/>
                <a:sym typeface="Gill Sans"/>
              </a:endParaRPr>
            </a:p>
          </p:txBody>
        </p:sp>
        <p:sp>
          <p:nvSpPr>
            <p:cNvPr id="181" name="Google Shape;181;p6"/>
            <p:cNvSpPr/>
            <p:nvPr/>
          </p:nvSpPr>
          <p:spPr>
            <a:xfrm>
              <a:off x="0" y="1727066"/>
              <a:ext cx="4038600" cy="412153"/>
            </a:xfrm>
            <a:prstGeom prst="roundRect">
              <a:avLst>
                <a:gd fmla="val 16667" name="adj"/>
              </a:avLst>
            </a:prstGeom>
            <a:solidFill>
              <a:srgbClr val="919EB8"/>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txBox="1"/>
            <p:nvPr/>
          </p:nvSpPr>
          <p:spPr>
            <a:xfrm>
              <a:off x="20120" y="1747186"/>
              <a:ext cx="3998360" cy="371913"/>
            </a:xfrm>
            <a:prstGeom prst="rect">
              <a:avLst/>
            </a:prstGeom>
            <a:noFill/>
            <a:ln>
              <a:noFill/>
            </a:ln>
          </p:spPr>
          <p:txBody>
            <a:bodyPr anchorCtr="0" anchor="ctr" bIns="41900" lIns="41900" spcFirstLastPara="1" rIns="41900" wrap="square" tIns="41900">
              <a:noAutofit/>
            </a:bodyPr>
            <a:lstStyle/>
            <a:p>
              <a:pPr indent="0" lvl="0" marL="0" marR="0" rtl="0" algn="l">
                <a:lnSpc>
                  <a:spcPct val="90000"/>
                </a:lnSpc>
                <a:spcBef>
                  <a:spcPts val="0"/>
                </a:spcBef>
                <a:spcAft>
                  <a:spcPts val="0"/>
                </a:spcAft>
                <a:buNone/>
              </a:pPr>
              <a:r>
                <a:rPr lang="fi-FI" sz="1050">
                  <a:solidFill>
                    <a:schemeClr val="lt1"/>
                  </a:solidFill>
                  <a:latin typeface="Gill Sans"/>
                  <a:ea typeface="Gill Sans"/>
                  <a:cs typeface="Gill Sans"/>
                  <a:sym typeface="Gill Sans"/>
                </a:rPr>
                <a:t>Riskiperusteinen testisuunnittelu: lunttilapulla alkuun ja monipuolinen ymmärrys virheistä</a:t>
              </a:r>
              <a:endParaRPr sz="1050">
                <a:solidFill>
                  <a:schemeClr val="lt1"/>
                </a:solidFill>
                <a:latin typeface="Gill Sans"/>
                <a:ea typeface="Gill Sans"/>
                <a:cs typeface="Gill Sans"/>
                <a:sym typeface="Gill Sans"/>
              </a:endParaRPr>
            </a:p>
          </p:txBody>
        </p:sp>
        <p:sp>
          <p:nvSpPr>
            <p:cNvPr id="183" name="Google Shape;183;p6"/>
            <p:cNvSpPr/>
            <p:nvPr/>
          </p:nvSpPr>
          <p:spPr>
            <a:xfrm>
              <a:off x="0" y="2139220"/>
              <a:ext cx="4038600" cy="4487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txBox="1"/>
            <p:nvPr/>
          </p:nvSpPr>
          <p:spPr>
            <a:xfrm>
              <a:off x="0" y="2139220"/>
              <a:ext cx="4038600" cy="448735"/>
            </a:xfrm>
            <a:prstGeom prst="rect">
              <a:avLst/>
            </a:prstGeom>
            <a:noFill/>
            <a:ln>
              <a:noFill/>
            </a:ln>
          </p:spPr>
          <p:txBody>
            <a:bodyPr anchorCtr="0" anchor="t" bIns="11425" lIns="128225" spcFirstLastPara="1" rIns="64000" wrap="square" tIns="114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Lunttilappu: 2 A4:sta testauksen tiivistettyä kansanviisautta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Virheiden tunnistamisen kyky, esimerkkejä virheistä</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mistä tietää että asennus toimii?</a:t>
              </a:r>
              <a:endParaRPr b="0" i="0" sz="900" u="none" cap="none" strike="noStrike">
                <a:solidFill>
                  <a:schemeClr val="dk1"/>
                </a:solidFill>
                <a:latin typeface="Gill Sans"/>
                <a:ea typeface="Gill Sans"/>
                <a:cs typeface="Gill Sans"/>
                <a:sym typeface="Gill Sans"/>
              </a:endParaRPr>
            </a:p>
          </p:txBody>
        </p:sp>
        <p:sp>
          <p:nvSpPr>
            <p:cNvPr id="185" name="Google Shape;185;p6"/>
            <p:cNvSpPr/>
            <p:nvPr/>
          </p:nvSpPr>
          <p:spPr>
            <a:xfrm>
              <a:off x="0" y="2587955"/>
              <a:ext cx="4038600" cy="412153"/>
            </a:xfrm>
            <a:prstGeom prst="roundRect">
              <a:avLst>
                <a:gd fmla="val 16667" name="adj"/>
              </a:avLst>
            </a:prstGeom>
            <a:solidFill>
              <a:srgbClr val="8691A9"/>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txBox="1"/>
            <p:nvPr/>
          </p:nvSpPr>
          <p:spPr>
            <a:xfrm>
              <a:off x="20120" y="2608075"/>
              <a:ext cx="3998360" cy="371913"/>
            </a:xfrm>
            <a:prstGeom prst="rect">
              <a:avLst/>
            </a:prstGeom>
            <a:noFill/>
            <a:ln>
              <a:noFill/>
            </a:ln>
          </p:spPr>
          <p:txBody>
            <a:bodyPr anchorCtr="0" anchor="ctr" bIns="41900" lIns="41900" spcFirstLastPara="1" rIns="41900" wrap="square" tIns="41900">
              <a:noAutofit/>
            </a:bodyPr>
            <a:lstStyle/>
            <a:p>
              <a:pPr indent="0" lvl="0" marL="0" marR="0" rtl="0" algn="l">
                <a:lnSpc>
                  <a:spcPct val="90000"/>
                </a:lnSpc>
                <a:spcBef>
                  <a:spcPts val="0"/>
                </a:spcBef>
                <a:spcAft>
                  <a:spcPts val="0"/>
                </a:spcAft>
                <a:buNone/>
              </a:pPr>
              <a:r>
                <a:rPr lang="fi-FI" sz="1050">
                  <a:solidFill>
                    <a:schemeClr val="lt1"/>
                  </a:solidFill>
                  <a:latin typeface="Gill Sans"/>
                  <a:ea typeface="Gill Sans"/>
                  <a:cs typeface="Gill Sans"/>
                  <a:sym typeface="Gill Sans"/>
                </a:rPr>
                <a:t>Arvo-alueisiin perustuva testisuunnittelu</a:t>
              </a:r>
              <a:endParaRPr sz="1050">
                <a:solidFill>
                  <a:schemeClr val="lt1"/>
                </a:solidFill>
                <a:latin typeface="Gill Sans"/>
                <a:ea typeface="Gill Sans"/>
                <a:cs typeface="Gill Sans"/>
                <a:sym typeface="Gill Sans"/>
              </a:endParaRPr>
            </a:p>
          </p:txBody>
        </p:sp>
        <p:sp>
          <p:nvSpPr>
            <p:cNvPr id="187" name="Google Shape;187;p6"/>
            <p:cNvSpPr/>
            <p:nvPr/>
          </p:nvSpPr>
          <p:spPr>
            <a:xfrm>
              <a:off x="0" y="3000108"/>
              <a:ext cx="4038600" cy="83627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txBox="1"/>
            <p:nvPr/>
          </p:nvSpPr>
          <p:spPr>
            <a:xfrm>
              <a:off x="0" y="3000108"/>
              <a:ext cx="4038600" cy="836279"/>
            </a:xfrm>
            <a:prstGeom prst="rect">
              <a:avLst/>
            </a:prstGeom>
            <a:noFill/>
            <a:ln>
              <a:noFill/>
            </a:ln>
          </p:spPr>
          <p:txBody>
            <a:bodyPr anchorCtr="0" anchor="t" bIns="11425" lIns="128225" spcFirstLastPara="1" rIns="64000" wrap="square" tIns="114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Toimintojen laajentaminen käsiteltävällä aineistolla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Ekvivalenssiluokat ja raja-arvot, yksittäisistä muuttujista muuttujapareihin ja yhdistelmiin</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Testiaineiston uudelleenkäytön suunnittelu</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riittävien syötteiden tunnistaminen ja tulosten kuvaaminen testitapauksiin</a:t>
              </a:r>
              <a:endParaRPr b="0" i="0" sz="900" u="none" cap="none" strike="noStrike">
                <a:solidFill>
                  <a:schemeClr val="dk1"/>
                </a:solidFill>
                <a:latin typeface="Gill Sans"/>
                <a:ea typeface="Gill Sans"/>
                <a:cs typeface="Gill Sans"/>
                <a:sym typeface="Gill Sans"/>
              </a:endParaRPr>
            </a:p>
          </p:txBody>
        </p:sp>
        <p:sp>
          <p:nvSpPr>
            <p:cNvPr id="189" name="Google Shape;189;p6"/>
            <p:cNvSpPr/>
            <p:nvPr/>
          </p:nvSpPr>
          <p:spPr>
            <a:xfrm>
              <a:off x="0" y="3836388"/>
              <a:ext cx="4038600" cy="412153"/>
            </a:xfrm>
            <a:prstGeom prst="roundRect">
              <a:avLst>
                <a:gd fmla="val 16667" name="adj"/>
              </a:avLst>
            </a:prstGeom>
            <a:solidFill>
              <a:srgbClr val="7D879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txBox="1"/>
            <p:nvPr/>
          </p:nvSpPr>
          <p:spPr>
            <a:xfrm>
              <a:off x="20120" y="3856508"/>
              <a:ext cx="3998360" cy="371913"/>
            </a:xfrm>
            <a:prstGeom prst="rect">
              <a:avLst/>
            </a:prstGeom>
            <a:noFill/>
            <a:ln>
              <a:noFill/>
            </a:ln>
          </p:spPr>
          <p:txBody>
            <a:bodyPr anchorCtr="0" anchor="ctr" bIns="41900" lIns="41900" spcFirstLastPara="1" rIns="41900" wrap="square" tIns="41900">
              <a:noAutofit/>
            </a:bodyPr>
            <a:lstStyle/>
            <a:p>
              <a:pPr indent="0" lvl="0" marL="0" marR="0" rtl="0" algn="l">
                <a:lnSpc>
                  <a:spcPct val="90000"/>
                </a:lnSpc>
                <a:spcBef>
                  <a:spcPts val="0"/>
                </a:spcBef>
                <a:spcAft>
                  <a:spcPts val="0"/>
                </a:spcAft>
                <a:buNone/>
              </a:pPr>
              <a:r>
                <a:rPr lang="fi-FI" sz="1050">
                  <a:solidFill>
                    <a:schemeClr val="lt1"/>
                  </a:solidFill>
                  <a:latin typeface="Gill Sans"/>
                  <a:ea typeface="Gill Sans"/>
                  <a:cs typeface="Gill Sans"/>
                  <a:sym typeface="Gill Sans"/>
                </a:rPr>
                <a:t>Vaatimusperusteinen testisuunnittelu</a:t>
              </a:r>
              <a:endParaRPr sz="1050">
                <a:solidFill>
                  <a:schemeClr val="lt1"/>
                </a:solidFill>
                <a:latin typeface="Gill Sans"/>
                <a:ea typeface="Gill Sans"/>
                <a:cs typeface="Gill Sans"/>
                <a:sym typeface="Gill Sans"/>
              </a:endParaRPr>
            </a:p>
          </p:txBody>
        </p:sp>
        <p:sp>
          <p:nvSpPr>
            <p:cNvPr id="191" name="Google Shape;191;p6"/>
            <p:cNvSpPr/>
            <p:nvPr/>
          </p:nvSpPr>
          <p:spPr>
            <a:xfrm>
              <a:off x="0" y="4248541"/>
              <a:ext cx="4038600" cy="4487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txBox="1"/>
            <p:nvPr/>
          </p:nvSpPr>
          <p:spPr>
            <a:xfrm>
              <a:off x="0" y="4248541"/>
              <a:ext cx="4038600" cy="448735"/>
            </a:xfrm>
            <a:prstGeom prst="rect">
              <a:avLst/>
            </a:prstGeom>
            <a:noFill/>
            <a:ln>
              <a:noFill/>
            </a:ln>
          </p:spPr>
          <p:txBody>
            <a:bodyPr anchorCtr="0" anchor="t" bIns="11425" lIns="128225" spcFirstLastPara="1" rIns="64000" wrap="square" tIns="114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Määrittelyjen lukeminen testaajana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Osittava ja kokoava testisuunnittelu vaatimuksiin pohjautuen</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skenaariotesti ja määrittelyn tarkistuslista</a:t>
              </a:r>
              <a:endParaRPr b="0" i="0" sz="900" u="none" cap="none" strike="noStrike">
                <a:solidFill>
                  <a:schemeClr val="dk1"/>
                </a:solidFill>
                <a:latin typeface="Gill Sans"/>
                <a:ea typeface="Gill Sans"/>
                <a:cs typeface="Gill Sans"/>
                <a:sym typeface="Gill Sans"/>
              </a:endParaRPr>
            </a:p>
          </p:txBody>
        </p:sp>
        <p:sp>
          <p:nvSpPr>
            <p:cNvPr id="193" name="Google Shape;193;p6"/>
            <p:cNvSpPr/>
            <p:nvPr/>
          </p:nvSpPr>
          <p:spPr>
            <a:xfrm>
              <a:off x="0" y="4697276"/>
              <a:ext cx="4038600" cy="412153"/>
            </a:xfrm>
            <a:prstGeom prst="roundRect">
              <a:avLst>
                <a:gd fmla="val 16667" name="adj"/>
              </a:avLst>
            </a:prstGeom>
            <a:solidFill>
              <a:srgbClr val="757B8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txBox="1"/>
            <p:nvPr/>
          </p:nvSpPr>
          <p:spPr>
            <a:xfrm>
              <a:off x="20120" y="4717396"/>
              <a:ext cx="3998360" cy="371913"/>
            </a:xfrm>
            <a:prstGeom prst="rect">
              <a:avLst/>
            </a:prstGeom>
            <a:noFill/>
            <a:ln>
              <a:noFill/>
            </a:ln>
          </p:spPr>
          <p:txBody>
            <a:bodyPr anchorCtr="0" anchor="ctr" bIns="41900" lIns="41900" spcFirstLastPara="1" rIns="41900" wrap="square" tIns="41900">
              <a:noAutofit/>
            </a:bodyPr>
            <a:lstStyle/>
            <a:p>
              <a:pPr indent="0" lvl="0" marL="0" marR="0" rtl="0" algn="l">
                <a:lnSpc>
                  <a:spcPct val="90000"/>
                </a:lnSpc>
                <a:spcBef>
                  <a:spcPts val="0"/>
                </a:spcBef>
                <a:spcAft>
                  <a:spcPts val="0"/>
                </a:spcAft>
                <a:buNone/>
              </a:pPr>
              <a:r>
                <a:rPr lang="fi-FI" sz="1050">
                  <a:solidFill>
                    <a:schemeClr val="lt1"/>
                  </a:solidFill>
                  <a:latin typeface="Gill Sans"/>
                  <a:ea typeface="Gill Sans"/>
                  <a:cs typeface="Gill Sans"/>
                  <a:sym typeface="Gill Sans"/>
                </a:rPr>
                <a:t>Testitapausten suunnittelun tiekartta</a:t>
              </a:r>
              <a:endParaRPr sz="1050">
                <a:solidFill>
                  <a:schemeClr val="lt1"/>
                </a:solidFill>
                <a:latin typeface="Gill Sans"/>
                <a:ea typeface="Gill Sans"/>
                <a:cs typeface="Gill Sans"/>
                <a:sym typeface="Gill Sans"/>
              </a:endParaRPr>
            </a:p>
          </p:txBody>
        </p:sp>
        <p:sp>
          <p:nvSpPr>
            <p:cNvPr id="195" name="Google Shape;195;p6"/>
            <p:cNvSpPr/>
            <p:nvPr/>
          </p:nvSpPr>
          <p:spPr>
            <a:xfrm>
              <a:off x="0" y="5109430"/>
              <a:ext cx="4038600" cy="4487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txBox="1"/>
            <p:nvPr/>
          </p:nvSpPr>
          <p:spPr>
            <a:xfrm>
              <a:off x="0" y="5109430"/>
              <a:ext cx="4038600" cy="448735"/>
            </a:xfrm>
            <a:prstGeom prst="rect">
              <a:avLst/>
            </a:prstGeom>
            <a:noFill/>
            <a:ln>
              <a:noFill/>
            </a:ln>
          </p:spPr>
          <p:txBody>
            <a:bodyPr anchorCtr="0" anchor="t" bIns="11425" lIns="128225" spcFirstLastPara="1" rIns="64000" wrap="square" tIns="114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suunnittelun tekniikat ja valinta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Kokonaisvaltainen testausstrategia: testauksen nelikenttä</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Kasvusuunnat ja opin lähteet</a:t>
              </a:r>
              <a:endParaRPr b="0" i="0" sz="900" u="none" cap="none" strike="noStrike">
                <a:solidFill>
                  <a:schemeClr val="dk1"/>
                </a:solidFill>
                <a:latin typeface="Gill Sans"/>
                <a:ea typeface="Gill Sans"/>
                <a:cs typeface="Gill Sans"/>
                <a:sym typeface="Gill Sans"/>
              </a:endParaRPr>
            </a:p>
          </p:txBody>
        </p:sp>
      </p:grpSp>
      <p:sp>
        <p:nvSpPr>
          <p:cNvPr id="197" name="Google Shape;197;p6"/>
          <p:cNvSpPr txBox="1"/>
          <p:nvPr/>
        </p:nvSpPr>
        <p:spPr>
          <a:xfrm>
            <a:off x="1835696" y="188640"/>
            <a:ext cx="11368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i-FI" sz="1800">
                <a:solidFill>
                  <a:schemeClr val="dk1"/>
                </a:solidFill>
                <a:latin typeface="Gill Sans"/>
                <a:ea typeface="Gill Sans"/>
                <a:cs typeface="Gill Sans"/>
                <a:sym typeface="Gill Sans"/>
              </a:rPr>
              <a:t>PÄIVÄ 1</a:t>
            </a:r>
            <a:endParaRPr b="1" sz="1800">
              <a:solidFill>
                <a:schemeClr val="dk1"/>
              </a:solidFill>
              <a:latin typeface="Gill Sans"/>
              <a:ea typeface="Gill Sans"/>
              <a:cs typeface="Gill Sans"/>
              <a:sym typeface="Gill Sans"/>
            </a:endParaRPr>
          </a:p>
        </p:txBody>
      </p:sp>
      <p:sp>
        <p:nvSpPr>
          <p:cNvPr id="198" name="Google Shape;198;p6"/>
          <p:cNvSpPr txBox="1"/>
          <p:nvPr/>
        </p:nvSpPr>
        <p:spPr>
          <a:xfrm>
            <a:off x="6084168" y="188640"/>
            <a:ext cx="11368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i-FI" sz="1800">
                <a:solidFill>
                  <a:schemeClr val="dk1"/>
                </a:solidFill>
                <a:latin typeface="Gill Sans"/>
                <a:ea typeface="Gill Sans"/>
                <a:cs typeface="Gill Sans"/>
                <a:sym typeface="Gill Sans"/>
              </a:rPr>
              <a:t>PÄIVÄ 2</a:t>
            </a:r>
            <a:endParaRPr b="1" sz="1800">
              <a:solidFill>
                <a:schemeClr val="dk1"/>
              </a:solidFill>
              <a:latin typeface="Gill Sans"/>
              <a:ea typeface="Gill Sans"/>
              <a:cs typeface="Gill Sans"/>
              <a:sym typeface="Gill Sans"/>
            </a:endParaRPr>
          </a:p>
        </p:txBody>
      </p:sp>
      <p:sp>
        <p:nvSpPr>
          <p:cNvPr id="199" name="Google Shape;19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b="1" lang="fi-FI"/>
              <a:t>PÄIVÄ 1</a:t>
            </a:r>
            <a:endParaRPr/>
          </a:p>
        </p:txBody>
      </p:sp>
      <p:grpSp>
        <p:nvGrpSpPr>
          <p:cNvPr id="205" name="Google Shape;205;p7"/>
          <p:cNvGrpSpPr/>
          <p:nvPr/>
        </p:nvGrpSpPr>
        <p:grpSpPr>
          <a:xfrm>
            <a:off x="1475656" y="1614891"/>
            <a:ext cx="5987008" cy="4496580"/>
            <a:chOff x="0" y="14691"/>
            <a:chExt cx="5987008" cy="4496580"/>
          </a:xfrm>
        </p:grpSpPr>
        <p:sp>
          <p:nvSpPr>
            <p:cNvPr id="206" name="Google Shape;206;p7"/>
            <p:cNvSpPr/>
            <p:nvPr/>
          </p:nvSpPr>
          <p:spPr>
            <a:xfrm>
              <a:off x="0" y="1469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txBox="1"/>
            <p:nvPr/>
          </p:nvSpPr>
          <p:spPr>
            <a:xfrm>
              <a:off x="14050" y="2874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 testitapaukset ja testaajana toimiminen</a:t>
              </a:r>
              <a:endParaRPr sz="1200">
                <a:solidFill>
                  <a:schemeClr val="lt1"/>
                </a:solidFill>
                <a:latin typeface="Gill Sans"/>
                <a:ea typeface="Gill Sans"/>
                <a:cs typeface="Gill Sans"/>
                <a:sym typeface="Gill Sans"/>
              </a:endParaRPr>
            </a:p>
          </p:txBody>
        </p:sp>
        <p:sp>
          <p:nvSpPr>
            <p:cNvPr id="208" name="Google Shape;208;p7"/>
            <p:cNvSpPr/>
            <p:nvPr/>
          </p:nvSpPr>
          <p:spPr>
            <a:xfrm>
              <a:off x="0" y="30251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txBox="1"/>
            <p:nvPr/>
          </p:nvSpPr>
          <p:spPr>
            <a:xfrm>
              <a:off x="0" y="30251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Testaustyön luonne ja merkitys / testausmatematiikan perusteet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Määrittelyt testauksen pohjana / määrittelyn limupeli</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ajattelumallit / kuinka testaisin tekstikentän</a:t>
              </a:r>
              <a:endParaRPr b="0" i="0" sz="900" u="none" cap="none" strike="noStrike">
                <a:solidFill>
                  <a:schemeClr val="dk1"/>
                </a:solidFill>
                <a:latin typeface="Gill Sans"/>
                <a:ea typeface="Gill Sans"/>
                <a:cs typeface="Gill Sans"/>
                <a:sym typeface="Gill Sans"/>
              </a:endParaRPr>
            </a:p>
          </p:txBody>
        </p:sp>
        <p:sp>
          <p:nvSpPr>
            <p:cNvPr id="210" name="Google Shape;210;p7"/>
            <p:cNvSpPr/>
            <p:nvPr/>
          </p:nvSpPr>
          <p:spPr>
            <a:xfrm>
              <a:off x="0" y="762051"/>
              <a:ext cx="5987008" cy="287819"/>
            </a:xfrm>
            <a:prstGeom prst="roundRect">
              <a:avLst>
                <a:gd fmla="val 16667" name="adj"/>
              </a:avLst>
            </a:prstGeom>
            <a:solidFill>
              <a:srgbClr val="B32A1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txBox="1"/>
            <p:nvPr/>
          </p:nvSpPr>
          <p:spPr>
            <a:xfrm>
              <a:off x="14050" y="7761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dokumentointi</a:t>
              </a:r>
              <a:endParaRPr sz="1200">
                <a:solidFill>
                  <a:schemeClr val="lt1"/>
                </a:solidFill>
                <a:latin typeface="Gill Sans"/>
                <a:ea typeface="Gill Sans"/>
                <a:cs typeface="Gill Sans"/>
                <a:sym typeface="Gill Sans"/>
              </a:endParaRPr>
            </a:p>
          </p:txBody>
        </p:sp>
        <p:sp>
          <p:nvSpPr>
            <p:cNvPr id="212" name="Google Shape;212;p7"/>
            <p:cNvSpPr/>
            <p:nvPr/>
          </p:nvSpPr>
          <p:spPr>
            <a:xfrm>
              <a:off x="0" y="104987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txBox="1"/>
            <p:nvPr/>
          </p:nvSpPr>
          <p:spPr>
            <a:xfrm>
              <a:off x="0" y="104987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Oikea-aikainen dokumentointi – valmistaudu ajoissa, älä unohda uusia oppeja!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Miltä oikeat testitapaukset näyttävät?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taso FreeMind Etsi ja korvaa -toiminnolle</a:t>
              </a:r>
              <a:endParaRPr b="0" i="0" sz="900" u="none" cap="none" strike="noStrike">
                <a:solidFill>
                  <a:schemeClr val="dk1"/>
                </a:solidFill>
                <a:latin typeface="Gill Sans"/>
                <a:ea typeface="Gill Sans"/>
                <a:cs typeface="Gill Sans"/>
                <a:sym typeface="Gill Sans"/>
              </a:endParaRPr>
            </a:p>
          </p:txBody>
        </p:sp>
        <p:sp>
          <p:nvSpPr>
            <p:cNvPr id="214" name="Google Shape;214;p7"/>
            <p:cNvSpPr/>
            <p:nvPr/>
          </p:nvSpPr>
          <p:spPr>
            <a:xfrm>
              <a:off x="0" y="1509411"/>
              <a:ext cx="5987008" cy="287819"/>
            </a:xfrm>
            <a:prstGeom prst="roundRect">
              <a:avLst>
                <a:gd fmla="val 16667" name="adj"/>
              </a:avLst>
            </a:prstGeom>
            <a:solidFill>
              <a:srgbClr val="F3CB2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txBox="1"/>
            <p:nvPr/>
          </p:nvSpPr>
          <p:spPr>
            <a:xfrm>
              <a:off x="14050" y="152346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Regressiotestaus</a:t>
              </a:r>
              <a:endParaRPr sz="1200">
                <a:solidFill>
                  <a:schemeClr val="lt1"/>
                </a:solidFill>
                <a:latin typeface="Gill Sans"/>
                <a:ea typeface="Gill Sans"/>
                <a:cs typeface="Gill Sans"/>
                <a:sym typeface="Gill Sans"/>
              </a:endParaRPr>
            </a:p>
          </p:txBody>
        </p:sp>
        <p:sp>
          <p:nvSpPr>
            <p:cNvPr id="216" name="Google Shape;216;p7"/>
            <p:cNvSpPr/>
            <p:nvPr/>
          </p:nvSpPr>
          <p:spPr>
            <a:xfrm>
              <a:off x="0" y="179723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txBox="1"/>
            <p:nvPr/>
          </p:nvSpPr>
          <p:spPr>
            <a:xfrm>
              <a:off x="0" y="179723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Testaaminen vs. korjaaminen</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Toimivia regressiotestausmalleja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regressiotestien valinta annetusta testitapausmäärittelystä</a:t>
              </a:r>
              <a:endParaRPr b="0" i="0" sz="900" u="none" cap="none" strike="noStrike">
                <a:solidFill>
                  <a:schemeClr val="dk1"/>
                </a:solidFill>
                <a:latin typeface="Gill Sans"/>
                <a:ea typeface="Gill Sans"/>
                <a:cs typeface="Gill Sans"/>
                <a:sym typeface="Gill Sans"/>
              </a:endParaRPr>
            </a:p>
          </p:txBody>
        </p:sp>
        <p:sp>
          <p:nvSpPr>
            <p:cNvPr id="218" name="Google Shape;218;p7"/>
            <p:cNvSpPr/>
            <p:nvPr/>
          </p:nvSpPr>
          <p:spPr>
            <a:xfrm>
              <a:off x="0" y="2256771"/>
              <a:ext cx="5987008" cy="287819"/>
            </a:xfrm>
            <a:prstGeom prst="roundRect">
              <a:avLst>
                <a:gd fmla="val 16667" name="adj"/>
              </a:avLst>
            </a:prstGeom>
            <a:solidFill>
              <a:srgbClr val="ACB9D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txBox="1"/>
            <p:nvPr/>
          </p:nvSpPr>
          <p:spPr>
            <a:xfrm>
              <a:off x="14050" y="227082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hallinnan välinetuki</a:t>
              </a:r>
              <a:endParaRPr sz="1200">
                <a:solidFill>
                  <a:schemeClr val="lt1"/>
                </a:solidFill>
                <a:latin typeface="Gill Sans"/>
                <a:ea typeface="Gill Sans"/>
                <a:cs typeface="Gill Sans"/>
                <a:sym typeface="Gill Sans"/>
              </a:endParaRPr>
            </a:p>
          </p:txBody>
        </p:sp>
        <p:sp>
          <p:nvSpPr>
            <p:cNvPr id="220" name="Google Shape;220;p7"/>
            <p:cNvSpPr/>
            <p:nvPr/>
          </p:nvSpPr>
          <p:spPr>
            <a:xfrm>
              <a:off x="0" y="254459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txBox="1"/>
            <p:nvPr/>
          </p:nvSpPr>
          <p:spPr>
            <a:xfrm>
              <a:off x="0" y="254459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varastointi uudelleenkäyttöön ja suorituksen hallinta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Testauksen aikaiset muistiinpanot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Kaupalliset ja avoimen lähdekoodin vaihtoehdot</a:t>
              </a:r>
              <a:endParaRPr b="0" i="0" sz="900" u="none" cap="none" strike="noStrike">
                <a:solidFill>
                  <a:schemeClr val="dk1"/>
                </a:solidFill>
                <a:latin typeface="Gill Sans"/>
                <a:ea typeface="Gill Sans"/>
                <a:cs typeface="Gill Sans"/>
                <a:sym typeface="Gill Sans"/>
              </a:endParaRPr>
            </a:p>
          </p:txBody>
        </p:sp>
        <p:sp>
          <p:nvSpPr>
            <p:cNvPr id="222" name="Google Shape;222;p7"/>
            <p:cNvSpPr/>
            <p:nvPr/>
          </p:nvSpPr>
          <p:spPr>
            <a:xfrm>
              <a:off x="0" y="3004131"/>
              <a:ext cx="5987008" cy="287819"/>
            </a:xfrm>
            <a:prstGeom prst="roundRect">
              <a:avLst>
                <a:gd fmla="val 16667" name="adj"/>
              </a:avLst>
            </a:prstGeom>
            <a:solidFill>
              <a:srgbClr val="767B8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txBox="1"/>
            <p:nvPr/>
          </p:nvSpPr>
          <p:spPr>
            <a:xfrm>
              <a:off x="14050" y="301818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Testaustyömaan ymmärtämisestä testitapausten tehokäyttöön</a:t>
              </a:r>
              <a:endParaRPr sz="1200">
                <a:solidFill>
                  <a:schemeClr val="lt1"/>
                </a:solidFill>
                <a:latin typeface="Gill Sans"/>
                <a:ea typeface="Gill Sans"/>
                <a:cs typeface="Gill Sans"/>
                <a:sym typeface="Gill Sans"/>
              </a:endParaRPr>
            </a:p>
          </p:txBody>
        </p:sp>
        <p:sp>
          <p:nvSpPr>
            <p:cNvPr id="224" name="Google Shape;224;p7"/>
            <p:cNvSpPr/>
            <p:nvPr/>
          </p:nvSpPr>
          <p:spPr>
            <a:xfrm>
              <a:off x="0" y="3291951"/>
              <a:ext cx="5987008" cy="62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txBox="1"/>
            <p:nvPr/>
          </p:nvSpPr>
          <p:spPr>
            <a:xfrm>
              <a:off x="0" y="3291951"/>
              <a:ext cx="5987008" cy="6210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Karkea osittaminen ennen yksityiskohtien suunnittelua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muuntelu testatessa: lisää / poista / toista / vaihda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tekemä testaus suhteessa muuhun testaukseen (yksikkötestit, tekninen testiautomaatio)</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priorisointi suoritusjärjestykseksi</a:t>
              </a:r>
              <a:endParaRPr b="0" i="0" sz="900" u="none" cap="none" strike="noStrike">
                <a:solidFill>
                  <a:schemeClr val="dk1"/>
                </a:solidFill>
                <a:latin typeface="Gill Sans"/>
                <a:ea typeface="Gill Sans"/>
                <a:cs typeface="Gill Sans"/>
                <a:sym typeface="Gill Sans"/>
              </a:endParaRPr>
            </a:p>
          </p:txBody>
        </p:sp>
        <p:sp>
          <p:nvSpPr>
            <p:cNvPr id="226" name="Google Shape;226;p7"/>
            <p:cNvSpPr/>
            <p:nvPr/>
          </p:nvSpPr>
          <p:spPr>
            <a:xfrm>
              <a:off x="0" y="391295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txBox="1"/>
            <p:nvPr/>
          </p:nvSpPr>
          <p:spPr>
            <a:xfrm>
              <a:off x="14050" y="39270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Testitapaukset testaustyön jakamisessa useille testaajille</a:t>
              </a:r>
              <a:endParaRPr sz="1200">
                <a:solidFill>
                  <a:schemeClr val="lt1"/>
                </a:solidFill>
                <a:latin typeface="Gill Sans"/>
                <a:ea typeface="Gill Sans"/>
                <a:cs typeface="Gill Sans"/>
                <a:sym typeface="Gill Sans"/>
              </a:endParaRPr>
            </a:p>
          </p:txBody>
        </p:sp>
        <p:sp>
          <p:nvSpPr>
            <p:cNvPr id="228" name="Google Shape;228;p7"/>
            <p:cNvSpPr/>
            <p:nvPr/>
          </p:nvSpPr>
          <p:spPr>
            <a:xfrm>
              <a:off x="0" y="4200771"/>
              <a:ext cx="5987008" cy="31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txBox="1"/>
            <p:nvPr/>
          </p:nvSpPr>
          <p:spPr>
            <a:xfrm>
              <a:off x="0" y="4200771"/>
              <a:ext cx="5987008" cy="3105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1: Testaustyömaan hallinta vakuutussektorin hyväksymistestauksessa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2: Testaustyömaan hallinta ketterässä tuotekehitystiimissä</a:t>
              </a:r>
              <a:endParaRPr b="0" i="0" sz="900" u="none" cap="none" strike="noStrike">
                <a:solidFill>
                  <a:schemeClr val="dk1"/>
                </a:solidFill>
                <a:latin typeface="Gill Sans"/>
                <a:ea typeface="Gill Sans"/>
                <a:cs typeface="Gill Sans"/>
                <a:sym typeface="Gill Sans"/>
              </a:endParaRPr>
            </a:p>
          </p:txBody>
        </p:sp>
      </p:grpSp>
      <p:sp>
        <p:nvSpPr>
          <p:cNvPr id="230" name="Google Shape;230;p7"/>
          <p:cNvSpPr/>
          <p:nvPr/>
        </p:nvSpPr>
        <p:spPr>
          <a:xfrm>
            <a:off x="929296" y="1864248"/>
            <a:ext cx="474352" cy="484632"/>
          </a:xfrm>
          <a:prstGeom prst="rightArrow">
            <a:avLst>
              <a:gd fmla="val 50000" name="adj1"/>
              <a:gd fmla="val 50000" name="adj2"/>
            </a:avLst>
          </a:prstGeom>
          <a:solidFill>
            <a:schemeClr val="dk1"/>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1" name="Google Shape;231;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Mitä “testaus” tekee?</a:t>
            </a:r>
            <a:br>
              <a:rPr lang="fi-FI"/>
            </a:br>
            <a:endParaRPr/>
          </a:p>
        </p:txBody>
      </p:sp>
      <p:grpSp>
        <p:nvGrpSpPr>
          <p:cNvPr id="238" name="Google Shape;238;p8"/>
          <p:cNvGrpSpPr/>
          <p:nvPr/>
        </p:nvGrpSpPr>
        <p:grpSpPr>
          <a:xfrm>
            <a:off x="2819400" y="3314701"/>
            <a:ext cx="1981200" cy="1808163"/>
            <a:chOff x="1440" y="1920"/>
            <a:chExt cx="1248" cy="1139"/>
          </a:xfrm>
        </p:grpSpPr>
        <p:pic>
          <p:nvPicPr>
            <p:cNvPr descr="j0363460" id="239" name="Google Shape;239;p8"/>
            <p:cNvPicPr preferRelativeResize="0"/>
            <p:nvPr/>
          </p:nvPicPr>
          <p:blipFill rotWithShape="1">
            <a:blip r:embed="rId4">
              <a:alphaModFix/>
            </a:blip>
            <a:srcRect b="0" l="0" r="0" t="0"/>
            <a:stretch/>
          </p:blipFill>
          <p:spPr>
            <a:xfrm>
              <a:off x="1776" y="1920"/>
              <a:ext cx="618" cy="672"/>
            </a:xfrm>
            <a:prstGeom prst="rect">
              <a:avLst/>
            </a:prstGeom>
            <a:noFill/>
            <a:ln>
              <a:noFill/>
            </a:ln>
          </p:spPr>
        </p:pic>
        <p:sp>
          <p:nvSpPr>
            <p:cNvPr id="240" name="Google Shape;240;p8"/>
            <p:cNvSpPr txBox="1"/>
            <p:nvPr/>
          </p:nvSpPr>
          <p:spPr>
            <a:xfrm>
              <a:off x="1440" y="2592"/>
              <a:ext cx="1248" cy="467"/>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None/>
              </a:pPr>
              <a:r>
                <a:rPr b="1" lang="fi-FI" sz="1400">
                  <a:solidFill>
                    <a:schemeClr val="accent2"/>
                  </a:solidFill>
                  <a:latin typeface="Gill Sans"/>
                  <a:ea typeface="Gill Sans"/>
                  <a:cs typeface="Gill Sans"/>
                  <a:sym typeface="Gill Sans"/>
                </a:rPr>
                <a:t>Toteuttajat muuntavat ajatuksia koodiksi</a:t>
              </a:r>
              <a:endParaRPr b="1" sz="1400">
                <a:solidFill>
                  <a:schemeClr val="accent2"/>
                </a:solidFill>
                <a:latin typeface="Gill Sans"/>
                <a:ea typeface="Gill Sans"/>
                <a:cs typeface="Gill Sans"/>
                <a:sym typeface="Gill Sans"/>
              </a:endParaRPr>
            </a:p>
          </p:txBody>
        </p:sp>
      </p:grpSp>
      <p:grpSp>
        <p:nvGrpSpPr>
          <p:cNvPr id="241" name="Google Shape;241;p8"/>
          <p:cNvGrpSpPr/>
          <p:nvPr/>
        </p:nvGrpSpPr>
        <p:grpSpPr>
          <a:xfrm>
            <a:off x="4800600" y="3200400"/>
            <a:ext cx="1600200" cy="2168525"/>
            <a:chOff x="2640" y="1780"/>
            <a:chExt cx="1008" cy="1366"/>
          </a:xfrm>
        </p:grpSpPr>
        <p:graphicFrame>
          <p:nvGraphicFramePr>
            <p:cNvPr id="242" name="Google Shape;242;p8"/>
            <p:cNvGraphicFramePr/>
            <p:nvPr/>
          </p:nvGraphicFramePr>
          <p:xfrm>
            <a:off x="2744" y="1780"/>
            <a:ext cx="760" cy="760"/>
          </p:xfrm>
          <a:graphic>
            <a:graphicData uri="http://schemas.openxmlformats.org/presentationml/2006/ole">
              <mc:AlternateContent>
                <mc:Choice Requires="v">
                  <p:oleObj r:id="rId5" imgH="760" imgW="760" progId="" spid="_x0000_s1">
                    <p:embed/>
                  </p:oleObj>
                </mc:Choice>
                <mc:Fallback>
                  <p:oleObj r:id="rId6" imgH="760" imgW="760" progId="">
                    <p:embed/>
                    <p:pic>
                      <p:nvPicPr>
                        <p:cNvPr id="242" name="Google Shape;242;p8"/>
                        <p:cNvPicPr preferRelativeResize="0"/>
                        <p:nvPr/>
                      </p:nvPicPr>
                      <p:blipFill rotWithShape="1">
                        <a:blip r:embed="rId7">
                          <a:alphaModFix/>
                        </a:blip>
                        <a:srcRect b="0" l="0" r="0" t="0"/>
                        <a:stretch/>
                      </p:blipFill>
                      <p:spPr>
                        <a:xfrm>
                          <a:off x="2744" y="1780"/>
                          <a:ext cx="760" cy="760"/>
                        </a:xfrm>
                        <a:prstGeom prst="rect">
                          <a:avLst/>
                        </a:prstGeom>
                        <a:noFill/>
                        <a:ln>
                          <a:noFill/>
                        </a:ln>
                      </p:spPr>
                    </p:pic>
                  </p:oleObj>
                </mc:Fallback>
              </mc:AlternateContent>
            </a:graphicData>
          </a:graphic>
        </p:graphicFrame>
        <p:sp>
          <p:nvSpPr>
            <p:cNvPr id="243" name="Google Shape;243;p8"/>
            <p:cNvSpPr/>
            <p:nvPr/>
          </p:nvSpPr>
          <p:spPr>
            <a:xfrm>
              <a:off x="2640" y="2544"/>
              <a:ext cx="1008" cy="602"/>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None/>
              </a:pPr>
              <a:r>
                <a:rPr b="1" lang="fi-FI" sz="1400">
                  <a:solidFill>
                    <a:schemeClr val="accent2"/>
                  </a:solidFill>
                  <a:latin typeface="Gill Sans"/>
                  <a:ea typeface="Gill Sans"/>
                  <a:cs typeface="Gill Sans"/>
                  <a:sym typeface="Gill Sans"/>
                </a:rPr>
                <a:t>Kehityksen aikainen ohjelmisto virheineen</a:t>
              </a:r>
              <a:endParaRPr b="1" sz="1400">
                <a:solidFill>
                  <a:schemeClr val="accent2"/>
                </a:solidFill>
                <a:latin typeface="Gill Sans"/>
                <a:ea typeface="Gill Sans"/>
                <a:cs typeface="Gill Sans"/>
                <a:sym typeface="Gill Sans"/>
              </a:endParaRPr>
            </a:p>
          </p:txBody>
        </p:sp>
      </p:grpSp>
      <p:sp>
        <p:nvSpPr>
          <p:cNvPr id="244" name="Google Shape;244;p8"/>
          <p:cNvSpPr/>
          <p:nvPr/>
        </p:nvSpPr>
        <p:spPr>
          <a:xfrm>
            <a:off x="4495800" y="3619500"/>
            <a:ext cx="381000" cy="381000"/>
          </a:xfrm>
          <a:prstGeom prst="leftRightArrow">
            <a:avLst>
              <a:gd fmla="val 50000" name="adj1"/>
              <a:gd fmla="val 20000" name="adj2"/>
            </a:avLst>
          </a:prstGeom>
          <a:solidFill>
            <a:schemeClr val="accent2"/>
          </a:solid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nvGrpSpPr>
          <p:cNvPr id="245" name="Google Shape;245;p8"/>
          <p:cNvGrpSpPr/>
          <p:nvPr/>
        </p:nvGrpSpPr>
        <p:grpSpPr>
          <a:xfrm>
            <a:off x="228600" y="2835276"/>
            <a:ext cx="1465263" cy="2493963"/>
            <a:chOff x="144" y="1594"/>
            <a:chExt cx="923" cy="1571"/>
          </a:xfrm>
        </p:grpSpPr>
        <p:pic>
          <p:nvPicPr>
            <p:cNvPr descr="bd10586_" id="246" name="Google Shape;246;p8"/>
            <p:cNvPicPr preferRelativeResize="0"/>
            <p:nvPr/>
          </p:nvPicPr>
          <p:blipFill rotWithShape="1">
            <a:blip r:embed="rId8">
              <a:alphaModFix/>
            </a:blip>
            <a:srcRect b="0" l="0" r="0" t="0"/>
            <a:stretch/>
          </p:blipFill>
          <p:spPr>
            <a:xfrm>
              <a:off x="240" y="1594"/>
              <a:ext cx="770" cy="1131"/>
            </a:xfrm>
            <a:prstGeom prst="rect">
              <a:avLst/>
            </a:prstGeom>
            <a:noFill/>
            <a:ln>
              <a:noFill/>
            </a:ln>
          </p:spPr>
        </p:pic>
        <p:sp>
          <p:nvSpPr>
            <p:cNvPr id="247" name="Google Shape;247;p8"/>
            <p:cNvSpPr/>
            <p:nvPr/>
          </p:nvSpPr>
          <p:spPr>
            <a:xfrm>
              <a:off x="144" y="2698"/>
              <a:ext cx="923" cy="467"/>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None/>
              </a:pPr>
              <a:r>
                <a:rPr b="1" lang="fi-FI" sz="1400">
                  <a:solidFill>
                    <a:schemeClr val="hlink"/>
                  </a:solidFill>
                  <a:latin typeface="Gill Sans"/>
                  <a:ea typeface="Gill Sans"/>
                  <a:cs typeface="Gill Sans"/>
                  <a:sym typeface="Gill Sans"/>
                </a:rPr>
                <a:t>Asiakas tarvitsee ohjelmistoa</a:t>
              </a:r>
              <a:endParaRPr b="1" sz="1400">
                <a:solidFill>
                  <a:schemeClr val="hlink"/>
                </a:solidFill>
                <a:latin typeface="Gill Sans"/>
                <a:ea typeface="Gill Sans"/>
                <a:cs typeface="Gill Sans"/>
                <a:sym typeface="Gill Sans"/>
              </a:endParaRPr>
            </a:p>
          </p:txBody>
        </p:sp>
      </p:grpSp>
      <p:grpSp>
        <p:nvGrpSpPr>
          <p:cNvPr id="248" name="Google Shape;248;p8"/>
          <p:cNvGrpSpPr/>
          <p:nvPr/>
        </p:nvGrpSpPr>
        <p:grpSpPr>
          <a:xfrm>
            <a:off x="7391400" y="2463801"/>
            <a:ext cx="1600200" cy="1795463"/>
            <a:chOff x="4752" y="1360"/>
            <a:chExt cx="857" cy="1131"/>
          </a:xfrm>
        </p:grpSpPr>
        <p:pic>
          <p:nvPicPr>
            <p:cNvPr descr="j0240393" id="249" name="Google Shape;249;p8"/>
            <p:cNvPicPr preferRelativeResize="0"/>
            <p:nvPr/>
          </p:nvPicPr>
          <p:blipFill rotWithShape="1">
            <a:blip r:embed="rId9">
              <a:alphaModFix/>
            </a:blip>
            <a:srcRect b="0" l="0" r="0" t="0"/>
            <a:stretch/>
          </p:blipFill>
          <p:spPr>
            <a:xfrm>
              <a:off x="4752" y="1360"/>
              <a:ext cx="816" cy="800"/>
            </a:xfrm>
            <a:prstGeom prst="rect">
              <a:avLst/>
            </a:prstGeom>
            <a:noFill/>
            <a:ln>
              <a:noFill/>
            </a:ln>
          </p:spPr>
        </p:pic>
        <p:sp>
          <p:nvSpPr>
            <p:cNvPr id="250" name="Google Shape;250;p8"/>
            <p:cNvSpPr/>
            <p:nvPr/>
          </p:nvSpPr>
          <p:spPr>
            <a:xfrm>
              <a:off x="4944" y="2160"/>
              <a:ext cx="665" cy="331"/>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None/>
              </a:pPr>
              <a:r>
                <a:rPr b="1" lang="fi-FI" sz="1400">
                  <a:solidFill>
                    <a:schemeClr val="hlink"/>
                  </a:solidFill>
                  <a:latin typeface="Gill Sans"/>
                  <a:ea typeface="Gill Sans"/>
                  <a:cs typeface="Gill Sans"/>
                  <a:sym typeface="Gill Sans"/>
                </a:rPr>
                <a:t>Tyytyväinen asiakas</a:t>
              </a:r>
              <a:endParaRPr b="1" sz="1400">
                <a:solidFill>
                  <a:schemeClr val="hlink"/>
                </a:solidFill>
                <a:latin typeface="Gill Sans"/>
                <a:ea typeface="Gill Sans"/>
                <a:cs typeface="Gill Sans"/>
                <a:sym typeface="Gill Sans"/>
              </a:endParaRPr>
            </a:p>
          </p:txBody>
        </p:sp>
      </p:grpSp>
      <p:grpSp>
        <p:nvGrpSpPr>
          <p:cNvPr id="251" name="Google Shape;251;p8"/>
          <p:cNvGrpSpPr/>
          <p:nvPr/>
        </p:nvGrpSpPr>
        <p:grpSpPr>
          <a:xfrm>
            <a:off x="7696200" y="4283076"/>
            <a:ext cx="1295400" cy="1363663"/>
            <a:chOff x="4944" y="2448"/>
            <a:chExt cx="665" cy="859"/>
          </a:xfrm>
        </p:grpSpPr>
        <p:pic>
          <p:nvPicPr>
            <p:cNvPr descr="j0404625" id="252" name="Google Shape;252;p8"/>
            <p:cNvPicPr preferRelativeResize="0"/>
            <p:nvPr/>
          </p:nvPicPr>
          <p:blipFill rotWithShape="1">
            <a:blip r:embed="rId10">
              <a:alphaModFix/>
            </a:blip>
            <a:srcRect b="0" l="0" r="0" t="0"/>
            <a:stretch/>
          </p:blipFill>
          <p:spPr>
            <a:xfrm>
              <a:off x="4944" y="2448"/>
              <a:ext cx="576" cy="511"/>
            </a:xfrm>
            <a:prstGeom prst="rect">
              <a:avLst/>
            </a:prstGeom>
            <a:noFill/>
            <a:ln>
              <a:noFill/>
            </a:ln>
          </p:spPr>
        </p:pic>
        <p:sp>
          <p:nvSpPr>
            <p:cNvPr id="253" name="Google Shape;253;p8"/>
            <p:cNvSpPr/>
            <p:nvPr/>
          </p:nvSpPr>
          <p:spPr>
            <a:xfrm>
              <a:off x="4944" y="2976"/>
              <a:ext cx="665" cy="331"/>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None/>
              </a:pPr>
              <a:r>
                <a:rPr b="1" lang="fi-FI" sz="1400">
                  <a:solidFill>
                    <a:schemeClr val="hlink"/>
                  </a:solidFill>
                  <a:latin typeface="Gill Sans"/>
                  <a:ea typeface="Gill Sans"/>
                  <a:cs typeface="Gill Sans"/>
                  <a:sym typeface="Gill Sans"/>
                </a:rPr>
                <a:t>Tuottava liiketoiminta</a:t>
              </a:r>
              <a:endParaRPr b="1" sz="1400">
                <a:solidFill>
                  <a:schemeClr val="hlink"/>
                </a:solidFill>
                <a:latin typeface="Gill Sans"/>
                <a:ea typeface="Gill Sans"/>
                <a:cs typeface="Gill Sans"/>
                <a:sym typeface="Gill Sans"/>
              </a:endParaRPr>
            </a:p>
          </p:txBody>
        </p:sp>
      </p:grpSp>
      <p:sp>
        <p:nvSpPr>
          <p:cNvPr id="254" name="Google Shape;254;p8"/>
          <p:cNvSpPr/>
          <p:nvPr/>
        </p:nvSpPr>
        <p:spPr>
          <a:xfrm>
            <a:off x="1752600" y="3581400"/>
            <a:ext cx="838200" cy="381000"/>
          </a:xfrm>
          <a:prstGeom prst="rightArrow">
            <a:avLst>
              <a:gd fmla="val 50000" name="adj1"/>
              <a:gd fmla="val 55000" name="adj2"/>
            </a:avLst>
          </a:prstGeom>
          <a:solidFill>
            <a:schemeClr val="accent1"/>
          </a:solid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55" name="Google Shape;255;p8"/>
          <p:cNvSpPr/>
          <p:nvPr/>
        </p:nvSpPr>
        <p:spPr>
          <a:xfrm>
            <a:off x="6400800" y="3581400"/>
            <a:ext cx="838200" cy="381000"/>
          </a:xfrm>
          <a:prstGeom prst="rightArrow">
            <a:avLst>
              <a:gd fmla="val 50000" name="adj1"/>
              <a:gd fmla="val 55000" name="adj2"/>
            </a:avLst>
          </a:prstGeom>
          <a:solidFill>
            <a:schemeClr val="accent1"/>
          </a:solid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256" name="Google Shape;256;p8"/>
          <p:cNvCxnSpPr/>
          <p:nvPr/>
        </p:nvCxnSpPr>
        <p:spPr>
          <a:xfrm>
            <a:off x="2667000" y="2895600"/>
            <a:ext cx="0" cy="1905000"/>
          </a:xfrm>
          <a:prstGeom prst="straightConnector1">
            <a:avLst/>
          </a:prstGeom>
          <a:noFill/>
          <a:ln cap="rnd" cmpd="sng" w="76200">
            <a:solidFill>
              <a:schemeClr val="folHlink"/>
            </a:solidFill>
            <a:prstDash val="dot"/>
            <a:round/>
            <a:headEnd len="med" w="med" type="none"/>
            <a:tailEnd len="med" w="med" type="none"/>
          </a:ln>
        </p:spPr>
      </p:cxnSp>
      <p:cxnSp>
        <p:nvCxnSpPr>
          <p:cNvPr id="257" name="Google Shape;257;p8"/>
          <p:cNvCxnSpPr/>
          <p:nvPr/>
        </p:nvCxnSpPr>
        <p:spPr>
          <a:xfrm>
            <a:off x="3505200" y="2667000"/>
            <a:ext cx="2819400" cy="0"/>
          </a:xfrm>
          <a:prstGeom prst="straightConnector1">
            <a:avLst/>
          </a:prstGeom>
          <a:noFill/>
          <a:ln cap="rnd" cmpd="sng" w="76200">
            <a:solidFill>
              <a:schemeClr val="folHlink"/>
            </a:solidFill>
            <a:prstDash val="dot"/>
            <a:round/>
            <a:headEnd len="med" w="med" type="none"/>
            <a:tailEnd len="med" w="med" type="none"/>
          </a:ln>
        </p:spPr>
      </p:cxnSp>
      <p:cxnSp>
        <p:nvCxnSpPr>
          <p:cNvPr id="258" name="Google Shape;258;p8"/>
          <p:cNvCxnSpPr/>
          <p:nvPr/>
        </p:nvCxnSpPr>
        <p:spPr>
          <a:xfrm>
            <a:off x="6705600" y="2895600"/>
            <a:ext cx="0" cy="1905000"/>
          </a:xfrm>
          <a:prstGeom prst="straightConnector1">
            <a:avLst/>
          </a:prstGeom>
          <a:noFill/>
          <a:ln cap="rnd" cmpd="sng" w="76200">
            <a:solidFill>
              <a:schemeClr val="folHlink"/>
            </a:solidFill>
            <a:prstDash val="dot"/>
            <a:round/>
            <a:headEnd len="med" w="med" type="none"/>
            <a:tailEnd len="med" w="med" type="none"/>
          </a:ln>
        </p:spPr>
      </p:cxnSp>
      <p:grpSp>
        <p:nvGrpSpPr>
          <p:cNvPr id="259" name="Google Shape;259;p8"/>
          <p:cNvGrpSpPr/>
          <p:nvPr/>
        </p:nvGrpSpPr>
        <p:grpSpPr>
          <a:xfrm>
            <a:off x="5562600" y="1158875"/>
            <a:ext cx="1600200" cy="1516063"/>
            <a:chOff x="3504" y="288"/>
            <a:chExt cx="1008" cy="955"/>
          </a:xfrm>
        </p:grpSpPr>
        <p:pic>
          <p:nvPicPr>
            <p:cNvPr descr="j0174351" id="260" name="Google Shape;260;p8"/>
            <p:cNvPicPr preferRelativeResize="0"/>
            <p:nvPr/>
          </p:nvPicPr>
          <p:blipFill rotWithShape="1">
            <a:blip r:embed="rId11">
              <a:alphaModFix/>
            </a:blip>
            <a:srcRect b="0" l="0" r="0" t="0"/>
            <a:stretch/>
          </p:blipFill>
          <p:spPr>
            <a:xfrm>
              <a:off x="3648" y="288"/>
              <a:ext cx="864" cy="741"/>
            </a:xfrm>
            <a:prstGeom prst="rect">
              <a:avLst/>
            </a:prstGeom>
            <a:noFill/>
            <a:ln>
              <a:noFill/>
            </a:ln>
          </p:spPr>
        </p:pic>
        <p:sp>
          <p:nvSpPr>
            <p:cNvPr id="261" name="Google Shape;261;p8"/>
            <p:cNvSpPr/>
            <p:nvPr/>
          </p:nvSpPr>
          <p:spPr>
            <a:xfrm>
              <a:off x="3504" y="912"/>
              <a:ext cx="716" cy="331"/>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None/>
              </a:pPr>
              <a:r>
                <a:rPr b="1" lang="fi-FI" sz="1400">
                  <a:solidFill>
                    <a:schemeClr val="dk1"/>
                  </a:solidFill>
                  <a:latin typeface="Gill Sans"/>
                  <a:ea typeface="Gill Sans"/>
                  <a:cs typeface="Gill Sans"/>
                  <a:sym typeface="Gill Sans"/>
                </a:rPr>
                <a:t>Tärkeät ihmiset</a:t>
              </a:r>
              <a:endParaRPr b="1" sz="1400">
                <a:solidFill>
                  <a:schemeClr val="dk1"/>
                </a:solidFill>
                <a:latin typeface="Gill Sans"/>
                <a:ea typeface="Gill Sans"/>
                <a:cs typeface="Gill Sans"/>
                <a:sym typeface="Gill Sans"/>
              </a:endParaRPr>
            </a:p>
          </p:txBody>
        </p:sp>
      </p:grpSp>
      <p:sp>
        <p:nvSpPr>
          <p:cNvPr id="262" name="Google Shape;262;p8"/>
          <p:cNvSpPr/>
          <p:nvPr/>
        </p:nvSpPr>
        <p:spPr>
          <a:xfrm>
            <a:off x="3733800" y="2209800"/>
            <a:ext cx="1689100" cy="377825"/>
          </a:xfrm>
          <a:prstGeom prst="roundRect">
            <a:avLst>
              <a:gd fmla="val 16667" name="adj"/>
            </a:avLst>
          </a:prstGeom>
          <a:solidFill>
            <a:schemeClr val="lt1"/>
          </a:solidFill>
          <a:ln cap="flat" cmpd="sng" w="12700">
            <a:solidFill>
              <a:schemeClr val="folHlink"/>
            </a:solidFill>
            <a:prstDash val="solid"/>
            <a:round/>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fi-FI" sz="1600">
                <a:solidFill>
                  <a:schemeClr val="folHlink"/>
                </a:solidFill>
                <a:latin typeface="Gill Sans"/>
                <a:ea typeface="Gill Sans"/>
                <a:cs typeface="Gill Sans"/>
                <a:sym typeface="Gill Sans"/>
              </a:rPr>
              <a:t>Hälysuodatin</a:t>
            </a:r>
            <a:endParaRPr b="1" sz="1600">
              <a:solidFill>
                <a:schemeClr val="folHlink"/>
              </a:solidFill>
              <a:latin typeface="Gill Sans"/>
              <a:ea typeface="Gill Sans"/>
              <a:cs typeface="Gill Sans"/>
              <a:sym typeface="Gill Sans"/>
            </a:endParaRPr>
          </a:p>
        </p:txBody>
      </p:sp>
      <p:sp>
        <p:nvSpPr>
          <p:cNvPr id="263" name="Google Shape;263;p8"/>
          <p:cNvSpPr txBox="1"/>
          <p:nvPr/>
        </p:nvSpPr>
        <p:spPr>
          <a:xfrm>
            <a:off x="2971800" y="6477000"/>
            <a:ext cx="3733800" cy="248402"/>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lang="fi-FI" sz="1000">
                <a:solidFill>
                  <a:schemeClr val="dk1"/>
                </a:solidFill>
                <a:latin typeface="Gill Sans"/>
                <a:ea typeface="Gill Sans"/>
                <a:cs typeface="Gill Sans"/>
                <a:sym typeface="Gill Sans"/>
              </a:rPr>
              <a:t>Mukautettu ideasta, kiitokset Towo Toivola, F-Secure</a:t>
            </a:r>
            <a:endParaRPr sz="1000">
              <a:solidFill>
                <a:schemeClr val="dk1"/>
              </a:solidFill>
              <a:latin typeface="Gill Sans"/>
              <a:ea typeface="Gill Sans"/>
              <a:cs typeface="Gill Sans"/>
              <a:sym typeface="Gill Sans"/>
            </a:endParaRPr>
          </a:p>
        </p:txBody>
      </p:sp>
      <p:sp>
        <p:nvSpPr>
          <p:cNvPr id="264" name="Google Shape;264;p8"/>
          <p:cNvSpPr/>
          <p:nvPr/>
        </p:nvSpPr>
        <p:spPr>
          <a:xfrm>
            <a:off x="2057400" y="4914900"/>
            <a:ext cx="1143000" cy="647700"/>
          </a:xfrm>
          <a:prstGeom prst="roundRect">
            <a:avLst>
              <a:gd fmla="val 16667" name="adj"/>
            </a:avLst>
          </a:prstGeom>
          <a:solidFill>
            <a:schemeClr val="lt1"/>
          </a:solidFill>
          <a:ln cap="flat" cmpd="sng" w="12700">
            <a:solidFill>
              <a:schemeClr val="folHlink"/>
            </a:solidFill>
            <a:prstDash val="solid"/>
            <a:round/>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fi-FI" sz="1600">
                <a:solidFill>
                  <a:schemeClr val="folHlink"/>
                </a:solidFill>
                <a:latin typeface="Gill Sans"/>
                <a:ea typeface="Gill Sans"/>
                <a:cs typeface="Gill Sans"/>
                <a:sym typeface="Gill Sans"/>
              </a:rPr>
              <a:t>Laatu-suodatin</a:t>
            </a:r>
            <a:endParaRPr b="1" sz="1600">
              <a:solidFill>
                <a:schemeClr val="folHlink"/>
              </a:solidFill>
              <a:latin typeface="Gill Sans"/>
              <a:ea typeface="Gill Sans"/>
              <a:cs typeface="Gill Sans"/>
              <a:sym typeface="Gill Sans"/>
            </a:endParaRPr>
          </a:p>
        </p:txBody>
      </p:sp>
      <p:sp>
        <p:nvSpPr>
          <p:cNvPr id="265" name="Google Shape;265;p8"/>
          <p:cNvSpPr/>
          <p:nvPr/>
        </p:nvSpPr>
        <p:spPr>
          <a:xfrm>
            <a:off x="6249988" y="4876800"/>
            <a:ext cx="1217612" cy="647700"/>
          </a:xfrm>
          <a:prstGeom prst="roundRect">
            <a:avLst>
              <a:gd fmla="val 16667" name="adj"/>
            </a:avLst>
          </a:prstGeom>
          <a:solidFill>
            <a:schemeClr val="lt1"/>
          </a:solidFill>
          <a:ln cap="flat" cmpd="sng" w="12700">
            <a:solidFill>
              <a:schemeClr val="folHlink"/>
            </a:solidFill>
            <a:prstDash val="solid"/>
            <a:round/>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fi-FI" sz="1600">
                <a:solidFill>
                  <a:schemeClr val="folHlink"/>
                </a:solidFill>
                <a:latin typeface="Gill Sans"/>
                <a:ea typeface="Gill Sans"/>
                <a:cs typeface="Gill Sans"/>
                <a:sym typeface="Gill Sans"/>
              </a:rPr>
              <a:t>Virhe-</a:t>
            </a:r>
            <a:br>
              <a:rPr b="1" lang="fi-FI" sz="1600">
                <a:solidFill>
                  <a:schemeClr val="folHlink"/>
                </a:solidFill>
                <a:latin typeface="Gill Sans"/>
                <a:ea typeface="Gill Sans"/>
                <a:cs typeface="Gill Sans"/>
                <a:sym typeface="Gill Sans"/>
              </a:rPr>
            </a:br>
            <a:r>
              <a:rPr b="1" lang="fi-FI" sz="1600">
                <a:solidFill>
                  <a:schemeClr val="folHlink"/>
                </a:solidFill>
                <a:latin typeface="Gill Sans"/>
                <a:ea typeface="Gill Sans"/>
                <a:cs typeface="Gill Sans"/>
                <a:sym typeface="Gill Sans"/>
              </a:rPr>
              <a:t>suodatin</a:t>
            </a:r>
            <a:endParaRPr b="1" sz="1600">
              <a:solidFill>
                <a:schemeClr val="folHlink"/>
              </a:solidFill>
              <a:latin typeface="Gill Sans"/>
              <a:ea typeface="Gill Sans"/>
              <a:cs typeface="Gill Sans"/>
              <a:sym typeface="Gill Sans"/>
            </a:endParaRPr>
          </a:p>
        </p:txBody>
      </p:sp>
      <p:sp>
        <p:nvSpPr>
          <p:cNvPr id="266" name="Google Shape;266;p8"/>
          <p:cNvSpPr txBox="1"/>
          <p:nvPr/>
        </p:nvSpPr>
        <p:spPr>
          <a:xfrm>
            <a:off x="1795463" y="5592763"/>
            <a:ext cx="3352800" cy="833178"/>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b="1" lang="fi-FI" sz="1200">
                <a:solidFill>
                  <a:schemeClr val="dk1"/>
                </a:solidFill>
                <a:latin typeface="Gill Sans"/>
                <a:ea typeface="Gill Sans"/>
                <a:cs typeface="Gill Sans"/>
                <a:sym typeface="Gill Sans"/>
              </a:rPr>
              <a:t>Tavoitteet:</a:t>
            </a:r>
            <a:br>
              <a:rPr b="1" lang="fi-FI" sz="1200">
                <a:solidFill>
                  <a:schemeClr val="dk1"/>
                </a:solidFill>
                <a:latin typeface="Gill Sans"/>
                <a:ea typeface="Gill Sans"/>
                <a:cs typeface="Gill Sans"/>
                <a:sym typeface="Gill Sans"/>
              </a:rPr>
            </a:br>
            <a:r>
              <a:rPr lang="fi-FI" sz="1200">
                <a:solidFill>
                  <a:schemeClr val="dk1"/>
                </a:solidFill>
                <a:latin typeface="Gill Sans"/>
                <a:ea typeface="Gill Sans"/>
                <a:cs typeface="Gill Sans"/>
                <a:sym typeface="Gill Sans"/>
              </a:rPr>
              <a:t>1) Oikea 20 % - ”Vaatimusten testaus”</a:t>
            </a:r>
            <a:br>
              <a:rPr lang="fi-FI" sz="1200">
                <a:solidFill>
                  <a:schemeClr val="dk1"/>
                </a:solidFill>
                <a:latin typeface="Gill Sans"/>
                <a:ea typeface="Gill Sans"/>
                <a:cs typeface="Gill Sans"/>
                <a:sym typeface="Gill Sans"/>
              </a:rPr>
            </a:br>
            <a:r>
              <a:rPr i="1" lang="fi-FI" sz="1200">
                <a:solidFill>
                  <a:schemeClr val="dk1"/>
                </a:solidFill>
                <a:latin typeface="Gill Sans"/>
                <a:ea typeface="Gill Sans"/>
                <a:cs typeface="Gill Sans"/>
                <a:sym typeface="Gill Sans"/>
              </a:rPr>
              <a:t>2) Tuloksen etukäteisoptimointi tekijöiden kautta – ”Laadun varmistus, prosessien testaus”</a:t>
            </a:r>
            <a:endParaRPr i="1" sz="1200">
              <a:solidFill>
                <a:schemeClr val="dk1"/>
              </a:solidFill>
              <a:latin typeface="Gill Sans"/>
              <a:ea typeface="Gill Sans"/>
              <a:cs typeface="Gill Sans"/>
              <a:sym typeface="Gill Sans"/>
            </a:endParaRPr>
          </a:p>
        </p:txBody>
      </p:sp>
      <p:sp>
        <p:nvSpPr>
          <p:cNvPr id="267" name="Google Shape;267;p8"/>
          <p:cNvSpPr txBox="1"/>
          <p:nvPr/>
        </p:nvSpPr>
        <p:spPr>
          <a:xfrm>
            <a:off x="5638800" y="5486400"/>
            <a:ext cx="3352800" cy="833178"/>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b="1" lang="fi-FI" sz="1200">
                <a:solidFill>
                  <a:schemeClr val="dk1"/>
                </a:solidFill>
                <a:latin typeface="Gill Sans"/>
                <a:ea typeface="Gill Sans"/>
                <a:cs typeface="Gill Sans"/>
                <a:sym typeface="Gill Sans"/>
              </a:rPr>
              <a:t>Tavoitteet:</a:t>
            </a:r>
            <a:br>
              <a:rPr b="1" lang="fi-FI" sz="1200">
                <a:solidFill>
                  <a:schemeClr val="dk1"/>
                </a:solidFill>
                <a:latin typeface="Gill Sans"/>
                <a:ea typeface="Gill Sans"/>
                <a:cs typeface="Gill Sans"/>
                <a:sym typeface="Gill Sans"/>
              </a:rPr>
            </a:br>
            <a:r>
              <a:rPr lang="fi-FI" sz="1200">
                <a:solidFill>
                  <a:schemeClr val="dk1"/>
                </a:solidFill>
                <a:latin typeface="Gill Sans"/>
                <a:ea typeface="Gill Sans"/>
                <a:cs typeface="Gill Sans"/>
                <a:sym typeface="Gill Sans"/>
              </a:rPr>
              <a:t>1) Virheiden havaitseminen ja poistaminen</a:t>
            </a:r>
            <a:br>
              <a:rPr lang="fi-FI" sz="1200">
                <a:solidFill>
                  <a:schemeClr val="dk1"/>
                </a:solidFill>
                <a:latin typeface="Gill Sans"/>
                <a:ea typeface="Gill Sans"/>
                <a:cs typeface="Gill Sans"/>
                <a:sym typeface="Gill Sans"/>
              </a:rPr>
            </a:br>
            <a:r>
              <a:rPr lang="fi-FI" sz="1200">
                <a:solidFill>
                  <a:schemeClr val="dk1"/>
                </a:solidFill>
                <a:latin typeface="Gill Sans"/>
                <a:ea typeface="Gill Sans"/>
                <a:cs typeface="Gill Sans"/>
                <a:sym typeface="Gill Sans"/>
              </a:rPr>
              <a:t>2) Virheiden estäminen testi-ideoiden viestinnän kautta</a:t>
            </a:r>
            <a:endParaRPr sz="1200">
              <a:solidFill>
                <a:schemeClr val="dk1"/>
              </a:solidFill>
              <a:latin typeface="Gill Sans"/>
              <a:ea typeface="Gill Sans"/>
              <a:cs typeface="Gill Sans"/>
              <a:sym typeface="Gill Sans"/>
            </a:endParaRPr>
          </a:p>
        </p:txBody>
      </p:sp>
      <p:sp>
        <p:nvSpPr>
          <p:cNvPr id="268" name="Google Shape;268;p8"/>
          <p:cNvSpPr txBox="1"/>
          <p:nvPr/>
        </p:nvSpPr>
        <p:spPr>
          <a:xfrm>
            <a:off x="2590800" y="1570038"/>
            <a:ext cx="3352800" cy="648512"/>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b="1" lang="fi-FI" sz="1200">
                <a:solidFill>
                  <a:schemeClr val="dk1"/>
                </a:solidFill>
                <a:latin typeface="Gill Sans"/>
                <a:ea typeface="Gill Sans"/>
                <a:cs typeface="Gill Sans"/>
                <a:sym typeface="Gill Sans"/>
              </a:rPr>
              <a:t>Tavoitteet:</a:t>
            </a:r>
            <a:br>
              <a:rPr b="1" lang="fi-FI" sz="1200">
                <a:solidFill>
                  <a:schemeClr val="dk1"/>
                </a:solidFill>
                <a:latin typeface="Gill Sans"/>
                <a:ea typeface="Gill Sans"/>
                <a:cs typeface="Gill Sans"/>
                <a:sym typeface="Gill Sans"/>
              </a:rPr>
            </a:br>
            <a:r>
              <a:rPr lang="fi-FI" sz="1200">
                <a:solidFill>
                  <a:schemeClr val="dk1"/>
                </a:solidFill>
                <a:latin typeface="Gill Sans"/>
                <a:ea typeface="Gill Sans"/>
                <a:cs typeface="Gill Sans"/>
                <a:sym typeface="Gill Sans"/>
              </a:rPr>
              <a:t>1) Tehokas näkyvyys projekti- ja liiketoimintajohdolle</a:t>
            </a:r>
            <a:endParaRPr sz="1200">
              <a:solidFill>
                <a:schemeClr val="dk1"/>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000"/>
              <a:buFont typeface="Gill Sans"/>
              <a:buNone/>
            </a:pPr>
            <a:r>
              <a:rPr lang="fi-FI" sz="4000"/>
              <a:t>Esimerkillä alkuun...</a:t>
            </a:r>
            <a:endParaRPr sz="4000"/>
          </a:p>
        </p:txBody>
      </p:sp>
      <p:pic>
        <p:nvPicPr>
          <p:cNvPr descr="E:\Documents and Settings\maarit\Omat tiedostot\Google Drive\KIRJA\Kuvia\kuva1.JPG" id="274" name="Google Shape;274;p9"/>
          <p:cNvPicPr preferRelativeResize="0"/>
          <p:nvPr/>
        </p:nvPicPr>
        <p:blipFill rotWithShape="1">
          <a:blip r:embed="rId3">
            <a:alphaModFix/>
          </a:blip>
          <a:srcRect b="0" l="0" r="0" t="0"/>
          <a:stretch/>
        </p:blipFill>
        <p:spPr>
          <a:xfrm>
            <a:off x="215677" y="1196753"/>
            <a:ext cx="1962311" cy="5112568"/>
          </a:xfrm>
          <a:prstGeom prst="rect">
            <a:avLst/>
          </a:prstGeom>
          <a:noFill/>
          <a:ln>
            <a:noFill/>
          </a:ln>
        </p:spPr>
      </p:pic>
      <p:pic>
        <p:nvPicPr>
          <p:cNvPr descr="E:\Documents and Settings\maarit\Omat tiedostot\Google Drive\KIRJA\Kuvia\kuva2.JPG" id="275" name="Google Shape;275;p9"/>
          <p:cNvPicPr preferRelativeResize="0"/>
          <p:nvPr/>
        </p:nvPicPr>
        <p:blipFill rotWithShape="1">
          <a:blip r:embed="rId4">
            <a:alphaModFix/>
          </a:blip>
          <a:srcRect b="0" l="0" r="0" t="0"/>
          <a:stretch/>
        </p:blipFill>
        <p:spPr>
          <a:xfrm>
            <a:off x="2272208" y="1216491"/>
            <a:ext cx="6116216" cy="3940701"/>
          </a:xfrm>
          <a:prstGeom prst="rect">
            <a:avLst/>
          </a:prstGeom>
          <a:noFill/>
          <a:ln>
            <a:noFill/>
          </a:ln>
        </p:spPr>
      </p:pic>
      <p:pic>
        <p:nvPicPr>
          <p:cNvPr descr="E:\Documents and Settings\maarit\Omat tiedostot\Google Drive\KIRJA\Kuvia\kuva3.JPG" id="276" name="Google Shape;276;p9"/>
          <p:cNvPicPr preferRelativeResize="0"/>
          <p:nvPr/>
        </p:nvPicPr>
        <p:blipFill rotWithShape="1">
          <a:blip r:embed="rId5">
            <a:alphaModFix/>
          </a:blip>
          <a:srcRect b="0" l="0" r="0" t="0"/>
          <a:stretch/>
        </p:blipFill>
        <p:spPr>
          <a:xfrm>
            <a:off x="5796136" y="4049688"/>
            <a:ext cx="3167584" cy="2808312"/>
          </a:xfrm>
          <a:prstGeom prst="rect">
            <a:avLst/>
          </a:prstGeom>
          <a:noFill/>
          <a:ln>
            <a:noFill/>
          </a:ln>
        </p:spPr>
      </p:pic>
      <p:sp>
        <p:nvSpPr>
          <p:cNvPr id="277" name="Google Shape;277;p9"/>
          <p:cNvSpPr txBox="1"/>
          <p:nvPr/>
        </p:nvSpPr>
        <p:spPr>
          <a:xfrm>
            <a:off x="2339752" y="5157192"/>
            <a:ext cx="3456384"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200">
                <a:solidFill>
                  <a:schemeClr val="accent2"/>
                </a:solidFill>
                <a:latin typeface="Gill Sans"/>
                <a:ea typeface="Gill Sans"/>
                <a:cs typeface="Gill Sans"/>
                <a:sym typeface="Gill Sans"/>
              </a:rPr>
              <a:t>#1:  oletuspaluupäivä kuluva päivä</a:t>
            </a:r>
            <a:endParaRPr/>
          </a:p>
          <a:p>
            <a:pPr indent="0" lvl="0" marL="0" marR="0" rtl="0" algn="l">
              <a:spcBef>
                <a:spcPts val="0"/>
              </a:spcBef>
              <a:spcAft>
                <a:spcPts val="0"/>
              </a:spcAft>
              <a:buNone/>
            </a:pPr>
            <a:r>
              <a:rPr lang="fi-FI" sz="1200">
                <a:solidFill>
                  <a:schemeClr val="accent2"/>
                </a:solidFill>
                <a:latin typeface="Gill Sans"/>
                <a:ea typeface="Gill Sans"/>
                <a:cs typeface="Gill Sans"/>
                <a:sym typeface="Gill Sans"/>
              </a:rPr>
              <a:t>#2:  ajaksi etusivulla ei voi asettaa saapumisaikaa</a:t>
            </a:r>
            <a:endParaRPr/>
          </a:p>
          <a:p>
            <a:pPr indent="0" lvl="0" marL="0" marR="0" rtl="0" algn="l">
              <a:spcBef>
                <a:spcPts val="0"/>
              </a:spcBef>
              <a:spcAft>
                <a:spcPts val="0"/>
              </a:spcAft>
              <a:buNone/>
            </a:pPr>
            <a:r>
              <a:rPr lang="fi-FI" sz="1200">
                <a:solidFill>
                  <a:schemeClr val="accent2"/>
                </a:solidFill>
                <a:latin typeface="Gill Sans"/>
                <a:ea typeface="Gill Sans"/>
                <a:cs typeface="Gill Sans"/>
                <a:sym typeface="Gill Sans"/>
              </a:rPr>
              <a:t>#3:  tarkempi haku != edellinen sivu</a:t>
            </a:r>
            <a:endParaRPr/>
          </a:p>
          <a:p>
            <a:pPr indent="0" lvl="0" marL="0" marR="0" rtl="0" algn="l">
              <a:spcBef>
                <a:spcPts val="0"/>
              </a:spcBef>
              <a:spcAft>
                <a:spcPts val="0"/>
              </a:spcAft>
              <a:buNone/>
            </a:pPr>
            <a:r>
              <a:rPr lang="fi-FI" sz="1200">
                <a:solidFill>
                  <a:schemeClr val="accent2"/>
                </a:solidFill>
                <a:latin typeface="Gill Sans"/>
                <a:ea typeface="Gill Sans"/>
                <a:cs typeface="Gill Sans"/>
                <a:sym typeface="Gill Sans"/>
              </a:rPr>
              <a:t>#4: päivämäärien sijainti laatikoissaan</a:t>
            </a:r>
            <a:endParaRPr/>
          </a:p>
          <a:p>
            <a:pPr indent="0" lvl="0" marL="0" marR="0" rtl="0" algn="l">
              <a:spcBef>
                <a:spcPts val="0"/>
              </a:spcBef>
              <a:spcAft>
                <a:spcPts val="0"/>
              </a:spcAft>
              <a:buNone/>
            </a:pPr>
            <a:r>
              <a:rPr lang="fi-FI" sz="1200">
                <a:solidFill>
                  <a:schemeClr val="accent2"/>
                </a:solidFill>
                <a:latin typeface="Gill Sans"/>
                <a:ea typeface="Gill Sans"/>
                <a:cs typeface="Gill Sans"/>
                <a:sym typeface="Gill Sans"/>
              </a:rPr>
              <a:t>#5: saapumisaikavalinta ei toimi</a:t>
            </a:r>
            <a:endParaRPr/>
          </a:p>
          <a:p>
            <a:pPr indent="0" lvl="0" marL="0" marR="0" rtl="0" algn="l">
              <a:spcBef>
                <a:spcPts val="0"/>
              </a:spcBef>
              <a:spcAft>
                <a:spcPts val="0"/>
              </a:spcAft>
              <a:buNone/>
            </a:pPr>
            <a:r>
              <a:rPr lang="fi-FI" sz="1200">
                <a:solidFill>
                  <a:schemeClr val="accent2"/>
                </a:solidFill>
                <a:latin typeface="Gill Sans"/>
                <a:ea typeface="Gill Sans"/>
                <a:cs typeface="Gill Sans"/>
                <a:sym typeface="Gill Sans"/>
              </a:rPr>
              <a:t>#6: teknisiä virheitä</a:t>
            </a:r>
            <a:endParaRPr/>
          </a:p>
        </p:txBody>
      </p:sp>
      <p:pic>
        <p:nvPicPr>
          <p:cNvPr descr="E:\Documents and Settings\maarit\Omat tiedostot\Google Drive\KIRJA\Kuvia\kuva6.JPG" id="278" name="Google Shape;278;p9"/>
          <p:cNvPicPr preferRelativeResize="0"/>
          <p:nvPr/>
        </p:nvPicPr>
        <p:blipFill rotWithShape="1">
          <a:blip r:embed="rId6">
            <a:alphaModFix/>
          </a:blip>
          <a:srcRect b="0" l="0" r="0" t="0"/>
          <a:stretch/>
        </p:blipFill>
        <p:spPr>
          <a:xfrm>
            <a:off x="4860032" y="332656"/>
            <a:ext cx="4149345" cy="1052736"/>
          </a:xfrm>
          <a:prstGeom prst="rect">
            <a:avLst/>
          </a:prstGeom>
          <a:noFill/>
          <a:ln>
            <a:noFill/>
          </a:ln>
        </p:spPr>
      </p:pic>
      <p:sp>
        <p:nvSpPr>
          <p:cNvPr id="279" name="Google Shape;27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Oivalluksia testauksen luonteesta</a:t>
            </a:r>
            <a:endParaRPr/>
          </a:p>
        </p:txBody>
      </p:sp>
      <p:sp>
        <p:nvSpPr>
          <p:cNvPr id="286" name="Google Shape;286;p10"/>
          <p:cNvSpPr txBox="1"/>
          <p:nvPr/>
        </p:nvSpPr>
        <p:spPr>
          <a:xfrm>
            <a:off x="3286108" y="1357298"/>
            <a:ext cx="2428892" cy="62478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8000">
                <a:solidFill>
                  <a:schemeClr val="dk1"/>
                </a:solidFill>
                <a:latin typeface="Gill Sans"/>
                <a:ea typeface="Gill Sans"/>
                <a:cs typeface="Gill Sans"/>
                <a:sym typeface="Gill Sans"/>
              </a:rPr>
              <a:t>20</a:t>
            </a:r>
            <a:endParaRPr/>
          </a:p>
          <a:p>
            <a:pPr indent="0" lvl="0" marL="0" marR="0" rtl="0" algn="ctr">
              <a:spcBef>
                <a:spcPts val="0"/>
              </a:spcBef>
              <a:spcAft>
                <a:spcPts val="0"/>
              </a:spcAft>
              <a:buNone/>
            </a:pPr>
            <a:r>
              <a:rPr lang="fi-FI" sz="8000">
                <a:solidFill>
                  <a:schemeClr val="dk1"/>
                </a:solidFill>
                <a:latin typeface="Gill Sans"/>
                <a:ea typeface="Gill Sans"/>
                <a:cs typeface="Gill Sans"/>
                <a:sym typeface="Gill Sans"/>
              </a:rPr>
              <a:t>16</a:t>
            </a:r>
            <a:endParaRPr/>
          </a:p>
          <a:p>
            <a:pPr indent="0" lvl="0" marL="0" marR="0" rtl="0" algn="ctr">
              <a:spcBef>
                <a:spcPts val="0"/>
              </a:spcBef>
              <a:spcAft>
                <a:spcPts val="0"/>
              </a:spcAft>
              <a:buNone/>
            </a:pPr>
            <a:r>
              <a:rPr lang="fi-FI" sz="8000">
                <a:solidFill>
                  <a:schemeClr val="dk1"/>
                </a:solidFill>
                <a:latin typeface="Gill Sans"/>
                <a:ea typeface="Gill Sans"/>
                <a:cs typeface="Gill Sans"/>
                <a:sym typeface="Gill Sans"/>
              </a:rPr>
              <a:t>1639</a:t>
            </a:r>
            <a:endParaRPr/>
          </a:p>
          <a:p>
            <a:pPr indent="0" lvl="0" marL="0" marR="0" rtl="0" algn="ctr">
              <a:spcBef>
                <a:spcPts val="0"/>
              </a:spcBef>
              <a:spcAft>
                <a:spcPts val="0"/>
              </a:spcAft>
              <a:buNone/>
            </a:pPr>
            <a:r>
              <a:rPr lang="fi-FI" sz="8000">
                <a:solidFill>
                  <a:schemeClr val="dk1"/>
                </a:solidFill>
                <a:latin typeface="Gill Sans"/>
                <a:ea typeface="Gill Sans"/>
                <a:cs typeface="Gill Sans"/>
                <a:sym typeface="Gill Sans"/>
              </a:rPr>
              <a:t>5±2</a:t>
            </a:r>
            <a:endParaRPr/>
          </a:p>
          <a:p>
            <a:pPr indent="0" lvl="0" marL="0" marR="0" rtl="0" algn="ctr">
              <a:spcBef>
                <a:spcPts val="0"/>
              </a:spcBef>
              <a:spcAft>
                <a:spcPts val="0"/>
              </a:spcAft>
              <a:buNone/>
            </a:pPr>
            <a:r>
              <a:t/>
            </a:r>
            <a:endParaRPr sz="8000">
              <a:solidFill>
                <a:schemeClr val="dk1"/>
              </a:solidFill>
              <a:latin typeface="Gill Sans"/>
              <a:ea typeface="Gill Sans"/>
              <a:cs typeface="Gill Sans"/>
              <a:sym typeface="Gill Sans"/>
            </a:endParaRPr>
          </a:p>
        </p:txBody>
      </p:sp>
      <p:sp>
        <p:nvSpPr>
          <p:cNvPr id="287" name="Google Shape;287;p10"/>
          <p:cNvSpPr txBox="1"/>
          <p:nvPr/>
        </p:nvSpPr>
        <p:spPr>
          <a:xfrm>
            <a:off x="6228184" y="1752600"/>
            <a:ext cx="2664296" cy="3785652"/>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fi-FI" sz="2000">
                <a:solidFill>
                  <a:schemeClr val="lt1"/>
                </a:solidFill>
                <a:latin typeface="Gill Sans"/>
                <a:ea typeface="Gill Sans"/>
                <a:cs typeface="Gill Sans"/>
                <a:sym typeface="Gill Sans"/>
              </a:rPr>
              <a:t>Keskeisiä huomioita testauksen luonteesta:</a:t>
            </a:r>
            <a:endParaRPr/>
          </a:p>
          <a:p>
            <a:pPr indent="0" lvl="0" marL="0" marR="0" rtl="0" algn="ctr">
              <a:spcBef>
                <a:spcPts val="0"/>
              </a:spcBef>
              <a:spcAft>
                <a:spcPts val="0"/>
              </a:spcAft>
              <a:buNone/>
            </a:pPr>
            <a:r>
              <a:rPr lang="fi-FI" sz="2000">
                <a:solidFill>
                  <a:schemeClr val="lt1"/>
                </a:solidFill>
                <a:latin typeface="Gill Sans"/>
                <a:ea typeface="Gill Sans"/>
                <a:cs typeface="Gill Sans"/>
                <a:sym typeface="Gill Sans"/>
              </a:rPr>
              <a:t>- Rajallinen budjetti</a:t>
            </a:r>
            <a:endParaRPr/>
          </a:p>
          <a:p>
            <a:pPr indent="-127000" lvl="0" marL="0" marR="0" rtl="0" algn="ctr">
              <a:spcBef>
                <a:spcPts val="0"/>
              </a:spcBef>
              <a:spcAft>
                <a:spcPts val="0"/>
              </a:spcAft>
              <a:buClr>
                <a:schemeClr val="lt1"/>
              </a:buClr>
              <a:buSzPts val="2000"/>
              <a:buFont typeface="Gill Sans"/>
              <a:buChar char="-"/>
            </a:pPr>
            <a:r>
              <a:rPr lang="fi-FI" sz="2000">
                <a:solidFill>
                  <a:schemeClr val="lt1"/>
                </a:solidFill>
                <a:latin typeface="Gill Sans"/>
                <a:ea typeface="Gill Sans"/>
                <a:cs typeface="Gill Sans"/>
                <a:sym typeface="Gill Sans"/>
              </a:rPr>
              <a:t> Kohteena yllättävät ongelmat jatkuvan muutoksen alla</a:t>
            </a:r>
            <a:endParaRPr/>
          </a:p>
          <a:p>
            <a:pPr indent="-127000" lvl="0" marL="0" marR="0" rtl="0" algn="ctr">
              <a:spcBef>
                <a:spcPts val="0"/>
              </a:spcBef>
              <a:spcAft>
                <a:spcPts val="0"/>
              </a:spcAft>
              <a:buClr>
                <a:schemeClr val="lt1"/>
              </a:buClr>
              <a:buSzPts val="2000"/>
              <a:buFont typeface="Gill Sans"/>
              <a:buChar char="-"/>
            </a:pPr>
            <a:r>
              <a:rPr lang="fi-FI" sz="2000">
                <a:solidFill>
                  <a:schemeClr val="lt1"/>
                </a:solidFill>
                <a:latin typeface="Gill Sans"/>
                <a:ea typeface="Gill Sans"/>
                <a:cs typeface="Gill Sans"/>
                <a:sym typeface="Gill Sans"/>
              </a:rPr>
              <a:t> Mahdoton suunnitella yksityiskohtaisesti etukäteen</a:t>
            </a:r>
            <a:endParaRPr/>
          </a:p>
          <a:p>
            <a:pPr indent="-127000" lvl="0" marL="0" marR="0" rtl="0" algn="ctr">
              <a:spcBef>
                <a:spcPts val="0"/>
              </a:spcBef>
              <a:spcAft>
                <a:spcPts val="0"/>
              </a:spcAft>
              <a:buClr>
                <a:schemeClr val="lt1"/>
              </a:buClr>
              <a:buSzPts val="2000"/>
              <a:buFont typeface="Gill Sans"/>
              <a:buChar char="-"/>
            </a:pPr>
            <a:r>
              <a:rPr lang="fi-FI" sz="2000">
                <a:solidFill>
                  <a:schemeClr val="lt1"/>
                </a:solidFill>
                <a:latin typeface="Gill Sans"/>
                <a:ea typeface="Gill Sans"/>
                <a:cs typeface="Gill Sans"/>
                <a:sym typeface="Gill Sans"/>
              </a:rPr>
              <a:t> Monimutkainen ja laaja kokonaisuus </a:t>
            </a:r>
            <a:endParaRPr sz="2000">
              <a:solidFill>
                <a:schemeClr val="lt1"/>
              </a:solidFill>
              <a:latin typeface="Gill Sans"/>
              <a:ea typeface="Gill Sans"/>
              <a:cs typeface="Gill Sans"/>
              <a:sym typeface="Gill Sans"/>
            </a:endParaRPr>
          </a:p>
        </p:txBody>
      </p:sp>
      <p:sp>
        <p:nvSpPr>
          <p:cNvPr id="288" name="Google Shape;28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289" name="Google Shape;289;p10"/>
          <p:cNvSpPr/>
          <p:nvPr/>
        </p:nvSpPr>
        <p:spPr>
          <a:xfrm>
            <a:off x="323528" y="1916832"/>
            <a:ext cx="252028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000">
              <a:solidFill>
                <a:schemeClr val="accent3"/>
              </a:solidFill>
              <a:latin typeface="Gill Sans"/>
              <a:ea typeface="Gill Sans"/>
              <a:cs typeface="Gill Sans"/>
              <a:sym typeface="Gill Sans"/>
            </a:endParaRPr>
          </a:p>
        </p:txBody>
      </p:sp>
      <p:sp>
        <p:nvSpPr>
          <p:cNvPr id="290" name="Google Shape;290;p10"/>
          <p:cNvSpPr txBox="1"/>
          <p:nvPr/>
        </p:nvSpPr>
        <p:spPr>
          <a:xfrm>
            <a:off x="35496" y="5013176"/>
            <a:ext cx="273630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600">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”Testausmatematiikan” erikoislyhyt oppimäärä</a:t>
            </a:r>
            <a:endParaRPr/>
          </a:p>
        </p:txBody>
      </p:sp>
      <p:sp>
        <p:nvSpPr>
          <p:cNvPr id="297" name="Google Shape;297;p11"/>
          <p:cNvSpPr txBox="1"/>
          <p:nvPr/>
        </p:nvSpPr>
        <p:spPr>
          <a:xfrm>
            <a:off x="2428860" y="1531798"/>
            <a:ext cx="671514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Lasten peli ”20 kysymystä” opettaa jotain oleellista testauksesta. Peliin on kaksi vaihtoehtoista strategiaa: kysymysten listaaminen etukäteen kun tiedetään vähiten tai kysymysten esittäminen siten että edellisen vastauksesta saa oppia. </a:t>
            </a:r>
            <a:endParaRPr/>
          </a:p>
          <a:p>
            <a:pPr indent="0" lvl="0" marL="0" marR="0" rtl="0" algn="l">
              <a:spcBef>
                <a:spcPts val="0"/>
              </a:spcBef>
              <a:spcAft>
                <a:spcPts val="0"/>
              </a:spcAft>
              <a:buNone/>
            </a:pPr>
            <a:r>
              <a:rPr lang="fi-FI" sz="1400">
                <a:solidFill>
                  <a:schemeClr val="dk1"/>
                </a:solidFill>
                <a:latin typeface="Gill Sans"/>
                <a:ea typeface="Gill Sans"/>
                <a:cs typeface="Gill Sans"/>
                <a:sym typeface="Gill Sans"/>
              </a:rPr>
              <a:t>Miksi silti toistuvasti testauksessa pelaamme ”hölmöllä” strategialla? </a:t>
            </a:r>
            <a:endParaRPr sz="1400">
              <a:solidFill>
                <a:schemeClr val="dk1"/>
              </a:solidFill>
              <a:latin typeface="Gill Sans"/>
              <a:ea typeface="Gill Sans"/>
              <a:cs typeface="Gill Sans"/>
              <a:sym typeface="Gill Sans"/>
            </a:endParaRPr>
          </a:p>
        </p:txBody>
      </p:sp>
      <p:sp>
        <p:nvSpPr>
          <p:cNvPr id="298" name="Google Shape;298;p11"/>
          <p:cNvSpPr txBox="1"/>
          <p:nvPr/>
        </p:nvSpPr>
        <p:spPr>
          <a:xfrm>
            <a:off x="2428860" y="2564904"/>
            <a:ext cx="671514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Testauksen kansanviisauksiin kuuluu tarve miettiä odotettuja tuloksia yksityiskohtaisesti etukäteen – pelkona sokeus . Testauksen kohteena on odottamattomat ongelmat. </a:t>
            </a:r>
            <a:endParaRPr/>
          </a:p>
          <a:p>
            <a:pPr indent="0" lvl="0" marL="0" marR="0" rtl="0" algn="l">
              <a:spcBef>
                <a:spcPts val="0"/>
              </a:spcBef>
              <a:spcAft>
                <a:spcPts val="0"/>
              </a:spcAft>
              <a:buNone/>
            </a:pPr>
            <a:r>
              <a:rPr lang="fi-FI" sz="1400">
                <a:solidFill>
                  <a:schemeClr val="dk1"/>
                </a:solidFill>
                <a:latin typeface="Gill Sans"/>
                <a:ea typeface="Gill Sans"/>
                <a:cs typeface="Gill Sans"/>
                <a:sym typeface="Gill Sans"/>
              </a:rPr>
              <a:t>Miksi siis sijoitamme merkittävän osan projektibudjeteista virheiden löytymisen todennäköisyyden pienentämiseen?</a:t>
            </a:r>
            <a:endParaRPr sz="1400">
              <a:solidFill>
                <a:schemeClr val="dk1"/>
              </a:solidFill>
              <a:latin typeface="Gill Sans"/>
              <a:ea typeface="Gill Sans"/>
              <a:cs typeface="Gill Sans"/>
              <a:sym typeface="Gill Sans"/>
            </a:endParaRPr>
          </a:p>
        </p:txBody>
      </p:sp>
      <p:sp>
        <p:nvSpPr>
          <p:cNvPr id="299" name="Google Shape;299;p11"/>
          <p:cNvSpPr txBox="1"/>
          <p:nvPr/>
        </p:nvSpPr>
        <p:spPr>
          <a:xfrm>
            <a:off x="2428860" y="5427801"/>
            <a:ext cx="671514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Ihmisen muisti on rajallinen -  ”human envelope” - tutkitusti ja tunnetusti varsin rajoitettu. Tarvitsemme dokumentaatiota tueksi, erityisesti paineen alla. Dokumentaatio on merkittävä kustannuserä, jolla vain pieni osa tiedosta välittyy. Miksi emme luo dokumentaatiota ajankohtina jolloin ymmärrämme tarpeet parhaiten?</a:t>
            </a:r>
            <a:endParaRPr sz="1400">
              <a:solidFill>
                <a:schemeClr val="dk1"/>
              </a:solidFill>
              <a:latin typeface="Gill Sans"/>
              <a:ea typeface="Gill Sans"/>
              <a:cs typeface="Gill Sans"/>
              <a:sym typeface="Gill Sans"/>
            </a:endParaRPr>
          </a:p>
        </p:txBody>
      </p:sp>
      <p:sp>
        <p:nvSpPr>
          <p:cNvPr id="300" name="Google Shape;300;p11"/>
          <p:cNvSpPr txBox="1"/>
          <p:nvPr/>
        </p:nvSpPr>
        <p:spPr>
          <a:xfrm>
            <a:off x="-36512" y="1295464"/>
            <a:ext cx="2592288" cy="65864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7800">
                <a:solidFill>
                  <a:schemeClr val="dk1"/>
                </a:solidFill>
                <a:latin typeface="Gill Sans"/>
                <a:ea typeface="Gill Sans"/>
                <a:cs typeface="Gill Sans"/>
                <a:sym typeface="Gill Sans"/>
              </a:rPr>
              <a:t>20</a:t>
            </a:r>
            <a:endParaRPr/>
          </a:p>
          <a:p>
            <a:pPr indent="0" lvl="0" marL="0" marR="0" rtl="0" algn="ctr">
              <a:spcBef>
                <a:spcPts val="0"/>
              </a:spcBef>
              <a:spcAft>
                <a:spcPts val="0"/>
              </a:spcAft>
              <a:buNone/>
            </a:pPr>
            <a:r>
              <a:rPr lang="fi-FI" sz="7800">
                <a:solidFill>
                  <a:schemeClr val="dk1"/>
                </a:solidFill>
                <a:latin typeface="Gill Sans"/>
                <a:ea typeface="Gill Sans"/>
                <a:cs typeface="Gill Sans"/>
                <a:sym typeface="Gill Sans"/>
              </a:rPr>
              <a:t>16</a:t>
            </a:r>
            <a:endParaRPr/>
          </a:p>
          <a:p>
            <a:pPr indent="0" lvl="0" marL="0" marR="0" rtl="0" algn="ctr">
              <a:spcBef>
                <a:spcPts val="0"/>
              </a:spcBef>
              <a:spcAft>
                <a:spcPts val="0"/>
              </a:spcAft>
              <a:buNone/>
            </a:pPr>
            <a:r>
              <a:t/>
            </a:r>
            <a:endParaRPr sz="3200">
              <a:solidFill>
                <a:schemeClr val="dk1"/>
              </a:solidFill>
              <a:latin typeface="Gill Sans"/>
              <a:ea typeface="Gill Sans"/>
              <a:cs typeface="Gill Sans"/>
              <a:sym typeface="Gill Sans"/>
            </a:endParaRPr>
          </a:p>
          <a:p>
            <a:pPr indent="0" lvl="0" marL="0" marR="0" rtl="0" algn="ctr">
              <a:spcBef>
                <a:spcPts val="0"/>
              </a:spcBef>
              <a:spcAft>
                <a:spcPts val="0"/>
              </a:spcAft>
              <a:buNone/>
            </a:pPr>
            <a:r>
              <a:rPr lang="fi-FI" sz="7800">
                <a:solidFill>
                  <a:schemeClr val="dk1"/>
                </a:solidFill>
                <a:latin typeface="Gill Sans"/>
                <a:ea typeface="Gill Sans"/>
                <a:cs typeface="Gill Sans"/>
                <a:sym typeface="Gill Sans"/>
              </a:rPr>
              <a:t>1639</a:t>
            </a:r>
            <a:endParaRPr/>
          </a:p>
          <a:p>
            <a:pPr indent="0" lvl="0" marL="0" marR="0" rtl="0" algn="ctr">
              <a:spcBef>
                <a:spcPts val="0"/>
              </a:spcBef>
              <a:spcAft>
                <a:spcPts val="0"/>
              </a:spcAft>
              <a:buNone/>
            </a:pPr>
            <a:r>
              <a:rPr lang="fi-FI" sz="7800">
                <a:solidFill>
                  <a:schemeClr val="dk1"/>
                </a:solidFill>
                <a:latin typeface="Gill Sans"/>
                <a:ea typeface="Gill Sans"/>
                <a:cs typeface="Gill Sans"/>
                <a:sym typeface="Gill Sans"/>
              </a:rPr>
              <a:t>5±2</a:t>
            </a:r>
            <a:endParaRPr/>
          </a:p>
          <a:p>
            <a:pPr indent="0" lvl="0" marL="0" marR="0" rtl="0" algn="ctr">
              <a:spcBef>
                <a:spcPts val="0"/>
              </a:spcBef>
              <a:spcAft>
                <a:spcPts val="0"/>
              </a:spcAft>
              <a:buNone/>
            </a:pPr>
            <a:r>
              <a:t/>
            </a:r>
            <a:endParaRPr sz="7800">
              <a:solidFill>
                <a:schemeClr val="dk1"/>
              </a:solidFill>
              <a:latin typeface="Gill Sans"/>
              <a:ea typeface="Gill Sans"/>
              <a:cs typeface="Gill Sans"/>
              <a:sym typeface="Gill Sans"/>
            </a:endParaRPr>
          </a:p>
        </p:txBody>
      </p:sp>
      <p:sp>
        <p:nvSpPr>
          <p:cNvPr id="301" name="Google Shape;301;p11"/>
          <p:cNvSpPr txBox="1"/>
          <p:nvPr/>
        </p:nvSpPr>
        <p:spPr>
          <a:xfrm>
            <a:off x="2465372" y="4418528"/>
            <a:ext cx="671514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Sama ei ehkä olekaan sama jos jokin muuttuja on eri lailla. Testaus ei ole kaiken kattamista suhteessa määrittelyyn, vaan sen ajattelua että ”onko tämä ongelma, onko se oleellinen”. Ei läpi / ei läpi. </a:t>
            </a:r>
            <a:endParaRPr/>
          </a:p>
        </p:txBody>
      </p:sp>
      <p:sp>
        <p:nvSpPr>
          <p:cNvPr id="302" name="Google Shape;302;p11"/>
          <p:cNvSpPr txBox="1"/>
          <p:nvPr/>
        </p:nvSpPr>
        <p:spPr>
          <a:xfrm>
            <a:off x="3750654" y="3652434"/>
            <a:ext cx="5357850" cy="928694"/>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200"/>
              <a:buFont typeface="Arial"/>
              <a:buChar char="•"/>
            </a:pPr>
            <a:r>
              <a:rPr b="0" i="0" lang="fi-FI" sz="1200" u="sng" cap="none" strike="noStrike">
                <a:solidFill>
                  <a:schemeClr val="dk1"/>
                </a:solidFill>
                <a:latin typeface="Gill Sans"/>
                <a:ea typeface="Gill Sans"/>
                <a:cs typeface="Gill Sans"/>
                <a:sym typeface="Gill Sans"/>
                <a:hlinkClick r:id="rId3">
                  <a:extLst>
                    <a:ext uri="{A12FA001-AC4F-418D-AE19-62706E023703}">
                      <ahyp:hlinkClr val="tx"/>
                    </a:ext>
                  </a:extLst>
                </a:hlinkClick>
              </a:rPr>
              <a:t>http://viscog.beckman.illinois.edu/flashmovie/15.php</a:t>
            </a:r>
            <a:endParaRPr b="0" i="0" sz="1200" u="none" cap="none" strike="noStrike">
              <a:solidFill>
                <a:schemeClr val="dk1"/>
              </a:solidFill>
              <a:latin typeface="Gill Sans"/>
              <a:ea typeface="Gill Sans"/>
              <a:cs typeface="Gill Sans"/>
              <a:sym typeface="Gill Sans"/>
            </a:endParaRPr>
          </a:p>
          <a:p>
            <a:pPr indent="-342900" lvl="0" marL="342900" marR="0" rtl="0" algn="l">
              <a:lnSpc>
                <a:spcPct val="100000"/>
              </a:lnSpc>
              <a:spcBef>
                <a:spcPts val="240"/>
              </a:spcBef>
              <a:spcAft>
                <a:spcPts val="0"/>
              </a:spcAft>
              <a:buClr>
                <a:schemeClr val="dk1"/>
              </a:buClr>
              <a:buSzPts val="1200"/>
              <a:buFont typeface="Arial"/>
              <a:buChar char="•"/>
            </a:pPr>
            <a:r>
              <a:rPr b="0" i="0" lang="fi-FI" sz="1200" u="sng" cap="none" strike="noStrike">
                <a:solidFill>
                  <a:schemeClr val="dk1"/>
                </a:solidFill>
                <a:latin typeface="Gill Sans"/>
                <a:ea typeface="Gill Sans"/>
                <a:cs typeface="Gill Sans"/>
                <a:sym typeface="Gill Sans"/>
                <a:hlinkClick r:id="rId4">
                  <a:extLst>
                    <a:ext uri="{A12FA001-AC4F-418D-AE19-62706E023703}">
                      <ahyp:hlinkClr val="tx"/>
                    </a:ext>
                  </a:extLst>
                </a:hlinkClick>
              </a:rPr>
              <a:t>http://www.dothetest.co.uk/whodunnit.html</a:t>
            </a:r>
            <a:r>
              <a:rPr b="0" i="0" lang="fi-FI" sz="1200" u="none" cap="none" strike="noStrike">
                <a:solidFill>
                  <a:schemeClr val="dk1"/>
                </a:solidFill>
                <a:latin typeface="Gill Sans"/>
                <a:ea typeface="Gill Sans"/>
                <a:cs typeface="Gill Sans"/>
                <a:sym typeface="Gill Sans"/>
              </a:rPr>
              <a:t> </a:t>
            </a:r>
            <a:endParaRPr/>
          </a:p>
          <a:p>
            <a:pPr indent="-342900" lvl="0" marL="342900" marR="0" rtl="0" algn="l">
              <a:spcBef>
                <a:spcPts val="240"/>
              </a:spcBef>
              <a:spcAft>
                <a:spcPts val="0"/>
              </a:spcAft>
              <a:buClr>
                <a:schemeClr val="dk1"/>
              </a:buClr>
              <a:buSzPts val="1200"/>
              <a:buFont typeface="Arial"/>
              <a:buChar char="•"/>
            </a:pPr>
            <a:r>
              <a:rPr lang="fi-FI" sz="1200" u="sng">
                <a:solidFill>
                  <a:schemeClr val="dk1"/>
                </a:solidFill>
                <a:latin typeface="Gill Sans"/>
                <a:ea typeface="Gill Sans"/>
                <a:cs typeface="Gill Sans"/>
                <a:sym typeface="Gill Sans"/>
                <a:hlinkClick r:id="rId5">
                  <a:extLst>
                    <a:ext uri="{A12FA001-AC4F-418D-AE19-62706E023703}">
                      <ahyp:hlinkClr val="tx"/>
                    </a:ext>
                  </a:extLst>
                </a:hlinkClick>
              </a:rPr>
              <a:t>http://www.youtube.com/watch?v=IGQmdoK_ZfY</a:t>
            </a:r>
            <a:r>
              <a:rPr lang="fi-FI" sz="1200">
                <a:solidFill>
                  <a:schemeClr val="dk1"/>
                </a:solidFill>
                <a:latin typeface="Gill Sans"/>
                <a:ea typeface="Gill Sans"/>
                <a:cs typeface="Gill Sans"/>
                <a:sym typeface="Gill Sans"/>
              </a:rPr>
              <a:t> </a:t>
            </a:r>
            <a:endParaRPr/>
          </a:p>
          <a:p>
            <a:pPr indent="-266700" lvl="0" marL="342900" marR="0" rtl="0" algn="l">
              <a:lnSpc>
                <a:spcPct val="100000"/>
              </a:lnSpc>
              <a:spcBef>
                <a:spcPts val="240"/>
              </a:spcBef>
              <a:spcAft>
                <a:spcPts val="0"/>
              </a:spcAft>
              <a:buClr>
                <a:schemeClr val="dk1"/>
              </a:buClr>
              <a:buSzPts val="1200"/>
              <a:buFont typeface="Arial"/>
              <a:buNone/>
            </a:pPr>
            <a:r>
              <a:t/>
            </a:r>
            <a:endParaRPr b="0" i="0" sz="1200" u="none" cap="none" strike="noStrike">
              <a:solidFill>
                <a:schemeClr val="dk1"/>
              </a:solidFill>
              <a:latin typeface="Gill Sans"/>
              <a:ea typeface="Gill Sans"/>
              <a:cs typeface="Gill Sans"/>
              <a:sym typeface="Gill Sans"/>
            </a:endParaRPr>
          </a:p>
        </p:txBody>
      </p:sp>
      <p:sp>
        <p:nvSpPr>
          <p:cNvPr id="303" name="Google Shape;30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Oppina tästä</a:t>
            </a:r>
            <a:endParaRPr/>
          </a:p>
        </p:txBody>
      </p:sp>
      <p:sp>
        <p:nvSpPr>
          <p:cNvPr id="310" name="Google Shape;310;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fi-FI"/>
              <a:t>Testaus ei ole mekaaninen aktiviteetti, jossa vain varmistetaan se mitä jo osattiin odottaa vaan luovaa ja oppimistaitoja vaativaa laatukysymysten rakenteistamista</a:t>
            </a:r>
            <a:endParaRPr/>
          </a:p>
          <a:p>
            <a:pPr indent="-342900" lvl="0" marL="342900" rtl="0" algn="l">
              <a:spcBef>
                <a:spcPts val="592"/>
              </a:spcBef>
              <a:spcAft>
                <a:spcPts val="0"/>
              </a:spcAft>
              <a:buClr>
                <a:schemeClr val="dk1"/>
              </a:buClr>
              <a:buSzPct val="100000"/>
              <a:buChar char="•"/>
            </a:pPr>
            <a:r>
              <a:rPr lang="fi-FI"/>
              <a:t>Mekaaniset osat testauksesta voi ja kannattaa automatisoida, mutta niitä on vähemmän kuin usein ymmärretään</a:t>
            </a:r>
            <a:endParaRPr/>
          </a:p>
          <a:p>
            <a:pPr indent="-285750" lvl="1" marL="742950" rtl="0" algn="l">
              <a:spcBef>
                <a:spcPts val="518"/>
              </a:spcBef>
              <a:spcAft>
                <a:spcPts val="0"/>
              </a:spcAft>
              <a:buClr>
                <a:schemeClr val="dk1"/>
              </a:buClr>
              <a:buSzPct val="100000"/>
              <a:buChar char="–"/>
            </a:pPr>
            <a:r>
              <a:rPr lang="fi-FI"/>
              <a:t>Toistotarve ei ole niin suoraviivaista: paras tapa säästää kustannuksissa on jättää tarpeettomia asioita tekemättä!</a:t>
            </a:r>
            <a:endParaRPr/>
          </a:p>
        </p:txBody>
      </p:sp>
      <p:sp>
        <p:nvSpPr>
          <p:cNvPr id="311" name="Google Shape;311;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Määrittelyn limupeli</a:t>
            </a:r>
            <a:endParaRPr/>
          </a:p>
        </p:txBody>
      </p:sp>
      <p:pic>
        <p:nvPicPr>
          <p:cNvPr descr="C:\Users\mpy\AppData\Local\Microsoft\Windows\Temporary Internet Files\Content.IE5\KN43RTXQ\MC900407930[1].wmf" id="317" name="Google Shape;317;p13"/>
          <p:cNvPicPr preferRelativeResize="0"/>
          <p:nvPr/>
        </p:nvPicPr>
        <p:blipFill rotWithShape="1">
          <a:blip r:embed="rId3">
            <a:alphaModFix/>
          </a:blip>
          <a:srcRect b="0" l="0" r="0" t="0"/>
          <a:stretch/>
        </p:blipFill>
        <p:spPr>
          <a:xfrm>
            <a:off x="395535" y="1484784"/>
            <a:ext cx="2830205" cy="2664296"/>
          </a:xfrm>
          <a:prstGeom prst="rect">
            <a:avLst/>
          </a:prstGeom>
          <a:noFill/>
          <a:ln>
            <a:noFill/>
          </a:ln>
        </p:spPr>
      </p:pic>
      <p:pic>
        <p:nvPicPr>
          <p:cNvPr descr="C:\Users\mpy\AppData\Local\Microsoft\Windows\Temporary Internet Files\Content.IE5\A5FEB46V\MC900195398[1].wmf" id="318" name="Google Shape;318;p13"/>
          <p:cNvPicPr preferRelativeResize="0"/>
          <p:nvPr/>
        </p:nvPicPr>
        <p:blipFill rotWithShape="1">
          <a:blip r:embed="rId4">
            <a:alphaModFix/>
          </a:blip>
          <a:srcRect b="0" l="0" r="0" t="0"/>
          <a:stretch/>
        </p:blipFill>
        <p:spPr>
          <a:xfrm>
            <a:off x="5172075" y="2414588"/>
            <a:ext cx="2890867" cy="3678708"/>
          </a:xfrm>
          <a:prstGeom prst="rect">
            <a:avLst/>
          </a:prstGeom>
          <a:noFill/>
          <a:ln>
            <a:noFill/>
          </a:ln>
        </p:spPr>
      </p:pic>
      <p:sp>
        <p:nvSpPr>
          <p:cNvPr id="319" name="Google Shape;31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The ”Beer Game” </a:t>
            </a:r>
            <a:endParaRPr/>
          </a:p>
        </p:txBody>
      </p:sp>
      <p:sp>
        <p:nvSpPr>
          <p:cNvPr id="325" name="Google Shape;325;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400"/>
              <a:buChar char="•"/>
            </a:pPr>
            <a:r>
              <a:rPr lang="fi-FI" sz="1400"/>
              <a:t>Can I get a beer, please?</a:t>
            </a:r>
            <a:endParaRPr/>
          </a:p>
          <a:p>
            <a:pPr indent="-285750" lvl="1" marL="742950" rtl="0" algn="l">
              <a:spcBef>
                <a:spcPts val="240"/>
              </a:spcBef>
              <a:spcAft>
                <a:spcPts val="0"/>
              </a:spcAft>
              <a:buClr>
                <a:schemeClr val="dk1"/>
              </a:buClr>
              <a:buSzPts val="1200"/>
              <a:buChar char="–"/>
            </a:pPr>
            <a:r>
              <a:rPr lang="fi-FI" sz="1200"/>
              <a:t>Waiter comes and pours a bucket of beer to your head. Not what you wanted, so make your order more specific. </a:t>
            </a:r>
            <a:endParaRPr/>
          </a:p>
          <a:p>
            <a:pPr indent="-342900" lvl="0" marL="342900" rtl="0" algn="l">
              <a:spcBef>
                <a:spcPts val="280"/>
              </a:spcBef>
              <a:spcAft>
                <a:spcPts val="0"/>
              </a:spcAft>
              <a:buClr>
                <a:schemeClr val="dk1"/>
              </a:buClr>
              <a:buSzPts val="1400"/>
              <a:buChar char="•"/>
            </a:pPr>
            <a:r>
              <a:rPr lang="fi-FI" sz="1400"/>
              <a:t>Can I get a beer in glass on the table, please?</a:t>
            </a:r>
            <a:endParaRPr/>
          </a:p>
          <a:p>
            <a:pPr indent="-285750" lvl="1" marL="742950" rtl="0" algn="l">
              <a:spcBef>
                <a:spcPts val="240"/>
              </a:spcBef>
              <a:spcAft>
                <a:spcPts val="0"/>
              </a:spcAft>
              <a:buClr>
                <a:schemeClr val="dk1"/>
              </a:buClr>
              <a:buSzPts val="1200"/>
              <a:buChar char="–"/>
            </a:pPr>
            <a:r>
              <a:rPr lang="fi-FI" sz="1200"/>
              <a:t>Waiter brings you a shot glass of beer. Still not what you wanted, so make your order more specific. </a:t>
            </a:r>
            <a:endParaRPr/>
          </a:p>
          <a:p>
            <a:pPr indent="-342900" lvl="0" marL="342900" rtl="0" algn="l">
              <a:spcBef>
                <a:spcPts val="280"/>
              </a:spcBef>
              <a:spcAft>
                <a:spcPts val="0"/>
              </a:spcAft>
              <a:buClr>
                <a:schemeClr val="dk1"/>
              </a:buClr>
              <a:buSzPts val="1400"/>
              <a:buChar char="•"/>
            </a:pPr>
            <a:r>
              <a:rPr lang="fi-FI" sz="1400"/>
              <a:t>Can I get a beer in a pint glass on the table, please?</a:t>
            </a:r>
            <a:endParaRPr/>
          </a:p>
          <a:p>
            <a:pPr indent="-285750" lvl="1" marL="742950" rtl="0" algn="l">
              <a:spcBef>
                <a:spcPts val="240"/>
              </a:spcBef>
              <a:spcAft>
                <a:spcPts val="0"/>
              </a:spcAft>
              <a:buClr>
                <a:schemeClr val="dk1"/>
              </a:buClr>
              <a:buSzPts val="1200"/>
              <a:buChar char="–"/>
            </a:pPr>
            <a:r>
              <a:rPr lang="fi-FI" sz="1200"/>
              <a:t>Waiter brings you a pint glass of boiling beer.</a:t>
            </a:r>
            <a:endParaRPr/>
          </a:p>
          <a:p>
            <a:pPr indent="-342900" lvl="0" marL="342900" rtl="0" algn="l">
              <a:spcBef>
                <a:spcPts val="280"/>
              </a:spcBef>
              <a:spcAft>
                <a:spcPts val="0"/>
              </a:spcAft>
              <a:buClr>
                <a:schemeClr val="dk1"/>
              </a:buClr>
              <a:buSzPts val="1400"/>
              <a:buChar char="•"/>
            </a:pPr>
            <a:r>
              <a:rPr lang="fi-FI" sz="1400"/>
              <a:t>Can I get a cold beer in a pint glass on the table, please?</a:t>
            </a:r>
            <a:endParaRPr/>
          </a:p>
          <a:p>
            <a:pPr indent="-285750" lvl="1" marL="742950" rtl="0" algn="l">
              <a:spcBef>
                <a:spcPts val="240"/>
              </a:spcBef>
              <a:spcAft>
                <a:spcPts val="0"/>
              </a:spcAft>
              <a:buClr>
                <a:schemeClr val="dk1"/>
              </a:buClr>
              <a:buSzPts val="1200"/>
              <a:buChar char="–"/>
            </a:pPr>
            <a:r>
              <a:rPr lang="fi-FI" sz="1200"/>
              <a:t>Waiter brings you a pint glass of frozen beer.</a:t>
            </a:r>
            <a:endParaRPr/>
          </a:p>
          <a:p>
            <a:pPr indent="-342900" lvl="0" marL="342900" rtl="0" algn="l">
              <a:spcBef>
                <a:spcPts val="280"/>
              </a:spcBef>
              <a:spcAft>
                <a:spcPts val="0"/>
              </a:spcAft>
              <a:buClr>
                <a:schemeClr val="dk1"/>
              </a:buClr>
              <a:buSzPts val="1400"/>
              <a:buChar char="•"/>
            </a:pPr>
            <a:r>
              <a:rPr lang="fi-FI" sz="1400"/>
              <a:t>Can I get a 8C degree beer in a pint glass on the table, please?</a:t>
            </a:r>
            <a:endParaRPr/>
          </a:p>
          <a:p>
            <a:pPr indent="-285750" lvl="1" marL="742950" rtl="0" algn="l">
              <a:spcBef>
                <a:spcPts val="240"/>
              </a:spcBef>
              <a:spcAft>
                <a:spcPts val="0"/>
              </a:spcAft>
              <a:buClr>
                <a:schemeClr val="dk1"/>
              </a:buClr>
              <a:buSzPts val="1200"/>
              <a:buChar char="–"/>
            </a:pPr>
            <a:r>
              <a:rPr lang="fi-FI" sz="1200"/>
              <a:t>Waiter brings you a pint glass of 8C degree beer, but the glass has a tennis ball inside it.</a:t>
            </a:r>
            <a:endParaRPr/>
          </a:p>
          <a:p>
            <a:pPr indent="-342900" lvl="0" marL="342900" rtl="0" algn="l">
              <a:spcBef>
                <a:spcPts val="280"/>
              </a:spcBef>
              <a:spcAft>
                <a:spcPts val="0"/>
              </a:spcAft>
              <a:buClr>
                <a:schemeClr val="dk1"/>
              </a:buClr>
              <a:buSzPts val="1400"/>
              <a:buChar char="•"/>
            </a:pPr>
            <a:r>
              <a:rPr lang="fi-FI" sz="1400"/>
              <a:t>Can I get a 8C degree beer in a pint glass that does not contain any other objects on the table, please?</a:t>
            </a:r>
            <a:endParaRPr/>
          </a:p>
          <a:p>
            <a:pPr indent="-285750" lvl="1" marL="742950" rtl="0" algn="l">
              <a:spcBef>
                <a:spcPts val="240"/>
              </a:spcBef>
              <a:spcAft>
                <a:spcPts val="0"/>
              </a:spcAft>
              <a:buClr>
                <a:schemeClr val="dk1"/>
              </a:buClr>
              <a:buSzPts val="1200"/>
              <a:buChar char="–"/>
            </a:pPr>
            <a:r>
              <a:rPr lang="fi-FI" sz="1200"/>
              <a:t>Goes 30 minutes and you do not get anything. So you ask from waiter what is taking so long? Waiter explains that the kitchen is building a new dust free room, and it will take some days to get your beer without any objects.</a:t>
            </a:r>
            <a:endParaRPr sz="1400"/>
          </a:p>
          <a:p>
            <a:pPr indent="-342900" lvl="0" marL="342900" rtl="0" algn="l">
              <a:spcBef>
                <a:spcPts val="280"/>
              </a:spcBef>
              <a:spcAft>
                <a:spcPts val="0"/>
              </a:spcAft>
              <a:buClr>
                <a:schemeClr val="dk1"/>
              </a:buClr>
              <a:buSzPts val="1400"/>
              <a:buChar char="•"/>
            </a:pPr>
            <a:r>
              <a:rPr lang="fi-FI" sz="1400"/>
              <a:t>Can I get a 8C degree beer in a pint glass that does not contain any big size other objects but small particles are ok on the table, please?</a:t>
            </a:r>
            <a:endParaRPr/>
          </a:p>
          <a:p>
            <a:pPr indent="-285750" lvl="1" marL="742950" rtl="0" algn="l">
              <a:spcBef>
                <a:spcPts val="240"/>
              </a:spcBef>
              <a:spcAft>
                <a:spcPts val="0"/>
              </a:spcAft>
              <a:buClr>
                <a:schemeClr val="dk1"/>
              </a:buClr>
              <a:buSzPts val="1200"/>
              <a:buChar char="–"/>
            </a:pPr>
            <a:r>
              <a:rPr lang="fi-FI" sz="1200"/>
              <a:t>Waiter brings you a pint glass of 8C degree beer. And warns you that it has some small residue of plutonium in it.</a:t>
            </a:r>
            <a:endParaRPr/>
          </a:p>
          <a:p>
            <a:pPr indent="-342900" lvl="0" marL="342900" rtl="0" algn="ctr">
              <a:spcBef>
                <a:spcPts val="480"/>
              </a:spcBef>
              <a:spcAft>
                <a:spcPts val="0"/>
              </a:spcAft>
              <a:buClr>
                <a:schemeClr val="accent2"/>
              </a:buClr>
              <a:buSzPts val="2400"/>
              <a:buNone/>
            </a:pPr>
            <a:r>
              <a:rPr lang="fi-FI" sz="2400">
                <a:solidFill>
                  <a:schemeClr val="accent2"/>
                </a:solidFill>
              </a:rPr>
              <a:t>What Should We Learn from This?</a:t>
            </a:r>
            <a:endParaRPr/>
          </a:p>
          <a:p>
            <a:pPr indent="-254000" lvl="0" marL="342900" rtl="0" algn="l">
              <a:spcBef>
                <a:spcPts val="280"/>
              </a:spcBef>
              <a:spcAft>
                <a:spcPts val="0"/>
              </a:spcAft>
              <a:buClr>
                <a:schemeClr val="dk1"/>
              </a:buClr>
              <a:buSzPts val="1400"/>
              <a:buNone/>
            </a:pPr>
            <a:r>
              <a:t/>
            </a:r>
            <a:endParaRPr sz="1400"/>
          </a:p>
        </p:txBody>
      </p:sp>
      <p:sp>
        <p:nvSpPr>
          <p:cNvPr id="326" name="Google Shape;3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327" name="Google Shape;327;p14"/>
          <p:cNvSpPr txBox="1"/>
          <p:nvPr/>
        </p:nvSpPr>
        <p:spPr>
          <a:xfrm>
            <a:off x="0" y="0"/>
            <a:ext cx="21559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Lähde: James Bach</a:t>
            </a:r>
            <a:endParaRPr sz="1800">
              <a:solidFill>
                <a:schemeClr val="dk1"/>
              </a:solidFill>
              <a:latin typeface="Gill Sans"/>
              <a:ea typeface="Gill Sans"/>
              <a:cs typeface="Gill Sans"/>
              <a:sym typeface="Gill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Kuinka testaisit tekstikentän?</a:t>
            </a:r>
            <a:endParaRPr/>
          </a:p>
        </p:txBody>
      </p:sp>
      <p:sp>
        <p:nvSpPr>
          <p:cNvPr id="333" name="Google Shape;33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334" name="Google Shape;334;p15"/>
          <p:cNvSpPr/>
          <p:nvPr/>
        </p:nvSpPr>
        <p:spPr>
          <a:xfrm>
            <a:off x="1295400" y="2971800"/>
            <a:ext cx="6400800" cy="609600"/>
          </a:xfrm>
          <a:prstGeom prst="rect">
            <a:avLst/>
          </a:prstGeom>
          <a:gradFill>
            <a:gsLst>
              <a:gs pos="0">
                <a:srgbClr val="C5CBD1"/>
              </a:gs>
              <a:gs pos="35000">
                <a:srgbClr val="D7DADD"/>
              </a:gs>
              <a:gs pos="100000">
                <a:srgbClr val="EEF2F2"/>
              </a:gs>
            </a:gsLst>
            <a:lin ang="16200000" scaled="0"/>
          </a:gradFill>
          <a:ln cap="flat" cmpd="sng" w="9525">
            <a:solidFill>
              <a:srgbClr val="7378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6"/>
          <p:cNvSpPr txBox="1"/>
          <p:nvPr/>
        </p:nvSpPr>
        <p:spPr>
          <a:xfrm>
            <a:off x="1907704" y="2564904"/>
            <a:ext cx="15376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7200">
                <a:solidFill>
                  <a:schemeClr val="dk1"/>
                </a:solidFill>
                <a:latin typeface="Gill Sans"/>
                <a:ea typeface="Gill Sans"/>
                <a:cs typeface="Gill Sans"/>
                <a:sym typeface="Gill Sans"/>
              </a:rPr>
              <a:t>1  2</a:t>
            </a:r>
            <a:endParaRPr sz="7200">
              <a:solidFill>
                <a:schemeClr val="dk1"/>
              </a:solidFill>
              <a:latin typeface="Gill Sans"/>
              <a:ea typeface="Gill Sans"/>
              <a:cs typeface="Gill Sans"/>
              <a:sym typeface="Gill Sans"/>
            </a:endParaRPr>
          </a:p>
        </p:txBody>
      </p:sp>
      <p:sp>
        <p:nvSpPr>
          <p:cNvPr id="341" name="Google Shape;341;p16"/>
          <p:cNvSpPr txBox="1"/>
          <p:nvPr/>
        </p:nvSpPr>
        <p:spPr>
          <a:xfrm>
            <a:off x="4788024" y="2564904"/>
            <a:ext cx="15376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7200">
                <a:solidFill>
                  <a:schemeClr val="dk1"/>
                </a:solidFill>
                <a:latin typeface="Gill Sans"/>
                <a:ea typeface="Gill Sans"/>
                <a:cs typeface="Gill Sans"/>
                <a:sym typeface="Gill Sans"/>
              </a:rPr>
              <a:t>4  5</a:t>
            </a:r>
            <a:endParaRPr sz="7200">
              <a:solidFill>
                <a:schemeClr val="dk1"/>
              </a:solidFill>
              <a:latin typeface="Gill Sans"/>
              <a:ea typeface="Gill Sans"/>
              <a:cs typeface="Gill Sans"/>
              <a:sym typeface="Gill Sans"/>
            </a:endParaRPr>
          </a:p>
        </p:txBody>
      </p:sp>
      <p:sp>
        <p:nvSpPr>
          <p:cNvPr id="342" name="Google Shape;342;p16"/>
          <p:cNvSpPr txBox="1"/>
          <p:nvPr/>
        </p:nvSpPr>
        <p:spPr>
          <a:xfrm>
            <a:off x="3851920" y="2492896"/>
            <a:ext cx="43152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7200">
                <a:solidFill>
                  <a:schemeClr val="dk1"/>
                </a:solidFill>
                <a:latin typeface="Gill Sans"/>
                <a:ea typeface="Gill Sans"/>
                <a:cs typeface="Gill Sans"/>
                <a:sym typeface="Gill Sans"/>
              </a:rPr>
              <a:t>:</a:t>
            </a:r>
            <a:endParaRPr sz="7200">
              <a:solidFill>
                <a:schemeClr val="dk1"/>
              </a:solidFill>
              <a:latin typeface="Gill Sans"/>
              <a:ea typeface="Gill Sans"/>
              <a:cs typeface="Gill Sans"/>
              <a:sym typeface="Gill Sans"/>
            </a:endParaRPr>
          </a:p>
        </p:txBody>
      </p:sp>
      <p:sp>
        <p:nvSpPr>
          <p:cNvPr id="343" name="Google Shape;343;p16"/>
          <p:cNvSpPr txBox="1"/>
          <p:nvPr/>
        </p:nvSpPr>
        <p:spPr>
          <a:xfrm>
            <a:off x="1763688" y="836712"/>
            <a:ext cx="597666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4000">
                <a:solidFill>
                  <a:schemeClr val="dk1"/>
                </a:solidFill>
                <a:latin typeface="Caveat"/>
                <a:ea typeface="Caveat"/>
                <a:cs typeface="Caveat"/>
                <a:sym typeface="Caveat"/>
              </a:rPr>
              <a:t>Mitä keskellä on? </a:t>
            </a:r>
            <a:endParaRPr sz="4000">
              <a:solidFill>
                <a:schemeClr val="dk1"/>
              </a:solidFill>
              <a:latin typeface="Caveat"/>
              <a:ea typeface="Caveat"/>
              <a:cs typeface="Caveat"/>
              <a:sym typeface="Caveat"/>
            </a:endParaRPr>
          </a:p>
        </p:txBody>
      </p:sp>
      <p:sp>
        <p:nvSpPr>
          <p:cNvPr id="344" name="Google Shape;344;p16"/>
          <p:cNvSpPr txBox="1"/>
          <p:nvPr/>
        </p:nvSpPr>
        <p:spPr>
          <a:xfrm>
            <a:off x="1115616" y="5229200"/>
            <a:ext cx="662713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3200">
                <a:solidFill>
                  <a:schemeClr val="dk1"/>
                </a:solidFill>
                <a:latin typeface="Caveat"/>
                <a:ea typeface="Caveat"/>
                <a:cs typeface="Caveat"/>
                <a:sym typeface="Caveat"/>
              </a:rPr>
              <a:t>”Deliberate Discovery Skills”</a:t>
            </a:r>
            <a:endParaRPr sz="3200">
              <a:solidFill>
                <a:schemeClr val="dk1"/>
              </a:solidFill>
              <a:latin typeface="Caveat"/>
              <a:ea typeface="Caveat"/>
              <a:cs typeface="Caveat"/>
              <a:sym typeface="Caveat"/>
            </a:endParaRPr>
          </a:p>
        </p:txBody>
      </p:sp>
      <p:sp>
        <p:nvSpPr>
          <p:cNvPr id="345" name="Google Shape;345;p16"/>
          <p:cNvSpPr txBox="1"/>
          <p:nvPr/>
        </p:nvSpPr>
        <p:spPr>
          <a:xfrm>
            <a:off x="251520" y="6237312"/>
            <a:ext cx="30559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Lähde: Liz ”Lunivore” Keogh</a:t>
            </a:r>
            <a:endParaRPr sz="1800">
              <a:solidFill>
                <a:schemeClr val="dk1"/>
              </a:solidFill>
              <a:latin typeface="Gill Sans"/>
              <a:ea typeface="Gill Sans"/>
              <a:cs typeface="Gill Sans"/>
              <a:sym typeface="Gill Sans"/>
            </a:endParaRPr>
          </a:p>
        </p:txBody>
      </p:sp>
      <p:sp>
        <p:nvSpPr>
          <p:cNvPr id="346" name="Google Shape;34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500"/>
                                        <p:tgtEl>
                                          <p:spTgt spid="34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Ydintaidot</a:t>
            </a:r>
            <a:endParaRPr/>
          </a:p>
        </p:txBody>
      </p:sp>
      <p:sp>
        <p:nvSpPr>
          <p:cNvPr id="352" name="Google Shape;352;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fi-FI"/>
              <a:t>Löydä ongelmia </a:t>
            </a:r>
            <a:r>
              <a:rPr lang="fi-FI"/>
              <a:t>– tunnista kun sellainen on nenäsi edessä</a:t>
            </a:r>
            <a:endParaRPr b="1"/>
          </a:p>
          <a:p>
            <a:pPr indent="-342900" lvl="0" marL="342900" rtl="0" algn="l">
              <a:spcBef>
                <a:spcPts val="640"/>
              </a:spcBef>
              <a:spcAft>
                <a:spcPts val="0"/>
              </a:spcAft>
              <a:buClr>
                <a:schemeClr val="dk1"/>
              </a:buClr>
              <a:buSzPts val="3200"/>
              <a:buChar char="•"/>
            </a:pPr>
            <a:r>
              <a:rPr b="1" lang="fi-FI"/>
              <a:t>Raportoi ongelmia </a:t>
            </a:r>
            <a:r>
              <a:rPr lang="fi-FI"/>
              <a:t>– saa muille tieto siitä mitä olet oppinut ongelmista testatessa </a:t>
            </a:r>
            <a:endParaRPr b="1"/>
          </a:p>
          <a:p>
            <a:pPr indent="-342900" lvl="0" marL="342900" rtl="0" algn="l">
              <a:spcBef>
                <a:spcPts val="640"/>
              </a:spcBef>
              <a:spcAft>
                <a:spcPts val="0"/>
              </a:spcAft>
              <a:buClr>
                <a:schemeClr val="dk1"/>
              </a:buClr>
              <a:buSzPts val="3200"/>
              <a:buChar char="•"/>
            </a:pPr>
            <a:r>
              <a:rPr b="1" lang="fi-FI"/>
              <a:t>Luo dokumentaatiota </a:t>
            </a:r>
            <a:r>
              <a:rPr lang="fi-FI"/>
              <a:t>– tuki tiimille nyt ja myöhemmin, päällekkäisyyksiä välttäen ja avainasiat tunnistaen </a:t>
            </a:r>
            <a:endParaRPr/>
          </a:p>
        </p:txBody>
      </p:sp>
      <p:sp>
        <p:nvSpPr>
          <p:cNvPr id="353" name="Google Shape;3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grpSp>
        <p:nvGrpSpPr>
          <p:cNvPr id="359" name="Google Shape;359;p18"/>
          <p:cNvGrpSpPr/>
          <p:nvPr/>
        </p:nvGrpSpPr>
        <p:grpSpPr>
          <a:xfrm>
            <a:off x="1547664" y="548680"/>
            <a:ext cx="5987008" cy="2016117"/>
            <a:chOff x="0" y="14691"/>
            <a:chExt cx="5987008" cy="287819"/>
          </a:xfrm>
        </p:grpSpPr>
        <p:sp>
          <p:nvSpPr>
            <p:cNvPr id="360" name="Google Shape;360;p18"/>
            <p:cNvSpPr/>
            <p:nvPr/>
          </p:nvSpPr>
          <p:spPr>
            <a:xfrm>
              <a:off x="0" y="1469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8"/>
            <p:cNvSpPr/>
            <p:nvPr/>
          </p:nvSpPr>
          <p:spPr>
            <a:xfrm>
              <a:off x="14050" y="28741"/>
              <a:ext cx="5958908" cy="259719"/>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lang="fi-FI" sz="2800">
                  <a:solidFill>
                    <a:schemeClr val="lt1"/>
                  </a:solidFill>
                  <a:latin typeface="Gill Sans"/>
                  <a:ea typeface="Gill Sans"/>
                  <a:cs typeface="Gill Sans"/>
                  <a:sym typeface="Gill Sans"/>
                </a:rPr>
                <a:t>Testaus, testitapaukset ja testaajana toimiminen</a:t>
              </a:r>
              <a:endParaRPr sz="2800">
                <a:solidFill>
                  <a:schemeClr val="lt1"/>
                </a:solidFill>
                <a:latin typeface="Gill Sans"/>
                <a:ea typeface="Gill Sans"/>
                <a:cs typeface="Gill Sans"/>
                <a:sym typeface="Gill Sans"/>
              </a:endParaRPr>
            </a:p>
          </p:txBody>
        </p:sp>
      </p:grpSp>
      <p:pic>
        <p:nvPicPr>
          <p:cNvPr descr="C:\Documents and Settings\mpyhajar.CONFORMIQ\Application Data\Microsoft\Media Catalog\Downloaded Clips\cl1f\j0078711.wmf" id="362" name="Google Shape;362;p18"/>
          <p:cNvPicPr preferRelativeResize="0"/>
          <p:nvPr/>
        </p:nvPicPr>
        <p:blipFill rotWithShape="1">
          <a:blip r:embed="rId3">
            <a:alphaModFix/>
          </a:blip>
          <a:srcRect b="0" l="0" r="0" t="0"/>
          <a:stretch/>
        </p:blipFill>
        <p:spPr>
          <a:xfrm>
            <a:off x="2339752" y="1943447"/>
            <a:ext cx="1622425" cy="3933825"/>
          </a:xfrm>
          <a:prstGeom prst="rect">
            <a:avLst/>
          </a:prstGeom>
          <a:noFill/>
          <a:ln>
            <a:noFill/>
          </a:ln>
        </p:spPr>
      </p:pic>
      <p:pic>
        <p:nvPicPr>
          <p:cNvPr descr="C:\Documents and Settings\mpyhajar.CONFORMIQ\Application Data\Microsoft\Media Catalog\Downloaded Clips\cl1f\j0078625.wmf" id="363" name="Google Shape;363;p18"/>
          <p:cNvPicPr preferRelativeResize="0"/>
          <p:nvPr/>
        </p:nvPicPr>
        <p:blipFill rotWithShape="1">
          <a:blip r:embed="rId4">
            <a:alphaModFix/>
          </a:blip>
          <a:srcRect b="0" l="0" r="0" t="0"/>
          <a:stretch/>
        </p:blipFill>
        <p:spPr>
          <a:xfrm>
            <a:off x="4286248" y="2428868"/>
            <a:ext cx="1295400" cy="3933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b="1" lang="fi-FI"/>
              <a:t>PÄIVÄ 1</a:t>
            </a:r>
            <a:endParaRPr/>
          </a:p>
        </p:txBody>
      </p:sp>
      <p:grpSp>
        <p:nvGrpSpPr>
          <p:cNvPr id="369" name="Google Shape;369;p19"/>
          <p:cNvGrpSpPr/>
          <p:nvPr/>
        </p:nvGrpSpPr>
        <p:grpSpPr>
          <a:xfrm>
            <a:off x="1475656" y="1614891"/>
            <a:ext cx="5987008" cy="4496580"/>
            <a:chOff x="0" y="14691"/>
            <a:chExt cx="5987008" cy="4496580"/>
          </a:xfrm>
        </p:grpSpPr>
        <p:sp>
          <p:nvSpPr>
            <p:cNvPr id="370" name="Google Shape;370;p19"/>
            <p:cNvSpPr/>
            <p:nvPr/>
          </p:nvSpPr>
          <p:spPr>
            <a:xfrm>
              <a:off x="0" y="1469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txBox="1"/>
            <p:nvPr/>
          </p:nvSpPr>
          <p:spPr>
            <a:xfrm>
              <a:off x="14050" y="2874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 testitapaukset ja testaajana toimiminen</a:t>
              </a:r>
              <a:endParaRPr sz="1200">
                <a:solidFill>
                  <a:schemeClr val="lt1"/>
                </a:solidFill>
                <a:latin typeface="Gill Sans"/>
                <a:ea typeface="Gill Sans"/>
                <a:cs typeface="Gill Sans"/>
                <a:sym typeface="Gill Sans"/>
              </a:endParaRPr>
            </a:p>
          </p:txBody>
        </p:sp>
        <p:sp>
          <p:nvSpPr>
            <p:cNvPr id="372" name="Google Shape;372;p19"/>
            <p:cNvSpPr/>
            <p:nvPr/>
          </p:nvSpPr>
          <p:spPr>
            <a:xfrm>
              <a:off x="0" y="30251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9"/>
            <p:cNvSpPr txBox="1"/>
            <p:nvPr/>
          </p:nvSpPr>
          <p:spPr>
            <a:xfrm>
              <a:off x="0" y="30251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Testaustyön luonne ja merkitys / testausmatematiikan perusteet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Määrittelyt testauksen pohjana / määrittelyn limupeli</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ajattelumallit / kuinka testaisin tekstikentän</a:t>
              </a:r>
              <a:endParaRPr b="0" i="0" sz="900" u="none" cap="none" strike="noStrike">
                <a:solidFill>
                  <a:schemeClr val="dk1"/>
                </a:solidFill>
                <a:latin typeface="Gill Sans"/>
                <a:ea typeface="Gill Sans"/>
                <a:cs typeface="Gill Sans"/>
                <a:sym typeface="Gill Sans"/>
              </a:endParaRPr>
            </a:p>
          </p:txBody>
        </p:sp>
        <p:sp>
          <p:nvSpPr>
            <p:cNvPr id="374" name="Google Shape;374;p19"/>
            <p:cNvSpPr/>
            <p:nvPr/>
          </p:nvSpPr>
          <p:spPr>
            <a:xfrm>
              <a:off x="0" y="762051"/>
              <a:ext cx="5987008" cy="287819"/>
            </a:xfrm>
            <a:prstGeom prst="roundRect">
              <a:avLst>
                <a:gd fmla="val 16667" name="adj"/>
              </a:avLst>
            </a:prstGeom>
            <a:solidFill>
              <a:srgbClr val="B32A1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9"/>
            <p:cNvSpPr txBox="1"/>
            <p:nvPr/>
          </p:nvSpPr>
          <p:spPr>
            <a:xfrm>
              <a:off x="14050" y="7761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dokumentointi</a:t>
              </a:r>
              <a:endParaRPr sz="1200">
                <a:solidFill>
                  <a:schemeClr val="lt1"/>
                </a:solidFill>
                <a:latin typeface="Gill Sans"/>
                <a:ea typeface="Gill Sans"/>
                <a:cs typeface="Gill Sans"/>
                <a:sym typeface="Gill Sans"/>
              </a:endParaRPr>
            </a:p>
          </p:txBody>
        </p:sp>
        <p:sp>
          <p:nvSpPr>
            <p:cNvPr id="376" name="Google Shape;376;p19"/>
            <p:cNvSpPr/>
            <p:nvPr/>
          </p:nvSpPr>
          <p:spPr>
            <a:xfrm>
              <a:off x="0" y="104987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9"/>
            <p:cNvSpPr txBox="1"/>
            <p:nvPr/>
          </p:nvSpPr>
          <p:spPr>
            <a:xfrm>
              <a:off x="0" y="104987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Oikea-aikainen dokumentointi – valmistaudu ajoissa, älä unohda uusia oppeja!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Miltä oikeat testitapaukset näyttävät?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taso FreeMind Etsi ja korvaa -toiminnolle</a:t>
              </a:r>
              <a:endParaRPr b="0" i="0" sz="900" u="none" cap="none" strike="noStrike">
                <a:solidFill>
                  <a:schemeClr val="dk1"/>
                </a:solidFill>
                <a:latin typeface="Gill Sans"/>
                <a:ea typeface="Gill Sans"/>
                <a:cs typeface="Gill Sans"/>
                <a:sym typeface="Gill Sans"/>
              </a:endParaRPr>
            </a:p>
          </p:txBody>
        </p:sp>
        <p:sp>
          <p:nvSpPr>
            <p:cNvPr id="378" name="Google Shape;378;p19"/>
            <p:cNvSpPr/>
            <p:nvPr/>
          </p:nvSpPr>
          <p:spPr>
            <a:xfrm>
              <a:off x="0" y="1509411"/>
              <a:ext cx="5987008" cy="287819"/>
            </a:xfrm>
            <a:prstGeom prst="roundRect">
              <a:avLst>
                <a:gd fmla="val 16667" name="adj"/>
              </a:avLst>
            </a:prstGeom>
            <a:solidFill>
              <a:srgbClr val="F3CB2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txBox="1"/>
            <p:nvPr/>
          </p:nvSpPr>
          <p:spPr>
            <a:xfrm>
              <a:off x="14050" y="152346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Regressiotestaus</a:t>
              </a:r>
              <a:endParaRPr sz="1200">
                <a:solidFill>
                  <a:schemeClr val="lt1"/>
                </a:solidFill>
                <a:latin typeface="Gill Sans"/>
                <a:ea typeface="Gill Sans"/>
                <a:cs typeface="Gill Sans"/>
                <a:sym typeface="Gill Sans"/>
              </a:endParaRPr>
            </a:p>
          </p:txBody>
        </p:sp>
        <p:sp>
          <p:nvSpPr>
            <p:cNvPr id="380" name="Google Shape;380;p19"/>
            <p:cNvSpPr/>
            <p:nvPr/>
          </p:nvSpPr>
          <p:spPr>
            <a:xfrm>
              <a:off x="0" y="179723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txBox="1"/>
            <p:nvPr/>
          </p:nvSpPr>
          <p:spPr>
            <a:xfrm>
              <a:off x="0" y="179723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Testaaminen vs. korjaaminen</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Toimivia regressiotestausmalleja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regressiotestien valinta annetusta testitapausmäärittelystä</a:t>
              </a:r>
              <a:endParaRPr b="0" i="0" sz="900" u="none" cap="none" strike="noStrike">
                <a:solidFill>
                  <a:schemeClr val="dk1"/>
                </a:solidFill>
                <a:latin typeface="Gill Sans"/>
                <a:ea typeface="Gill Sans"/>
                <a:cs typeface="Gill Sans"/>
                <a:sym typeface="Gill Sans"/>
              </a:endParaRPr>
            </a:p>
          </p:txBody>
        </p:sp>
        <p:sp>
          <p:nvSpPr>
            <p:cNvPr id="382" name="Google Shape;382;p19"/>
            <p:cNvSpPr/>
            <p:nvPr/>
          </p:nvSpPr>
          <p:spPr>
            <a:xfrm>
              <a:off x="0" y="2256771"/>
              <a:ext cx="5987008" cy="287819"/>
            </a:xfrm>
            <a:prstGeom prst="roundRect">
              <a:avLst>
                <a:gd fmla="val 16667" name="adj"/>
              </a:avLst>
            </a:prstGeom>
            <a:solidFill>
              <a:srgbClr val="ACB9D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txBox="1"/>
            <p:nvPr/>
          </p:nvSpPr>
          <p:spPr>
            <a:xfrm>
              <a:off x="14050" y="227082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hallinnan välinetuki</a:t>
              </a:r>
              <a:endParaRPr sz="1200">
                <a:solidFill>
                  <a:schemeClr val="lt1"/>
                </a:solidFill>
                <a:latin typeface="Gill Sans"/>
                <a:ea typeface="Gill Sans"/>
                <a:cs typeface="Gill Sans"/>
                <a:sym typeface="Gill Sans"/>
              </a:endParaRPr>
            </a:p>
          </p:txBody>
        </p:sp>
        <p:sp>
          <p:nvSpPr>
            <p:cNvPr id="384" name="Google Shape;384;p19"/>
            <p:cNvSpPr/>
            <p:nvPr/>
          </p:nvSpPr>
          <p:spPr>
            <a:xfrm>
              <a:off x="0" y="254459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9"/>
            <p:cNvSpPr txBox="1"/>
            <p:nvPr/>
          </p:nvSpPr>
          <p:spPr>
            <a:xfrm>
              <a:off x="0" y="254459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varastointi uudelleenkäyttöön ja suorituksen hallinta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Testauksen aikaiset muistiinpanot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Kaupalliset ja avoimen lähdekoodin vaihtoehdot</a:t>
              </a:r>
              <a:endParaRPr b="0" i="0" sz="900" u="none" cap="none" strike="noStrike">
                <a:solidFill>
                  <a:schemeClr val="dk1"/>
                </a:solidFill>
                <a:latin typeface="Gill Sans"/>
                <a:ea typeface="Gill Sans"/>
                <a:cs typeface="Gill Sans"/>
                <a:sym typeface="Gill Sans"/>
              </a:endParaRPr>
            </a:p>
          </p:txBody>
        </p:sp>
        <p:sp>
          <p:nvSpPr>
            <p:cNvPr id="386" name="Google Shape;386;p19"/>
            <p:cNvSpPr/>
            <p:nvPr/>
          </p:nvSpPr>
          <p:spPr>
            <a:xfrm>
              <a:off x="0" y="3004131"/>
              <a:ext cx="5987008" cy="287819"/>
            </a:xfrm>
            <a:prstGeom prst="roundRect">
              <a:avLst>
                <a:gd fmla="val 16667" name="adj"/>
              </a:avLst>
            </a:prstGeom>
            <a:solidFill>
              <a:srgbClr val="767B8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txBox="1"/>
            <p:nvPr/>
          </p:nvSpPr>
          <p:spPr>
            <a:xfrm>
              <a:off x="14050" y="301818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Testaustyömaan ymmärtämisestä testitapausten tehokäyttöön</a:t>
              </a:r>
              <a:endParaRPr sz="1200">
                <a:solidFill>
                  <a:schemeClr val="lt1"/>
                </a:solidFill>
                <a:latin typeface="Gill Sans"/>
                <a:ea typeface="Gill Sans"/>
                <a:cs typeface="Gill Sans"/>
                <a:sym typeface="Gill Sans"/>
              </a:endParaRPr>
            </a:p>
          </p:txBody>
        </p:sp>
        <p:sp>
          <p:nvSpPr>
            <p:cNvPr id="388" name="Google Shape;388;p19"/>
            <p:cNvSpPr/>
            <p:nvPr/>
          </p:nvSpPr>
          <p:spPr>
            <a:xfrm>
              <a:off x="0" y="3291951"/>
              <a:ext cx="5987008" cy="62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txBox="1"/>
            <p:nvPr/>
          </p:nvSpPr>
          <p:spPr>
            <a:xfrm>
              <a:off x="0" y="3291951"/>
              <a:ext cx="5987008" cy="6210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Karkea osittaminen ennen yksityiskohtien suunnittelua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muuntelu testatessa: lisää / poista / toista / vaihda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tekemä testaus suhteessa muuhun testaukseen (yksikkötestit, tekninen testiautomaatio)</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priorisointi suoritusjärjestykseksi</a:t>
              </a:r>
              <a:endParaRPr b="0" i="0" sz="900" u="none" cap="none" strike="noStrike">
                <a:solidFill>
                  <a:schemeClr val="dk1"/>
                </a:solidFill>
                <a:latin typeface="Gill Sans"/>
                <a:ea typeface="Gill Sans"/>
                <a:cs typeface="Gill Sans"/>
                <a:sym typeface="Gill Sans"/>
              </a:endParaRPr>
            </a:p>
          </p:txBody>
        </p:sp>
        <p:sp>
          <p:nvSpPr>
            <p:cNvPr id="390" name="Google Shape;390;p19"/>
            <p:cNvSpPr/>
            <p:nvPr/>
          </p:nvSpPr>
          <p:spPr>
            <a:xfrm>
              <a:off x="0" y="391295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txBox="1"/>
            <p:nvPr/>
          </p:nvSpPr>
          <p:spPr>
            <a:xfrm>
              <a:off x="14050" y="39270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Testitapaukset testaustyön jakamisessa useille testaajille</a:t>
              </a:r>
              <a:endParaRPr sz="1200">
                <a:solidFill>
                  <a:schemeClr val="lt1"/>
                </a:solidFill>
                <a:latin typeface="Gill Sans"/>
                <a:ea typeface="Gill Sans"/>
                <a:cs typeface="Gill Sans"/>
                <a:sym typeface="Gill Sans"/>
              </a:endParaRPr>
            </a:p>
          </p:txBody>
        </p:sp>
        <p:sp>
          <p:nvSpPr>
            <p:cNvPr id="392" name="Google Shape;392;p19"/>
            <p:cNvSpPr/>
            <p:nvPr/>
          </p:nvSpPr>
          <p:spPr>
            <a:xfrm>
              <a:off x="0" y="4200771"/>
              <a:ext cx="5987008" cy="31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9"/>
            <p:cNvSpPr txBox="1"/>
            <p:nvPr/>
          </p:nvSpPr>
          <p:spPr>
            <a:xfrm>
              <a:off x="0" y="4200771"/>
              <a:ext cx="5987008" cy="3105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1: Testaustyömaan hallinta vakuutussektorin hyväksymistestauksessa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2: Testaustyömaan hallinta ketterässä tuotekehitystiimissä</a:t>
              </a:r>
              <a:endParaRPr b="0" i="0" sz="900" u="none" cap="none" strike="noStrike">
                <a:solidFill>
                  <a:schemeClr val="dk1"/>
                </a:solidFill>
                <a:latin typeface="Gill Sans"/>
                <a:ea typeface="Gill Sans"/>
                <a:cs typeface="Gill Sans"/>
                <a:sym typeface="Gill Sans"/>
              </a:endParaRPr>
            </a:p>
          </p:txBody>
        </p:sp>
      </p:grpSp>
      <p:sp>
        <p:nvSpPr>
          <p:cNvPr id="394" name="Google Shape;394;p19"/>
          <p:cNvSpPr/>
          <p:nvPr/>
        </p:nvSpPr>
        <p:spPr>
          <a:xfrm>
            <a:off x="929296" y="2584328"/>
            <a:ext cx="474352" cy="484632"/>
          </a:xfrm>
          <a:prstGeom prst="rightArrow">
            <a:avLst>
              <a:gd fmla="val 50000" name="adj1"/>
              <a:gd fmla="val 50000" name="adj2"/>
            </a:avLst>
          </a:prstGeom>
          <a:solidFill>
            <a:schemeClr val="dk1"/>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5" name="Google Shape;395;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Testitapausten rooli testauksessa</a:t>
            </a:r>
            <a:endParaRPr/>
          </a:p>
        </p:txBody>
      </p:sp>
      <p:sp>
        <p:nvSpPr>
          <p:cNvPr id="402" name="Google Shape;402;p20"/>
          <p:cNvSpPr txBox="1"/>
          <p:nvPr>
            <p:ph idx="1" type="body"/>
          </p:nvPr>
        </p:nvSpPr>
        <p:spPr>
          <a:xfrm>
            <a:off x="684213" y="1844675"/>
            <a:ext cx="7696200" cy="3657600"/>
          </a:xfrm>
          <a:prstGeom prst="rect">
            <a:avLst/>
          </a:prstGeom>
          <a:noFill/>
          <a:ln>
            <a:noFill/>
          </a:ln>
        </p:spPr>
        <p:txBody>
          <a:bodyPr anchorCtr="0" anchor="t" bIns="45700" lIns="91425" spcFirstLastPara="1" rIns="91425" wrap="square" tIns="45700">
            <a:normAutofit/>
          </a:bodyPr>
          <a:lstStyle/>
          <a:p>
            <a:pPr indent="-152400" lvl="0" marL="0" rtl="0" algn="l">
              <a:spcBef>
                <a:spcPts val="0"/>
              </a:spcBef>
              <a:spcAft>
                <a:spcPts val="0"/>
              </a:spcAft>
              <a:buClr>
                <a:srgbClr val="969696"/>
              </a:buClr>
              <a:buSzPts val="2400"/>
              <a:buChar char="•"/>
            </a:pPr>
            <a:r>
              <a:rPr lang="fi-FI" sz="2400">
                <a:solidFill>
                  <a:srgbClr val="969696"/>
                </a:solidFill>
              </a:rPr>
              <a:t>Testauksen suunnittelu</a:t>
            </a:r>
            <a:endParaRPr/>
          </a:p>
          <a:p>
            <a:pPr indent="-187325" lvl="1" marL="377825" rtl="0" algn="l">
              <a:spcBef>
                <a:spcPts val="400"/>
              </a:spcBef>
              <a:spcAft>
                <a:spcPts val="0"/>
              </a:spcAft>
              <a:buClr>
                <a:srgbClr val="969696"/>
              </a:buClr>
              <a:buSzPts val="2000"/>
              <a:buChar char="–"/>
            </a:pPr>
            <a:r>
              <a:rPr lang="fi-FI" sz="2000">
                <a:solidFill>
                  <a:srgbClr val="969696"/>
                </a:solidFill>
              </a:rPr>
              <a:t>Organisointi, jakaminen vastuullisiin ryhmiin</a:t>
            </a:r>
            <a:endParaRPr/>
          </a:p>
          <a:p>
            <a:pPr indent="-187325" lvl="1" marL="377825" rtl="0" algn="l">
              <a:spcBef>
                <a:spcPts val="400"/>
              </a:spcBef>
              <a:spcAft>
                <a:spcPts val="0"/>
              </a:spcAft>
              <a:buClr>
                <a:srgbClr val="969696"/>
              </a:buClr>
              <a:buSzPts val="2000"/>
              <a:buChar char="–"/>
            </a:pPr>
            <a:r>
              <a:rPr lang="fi-FI" sz="2000">
                <a:solidFill>
                  <a:srgbClr val="969696"/>
                </a:solidFill>
              </a:rPr>
              <a:t>Työmäärien ja vastuiden kohdistaminen ryhmille</a:t>
            </a:r>
            <a:endParaRPr/>
          </a:p>
          <a:p>
            <a:pPr indent="-187325" lvl="1" marL="377825" rtl="0" algn="l">
              <a:spcBef>
                <a:spcPts val="400"/>
              </a:spcBef>
              <a:spcAft>
                <a:spcPts val="0"/>
              </a:spcAft>
              <a:buClr>
                <a:srgbClr val="969696"/>
              </a:buClr>
              <a:buSzPts val="2000"/>
              <a:buChar char="–"/>
            </a:pPr>
            <a:r>
              <a:rPr lang="fi-FI" sz="2000">
                <a:solidFill>
                  <a:srgbClr val="969696"/>
                </a:solidFill>
              </a:rPr>
              <a:t>Aikataulut, odotukset</a:t>
            </a:r>
            <a:endParaRPr/>
          </a:p>
          <a:p>
            <a:pPr indent="-152400" lvl="0" marL="0" rtl="0" algn="l">
              <a:spcBef>
                <a:spcPts val="480"/>
              </a:spcBef>
              <a:spcAft>
                <a:spcPts val="0"/>
              </a:spcAft>
              <a:buClr>
                <a:schemeClr val="dk1"/>
              </a:buClr>
              <a:buSzPts val="2400"/>
              <a:buChar char="•"/>
            </a:pPr>
            <a:r>
              <a:rPr lang="fi-FI" sz="2400"/>
              <a:t>Testitapaukset</a:t>
            </a:r>
            <a:endParaRPr/>
          </a:p>
          <a:p>
            <a:pPr indent="-187325" lvl="1" marL="377825" rtl="0" algn="l">
              <a:spcBef>
                <a:spcPts val="400"/>
              </a:spcBef>
              <a:spcAft>
                <a:spcPts val="0"/>
              </a:spcAft>
              <a:buClr>
                <a:schemeClr val="dk1"/>
              </a:buClr>
              <a:buSzPts val="2000"/>
              <a:buChar char="–"/>
            </a:pPr>
            <a:r>
              <a:rPr lang="fi-FI" sz="2000"/>
              <a:t>Muistettavat yksityiskohdat</a:t>
            </a:r>
            <a:endParaRPr/>
          </a:p>
          <a:p>
            <a:pPr indent="-187325" lvl="1" marL="377825" rtl="0" algn="l">
              <a:spcBef>
                <a:spcPts val="400"/>
              </a:spcBef>
              <a:spcAft>
                <a:spcPts val="0"/>
              </a:spcAft>
              <a:buClr>
                <a:schemeClr val="dk1"/>
              </a:buClr>
              <a:buSzPts val="2000"/>
              <a:buChar char="–"/>
            </a:pPr>
            <a:r>
              <a:rPr lang="fi-FI" sz="2000"/>
              <a:t>Yksityiskohtainen testauksen kohdistussuunnitelma</a:t>
            </a:r>
            <a:endParaRPr/>
          </a:p>
          <a:p>
            <a:pPr indent="-187325" lvl="1" marL="377825" rtl="0" algn="l">
              <a:spcBef>
                <a:spcPts val="400"/>
              </a:spcBef>
              <a:spcAft>
                <a:spcPts val="0"/>
              </a:spcAft>
              <a:buClr>
                <a:schemeClr val="dk1"/>
              </a:buClr>
              <a:buSzPts val="2000"/>
              <a:buChar char="–"/>
            </a:pPr>
            <a:r>
              <a:rPr lang="fi-FI" sz="2000"/>
              <a:t>Testaajan käytännön työ: todellisuus suhteessa toivetilaan</a:t>
            </a:r>
            <a:endParaRPr/>
          </a:p>
          <a:p>
            <a:pPr indent="-187325" lvl="1" marL="377825" rtl="0" algn="l">
              <a:spcBef>
                <a:spcPts val="400"/>
              </a:spcBef>
              <a:spcAft>
                <a:spcPts val="0"/>
              </a:spcAft>
              <a:buClr>
                <a:schemeClr val="dk1"/>
              </a:buClr>
              <a:buSzPts val="2000"/>
              <a:buChar char="–"/>
            </a:pPr>
            <a:r>
              <a:rPr lang="fi-FI" sz="2000"/>
              <a:t>Tärkeysjärjestys ja toisto muutoksen myötä</a:t>
            </a:r>
            <a:endParaRPr/>
          </a:p>
        </p:txBody>
      </p:sp>
      <p:pic>
        <p:nvPicPr>
          <p:cNvPr id="403" name="Google Shape;403;p20"/>
          <p:cNvPicPr preferRelativeResize="0"/>
          <p:nvPr/>
        </p:nvPicPr>
        <p:blipFill rotWithShape="1">
          <a:blip r:embed="rId3">
            <a:alphaModFix/>
          </a:blip>
          <a:srcRect b="0" l="0" r="0" t="0"/>
          <a:stretch/>
        </p:blipFill>
        <p:spPr>
          <a:xfrm>
            <a:off x="6804025" y="2371725"/>
            <a:ext cx="1800225" cy="1587500"/>
          </a:xfrm>
          <a:prstGeom prst="rect">
            <a:avLst/>
          </a:prstGeom>
          <a:noFill/>
          <a:ln>
            <a:noFill/>
          </a:ln>
        </p:spPr>
      </p:pic>
      <p:sp>
        <p:nvSpPr>
          <p:cNvPr id="404" name="Google Shape;40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Mikä on testitapaus?</a:t>
            </a:r>
            <a:endParaRPr/>
          </a:p>
        </p:txBody>
      </p:sp>
      <p:sp>
        <p:nvSpPr>
          <p:cNvPr id="411" name="Google Shape;411;p21"/>
          <p:cNvSpPr txBox="1"/>
          <p:nvPr>
            <p:ph idx="1" type="body"/>
          </p:nvPr>
        </p:nvSpPr>
        <p:spPr>
          <a:xfrm>
            <a:off x="381000" y="1524000"/>
            <a:ext cx="3124200" cy="5029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Gill Sans"/>
              <a:buNone/>
            </a:pPr>
            <a:r>
              <a:rPr b="1" lang="fi-FI" sz="1800"/>
              <a:t>Oppikirjamääritelmä</a:t>
            </a:r>
            <a:r>
              <a:rPr lang="fi-FI" sz="1800"/>
              <a:t>:</a:t>
            </a:r>
            <a:endParaRPr/>
          </a:p>
          <a:p>
            <a:pPr indent="-114300" lvl="0" marL="0" rtl="0" algn="l">
              <a:spcBef>
                <a:spcPts val="360"/>
              </a:spcBef>
              <a:spcAft>
                <a:spcPts val="0"/>
              </a:spcAft>
              <a:buClr>
                <a:schemeClr val="dk1"/>
              </a:buClr>
              <a:buSzPts val="1800"/>
              <a:buChar char="•"/>
            </a:pPr>
            <a:r>
              <a:rPr lang="fi-FI" sz="1800"/>
              <a:t>Testitapaus käyttää yhtä tiettyä tilannetta tai ehtoa testattavassa järjestelmässä. </a:t>
            </a:r>
            <a:endParaRPr/>
          </a:p>
          <a:p>
            <a:pPr indent="-114300" lvl="0" marL="0" rtl="0" algn="l">
              <a:spcBef>
                <a:spcPts val="360"/>
              </a:spcBef>
              <a:spcAft>
                <a:spcPts val="0"/>
              </a:spcAft>
              <a:buClr>
                <a:schemeClr val="dk1"/>
              </a:buClr>
              <a:buSzPts val="1800"/>
              <a:buChar char="•"/>
            </a:pPr>
            <a:r>
              <a:rPr lang="fi-FI" sz="1800"/>
              <a:t>Testitapaus kuvaa mitä testata ja miten, ja ohjaa testaajaa (tai testausvälinettä) joka suorittaa testauksen. </a:t>
            </a:r>
            <a:endParaRPr/>
          </a:p>
          <a:p>
            <a:pPr indent="-114300" lvl="0" marL="0" rtl="0" algn="l">
              <a:spcBef>
                <a:spcPts val="360"/>
              </a:spcBef>
              <a:spcAft>
                <a:spcPts val="0"/>
              </a:spcAft>
              <a:buClr>
                <a:schemeClr val="dk1"/>
              </a:buClr>
              <a:buSzPts val="1800"/>
              <a:buChar char="•"/>
            </a:pPr>
            <a:r>
              <a:rPr lang="fi-FI" sz="1800"/>
              <a:t>Tämä ohjaus sisältää ohjeita testin alustamiseen ja suorittamiseen, sekä siihen mitä käyttäytymisiä tarkkailla ja kuinka arvioida lopputulos. </a:t>
            </a:r>
            <a:endParaRPr/>
          </a:p>
        </p:txBody>
      </p:sp>
      <p:sp>
        <p:nvSpPr>
          <p:cNvPr id="412" name="Google Shape;412;p21"/>
          <p:cNvSpPr/>
          <p:nvPr/>
        </p:nvSpPr>
        <p:spPr>
          <a:xfrm>
            <a:off x="3787775" y="4598988"/>
            <a:ext cx="4800600" cy="1925637"/>
          </a:xfrm>
          <a:prstGeom prst="rect">
            <a:avLst/>
          </a:prstGeom>
          <a:solidFill>
            <a:schemeClr val="lt1"/>
          </a:solidFill>
          <a:ln cap="flat" cmpd="sng" w="12700">
            <a:solidFill>
              <a:schemeClr val="accent2"/>
            </a:solidFill>
            <a:prstDash val="solid"/>
            <a:miter lim="800000"/>
            <a:headEnd len="sm" w="sm" type="none"/>
            <a:tailEnd len="sm" w="sm" type="none"/>
          </a:ln>
          <a:effectLst>
            <a:outerShdw rotWithShape="0" algn="ctr" dir="18900000" dist="107763">
              <a:schemeClr val="lt2"/>
            </a:outerShdw>
          </a:effectLst>
        </p:spPr>
        <p:txBody>
          <a:bodyPr anchorCtr="0" anchor="ctr" bIns="46800" lIns="90000" spcFirstLastPara="1" rIns="90000" wrap="square" tIns="46800">
            <a:noAutofit/>
          </a:bodyPr>
          <a:lstStyle/>
          <a:p>
            <a:pPr indent="0" lvl="0" marL="0" marR="0" rtl="0" algn="ctr">
              <a:spcBef>
                <a:spcPts val="0"/>
              </a:spcBef>
              <a:spcAft>
                <a:spcPts val="0"/>
              </a:spcAft>
              <a:buNone/>
            </a:pPr>
            <a:r>
              <a:rPr b="1" lang="fi-FI" sz="2000">
                <a:solidFill>
                  <a:schemeClr val="dk1"/>
                </a:solidFill>
                <a:latin typeface="Gill Sans"/>
                <a:ea typeface="Gill Sans"/>
                <a:cs typeface="Gill Sans"/>
                <a:sym typeface="Gill Sans"/>
              </a:rPr>
              <a:t>Vaihtoehtoiskustannus</a:t>
            </a:r>
            <a:r>
              <a:rPr lang="fi-FI" sz="2000">
                <a:solidFill>
                  <a:schemeClr val="dk1"/>
                </a:solidFill>
                <a:latin typeface="Gill Sans"/>
                <a:ea typeface="Gill Sans"/>
                <a:cs typeface="Gill Sans"/>
                <a:sym typeface="Gill Sans"/>
              </a:rPr>
              <a:t>: ajan jota käyttää määritelläkseen/ dokumentoidakseen testit yksityiskohtaisesti, voisi käyttää myös muuhun. Mihin käytettynä aika on arvokkainta?</a:t>
            </a:r>
            <a:endParaRPr sz="2000">
              <a:solidFill>
                <a:schemeClr val="dk1"/>
              </a:solidFill>
              <a:latin typeface="Gill Sans"/>
              <a:ea typeface="Gill Sans"/>
              <a:cs typeface="Gill Sans"/>
              <a:sym typeface="Gill Sans"/>
            </a:endParaRPr>
          </a:p>
        </p:txBody>
      </p:sp>
      <p:sp>
        <p:nvSpPr>
          <p:cNvPr id="413" name="Google Shape;413;p21"/>
          <p:cNvSpPr txBox="1"/>
          <p:nvPr/>
        </p:nvSpPr>
        <p:spPr>
          <a:xfrm>
            <a:off x="3635375" y="2082800"/>
            <a:ext cx="2133600" cy="641350"/>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b="1" lang="fi-FI" sz="3600">
                <a:solidFill>
                  <a:schemeClr val="dk1"/>
                </a:solidFill>
                <a:latin typeface="Gill Sans"/>
                <a:ea typeface="Gill Sans"/>
                <a:cs typeface="Gill Sans"/>
                <a:sym typeface="Gill Sans"/>
              </a:rPr>
              <a:t>MITÄ?</a:t>
            </a:r>
            <a:endParaRPr b="1" sz="3600">
              <a:solidFill>
                <a:schemeClr val="dk1"/>
              </a:solidFill>
              <a:latin typeface="Gill Sans"/>
              <a:ea typeface="Gill Sans"/>
              <a:cs typeface="Gill Sans"/>
              <a:sym typeface="Gill Sans"/>
            </a:endParaRPr>
          </a:p>
        </p:txBody>
      </p:sp>
      <p:sp>
        <p:nvSpPr>
          <p:cNvPr id="414" name="Google Shape;414;p21"/>
          <p:cNvSpPr txBox="1"/>
          <p:nvPr/>
        </p:nvSpPr>
        <p:spPr>
          <a:xfrm>
            <a:off x="3635375" y="3408363"/>
            <a:ext cx="2133600" cy="641350"/>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b="1" lang="fi-FI" sz="3600">
                <a:solidFill>
                  <a:schemeClr val="dk1"/>
                </a:solidFill>
                <a:latin typeface="Gill Sans"/>
                <a:ea typeface="Gill Sans"/>
                <a:cs typeface="Gill Sans"/>
                <a:sym typeface="Gill Sans"/>
              </a:rPr>
              <a:t>MITEN? </a:t>
            </a:r>
            <a:endParaRPr b="1" sz="3600">
              <a:solidFill>
                <a:schemeClr val="dk1"/>
              </a:solidFill>
              <a:latin typeface="Gill Sans"/>
              <a:ea typeface="Gill Sans"/>
              <a:cs typeface="Gill Sans"/>
              <a:sym typeface="Gill Sans"/>
            </a:endParaRPr>
          </a:p>
        </p:txBody>
      </p:sp>
      <p:sp>
        <p:nvSpPr>
          <p:cNvPr id="415" name="Google Shape;415;p21"/>
          <p:cNvSpPr txBox="1"/>
          <p:nvPr/>
        </p:nvSpPr>
        <p:spPr>
          <a:xfrm>
            <a:off x="6659563" y="1916113"/>
            <a:ext cx="2133600" cy="1004887"/>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lang="fi-FI" sz="2400">
                <a:solidFill>
                  <a:schemeClr val="dk1"/>
                </a:solidFill>
                <a:latin typeface="Gill Sans"/>
                <a:ea typeface="Gill Sans"/>
                <a:cs typeface="Gill Sans"/>
                <a:sym typeface="Gill Sans"/>
              </a:rPr>
              <a:t>Tarkoitus</a:t>
            </a:r>
            <a:endParaRPr/>
          </a:p>
          <a:p>
            <a:pPr indent="0" lvl="0" marL="0" marR="0" rtl="0" algn="l">
              <a:spcBef>
                <a:spcPts val="1200"/>
              </a:spcBef>
              <a:spcAft>
                <a:spcPts val="0"/>
              </a:spcAft>
              <a:buNone/>
            </a:pPr>
            <a:r>
              <a:rPr lang="fi-FI" sz="2400">
                <a:solidFill>
                  <a:schemeClr val="dk1"/>
                </a:solidFill>
                <a:latin typeface="Gill Sans"/>
                <a:ea typeface="Gill Sans"/>
                <a:cs typeface="Gill Sans"/>
                <a:sym typeface="Gill Sans"/>
              </a:rPr>
              <a:t>Tulos</a:t>
            </a:r>
            <a:endParaRPr sz="2400">
              <a:solidFill>
                <a:schemeClr val="dk1"/>
              </a:solidFill>
              <a:latin typeface="Gill Sans"/>
              <a:ea typeface="Gill Sans"/>
              <a:cs typeface="Gill Sans"/>
              <a:sym typeface="Gill Sans"/>
            </a:endParaRPr>
          </a:p>
        </p:txBody>
      </p:sp>
      <p:sp>
        <p:nvSpPr>
          <p:cNvPr id="416" name="Google Shape;416;p21"/>
          <p:cNvSpPr txBox="1"/>
          <p:nvPr/>
        </p:nvSpPr>
        <p:spPr>
          <a:xfrm>
            <a:off x="6659563" y="3287713"/>
            <a:ext cx="2133600" cy="1004887"/>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lang="fi-FI" sz="2400">
                <a:solidFill>
                  <a:schemeClr val="dk1"/>
                </a:solidFill>
                <a:latin typeface="Gill Sans"/>
                <a:ea typeface="Gill Sans"/>
                <a:cs typeface="Gill Sans"/>
                <a:sym typeface="Gill Sans"/>
              </a:rPr>
              <a:t>Askeleet</a:t>
            </a:r>
            <a:endParaRPr/>
          </a:p>
          <a:p>
            <a:pPr indent="0" lvl="0" marL="0" marR="0" rtl="0" algn="l">
              <a:spcBef>
                <a:spcPts val="1200"/>
              </a:spcBef>
              <a:spcAft>
                <a:spcPts val="0"/>
              </a:spcAft>
              <a:buNone/>
            </a:pPr>
            <a:r>
              <a:rPr lang="fi-FI" sz="2400">
                <a:solidFill>
                  <a:schemeClr val="dk1"/>
                </a:solidFill>
                <a:latin typeface="Gill Sans"/>
                <a:ea typeface="Gill Sans"/>
                <a:cs typeface="Gill Sans"/>
                <a:sym typeface="Gill Sans"/>
              </a:rPr>
              <a:t>Käyttöohjeet</a:t>
            </a:r>
            <a:endParaRPr sz="2400">
              <a:solidFill>
                <a:schemeClr val="dk1"/>
              </a:solidFill>
              <a:latin typeface="Gill Sans"/>
              <a:ea typeface="Gill Sans"/>
              <a:cs typeface="Gill Sans"/>
              <a:sym typeface="Gill Sans"/>
            </a:endParaRPr>
          </a:p>
        </p:txBody>
      </p:sp>
      <p:sp>
        <p:nvSpPr>
          <p:cNvPr id="417" name="Google Shape;417;p21"/>
          <p:cNvSpPr/>
          <p:nvPr/>
        </p:nvSpPr>
        <p:spPr>
          <a:xfrm>
            <a:off x="5745163" y="2220913"/>
            <a:ext cx="914400" cy="457200"/>
          </a:xfrm>
          <a:prstGeom prst="rightArrow">
            <a:avLst>
              <a:gd fmla="val 50000" name="adj1"/>
              <a:gd fmla="val 50000" name="adj2"/>
            </a:avLst>
          </a:prstGeom>
          <a:solidFill>
            <a:schemeClr val="folHlink"/>
          </a:solid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18" name="Google Shape;418;p21"/>
          <p:cNvSpPr/>
          <p:nvPr/>
        </p:nvSpPr>
        <p:spPr>
          <a:xfrm>
            <a:off x="5745163" y="3516313"/>
            <a:ext cx="914400" cy="457200"/>
          </a:xfrm>
          <a:prstGeom prst="rightArrow">
            <a:avLst>
              <a:gd fmla="val 50000" name="adj1"/>
              <a:gd fmla="val 50000" name="adj2"/>
            </a:avLst>
          </a:prstGeom>
          <a:solidFill>
            <a:schemeClr val="folHlink"/>
          </a:solid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19" name="Google Shape;41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Pitäisi suunnitella </a:t>
            </a:r>
            <a:r>
              <a:rPr b="1" i="1" lang="fi-FI"/>
              <a:t>testitapauksia</a:t>
            </a:r>
            <a:r>
              <a:rPr i="1" lang="fi-FI"/>
              <a:t> </a:t>
            </a:r>
            <a:r>
              <a:rPr lang="fi-FI"/>
              <a:t>– siis mitä ja miksi? </a:t>
            </a:r>
            <a:endParaRPr/>
          </a:p>
        </p:txBody>
      </p:sp>
      <p:sp>
        <p:nvSpPr>
          <p:cNvPr id="426" name="Google Shape;426;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fi-FI"/>
              <a:t>Testitapaukset ovat testauksen muistilista</a:t>
            </a:r>
            <a:endParaRPr/>
          </a:p>
          <a:p>
            <a:pPr indent="-285750" lvl="1" marL="742950" rtl="0" algn="l">
              <a:spcBef>
                <a:spcPts val="560"/>
              </a:spcBef>
              <a:spcAft>
                <a:spcPts val="0"/>
              </a:spcAft>
              <a:buClr>
                <a:schemeClr val="dk1"/>
              </a:buClr>
              <a:buSzPts val="2800"/>
              <a:buChar char="–"/>
            </a:pPr>
            <a:r>
              <a:rPr lang="fi-FI"/>
              <a:t>Muistettava paljon testauksellisia tavoitteita sekä yksityiskohtia</a:t>
            </a:r>
            <a:endParaRPr/>
          </a:p>
          <a:p>
            <a:pPr indent="-285750" lvl="1" marL="742950" rtl="0" algn="l">
              <a:spcBef>
                <a:spcPts val="560"/>
              </a:spcBef>
              <a:spcAft>
                <a:spcPts val="0"/>
              </a:spcAft>
              <a:buClr>
                <a:schemeClr val="dk1"/>
              </a:buClr>
              <a:buSzPts val="2800"/>
              <a:buChar char="–"/>
            </a:pPr>
            <a:r>
              <a:rPr lang="fi-FI"/>
              <a:t>Työtä jaettava useiden tekijöiden kesken </a:t>
            </a:r>
            <a:endParaRPr/>
          </a:p>
          <a:p>
            <a:pPr indent="-285750" lvl="1" marL="742950" rtl="0" algn="l">
              <a:spcBef>
                <a:spcPts val="560"/>
              </a:spcBef>
              <a:spcAft>
                <a:spcPts val="0"/>
              </a:spcAft>
              <a:buClr>
                <a:schemeClr val="dk1"/>
              </a:buClr>
              <a:buSzPts val="2800"/>
              <a:buChar char="–"/>
            </a:pPr>
            <a:r>
              <a:rPr lang="fi-FI"/>
              <a:t>Testaustyöhön liittyy oleellisesti toistotarve</a:t>
            </a:r>
            <a:endParaRPr/>
          </a:p>
          <a:p>
            <a:pPr indent="-342900" lvl="0" marL="342900" rtl="0" algn="l">
              <a:spcBef>
                <a:spcPts val="640"/>
              </a:spcBef>
              <a:spcAft>
                <a:spcPts val="0"/>
              </a:spcAft>
              <a:buClr>
                <a:schemeClr val="dk1"/>
              </a:buClr>
              <a:buSzPts val="3200"/>
              <a:buChar char="•"/>
            </a:pPr>
            <a:r>
              <a:rPr lang="fi-FI"/>
              <a:t>Etukäteissuunnittelun merkitys</a:t>
            </a:r>
            <a:endParaRPr/>
          </a:p>
          <a:p>
            <a:pPr indent="-285750" lvl="1" marL="742950" rtl="0" algn="l">
              <a:spcBef>
                <a:spcPts val="560"/>
              </a:spcBef>
              <a:spcAft>
                <a:spcPts val="0"/>
              </a:spcAft>
              <a:buClr>
                <a:schemeClr val="dk1"/>
              </a:buClr>
              <a:buSzPts val="2800"/>
              <a:buChar char="–"/>
            </a:pPr>
            <a:r>
              <a:rPr lang="fi-FI"/>
              <a:t>Kiireessä kun jo odotetaan tuloksia (löytyneitä ongelmia) on helppoa tulkita valmius tarpeettoman kevyesti</a:t>
            </a:r>
            <a:endParaRPr/>
          </a:p>
        </p:txBody>
      </p:sp>
      <p:sp>
        <p:nvSpPr>
          <p:cNvPr id="427" name="Google Shape;42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Kysymyksen asettelu testauksessa</a:t>
            </a:r>
            <a:endParaRPr/>
          </a:p>
        </p:txBody>
      </p:sp>
      <p:grpSp>
        <p:nvGrpSpPr>
          <p:cNvPr id="434" name="Google Shape;434;p23"/>
          <p:cNvGrpSpPr/>
          <p:nvPr/>
        </p:nvGrpSpPr>
        <p:grpSpPr>
          <a:xfrm>
            <a:off x="5183188" y="3000375"/>
            <a:ext cx="1295400" cy="762000"/>
            <a:chOff x="3600" y="1776"/>
            <a:chExt cx="816" cy="480"/>
          </a:xfrm>
        </p:grpSpPr>
        <p:grpSp>
          <p:nvGrpSpPr>
            <p:cNvPr id="435" name="Google Shape;435;p23"/>
            <p:cNvGrpSpPr/>
            <p:nvPr/>
          </p:nvGrpSpPr>
          <p:grpSpPr>
            <a:xfrm>
              <a:off x="3877" y="1776"/>
              <a:ext cx="219" cy="299"/>
              <a:chOff x="653" y="2352"/>
              <a:chExt cx="219" cy="299"/>
            </a:xfrm>
          </p:grpSpPr>
          <p:sp>
            <p:nvSpPr>
              <p:cNvPr id="436" name="Google Shape;436;p23"/>
              <p:cNvSpPr/>
              <p:nvPr/>
            </p:nvSpPr>
            <p:spPr>
              <a:xfrm rot="-820714">
                <a:off x="724" y="2445"/>
                <a:ext cx="97" cy="194"/>
              </a:xfrm>
              <a:prstGeom prst="ellipse">
                <a:avLst/>
              </a:prstGeom>
              <a:solidFill>
                <a:srgbClr val="FF3300"/>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37" name="Google Shape;437;p23"/>
              <p:cNvSpPr/>
              <p:nvPr/>
            </p:nvSpPr>
            <p:spPr>
              <a:xfrm>
                <a:off x="720" y="2400"/>
                <a:ext cx="48" cy="48"/>
              </a:xfrm>
              <a:prstGeom prst="ellipse">
                <a:avLst/>
              </a:prstGeom>
              <a:solidFill>
                <a:srgbClr val="FF3300"/>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38" name="Google Shape;438;p23"/>
              <p:cNvSpPr/>
              <p:nvPr/>
            </p:nvSpPr>
            <p:spPr>
              <a:xfrm>
                <a:off x="768" y="2400"/>
                <a:ext cx="56" cy="56"/>
              </a:xfrm>
              <a:custGeom>
                <a:rect b="b" l="l" r="r" t="t"/>
                <a:pathLst>
                  <a:path extrusionOk="0" h="56" w="56">
                    <a:moveTo>
                      <a:pt x="0" y="48"/>
                    </a:moveTo>
                    <a:cubicBezTo>
                      <a:pt x="20" y="52"/>
                      <a:pt x="40" y="56"/>
                      <a:pt x="48" y="48"/>
                    </a:cubicBezTo>
                    <a:cubicBezTo>
                      <a:pt x="56" y="40"/>
                      <a:pt x="48" y="8"/>
                      <a:pt x="48" y="0"/>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39" name="Google Shape;439;p23"/>
              <p:cNvSpPr/>
              <p:nvPr/>
            </p:nvSpPr>
            <p:spPr>
              <a:xfrm>
                <a:off x="808" y="2448"/>
                <a:ext cx="56" cy="56"/>
              </a:xfrm>
              <a:custGeom>
                <a:rect b="b" l="l" r="r" t="t"/>
                <a:pathLst>
                  <a:path extrusionOk="0" h="56" w="56">
                    <a:moveTo>
                      <a:pt x="0" y="48"/>
                    </a:moveTo>
                    <a:cubicBezTo>
                      <a:pt x="20" y="52"/>
                      <a:pt x="40" y="56"/>
                      <a:pt x="48" y="48"/>
                    </a:cubicBezTo>
                    <a:cubicBezTo>
                      <a:pt x="56" y="40"/>
                      <a:pt x="48" y="8"/>
                      <a:pt x="48" y="0"/>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40" name="Google Shape;440;p23"/>
              <p:cNvSpPr/>
              <p:nvPr/>
            </p:nvSpPr>
            <p:spPr>
              <a:xfrm>
                <a:off x="816" y="2536"/>
                <a:ext cx="56" cy="56"/>
              </a:xfrm>
              <a:custGeom>
                <a:rect b="b" l="l" r="r" t="t"/>
                <a:pathLst>
                  <a:path extrusionOk="0" h="56" w="56">
                    <a:moveTo>
                      <a:pt x="0" y="48"/>
                    </a:moveTo>
                    <a:cubicBezTo>
                      <a:pt x="20" y="52"/>
                      <a:pt x="40" y="56"/>
                      <a:pt x="48" y="48"/>
                    </a:cubicBezTo>
                    <a:cubicBezTo>
                      <a:pt x="56" y="40"/>
                      <a:pt x="48" y="8"/>
                      <a:pt x="48" y="0"/>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41" name="Google Shape;441;p23"/>
              <p:cNvSpPr/>
              <p:nvPr/>
            </p:nvSpPr>
            <p:spPr>
              <a:xfrm flipH="1">
                <a:off x="664" y="2440"/>
                <a:ext cx="56" cy="56"/>
              </a:xfrm>
              <a:custGeom>
                <a:rect b="b" l="l" r="r" t="t"/>
                <a:pathLst>
                  <a:path extrusionOk="0" h="56" w="56">
                    <a:moveTo>
                      <a:pt x="0" y="48"/>
                    </a:moveTo>
                    <a:cubicBezTo>
                      <a:pt x="20" y="52"/>
                      <a:pt x="40" y="56"/>
                      <a:pt x="48" y="48"/>
                    </a:cubicBezTo>
                    <a:cubicBezTo>
                      <a:pt x="56" y="40"/>
                      <a:pt x="48" y="8"/>
                      <a:pt x="48" y="0"/>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42" name="Google Shape;442;p23"/>
              <p:cNvSpPr/>
              <p:nvPr/>
            </p:nvSpPr>
            <p:spPr>
              <a:xfrm flipH="1" rot="-3060628">
                <a:off x="664" y="2496"/>
                <a:ext cx="56" cy="56"/>
              </a:xfrm>
              <a:custGeom>
                <a:rect b="b" l="l" r="r" t="t"/>
                <a:pathLst>
                  <a:path extrusionOk="0" h="56" w="56">
                    <a:moveTo>
                      <a:pt x="0" y="48"/>
                    </a:moveTo>
                    <a:cubicBezTo>
                      <a:pt x="20" y="52"/>
                      <a:pt x="40" y="56"/>
                      <a:pt x="48" y="48"/>
                    </a:cubicBezTo>
                    <a:cubicBezTo>
                      <a:pt x="56" y="40"/>
                      <a:pt x="48" y="8"/>
                      <a:pt x="48" y="0"/>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43" name="Google Shape;443;p23"/>
              <p:cNvSpPr/>
              <p:nvPr/>
            </p:nvSpPr>
            <p:spPr>
              <a:xfrm flipH="1" rot="-3060628">
                <a:off x="672" y="2584"/>
                <a:ext cx="56" cy="56"/>
              </a:xfrm>
              <a:custGeom>
                <a:rect b="b" l="l" r="r" t="t"/>
                <a:pathLst>
                  <a:path extrusionOk="0" h="56" w="56">
                    <a:moveTo>
                      <a:pt x="0" y="48"/>
                    </a:moveTo>
                    <a:cubicBezTo>
                      <a:pt x="20" y="52"/>
                      <a:pt x="40" y="56"/>
                      <a:pt x="48" y="48"/>
                    </a:cubicBezTo>
                    <a:cubicBezTo>
                      <a:pt x="56" y="40"/>
                      <a:pt x="48" y="8"/>
                      <a:pt x="48" y="0"/>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44" name="Google Shape;444;p23"/>
              <p:cNvSpPr/>
              <p:nvPr/>
            </p:nvSpPr>
            <p:spPr>
              <a:xfrm>
                <a:off x="752" y="2352"/>
                <a:ext cx="16" cy="48"/>
              </a:xfrm>
              <a:custGeom>
                <a:rect b="b" l="l" r="r" t="t"/>
                <a:pathLst>
                  <a:path extrusionOk="0" h="48" w="16">
                    <a:moveTo>
                      <a:pt x="16" y="48"/>
                    </a:moveTo>
                    <a:cubicBezTo>
                      <a:pt x="8" y="32"/>
                      <a:pt x="0" y="16"/>
                      <a:pt x="16" y="0"/>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45" name="Google Shape;445;p23"/>
              <p:cNvSpPr/>
              <p:nvPr/>
            </p:nvSpPr>
            <p:spPr>
              <a:xfrm>
                <a:off x="704" y="2352"/>
                <a:ext cx="16" cy="48"/>
              </a:xfrm>
              <a:custGeom>
                <a:rect b="b" l="l" r="r" t="t"/>
                <a:pathLst>
                  <a:path extrusionOk="0" h="48" w="16">
                    <a:moveTo>
                      <a:pt x="16" y="48"/>
                    </a:moveTo>
                    <a:cubicBezTo>
                      <a:pt x="8" y="32"/>
                      <a:pt x="0" y="16"/>
                      <a:pt x="16" y="0"/>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446" name="Google Shape;446;p23"/>
            <p:cNvSpPr txBox="1"/>
            <p:nvPr/>
          </p:nvSpPr>
          <p:spPr>
            <a:xfrm>
              <a:off x="3600" y="2064"/>
              <a:ext cx="816" cy="1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400">
                  <a:solidFill>
                    <a:schemeClr val="dk1"/>
                  </a:solidFill>
                  <a:latin typeface="Gill Sans"/>
                  <a:ea typeface="Gill Sans"/>
                  <a:cs typeface="Gill Sans"/>
                  <a:sym typeface="Gill Sans"/>
                </a:rPr>
                <a:t>Vakava</a:t>
              </a:r>
              <a:endParaRPr sz="1400">
                <a:solidFill>
                  <a:schemeClr val="dk1"/>
                </a:solidFill>
                <a:latin typeface="Gill Sans"/>
                <a:ea typeface="Gill Sans"/>
                <a:cs typeface="Gill Sans"/>
                <a:sym typeface="Gill Sans"/>
              </a:endParaRPr>
            </a:p>
          </p:txBody>
        </p:sp>
      </p:grpSp>
      <p:grpSp>
        <p:nvGrpSpPr>
          <p:cNvPr id="447" name="Google Shape;447;p23"/>
          <p:cNvGrpSpPr/>
          <p:nvPr/>
        </p:nvGrpSpPr>
        <p:grpSpPr>
          <a:xfrm>
            <a:off x="2287588" y="2847975"/>
            <a:ext cx="1295400" cy="990600"/>
            <a:chOff x="1728" y="1536"/>
            <a:chExt cx="816" cy="624"/>
          </a:xfrm>
        </p:grpSpPr>
        <p:grpSp>
          <p:nvGrpSpPr>
            <p:cNvPr id="448" name="Google Shape;448;p23"/>
            <p:cNvGrpSpPr/>
            <p:nvPr/>
          </p:nvGrpSpPr>
          <p:grpSpPr>
            <a:xfrm>
              <a:off x="1920" y="1536"/>
              <a:ext cx="384" cy="432"/>
              <a:chOff x="1248" y="1920"/>
              <a:chExt cx="528" cy="432"/>
            </a:xfrm>
          </p:grpSpPr>
          <p:sp>
            <p:nvSpPr>
              <p:cNvPr id="449" name="Google Shape;449;p23"/>
              <p:cNvSpPr/>
              <p:nvPr/>
            </p:nvSpPr>
            <p:spPr>
              <a:xfrm>
                <a:off x="1248" y="1920"/>
                <a:ext cx="528" cy="432"/>
              </a:xfrm>
              <a:prstGeom prst="flowChartDocumen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450" name="Google Shape;450;p23"/>
              <p:cNvCxnSpPr/>
              <p:nvPr/>
            </p:nvCxnSpPr>
            <p:spPr>
              <a:xfrm>
                <a:off x="1296" y="2016"/>
                <a:ext cx="432" cy="0"/>
              </a:xfrm>
              <a:prstGeom prst="straightConnector1">
                <a:avLst/>
              </a:prstGeom>
              <a:noFill/>
              <a:ln cap="rnd" cmpd="sng" w="9525">
                <a:solidFill>
                  <a:schemeClr val="dk1"/>
                </a:solidFill>
                <a:prstDash val="dot"/>
                <a:round/>
                <a:headEnd len="med" w="med" type="none"/>
                <a:tailEnd len="med" w="med" type="none"/>
              </a:ln>
            </p:spPr>
          </p:cxnSp>
          <p:cxnSp>
            <p:nvCxnSpPr>
              <p:cNvPr id="451" name="Google Shape;451;p23"/>
              <p:cNvCxnSpPr/>
              <p:nvPr/>
            </p:nvCxnSpPr>
            <p:spPr>
              <a:xfrm>
                <a:off x="1296" y="2064"/>
                <a:ext cx="432" cy="0"/>
              </a:xfrm>
              <a:prstGeom prst="straightConnector1">
                <a:avLst/>
              </a:prstGeom>
              <a:noFill/>
              <a:ln cap="rnd" cmpd="sng" w="9525">
                <a:solidFill>
                  <a:schemeClr val="dk1"/>
                </a:solidFill>
                <a:prstDash val="dot"/>
                <a:round/>
                <a:headEnd len="med" w="med" type="none"/>
                <a:tailEnd len="med" w="med" type="none"/>
              </a:ln>
            </p:spPr>
          </p:cxnSp>
          <p:cxnSp>
            <p:nvCxnSpPr>
              <p:cNvPr id="452" name="Google Shape;452;p23"/>
              <p:cNvCxnSpPr/>
              <p:nvPr/>
            </p:nvCxnSpPr>
            <p:spPr>
              <a:xfrm>
                <a:off x="1296" y="2112"/>
                <a:ext cx="432" cy="0"/>
              </a:xfrm>
              <a:prstGeom prst="straightConnector1">
                <a:avLst/>
              </a:prstGeom>
              <a:noFill/>
              <a:ln cap="rnd" cmpd="sng" w="9525">
                <a:solidFill>
                  <a:schemeClr val="dk1"/>
                </a:solidFill>
                <a:prstDash val="dot"/>
                <a:round/>
                <a:headEnd len="med" w="med" type="none"/>
                <a:tailEnd len="med" w="med" type="none"/>
              </a:ln>
            </p:spPr>
          </p:cxnSp>
          <p:cxnSp>
            <p:nvCxnSpPr>
              <p:cNvPr id="453" name="Google Shape;453;p23"/>
              <p:cNvCxnSpPr/>
              <p:nvPr/>
            </p:nvCxnSpPr>
            <p:spPr>
              <a:xfrm>
                <a:off x="1296" y="2160"/>
                <a:ext cx="432" cy="0"/>
              </a:xfrm>
              <a:prstGeom prst="straightConnector1">
                <a:avLst/>
              </a:prstGeom>
              <a:noFill/>
              <a:ln cap="rnd" cmpd="sng" w="9525">
                <a:solidFill>
                  <a:schemeClr val="dk1"/>
                </a:solidFill>
                <a:prstDash val="dot"/>
                <a:round/>
                <a:headEnd len="med" w="med" type="none"/>
                <a:tailEnd len="med" w="med" type="none"/>
              </a:ln>
            </p:spPr>
          </p:cxnSp>
          <p:cxnSp>
            <p:nvCxnSpPr>
              <p:cNvPr id="454" name="Google Shape;454;p23"/>
              <p:cNvCxnSpPr/>
              <p:nvPr/>
            </p:nvCxnSpPr>
            <p:spPr>
              <a:xfrm>
                <a:off x="1296" y="2208"/>
                <a:ext cx="432" cy="0"/>
              </a:xfrm>
              <a:prstGeom prst="straightConnector1">
                <a:avLst/>
              </a:prstGeom>
              <a:noFill/>
              <a:ln cap="rnd" cmpd="sng" w="9525">
                <a:solidFill>
                  <a:schemeClr val="dk1"/>
                </a:solidFill>
                <a:prstDash val="dot"/>
                <a:round/>
                <a:headEnd len="med" w="med" type="none"/>
                <a:tailEnd len="med" w="med" type="none"/>
              </a:ln>
            </p:spPr>
          </p:cxnSp>
          <p:cxnSp>
            <p:nvCxnSpPr>
              <p:cNvPr id="455" name="Google Shape;455;p23"/>
              <p:cNvCxnSpPr/>
              <p:nvPr/>
            </p:nvCxnSpPr>
            <p:spPr>
              <a:xfrm>
                <a:off x="1296" y="2256"/>
                <a:ext cx="432" cy="0"/>
              </a:xfrm>
              <a:prstGeom prst="straightConnector1">
                <a:avLst/>
              </a:prstGeom>
              <a:noFill/>
              <a:ln cap="rnd" cmpd="sng" w="9525">
                <a:solidFill>
                  <a:schemeClr val="dk1"/>
                </a:solidFill>
                <a:prstDash val="dot"/>
                <a:round/>
                <a:headEnd len="med" w="med" type="none"/>
                <a:tailEnd len="med" w="med" type="none"/>
              </a:ln>
            </p:spPr>
          </p:cxnSp>
          <p:cxnSp>
            <p:nvCxnSpPr>
              <p:cNvPr id="456" name="Google Shape;456;p23"/>
              <p:cNvCxnSpPr/>
              <p:nvPr/>
            </p:nvCxnSpPr>
            <p:spPr>
              <a:xfrm>
                <a:off x="1296" y="2304"/>
                <a:ext cx="240" cy="0"/>
              </a:xfrm>
              <a:prstGeom prst="straightConnector1">
                <a:avLst/>
              </a:prstGeom>
              <a:noFill/>
              <a:ln cap="rnd" cmpd="sng" w="9525">
                <a:solidFill>
                  <a:schemeClr val="dk1"/>
                </a:solidFill>
                <a:prstDash val="dot"/>
                <a:round/>
                <a:headEnd len="med" w="med" type="none"/>
                <a:tailEnd len="med" w="med" type="none"/>
              </a:ln>
            </p:spPr>
          </p:cxnSp>
          <p:cxnSp>
            <p:nvCxnSpPr>
              <p:cNvPr id="457" name="Google Shape;457;p23"/>
              <p:cNvCxnSpPr/>
              <p:nvPr/>
            </p:nvCxnSpPr>
            <p:spPr>
              <a:xfrm>
                <a:off x="1296" y="1968"/>
                <a:ext cx="432" cy="0"/>
              </a:xfrm>
              <a:prstGeom prst="straightConnector1">
                <a:avLst/>
              </a:prstGeom>
              <a:noFill/>
              <a:ln cap="rnd" cmpd="sng" w="9525">
                <a:solidFill>
                  <a:schemeClr val="dk1"/>
                </a:solidFill>
                <a:prstDash val="dot"/>
                <a:round/>
                <a:headEnd len="med" w="med" type="none"/>
                <a:tailEnd len="med" w="med" type="none"/>
              </a:ln>
            </p:spPr>
          </p:cxnSp>
        </p:grpSp>
        <p:sp>
          <p:nvSpPr>
            <p:cNvPr id="458" name="Google Shape;458;p23"/>
            <p:cNvSpPr txBox="1"/>
            <p:nvPr/>
          </p:nvSpPr>
          <p:spPr>
            <a:xfrm>
              <a:off x="1728" y="1968"/>
              <a:ext cx="816" cy="1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400">
                  <a:solidFill>
                    <a:schemeClr val="dk1"/>
                  </a:solidFill>
                  <a:latin typeface="Gill Sans"/>
                  <a:ea typeface="Gill Sans"/>
                  <a:cs typeface="Gill Sans"/>
                  <a:sym typeface="Gill Sans"/>
                </a:rPr>
                <a:t>Testitapaus</a:t>
              </a:r>
              <a:endParaRPr sz="1400">
                <a:solidFill>
                  <a:schemeClr val="dk1"/>
                </a:solidFill>
                <a:latin typeface="Gill Sans"/>
                <a:ea typeface="Gill Sans"/>
                <a:cs typeface="Gill Sans"/>
                <a:sym typeface="Gill Sans"/>
              </a:endParaRPr>
            </a:p>
          </p:txBody>
        </p:sp>
      </p:grpSp>
      <p:sp>
        <p:nvSpPr>
          <p:cNvPr id="459" name="Google Shape;459;p23"/>
          <p:cNvSpPr txBox="1"/>
          <p:nvPr/>
        </p:nvSpPr>
        <p:spPr>
          <a:xfrm>
            <a:off x="2071670" y="1928802"/>
            <a:ext cx="1784346" cy="9159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hlink"/>
                </a:solidFill>
                <a:latin typeface="Gill Sans"/>
                <a:ea typeface="Gill Sans"/>
                <a:cs typeface="Gill Sans"/>
                <a:sym typeface="Gill Sans"/>
              </a:rPr>
              <a:t>Koitamme kohdistaa näitä…</a:t>
            </a:r>
            <a:endParaRPr sz="1800">
              <a:solidFill>
                <a:schemeClr val="hlink"/>
              </a:solidFill>
              <a:latin typeface="Gill Sans"/>
              <a:ea typeface="Gill Sans"/>
              <a:cs typeface="Gill Sans"/>
              <a:sym typeface="Gill Sans"/>
            </a:endParaRPr>
          </a:p>
        </p:txBody>
      </p:sp>
      <p:sp>
        <p:nvSpPr>
          <p:cNvPr id="460" name="Google Shape;460;p23"/>
          <p:cNvSpPr txBox="1"/>
          <p:nvPr/>
        </p:nvSpPr>
        <p:spPr>
          <a:xfrm>
            <a:off x="4071934" y="1949450"/>
            <a:ext cx="2406654" cy="6413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hlink"/>
                </a:solidFill>
                <a:latin typeface="Gill Sans"/>
                <a:ea typeface="Gill Sans"/>
                <a:cs typeface="Gill Sans"/>
                <a:sym typeface="Gill Sans"/>
              </a:rPr>
              <a:t>…löytääksemme </a:t>
            </a:r>
            <a:br>
              <a:rPr lang="fi-FI" sz="1800">
                <a:solidFill>
                  <a:schemeClr val="hlink"/>
                </a:solidFill>
                <a:latin typeface="Gill Sans"/>
                <a:ea typeface="Gill Sans"/>
                <a:cs typeface="Gill Sans"/>
                <a:sym typeface="Gill Sans"/>
              </a:rPr>
            </a:br>
            <a:r>
              <a:rPr lang="fi-FI" sz="1800">
                <a:solidFill>
                  <a:schemeClr val="hlink"/>
                </a:solidFill>
                <a:latin typeface="Gill Sans"/>
                <a:ea typeface="Gill Sans"/>
                <a:cs typeface="Gill Sans"/>
                <a:sym typeface="Gill Sans"/>
              </a:rPr>
              <a:t>näitä…</a:t>
            </a:r>
            <a:endParaRPr sz="1800">
              <a:solidFill>
                <a:schemeClr val="hlink"/>
              </a:solidFill>
              <a:latin typeface="Gill Sans"/>
              <a:ea typeface="Gill Sans"/>
              <a:cs typeface="Gill Sans"/>
              <a:sym typeface="Gill Sans"/>
            </a:endParaRPr>
          </a:p>
        </p:txBody>
      </p:sp>
      <p:sp>
        <p:nvSpPr>
          <p:cNvPr id="461" name="Google Shape;461;p23"/>
          <p:cNvSpPr txBox="1"/>
          <p:nvPr/>
        </p:nvSpPr>
        <p:spPr>
          <a:xfrm>
            <a:off x="2555875" y="4692650"/>
            <a:ext cx="2017713" cy="14652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hlink"/>
                </a:solidFill>
                <a:latin typeface="Gill Sans"/>
                <a:ea typeface="Gill Sans"/>
                <a:cs typeface="Gill Sans"/>
                <a:sym typeface="Gill Sans"/>
              </a:rPr>
              <a:t>…ja kertoaksemme jos on muuta ja millä tasolla tiedämme.</a:t>
            </a:r>
            <a:endParaRPr sz="1800">
              <a:solidFill>
                <a:schemeClr val="hlink"/>
              </a:solidFill>
              <a:latin typeface="Gill Sans"/>
              <a:ea typeface="Gill Sans"/>
              <a:cs typeface="Gill Sans"/>
              <a:sym typeface="Gill Sans"/>
            </a:endParaRPr>
          </a:p>
        </p:txBody>
      </p:sp>
      <p:grpSp>
        <p:nvGrpSpPr>
          <p:cNvPr id="462" name="Google Shape;462;p23"/>
          <p:cNvGrpSpPr/>
          <p:nvPr/>
        </p:nvGrpSpPr>
        <p:grpSpPr>
          <a:xfrm>
            <a:off x="4649788" y="4905375"/>
            <a:ext cx="1392237" cy="533400"/>
            <a:chOff x="768" y="2976"/>
            <a:chExt cx="816" cy="528"/>
          </a:xfrm>
        </p:grpSpPr>
        <p:sp>
          <p:nvSpPr>
            <p:cNvPr id="463" name="Google Shape;463;p23"/>
            <p:cNvSpPr/>
            <p:nvPr/>
          </p:nvSpPr>
          <p:spPr>
            <a:xfrm>
              <a:off x="1344" y="2976"/>
              <a:ext cx="240" cy="96"/>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464" name="Google Shape;464;p23"/>
            <p:cNvCxnSpPr/>
            <p:nvPr/>
          </p:nvCxnSpPr>
          <p:spPr>
            <a:xfrm>
              <a:off x="768" y="3024"/>
              <a:ext cx="576" cy="0"/>
            </a:xfrm>
            <a:prstGeom prst="straightConnector1">
              <a:avLst/>
            </a:prstGeom>
            <a:noFill/>
            <a:ln cap="flat" cmpd="sng" w="12700">
              <a:solidFill>
                <a:schemeClr val="dk1"/>
              </a:solidFill>
              <a:prstDash val="solid"/>
              <a:round/>
              <a:headEnd len="med" w="med" type="none"/>
              <a:tailEnd len="med" w="med" type="none"/>
            </a:ln>
          </p:spPr>
        </p:cxnSp>
        <p:sp>
          <p:nvSpPr>
            <p:cNvPr id="465" name="Google Shape;465;p23"/>
            <p:cNvSpPr/>
            <p:nvPr/>
          </p:nvSpPr>
          <p:spPr>
            <a:xfrm>
              <a:off x="1344" y="3120"/>
              <a:ext cx="240" cy="96"/>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466" name="Google Shape;466;p23"/>
            <p:cNvCxnSpPr/>
            <p:nvPr/>
          </p:nvCxnSpPr>
          <p:spPr>
            <a:xfrm>
              <a:off x="960" y="3168"/>
              <a:ext cx="384" cy="0"/>
            </a:xfrm>
            <a:prstGeom prst="straightConnector1">
              <a:avLst/>
            </a:prstGeom>
            <a:noFill/>
            <a:ln cap="flat" cmpd="sng" w="12700">
              <a:solidFill>
                <a:schemeClr val="dk1"/>
              </a:solidFill>
              <a:prstDash val="solid"/>
              <a:round/>
              <a:headEnd len="med" w="med" type="none"/>
              <a:tailEnd len="med" w="med" type="none"/>
            </a:ln>
          </p:spPr>
        </p:cxnSp>
        <p:sp>
          <p:nvSpPr>
            <p:cNvPr id="467" name="Google Shape;467;p23"/>
            <p:cNvSpPr/>
            <p:nvPr/>
          </p:nvSpPr>
          <p:spPr>
            <a:xfrm>
              <a:off x="1344" y="3264"/>
              <a:ext cx="240" cy="96"/>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468" name="Google Shape;468;p23"/>
            <p:cNvCxnSpPr/>
            <p:nvPr/>
          </p:nvCxnSpPr>
          <p:spPr>
            <a:xfrm>
              <a:off x="960" y="3312"/>
              <a:ext cx="384" cy="0"/>
            </a:xfrm>
            <a:prstGeom prst="straightConnector1">
              <a:avLst/>
            </a:prstGeom>
            <a:noFill/>
            <a:ln cap="flat" cmpd="sng" w="12700">
              <a:solidFill>
                <a:schemeClr val="dk1"/>
              </a:solidFill>
              <a:prstDash val="solid"/>
              <a:round/>
              <a:headEnd len="med" w="med" type="none"/>
              <a:tailEnd len="med" w="med" type="none"/>
            </a:ln>
          </p:spPr>
        </p:cxnSp>
        <p:sp>
          <p:nvSpPr>
            <p:cNvPr id="469" name="Google Shape;469;p23"/>
            <p:cNvSpPr/>
            <p:nvPr/>
          </p:nvSpPr>
          <p:spPr>
            <a:xfrm>
              <a:off x="1344" y="3408"/>
              <a:ext cx="240" cy="96"/>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470" name="Google Shape;470;p23"/>
            <p:cNvCxnSpPr/>
            <p:nvPr/>
          </p:nvCxnSpPr>
          <p:spPr>
            <a:xfrm>
              <a:off x="864" y="3456"/>
              <a:ext cx="480" cy="0"/>
            </a:xfrm>
            <a:prstGeom prst="straightConnector1">
              <a:avLst/>
            </a:prstGeom>
            <a:noFill/>
            <a:ln cap="flat" cmpd="sng" w="12700">
              <a:solidFill>
                <a:schemeClr val="dk1"/>
              </a:solidFill>
              <a:prstDash val="solid"/>
              <a:round/>
              <a:headEnd len="med" w="med" type="none"/>
              <a:tailEnd len="med" w="med" type="none"/>
            </a:ln>
          </p:spPr>
        </p:cxnSp>
        <p:cxnSp>
          <p:nvCxnSpPr>
            <p:cNvPr id="471" name="Google Shape;471;p23"/>
            <p:cNvCxnSpPr/>
            <p:nvPr/>
          </p:nvCxnSpPr>
          <p:spPr>
            <a:xfrm rot="10800000">
              <a:off x="864" y="3024"/>
              <a:ext cx="0" cy="432"/>
            </a:xfrm>
            <a:prstGeom prst="straightConnector1">
              <a:avLst/>
            </a:prstGeom>
            <a:noFill/>
            <a:ln cap="flat" cmpd="sng" w="12700">
              <a:solidFill>
                <a:schemeClr val="dk1"/>
              </a:solidFill>
              <a:prstDash val="solid"/>
              <a:round/>
              <a:headEnd len="med" w="med" type="none"/>
              <a:tailEnd len="med" w="med" type="none"/>
            </a:ln>
          </p:spPr>
        </p:cxnSp>
        <p:cxnSp>
          <p:nvCxnSpPr>
            <p:cNvPr id="472" name="Google Shape;472;p23"/>
            <p:cNvCxnSpPr/>
            <p:nvPr/>
          </p:nvCxnSpPr>
          <p:spPr>
            <a:xfrm rot="10800000">
              <a:off x="960" y="3024"/>
              <a:ext cx="0" cy="288"/>
            </a:xfrm>
            <a:prstGeom prst="straightConnector1">
              <a:avLst/>
            </a:prstGeom>
            <a:noFill/>
            <a:ln cap="flat" cmpd="sng" w="12700">
              <a:solidFill>
                <a:schemeClr val="dk1"/>
              </a:solidFill>
              <a:prstDash val="solid"/>
              <a:round/>
              <a:headEnd len="med" w="med" type="none"/>
              <a:tailEnd len="med" w="med" type="none"/>
            </a:ln>
          </p:spPr>
        </p:cxnSp>
      </p:grpSp>
      <p:sp>
        <p:nvSpPr>
          <p:cNvPr id="473" name="Google Shape;473;p23"/>
          <p:cNvSpPr txBox="1"/>
          <p:nvPr/>
        </p:nvSpPr>
        <p:spPr>
          <a:xfrm>
            <a:off x="4421188" y="5438775"/>
            <a:ext cx="2151062" cy="1262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400">
                <a:solidFill>
                  <a:schemeClr val="dk1"/>
                </a:solidFill>
                <a:latin typeface="Gill Sans"/>
                <a:ea typeface="Gill Sans"/>
                <a:cs typeface="Gill Sans"/>
                <a:sym typeface="Gill Sans"/>
              </a:rPr>
              <a:t>Kattavuus</a:t>
            </a:r>
            <a:endParaRPr sz="1400">
              <a:solidFill>
                <a:schemeClr val="dk1"/>
              </a:solidFill>
              <a:latin typeface="Gill Sans"/>
              <a:ea typeface="Gill Sans"/>
              <a:cs typeface="Gill Sans"/>
              <a:sym typeface="Gill Sans"/>
            </a:endParaRPr>
          </a:p>
          <a:p>
            <a:pPr indent="0" lvl="0" marL="0" marR="0" rtl="0" algn="ctr">
              <a:spcBef>
                <a:spcPts val="700"/>
              </a:spcBef>
              <a:spcAft>
                <a:spcPts val="0"/>
              </a:spcAft>
              <a:buNone/>
            </a:pPr>
            <a:r>
              <a:rPr lang="fi-FI" sz="1400">
                <a:solidFill>
                  <a:schemeClr val="dk1"/>
                </a:solidFill>
                <a:latin typeface="Gill Sans"/>
                <a:ea typeface="Gill Sans"/>
                <a:cs typeface="Gill Sans"/>
                <a:sym typeface="Gill Sans"/>
              </a:rPr>
              <a:t>VAATIMUKSET</a:t>
            </a:r>
            <a:br>
              <a:rPr lang="fi-FI" sz="1400">
                <a:solidFill>
                  <a:schemeClr val="dk1"/>
                </a:solidFill>
                <a:latin typeface="Gill Sans"/>
                <a:ea typeface="Gill Sans"/>
                <a:cs typeface="Gill Sans"/>
                <a:sym typeface="Gill Sans"/>
              </a:rPr>
            </a:br>
            <a:r>
              <a:rPr lang="fi-FI" sz="1400">
                <a:solidFill>
                  <a:schemeClr val="dk1"/>
                </a:solidFill>
                <a:latin typeface="Gill Sans"/>
                <a:ea typeface="Gill Sans"/>
                <a:cs typeface="Gill Sans"/>
                <a:sym typeface="Gill Sans"/>
              </a:rPr>
              <a:t>RISKIT</a:t>
            </a:r>
            <a:br>
              <a:rPr lang="fi-FI" sz="1400">
                <a:solidFill>
                  <a:schemeClr val="dk1"/>
                </a:solidFill>
                <a:latin typeface="Gill Sans"/>
                <a:ea typeface="Gill Sans"/>
                <a:cs typeface="Gill Sans"/>
                <a:sym typeface="Gill Sans"/>
              </a:rPr>
            </a:br>
            <a:r>
              <a:rPr lang="fi-FI" sz="1400">
                <a:solidFill>
                  <a:schemeClr val="dk1"/>
                </a:solidFill>
                <a:latin typeface="Gill Sans"/>
                <a:ea typeface="Gill Sans"/>
                <a:cs typeface="Gill Sans"/>
                <a:sym typeface="Gill Sans"/>
              </a:rPr>
              <a:t>KOODI</a:t>
            </a:r>
            <a:br>
              <a:rPr lang="fi-FI" sz="1400">
                <a:solidFill>
                  <a:schemeClr val="dk1"/>
                </a:solidFill>
                <a:latin typeface="Gill Sans"/>
                <a:ea typeface="Gill Sans"/>
                <a:cs typeface="Gill Sans"/>
                <a:sym typeface="Gill Sans"/>
              </a:rPr>
            </a:br>
            <a:r>
              <a:rPr lang="fi-FI" sz="1400">
                <a:solidFill>
                  <a:schemeClr val="dk1"/>
                </a:solidFill>
                <a:latin typeface="Gill Sans"/>
                <a:ea typeface="Gill Sans"/>
                <a:cs typeface="Gill Sans"/>
                <a:sym typeface="Gill Sans"/>
              </a:rPr>
              <a:t>YMPÄRISTÖT</a:t>
            </a:r>
            <a:endParaRPr sz="1400">
              <a:solidFill>
                <a:schemeClr val="dk1"/>
              </a:solidFill>
              <a:latin typeface="Gill Sans"/>
              <a:ea typeface="Gill Sans"/>
              <a:cs typeface="Gill Sans"/>
              <a:sym typeface="Gill Sans"/>
            </a:endParaRPr>
          </a:p>
        </p:txBody>
      </p:sp>
      <p:sp>
        <p:nvSpPr>
          <p:cNvPr id="474" name="Google Shape;474;p23"/>
          <p:cNvSpPr txBox="1"/>
          <p:nvPr/>
        </p:nvSpPr>
        <p:spPr>
          <a:xfrm>
            <a:off x="395288" y="1989138"/>
            <a:ext cx="1871662" cy="207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000">
                <a:solidFill>
                  <a:schemeClr val="dk2"/>
                </a:solidFill>
                <a:latin typeface="Gill Sans"/>
                <a:ea typeface="Gill Sans"/>
                <a:cs typeface="Gill Sans"/>
                <a:sym typeface="Gill Sans"/>
              </a:rPr>
              <a:t>MITÄ</a:t>
            </a:r>
            <a:br>
              <a:rPr lang="fi-FI" sz="2000">
                <a:solidFill>
                  <a:schemeClr val="dk2"/>
                </a:solidFill>
                <a:latin typeface="Gill Sans"/>
                <a:ea typeface="Gill Sans"/>
                <a:cs typeface="Gill Sans"/>
                <a:sym typeface="Gill Sans"/>
              </a:rPr>
            </a:br>
            <a:r>
              <a:rPr lang="fi-FI" sz="2000">
                <a:solidFill>
                  <a:schemeClr val="dk2"/>
                </a:solidFill>
                <a:latin typeface="Gill Sans"/>
                <a:ea typeface="Gill Sans"/>
                <a:cs typeface="Gill Sans"/>
                <a:sym typeface="Gill Sans"/>
              </a:rPr>
              <a:t>MILLOIN</a:t>
            </a:r>
            <a:br>
              <a:rPr lang="fi-FI" sz="2000">
                <a:solidFill>
                  <a:schemeClr val="dk2"/>
                </a:solidFill>
                <a:latin typeface="Gill Sans"/>
                <a:ea typeface="Gill Sans"/>
                <a:cs typeface="Gill Sans"/>
                <a:sym typeface="Gill Sans"/>
              </a:rPr>
            </a:br>
            <a:r>
              <a:rPr lang="fi-FI" sz="2000">
                <a:solidFill>
                  <a:schemeClr val="dk2"/>
                </a:solidFill>
                <a:latin typeface="Gill Sans"/>
                <a:ea typeface="Gill Sans"/>
                <a:cs typeface="Gill Sans"/>
                <a:sym typeface="Gill Sans"/>
              </a:rPr>
              <a:t>KUKA</a:t>
            </a:r>
            <a:br>
              <a:rPr lang="fi-FI" sz="2000">
                <a:solidFill>
                  <a:schemeClr val="dk2"/>
                </a:solidFill>
                <a:latin typeface="Gill Sans"/>
                <a:ea typeface="Gill Sans"/>
                <a:cs typeface="Gill Sans"/>
                <a:sym typeface="Gill Sans"/>
              </a:rPr>
            </a:br>
            <a:r>
              <a:rPr lang="fi-FI" sz="2000">
                <a:solidFill>
                  <a:schemeClr val="dk2"/>
                </a:solidFill>
                <a:latin typeface="Gill Sans"/>
                <a:ea typeface="Gill Sans"/>
                <a:cs typeface="Gill Sans"/>
                <a:sym typeface="Gill Sans"/>
              </a:rPr>
              <a:t>KUINKA</a:t>
            </a:r>
            <a:br>
              <a:rPr lang="fi-FI" sz="2000">
                <a:solidFill>
                  <a:schemeClr val="dk2"/>
                </a:solidFill>
                <a:latin typeface="Gill Sans"/>
                <a:ea typeface="Gill Sans"/>
                <a:cs typeface="Gill Sans"/>
                <a:sym typeface="Gill Sans"/>
              </a:rPr>
            </a:br>
            <a:r>
              <a:rPr lang="fi-FI" sz="2000">
                <a:solidFill>
                  <a:schemeClr val="dk2"/>
                </a:solidFill>
                <a:latin typeface="Gill Sans"/>
                <a:ea typeface="Gill Sans"/>
                <a:cs typeface="Gill Sans"/>
                <a:sym typeface="Gill Sans"/>
              </a:rPr>
              <a:t>MIKSI</a:t>
            </a:r>
            <a:endParaRPr/>
          </a:p>
          <a:p>
            <a:pPr indent="0" lvl="0" marL="0" marR="0" rtl="0" algn="ctr">
              <a:spcBef>
                <a:spcPts val="1000"/>
              </a:spcBef>
              <a:spcAft>
                <a:spcPts val="0"/>
              </a:spcAft>
              <a:buNone/>
            </a:pPr>
            <a:r>
              <a:rPr lang="fi-FI" sz="2000">
                <a:solidFill>
                  <a:schemeClr val="dk2"/>
                </a:solidFill>
                <a:latin typeface="Gill Sans"/>
                <a:ea typeface="Gill Sans"/>
                <a:cs typeface="Gill Sans"/>
                <a:sym typeface="Gill Sans"/>
              </a:rPr>
              <a:t>(MITEN)</a:t>
            </a:r>
            <a:endParaRPr sz="2000">
              <a:solidFill>
                <a:schemeClr val="dk2"/>
              </a:solidFill>
              <a:latin typeface="Gill Sans"/>
              <a:ea typeface="Gill Sans"/>
              <a:cs typeface="Gill Sans"/>
              <a:sym typeface="Gill Sans"/>
            </a:endParaRPr>
          </a:p>
        </p:txBody>
      </p:sp>
      <p:sp>
        <p:nvSpPr>
          <p:cNvPr id="475" name="Google Shape;475;p23"/>
          <p:cNvSpPr/>
          <p:nvPr/>
        </p:nvSpPr>
        <p:spPr>
          <a:xfrm>
            <a:off x="6097588" y="2085975"/>
            <a:ext cx="762000" cy="990600"/>
          </a:xfrm>
          <a:custGeom>
            <a:rect b="b" l="l" r="r" t="t"/>
            <a:pathLst>
              <a:path extrusionOk="0" h="624" w="480">
                <a:moveTo>
                  <a:pt x="0" y="624"/>
                </a:moveTo>
                <a:cubicBezTo>
                  <a:pt x="8" y="508"/>
                  <a:pt x="16" y="392"/>
                  <a:pt x="96" y="288"/>
                </a:cubicBezTo>
                <a:cubicBezTo>
                  <a:pt x="176" y="184"/>
                  <a:pt x="328" y="92"/>
                  <a:pt x="480"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76" name="Google Shape;476;p23"/>
          <p:cNvSpPr/>
          <p:nvPr/>
        </p:nvSpPr>
        <p:spPr>
          <a:xfrm>
            <a:off x="6097588" y="2771775"/>
            <a:ext cx="685800" cy="457200"/>
          </a:xfrm>
          <a:custGeom>
            <a:rect b="b" l="l" r="r" t="t"/>
            <a:pathLst>
              <a:path extrusionOk="0" h="288" w="432">
                <a:moveTo>
                  <a:pt x="0" y="288"/>
                </a:moveTo>
                <a:cubicBezTo>
                  <a:pt x="36" y="192"/>
                  <a:pt x="72" y="96"/>
                  <a:pt x="144" y="48"/>
                </a:cubicBezTo>
                <a:cubicBezTo>
                  <a:pt x="216" y="0"/>
                  <a:pt x="324" y="0"/>
                  <a:pt x="432"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77" name="Google Shape;477;p23"/>
          <p:cNvSpPr/>
          <p:nvPr/>
        </p:nvSpPr>
        <p:spPr>
          <a:xfrm>
            <a:off x="6097588" y="3305175"/>
            <a:ext cx="685800" cy="177800"/>
          </a:xfrm>
          <a:custGeom>
            <a:rect b="b" l="l" r="r" t="t"/>
            <a:pathLst>
              <a:path extrusionOk="0" h="112" w="432">
                <a:moveTo>
                  <a:pt x="0" y="0"/>
                </a:moveTo>
                <a:cubicBezTo>
                  <a:pt x="60" y="40"/>
                  <a:pt x="120" y="80"/>
                  <a:pt x="192" y="96"/>
                </a:cubicBezTo>
                <a:cubicBezTo>
                  <a:pt x="264" y="112"/>
                  <a:pt x="348" y="104"/>
                  <a:pt x="432" y="96"/>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78" name="Google Shape;478;p23"/>
          <p:cNvSpPr/>
          <p:nvPr/>
        </p:nvSpPr>
        <p:spPr>
          <a:xfrm>
            <a:off x="6097588" y="3457575"/>
            <a:ext cx="685800" cy="533400"/>
          </a:xfrm>
          <a:custGeom>
            <a:rect b="b" l="l" r="r" t="t"/>
            <a:pathLst>
              <a:path extrusionOk="0" h="336" w="432">
                <a:moveTo>
                  <a:pt x="0" y="0"/>
                </a:moveTo>
                <a:cubicBezTo>
                  <a:pt x="60" y="92"/>
                  <a:pt x="120" y="184"/>
                  <a:pt x="192" y="240"/>
                </a:cubicBezTo>
                <a:cubicBezTo>
                  <a:pt x="264" y="296"/>
                  <a:pt x="348" y="316"/>
                  <a:pt x="432" y="336"/>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479" name="Google Shape;479;p23"/>
          <p:cNvCxnSpPr/>
          <p:nvPr/>
        </p:nvCxnSpPr>
        <p:spPr>
          <a:xfrm rot="10800000">
            <a:off x="3354388" y="3914775"/>
            <a:ext cx="1600200" cy="838200"/>
          </a:xfrm>
          <a:prstGeom prst="straightConnector1">
            <a:avLst/>
          </a:prstGeom>
          <a:noFill/>
          <a:ln cap="flat" cmpd="sng" w="9525">
            <a:solidFill>
              <a:schemeClr val="dk1"/>
            </a:solidFill>
            <a:prstDash val="solid"/>
            <a:round/>
            <a:headEnd len="med" w="med" type="none"/>
            <a:tailEnd len="med" w="med" type="triangle"/>
          </a:ln>
        </p:spPr>
      </p:cxnSp>
      <p:cxnSp>
        <p:nvCxnSpPr>
          <p:cNvPr id="480" name="Google Shape;480;p23"/>
          <p:cNvCxnSpPr/>
          <p:nvPr/>
        </p:nvCxnSpPr>
        <p:spPr>
          <a:xfrm flipH="1" rot="10800000">
            <a:off x="5106988" y="3838575"/>
            <a:ext cx="457200" cy="838200"/>
          </a:xfrm>
          <a:prstGeom prst="straightConnector1">
            <a:avLst/>
          </a:prstGeom>
          <a:noFill/>
          <a:ln cap="flat" cmpd="sng" w="9525">
            <a:solidFill>
              <a:schemeClr val="dk1"/>
            </a:solidFill>
            <a:prstDash val="solid"/>
            <a:round/>
            <a:headEnd len="med" w="med" type="none"/>
            <a:tailEnd len="med" w="med" type="triangle"/>
          </a:ln>
        </p:spPr>
      </p:cxnSp>
      <p:sp>
        <p:nvSpPr>
          <p:cNvPr id="481" name="Google Shape;481;p23"/>
          <p:cNvSpPr txBox="1"/>
          <p:nvPr/>
        </p:nvSpPr>
        <p:spPr>
          <a:xfrm rot="1454346">
            <a:off x="3659188" y="4067175"/>
            <a:ext cx="1295400" cy="304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400">
                <a:solidFill>
                  <a:schemeClr val="folHlink"/>
                </a:solidFill>
                <a:latin typeface="Gill Sans"/>
                <a:ea typeface="Gill Sans"/>
                <a:cs typeface="Gill Sans"/>
                <a:sym typeface="Gill Sans"/>
              </a:rPr>
              <a:t>Kattavuus?</a:t>
            </a:r>
            <a:endParaRPr sz="1400">
              <a:solidFill>
                <a:schemeClr val="folHlink"/>
              </a:solidFill>
              <a:latin typeface="Gill Sans"/>
              <a:ea typeface="Gill Sans"/>
              <a:cs typeface="Gill Sans"/>
              <a:sym typeface="Gill Sans"/>
            </a:endParaRPr>
          </a:p>
        </p:txBody>
      </p:sp>
      <p:cxnSp>
        <p:nvCxnSpPr>
          <p:cNvPr id="482" name="Google Shape;482;p23"/>
          <p:cNvCxnSpPr/>
          <p:nvPr/>
        </p:nvCxnSpPr>
        <p:spPr>
          <a:xfrm>
            <a:off x="3430588" y="3152775"/>
            <a:ext cx="2133600" cy="0"/>
          </a:xfrm>
          <a:prstGeom prst="straightConnector1">
            <a:avLst/>
          </a:prstGeom>
          <a:noFill/>
          <a:ln cap="flat" cmpd="sng" w="9525">
            <a:solidFill>
              <a:schemeClr val="dk1"/>
            </a:solidFill>
            <a:prstDash val="solid"/>
            <a:round/>
            <a:headEnd len="med" w="med" type="none"/>
            <a:tailEnd len="med" w="med" type="triangle"/>
          </a:ln>
        </p:spPr>
      </p:cxnSp>
      <p:sp>
        <p:nvSpPr>
          <p:cNvPr id="483" name="Google Shape;483;p23"/>
          <p:cNvSpPr/>
          <p:nvPr/>
        </p:nvSpPr>
        <p:spPr>
          <a:xfrm>
            <a:off x="7004050" y="1971675"/>
            <a:ext cx="304800" cy="304800"/>
          </a:xfrm>
          <a:prstGeom prst="ellipse">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400">
                <a:solidFill>
                  <a:schemeClr val="lt1"/>
                </a:solidFill>
                <a:latin typeface="Gill Sans"/>
                <a:ea typeface="Gill Sans"/>
                <a:cs typeface="Gill Sans"/>
                <a:sym typeface="Gill Sans"/>
              </a:rPr>
              <a:t>B</a:t>
            </a:r>
            <a:endParaRPr sz="1400">
              <a:solidFill>
                <a:schemeClr val="lt1"/>
              </a:solidFill>
              <a:latin typeface="Gill Sans"/>
              <a:ea typeface="Gill Sans"/>
              <a:cs typeface="Gill Sans"/>
              <a:sym typeface="Gill Sans"/>
            </a:endParaRPr>
          </a:p>
        </p:txBody>
      </p:sp>
      <p:sp>
        <p:nvSpPr>
          <p:cNvPr id="484" name="Google Shape;484;p23"/>
          <p:cNvSpPr/>
          <p:nvPr/>
        </p:nvSpPr>
        <p:spPr>
          <a:xfrm>
            <a:off x="7004050" y="2614613"/>
            <a:ext cx="304800" cy="304800"/>
          </a:xfrm>
          <a:prstGeom prst="ellipse">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400">
                <a:solidFill>
                  <a:schemeClr val="lt1"/>
                </a:solidFill>
                <a:latin typeface="Gill Sans"/>
                <a:ea typeface="Gill Sans"/>
                <a:cs typeface="Gill Sans"/>
                <a:sym typeface="Gill Sans"/>
              </a:rPr>
              <a:t>PM</a:t>
            </a:r>
            <a:endParaRPr sz="1400">
              <a:solidFill>
                <a:schemeClr val="lt1"/>
              </a:solidFill>
              <a:latin typeface="Gill Sans"/>
              <a:ea typeface="Gill Sans"/>
              <a:cs typeface="Gill Sans"/>
              <a:sym typeface="Gill Sans"/>
            </a:endParaRPr>
          </a:p>
        </p:txBody>
      </p:sp>
      <p:sp>
        <p:nvSpPr>
          <p:cNvPr id="485" name="Google Shape;485;p23"/>
          <p:cNvSpPr/>
          <p:nvPr/>
        </p:nvSpPr>
        <p:spPr>
          <a:xfrm>
            <a:off x="6988175" y="3333750"/>
            <a:ext cx="304800" cy="304800"/>
          </a:xfrm>
          <a:prstGeom prst="ellipse">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400">
                <a:solidFill>
                  <a:schemeClr val="lt1"/>
                </a:solidFill>
                <a:latin typeface="Gill Sans"/>
                <a:ea typeface="Gill Sans"/>
                <a:cs typeface="Gill Sans"/>
                <a:sym typeface="Gill Sans"/>
              </a:rPr>
              <a:t>T</a:t>
            </a:r>
            <a:endParaRPr sz="1400">
              <a:solidFill>
                <a:schemeClr val="lt1"/>
              </a:solidFill>
              <a:latin typeface="Gill Sans"/>
              <a:ea typeface="Gill Sans"/>
              <a:cs typeface="Gill Sans"/>
              <a:sym typeface="Gill Sans"/>
            </a:endParaRPr>
          </a:p>
        </p:txBody>
      </p:sp>
      <p:sp>
        <p:nvSpPr>
          <p:cNvPr id="486" name="Google Shape;486;p23"/>
          <p:cNvSpPr/>
          <p:nvPr/>
        </p:nvSpPr>
        <p:spPr>
          <a:xfrm>
            <a:off x="7004050" y="3838575"/>
            <a:ext cx="304800" cy="304800"/>
          </a:xfrm>
          <a:prstGeom prst="ellipse">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400">
                <a:solidFill>
                  <a:schemeClr val="lt1"/>
                </a:solidFill>
                <a:latin typeface="Gill Sans"/>
                <a:ea typeface="Gill Sans"/>
                <a:cs typeface="Gill Sans"/>
                <a:sym typeface="Gill Sans"/>
              </a:rPr>
              <a:t>U</a:t>
            </a:r>
            <a:endParaRPr sz="1400">
              <a:solidFill>
                <a:schemeClr val="lt1"/>
              </a:solidFill>
              <a:latin typeface="Gill Sans"/>
              <a:ea typeface="Gill Sans"/>
              <a:cs typeface="Gill Sans"/>
              <a:sym typeface="Gill Sans"/>
            </a:endParaRPr>
          </a:p>
        </p:txBody>
      </p:sp>
      <p:sp>
        <p:nvSpPr>
          <p:cNvPr id="487" name="Google Shape;487;p23"/>
          <p:cNvSpPr txBox="1"/>
          <p:nvPr/>
        </p:nvSpPr>
        <p:spPr>
          <a:xfrm>
            <a:off x="7308850" y="1916113"/>
            <a:ext cx="15128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liiketoiminta</a:t>
            </a:r>
            <a:endParaRPr sz="1800">
              <a:solidFill>
                <a:schemeClr val="dk1"/>
              </a:solidFill>
              <a:latin typeface="Gill Sans"/>
              <a:ea typeface="Gill Sans"/>
              <a:cs typeface="Gill Sans"/>
              <a:sym typeface="Gill Sans"/>
            </a:endParaRPr>
          </a:p>
        </p:txBody>
      </p:sp>
      <p:sp>
        <p:nvSpPr>
          <p:cNvPr id="488" name="Google Shape;488;p23"/>
          <p:cNvSpPr txBox="1"/>
          <p:nvPr/>
        </p:nvSpPr>
        <p:spPr>
          <a:xfrm>
            <a:off x="7308850" y="2565400"/>
            <a:ext cx="151288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projekti</a:t>
            </a:r>
            <a:endParaRPr sz="1800">
              <a:solidFill>
                <a:schemeClr val="dk1"/>
              </a:solidFill>
              <a:latin typeface="Gill Sans"/>
              <a:ea typeface="Gill Sans"/>
              <a:cs typeface="Gill Sans"/>
              <a:sym typeface="Gill Sans"/>
            </a:endParaRPr>
          </a:p>
        </p:txBody>
      </p:sp>
      <p:sp>
        <p:nvSpPr>
          <p:cNvPr id="489" name="Google Shape;489;p23"/>
          <p:cNvSpPr txBox="1"/>
          <p:nvPr/>
        </p:nvSpPr>
        <p:spPr>
          <a:xfrm>
            <a:off x="7308850" y="3284538"/>
            <a:ext cx="15128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testaus</a:t>
            </a:r>
            <a:endParaRPr sz="1800">
              <a:solidFill>
                <a:schemeClr val="dk1"/>
              </a:solidFill>
              <a:latin typeface="Gill Sans"/>
              <a:ea typeface="Gill Sans"/>
              <a:cs typeface="Gill Sans"/>
              <a:sym typeface="Gill Sans"/>
            </a:endParaRPr>
          </a:p>
        </p:txBody>
      </p:sp>
      <p:sp>
        <p:nvSpPr>
          <p:cNvPr id="490" name="Google Shape;490;p23"/>
          <p:cNvSpPr txBox="1"/>
          <p:nvPr/>
        </p:nvSpPr>
        <p:spPr>
          <a:xfrm>
            <a:off x="7308850" y="3789363"/>
            <a:ext cx="15128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käyttäjä</a:t>
            </a:r>
            <a:endParaRPr sz="1800">
              <a:solidFill>
                <a:schemeClr val="dk1"/>
              </a:solidFill>
              <a:latin typeface="Gill Sans"/>
              <a:ea typeface="Gill Sans"/>
              <a:cs typeface="Gill Sans"/>
              <a:sym typeface="Gill Sans"/>
            </a:endParaRPr>
          </a:p>
        </p:txBody>
      </p:sp>
      <p:sp>
        <p:nvSpPr>
          <p:cNvPr id="491" name="Google Shape;49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pic>
        <p:nvPicPr>
          <p:cNvPr descr="http://3.bp.blogspot.com/-QFceitXGmsI/Tm-mMDw-VGI/AAAAAAAAAbA/_wZ8RgTFbdI/s640/119+pinochio.jpg" id="492" name="Google Shape;492;p23"/>
          <p:cNvPicPr preferRelativeResize="0"/>
          <p:nvPr/>
        </p:nvPicPr>
        <p:blipFill rotWithShape="1">
          <a:blip r:embed="rId3">
            <a:alphaModFix/>
          </a:blip>
          <a:srcRect b="0" l="0" r="0" t="0"/>
          <a:stretch/>
        </p:blipFill>
        <p:spPr>
          <a:xfrm>
            <a:off x="251520" y="4374106"/>
            <a:ext cx="2304256" cy="223224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Keskeiset käsitteet</a:t>
            </a:r>
            <a:endParaRPr/>
          </a:p>
        </p:txBody>
      </p:sp>
      <p:sp>
        <p:nvSpPr>
          <p:cNvPr id="499" name="Google Shape;499;p24"/>
          <p:cNvSpPr/>
          <p:nvPr/>
        </p:nvSpPr>
        <p:spPr>
          <a:xfrm>
            <a:off x="357158" y="1447800"/>
            <a:ext cx="2286016" cy="1476372"/>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lt1"/>
                </a:solidFill>
                <a:latin typeface="Gill Sans"/>
                <a:ea typeface="Gill Sans"/>
                <a:cs typeface="Gill Sans"/>
                <a:sym typeface="Gill Sans"/>
              </a:rPr>
              <a:t>Testitapaus</a:t>
            </a:r>
            <a:endParaRPr sz="2400">
              <a:solidFill>
                <a:schemeClr val="lt1"/>
              </a:solidFill>
              <a:latin typeface="Gill Sans"/>
              <a:ea typeface="Gill Sans"/>
              <a:cs typeface="Gill Sans"/>
              <a:sym typeface="Gill Sans"/>
            </a:endParaRPr>
          </a:p>
        </p:txBody>
      </p:sp>
      <p:sp>
        <p:nvSpPr>
          <p:cNvPr id="500" name="Google Shape;500;p24"/>
          <p:cNvSpPr/>
          <p:nvPr/>
        </p:nvSpPr>
        <p:spPr>
          <a:xfrm>
            <a:off x="357158" y="3224226"/>
            <a:ext cx="2286016" cy="1476372"/>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lt1"/>
                </a:solidFill>
                <a:latin typeface="Gill Sans"/>
                <a:ea typeface="Gill Sans"/>
                <a:cs typeface="Gill Sans"/>
                <a:sym typeface="Gill Sans"/>
              </a:rPr>
              <a:t>Testiaineisto</a:t>
            </a:r>
            <a:endParaRPr sz="2400">
              <a:solidFill>
                <a:schemeClr val="lt1"/>
              </a:solidFill>
              <a:latin typeface="Gill Sans"/>
              <a:ea typeface="Gill Sans"/>
              <a:cs typeface="Gill Sans"/>
              <a:sym typeface="Gill Sans"/>
            </a:endParaRPr>
          </a:p>
        </p:txBody>
      </p:sp>
      <p:sp>
        <p:nvSpPr>
          <p:cNvPr id="501" name="Google Shape;501;p24"/>
          <p:cNvSpPr txBox="1"/>
          <p:nvPr/>
        </p:nvSpPr>
        <p:spPr>
          <a:xfrm>
            <a:off x="3071802" y="1490497"/>
            <a:ext cx="571504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Testausta tukevan muistilistan alkio (mitä ja miksi)</a:t>
            </a:r>
            <a:endParaRPr/>
          </a:p>
          <a:p>
            <a:pPr indent="0" lvl="0" marL="0" marR="0" rtl="0" algn="l">
              <a:spcBef>
                <a:spcPts val="0"/>
              </a:spcBef>
              <a:spcAft>
                <a:spcPts val="0"/>
              </a:spcAft>
              <a:buNone/>
            </a:pPr>
            <a:r>
              <a:rPr lang="fi-FI" sz="1800">
                <a:solidFill>
                  <a:schemeClr val="dk1"/>
                </a:solidFill>
                <a:latin typeface="Gill Sans"/>
                <a:ea typeface="Gill Sans"/>
                <a:cs typeface="Gill Sans"/>
                <a:sym typeface="Gill Sans"/>
              </a:rPr>
              <a:t>Muistuttaa käyttäjäänsä olemassaolonsa syystä, sekä rajaa tai laajentaa ja tukee havaintojen tekemisessä</a:t>
            </a:r>
            <a:endParaRPr sz="1800">
              <a:solidFill>
                <a:schemeClr val="dk1"/>
              </a:solidFill>
              <a:latin typeface="Gill Sans"/>
              <a:ea typeface="Gill Sans"/>
              <a:cs typeface="Gill Sans"/>
              <a:sym typeface="Gill Sans"/>
            </a:endParaRPr>
          </a:p>
        </p:txBody>
      </p:sp>
      <p:sp>
        <p:nvSpPr>
          <p:cNvPr id="502" name="Google Shape;502;p24"/>
          <p:cNvSpPr txBox="1"/>
          <p:nvPr/>
        </p:nvSpPr>
        <p:spPr>
          <a:xfrm>
            <a:off x="3071802" y="3271669"/>
            <a:ext cx="571504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Aineistointensiivisten sovellusten toiminnallisuuden taustavaikuttaja, joka muuttuu sekä käytön että ajan kulumisen myötä</a:t>
            </a:r>
            <a:endParaRPr/>
          </a:p>
          <a:p>
            <a:pPr indent="0" lvl="0" marL="0" marR="0" rtl="0" algn="l">
              <a:spcBef>
                <a:spcPts val="0"/>
              </a:spcBef>
              <a:spcAft>
                <a:spcPts val="0"/>
              </a:spcAft>
              <a:buNone/>
            </a:pPr>
            <a:r>
              <a:rPr lang="fi-FI" sz="1800">
                <a:solidFill>
                  <a:schemeClr val="dk1"/>
                </a:solidFill>
                <a:latin typeface="Gill Sans"/>
                <a:ea typeface="Gill Sans"/>
                <a:cs typeface="Gill Sans"/>
                <a:sym typeface="Gill Sans"/>
              </a:rPr>
              <a:t>Tarpeen ymmärtää vaatimukset testiaineistolle. </a:t>
            </a:r>
            <a:endParaRPr sz="1800">
              <a:solidFill>
                <a:schemeClr val="dk1"/>
              </a:solidFill>
              <a:latin typeface="Gill Sans"/>
              <a:ea typeface="Gill Sans"/>
              <a:cs typeface="Gill Sans"/>
              <a:sym typeface="Gill Sans"/>
            </a:endParaRPr>
          </a:p>
        </p:txBody>
      </p:sp>
      <p:sp>
        <p:nvSpPr>
          <p:cNvPr id="503" name="Google Shape;503;p24"/>
          <p:cNvSpPr/>
          <p:nvPr/>
        </p:nvSpPr>
        <p:spPr>
          <a:xfrm>
            <a:off x="214282" y="5715000"/>
            <a:ext cx="8572560" cy="838200"/>
          </a:xfrm>
          <a:prstGeom prst="roundRect">
            <a:avLst>
              <a:gd fmla="val 16667" name="adj"/>
            </a:avLst>
          </a:prstGeom>
          <a:solidFill>
            <a:schemeClr val="accent3"/>
          </a:solidFill>
          <a:ln cap="flat" cmpd="sng" w="25400">
            <a:solidFill>
              <a:srgbClr val="822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Useita mahdollisia aineistoja yhteen testitapaukseen liittyen.</a:t>
            </a:r>
            <a:endParaRPr/>
          </a:p>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Testitapaukseen voi ryhmitellä myös erityyppisten aineistojen vaatimuksen.</a:t>
            </a:r>
            <a:endParaRPr/>
          </a:p>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Aineistoihin liittyy myös piilokriteerejä: erilainen ilman että osaa perustella syytä. </a:t>
            </a:r>
            <a:endParaRPr sz="1800">
              <a:solidFill>
                <a:schemeClr val="lt1"/>
              </a:solidFill>
              <a:latin typeface="Gill Sans"/>
              <a:ea typeface="Gill Sans"/>
              <a:cs typeface="Gill Sans"/>
              <a:sym typeface="Gill Sans"/>
            </a:endParaRPr>
          </a:p>
        </p:txBody>
      </p:sp>
      <p:sp>
        <p:nvSpPr>
          <p:cNvPr id="504" name="Google Shape;504;p24"/>
          <p:cNvSpPr/>
          <p:nvPr/>
        </p:nvSpPr>
        <p:spPr>
          <a:xfrm>
            <a:off x="3886200" y="4572000"/>
            <a:ext cx="5133996" cy="914400"/>
          </a:xfrm>
          <a:prstGeom prst="roundRect">
            <a:avLst>
              <a:gd fmla="val 16667" name="adj"/>
            </a:avLst>
          </a:prstGeom>
          <a:gradFill>
            <a:gsLst>
              <a:gs pos="0">
                <a:srgbClr val="CBDAFB"/>
              </a:gs>
              <a:gs pos="35000">
                <a:srgbClr val="DAE3FB"/>
              </a:gs>
              <a:gs pos="100000">
                <a:srgbClr val="F0F3FE"/>
              </a:gs>
            </a:gsLst>
            <a:lin ang="16200000" scaled="0"/>
          </a:gradFill>
          <a:ln cap="flat" cmpd="sng" w="9525">
            <a:solidFill>
              <a:srgbClr val="A8B4D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1800">
                <a:solidFill>
                  <a:schemeClr val="dk1"/>
                </a:solidFill>
                <a:latin typeface="Gill Sans"/>
                <a:ea typeface="Gill Sans"/>
                <a:cs typeface="Gill Sans"/>
                <a:sym typeface="Gill Sans"/>
              </a:rPr>
              <a:t>Testitapaus sisältää vaatimukset testiaineistolle </a:t>
            </a:r>
            <a:r>
              <a:rPr i="1" lang="fi-FI" sz="1800">
                <a:solidFill>
                  <a:schemeClr val="dk1"/>
                </a:solidFill>
                <a:latin typeface="Gill Sans"/>
                <a:ea typeface="Gill Sans"/>
                <a:cs typeface="Gill Sans"/>
                <a:sym typeface="Gill Sans"/>
              </a:rPr>
              <a:t>”etsi tälläinen henkilö tähän testiin”</a:t>
            </a:r>
            <a:endParaRPr i="1" sz="1800">
              <a:solidFill>
                <a:schemeClr val="dk1"/>
              </a:solidFill>
              <a:latin typeface="Gill Sans"/>
              <a:ea typeface="Gill Sans"/>
              <a:cs typeface="Gill Sans"/>
              <a:sym typeface="Gill Sans"/>
            </a:endParaRPr>
          </a:p>
        </p:txBody>
      </p:sp>
      <p:sp>
        <p:nvSpPr>
          <p:cNvPr id="505" name="Google Shape;505;p24"/>
          <p:cNvSpPr/>
          <p:nvPr/>
        </p:nvSpPr>
        <p:spPr>
          <a:xfrm>
            <a:off x="1371600" y="2743200"/>
            <a:ext cx="228600" cy="609600"/>
          </a:xfrm>
          <a:prstGeom prst="upDownArrow">
            <a:avLst>
              <a:gd fmla="val 50000" name="adj1"/>
              <a:gd fmla="val 50000" name="adj2"/>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06" name="Google Shape;50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5"/>
          <p:cNvSpPr txBox="1"/>
          <p:nvPr>
            <p:ph type="title"/>
          </p:nvPr>
        </p:nvSpPr>
        <p:spPr>
          <a:xfrm>
            <a:off x="0" y="152400"/>
            <a:ext cx="8243888" cy="1600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Esimerkki: </a:t>
            </a:r>
            <a:br>
              <a:rPr lang="fi-FI"/>
            </a:br>
            <a:r>
              <a:rPr lang="fi-FI" sz="4000"/>
              <a:t>Aineistointensiiviset järjestelmät</a:t>
            </a:r>
            <a:endParaRPr sz="4000"/>
          </a:p>
        </p:txBody>
      </p:sp>
      <p:sp>
        <p:nvSpPr>
          <p:cNvPr id="513" name="Google Shape;513;p25"/>
          <p:cNvSpPr txBox="1"/>
          <p:nvPr/>
        </p:nvSpPr>
        <p:spPr>
          <a:xfrm>
            <a:off x="914400" y="2549525"/>
            <a:ext cx="1371600" cy="6604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Clr>
                <a:schemeClr val="folHlink"/>
              </a:buClr>
              <a:buSzPts val="1350"/>
              <a:buFont typeface="Noto Sans Symbols"/>
              <a:buNone/>
            </a:pPr>
            <a:r>
              <a:rPr lang="fi-FI" sz="1800">
                <a:solidFill>
                  <a:schemeClr val="lt1"/>
                </a:solidFill>
                <a:latin typeface="Gill Sans"/>
                <a:ea typeface="Gill Sans"/>
                <a:cs typeface="Gill Sans"/>
                <a:sym typeface="Gill Sans"/>
              </a:rPr>
              <a:t>Testaus-kohde</a:t>
            </a:r>
            <a:endParaRPr/>
          </a:p>
        </p:txBody>
      </p:sp>
      <p:sp>
        <p:nvSpPr>
          <p:cNvPr id="514" name="Google Shape;514;p25"/>
          <p:cNvSpPr txBox="1"/>
          <p:nvPr/>
        </p:nvSpPr>
        <p:spPr>
          <a:xfrm>
            <a:off x="3200400" y="2016125"/>
            <a:ext cx="1371600" cy="369332"/>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Clr>
                <a:schemeClr val="folHlink"/>
              </a:buClr>
              <a:buSzPts val="1350"/>
              <a:buFont typeface="Noto Sans Symbols"/>
              <a:buNone/>
            </a:pPr>
            <a:r>
              <a:rPr lang="fi-FI" sz="1800">
                <a:solidFill>
                  <a:schemeClr val="lt1"/>
                </a:solidFill>
                <a:latin typeface="Gill Sans"/>
                <a:ea typeface="Gill Sans"/>
                <a:cs typeface="Gill Sans"/>
                <a:sym typeface="Gill Sans"/>
              </a:rPr>
              <a:t>Testitapaus</a:t>
            </a:r>
            <a:endParaRPr sz="1800">
              <a:solidFill>
                <a:schemeClr val="lt1"/>
              </a:solidFill>
              <a:latin typeface="Gill Sans"/>
              <a:ea typeface="Gill Sans"/>
              <a:cs typeface="Gill Sans"/>
              <a:sym typeface="Gill Sans"/>
            </a:endParaRPr>
          </a:p>
        </p:txBody>
      </p:sp>
      <p:sp>
        <p:nvSpPr>
          <p:cNvPr id="515" name="Google Shape;515;p25"/>
          <p:cNvSpPr txBox="1"/>
          <p:nvPr/>
        </p:nvSpPr>
        <p:spPr>
          <a:xfrm>
            <a:off x="3200400" y="3048000"/>
            <a:ext cx="1371600" cy="369332"/>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Clr>
                <a:schemeClr val="folHlink"/>
              </a:buClr>
              <a:buSzPts val="1350"/>
              <a:buFont typeface="Noto Sans Symbols"/>
              <a:buNone/>
            </a:pPr>
            <a:r>
              <a:rPr lang="fi-FI" sz="1800">
                <a:solidFill>
                  <a:schemeClr val="lt1"/>
                </a:solidFill>
                <a:latin typeface="Gill Sans"/>
                <a:ea typeface="Gill Sans"/>
                <a:cs typeface="Gill Sans"/>
                <a:sym typeface="Gill Sans"/>
              </a:rPr>
              <a:t>Testitapaus</a:t>
            </a:r>
            <a:endParaRPr sz="1800">
              <a:solidFill>
                <a:schemeClr val="lt1"/>
              </a:solidFill>
              <a:latin typeface="Gill Sans"/>
              <a:ea typeface="Gill Sans"/>
              <a:cs typeface="Gill Sans"/>
              <a:sym typeface="Gill Sans"/>
            </a:endParaRPr>
          </a:p>
        </p:txBody>
      </p:sp>
      <p:sp>
        <p:nvSpPr>
          <p:cNvPr id="516" name="Google Shape;516;p25"/>
          <p:cNvSpPr txBox="1"/>
          <p:nvPr/>
        </p:nvSpPr>
        <p:spPr>
          <a:xfrm>
            <a:off x="3200400" y="4149725"/>
            <a:ext cx="1371600" cy="369332"/>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Clr>
                <a:schemeClr val="folHlink"/>
              </a:buClr>
              <a:buSzPts val="1350"/>
              <a:buFont typeface="Noto Sans Symbols"/>
              <a:buNone/>
            </a:pPr>
            <a:r>
              <a:rPr lang="fi-FI" sz="1800">
                <a:solidFill>
                  <a:schemeClr val="lt1"/>
                </a:solidFill>
                <a:latin typeface="Gill Sans"/>
                <a:ea typeface="Gill Sans"/>
                <a:cs typeface="Gill Sans"/>
                <a:sym typeface="Gill Sans"/>
              </a:rPr>
              <a:t>Testitapaus</a:t>
            </a:r>
            <a:endParaRPr sz="1800">
              <a:solidFill>
                <a:schemeClr val="lt1"/>
              </a:solidFill>
              <a:latin typeface="Gill Sans"/>
              <a:ea typeface="Gill Sans"/>
              <a:cs typeface="Gill Sans"/>
              <a:sym typeface="Gill Sans"/>
            </a:endParaRPr>
          </a:p>
        </p:txBody>
      </p:sp>
      <p:cxnSp>
        <p:nvCxnSpPr>
          <p:cNvPr id="517" name="Google Shape;517;p25"/>
          <p:cNvCxnSpPr/>
          <p:nvPr/>
        </p:nvCxnSpPr>
        <p:spPr>
          <a:xfrm flipH="1" rot="10800000">
            <a:off x="2286000" y="2362200"/>
            <a:ext cx="914400" cy="304800"/>
          </a:xfrm>
          <a:prstGeom prst="straightConnector1">
            <a:avLst/>
          </a:prstGeom>
          <a:noFill/>
          <a:ln cap="flat" cmpd="sng" w="9525">
            <a:solidFill>
              <a:schemeClr val="dk1"/>
            </a:solidFill>
            <a:prstDash val="solid"/>
            <a:round/>
            <a:headEnd len="med" w="med" type="none"/>
            <a:tailEnd len="med" w="med" type="triangle"/>
          </a:ln>
        </p:spPr>
      </p:cxnSp>
      <p:cxnSp>
        <p:nvCxnSpPr>
          <p:cNvPr id="518" name="Google Shape;518;p25"/>
          <p:cNvCxnSpPr/>
          <p:nvPr/>
        </p:nvCxnSpPr>
        <p:spPr>
          <a:xfrm>
            <a:off x="2286000" y="3124200"/>
            <a:ext cx="914400" cy="228600"/>
          </a:xfrm>
          <a:prstGeom prst="straightConnector1">
            <a:avLst/>
          </a:prstGeom>
          <a:noFill/>
          <a:ln cap="flat" cmpd="sng" w="9525">
            <a:solidFill>
              <a:schemeClr val="dk1"/>
            </a:solidFill>
            <a:prstDash val="solid"/>
            <a:round/>
            <a:headEnd len="med" w="med" type="none"/>
            <a:tailEnd len="med" w="med" type="triangle"/>
          </a:ln>
        </p:spPr>
      </p:cxnSp>
      <p:sp>
        <p:nvSpPr>
          <p:cNvPr id="519" name="Google Shape;519;p25"/>
          <p:cNvSpPr/>
          <p:nvPr/>
        </p:nvSpPr>
        <p:spPr>
          <a:xfrm>
            <a:off x="6248400" y="3276600"/>
            <a:ext cx="838200" cy="1295400"/>
          </a:xfrm>
          <a:prstGeom prst="flowChartMagneticDisk">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folHlink"/>
              </a:buClr>
              <a:buSzPts val="1350"/>
              <a:buFont typeface="Noto Sans Symbols"/>
              <a:buNone/>
            </a:pPr>
            <a:r>
              <a:t/>
            </a:r>
            <a:endParaRPr sz="1800">
              <a:solidFill>
                <a:schemeClr val="dk1"/>
              </a:solidFill>
              <a:latin typeface="Gill Sans"/>
              <a:ea typeface="Gill Sans"/>
              <a:cs typeface="Gill Sans"/>
              <a:sym typeface="Gill Sans"/>
            </a:endParaRPr>
          </a:p>
        </p:txBody>
      </p:sp>
      <p:sp>
        <p:nvSpPr>
          <p:cNvPr id="520" name="Google Shape;520;p25"/>
          <p:cNvSpPr txBox="1"/>
          <p:nvPr/>
        </p:nvSpPr>
        <p:spPr>
          <a:xfrm>
            <a:off x="914400" y="4683125"/>
            <a:ext cx="1371600" cy="6604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Clr>
                <a:schemeClr val="folHlink"/>
              </a:buClr>
              <a:buSzPts val="1350"/>
              <a:buFont typeface="Noto Sans Symbols"/>
              <a:buNone/>
            </a:pPr>
            <a:r>
              <a:rPr lang="fi-FI" sz="1800">
                <a:solidFill>
                  <a:schemeClr val="lt1"/>
                </a:solidFill>
                <a:latin typeface="Gill Sans"/>
                <a:ea typeface="Gill Sans"/>
                <a:cs typeface="Gill Sans"/>
                <a:sym typeface="Gill Sans"/>
              </a:rPr>
              <a:t>Testaus-kohde</a:t>
            </a:r>
            <a:endParaRPr/>
          </a:p>
        </p:txBody>
      </p:sp>
      <p:sp>
        <p:nvSpPr>
          <p:cNvPr id="521" name="Google Shape;521;p25"/>
          <p:cNvSpPr txBox="1"/>
          <p:nvPr/>
        </p:nvSpPr>
        <p:spPr>
          <a:xfrm>
            <a:off x="3200400" y="5105400"/>
            <a:ext cx="1371600" cy="369332"/>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Clr>
                <a:schemeClr val="folHlink"/>
              </a:buClr>
              <a:buSzPts val="1350"/>
              <a:buFont typeface="Noto Sans Symbols"/>
              <a:buNone/>
            </a:pPr>
            <a:r>
              <a:rPr lang="fi-FI" sz="1800">
                <a:solidFill>
                  <a:schemeClr val="lt1"/>
                </a:solidFill>
                <a:latin typeface="Gill Sans"/>
                <a:ea typeface="Gill Sans"/>
                <a:cs typeface="Gill Sans"/>
                <a:sym typeface="Gill Sans"/>
              </a:rPr>
              <a:t>Testitapaus</a:t>
            </a:r>
            <a:endParaRPr sz="1800">
              <a:solidFill>
                <a:schemeClr val="lt1"/>
              </a:solidFill>
              <a:latin typeface="Gill Sans"/>
              <a:ea typeface="Gill Sans"/>
              <a:cs typeface="Gill Sans"/>
              <a:sym typeface="Gill Sans"/>
            </a:endParaRPr>
          </a:p>
        </p:txBody>
      </p:sp>
      <p:cxnSp>
        <p:nvCxnSpPr>
          <p:cNvPr id="522" name="Google Shape;522;p25"/>
          <p:cNvCxnSpPr/>
          <p:nvPr/>
        </p:nvCxnSpPr>
        <p:spPr>
          <a:xfrm flipH="1" rot="10800000">
            <a:off x="2286000" y="4495800"/>
            <a:ext cx="914400" cy="304800"/>
          </a:xfrm>
          <a:prstGeom prst="straightConnector1">
            <a:avLst/>
          </a:prstGeom>
          <a:noFill/>
          <a:ln cap="flat" cmpd="sng" w="9525">
            <a:solidFill>
              <a:schemeClr val="dk1"/>
            </a:solidFill>
            <a:prstDash val="solid"/>
            <a:round/>
            <a:headEnd len="med" w="med" type="none"/>
            <a:tailEnd len="med" w="med" type="triangle"/>
          </a:ln>
        </p:spPr>
      </p:cxnSp>
      <p:cxnSp>
        <p:nvCxnSpPr>
          <p:cNvPr id="523" name="Google Shape;523;p25"/>
          <p:cNvCxnSpPr/>
          <p:nvPr/>
        </p:nvCxnSpPr>
        <p:spPr>
          <a:xfrm>
            <a:off x="2286000" y="5181600"/>
            <a:ext cx="914400" cy="228600"/>
          </a:xfrm>
          <a:prstGeom prst="straightConnector1">
            <a:avLst/>
          </a:prstGeom>
          <a:noFill/>
          <a:ln cap="flat" cmpd="sng" w="9525">
            <a:solidFill>
              <a:schemeClr val="dk1"/>
            </a:solidFill>
            <a:prstDash val="solid"/>
            <a:round/>
            <a:headEnd len="med" w="med" type="none"/>
            <a:tailEnd len="med" w="med" type="triangle"/>
          </a:ln>
        </p:spPr>
      </p:cxnSp>
      <p:cxnSp>
        <p:nvCxnSpPr>
          <p:cNvPr id="524" name="Google Shape;524;p25"/>
          <p:cNvCxnSpPr/>
          <p:nvPr/>
        </p:nvCxnSpPr>
        <p:spPr>
          <a:xfrm>
            <a:off x="4570413" y="3352800"/>
            <a:ext cx="1144587" cy="838200"/>
          </a:xfrm>
          <a:prstGeom prst="straightConnector1">
            <a:avLst/>
          </a:prstGeom>
          <a:noFill/>
          <a:ln cap="flat" cmpd="sng" w="9525">
            <a:solidFill>
              <a:schemeClr val="dk1"/>
            </a:solidFill>
            <a:prstDash val="solid"/>
            <a:round/>
            <a:headEnd len="med" w="med" type="none"/>
            <a:tailEnd len="med" w="med" type="triangle"/>
          </a:ln>
        </p:spPr>
      </p:cxnSp>
      <p:cxnSp>
        <p:nvCxnSpPr>
          <p:cNvPr id="525" name="Google Shape;525;p25"/>
          <p:cNvCxnSpPr/>
          <p:nvPr/>
        </p:nvCxnSpPr>
        <p:spPr>
          <a:xfrm flipH="1" rot="10800000">
            <a:off x="4572000" y="4267200"/>
            <a:ext cx="1143000" cy="228600"/>
          </a:xfrm>
          <a:prstGeom prst="straightConnector1">
            <a:avLst/>
          </a:prstGeom>
          <a:noFill/>
          <a:ln cap="flat" cmpd="sng" w="9525">
            <a:solidFill>
              <a:schemeClr val="dk1"/>
            </a:solidFill>
            <a:prstDash val="solid"/>
            <a:round/>
            <a:headEnd len="med" w="med" type="none"/>
            <a:tailEnd len="med" w="med" type="triangle"/>
          </a:ln>
        </p:spPr>
      </p:cxnSp>
      <p:sp>
        <p:nvSpPr>
          <p:cNvPr id="526" name="Google Shape;526;p25"/>
          <p:cNvSpPr/>
          <p:nvPr/>
        </p:nvSpPr>
        <p:spPr>
          <a:xfrm>
            <a:off x="6248400" y="1752600"/>
            <a:ext cx="838200" cy="1066800"/>
          </a:xfrm>
          <a:prstGeom prst="flowChartMagneticDisk">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folHlink"/>
              </a:buClr>
              <a:buSzPts val="1350"/>
              <a:buFont typeface="Noto Sans Symbols"/>
              <a:buNone/>
            </a:pPr>
            <a:r>
              <a:t/>
            </a:r>
            <a:endParaRPr sz="1800">
              <a:solidFill>
                <a:schemeClr val="dk1"/>
              </a:solidFill>
              <a:latin typeface="Gill Sans"/>
              <a:ea typeface="Gill Sans"/>
              <a:cs typeface="Gill Sans"/>
              <a:sym typeface="Gill Sans"/>
            </a:endParaRPr>
          </a:p>
        </p:txBody>
      </p:sp>
      <p:cxnSp>
        <p:nvCxnSpPr>
          <p:cNvPr id="527" name="Google Shape;527;p25"/>
          <p:cNvCxnSpPr/>
          <p:nvPr/>
        </p:nvCxnSpPr>
        <p:spPr>
          <a:xfrm>
            <a:off x="4572000" y="2362200"/>
            <a:ext cx="1143000" cy="0"/>
          </a:xfrm>
          <a:prstGeom prst="straightConnector1">
            <a:avLst/>
          </a:prstGeom>
          <a:noFill/>
          <a:ln cap="flat" cmpd="sng" w="9525">
            <a:solidFill>
              <a:schemeClr val="dk1"/>
            </a:solidFill>
            <a:prstDash val="solid"/>
            <a:round/>
            <a:headEnd len="med" w="med" type="none"/>
            <a:tailEnd len="med" w="med" type="triangle"/>
          </a:ln>
        </p:spPr>
      </p:cxnSp>
      <p:sp>
        <p:nvSpPr>
          <p:cNvPr id="528" name="Google Shape;528;p25"/>
          <p:cNvSpPr txBox="1"/>
          <p:nvPr/>
        </p:nvSpPr>
        <p:spPr>
          <a:xfrm>
            <a:off x="5715000" y="5116513"/>
            <a:ext cx="3141927" cy="648512"/>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Clr>
                <a:schemeClr val="folHlink"/>
              </a:buClr>
              <a:buSzPts val="1350"/>
              <a:buFont typeface="Noto Sans Symbols"/>
              <a:buNone/>
            </a:pPr>
            <a:r>
              <a:rPr lang="fi-FI" sz="1800">
                <a:solidFill>
                  <a:schemeClr val="dk1"/>
                </a:solidFill>
                <a:latin typeface="Gill Sans"/>
                <a:ea typeface="Gill Sans"/>
                <a:cs typeface="Gill Sans"/>
                <a:sym typeface="Gill Sans"/>
              </a:rPr>
              <a:t>Ei vaadi aineistoa testauksessa, </a:t>
            </a:r>
            <a:br>
              <a:rPr lang="fi-FI" sz="1800">
                <a:solidFill>
                  <a:schemeClr val="dk1"/>
                </a:solidFill>
                <a:latin typeface="Gill Sans"/>
                <a:ea typeface="Gill Sans"/>
                <a:cs typeface="Gill Sans"/>
                <a:sym typeface="Gill Sans"/>
              </a:rPr>
            </a:br>
            <a:r>
              <a:rPr lang="fi-FI" sz="1800">
                <a:solidFill>
                  <a:schemeClr val="dk1"/>
                </a:solidFill>
                <a:latin typeface="Gill Sans"/>
                <a:ea typeface="Gill Sans"/>
                <a:cs typeface="Gill Sans"/>
                <a:sym typeface="Gill Sans"/>
              </a:rPr>
              <a:t>toiminto-intensiivinen</a:t>
            </a:r>
            <a:endParaRPr sz="1800">
              <a:solidFill>
                <a:schemeClr val="dk1"/>
              </a:solidFill>
              <a:latin typeface="Gill Sans"/>
              <a:ea typeface="Gill Sans"/>
              <a:cs typeface="Gill Sans"/>
              <a:sym typeface="Gill Sans"/>
            </a:endParaRPr>
          </a:p>
        </p:txBody>
      </p:sp>
      <p:cxnSp>
        <p:nvCxnSpPr>
          <p:cNvPr id="529" name="Google Shape;529;p25"/>
          <p:cNvCxnSpPr/>
          <p:nvPr/>
        </p:nvCxnSpPr>
        <p:spPr>
          <a:xfrm>
            <a:off x="4570413" y="5486400"/>
            <a:ext cx="1068387" cy="0"/>
          </a:xfrm>
          <a:prstGeom prst="straightConnector1">
            <a:avLst/>
          </a:prstGeom>
          <a:noFill/>
          <a:ln cap="flat" cmpd="sng" w="9525">
            <a:solidFill>
              <a:schemeClr val="dk1"/>
            </a:solidFill>
            <a:prstDash val="solid"/>
            <a:round/>
            <a:headEnd len="med" w="med" type="none"/>
            <a:tailEnd len="med" w="med" type="triangle"/>
          </a:ln>
        </p:spPr>
      </p:cxnSp>
      <p:sp>
        <p:nvSpPr>
          <p:cNvPr id="530" name="Google Shape;530;p25"/>
          <p:cNvSpPr txBox="1"/>
          <p:nvPr/>
        </p:nvSpPr>
        <p:spPr>
          <a:xfrm>
            <a:off x="7172325" y="3276600"/>
            <a:ext cx="1969107" cy="1202510"/>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Clr>
                <a:schemeClr val="folHlink"/>
              </a:buClr>
              <a:buSzPts val="1350"/>
              <a:buFont typeface="Noto Sans Symbols"/>
              <a:buNone/>
            </a:pPr>
            <a:r>
              <a:rPr lang="fi-FI" sz="1800">
                <a:solidFill>
                  <a:schemeClr val="dk1"/>
                </a:solidFill>
                <a:latin typeface="Gill Sans"/>
                <a:ea typeface="Gill Sans"/>
                <a:cs typeface="Gill Sans"/>
                <a:sym typeface="Gill Sans"/>
              </a:rPr>
              <a:t>Samalla aineistolla </a:t>
            </a:r>
            <a:br>
              <a:rPr lang="fi-FI" sz="1800">
                <a:solidFill>
                  <a:schemeClr val="dk1"/>
                </a:solidFill>
                <a:latin typeface="Gill Sans"/>
                <a:ea typeface="Gill Sans"/>
                <a:cs typeface="Gill Sans"/>
                <a:sym typeface="Gill Sans"/>
              </a:rPr>
            </a:br>
            <a:r>
              <a:rPr lang="fi-FI" sz="1800">
                <a:solidFill>
                  <a:schemeClr val="dk1"/>
                </a:solidFill>
                <a:latin typeface="Gill Sans"/>
                <a:ea typeface="Gill Sans"/>
                <a:cs typeface="Gill Sans"/>
                <a:sym typeface="Gill Sans"/>
              </a:rPr>
              <a:t>voidaan testata </a:t>
            </a:r>
            <a:br>
              <a:rPr lang="fi-FI" sz="1800">
                <a:solidFill>
                  <a:schemeClr val="dk1"/>
                </a:solidFill>
                <a:latin typeface="Gill Sans"/>
                <a:ea typeface="Gill Sans"/>
                <a:cs typeface="Gill Sans"/>
                <a:sym typeface="Gill Sans"/>
              </a:rPr>
            </a:br>
            <a:r>
              <a:rPr lang="fi-FI" sz="1800">
                <a:solidFill>
                  <a:schemeClr val="dk1"/>
                </a:solidFill>
                <a:latin typeface="Gill Sans"/>
                <a:ea typeface="Gill Sans"/>
                <a:cs typeface="Gill Sans"/>
                <a:sym typeface="Gill Sans"/>
              </a:rPr>
              <a:t>kahta eri testi-</a:t>
            </a:r>
            <a:br>
              <a:rPr lang="fi-FI" sz="1800">
                <a:solidFill>
                  <a:schemeClr val="dk1"/>
                </a:solidFill>
                <a:latin typeface="Gill Sans"/>
                <a:ea typeface="Gill Sans"/>
                <a:cs typeface="Gill Sans"/>
                <a:sym typeface="Gill Sans"/>
              </a:rPr>
            </a:br>
            <a:r>
              <a:rPr lang="fi-FI" sz="1800">
                <a:solidFill>
                  <a:schemeClr val="dk1"/>
                </a:solidFill>
                <a:latin typeface="Gill Sans"/>
                <a:ea typeface="Gill Sans"/>
                <a:cs typeface="Gill Sans"/>
                <a:sym typeface="Gill Sans"/>
              </a:rPr>
              <a:t>tapausta</a:t>
            </a:r>
            <a:endParaRPr sz="1800">
              <a:solidFill>
                <a:schemeClr val="dk1"/>
              </a:solidFill>
              <a:latin typeface="Gill Sans"/>
              <a:ea typeface="Gill Sans"/>
              <a:cs typeface="Gill Sans"/>
              <a:sym typeface="Gill Sans"/>
            </a:endParaRPr>
          </a:p>
        </p:txBody>
      </p:sp>
      <p:sp>
        <p:nvSpPr>
          <p:cNvPr id="531" name="Google Shape;531;p25"/>
          <p:cNvSpPr txBox="1"/>
          <p:nvPr/>
        </p:nvSpPr>
        <p:spPr>
          <a:xfrm>
            <a:off x="7197725" y="1752600"/>
            <a:ext cx="1309887" cy="1036310"/>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Clr>
                <a:schemeClr val="folHlink"/>
              </a:buClr>
              <a:buSzPts val="1350"/>
              <a:buFont typeface="Noto Sans Symbols"/>
              <a:buNone/>
            </a:pPr>
            <a:r>
              <a:rPr lang="fi-FI" sz="1800">
                <a:solidFill>
                  <a:schemeClr val="dk1"/>
                </a:solidFill>
                <a:latin typeface="Gill Sans"/>
                <a:ea typeface="Gill Sans"/>
                <a:cs typeface="Gill Sans"/>
                <a:sym typeface="Gill Sans"/>
              </a:rPr>
              <a:t>Vaatii oman</a:t>
            </a:r>
            <a:endParaRPr/>
          </a:p>
          <a:p>
            <a:pPr indent="0" lvl="0" marL="0" marR="0" rtl="0" algn="l">
              <a:spcBef>
                <a:spcPts val="360"/>
              </a:spcBef>
              <a:spcAft>
                <a:spcPts val="0"/>
              </a:spcAft>
              <a:buClr>
                <a:schemeClr val="folHlink"/>
              </a:buClr>
              <a:buSzPts val="1350"/>
              <a:buFont typeface="Noto Sans Symbols"/>
              <a:buNone/>
            </a:pPr>
            <a:r>
              <a:rPr lang="fi-FI" sz="1800">
                <a:solidFill>
                  <a:schemeClr val="dk1"/>
                </a:solidFill>
                <a:latin typeface="Gill Sans"/>
                <a:ea typeface="Gill Sans"/>
                <a:cs typeface="Gill Sans"/>
                <a:sym typeface="Gill Sans"/>
              </a:rPr>
              <a:t>aineiston</a:t>
            </a:r>
            <a:endParaRPr sz="1800">
              <a:solidFill>
                <a:schemeClr val="dk1"/>
              </a:solidFill>
              <a:latin typeface="Gill Sans"/>
              <a:ea typeface="Gill Sans"/>
              <a:cs typeface="Gill Sans"/>
              <a:sym typeface="Gill Sans"/>
            </a:endParaRPr>
          </a:p>
          <a:p>
            <a:pPr indent="0" lvl="0" marL="0" marR="0" rtl="0" algn="l">
              <a:spcBef>
                <a:spcPts val="360"/>
              </a:spcBef>
              <a:spcAft>
                <a:spcPts val="0"/>
              </a:spcAft>
              <a:buClr>
                <a:schemeClr val="folHlink"/>
              </a:buClr>
              <a:buSzPts val="1350"/>
              <a:buFont typeface="Noto Sans Symbols"/>
              <a:buNone/>
            </a:pPr>
            <a:r>
              <a:rPr lang="fi-FI" sz="1800">
                <a:solidFill>
                  <a:schemeClr val="dk1"/>
                </a:solidFill>
                <a:latin typeface="Gill Sans"/>
                <a:ea typeface="Gill Sans"/>
                <a:cs typeface="Gill Sans"/>
                <a:sym typeface="Gill Sans"/>
              </a:rPr>
              <a:t>testaukseen</a:t>
            </a:r>
            <a:endParaRPr/>
          </a:p>
        </p:txBody>
      </p:sp>
      <p:sp>
        <p:nvSpPr>
          <p:cNvPr id="532" name="Google Shape;532;p25"/>
          <p:cNvSpPr/>
          <p:nvPr/>
        </p:nvSpPr>
        <p:spPr>
          <a:xfrm>
            <a:off x="5791200" y="2209800"/>
            <a:ext cx="1066800" cy="762000"/>
          </a:xfrm>
          <a:prstGeom prst="flowChartInternalStorage">
            <a:avLst/>
          </a:prstGeom>
          <a:solidFill>
            <a:srgbClr val="FFFF00"/>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sp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33" name="Google Shape;533;p25"/>
          <p:cNvSpPr/>
          <p:nvPr/>
        </p:nvSpPr>
        <p:spPr>
          <a:xfrm flipH="1" rot="10800000">
            <a:off x="5791200" y="3581400"/>
            <a:ext cx="1066800" cy="762000"/>
          </a:xfrm>
          <a:prstGeom prst="flowChartInternalStorage">
            <a:avLst/>
          </a:prstGeom>
          <a:solidFill>
            <a:srgbClr val="FFFF00"/>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sp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34" name="Google Shape;534;p25"/>
          <p:cNvSpPr/>
          <p:nvPr/>
        </p:nvSpPr>
        <p:spPr>
          <a:xfrm>
            <a:off x="5651500" y="5949950"/>
            <a:ext cx="1992334" cy="550884"/>
          </a:xfrm>
          <a:prstGeom prst="rect">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testiaineisto</a:t>
            </a:r>
            <a:endParaRPr sz="1800">
              <a:solidFill>
                <a:schemeClr val="lt1"/>
              </a:solidFill>
              <a:latin typeface="Gill Sans"/>
              <a:ea typeface="Gill Sans"/>
              <a:cs typeface="Gill Sans"/>
              <a:sym typeface="Gill Sans"/>
            </a:endParaRPr>
          </a:p>
        </p:txBody>
      </p:sp>
      <p:sp>
        <p:nvSpPr>
          <p:cNvPr id="535" name="Google Shape;535;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Gill Sans"/>
              <a:buNone/>
            </a:pPr>
            <a:r>
              <a:rPr lang="fi-FI" sz="3200"/>
              <a:t>Testiympäristö: palvelimet, sovellusversiot, yhteydet, oikeudet, aineistot</a:t>
            </a:r>
            <a:endParaRPr sz="3200"/>
          </a:p>
        </p:txBody>
      </p:sp>
      <p:sp>
        <p:nvSpPr>
          <p:cNvPr id="541" name="Google Shape;541;p26"/>
          <p:cNvSpPr txBox="1"/>
          <p:nvPr/>
        </p:nvSpPr>
        <p:spPr>
          <a:xfrm>
            <a:off x="6372200" y="1592262"/>
            <a:ext cx="2568600" cy="1106487"/>
          </a:xfrm>
          <a:prstGeom prst="rect">
            <a:avLst/>
          </a:prstGeom>
          <a:solidFill>
            <a:schemeClr val="lt1"/>
          </a:solidFill>
          <a:ln cap="flat" cmpd="sng" w="25400">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Testausympäristö koostuu kaikista osista, joita testaaja tarvitsee testauksen tekemiseen</a:t>
            </a:r>
            <a:endParaRPr sz="1600">
              <a:solidFill>
                <a:schemeClr val="dk1"/>
              </a:solidFill>
              <a:latin typeface="Gill Sans"/>
              <a:ea typeface="Gill Sans"/>
              <a:cs typeface="Gill Sans"/>
              <a:sym typeface="Gill Sans"/>
            </a:endParaRPr>
          </a:p>
        </p:txBody>
      </p:sp>
      <p:sp>
        <p:nvSpPr>
          <p:cNvPr id="542" name="Google Shape;542;p26"/>
          <p:cNvSpPr/>
          <p:nvPr/>
        </p:nvSpPr>
        <p:spPr>
          <a:xfrm>
            <a:off x="684213" y="1524000"/>
            <a:ext cx="1439862" cy="3806825"/>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Oma työasema</a:t>
            </a:r>
            <a:endParaRPr sz="1800">
              <a:solidFill>
                <a:schemeClr val="lt1"/>
              </a:solidFill>
              <a:latin typeface="Gill Sans"/>
              <a:ea typeface="Gill Sans"/>
              <a:cs typeface="Gill Sans"/>
              <a:sym typeface="Gill Sans"/>
            </a:endParaRPr>
          </a:p>
        </p:txBody>
      </p:sp>
      <p:sp>
        <p:nvSpPr>
          <p:cNvPr id="543" name="Google Shape;543;p26"/>
          <p:cNvSpPr/>
          <p:nvPr/>
        </p:nvSpPr>
        <p:spPr>
          <a:xfrm>
            <a:off x="755650" y="2209800"/>
            <a:ext cx="1295400" cy="503238"/>
          </a:xfrm>
          <a:prstGeom prst="rect">
            <a:avLst/>
          </a:prstGeom>
          <a:solidFill>
            <a:schemeClr val="lt1"/>
          </a:solidFill>
          <a:ln cap="flat" cmpd="sng" w="38100">
            <a:solidFill>
              <a:srgbClr val="FF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200">
                <a:solidFill>
                  <a:schemeClr val="dk1"/>
                </a:solidFill>
                <a:latin typeface="Gill Sans"/>
                <a:ea typeface="Gill Sans"/>
                <a:cs typeface="Gill Sans"/>
                <a:sym typeface="Gill Sans"/>
              </a:rPr>
              <a:t>Web-käyttöliittymä</a:t>
            </a:r>
            <a:endParaRPr sz="1200">
              <a:solidFill>
                <a:schemeClr val="dk1"/>
              </a:solidFill>
              <a:latin typeface="Gill Sans"/>
              <a:ea typeface="Gill Sans"/>
              <a:cs typeface="Gill Sans"/>
              <a:sym typeface="Gill Sans"/>
            </a:endParaRPr>
          </a:p>
        </p:txBody>
      </p:sp>
      <p:sp>
        <p:nvSpPr>
          <p:cNvPr id="544" name="Google Shape;544;p26"/>
          <p:cNvSpPr/>
          <p:nvPr/>
        </p:nvSpPr>
        <p:spPr>
          <a:xfrm>
            <a:off x="755650" y="4611687"/>
            <a:ext cx="1295400" cy="503238"/>
          </a:xfrm>
          <a:prstGeom prst="rect">
            <a:avLst/>
          </a:prstGeom>
          <a:solidFill>
            <a:schemeClr val="lt1"/>
          </a:solidFill>
          <a:ln cap="flat" cmpd="sng" w="381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200">
                <a:solidFill>
                  <a:schemeClr val="dk1"/>
                </a:solidFill>
                <a:latin typeface="Gill Sans"/>
                <a:ea typeface="Gill Sans"/>
                <a:cs typeface="Gill Sans"/>
                <a:sym typeface="Gill Sans"/>
              </a:rPr>
              <a:t>Testityökalut</a:t>
            </a:r>
            <a:endParaRPr sz="1200">
              <a:solidFill>
                <a:schemeClr val="dk1"/>
              </a:solidFill>
              <a:latin typeface="Gill Sans"/>
              <a:ea typeface="Gill Sans"/>
              <a:cs typeface="Gill Sans"/>
              <a:sym typeface="Gill Sans"/>
            </a:endParaRPr>
          </a:p>
        </p:txBody>
      </p:sp>
      <p:sp>
        <p:nvSpPr>
          <p:cNvPr id="545" name="Google Shape;545;p26"/>
          <p:cNvSpPr/>
          <p:nvPr/>
        </p:nvSpPr>
        <p:spPr>
          <a:xfrm>
            <a:off x="755650" y="4035425"/>
            <a:ext cx="1295400" cy="503237"/>
          </a:xfrm>
          <a:prstGeom prst="rect">
            <a:avLst/>
          </a:prstGeom>
          <a:solidFill>
            <a:schemeClr val="lt1"/>
          </a:solidFill>
          <a:ln cap="flat" cmpd="sng" w="381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200">
                <a:solidFill>
                  <a:schemeClr val="dk1"/>
                </a:solidFill>
                <a:latin typeface="Gill Sans"/>
                <a:ea typeface="Gill Sans"/>
                <a:cs typeface="Gill Sans"/>
                <a:sym typeface="Gill Sans"/>
              </a:rPr>
              <a:t>Työasema-ohjelmistot</a:t>
            </a:r>
            <a:endParaRPr sz="1200">
              <a:solidFill>
                <a:schemeClr val="dk1"/>
              </a:solidFill>
              <a:latin typeface="Gill Sans"/>
              <a:ea typeface="Gill Sans"/>
              <a:cs typeface="Gill Sans"/>
              <a:sym typeface="Gill Sans"/>
            </a:endParaRPr>
          </a:p>
        </p:txBody>
      </p:sp>
      <p:sp>
        <p:nvSpPr>
          <p:cNvPr id="546" name="Google Shape;546;p26"/>
          <p:cNvSpPr/>
          <p:nvPr/>
        </p:nvSpPr>
        <p:spPr>
          <a:xfrm>
            <a:off x="755650" y="2787650"/>
            <a:ext cx="1295400" cy="503238"/>
          </a:xfrm>
          <a:prstGeom prst="rect">
            <a:avLst/>
          </a:prstGeom>
          <a:solidFill>
            <a:schemeClr val="lt1"/>
          </a:solidFill>
          <a:ln cap="flat" cmpd="sng" w="38100">
            <a:solidFill>
              <a:srgbClr val="FF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200">
                <a:solidFill>
                  <a:schemeClr val="dk1"/>
                </a:solidFill>
                <a:latin typeface="Gill Sans"/>
                <a:ea typeface="Gill Sans"/>
                <a:cs typeface="Gill Sans"/>
                <a:sym typeface="Gill Sans"/>
              </a:rPr>
              <a:t>Etäkäyttö-liittymä (Citrix)</a:t>
            </a:r>
            <a:endParaRPr sz="1200">
              <a:solidFill>
                <a:schemeClr val="dk1"/>
              </a:solidFill>
              <a:latin typeface="Gill Sans"/>
              <a:ea typeface="Gill Sans"/>
              <a:cs typeface="Gill Sans"/>
              <a:sym typeface="Gill Sans"/>
            </a:endParaRPr>
          </a:p>
        </p:txBody>
      </p:sp>
      <p:sp>
        <p:nvSpPr>
          <p:cNvPr id="547" name="Google Shape;547;p26"/>
          <p:cNvSpPr/>
          <p:nvPr/>
        </p:nvSpPr>
        <p:spPr>
          <a:xfrm>
            <a:off x="3348038" y="2882901"/>
            <a:ext cx="5184775" cy="33655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Palvelimet</a:t>
            </a:r>
            <a:endParaRPr sz="1800">
              <a:solidFill>
                <a:schemeClr val="lt1"/>
              </a:solidFill>
              <a:latin typeface="Gill Sans"/>
              <a:ea typeface="Gill Sans"/>
              <a:cs typeface="Gill Sans"/>
              <a:sym typeface="Gill Sans"/>
            </a:endParaRPr>
          </a:p>
        </p:txBody>
      </p:sp>
      <p:sp>
        <p:nvSpPr>
          <p:cNvPr id="548" name="Google Shape;548;p26"/>
          <p:cNvSpPr/>
          <p:nvPr/>
        </p:nvSpPr>
        <p:spPr>
          <a:xfrm>
            <a:off x="2268538" y="4106862"/>
            <a:ext cx="935037" cy="1008063"/>
          </a:xfrm>
          <a:prstGeom prst="leftRightArrow">
            <a:avLst>
              <a:gd fmla="val 50000" name="adj1"/>
              <a:gd fmla="val 20000" name="adj2"/>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49" name="Google Shape;549;p26"/>
          <p:cNvSpPr/>
          <p:nvPr/>
        </p:nvSpPr>
        <p:spPr>
          <a:xfrm>
            <a:off x="685800" y="5402262"/>
            <a:ext cx="1439862" cy="1368425"/>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Testilabran työasema</a:t>
            </a:r>
            <a:endParaRPr sz="1800">
              <a:solidFill>
                <a:schemeClr val="lt1"/>
              </a:solidFill>
              <a:latin typeface="Gill Sans"/>
              <a:ea typeface="Gill Sans"/>
              <a:cs typeface="Gill Sans"/>
              <a:sym typeface="Gill Sans"/>
            </a:endParaRPr>
          </a:p>
        </p:txBody>
      </p:sp>
      <p:sp>
        <p:nvSpPr>
          <p:cNvPr id="550" name="Google Shape;550;p26"/>
          <p:cNvSpPr/>
          <p:nvPr/>
        </p:nvSpPr>
        <p:spPr>
          <a:xfrm>
            <a:off x="755650" y="6122987"/>
            <a:ext cx="1295400" cy="503238"/>
          </a:xfrm>
          <a:prstGeom prst="rect">
            <a:avLst/>
          </a:prstGeom>
          <a:solidFill>
            <a:schemeClr val="lt1"/>
          </a:solidFill>
          <a:ln cap="flat" cmpd="sng" w="38100">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200">
                <a:solidFill>
                  <a:schemeClr val="dk1"/>
                </a:solidFill>
                <a:latin typeface="Gill Sans"/>
                <a:ea typeface="Gill Sans"/>
                <a:cs typeface="Gill Sans"/>
                <a:sym typeface="Gill Sans"/>
              </a:rPr>
              <a:t>Testityökalut</a:t>
            </a:r>
            <a:endParaRPr sz="1200">
              <a:solidFill>
                <a:schemeClr val="dk1"/>
              </a:solidFill>
              <a:latin typeface="Gill Sans"/>
              <a:ea typeface="Gill Sans"/>
              <a:cs typeface="Gill Sans"/>
              <a:sym typeface="Gill Sans"/>
            </a:endParaRPr>
          </a:p>
        </p:txBody>
      </p:sp>
      <p:sp>
        <p:nvSpPr>
          <p:cNvPr id="551" name="Google Shape;551;p26"/>
          <p:cNvSpPr/>
          <p:nvPr/>
        </p:nvSpPr>
        <p:spPr>
          <a:xfrm>
            <a:off x="4267200" y="1524000"/>
            <a:ext cx="1727200" cy="1066800"/>
          </a:xfrm>
          <a:prstGeom prst="roundRect">
            <a:avLst>
              <a:gd fmla="val 16667" name="adj"/>
            </a:avLst>
          </a:prstGeom>
          <a:solidFill>
            <a:schemeClr val="lt1"/>
          </a:solid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Kaikkiin liittyen:</a:t>
            </a:r>
            <a:endParaRPr/>
          </a:p>
          <a:p>
            <a:pPr indent="-101600" lvl="0" marL="0" marR="0" rtl="0" algn="ctr">
              <a:spcBef>
                <a:spcPts val="0"/>
              </a:spcBef>
              <a:spcAft>
                <a:spcPts val="0"/>
              </a:spcAft>
              <a:buClr>
                <a:schemeClr val="dk1"/>
              </a:buClr>
              <a:buSzPts val="1600"/>
              <a:buFont typeface="Gill Sans"/>
              <a:buChar char="•"/>
            </a:pPr>
            <a:r>
              <a:rPr lang="fi-FI" sz="1600">
                <a:solidFill>
                  <a:schemeClr val="dk1"/>
                </a:solidFill>
                <a:latin typeface="Gill Sans"/>
                <a:ea typeface="Gill Sans"/>
                <a:cs typeface="Gill Sans"/>
                <a:sym typeface="Gill Sans"/>
              </a:rPr>
              <a:t>Yhteydet</a:t>
            </a:r>
            <a:endParaRPr/>
          </a:p>
          <a:p>
            <a:pPr indent="-101600" lvl="0" marL="0" marR="0" rtl="0" algn="ctr">
              <a:spcBef>
                <a:spcPts val="0"/>
              </a:spcBef>
              <a:spcAft>
                <a:spcPts val="0"/>
              </a:spcAft>
              <a:buClr>
                <a:schemeClr val="dk1"/>
              </a:buClr>
              <a:buSzPts val="1600"/>
              <a:buFont typeface="Gill Sans"/>
              <a:buChar char="•"/>
            </a:pPr>
            <a:r>
              <a:rPr lang="fi-FI" sz="1600">
                <a:solidFill>
                  <a:schemeClr val="dk1"/>
                </a:solidFill>
                <a:latin typeface="Gill Sans"/>
                <a:ea typeface="Gill Sans"/>
                <a:cs typeface="Gill Sans"/>
                <a:sym typeface="Gill Sans"/>
              </a:rPr>
              <a:t>Oikeudet</a:t>
            </a:r>
            <a:endParaRPr/>
          </a:p>
          <a:p>
            <a:pPr indent="-101600" lvl="0" marL="0" marR="0" rtl="0" algn="ctr">
              <a:spcBef>
                <a:spcPts val="0"/>
              </a:spcBef>
              <a:spcAft>
                <a:spcPts val="0"/>
              </a:spcAft>
              <a:buClr>
                <a:schemeClr val="dk1"/>
              </a:buClr>
              <a:buSzPts val="1600"/>
              <a:buFont typeface="Gill Sans"/>
              <a:buChar char="•"/>
            </a:pPr>
            <a:r>
              <a:rPr lang="fi-FI" sz="1600">
                <a:solidFill>
                  <a:schemeClr val="dk1"/>
                </a:solidFill>
                <a:latin typeface="Gill Sans"/>
                <a:ea typeface="Gill Sans"/>
                <a:cs typeface="Gill Sans"/>
                <a:sym typeface="Gill Sans"/>
              </a:rPr>
              <a:t>Aineistot</a:t>
            </a:r>
            <a:endParaRPr sz="1600">
              <a:solidFill>
                <a:schemeClr val="dk1"/>
              </a:solidFill>
              <a:latin typeface="Gill Sans"/>
              <a:ea typeface="Gill Sans"/>
              <a:cs typeface="Gill Sans"/>
              <a:sym typeface="Gill Sans"/>
            </a:endParaRPr>
          </a:p>
        </p:txBody>
      </p:sp>
      <p:sp>
        <p:nvSpPr>
          <p:cNvPr id="552" name="Google Shape;552;p26"/>
          <p:cNvSpPr/>
          <p:nvPr/>
        </p:nvSpPr>
        <p:spPr>
          <a:xfrm>
            <a:off x="3733800" y="3649662"/>
            <a:ext cx="1371600" cy="60960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Putki 1</a:t>
            </a:r>
            <a:endParaRPr sz="1800">
              <a:solidFill>
                <a:schemeClr val="dk1"/>
              </a:solidFill>
              <a:latin typeface="Gill Sans"/>
              <a:ea typeface="Gill Sans"/>
              <a:cs typeface="Gill Sans"/>
              <a:sym typeface="Gill Sans"/>
            </a:endParaRPr>
          </a:p>
        </p:txBody>
      </p:sp>
      <p:sp>
        <p:nvSpPr>
          <p:cNvPr id="553" name="Google Shape;553;p26"/>
          <p:cNvSpPr/>
          <p:nvPr/>
        </p:nvSpPr>
        <p:spPr>
          <a:xfrm>
            <a:off x="3733800" y="4411662"/>
            <a:ext cx="1371600" cy="60960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Putki 1</a:t>
            </a:r>
            <a:endParaRPr sz="1800">
              <a:solidFill>
                <a:schemeClr val="dk1"/>
              </a:solidFill>
              <a:latin typeface="Gill Sans"/>
              <a:ea typeface="Gill Sans"/>
              <a:cs typeface="Gill Sans"/>
              <a:sym typeface="Gill Sans"/>
            </a:endParaRPr>
          </a:p>
        </p:txBody>
      </p:sp>
      <p:sp>
        <p:nvSpPr>
          <p:cNvPr id="554" name="Google Shape;554;p26"/>
          <p:cNvSpPr/>
          <p:nvPr/>
        </p:nvSpPr>
        <p:spPr>
          <a:xfrm rot="-5400000">
            <a:off x="4876800" y="4030662"/>
            <a:ext cx="1371600" cy="60960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Yhteis-käyttöiset</a:t>
            </a:r>
            <a:endParaRPr sz="1800">
              <a:solidFill>
                <a:schemeClr val="dk1"/>
              </a:solidFill>
              <a:latin typeface="Gill Sans"/>
              <a:ea typeface="Gill Sans"/>
              <a:cs typeface="Gill Sans"/>
              <a:sym typeface="Gill Sans"/>
            </a:endParaRPr>
          </a:p>
        </p:txBody>
      </p:sp>
      <p:sp>
        <p:nvSpPr>
          <p:cNvPr id="555" name="Google Shape;555;p26"/>
          <p:cNvSpPr/>
          <p:nvPr/>
        </p:nvSpPr>
        <p:spPr>
          <a:xfrm>
            <a:off x="4114800" y="5326062"/>
            <a:ext cx="1447800" cy="609600"/>
          </a:xfrm>
          <a:prstGeom prst="cloud">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Omat</a:t>
            </a:r>
            <a:endParaRPr sz="1800">
              <a:solidFill>
                <a:schemeClr val="dk1"/>
              </a:solidFill>
              <a:latin typeface="Gill Sans"/>
              <a:ea typeface="Gill Sans"/>
              <a:cs typeface="Gill Sans"/>
              <a:sym typeface="Gill Sans"/>
            </a:endParaRPr>
          </a:p>
        </p:txBody>
      </p:sp>
      <p:sp>
        <p:nvSpPr>
          <p:cNvPr id="556" name="Google Shape;556;p26"/>
          <p:cNvSpPr/>
          <p:nvPr/>
        </p:nvSpPr>
        <p:spPr>
          <a:xfrm>
            <a:off x="6629400" y="5326062"/>
            <a:ext cx="1447800" cy="609600"/>
          </a:xfrm>
          <a:prstGeom prst="cloud">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Muiden</a:t>
            </a:r>
            <a:endParaRPr sz="1800">
              <a:solidFill>
                <a:schemeClr val="dk1"/>
              </a:solidFill>
              <a:latin typeface="Gill Sans"/>
              <a:ea typeface="Gill Sans"/>
              <a:cs typeface="Gill Sans"/>
              <a:sym typeface="Gill Sans"/>
            </a:endParaRPr>
          </a:p>
        </p:txBody>
      </p:sp>
      <p:sp>
        <p:nvSpPr>
          <p:cNvPr id="557" name="Google Shape;557;p26"/>
          <p:cNvSpPr/>
          <p:nvPr/>
        </p:nvSpPr>
        <p:spPr>
          <a:xfrm>
            <a:off x="6172200" y="3649662"/>
            <a:ext cx="1371600" cy="6096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Putki 1</a:t>
            </a:r>
            <a:endParaRPr sz="1800">
              <a:solidFill>
                <a:schemeClr val="dk1"/>
              </a:solidFill>
              <a:latin typeface="Gill Sans"/>
              <a:ea typeface="Gill Sans"/>
              <a:cs typeface="Gill Sans"/>
              <a:sym typeface="Gill Sans"/>
            </a:endParaRPr>
          </a:p>
        </p:txBody>
      </p:sp>
      <p:sp>
        <p:nvSpPr>
          <p:cNvPr id="558" name="Google Shape;558;p26"/>
          <p:cNvSpPr/>
          <p:nvPr/>
        </p:nvSpPr>
        <p:spPr>
          <a:xfrm>
            <a:off x="6172200" y="4411662"/>
            <a:ext cx="1371600" cy="6096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Putki 1</a:t>
            </a:r>
            <a:endParaRPr sz="1800">
              <a:solidFill>
                <a:schemeClr val="dk1"/>
              </a:solidFill>
              <a:latin typeface="Gill Sans"/>
              <a:ea typeface="Gill Sans"/>
              <a:cs typeface="Gill Sans"/>
              <a:sym typeface="Gill Sans"/>
            </a:endParaRPr>
          </a:p>
        </p:txBody>
      </p:sp>
      <p:sp>
        <p:nvSpPr>
          <p:cNvPr id="559" name="Google Shape;559;p26"/>
          <p:cNvSpPr/>
          <p:nvPr/>
        </p:nvSpPr>
        <p:spPr>
          <a:xfrm rot="-5400000">
            <a:off x="7315200" y="4030662"/>
            <a:ext cx="1371600" cy="6096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Yhteis-käyttöiset</a:t>
            </a:r>
            <a:endParaRPr sz="1800">
              <a:solidFill>
                <a:schemeClr val="dk1"/>
              </a:solidFill>
              <a:latin typeface="Gill Sans"/>
              <a:ea typeface="Gill Sans"/>
              <a:cs typeface="Gill Sans"/>
              <a:sym typeface="Gill Sans"/>
            </a:endParaRPr>
          </a:p>
        </p:txBody>
      </p:sp>
      <p:cxnSp>
        <p:nvCxnSpPr>
          <p:cNvPr id="560" name="Google Shape;560;p26"/>
          <p:cNvCxnSpPr/>
          <p:nvPr/>
        </p:nvCxnSpPr>
        <p:spPr>
          <a:xfrm rot="5400000">
            <a:off x="4720431" y="4644231"/>
            <a:ext cx="2598738" cy="0"/>
          </a:xfrm>
          <a:prstGeom prst="straightConnector1">
            <a:avLst/>
          </a:prstGeom>
          <a:noFill/>
          <a:ln cap="flat" cmpd="sng" w="38100">
            <a:solidFill>
              <a:schemeClr val="accent6"/>
            </a:solidFill>
            <a:prstDash val="solid"/>
            <a:round/>
            <a:headEnd len="sm" w="sm" type="none"/>
            <a:tailEnd len="sm" w="sm" type="none"/>
          </a:ln>
          <a:effectLst>
            <a:outerShdw blurRad="40000" rotWithShape="0" dir="5400000" dist="23000">
              <a:srgbClr val="000000">
                <a:alpha val="34901"/>
              </a:srgbClr>
            </a:outerShdw>
          </a:effectLst>
        </p:spPr>
      </p:cxnSp>
      <p:sp>
        <p:nvSpPr>
          <p:cNvPr id="561" name="Google Shape;561;p26"/>
          <p:cNvSpPr/>
          <p:nvPr/>
        </p:nvSpPr>
        <p:spPr>
          <a:xfrm>
            <a:off x="762000" y="3352800"/>
            <a:ext cx="1295400" cy="503238"/>
          </a:xfrm>
          <a:prstGeom prst="rect">
            <a:avLst/>
          </a:prstGeom>
          <a:solidFill>
            <a:schemeClr val="lt1"/>
          </a:solidFill>
          <a:ln cap="flat" cmpd="sng" w="38100">
            <a:solidFill>
              <a:srgbClr val="FF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200">
                <a:solidFill>
                  <a:schemeClr val="dk1"/>
                </a:solidFill>
                <a:latin typeface="Gill Sans"/>
                <a:ea typeface="Gill Sans"/>
                <a:cs typeface="Gill Sans"/>
                <a:sym typeface="Gill Sans"/>
              </a:rPr>
              <a:t>Terminaali</a:t>
            </a:r>
            <a:endParaRPr sz="1200">
              <a:solidFill>
                <a:schemeClr val="dk1"/>
              </a:solidFill>
              <a:latin typeface="Gill Sans"/>
              <a:ea typeface="Gill Sans"/>
              <a:cs typeface="Gill Sans"/>
              <a:sym typeface="Gill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Testitapausten oikea-aikaisuus</a:t>
            </a:r>
            <a:endParaRPr/>
          </a:p>
        </p:txBody>
      </p:sp>
      <p:sp>
        <p:nvSpPr>
          <p:cNvPr id="568" name="Google Shape;568;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fi-FI" sz="2400"/>
              <a:t>Varhainen testitapausten suunnittelu yleisesti suositeltu hyvä käytäntö</a:t>
            </a:r>
            <a:endParaRPr/>
          </a:p>
          <a:p>
            <a:pPr indent="-285750" lvl="1" marL="742950" rtl="0" algn="l">
              <a:spcBef>
                <a:spcPts val="400"/>
              </a:spcBef>
              <a:spcAft>
                <a:spcPts val="0"/>
              </a:spcAft>
              <a:buClr>
                <a:schemeClr val="dk1"/>
              </a:buClr>
              <a:buSzPts val="2000"/>
              <a:buChar char="–"/>
            </a:pPr>
            <a:r>
              <a:rPr lang="fi-FI" sz="2000"/>
              <a:t>Käytännön kokemus: saatetaan heittää merkittävä määrä työtä hukkaan</a:t>
            </a:r>
            <a:endParaRPr/>
          </a:p>
          <a:p>
            <a:pPr indent="-342900" lvl="0" marL="342900" rtl="0" algn="l">
              <a:spcBef>
                <a:spcPts val="480"/>
              </a:spcBef>
              <a:spcAft>
                <a:spcPts val="0"/>
              </a:spcAft>
              <a:buClr>
                <a:schemeClr val="dk1"/>
              </a:buClr>
              <a:buSzPts val="2400"/>
              <a:buChar char="•"/>
            </a:pPr>
            <a:r>
              <a:rPr lang="fi-FI" sz="2400"/>
              <a:t>Varhaisen suunnittelun asemesta haluttaisiin oikea-aikainen suunnittelu</a:t>
            </a:r>
            <a:endParaRPr/>
          </a:p>
          <a:p>
            <a:pPr indent="-285750" lvl="1" marL="742950" rtl="0" algn="l">
              <a:spcBef>
                <a:spcPts val="400"/>
              </a:spcBef>
              <a:spcAft>
                <a:spcPts val="0"/>
              </a:spcAft>
              <a:buClr>
                <a:schemeClr val="dk1"/>
              </a:buClr>
              <a:buSzPts val="2000"/>
              <a:buChar char="–"/>
            </a:pPr>
            <a:r>
              <a:rPr lang="fi-FI" sz="2000"/>
              <a:t>Oikea aika riippuu tilanteesta</a:t>
            </a:r>
            <a:endParaRPr/>
          </a:p>
          <a:p>
            <a:pPr indent="-285750" lvl="1" marL="742950" rtl="0" algn="l">
              <a:spcBef>
                <a:spcPts val="400"/>
              </a:spcBef>
              <a:spcAft>
                <a:spcPts val="0"/>
              </a:spcAft>
              <a:buClr>
                <a:schemeClr val="dk1"/>
              </a:buClr>
              <a:buSzPts val="2000"/>
              <a:buChar char="–"/>
            </a:pPr>
            <a:r>
              <a:rPr lang="fi-FI" sz="2000"/>
              <a:t>Kokonaisuuden ja yksityiskohtien suunnittelun oikealle ajalle eri säännöt</a:t>
            </a:r>
            <a:endParaRPr/>
          </a:p>
          <a:p>
            <a:pPr indent="-285750" lvl="1" marL="742950" rtl="0" algn="l">
              <a:spcBef>
                <a:spcPts val="400"/>
              </a:spcBef>
              <a:spcAft>
                <a:spcPts val="0"/>
              </a:spcAft>
              <a:buClr>
                <a:schemeClr val="dk1"/>
              </a:buClr>
              <a:buSzPts val="2000"/>
              <a:buChar char="–"/>
            </a:pPr>
            <a:r>
              <a:rPr lang="fi-FI" sz="2000"/>
              <a:t>Testaus ei kuitenkaan haluaisi olla projektissa mukana vasta sitten kun vaihtoehdot ovat toimittaa ”laadullisesti sutta ja sekundaa” tai ”myöhässä”, koska oikealla ajoituksella voidaan tehdä paljon. </a:t>
            </a:r>
            <a:endParaRPr sz="2000"/>
          </a:p>
        </p:txBody>
      </p:sp>
      <p:sp>
        <p:nvSpPr>
          <p:cNvPr id="569" name="Google Shape;56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Koska testitapaukset suunnitellaan?</a:t>
            </a:r>
            <a:endParaRPr/>
          </a:p>
        </p:txBody>
      </p:sp>
      <p:graphicFrame>
        <p:nvGraphicFramePr>
          <p:cNvPr id="576" name="Google Shape;576;p28"/>
          <p:cNvGraphicFramePr/>
          <p:nvPr/>
        </p:nvGraphicFramePr>
        <p:xfrm>
          <a:off x="163513" y="1457325"/>
          <a:ext cx="5018087" cy="4100513"/>
        </p:xfrm>
        <a:graphic>
          <a:graphicData uri="http://schemas.openxmlformats.org/presentationml/2006/ole">
            <mc:AlternateContent>
              <mc:Choice Requires="v">
                <p:oleObj r:id="rId4" imgH="4100513" imgW="5018087" progId="" spid="_x0000_s1">
                  <p:embed/>
                </p:oleObj>
              </mc:Choice>
              <mc:Fallback>
                <p:oleObj r:id="rId5" imgH="4100513" imgW="5018087" progId="">
                  <p:embed/>
                  <p:pic>
                    <p:nvPicPr>
                      <p:cNvPr id="576" name="Google Shape;576;p28"/>
                      <p:cNvPicPr preferRelativeResize="0"/>
                      <p:nvPr/>
                    </p:nvPicPr>
                    <p:blipFill rotWithShape="1">
                      <a:blip r:embed="rId6">
                        <a:alphaModFix/>
                      </a:blip>
                      <a:srcRect b="0" l="0" r="0" t="0"/>
                      <a:stretch/>
                    </p:blipFill>
                    <p:spPr>
                      <a:xfrm>
                        <a:off x="163513" y="1457325"/>
                        <a:ext cx="5018087" cy="4100513"/>
                      </a:xfrm>
                      <a:prstGeom prst="rect">
                        <a:avLst/>
                      </a:prstGeom>
                      <a:noFill/>
                      <a:ln>
                        <a:noFill/>
                      </a:ln>
                    </p:spPr>
                  </p:pic>
                </p:oleObj>
              </mc:Fallback>
            </mc:AlternateContent>
          </a:graphicData>
        </a:graphic>
      </p:graphicFrame>
      <p:sp>
        <p:nvSpPr>
          <p:cNvPr id="577" name="Google Shape;577;p28"/>
          <p:cNvSpPr txBox="1"/>
          <p:nvPr/>
        </p:nvSpPr>
        <p:spPr>
          <a:xfrm>
            <a:off x="5580063" y="1828800"/>
            <a:ext cx="2727325" cy="4624388"/>
          </a:xfrm>
          <a:prstGeom prst="rect">
            <a:avLst/>
          </a:prstGeom>
          <a:solidFill>
            <a:schemeClr val="lt1"/>
          </a:solidFill>
          <a:ln cap="flat" cmpd="sng" w="9525">
            <a:solidFill>
              <a:schemeClr val="accent2"/>
            </a:solidFill>
            <a:prstDash val="solid"/>
            <a:miter lim="800000"/>
            <a:headEnd len="sm" w="sm" type="none"/>
            <a:tailEnd len="sm" w="sm" type="none"/>
          </a:ln>
          <a:effectLst>
            <a:outerShdw rotWithShape="0" algn="ctr" dir="18900000" dist="107763">
              <a:schemeClr val="lt2"/>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Katselmoi ennemmin kuin määrittele testitapauksia virheellisiin tai puutteellisiin vaatimuksiin pohjaten.</a:t>
            </a:r>
            <a:endParaRPr/>
          </a:p>
          <a:p>
            <a:pPr indent="0" lvl="0" marL="0" marR="0" rtl="0" algn="ctr">
              <a:spcBef>
                <a:spcPts val="800"/>
              </a:spcBef>
              <a:spcAft>
                <a:spcPts val="0"/>
              </a:spcAft>
              <a:buNone/>
            </a:pPr>
            <a:r>
              <a:rPr lang="fi-FI" sz="1600">
                <a:solidFill>
                  <a:schemeClr val="dk1"/>
                </a:solidFill>
                <a:latin typeface="Gill Sans"/>
                <a:ea typeface="Gill Sans"/>
                <a:cs typeface="Gill Sans"/>
                <a:sym typeface="Gill Sans"/>
              </a:rPr>
              <a:t>Vertaiskatselmointien virheenpoistoteho 60 % Perspektiivipohjaisesti suunnattujen teho 35 % enemmän.</a:t>
            </a:r>
            <a:endParaRPr/>
          </a:p>
          <a:p>
            <a:pPr indent="0" lvl="0" marL="0" marR="0" rtl="0" algn="ctr">
              <a:spcBef>
                <a:spcPts val="800"/>
              </a:spcBef>
              <a:spcAft>
                <a:spcPts val="0"/>
              </a:spcAft>
              <a:buNone/>
            </a:pPr>
            <a:r>
              <a:rPr b="1" lang="fi-FI" sz="1600">
                <a:solidFill>
                  <a:schemeClr val="dk1"/>
                </a:solidFill>
                <a:latin typeface="Gill Sans"/>
                <a:ea typeface="Gill Sans"/>
                <a:cs typeface="Gill Sans"/>
                <a:sym typeface="Gill Sans"/>
              </a:rPr>
              <a:t>🡪20 % virheistä menee läpi testaukseen saakka.</a:t>
            </a:r>
            <a:endParaRPr/>
          </a:p>
          <a:p>
            <a:pPr indent="0" lvl="0" marL="0" marR="0" rtl="0" algn="ctr">
              <a:spcBef>
                <a:spcPts val="800"/>
              </a:spcBef>
              <a:spcAft>
                <a:spcPts val="0"/>
              </a:spcAft>
              <a:buNone/>
            </a:pPr>
            <a:r>
              <a:rPr lang="fi-FI" sz="1600">
                <a:solidFill>
                  <a:schemeClr val="dk1"/>
                </a:solidFill>
                <a:latin typeface="Gill Sans"/>
                <a:ea typeface="Gill Sans"/>
                <a:cs typeface="Gill Sans"/>
                <a:sym typeface="Gill Sans"/>
              </a:rPr>
              <a:t>Virheet eivät ole tasa-arvoisia. 80 % vältettävissä olevasta korjaustyöstä tulee 20 %:sta koodia. </a:t>
            </a:r>
            <a:endParaRPr sz="1600">
              <a:solidFill>
                <a:schemeClr val="dk1"/>
              </a:solidFill>
              <a:latin typeface="Gill Sans"/>
              <a:ea typeface="Gill Sans"/>
              <a:cs typeface="Gill Sans"/>
              <a:sym typeface="Gill Sans"/>
            </a:endParaRPr>
          </a:p>
        </p:txBody>
      </p:sp>
      <p:sp>
        <p:nvSpPr>
          <p:cNvPr id="578" name="Google Shape;578;p28"/>
          <p:cNvSpPr/>
          <p:nvPr/>
        </p:nvSpPr>
        <p:spPr>
          <a:xfrm>
            <a:off x="1116013" y="5373688"/>
            <a:ext cx="4141787" cy="9144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600">
                <a:solidFill>
                  <a:schemeClr val="lt1"/>
                </a:solidFill>
                <a:latin typeface="Gill Sans"/>
                <a:ea typeface="Gill Sans"/>
                <a:cs typeface="Gill Sans"/>
                <a:sym typeface="Gill Sans"/>
              </a:rPr>
              <a:t>Testitapaukset </a:t>
            </a:r>
            <a:endParaRPr/>
          </a:p>
          <a:p>
            <a:pPr indent="-101600" lvl="0" marL="0" marR="0" rtl="0" algn="ctr">
              <a:spcBef>
                <a:spcPts val="0"/>
              </a:spcBef>
              <a:spcAft>
                <a:spcPts val="0"/>
              </a:spcAft>
              <a:buClr>
                <a:schemeClr val="lt1"/>
              </a:buClr>
              <a:buSzPts val="1600"/>
              <a:buFont typeface="Gill Sans"/>
              <a:buChar char="•"/>
            </a:pPr>
            <a:r>
              <a:rPr lang="fi-FI" sz="1600">
                <a:solidFill>
                  <a:schemeClr val="lt1"/>
                </a:solidFill>
                <a:latin typeface="Gill Sans"/>
                <a:ea typeface="Gill Sans"/>
                <a:cs typeface="Gill Sans"/>
                <a:sym typeface="Gill Sans"/>
              </a:rPr>
              <a:t>vaiheittaisessa testauksessa (off-synch) </a:t>
            </a:r>
            <a:endParaRPr/>
          </a:p>
          <a:p>
            <a:pPr indent="-101600" lvl="0" marL="0" marR="0" rtl="0" algn="ctr">
              <a:spcBef>
                <a:spcPts val="0"/>
              </a:spcBef>
              <a:spcAft>
                <a:spcPts val="0"/>
              </a:spcAft>
              <a:buClr>
                <a:schemeClr val="lt1"/>
              </a:buClr>
              <a:buSzPts val="1600"/>
              <a:buFont typeface="Gill Sans"/>
              <a:buChar char="•"/>
            </a:pPr>
            <a:r>
              <a:rPr lang="fi-FI" sz="1600">
                <a:solidFill>
                  <a:schemeClr val="lt1"/>
                </a:solidFill>
                <a:latin typeface="Gill Sans"/>
                <a:ea typeface="Gill Sans"/>
                <a:cs typeface="Gill Sans"/>
                <a:sym typeface="Gill Sans"/>
              </a:rPr>
              <a:t>jatkuvassa testauksessa (in-synch) </a:t>
            </a:r>
            <a:endParaRPr sz="1600">
              <a:solidFill>
                <a:schemeClr val="lt1"/>
              </a:solidFill>
              <a:latin typeface="Gill Sans"/>
              <a:ea typeface="Gill Sans"/>
              <a:cs typeface="Gill Sans"/>
              <a:sym typeface="Gill Sans"/>
            </a:endParaRPr>
          </a:p>
        </p:txBody>
      </p:sp>
      <p:sp>
        <p:nvSpPr>
          <p:cNvPr id="579" name="Google Shape;5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sz="4000"/>
              <a:t>Koska testitapausten pitää olla valmiina?</a:t>
            </a:r>
            <a:endParaRPr sz="4000"/>
          </a:p>
        </p:txBody>
      </p:sp>
      <p:sp>
        <p:nvSpPr>
          <p:cNvPr id="586" name="Google Shape;586;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lnSpcReduction="10000"/>
          </a:bodyPr>
          <a:lstStyle/>
          <a:p>
            <a:pPr indent="-152400" lvl="0" marL="0" rtl="0" algn="l">
              <a:spcBef>
                <a:spcPts val="0"/>
              </a:spcBef>
              <a:spcAft>
                <a:spcPts val="0"/>
              </a:spcAft>
              <a:buClr>
                <a:schemeClr val="dk1"/>
              </a:buClr>
              <a:buSzPts val="2400"/>
              <a:buChar char="•"/>
            </a:pPr>
            <a:r>
              <a:rPr lang="fi-FI" sz="2400"/>
              <a:t>Testitapaukset</a:t>
            </a:r>
            <a:r>
              <a:rPr b="1" i="1" lang="fi-FI" sz="2400"/>
              <a:t> syötteenä</a:t>
            </a:r>
            <a:endParaRPr b="1" sz="2400"/>
          </a:p>
          <a:p>
            <a:pPr indent="-187325" lvl="1" marL="377825" rtl="0" algn="l">
              <a:spcBef>
                <a:spcPts val="400"/>
              </a:spcBef>
              <a:spcAft>
                <a:spcPts val="0"/>
              </a:spcAft>
              <a:buClr>
                <a:schemeClr val="dk1"/>
              </a:buClr>
              <a:buSzPts val="2000"/>
              <a:buChar char="–"/>
            </a:pPr>
            <a:r>
              <a:rPr lang="fi-FI" sz="2000"/>
              <a:t>Tee niin ajoissa kuin mahdollista</a:t>
            </a:r>
            <a:endParaRPr sz="2000"/>
          </a:p>
          <a:p>
            <a:pPr indent="-187325" lvl="1" marL="377825" rtl="0" algn="l">
              <a:spcBef>
                <a:spcPts val="400"/>
              </a:spcBef>
              <a:spcAft>
                <a:spcPts val="0"/>
              </a:spcAft>
              <a:buClr>
                <a:schemeClr val="dk1"/>
              </a:buClr>
              <a:buSzPts val="2000"/>
              <a:buChar char="–"/>
            </a:pPr>
            <a:r>
              <a:rPr lang="fi-FI" sz="2000"/>
              <a:t>Muuta tarvittaessa</a:t>
            </a:r>
            <a:endParaRPr sz="2000"/>
          </a:p>
          <a:p>
            <a:pPr indent="-187325" lvl="1" marL="377825" rtl="0" algn="l">
              <a:spcBef>
                <a:spcPts val="400"/>
              </a:spcBef>
              <a:spcAft>
                <a:spcPts val="0"/>
              </a:spcAft>
              <a:buClr>
                <a:schemeClr val="dk1"/>
              </a:buClr>
              <a:buSzPts val="2000"/>
              <a:buChar char="–"/>
            </a:pPr>
            <a:r>
              <a:rPr lang="fi-FI" sz="2000"/>
              <a:t>Käytä testimäärittelyä ankkuroimaan koska homma on tehty</a:t>
            </a:r>
            <a:endParaRPr sz="2000"/>
          </a:p>
          <a:p>
            <a:pPr indent="-187325" lvl="1" marL="377825" rtl="0" algn="l">
              <a:spcBef>
                <a:spcPts val="400"/>
              </a:spcBef>
              <a:spcAft>
                <a:spcPts val="0"/>
              </a:spcAft>
              <a:buClr>
                <a:schemeClr val="dk1"/>
              </a:buClr>
              <a:buSzPts val="2000"/>
              <a:buChar char="–"/>
            </a:pPr>
            <a:r>
              <a:rPr lang="fi-FI" sz="2000"/>
              <a:t>Auttaa suojaamaan kiireisessä ympäristössä</a:t>
            </a:r>
            <a:endParaRPr sz="2000"/>
          </a:p>
          <a:p>
            <a:pPr indent="-187325" lvl="1" marL="377825" rtl="0" algn="l">
              <a:spcBef>
                <a:spcPts val="400"/>
              </a:spcBef>
              <a:spcAft>
                <a:spcPts val="0"/>
              </a:spcAft>
              <a:buClr>
                <a:schemeClr val="dk1"/>
              </a:buClr>
              <a:buSzPts val="2000"/>
              <a:buChar char="–"/>
            </a:pPr>
            <a:r>
              <a:rPr lang="fi-FI" sz="2000"/>
              <a:t>Auttaa ihmisiä jotka vaativat aikaa konseptien sisäistämiseen</a:t>
            </a:r>
            <a:endParaRPr sz="2000"/>
          </a:p>
          <a:p>
            <a:pPr indent="-152400" lvl="0" marL="0" rtl="0" algn="l">
              <a:spcBef>
                <a:spcPts val="480"/>
              </a:spcBef>
              <a:spcAft>
                <a:spcPts val="0"/>
              </a:spcAft>
              <a:buClr>
                <a:schemeClr val="dk1"/>
              </a:buClr>
              <a:buSzPts val="2400"/>
              <a:buChar char="•"/>
            </a:pPr>
            <a:r>
              <a:rPr lang="fi-FI" sz="2400"/>
              <a:t>Pääasialliset haasteet:</a:t>
            </a:r>
            <a:endParaRPr/>
          </a:p>
          <a:p>
            <a:pPr indent="-187325" lvl="1" marL="377825" rtl="0" algn="l">
              <a:spcBef>
                <a:spcPts val="400"/>
              </a:spcBef>
              <a:spcAft>
                <a:spcPts val="0"/>
              </a:spcAft>
              <a:buClr>
                <a:schemeClr val="dk1"/>
              </a:buClr>
              <a:buSzPts val="2000"/>
              <a:buChar char="–"/>
            </a:pPr>
            <a:r>
              <a:rPr lang="fi-FI" sz="2000"/>
              <a:t>Testien kohdistus ja arvo</a:t>
            </a:r>
            <a:endParaRPr sz="2000"/>
          </a:p>
          <a:p>
            <a:pPr indent="-187325" lvl="1" marL="377825" rtl="0" algn="l">
              <a:spcBef>
                <a:spcPts val="400"/>
              </a:spcBef>
              <a:spcAft>
                <a:spcPts val="0"/>
              </a:spcAft>
              <a:buClr>
                <a:schemeClr val="dk1"/>
              </a:buClr>
              <a:buSzPts val="2000"/>
              <a:buChar char="–"/>
            </a:pPr>
            <a:r>
              <a:rPr lang="fi-FI" sz="2000"/>
              <a:t>Oikea dokumentointitaso</a:t>
            </a:r>
            <a:endParaRPr sz="2000"/>
          </a:p>
        </p:txBody>
      </p:sp>
      <p:sp>
        <p:nvSpPr>
          <p:cNvPr id="587" name="Google Shape;587;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52400" lvl="0" marL="0" rtl="0" algn="l">
              <a:spcBef>
                <a:spcPts val="0"/>
              </a:spcBef>
              <a:spcAft>
                <a:spcPts val="0"/>
              </a:spcAft>
              <a:buClr>
                <a:schemeClr val="dk1"/>
              </a:buClr>
              <a:buSzPts val="2400"/>
              <a:buChar char="•"/>
            </a:pPr>
            <a:r>
              <a:rPr lang="fi-FI" sz="2400"/>
              <a:t>Testitapaukset </a:t>
            </a:r>
            <a:r>
              <a:rPr b="1" i="1" lang="fi-FI" sz="2400"/>
              <a:t>tuloksena</a:t>
            </a:r>
            <a:endParaRPr b="1" sz="2400"/>
          </a:p>
          <a:p>
            <a:pPr indent="-187325" lvl="1" marL="377825" rtl="0" algn="l">
              <a:spcBef>
                <a:spcPts val="400"/>
              </a:spcBef>
              <a:spcAft>
                <a:spcPts val="0"/>
              </a:spcAft>
              <a:buClr>
                <a:schemeClr val="dk1"/>
              </a:buClr>
              <a:buSzPts val="2000"/>
              <a:buChar char="–"/>
            </a:pPr>
            <a:r>
              <a:rPr lang="fi-FI" sz="2000"/>
              <a:t>Aloita heti alussa</a:t>
            </a:r>
            <a:endParaRPr/>
          </a:p>
          <a:p>
            <a:pPr indent="-187325" lvl="1" marL="377825" rtl="0" algn="l">
              <a:spcBef>
                <a:spcPts val="400"/>
              </a:spcBef>
              <a:spcAft>
                <a:spcPts val="0"/>
              </a:spcAft>
              <a:buClr>
                <a:schemeClr val="dk1"/>
              </a:buClr>
              <a:buSzPts val="2000"/>
              <a:buChar char="–"/>
            </a:pPr>
            <a:r>
              <a:rPr lang="fi-FI" sz="2000"/>
              <a:t>Valmistaudu muuttamaan rakennetta</a:t>
            </a:r>
            <a:endParaRPr/>
          </a:p>
          <a:p>
            <a:pPr indent="-187325" lvl="1" marL="377825" rtl="0" algn="l">
              <a:spcBef>
                <a:spcPts val="400"/>
              </a:spcBef>
              <a:spcAft>
                <a:spcPts val="0"/>
              </a:spcAft>
              <a:buClr>
                <a:schemeClr val="dk1"/>
              </a:buClr>
              <a:buSzPts val="2000"/>
              <a:buChar char="–"/>
            </a:pPr>
            <a:r>
              <a:rPr lang="fi-FI" sz="2000"/>
              <a:t>Näytä jatkuvasti, hae kommentteja ja palautetta. </a:t>
            </a:r>
            <a:endParaRPr/>
          </a:p>
          <a:p>
            <a:pPr indent="-187325" lvl="1" marL="377825" rtl="0" algn="l">
              <a:spcBef>
                <a:spcPts val="400"/>
              </a:spcBef>
              <a:spcAft>
                <a:spcPts val="0"/>
              </a:spcAft>
              <a:buClr>
                <a:schemeClr val="dk1"/>
              </a:buClr>
              <a:buSzPts val="2000"/>
              <a:buChar char="–"/>
            </a:pPr>
            <a:r>
              <a:rPr lang="fi-FI" sz="2000"/>
              <a:t>Käytä aktiivisesti oppimistyökaluna: mitä tiesin, miten se on muuttunut?</a:t>
            </a:r>
            <a:endParaRPr/>
          </a:p>
          <a:p>
            <a:pPr indent="-187325" lvl="1" marL="377825" rtl="0" algn="l">
              <a:spcBef>
                <a:spcPts val="400"/>
              </a:spcBef>
              <a:spcAft>
                <a:spcPts val="0"/>
              </a:spcAft>
              <a:buClr>
                <a:schemeClr val="dk1"/>
              </a:buClr>
              <a:buSzPts val="2000"/>
              <a:buChar char="–"/>
            </a:pPr>
            <a:r>
              <a:rPr lang="fi-FI" sz="2000"/>
              <a:t>Tarkentuu ja muuttuu koko projektin läpi</a:t>
            </a:r>
            <a:endParaRPr/>
          </a:p>
          <a:p>
            <a:pPr indent="-187325" lvl="1" marL="377825" rtl="0" algn="l">
              <a:spcBef>
                <a:spcPts val="480"/>
              </a:spcBef>
              <a:spcAft>
                <a:spcPts val="0"/>
              </a:spcAft>
              <a:buClr>
                <a:schemeClr val="dk1"/>
              </a:buClr>
              <a:buSzPts val="2400"/>
              <a:buChar char="–"/>
            </a:pPr>
            <a:r>
              <a:rPr lang="fi-FI"/>
              <a:t>Pääasialliset haasteet:</a:t>
            </a:r>
            <a:endParaRPr/>
          </a:p>
          <a:p>
            <a:pPr indent="-192087" lvl="2" marL="766763" rtl="0" algn="l">
              <a:spcBef>
                <a:spcPts val="400"/>
              </a:spcBef>
              <a:spcAft>
                <a:spcPts val="0"/>
              </a:spcAft>
              <a:buClr>
                <a:schemeClr val="dk1"/>
              </a:buClr>
              <a:buSzPts val="2000"/>
              <a:buChar char="•"/>
            </a:pPr>
            <a:r>
              <a:rPr lang="fi-FI"/>
              <a:t>Priorisointiosaaminen</a:t>
            </a:r>
            <a:endParaRPr/>
          </a:p>
          <a:p>
            <a:pPr indent="-192087" lvl="2" marL="766763" rtl="0" algn="l">
              <a:spcBef>
                <a:spcPts val="400"/>
              </a:spcBef>
              <a:spcAft>
                <a:spcPts val="0"/>
              </a:spcAft>
              <a:buClr>
                <a:schemeClr val="dk1"/>
              </a:buClr>
              <a:buSzPts val="2000"/>
              <a:buChar char="•"/>
            </a:pPr>
            <a:r>
              <a:rPr lang="fi-FI"/>
              <a:t>Oppimisosaaminen</a:t>
            </a:r>
            <a:endParaRPr/>
          </a:p>
        </p:txBody>
      </p:sp>
      <p:sp>
        <p:nvSpPr>
          <p:cNvPr id="588" name="Google Shape;58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The ”Good Test Case Example”</a:t>
            </a:r>
            <a:br>
              <a:rPr lang="fi-FI"/>
            </a:br>
            <a:r>
              <a:rPr lang="fi-FI" sz="1600"/>
              <a:t>Alan Page, Ken Johnston, Bj Rollison. 2009. How We Test Software at Microsoft.</a:t>
            </a:r>
            <a:endParaRPr/>
          </a:p>
        </p:txBody>
      </p:sp>
      <p:sp>
        <p:nvSpPr>
          <p:cNvPr id="595" name="Google Shape;595;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spcBef>
                <a:spcPts val="0"/>
              </a:spcBef>
              <a:spcAft>
                <a:spcPts val="0"/>
              </a:spcAft>
              <a:buClr>
                <a:schemeClr val="dk1"/>
              </a:buClr>
              <a:buSzPct val="100000"/>
              <a:buChar char="•"/>
            </a:pPr>
            <a:r>
              <a:rPr b="1" lang="fi-FI"/>
              <a:t>Title</a:t>
            </a:r>
            <a:r>
              <a:rPr lang="fi-FI"/>
              <a:t>: Clear text with v3 certificate</a:t>
            </a:r>
            <a:endParaRPr/>
          </a:p>
          <a:p>
            <a:pPr indent="-342900" lvl="0" marL="342900" rtl="0" algn="l">
              <a:spcBef>
                <a:spcPts val="304"/>
              </a:spcBef>
              <a:spcAft>
                <a:spcPts val="0"/>
              </a:spcAft>
              <a:buClr>
                <a:schemeClr val="dk1"/>
              </a:buClr>
              <a:buSzPct val="100000"/>
              <a:buChar char="•"/>
            </a:pPr>
            <a:r>
              <a:rPr b="1" lang="fi-FI"/>
              <a:t>Purpose</a:t>
            </a:r>
            <a:r>
              <a:rPr lang="fi-FI"/>
              <a:t>: Verify that an encrypted clear text message using a v3 certificate can be opened and read by a recipient</a:t>
            </a:r>
            <a:endParaRPr/>
          </a:p>
          <a:p>
            <a:pPr indent="-342900" lvl="0" marL="342900" rtl="0" algn="l">
              <a:spcBef>
                <a:spcPts val="304"/>
              </a:spcBef>
              <a:spcAft>
                <a:spcPts val="0"/>
              </a:spcAft>
              <a:buClr>
                <a:schemeClr val="dk1"/>
              </a:buClr>
              <a:buSzPct val="100000"/>
              <a:buChar char="•"/>
            </a:pPr>
            <a:r>
              <a:rPr b="1" lang="fi-FI"/>
              <a:t>Conditions/Prerequisites</a:t>
            </a:r>
            <a:r>
              <a:rPr lang="fi-FI"/>
              <a:t>:</a:t>
            </a:r>
            <a:endParaRPr/>
          </a:p>
          <a:p>
            <a:pPr indent="-285750" lvl="1" marL="742950" rtl="0" algn="l">
              <a:spcBef>
                <a:spcPts val="266"/>
              </a:spcBef>
              <a:spcAft>
                <a:spcPts val="0"/>
              </a:spcAft>
              <a:buClr>
                <a:schemeClr val="dk1"/>
              </a:buClr>
              <a:buSzPct val="100000"/>
              <a:buChar char="–"/>
            </a:pPr>
            <a:r>
              <a:rPr lang="fi-FI"/>
              <a:t>Crypto overview and v3 certificate (Diffie-Hellman) setup</a:t>
            </a:r>
            <a:endParaRPr/>
          </a:p>
          <a:p>
            <a:pPr indent="-285750" lvl="1" marL="742950" rtl="0" algn="l">
              <a:spcBef>
                <a:spcPts val="266"/>
              </a:spcBef>
              <a:spcAft>
                <a:spcPts val="0"/>
              </a:spcAft>
              <a:buClr>
                <a:schemeClr val="dk1"/>
              </a:buClr>
              <a:buSzPct val="100000"/>
              <a:buChar char="–"/>
            </a:pPr>
            <a:r>
              <a:rPr lang="fi-FI"/>
              <a:t>User 1 and User 2 are Microsoft Exchange Server mailbox accounts</a:t>
            </a:r>
            <a:endParaRPr/>
          </a:p>
          <a:p>
            <a:pPr indent="-342900" lvl="0" marL="342900" rtl="0" algn="l">
              <a:spcBef>
                <a:spcPts val="304"/>
              </a:spcBef>
              <a:spcAft>
                <a:spcPts val="0"/>
              </a:spcAft>
              <a:buClr>
                <a:schemeClr val="dk1"/>
              </a:buClr>
              <a:buSzPct val="100000"/>
              <a:buChar char="•"/>
            </a:pPr>
            <a:r>
              <a:rPr b="1" lang="fi-FI"/>
              <a:t>Steps</a:t>
            </a:r>
            <a:r>
              <a:rPr lang="fi-FI"/>
              <a:t>:</a:t>
            </a:r>
            <a:endParaRPr/>
          </a:p>
          <a:p>
            <a:pPr indent="-514350" lvl="1" marL="971550" rtl="0" algn="l">
              <a:spcBef>
                <a:spcPts val="266"/>
              </a:spcBef>
              <a:spcAft>
                <a:spcPts val="0"/>
              </a:spcAft>
              <a:buClr>
                <a:schemeClr val="dk1"/>
              </a:buClr>
              <a:buSzPct val="100000"/>
              <a:buFont typeface="Gill Sans"/>
              <a:buAutoNum type="arabicPeriod"/>
            </a:pPr>
            <a:r>
              <a:rPr lang="fi-FI"/>
              <a:t>User 1 starts Microsoft Office Outlook</a:t>
            </a:r>
            <a:endParaRPr/>
          </a:p>
          <a:p>
            <a:pPr indent="-514350" lvl="1" marL="971550" rtl="0" algn="l">
              <a:spcBef>
                <a:spcPts val="266"/>
              </a:spcBef>
              <a:spcAft>
                <a:spcPts val="0"/>
              </a:spcAft>
              <a:buClr>
                <a:schemeClr val="dk1"/>
              </a:buClr>
              <a:buSzPct val="100000"/>
              <a:buFont typeface="Gill Sans"/>
              <a:buAutoNum type="arabicPeriod"/>
            </a:pPr>
            <a:r>
              <a:rPr lang="fi-FI"/>
              <a:t>On the Tools menu, click options, then click the Security tab</a:t>
            </a:r>
            <a:endParaRPr/>
          </a:p>
          <a:p>
            <a:pPr indent="-514350" lvl="1" marL="971550" rtl="0" algn="l">
              <a:spcBef>
                <a:spcPts val="266"/>
              </a:spcBef>
              <a:spcAft>
                <a:spcPts val="0"/>
              </a:spcAft>
              <a:buClr>
                <a:schemeClr val="dk1"/>
              </a:buClr>
              <a:buSzPct val="100000"/>
              <a:buFont typeface="Gill Sans"/>
              <a:buAutoNum type="arabicPeriod"/>
            </a:pPr>
            <a:r>
              <a:rPr lang="fi-FI"/>
              <a:t>Ensure that the Send clear text signed message when sending signed messages option is selected</a:t>
            </a:r>
            <a:endParaRPr/>
          </a:p>
          <a:p>
            <a:pPr indent="-514350" lvl="1" marL="971550" rtl="0" algn="l">
              <a:spcBef>
                <a:spcPts val="266"/>
              </a:spcBef>
              <a:spcAft>
                <a:spcPts val="0"/>
              </a:spcAft>
              <a:buClr>
                <a:schemeClr val="dk1"/>
              </a:buClr>
              <a:buSzPct val="100000"/>
              <a:buFont typeface="Gill Sans"/>
              <a:buAutoNum type="arabicPeriod"/>
            </a:pPr>
            <a:r>
              <a:rPr lang="fi-FI"/>
              <a:t>Ensure v3 certificates are properly set up</a:t>
            </a:r>
            <a:endParaRPr/>
          </a:p>
          <a:p>
            <a:pPr indent="-514350" lvl="1" marL="971550" rtl="0" algn="l">
              <a:spcBef>
                <a:spcPts val="266"/>
              </a:spcBef>
              <a:spcAft>
                <a:spcPts val="0"/>
              </a:spcAft>
              <a:buClr>
                <a:schemeClr val="dk1"/>
              </a:buClr>
              <a:buSzPct val="100000"/>
              <a:buFont typeface="Gill Sans"/>
              <a:buAutoNum type="arabicPeriod"/>
            </a:pPr>
            <a:r>
              <a:rPr lang="fi-FI"/>
              <a:t>Click OK</a:t>
            </a:r>
            <a:endParaRPr/>
          </a:p>
          <a:p>
            <a:pPr indent="-514350" lvl="1" marL="971550" rtl="0" algn="l">
              <a:spcBef>
                <a:spcPts val="266"/>
              </a:spcBef>
              <a:spcAft>
                <a:spcPts val="0"/>
              </a:spcAft>
              <a:buClr>
                <a:schemeClr val="dk1"/>
              </a:buClr>
              <a:buSzPct val="100000"/>
              <a:buFont typeface="Gill Sans"/>
              <a:buAutoNum type="arabicPeriod"/>
            </a:pPr>
            <a:r>
              <a:rPr lang="fi-FI"/>
              <a:t>Open a new message, give it a subject ”foo” and body of ”bar”</a:t>
            </a:r>
            <a:endParaRPr/>
          </a:p>
          <a:p>
            <a:pPr indent="-514350" lvl="1" marL="971550" rtl="0" algn="l">
              <a:spcBef>
                <a:spcPts val="266"/>
              </a:spcBef>
              <a:spcAft>
                <a:spcPts val="0"/>
              </a:spcAft>
              <a:buClr>
                <a:schemeClr val="dk1"/>
              </a:buClr>
              <a:buSzPct val="100000"/>
              <a:buFont typeface="Gill Sans"/>
              <a:buAutoNum type="arabicPeriod"/>
            </a:pPr>
            <a:r>
              <a:rPr lang="fi-FI"/>
              <a:t>Address and send message to User 2</a:t>
            </a:r>
            <a:endParaRPr/>
          </a:p>
          <a:p>
            <a:pPr indent="-514350" lvl="1" marL="971550" rtl="0" algn="l">
              <a:spcBef>
                <a:spcPts val="266"/>
              </a:spcBef>
              <a:spcAft>
                <a:spcPts val="0"/>
              </a:spcAft>
              <a:buClr>
                <a:schemeClr val="dk1"/>
              </a:buClr>
              <a:buSzPct val="100000"/>
              <a:buFont typeface="Gill Sans"/>
              <a:buAutoNum type="arabicPeriod"/>
            </a:pPr>
            <a:r>
              <a:rPr lang="fi-FI"/>
              <a:t>On another computer, start Outlook with User 2 account</a:t>
            </a:r>
            <a:endParaRPr/>
          </a:p>
          <a:p>
            <a:pPr indent="-342900" lvl="0" marL="342900" rtl="0" algn="l">
              <a:spcBef>
                <a:spcPts val="304"/>
              </a:spcBef>
              <a:spcAft>
                <a:spcPts val="0"/>
              </a:spcAft>
              <a:buClr>
                <a:schemeClr val="dk1"/>
              </a:buClr>
              <a:buSzPct val="100000"/>
              <a:buChar char="•"/>
            </a:pPr>
            <a:r>
              <a:rPr b="1" lang="fi-FI"/>
              <a:t>Verify</a:t>
            </a:r>
            <a:r>
              <a:rPr lang="fi-FI"/>
              <a:t>:</a:t>
            </a:r>
            <a:endParaRPr/>
          </a:p>
          <a:p>
            <a:pPr indent="-285750" lvl="1" marL="742950" rtl="0" algn="l">
              <a:spcBef>
                <a:spcPts val="266"/>
              </a:spcBef>
              <a:spcAft>
                <a:spcPts val="0"/>
              </a:spcAft>
              <a:buClr>
                <a:schemeClr val="dk1"/>
              </a:buClr>
              <a:buSzPct val="100000"/>
              <a:buChar char="–"/>
            </a:pPr>
            <a:r>
              <a:rPr lang="fi-FI"/>
              <a:t>The encrypted message has been received in the inbox and can be opened by user2</a:t>
            </a:r>
            <a:endParaRPr/>
          </a:p>
          <a:p>
            <a:pPr indent="-285750" lvl="1" marL="742950" rtl="0" algn="l">
              <a:spcBef>
                <a:spcPts val="266"/>
              </a:spcBef>
              <a:spcAft>
                <a:spcPts val="0"/>
              </a:spcAft>
              <a:buClr>
                <a:schemeClr val="dk1"/>
              </a:buClr>
              <a:buSzPct val="100000"/>
              <a:buChar char="–"/>
            </a:pPr>
            <a:r>
              <a:rPr lang="fi-FI"/>
              <a:t>The subject and body text are ”foo” and ”bar”, respectively</a:t>
            </a:r>
            <a:endParaRPr/>
          </a:p>
        </p:txBody>
      </p:sp>
      <p:sp>
        <p:nvSpPr>
          <p:cNvPr id="596" name="Google Shape;596;p30"/>
          <p:cNvSpPr txBox="1"/>
          <p:nvPr/>
        </p:nvSpPr>
        <p:spPr>
          <a:xfrm>
            <a:off x="304800" y="5715000"/>
            <a:ext cx="3429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”Each step is numbered. This is a best practice”</a:t>
            </a:r>
            <a:endParaRPr sz="1800">
              <a:solidFill>
                <a:schemeClr val="dk1"/>
              </a:solidFill>
              <a:latin typeface="Gill Sans"/>
              <a:ea typeface="Gill Sans"/>
              <a:cs typeface="Gill Sans"/>
              <a:sym typeface="Gill Sans"/>
            </a:endParaRPr>
          </a:p>
        </p:txBody>
      </p:sp>
      <p:sp>
        <p:nvSpPr>
          <p:cNvPr id="597" name="Google Shape;597;p30"/>
          <p:cNvSpPr txBox="1"/>
          <p:nvPr/>
        </p:nvSpPr>
        <p:spPr>
          <a:xfrm>
            <a:off x="5004048" y="5678269"/>
            <a:ext cx="3758952" cy="646331"/>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Just for the record: I don’t share the view of the authors here</a:t>
            </a:r>
            <a:endParaRPr sz="1800">
              <a:solidFill>
                <a:schemeClr val="lt1"/>
              </a:solidFill>
              <a:latin typeface="Gill Sans"/>
              <a:ea typeface="Gill Sans"/>
              <a:cs typeface="Gill Sans"/>
              <a:sym typeface="Gill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Esimerkki: Testien dokumentoinnin skaaloja</a:t>
            </a:r>
            <a:endParaRPr/>
          </a:p>
        </p:txBody>
      </p:sp>
      <p:grpSp>
        <p:nvGrpSpPr>
          <p:cNvPr id="604" name="Google Shape;604;p31"/>
          <p:cNvGrpSpPr/>
          <p:nvPr/>
        </p:nvGrpSpPr>
        <p:grpSpPr>
          <a:xfrm>
            <a:off x="4786314" y="1055682"/>
            <a:ext cx="3886192" cy="1015996"/>
            <a:chOff x="4805378" y="2189158"/>
            <a:chExt cx="3886192" cy="1015996"/>
          </a:xfrm>
        </p:grpSpPr>
        <p:sp>
          <p:nvSpPr>
            <p:cNvPr id="605" name="Google Shape;605;p31"/>
            <p:cNvSpPr/>
            <p:nvPr/>
          </p:nvSpPr>
          <p:spPr>
            <a:xfrm>
              <a:off x="5643570" y="2214554"/>
              <a:ext cx="3048000" cy="990600"/>
            </a:xfrm>
            <a:prstGeom prst="rect">
              <a:avLst/>
            </a:prstGeom>
            <a:solidFill>
              <a:schemeClr val="lt2">
                <a:alpha val="49803"/>
              </a:schemeClr>
            </a:solidFill>
            <a:ln>
              <a:noFill/>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06" name="Google Shape;606;p31"/>
            <p:cNvSpPr/>
            <p:nvPr/>
          </p:nvSpPr>
          <p:spPr>
            <a:xfrm>
              <a:off x="6786570" y="2290754"/>
              <a:ext cx="1828800" cy="152400"/>
            </a:xfrm>
            <a:prstGeom prst="rect">
              <a:avLst/>
            </a:prstGeom>
            <a:noFill/>
            <a:ln cap="flat" cmpd="sng" w="1270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07" name="Google Shape;607;p31"/>
            <p:cNvSpPr/>
            <p:nvPr/>
          </p:nvSpPr>
          <p:spPr>
            <a:xfrm>
              <a:off x="6786570" y="2519354"/>
              <a:ext cx="1828800" cy="152400"/>
            </a:xfrm>
            <a:prstGeom prst="rect">
              <a:avLst/>
            </a:prstGeom>
            <a:noFill/>
            <a:ln cap="flat" cmpd="sng" w="1270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608" name="Google Shape;608;p31"/>
            <p:cNvSpPr/>
            <p:nvPr/>
          </p:nvSpPr>
          <p:spPr>
            <a:xfrm>
              <a:off x="6938970" y="2824154"/>
              <a:ext cx="609600" cy="304800"/>
            </a:xfrm>
            <a:prstGeom prst="rect">
              <a:avLst/>
            </a:prstGeom>
            <a:noFill/>
            <a:ln cap="flat" cmpd="sng" w="1270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Login</a:t>
              </a:r>
              <a:endParaRPr/>
            </a:p>
          </p:txBody>
        </p:sp>
        <p:sp>
          <p:nvSpPr>
            <p:cNvPr id="609" name="Google Shape;609;p31"/>
            <p:cNvSpPr/>
            <p:nvPr/>
          </p:nvSpPr>
          <p:spPr>
            <a:xfrm>
              <a:off x="7700970" y="2824154"/>
              <a:ext cx="609600" cy="304800"/>
            </a:xfrm>
            <a:prstGeom prst="rect">
              <a:avLst/>
            </a:prstGeom>
            <a:noFill/>
            <a:ln cap="flat" cmpd="sng" w="1270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Clear</a:t>
              </a:r>
              <a:endParaRPr/>
            </a:p>
          </p:txBody>
        </p:sp>
        <p:sp>
          <p:nvSpPr>
            <p:cNvPr id="610" name="Google Shape;610;p31"/>
            <p:cNvSpPr txBox="1"/>
            <p:nvPr/>
          </p:nvSpPr>
          <p:spPr>
            <a:xfrm>
              <a:off x="4805378" y="2189158"/>
              <a:ext cx="1981200" cy="340735"/>
            </a:xfrm>
            <a:prstGeom prst="rect">
              <a:avLst/>
            </a:prstGeom>
            <a:noFill/>
            <a:ln>
              <a:noFill/>
            </a:ln>
          </p:spPr>
          <p:txBody>
            <a:bodyPr anchorCtr="0" anchor="t" bIns="46800" lIns="90000" spcFirstLastPara="1" rIns="90000" wrap="square" tIns="46800">
              <a:spAutoFit/>
            </a:bodyPr>
            <a:lstStyle/>
            <a:p>
              <a:pPr indent="0" lvl="0" marL="0" marR="0" rtl="0" algn="r">
                <a:spcBef>
                  <a:spcPts val="0"/>
                </a:spcBef>
                <a:spcAft>
                  <a:spcPts val="0"/>
                </a:spcAft>
                <a:buNone/>
              </a:pPr>
              <a:r>
                <a:rPr lang="fi-FI" sz="1600">
                  <a:solidFill>
                    <a:schemeClr val="dk1"/>
                  </a:solidFill>
                  <a:latin typeface="Gill Sans"/>
                  <a:ea typeface="Gill Sans"/>
                  <a:cs typeface="Gill Sans"/>
                  <a:sym typeface="Gill Sans"/>
                </a:rPr>
                <a:t>UserID</a:t>
              </a:r>
              <a:endParaRPr sz="1600">
                <a:solidFill>
                  <a:schemeClr val="dk1"/>
                </a:solidFill>
                <a:latin typeface="Gill Sans"/>
                <a:ea typeface="Gill Sans"/>
                <a:cs typeface="Gill Sans"/>
                <a:sym typeface="Gill Sans"/>
              </a:endParaRPr>
            </a:p>
          </p:txBody>
        </p:sp>
        <p:sp>
          <p:nvSpPr>
            <p:cNvPr id="611" name="Google Shape;611;p31"/>
            <p:cNvSpPr txBox="1"/>
            <p:nvPr/>
          </p:nvSpPr>
          <p:spPr>
            <a:xfrm>
              <a:off x="4805378" y="2449508"/>
              <a:ext cx="1981200" cy="340735"/>
            </a:xfrm>
            <a:prstGeom prst="rect">
              <a:avLst/>
            </a:prstGeom>
            <a:noFill/>
            <a:ln>
              <a:noFill/>
            </a:ln>
          </p:spPr>
          <p:txBody>
            <a:bodyPr anchorCtr="0" anchor="t" bIns="46800" lIns="90000" spcFirstLastPara="1" rIns="90000" wrap="square" tIns="46800">
              <a:spAutoFit/>
            </a:bodyPr>
            <a:lstStyle/>
            <a:p>
              <a:pPr indent="0" lvl="0" marL="0" marR="0" rtl="0" algn="r">
                <a:spcBef>
                  <a:spcPts val="0"/>
                </a:spcBef>
                <a:spcAft>
                  <a:spcPts val="0"/>
                </a:spcAft>
                <a:buNone/>
              </a:pPr>
              <a:r>
                <a:rPr lang="fi-FI" sz="1600">
                  <a:solidFill>
                    <a:schemeClr val="dk1"/>
                  </a:solidFill>
                  <a:latin typeface="Gill Sans"/>
                  <a:ea typeface="Gill Sans"/>
                  <a:cs typeface="Gill Sans"/>
                  <a:sym typeface="Gill Sans"/>
                </a:rPr>
                <a:t>Password</a:t>
              </a:r>
              <a:endParaRPr sz="1600">
                <a:solidFill>
                  <a:schemeClr val="dk1"/>
                </a:solidFill>
                <a:latin typeface="Gill Sans"/>
                <a:ea typeface="Gill Sans"/>
                <a:cs typeface="Gill Sans"/>
                <a:sym typeface="Gill Sans"/>
              </a:endParaRPr>
            </a:p>
          </p:txBody>
        </p:sp>
      </p:grpSp>
      <p:sp>
        <p:nvSpPr>
          <p:cNvPr id="612" name="Google Shape;612;p31"/>
          <p:cNvSpPr txBox="1"/>
          <p:nvPr/>
        </p:nvSpPr>
        <p:spPr>
          <a:xfrm>
            <a:off x="428596" y="1412776"/>
            <a:ext cx="171451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i-FI" sz="1800">
                <a:solidFill>
                  <a:schemeClr val="dk1"/>
                </a:solidFill>
                <a:latin typeface="Gill Sans"/>
                <a:ea typeface="Gill Sans"/>
                <a:cs typeface="Gill Sans"/>
                <a:sym typeface="Gill Sans"/>
              </a:rPr>
              <a:t>Pure Scripted</a:t>
            </a:r>
            <a:endParaRPr b="1" sz="1800">
              <a:solidFill>
                <a:schemeClr val="dk1"/>
              </a:solidFill>
              <a:latin typeface="Gill Sans"/>
              <a:ea typeface="Gill Sans"/>
              <a:cs typeface="Gill Sans"/>
              <a:sym typeface="Gill Sans"/>
            </a:endParaRPr>
          </a:p>
        </p:txBody>
      </p:sp>
      <p:sp>
        <p:nvSpPr>
          <p:cNvPr id="613" name="Google Shape;613;p31"/>
          <p:cNvSpPr txBox="1"/>
          <p:nvPr/>
        </p:nvSpPr>
        <p:spPr>
          <a:xfrm>
            <a:off x="3000364" y="2267580"/>
            <a:ext cx="257176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i-FI" sz="1800">
                <a:solidFill>
                  <a:schemeClr val="dk1"/>
                </a:solidFill>
                <a:latin typeface="Gill Sans"/>
                <a:ea typeface="Gill Sans"/>
                <a:cs typeface="Gill Sans"/>
                <a:sym typeface="Gill Sans"/>
              </a:rPr>
              <a:t>Generic (Vague) Scripts</a:t>
            </a:r>
            <a:endParaRPr b="1" sz="1800">
              <a:solidFill>
                <a:schemeClr val="dk1"/>
              </a:solidFill>
              <a:latin typeface="Gill Sans"/>
              <a:ea typeface="Gill Sans"/>
              <a:cs typeface="Gill Sans"/>
              <a:sym typeface="Gill Sans"/>
            </a:endParaRPr>
          </a:p>
        </p:txBody>
      </p:sp>
      <p:sp>
        <p:nvSpPr>
          <p:cNvPr id="614" name="Google Shape;614;p31"/>
          <p:cNvSpPr txBox="1"/>
          <p:nvPr/>
        </p:nvSpPr>
        <p:spPr>
          <a:xfrm>
            <a:off x="5857884" y="2897900"/>
            <a:ext cx="257176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i-FI" sz="1800">
                <a:solidFill>
                  <a:schemeClr val="dk1"/>
                </a:solidFill>
                <a:latin typeface="Gill Sans"/>
                <a:ea typeface="Gill Sans"/>
                <a:cs typeface="Gill Sans"/>
                <a:sym typeface="Gill Sans"/>
              </a:rPr>
              <a:t>Checklist</a:t>
            </a:r>
            <a:endParaRPr b="1" sz="1800">
              <a:solidFill>
                <a:schemeClr val="dk1"/>
              </a:solidFill>
              <a:latin typeface="Gill Sans"/>
              <a:ea typeface="Gill Sans"/>
              <a:cs typeface="Gill Sans"/>
              <a:sym typeface="Gill Sans"/>
            </a:endParaRPr>
          </a:p>
        </p:txBody>
      </p:sp>
      <p:sp>
        <p:nvSpPr>
          <p:cNvPr id="615" name="Google Shape;615;p31"/>
          <p:cNvSpPr/>
          <p:nvPr/>
        </p:nvSpPr>
        <p:spPr>
          <a:xfrm>
            <a:off x="6429388" y="3255090"/>
            <a:ext cx="2857520" cy="338862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Input fields:</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Valid data</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Invalid data</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Length &gt; max</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Length = max +1</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Length = max</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Length = max –1</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Combinations of above</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a:t>
            </a:r>
            <a:endParaRPr/>
          </a:p>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Actions:</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Keyboard</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Buttons</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a:t>
            </a:r>
            <a:endParaRPr b="0" i="0" sz="1400" u="none" cap="none" strike="noStrike">
              <a:solidFill>
                <a:schemeClr val="dk1"/>
              </a:solidFill>
              <a:latin typeface="Gill Sans"/>
              <a:ea typeface="Gill Sans"/>
              <a:cs typeface="Gill Sans"/>
              <a:sym typeface="Gill Sans"/>
            </a:endParaRPr>
          </a:p>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Operations:</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Add, Modify, Inquiry, Delete</a:t>
            </a:r>
            <a:endParaRPr/>
          </a:p>
          <a:p>
            <a:pPr indent="0" lvl="2" marL="9144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What to test for each…</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a:t>
            </a:r>
            <a:endParaRPr/>
          </a:p>
        </p:txBody>
      </p:sp>
      <p:sp>
        <p:nvSpPr>
          <p:cNvPr id="616" name="Google Shape;616;p31"/>
          <p:cNvSpPr/>
          <p:nvPr/>
        </p:nvSpPr>
        <p:spPr>
          <a:xfrm>
            <a:off x="3000364" y="2857496"/>
            <a:ext cx="2928942" cy="280692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Sample generic test script 1:</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Launch the Login screen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valid UserID</a:t>
            </a:r>
            <a:endParaRPr b="0" i="0" sz="1400" u="none" cap="none" strike="noStrike">
              <a:solidFill>
                <a:schemeClr val="dk1"/>
              </a:solidFill>
              <a:latin typeface="Gill Sans"/>
              <a:ea typeface="Gill Sans"/>
              <a:cs typeface="Gill Sans"/>
              <a:sym typeface="Gill Sans"/>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valid Password</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Press &lt;Enter&gt; or click button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Expected result: login ok</a:t>
            </a:r>
            <a:endParaRPr/>
          </a:p>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Sample generic test script 2:</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Launch the Login screen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invalid UserId</a:t>
            </a:r>
            <a:endParaRPr b="0" i="0" sz="1400" u="none" cap="none" strike="noStrike">
              <a:solidFill>
                <a:schemeClr val="dk1"/>
              </a:solidFill>
              <a:latin typeface="Gill Sans"/>
              <a:ea typeface="Gill Sans"/>
              <a:cs typeface="Gill Sans"/>
              <a:sym typeface="Gill Sans"/>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valid Password</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Press &lt;Enter&gt; or click button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Expected result: </a:t>
            </a:r>
            <a:br>
              <a:rPr b="0" i="0" lang="fi-FI" sz="1400" u="none" cap="none" strike="noStrike">
                <a:solidFill>
                  <a:schemeClr val="dk1"/>
                </a:solidFill>
                <a:latin typeface="Gill Sans"/>
                <a:ea typeface="Gill Sans"/>
                <a:cs typeface="Gill Sans"/>
                <a:sym typeface="Gill Sans"/>
              </a:rPr>
            </a:br>
            <a:r>
              <a:rPr b="0" i="0" lang="fi-FI" sz="1400" u="none" cap="none" strike="noStrike">
                <a:solidFill>
                  <a:schemeClr val="dk1"/>
                </a:solidFill>
                <a:latin typeface="Gill Sans"/>
                <a:ea typeface="Gill Sans"/>
                <a:cs typeface="Gill Sans"/>
                <a:sym typeface="Gill Sans"/>
              </a:rPr>
              <a:t>login rejected</a:t>
            </a:r>
            <a:endParaRPr/>
          </a:p>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a:t>
            </a:r>
            <a:endParaRPr sz="1400">
              <a:solidFill>
                <a:schemeClr val="dk1"/>
              </a:solidFill>
              <a:latin typeface="Gill Sans"/>
              <a:ea typeface="Gill Sans"/>
              <a:cs typeface="Gill Sans"/>
              <a:sym typeface="Gill Sans"/>
            </a:endParaRPr>
          </a:p>
        </p:txBody>
      </p:sp>
      <p:sp>
        <p:nvSpPr>
          <p:cNvPr id="617" name="Google Shape;617;p31"/>
          <p:cNvSpPr/>
          <p:nvPr/>
        </p:nvSpPr>
        <p:spPr>
          <a:xfrm>
            <a:off x="214282" y="1989648"/>
            <a:ext cx="2714644" cy="474591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Sample test script 1:</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Launch the Login screen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UserId: “abc”</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Password: “xyz”</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Press &lt;Enter&gt;</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Expected result: login ok</a:t>
            </a:r>
            <a:endParaRPr/>
          </a:p>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Sample test script 2:</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Launch the Login screen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UserId: “abc”</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Password: “xyz”</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Click the “Login” button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Expected result: login ok</a:t>
            </a:r>
            <a:endParaRPr/>
          </a:p>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Sample test script 3:</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Launch the Login screen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UserId: “”</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Password: “xyz”</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Press &lt;Enter&gt;</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Expected: login rejected</a:t>
            </a:r>
            <a:endParaRPr/>
          </a:p>
          <a:p>
            <a:pPr indent="0" lvl="0" marL="0" marR="0" rtl="0" algn="l">
              <a:lnSpc>
                <a:spcPct val="90000"/>
              </a:lnSpc>
              <a:spcBef>
                <a:spcPts val="0"/>
              </a:spcBef>
              <a:spcAft>
                <a:spcPts val="0"/>
              </a:spcAft>
              <a:buNone/>
            </a:pPr>
            <a:r>
              <a:rPr lang="fi-FI" sz="1400">
                <a:solidFill>
                  <a:schemeClr val="dk1"/>
                </a:solidFill>
                <a:latin typeface="Gill Sans"/>
                <a:ea typeface="Gill Sans"/>
                <a:cs typeface="Gill Sans"/>
                <a:sym typeface="Gill Sans"/>
              </a:rPr>
              <a:t>Sample test script 4:</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Launch the Login screen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UserId: “”</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Enter Password: “xyz”</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Click the “Login” button</a:t>
            </a:r>
            <a:endParaRPr/>
          </a:p>
          <a:p>
            <a:pPr indent="0" lvl="1" marL="457200" marR="0" rtl="0" algn="l">
              <a:lnSpc>
                <a:spcPct val="90000"/>
              </a:lnSpc>
              <a:spcBef>
                <a:spcPts val="0"/>
              </a:spcBef>
              <a:spcAft>
                <a:spcPts val="0"/>
              </a:spcAft>
              <a:buNone/>
            </a:pPr>
            <a:r>
              <a:rPr b="0" i="0" lang="fi-FI" sz="1400" u="none" cap="none" strike="noStrike">
                <a:solidFill>
                  <a:schemeClr val="dk1"/>
                </a:solidFill>
                <a:latin typeface="Gill Sans"/>
                <a:ea typeface="Gill Sans"/>
                <a:cs typeface="Gill Sans"/>
                <a:sym typeface="Gill Sans"/>
              </a:rPr>
              <a:t>Expected: login rejected</a:t>
            </a:r>
            <a:endParaRPr b="0" i="0" sz="1400" u="none" cap="none" strike="noStrike">
              <a:solidFill>
                <a:schemeClr val="dk1"/>
              </a:solidFill>
              <a:latin typeface="Gill Sans"/>
              <a:ea typeface="Gill Sans"/>
              <a:cs typeface="Gill Sans"/>
              <a:sym typeface="Gill Sans"/>
            </a:endParaRPr>
          </a:p>
        </p:txBody>
      </p:sp>
      <p:cxnSp>
        <p:nvCxnSpPr>
          <p:cNvPr id="618" name="Google Shape;618;p31"/>
          <p:cNvCxnSpPr/>
          <p:nvPr/>
        </p:nvCxnSpPr>
        <p:spPr>
          <a:xfrm rot="5400000">
            <a:off x="928662" y="4143380"/>
            <a:ext cx="4000528" cy="1588"/>
          </a:xfrm>
          <a:prstGeom prst="straightConnector1">
            <a:avLst/>
          </a:prstGeom>
          <a:noFill/>
          <a:ln cap="flat" cmpd="sng" w="25400">
            <a:solidFill>
              <a:schemeClr val="accent6"/>
            </a:solidFill>
            <a:prstDash val="lgDashDot"/>
            <a:round/>
            <a:headEnd len="sm" w="sm" type="none"/>
            <a:tailEnd len="sm" w="sm" type="none"/>
          </a:ln>
          <a:effectLst>
            <a:outerShdw blurRad="40000" rotWithShape="0" dir="5400000" dist="20000">
              <a:srgbClr val="000000">
                <a:alpha val="37647"/>
              </a:srgbClr>
            </a:outerShdw>
          </a:effectLst>
        </p:spPr>
      </p:cxnSp>
      <p:cxnSp>
        <p:nvCxnSpPr>
          <p:cNvPr id="619" name="Google Shape;619;p31"/>
          <p:cNvCxnSpPr/>
          <p:nvPr/>
        </p:nvCxnSpPr>
        <p:spPr>
          <a:xfrm rot="5400000">
            <a:off x="4322761" y="4535495"/>
            <a:ext cx="3500462" cy="1588"/>
          </a:xfrm>
          <a:prstGeom prst="straightConnector1">
            <a:avLst/>
          </a:prstGeom>
          <a:noFill/>
          <a:ln cap="flat" cmpd="sng" w="25400">
            <a:solidFill>
              <a:schemeClr val="accent6"/>
            </a:solidFill>
            <a:prstDash val="lgDashDot"/>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Example: Spyware Update Tests</a:t>
            </a:r>
            <a:endParaRPr/>
          </a:p>
        </p:txBody>
      </p:sp>
      <p:sp>
        <p:nvSpPr>
          <p:cNvPr id="626" name="Google Shape;626;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88900" lvl="0" marL="0" rtl="0" algn="l">
              <a:lnSpc>
                <a:spcPct val="110000"/>
              </a:lnSpc>
              <a:spcBef>
                <a:spcPts val="0"/>
              </a:spcBef>
              <a:spcAft>
                <a:spcPts val="0"/>
              </a:spcAft>
              <a:buClr>
                <a:schemeClr val="dk1"/>
              </a:buClr>
              <a:buSzPts val="1400"/>
              <a:buChar char="•"/>
            </a:pPr>
            <a:r>
              <a:rPr b="1" lang="fi-FI" sz="1400"/>
              <a:t>Integrity tests</a:t>
            </a:r>
            <a:endParaRPr/>
          </a:p>
          <a:p>
            <a:pPr indent="-88900" lvl="0" marL="0" rtl="0" algn="l">
              <a:lnSpc>
                <a:spcPct val="110000"/>
              </a:lnSpc>
              <a:spcBef>
                <a:spcPts val="280"/>
              </a:spcBef>
              <a:spcAft>
                <a:spcPts val="0"/>
              </a:spcAft>
              <a:buClr>
                <a:schemeClr val="dk1"/>
              </a:buClr>
              <a:buSzPts val="1400"/>
              <a:buChar char="•"/>
            </a:pPr>
            <a:r>
              <a:rPr lang="fi-FI" sz="1400"/>
              <a:t>INT-001 - The update is not corrupted</a:t>
            </a:r>
            <a:endParaRPr/>
          </a:p>
          <a:p>
            <a:pPr indent="-88900" lvl="0" marL="0" rtl="0" algn="l">
              <a:lnSpc>
                <a:spcPct val="110000"/>
              </a:lnSpc>
              <a:spcBef>
                <a:spcPts val="280"/>
              </a:spcBef>
              <a:spcAft>
                <a:spcPts val="0"/>
              </a:spcAft>
              <a:buClr>
                <a:schemeClr val="dk1"/>
              </a:buClr>
              <a:buSzPts val="1400"/>
              <a:buChar char="•"/>
            </a:pPr>
            <a:r>
              <a:rPr lang="fi-FI" sz="1400"/>
              <a:t>INT-002 - Signatures in the differential update are consistent to what database informs</a:t>
            </a:r>
            <a:endParaRPr/>
          </a:p>
          <a:p>
            <a:pPr indent="-88900" lvl="0" marL="0" rtl="0" algn="l">
              <a:lnSpc>
                <a:spcPct val="110000"/>
              </a:lnSpc>
              <a:spcBef>
                <a:spcPts val="280"/>
              </a:spcBef>
              <a:spcAft>
                <a:spcPts val="0"/>
              </a:spcAft>
              <a:buClr>
                <a:schemeClr val="dk1"/>
              </a:buClr>
              <a:buSzPts val="1400"/>
              <a:buChar char="•"/>
            </a:pPr>
            <a:r>
              <a:rPr lang="fi-FI" sz="1400"/>
              <a:t>INT-003 - Internal version number is higher than the previous update</a:t>
            </a:r>
            <a:endParaRPr/>
          </a:p>
          <a:p>
            <a:pPr indent="-88900" lvl="0" marL="0" rtl="0" algn="l">
              <a:lnSpc>
                <a:spcPct val="110000"/>
              </a:lnSpc>
              <a:spcBef>
                <a:spcPts val="280"/>
              </a:spcBef>
              <a:spcAft>
                <a:spcPts val="0"/>
              </a:spcAft>
              <a:buClr>
                <a:schemeClr val="dk1"/>
              </a:buClr>
              <a:buSzPts val="1400"/>
              <a:buChar char="•"/>
            </a:pPr>
            <a:r>
              <a:rPr lang="fi-FI" sz="1400"/>
              <a:t>INT-004 - Internal version number matches the expected database version</a:t>
            </a:r>
            <a:endParaRPr/>
          </a:p>
          <a:p>
            <a:pPr indent="-88900" lvl="0" marL="0" rtl="0" algn="l">
              <a:lnSpc>
                <a:spcPct val="110000"/>
              </a:lnSpc>
              <a:spcBef>
                <a:spcPts val="280"/>
              </a:spcBef>
              <a:spcAft>
                <a:spcPts val="0"/>
              </a:spcAft>
              <a:buClr>
                <a:schemeClr val="dk1"/>
              </a:buClr>
              <a:buSzPts val="1400"/>
              <a:buChar char="•"/>
            </a:pPr>
            <a:r>
              <a:rPr lang="fi-FI" sz="1400"/>
              <a:t>INT-005 - Database is signed properly</a:t>
            </a:r>
            <a:endParaRPr/>
          </a:p>
          <a:p>
            <a:pPr indent="-88900" lvl="0" marL="0" rtl="0" algn="l">
              <a:lnSpc>
                <a:spcPct val="110000"/>
              </a:lnSpc>
              <a:spcBef>
                <a:spcPts val="280"/>
              </a:spcBef>
              <a:spcAft>
                <a:spcPts val="0"/>
              </a:spcAft>
              <a:buClr>
                <a:schemeClr val="dk1"/>
              </a:buClr>
              <a:buSzPts val="1400"/>
              <a:buChar char="•"/>
            </a:pPr>
            <a:r>
              <a:rPr lang="fi-FI" sz="1400"/>
              <a:t>INT-006 - Previous differentials have not been altered during update construction</a:t>
            </a:r>
            <a:endParaRPr/>
          </a:p>
          <a:p>
            <a:pPr indent="-88900" lvl="0" marL="0" rtl="0" algn="l">
              <a:lnSpc>
                <a:spcPct val="110000"/>
              </a:lnSpc>
              <a:spcBef>
                <a:spcPts val="280"/>
              </a:spcBef>
              <a:spcAft>
                <a:spcPts val="0"/>
              </a:spcAft>
              <a:buClr>
                <a:schemeClr val="dk1"/>
              </a:buClr>
              <a:buSzPts val="1400"/>
              <a:buChar char="•"/>
            </a:pPr>
            <a:r>
              <a:rPr b="1" lang="fi-FI" sz="1400"/>
              <a:t>Performance tests</a:t>
            </a:r>
            <a:endParaRPr/>
          </a:p>
          <a:p>
            <a:pPr indent="-88900" lvl="0" marL="0" rtl="0" algn="l">
              <a:lnSpc>
                <a:spcPct val="110000"/>
              </a:lnSpc>
              <a:spcBef>
                <a:spcPts val="280"/>
              </a:spcBef>
              <a:spcAft>
                <a:spcPts val="0"/>
              </a:spcAft>
              <a:buClr>
                <a:schemeClr val="dk1"/>
              </a:buClr>
              <a:buSzPts val="1400"/>
              <a:buChar char="•"/>
            </a:pPr>
            <a:r>
              <a:rPr lang="fi-FI" sz="1400"/>
              <a:t>PERF-001 - False positives test</a:t>
            </a:r>
            <a:endParaRPr/>
          </a:p>
          <a:p>
            <a:pPr indent="-88900" lvl="0" marL="0" rtl="0" algn="l">
              <a:lnSpc>
                <a:spcPct val="110000"/>
              </a:lnSpc>
              <a:spcBef>
                <a:spcPts val="280"/>
              </a:spcBef>
              <a:spcAft>
                <a:spcPts val="0"/>
              </a:spcAft>
              <a:buClr>
                <a:schemeClr val="dk1"/>
              </a:buClr>
              <a:buSzPts val="1400"/>
              <a:buChar char="•"/>
            </a:pPr>
            <a:r>
              <a:rPr lang="fi-FI" sz="1400"/>
              <a:t>PERF-002 - False negatives test</a:t>
            </a:r>
            <a:endParaRPr/>
          </a:p>
          <a:p>
            <a:pPr indent="-88900" lvl="0" marL="0" rtl="0" algn="l">
              <a:lnSpc>
                <a:spcPct val="110000"/>
              </a:lnSpc>
              <a:spcBef>
                <a:spcPts val="280"/>
              </a:spcBef>
              <a:spcAft>
                <a:spcPts val="0"/>
              </a:spcAft>
              <a:buClr>
                <a:schemeClr val="dk1"/>
              </a:buClr>
              <a:buSzPts val="1400"/>
              <a:buChar char="•"/>
            </a:pPr>
            <a:r>
              <a:rPr lang="fi-FI" sz="1400"/>
              <a:t>PERF-003 - Included signatures are found</a:t>
            </a:r>
            <a:endParaRPr/>
          </a:p>
          <a:p>
            <a:pPr indent="-88900" lvl="0" marL="0" rtl="0" algn="l">
              <a:lnSpc>
                <a:spcPct val="110000"/>
              </a:lnSpc>
              <a:spcBef>
                <a:spcPts val="280"/>
              </a:spcBef>
              <a:spcAft>
                <a:spcPts val="0"/>
              </a:spcAft>
              <a:buClr>
                <a:schemeClr val="dk1"/>
              </a:buClr>
              <a:buSzPts val="1400"/>
              <a:buChar char="•"/>
            </a:pPr>
            <a:r>
              <a:rPr b="1" lang="fi-FI" sz="1400"/>
              <a:t>Product tests</a:t>
            </a:r>
            <a:endParaRPr/>
          </a:p>
          <a:p>
            <a:pPr indent="-88900" lvl="0" marL="0" rtl="0" algn="l">
              <a:lnSpc>
                <a:spcPct val="110000"/>
              </a:lnSpc>
              <a:spcBef>
                <a:spcPts val="280"/>
              </a:spcBef>
              <a:spcAft>
                <a:spcPts val="0"/>
              </a:spcAft>
              <a:buClr>
                <a:schemeClr val="dk1"/>
              </a:buClr>
              <a:buSzPts val="1400"/>
              <a:buChar char="•"/>
            </a:pPr>
            <a:r>
              <a:rPr lang="fi-FI" sz="1400"/>
              <a:t>PROD-001 - Re-branded version accepts the update</a:t>
            </a:r>
            <a:endParaRPr/>
          </a:p>
          <a:p>
            <a:pPr indent="-88900" lvl="0" marL="0" rtl="0" algn="l">
              <a:lnSpc>
                <a:spcPct val="110000"/>
              </a:lnSpc>
              <a:spcBef>
                <a:spcPts val="280"/>
              </a:spcBef>
              <a:spcAft>
                <a:spcPts val="0"/>
              </a:spcAft>
              <a:buClr>
                <a:schemeClr val="dk1"/>
              </a:buClr>
              <a:buSzPts val="1400"/>
              <a:buChar char="•"/>
            </a:pPr>
            <a:r>
              <a:rPr lang="fi-FI" sz="1400"/>
              <a:t>PROD-002 - Re-branded version still works after the update</a:t>
            </a:r>
            <a:endParaRPr/>
          </a:p>
          <a:p>
            <a:pPr indent="-88900" lvl="0" marL="0" rtl="0" algn="l">
              <a:lnSpc>
                <a:spcPct val="110000"/>
              </a:lnSpc>
              <a:spcBef>
                <a:spcPts val="280"/>
              </a:spcBef>
              <a:spcAft>
                <a:spcPts val="0"/>
              </a:spcAft>
              <a:buClr>
                <a:schemeClr val="dk1"/>
              </a:buClr>
              <a:buSzPts val="1400"/>
              <a:buChar char="•"/>
            </a:pPr>
            <a:r>
              <a:rPr lang="fi-FI" sz="1400"/>
              <a:t>PROD-003 - Integrated version accepts the update</a:t>
            </a:r>
            <a:endParaRPr/>
          </a:p>
          <a:p>
            <a:pPr indent="-88900" lvl="0" marL="0" rtl="0" algn="l">
              <a:lnSpc>
                <a:spcPct val="110000"/>
              </a:lnSpc>
              <a:spcBef>
                <a:spcPts val="280"/>
              </a:spcBef>
              <a:spcAft>
                <a:spcPts val="0"/>
              </a:spcAft>
              <a:buClr>
                <a:schemeClr val="dk1"/>
              </a:buClr>
              <a:buSzPts val="1400"/>
              <a:buChar char="•"/>
            </a:pPr>
            <a:r>
              <a:rPr lang="fi-FI" sz="1400"/>
              <a:t>PROD-004 - Integrated version still works after the update</a:t>
            </a:r>
            <a:endParaRPr/>
          </a:p>
          <a:p>
            <a:pPr indent="-88900" lvl="0" marL="0" rtl="0" algn="l">
              <a:lnSpc>
                <a:spcPct val="110000"/>
              </a:lnSpc>
              <a:spcBef>
                <a:spcPts val="280"/>
              </a:spcBef>
              <a:spcAft>
                <a:spcPts val="0"/>
              </a:spcAft>
              <a:buClr>
                <a:schemeClr val="dk1"/>
              </a:buClr>
              <a:buSzPts val="1400"/>
              <a:buChar char="•"/>
            </a:pPr>
            <a:r>
              <a:rPr lang="fi-FI" sz="1400"/>
              <a:t>PROD-005 - Merged signatures are consistent with the provided full update</a:t>
            </a:r>
            <a:endParaRPr/>
          </a:p>
        </p:txBody>
      </p:sp>
      <p:sp>
        <p:nvSpPr>
          <p:cNvPr id="627" name="Google Shape;627;p32"/>
          <p:cNvSpPr/>
          <p:nvPr/>
        </p:nvSpPr>
        <p:spPr>
          <a:xfrm>
            <a:off x="6553200" y="3886200"/>
            <a:ext cx="2133600" cy="14478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Hyviä pikatarkistuksille aikaisin ja usein. </a:t>
            </a:r>
            <a:endParaRPr sz="1800">
              <a:solidFill>
                <a:schemeClr val="lt1"/>
              </a:solidFill>
              <a:latin typeface="Gill Sans"/>
              <a:ea typeface="Gill Sans"/>
              <a:cs typeface="Gill Sans"/>
              <a:sym typeface="Gill Sans"/>
            </a:endParaRPr>
          </a:p>
        </p:txBody>
      </p:sp>
      <p:sp>
        <p:nvSpPr>
          <p:cNvPr id="628" name="Google Shape;62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Example: Spyware Update Tests</a:t>
            </a:r>
            <a:endParaRPr/>
          </a:p>
        </p:txBody>
      </p:sp>
      <p:sp>
        <p:nvSpPr>
          <p:cNvPr id="635" name="Google Shape;635;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fi-FI" sz="2000"/>
              <a:t>4.1.1	Priority: 1  [U0001] Receive automatic updates</a:t>
            </a:r>
            <a:endParaRPr/>
          </a:p>
          <a:p>
            <a:pPr indent="0" lvl="0" marL="0" rtl="0" algn="l">
              <a:spcBef>
                <a:spcPts val="400"/>
              </a:spcBef>
              <a:spcAft>
                <a:spcPts val="0"/>
              </a:spcAft>
              <a:buClr>
                <a:schemeClr val="dk1"/>
              </a:buClr>
              <a:buSzPts val="2000"/>
              <a:buNone/>
            </a:pPr>
            <a:r>
              <a:rPr b="1" lang="fi-FI" sz="2000"/>
              <a:t>Purpose</a:t>
            </a:r>
            <a:r>
              <a:rPr lang="fi-FI" sz="2000"/>
              <a:t>: 	Acquiring most recent updates for spyware scanning</a:t>
            </a:r>
            <a:endParaRPr/>
          </a:p>
          <a:p>
            <a:pPr indent="0" lvl="0" marL="0" rtl="0" algn="l">
              <a:spcBef>
                <a:spcPts val="400"/>
              </a:spcBef>
              <a:spcAft>
                <a:spcPts val="0"/>
              </a:spcAft>
              <a:buClr>
                <a:schemeClr val="dk1"/>
              </a:buClr>
              <a:buSzPts val="2000"/>
              <a:buNone/>
            </a:pPr>
            <a:r>
              <a:rPr b="1" lang="fi-FI" sz="2000"/>
              <a:t>Anticipated problems: </a:t>
            </a:r>
            <a:endParaRPr/>
          </a:p>
          <a:p>
            <a:pPr indent="-185737" lvl="1" marL="377825" rtl="0" algn="l">
              <a:spcBef>
                <a:spcPts val="360"/>
              </a:spcBef>
              <a:spcAft>
                <a:spcPts val="0"/>
              </a:spcAft>
              <a:buClr>
                <a:schemeClr val="dk1"/>
              </a:buClr>
              <a:buSzPts val="1800"/>
              <a:buChar char="–"/>
            </a:pPr>
            <a:r>
              <a:rPr lang="fi-FI" sz="1800"/>
              <a:t>Updates may be sought from a wrong place and thus there are never changes.</a:t>
            </a:r>
            <a:endParaRPr/>
          </a:p>
          <a:p>
            <a:pPr indent="-185737" lvl="1" marL="377825" rtl="0" algn="l">
              <a:spcBef>
                <a:spcPts val="360"/>
              </a:spcBef>
              <a:spcAft>
                <a:spcPts val="0"/>
              </a:spcAft>
              <a:buClr>
                <a:schemeClr val="dk1"/>
              </a:buClr>
              <a:buSzPts val="1800"/>
              <a:buChar char="–"/>
            </a:pPr>
            <a:r>
              <a:rPr lang="fi-FI" sz="1800"/>
              <a:t>Corrupted updates may cause significant trouble</a:t>
            </a:r>
            <a:endParaRPr/>
          </a:p>
          <a:p>
            <a:pPr indent="-185737" lvl="1" marL="377825" rtl="0" algn="l">
              <a:spcBef>
                <a:spcPts val="360"/>
              </a:spcBef>
              <a:spcAft>
                <a:spcPts val="0"/>
              </a:spcAft>
              <a:buClr>
                <a:schemeClr val="dk1"/>
              </a:buClr>
              <a:buSzPts val="1800"/>
              <a:buChar char="–"/>
            </a:pPr>
            <a:r>
              <a:rPr lang="fi-FI" sz="1800"/>
              <a:t>Increased version numbering and capability to find latest spyware is not in place</a:t>
            </a:r>
            <a:endParaRPr/>
          </a:p>
          <a:p>
            <a:pPr indent="-185737" lvl="1" marL="377825" rtl="0" algn="l">
              <a:spcBef>
                <a:spcPts val="360"/>
              </a:spcBef>
              <a:spcAft>
                <a:spcPts val="0"/>
              </a:spcAft>
              <a:buClr>
                <a:schemeClr val="dk1"/>
              </a:buClr>
              <a:buSzPts val="1800"/>
              <a:buChar char="–"/>
            </a:pPr>
            <a:r>
              <a:rPr lang="fi-FI" sz="1800"/>
              <a:t>Incremental updates do not result in the same level of updates as the full update. </a:t>
            </a:r>
            <a:endParaRPr/>
          </a:p>
          <a:p>
            <a:pPr indent="-185737" lvl="1" marL="377825" rtl="0" algn="l">
              <a:spcBef>
                <a:spcPts val="360"/>
              </a:spcBef>
              <a:spcAft>
                <a:spcPts val="0"/>
              </a:spcAft>
              <a:buClr>
                <a:schemeClr val="dk1"/>
              </a:buClr>
              <a:buSzPts val="1800"/>
              <a:buChar char="–"/>
            </a:pPr>
            <a:r>
              <a:rPr lang="fi-FI" sz="1800"/>
              <a:t>Results with FPIrun differ from what we get with the </a:t>
            </a:r>
            <a:br>
              <a:rPr lang="fi-FI" sz="1800"/>
            </a:br>
            <a:r>
              <a:rPr lang="fi-FI" sz="1800"/>
              <a:t>products (database version number, capability to find </a:t>
            </a:r>
            <a:br>
              <a:rPr lang="fi-FI" sz="1800"/>
            </a:br>
            <a:r>
              <a:rPr lang="fi-FI" sz="1800"/>
              <a:t>latest additions)</a:t>
            </a:r>
            <a:endParaRPr/>
          </a:p>
          <a:p>
            <a:pPr indent="-185737" lvl="1" marL="377825" rtl="0" algn="l">
              <a:spcBef>
                <a:spcPts val="360"/>
              </a:spcBef>
              <a:spcAft>
                <a:spcPts val="0"/>
              </a:spcAft>
              <a:buClr>
                <a:schemeClr val="dk1"/>
              </a:buClr>
              <a:buSzPts val="1800"/>
              <a:buChar char="–"/>
            </a:pPr>
            <a:r>
              <a:rPr lang="fi-FI" sz="1800"/>
              <a:t>Scanning a clean file collection creates false positives</a:t>
            </a:r>
            <a:endParaRPr/>
          </a:p>
          <a:p>
            <a:pPr indent="-185737" lvl="1" marL="377825" rtl="0" algn="l">
              <a:spcBef>
                <a:spcPts val="360"/>
              </a:spcBef>
              <a:spcAft>
                <a:spcPts val="0"/>
              </a:spcAft>
              <a:buClr>
                <a:schemeClr val="dk1"/>
              </a:buClr>
              <a:buSzPts val="1800"/>
              <a:buChar char="–"/>
            </a:pPr>
            <a:r>
              <a:rPr lang="fi-FI" sz="1800"/>
              <a:t>Scanning a known spyware collection does not find </a:t>
            </a:r>
            <a:br>
              <a:rPr lang="fi-FI" sz="1800"/>
            </a:br>
            <a:r>
              <a:rPr lang="fi-FI" sz="1800"/>
              <a:t>spyware</a:t>
            </a:r>
            <a:endParaRPr sz="1800"/>
          </a:p>
          <a:p>
            <a:pPr indent="0" lvl="0" marL="0" rtl="0" algn="l">
              <a:spcBef>
                <a:spcPts val="400"/>
              </a:spcBef>
              <a:spcAft>
                <a:spcPts val="0"/>
              </a:spcAft>
              <a:buClr>
                <a:schemeClr val="dk1"/>
              </a:buClr>
              <a:buSzPts val="2000"/>
              <a:buNone/>
            </a:pPr>
            <a:r>
              <a:t/>
            </a:r>
            <a:endParaRPr sz="2000"/>
          </a:p>
        </p:txBody>
      </p:sp>
      <p:sp>
        <p:nvSpPr>
          <p:cNvPr id="636" name="Google Shape;636;p33"/>
          <p:cNvSpPr/>
          <p:nvPr/>
        </p:nvSpPr>
        <p:spPr>
          <a:xfrm>
            <a:off x="6588224" y="4437112"/>
            <a:ext cx="2362200" cy="1828800"/>
          </a:xfrm>
          <a:prstGeom prst="rect">
            <a:avLst/>
          </a:prstGeom>
          <a:solidFill>
            <a:schemeClr val="accent1"/>
          </a:solidFill>
          <a:ln cap="flat" cmpd="sng" w="9525">
            <a:solidFill>
              <a:schemeClr val="dk1"/>
            </a:solidFill>
            <a:prstDash val="solid"/>
            <a:miter lim="800000"/>
            <a:headEnd len="sm" w="sm" type="none"/>
            <a:tailEnd len="sm" w="sm" type="none"/>
          </a:ln>
          <a:effectLst>
            <a:outerShdw rotWithShape="0" algn="ctr" dir="18900000" dist="107763">
              <a:schemeClr val="lt2"/>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Arial"/>
                <a:ea typeface="Arial"/>
                <a:cs typeface="Arial"/>
                <a:sym typeface="Arial"/>
              </a:rPr>
              <a:t>Hyviä toiminnallisuus-testaukseen tutkivan testauksen periaattein. </a:t>
            </a:r>
            <a:endParaRPr sz="1800">
              <a:solidFill>
                <a:schemeClr val="lt1"/>
              </a:solidFill>
              <a:latin typeface="Arial"/>
              <a:ea typeface="Arial"/>
              <a:cs typeface="Arial"/>
              <a:sym typeface="Arial"/>
            </a:endParaRPr>
          </a:p>
        </p:txBody>
      </p:sp>
      <p:sp>
        <p:nvSpPr>
          <p:cNvPr id="637" name="Google Shape;63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p34"/>
          <p:cNvPicPr preferRelativeResize="0"/>
          <p:nvPr/>
        </p:nvPicPr>
        <p:blipFill rotWithShape="1">
          <a:blip r:embed="rId3">
            <a:alphaModFix/>
          </a:blip>
          <a:srcRect b="0" l="0" r="0" t="0"/>
          <a:stretch/>
        </p:blipFill>
        <p:spPr>
          <a:xfrm>
            <a:off x="107504" y="100158"/>
            <a:ext cx="4423877" cy="3544866"/>
          </a:xfrm>
          <a:prstGeom prst="rect">
            <a:avLst/>
          </a:prstGeom>
          <a:noFill/>
          <a:ln>
            <a:noFill/>
          </a:ln>
        </p:spPr>
      </p:pic>
      <p:pic>
        <p:nvPicPr>
          <p:cNvPr id="643" name="Google Shape;643;p34"/>
          <p:cNvPicPr preferRelativeResize="0"/>
          <p:nvPr/>
        </p:nvPicPr>
        <p:blipFill rotWithShape="1">
          <a:blip r:embed="rId4">
            <a:alphaModFix/>
          </a:blip>
          <a:srcRect b="0" l="0" r="0" t="0"/>
          <a:stretch/>
        </p:blipFill>
        <p:spPr>
          <a:xfrm>
            <a:off x="4166939" y="4047703"/>
            <a:ext cx="4581525" cy="2333625"/>
          </a:xfrm>
          <a:prstGeom prst="rect">
            <a:avLst/>
          </a:prstGeom>
          <a:noFill/>
          <a:ln>
            <a:noFill/>
          </a:ln>
        </p:spPr>
      </p:pic>
      <p:pic>
        <p:nvPicPr>
          <p:cNvPr id="644" name="Google Shape;644;p34"/>
          <p:cNvPicPr preferRelativeResize="0"/>
          <p:nvPr/>
        </p:nvPicPr>
        <p:blipFill rotWithShape="1">
          <a:blip r:embed="rId5">
            <a:alphaModFix/>
          </a:blip>
          <a:srcRect b="0" l="0" r="0" t="0"/>
          <a:stretch/>
        </p:blipFill>
        <p:spPr>
          <a:xfrm>
            <a:off x="238125" y="3933056"/>
            <a:ext cx="4333875" cy="2409825"/>
          </a:xfrm>
          <a:prstGeom prst="rect">
            <a:avLst/>
          </a:prstGeom>
          <a:noFill/>
          <a:ln>
            <a:noFill/>
          </a:ln>
        </p:spPr>
      </p:pic>
      <p:sp>
        <p:nvSpPr>
          <p:cNvPr id="645" name="Google Shape;645;p34"/>
          <p:cNvSpPr txBox="1"/>
          <p:nvPr/>
        </p:nvSpPr>
        <p:spPr>
          <a:xfrm>
            <a:off x="4932040" y="116632"/>
            <a:ext cx="388843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Esimerkit Elisabeth Hendricksonin kirjasta Explore It </a:t>
            </a:r>
            <a:endParaRPr sz="1800">
              <a:solidFill>
                <a:schemeClr val="dk1"/>
              </a:solidFill>
              <a:latin typeface="Gill Sans"/>
              <a:ea typeface="Gill Sans"/>
              <a:cs typeface="Gill Sans"/>
              <a:sym typeface="Gill Sans"/>
            </a:endParaRPr>
          </a:p>
        </p:txBody>
      </p:sp>
      <p:pic>
        <p:nvPicPr>
          <p:cNvPr id="646" name="Google Shape;646;p34"/>
          <p:cNvPicPr preferRelativeResize="0"/>
          <p:nvPr/>
        </p:nvPicPr>
        <p:blipFill rotWithShape="1">
          <a:blip r:embed="rId6">
            <a:alphaModFix/>
          </a:blip>
          <a:srcRect b="0" l="0" r="0" t="0"/>
          <a:stretch/>
        </p:blipFill>
        <p:spPr>
          <a:xfrm>
            <a:off x="4283968" y="836712"/>
            <a:ext cx="2495550" cy="2486025"/>
          </a:xfrm>
          <a:prstGeom prst="rect">
            <a:avLst/>
          </a:prstGeom>
          <a:noFill/>
          <a:ln>
            <a:noFill/>
          </a:ln>
        </p:spPr>
      </p:pic>
      <p:pic>
        <p:nvPicPr>
          <p:cNvPr id="647" name="Google Shape;647;p34"/>
          <p:cNvPicPr preferRelativeResize="0"/>
          <p:nvPr/>
        </p:nvPicPr>
        <p:blipFill rotWithShape="1">
          <a:blip r:embed="rId7">
            <a:alphaModFix/>
          </a:blip>
          <a:srcRect b="0" l="0" r="0" t="0"/>
          <a:stretch/>
        </p:blipFill>
        <p:spPr>
          <a:xfrm>
            <a:off x="6732240" y="548681"/>
            <a:ext cx="1581825" cy="1296144"/>
          </a:xfrm>
          <a:prstGeom prst="rect">
            <a:avLst/>
          </a:prstGeom>
          <a:noFill/>
          <a:ln>
            <a:noFill/>
          </a:ln>
        </p:spPr>
      </p:pic>
      <p:pic>
        <p:nvPicPr>
          <p:cNvPr id="648" name="Google Shape;648;p34"/>
          <p:cNvPicPr preferRelativeResize="0"/>
          <p:nvPr/>
        </p:nvPicPr>
        <p:blipFill rotWithShape="1">
          <a:blip r:embed="rId8">
            <a:alphaModFix/>
          </a:blip>
          <a:srcRect b="0" l="0" r="0" t="0"/>
          <a:stretch/>
        </p:blipFill>
        <p:spPr>
          <a:xfrm>
            <a:off x="6653783" y="1844824"/>
            <a:ext cx="2490217" cy="205049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Dokumentaatio</a:t>
            </a:r>
            <a:endParaRPr/>
          </a:p>
        </p:txBody>
      </p:sp>
      <p:sp>
        <p:nvSpPr>
          <p:cNvPr id="655" name="Google Shape;655;p35"/>
          <p:cNvSpPr txBox="1"/>
          <p:nvPr>
            <p:ph idx="1" type="body"/>
          </p:nvPr>
        </p:nvSpPr>
        <p:spPr>
          <a:xfrm>
            <a:off x="457200" y="1600200"/>
            <a:ext cx="6043626"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fi-FI"/>
              <a:t>Tehtävänantokokoelma</a:t>
            </a:r>
            <a:endParaRPr/>
          </a:p>
          <a:p>
            <a:pPr indent="-285750" lvl="1" marL="742950" rtl="0" algn="l">
              <a:spcBef>
                <a:spcPts val="392"/>
              </a:spcBef>
              <a:spcAft>
                <a:spcPts val="0"/>
              </a:spcAft>
              <a:buClr>
                <a:schemeClr val="dk1"/>
              </a:buClr>
              <a:buSzPct val="100000"/>
              <a:buChar char="–"/>
            </a:pPr>
            <a:r>
              <a:rPr lang="fi-FI"/>
              <a:t>”Korkean tason testitapaukset”</a:t>
            </a:r>
            <a:endParaRPr/>
          </a:p>
          <a:p>
            <a:pPr indent="-285750" lvl="1" marL="742950" rtl="0" algn="l">
              <a:spcBef>
                <a:spcPts val="392"/>
              </a:spcBef>
              <a:spcAft>
                <a:spcPts val="0"/>
              </a:spcAft>
              <a:buClr>
                <a:schemeClr val="dk1"/>
              </a:buClr>
              <a:buSzPct val="100000"/>
              <a:buChar char="–"/>
            </a:pPr>
            <a:r>
              <a:rPr lang="fi-FI"/>
              <a:t>Osin kertakäyttöisiä, osin uudelleenkäytettäviä</a:t>
            </a:r>
            <a:endParaRPr/>
          </a:p>
          <a:p>
            <a:pPr indent="-342900" lvl="0" marL="342900" rtl="0" algn="l">
              <a:spcBef>
                <a:spcPts val="448"/>
              </a:spcBef>
              <a:spcAft>
                <a:spcPts val="0"/>
              </a:spcAft>
              <a:buClr>
                <a:schemeClr val="dk1"/>
              </a:buClr>
              <a:buSzPct val="100000"/>
              <a:buChar char="•"/>
            </a:pPr>
            <a:r>
              <a:rPr lang="fi-FI"/>
              <a:t>Aineistokokoelma</a:t>
            </a:r>
            <a:endParaRPr/>
          </a:p>
          <a:p>
            <a:pPr indent="-285750" lvl="1" marL="742950" rtl="0" algn="l">
              <a:spcBef>
                <a:spcPts val="392"/>
              </a:spcBef>
              <a:spcAft>
                <a:spcPts val="0"/>
              </a:spcAft>
              <a:buClr>
                <a:schemeClr val="dk1"/>
              </a:buClr>
              <a:buSzPct val="100000"/>
              <a:buChar char="–"/>
            </a:pPr>
            <a:r>
              <a:rPr lang="fi-FI"/>
              <a:t>Aineiston tiedot – testauksessa käytettävä aineisto</a:t>
            </a:r>
            <a:endParaRPr/>
          </a:p>
          <a:p>
            <a:pPr indent="-285750" lvl="1" marL="742950" rtl="0" algn="l">
              <a:spcBef>
                <a:spcPts val="392"/>
              </a:spcBef>
              <a:spcAft>
                <a:spcPts val="0"/>
              </a:spcAft>
              <a:buClr>
                <a:schemeClr val="dk1"/>
              </a:buClr>
              <a:buSzPct val="100000"/>
              <a:buChar char="–"/>
            </a:pPr>
            <a:r>
              <a:rPr lang="fi-FI"/>
              <a:t>Aineiston uudelleenkäyttötarpeen huomiointi</a:t>
            </a:r>
            <a:endParaRPr/>
          </a:p>
          <a:p>
            <a:pPr indent="-342900" lvl="0" marL="342900" rtl="0" algn="l">
              <a:spcBef>
                <a:spcPts val="448"/>
              </a:spcBef>
              <a:spcAft>
                <a:spcPts val="0"/>
              </a:spcAft>
              <a:buClr>
                <a:schemeClr val="dk1"/>
              </a:buClr>
              <a:buSzPct val="100000"/>
              <a:buChar char="•"/>
            </a:pPr>
            <a:r>
              <a:rPr lang="fi-FI"/>
              <a:t>Työkalukokoelma</a:t>
            </a:r>
            <a:endParaRPr/>
          </a:p>
          <a:p>
            <a:pPr indent="-285750" lvl="1" marL="742950" rtl="0" algn="l">
              <a:spcBef>
                <a:spcPts val="392"/>
              </a:spcBef>
              <a:spcAft>
                <a:spcPts val="0"/>
              </a:spcAft>
              <a:buClr>
                <a:schemeClr val="dk1"/>
              </a:buClr>
              <a:buSzPct val="100000"/>
              <a:buChar char="–"/>
            </a:pPr>
            <a:r>
              <a:rPr lang="fi-FI"/>
              <a:t>Pienet hyödylliset työkalut – myös muille jaettavaksi</a:t>
            </a:r>
            <a:endParaRPr/>
          </a:p>
          <a:p>
            <a:pPr indent="-342900" lvl="0" marL="342900" rtl="0" algn="l">
              <a:spcBef>
                <a:spcPts val="448"/>
              </a:spcBef>
              <a:spcAft>
                <a:spcPts val="0"/>
              </a:spcAft>
              <a:buClr>
                <a:schemeClr val="dk1"/>
              </a:buClr>
              <a:buSzPct val="100000"/>
              <a:buChar char="•"/>
            </a:pPr>
            <a:r>
              <a:rPr lang="fi-FI"/>
              <a:t>Opittujen asioiden kokoelma</a:t>
            </a:r>
            <a:endParaRPr/>
          </a:p>
          <a:p>
            <a:pPr indent="-285750" lvl="1" marL="742950" rtl="0" algn="l">
              <a:spcBef>
                <a:spcPts val="392"/>
              </a:spcBef>
              <a:spcAft>
                <a:spcPts val="0"/>
              </a:spcAft>
              <a:buClr>
                <a:schemeClr val="dk1"/>
              </a:buClr>
              <a:buSzPct val="100000"/>
              <a:buChar char="–"/>
            </a:pPr>
            <a:r>
              <a:rPr lang="fi-FI"/>
              <a:t>Mikä oli vaikeaa minulle josta muut voisivat hyötyä. Ei jokapäivä, mutta säännöllisesti peilaten.</a:t>
            </a:r>
            <a:endParaRPr/>
          </a:p>
          <a:p>
            <a:pPr indent="-285750" lvl="1" marL="742950" rtl="0" algn="l">
              <a:spcBef>
                <a:spcPts val="392"/>
              </a:spcBef>
              <a:spcAft>
                <a:spcPts val="0"/>
              </a:spcAft>
              <a:buClr>
                <a:schemeClr val="dk1"/>
              </a:buClr>
              <a:buSzPct val="100000"/>
              <a:buChar char="–"/>
            </a:pPr>
            <a:r>
              <a:rPr lang="fi-FI"/>
              <a:t>Kysymysten ja vastausten kokoelma</a:t>
            </a:r>
            <a:endParaRPr/>
          </a:p>
        </p:txBody>
      </p:sp>
      <p:sp>
        <p:nvSpPr>
          <p:cNvPr id="656" name="Google Shape;656;p35"/>
          <p:cNvSpPr txBox="1"/>
          <p:nvPr/>
        </p:nvSpPr>
        <p:spPr>
          <a:xfrm>
            <a:off x="6715140" y="1393440"/>
            <a:ext cx="2214546" cy="892552"/>
          </a:xfrm>
          <a:prstGeom prst="rect">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2400">
                <a:solidFill>
                  <a:schemeClr val="lt1"/>
                </a:solidFill>
                <a:latin typeface="Gill Sans"/>
                <a:ea typeface="Gill Sans"/>
                <a:cs typeface="Gill Sans"/>
                <a:sym typeface="Gill Sans"/>
              </a:rPr>
              <a:t>Oleellisin:</a:t>
            </a:r>
            <a:endParaRPr/>
          </a:p>
          <a:p>
            <a:pPr indent="0" lvl="0" marL="0" marR="0" rtl="0" algn="ctr">
              <a:spcBef>
                <a:spcPts val="0"/>
              </a:spcBef>
              <a:spcAft>
                <a:spcPts val="0"/>
              </a:spcAft>
              <a:buNone/>
            </a:pPr>
            <a:r>
              <a:rPr lang="fi-FI" sz="2800">
                <a:solidFill>
                  <a:schemeClr val="lt1"/>
                </a:solidFill>
                <a:latin typeface="Gill Sans"/>
                <a:ea typeface="Gill Sans"/>
                <a:cs typeface="Gill Sans"/>
                <a:sym typeface="Gill Sans"/>
              </a:rPr>
              <a:t>Bugiraportit</a:t>
            </a:r>
            <a:endParaRPr sz="2800">
              <a:solidFill>
                <a:schemeClr val="lt1"/>
              </a:solidFill>
              <a:latin typeface="Gill Sans"/>
              <a:ea typeface="Gill Sans"/>
              <a:cs typeface="Gill Sans"/>
              <a:sym typeface="Gill Sans"/>
            </a:endParaRPr>
          </a:p>
        </p:txBody>
      </p:sp>
      <p:sp>
        <p:nvSpPr>
          <p:cNvPr id="657" name="Google Shape;657;p35"/>
          <p:cNvSpPr txBox="1"/>
          <p:nvPr/>
        </p:nvSpPr>
        <p:spPr>
          <a:xfrm>
            <a:off x="6715140" y="2500306"/>
            <a:ext cx="2214546" cy="1323439"/>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2400">
                <a:solidFill>
                  <a:schemeClr val="lt1"/>
                </a:solidFill>
                <a:latin typeface="Gill Sans"/>
                <a:ea typeface="Gill Sans"/>
                <a:cs typeface="Gill Sans"/>
                <a:sym typeface="Gill Sans"/>
              </a:rPr>
              <a:t>Toissijainen:</a:t>
            </a:r>
            <a:endParaRPr/>
          </a:p>
          <a:p>
            <a:pPr indent="0" lvl="0" marL="0" marR="0" rtl="0" algn="ctr">
              <a:spcBef>
                <a:spcPts val="0"/>
              </a:spcBef>
              <a:spcAft>
                <a:spcPts val="0"/>
              </a:spcAft>
              <a:buNone/>
            </a:pPr>
            <a:r>
              <a:rPr lang="fi-FI" sz="2800">
                <a:solidFill>
                  <a:schemeClr val="lt1"/>
                </a:solidFill>
                <a:latin typeface="Gill Sans"/>
                <a:ea typeface="Gill Sans"/>
                <a:cs typeface="Gill Sans"/>
                <a:sym typeface="Gill Sans"/>
              </a:rPr>
              <a:t>Hyödyllistä muillekin</a:t>
            </a:r>
            <a:endParaRPr sz="2800">
              <a:solidFill>
                <a:schemeClr val="lt1"/>
              </a:solidFill>
              <a:latin typeface="Gill Sans"/>
              <a:ea typeface="Gill Sans"/>
              <a:cs typeface="Gill Sans"/>
              <a:sym typeface="Gill Sans"/>
            </a:endParaRPr>
          </a:p>
        </p:txBody>
      </p:sp>
      <p:sp>
        <p:nvSpPr>
          <p:cNvPr id="658" name="Google Shape;658;p35"/>
          <p:cNvSpPr txBox="1"/>
          <p:nvPr/>
        </p:nvSpPr>
        <p:spPr>
          <a:xfrm>
            <a:off x="6715140" y="4071942"/>
            <a:ext cx="2214546" cy="2185214"/>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2400">
                <a:solidFill>
                  <a:schemeClr val="lt1"/>
                </a:solidFill>
                <a:latin typeface="Gill Sans"/>
                <a:ea typeface="Gill Sans"/>
                <a:cs typeface="Gill Sans"/>
                <a:sym typeface="Gill Sans"/>
              </a:rPr>
              <a:t>Harvoin:</a:t>
            </a:r>
            <a:endParaRPr/>
          </a:p>
          <a:p>
            <a:pPr indent="0" lvl="0" marL="0" marR="0" rtl="0" algn="ctr">
              <a:spcBef>
                <a:spcPts val="0"/>
              </a:spcBef>
              <a:spcAft>
                <a:spcPts val="0"/>
              </a:spcAft>
              <a:buNone/>
            </a:pPr>
            <a:r>
              <a:rPr lang="fi-FI" sz="2800">
                <a:solidFill>
                  <a:schemeClr val="lt1"/>
                </a:solidFill>
                <a:latin typeface="Gill Sans"/>
                <a:ea typeface="Gill Sans"/>
                <a:cs typeface="Gill Sans"/>
                <a:sym typeface="Gill Sans"/>
              </a:rPr>
              <a:t>Yksityiskoh-tainen todis-tusaineisto testauksesta</a:t>
            </a:r>
            <a:endParaRPr sz="2800">
              <a:solidFill>
                <a:schemeClr val="lt1"/>
              </a:solidFill>
              <a:latin typeface="Gill Sans"/>
              <a:ea typeface="Gill Sans"/>
              <a:cs typeface="Gill Sans"/>
              <a:sym typeface="Gill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The Scale of Tester’s Freedom</a:t>
            </a:r>
            <a:endParaRPr/>
          </a:p>
        </p:txBody>
      </p:sp>
      <p:sp>
        <p:nvSpPr>
          <p:cNvPr id="665" name="Google Shape;665;p36"/>
          <p:cNvSpPr/>
          <p:nvPr/>
        </p:nvSpPr>
        <p:spPr>
          <a:xfrm>
            <a:off x="785786" y="3214686"/>
            <a:ext cx="7786742" cy="1285882"/>
          </a:xfrm>
          <a:prstGeom prst="rtTriangle">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666" name="Google Shape;666;p36"/>
          <p:cNvSpPr/>
          <p:nvPr/>
        </p:nvSpPr>
        <p:spPr>
          <a:xfrm rot="10800000">
            <a:off x="785786" y="3071810"/>
            <a:ext cx="7786742" cy="1285882"/>
          </a:xfrm>
          <a:prstGeom prst="rtTriangle">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667" name="Google Shape;667;p36"/>
          <p:cNvSpPr txBox="1"/>
          <p:nvPr/>
        </p:nvSpPr>
        <p:spPr>
          <a:xfrm>
            <a:off x="0" y="1935296"/>
            <a:ext cx="142872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000">
                <a:solidFill>
                  <a:schemeClr val="dk1"/>
                </a:solidFill>
                <a:latin typeface="Gill Sans"/>
                <a:ea typeface="Gill Sans"/>
                <a:cs typeface="Gill Sans"/>
                <a:sym typeface="Gill Sans"/>
              </a:rPr>
              <a:t>Pure scripted</a:t>
            </a:r>
            <a:endParaRPr sz="2000">
              <a:solidFill>
                <a:schemeClr val="dk1"/>
              </a:solidFill>
              <a:latin typeface="Gill Sans"/>
              <a:ea typeface="Gill Sans"/>
              <a:cs typeface="Gill Sans"/>
              <a:sym typeface="Gill Sans"/>
            </a:endParaRPr>
          </a:p>
        </p:txBody>
      </p:sp>
      <p:sp>
        <p:nvSpPr>
          <p:cNvPr id="668" name="Google Shape;668;p36"/>
          <p:cNvSpPr txBox="1"/>
          <p:nvPr/>
        </p:nvSpPr>
        <p:spPr>
          <a:xfrm>
            <a:off x="1643042" y="1714488"/>
            <a:ext cx="107157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000">
                <a:solidFill>
                  <a:schemeClr val="dk1"/>
                </a:solidFill>
                <a:latin typeface="Gill Sans"/>
                <a:ea typeface="Gill Sans"/>
                <a:cs typeface="Gill Sans"/>
                <a:sym typeface="Gill Sans"/>
              </a:rPr>
              <a:t>Vague scripts</a:t>
            </a:r>
            <a:endParaRPr sz="2000">
              <a:solidFill>
                <a:schemeClr val="dk1"/>
              </a:solidFill>
              <a:latin typeface="Gill Sans"/>
              <a:ea typeface="Gill Sans"/>
              <a:cs typeface="Gill Sans"/>
              <a:sym typeface="Gill Sans"/>
            </a:endParaRPr>
          </a:p>
        </p:txBody>
      </p:sp>
      <p:sp>
        <p:nvSpPr>
          <p:cNvPr id="669" name="Google Shape;669;p36"/>
          <p:cNvSpPr txBox="1"/>
          <p:nvPr/>
        </p:nvSpPr>
        <p:spPr>
          <a:xfrm>
            <a:off x="3857620" y="1792420"/>
            <a:ext cx="2000264"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000">
                <a:solidFill>
                  <a:schemeClr val="dk1"/>
                </a:solidFill>
                <a:latin typeface="Gill Sans"/>
                <a:ea typeface="Gill Sans"/>
                <a:cs typeface="Gill Sans"/>
                <a:sym typeface="Gill Sans"/>
              </a:rPr>
              <a:t>Fragment test cases (scenarios)</a:t>
            </a:r>
            <a:endParaRPr sz="2000">
              <a:solidFill>
                <a:schemeClr val="dk1"/>
              </a:solidFill>
              <a:latin typeface="Gill Sans"/>
              <a:ea typeface="Gill Sans"/>
              <a:cs typeface="Gill Sans"/>
              <a:sym typeface="Gill Sans"/>
            </a:endParaRPr>
          </a:p>
        </p:txBody>
      </p:sp>
      <p:sp>
        <p:nvSpPr>
          <p:cNvPr id="670" name="Google Shape;670;p36"/>
          <p:cNvSpPr txBox="1"/>
          <p:nvPr/>
        </p:nvSpPr>
        <p:spPr>
          <a:xfrm>
            <a:off x="5500694" y="2243072"/>
            <a:ext cx="200026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000">
                <a:solidFill>
                  <a:schemeClr val="dk1"/>
                </a:solidFill>
                <a:latin typeface="Gill Sans"/>
                <a:ea typeface="Gill Sans"/>
                <a:cs typeface="Gill Sans"/>
                <a:sym typeface="Gill Sans"/>
              </a:rPr>
              <a:t>Charters</a:t>
            </a:r>
            <a:endParaRPr sz="2000">
              <a:solidFill>
                <a:schemeClr val="dk1"/>
              </a:solidFill>
              <a:latin typeface="Gill Sans"/>
              <a:ea typeface="Gill Sans"/>
              <a:cs typeface="Gill Sans"/>
              <a:sym typeface="Gill Sans"/>
            </a:endParaRPr>
          </a:p>
        </p:txBody>
      </p:sp>
      <p:sp>
        <p:nvSpPr>
          <p:cNvPr id="671" name="Google Shape;671;p36"/>
          <p:cNvSpPr txBox="1"/>
          <p:nvPr/>
        </p:nvSpPr>
        <p:spPr>
          <a:xfrm>
            <a:off x="6643702" y="1500174"/>
            <a:ext cx="200026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000">
                <a:solidFill>
                  <a:schemeClr val="dk1"/>
                </a:solidFill>
                <a:latin typeface="Gill Sans"/>
                <a:ea typeface="Gill Sans"/>
                <a:cs typeface="Gill Sans"/>
                <a:sym typeface="Gill Sans"/>
              </a:rPr>
              <a:t>Role-based  </a:t>
            </a:r>
            <a:br>
              <a:rPr lang="fi-FI" sz="2000">
                <a:solidFill>
                  <a:schemeClr val="dk1"/>
                </a:solidFill>
                <a:latin typeface="Gill Sans"/>
                <a:ea typeface="Gill Sans"/>
                <a:cs typeface="Gill Sans"/>
                <a:sym typeface="Gill Sans"/>
              </a:rPr>
            </a:br>
            <a:r>
              <a:rPr lang="fi-FI" sz="2000">
                <a:solidFill>
                  <a:schemeClr val="dk1"/>
                </a:solidFill>
                <a:latin typeface="Gill Sans"/>
                <a:ea typeface="Gill Sans"/>
                <a:cs typeface="Gill Sans"/>
                <a:sym typeface="Gill Sans"/>
              </a:rPr>
              <a:t>sandboxes</a:t>
            </a:r>
            <a:endParaRPr sz="2000">
              <a:solidFill>
                <a:schemeClr val="dk1"/>
              </a:solidFill>
              <a:latin typeface="Gill Sans"/>
              <a:ea typeface="Gill Sans"/>
              <a:cs typeface="Gill Sans"/>
              <a:sym typeface="Gill Sans"/>
            </a:endParaRPr>
          </a:p>
        </p:txBody>
      </p:sp>
      <p:sp>
        <p:nvSpPr>
          <p:cNvPr id="672" name="Google Shape;672;p36"/>
          <p:cNvSpPr txBox="1"/>
          <p:nvPr/>
        </p:nvSpPr>
        <p:spPr>
          <a:xfrm>
            <a:off x="7500958" y="2214554"/>
            <a:ext cx="200026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000">
                <a:solidFill>
                  <a:schemeClr val="dk1"/>
                </a:solidFill>
                <a:latin typeface="Gill Sans"/>
                <a:ea typeface="Gill Sans"/>
                <a:cs typeface="Gill Sans"/>
                <a:sym typeface="Gill Sans"/>
              </a:rPr>
              <a:t>Freestyle</a:t>
            </a:r>
            <a:endParaRPr sz="2000">
              <a:solidFill>
                <a:schemeClr val="dk1"/>
              </a:solidFill>
              <a:latin typeface="Gill Sans"/>
              <a:ea typeface="Gill Sans"/>
              <a:cs typeface="Gill Sans"/>
              <a:sym typeface="Gill Sans"/>
            </a:endParaRPr>
          </a:p>
        </p:txBody>
      </p:sp>
      <p:sp>
        <p:nvSpPr>
          <p:cNvPr id="673" name="Google Shape;673;p36"/>
          <p:cNvSpPr txBox="1"/>
          <p:nvPr/>
        </p:nvSpPr>
        <p:spPr>
          <a:xfrm>
            <a:off x="1357290" y="5214950"/>
            <a:ext cx="678661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fi-FI" sz="2400">
                <a:solidFill>
                  <a:schemeClr val="dk1"/>
                </a:solidFill>
                <a:latin typeface="Gill Sans"/>
                <a:ea typeface="Gill Sans"/>
                <a:cs typeface="Gill Sans"/>
                <a:sym typeface="Gill Sans"/>
              </a:rPr>
              <a:t>”To what extent am I in control of the test and from where did the idea originate?”</a:t>
            </a:r>
            <a:endParaRPr i="1" sz="2400">
              <a:solidFill>
                <a:schemeClr val="dk1"/>
              </a:solidFill>
              <a:latin typeface="Gill Sans"/>
              <a:ea typeface="Gill Sans"/>
              <a:cs typeface="Gill Sans"/>
              <a:sym typeface="Gill Sans"/>
            </a:endParaRPr>
          </a:p>
        </p:txBody>
      </p:sp>
      <p:cxnSp>
        <p:nvCxnSpPr>
          <p:cNvPr id="674" name="Google Shape;674;p36"/>
          <p:cNvCxnSpPr>
            <a:stCxn id="669" idx="2"/>
          </p:cNvCxnSpPr>
          <p:nvPr/>
        </p:nvCxnSpPr>
        <p:spPr>
          <a:xfrm flipH="1">
            <a:off x="4856252" y="2808083"/>
            <a:ext cx="1500" cy="264600"/>
          </a:xfrm>
          <a:prstGeom prst="straightConnector1">
            <a:avLst/>
          </a:prstGeom>
          <a:noFill/>
          <a:ln cap="flat" cmpd="sng" w="38100">
            <a:solidFill>
              <a:schemeClr val="accent3"/>
            </a:solidFill>
            <a:prstDash val="solid"/>
            <a:round/>
            <a:headEnd len="sm" w="sm" type="none"/>
            <a:tailEnd len="med" w="med" type="stealth"/>
          </a:ln>
          <a:effectLst>
            <a:outerShdw blurRad="40000" rotWithShape="0" dir="5400000" dist="23000">
              <a:srgbClr val="000000">
                <a:alpha val="34901"/>
              </a:srgbClr>
            </a:outerShdw>
          </a:effectLst>
        </p:spPr>
      </p:cxnSp>
      <p:cxnSp>
        <p:nvCxnSpPr>
          <p:cNvPr id="675" name="Google Shape;675;p36"/>
          <p:cNvCxnSpPr>
            <a:stCxn id="670" idx="2"/>
          </p:cNvCxnSpPr>
          <p:nvPr/>
        </p:nvCxnSpPr>
        <p:spPr>
          <a:xfrm flipH="1">
            <a:off x="6499326" y="2643182"/>
            <a:ext cx="1500" cy="428700"/>
          </a:xfrm>
          <a:prstGeom prst="straightConnector1">
            <a:avLst/>
          </a:prstGeom>
          <a:noFill/>
          <a:ln cap="flat" cmpd="sng" w="38100">
            <a:solidFill>
              <a:schemeClr val="accent3"/>
            </a:solidFill>
            <a:prstDash val="solid"/>
            <a:round/>
            <a:headEnd len="sm" w="sm" type="none"/>
            <a:tailEnd len="med" w="med" type="stealth"/>
          </a:ln>
          <a:effectLst>
            <a:outerShdw blurRad="40000" rotWithShape="0" dir="5400000" dist="23000">
              <a:srgbClr val="000000">
                <a:alpha val="34901"/>
              </a:srgbClr>
            </a:outerShdw>
          </a:effectLst>
        </p:spPr>
      </p:cxnSp>
      <p:cxnSp>
        <p:nvCxnSpPr>
          <p:cNvPr id="676" name="Google Shape;676;p36"/>
          <p:cNvCxnSpPr/>
          <p:nvPr/>
        </p:nvCxnSpPr>
        <p:spPr>
          <a:xfrm rot="5400000">
            <a:off x="7214015" y="2642785"/>
            <a:ext cx="858050" cy="1588"/>
          </a:xfrm>
          <a:prstGeom prst="straightConnector1">
            <a:avLst/>
          </a:prstGeom>
          <a:noFill/>
          <a:ln cap="flat" cmpd="sng" w="38100">
            <a:solidFill>
              <a:schemeClr val="accent3"/>
            </a:solidFill>
            <a:prstDash val="solid"/>
            <a:round/>
            <a:headEnd len="sm" w="sm" type="none"/>
            <a:tailEnd len="med" w="med" type="stealth"/>
          </a:ln>
          <a:effectLst>
            <a:outerShdw blurRad="40000" rotWithShape="0" dir="5400000" dist="23000">
              <a:srgbClr val="000000">
                <a:alpha val="34901"/>
              </a:srgbClr>
            </a:outerShdw>
          </a:effectLst>
        </p:spPr>
      </p:cxnSp>
      <p:cxnSp>
        <p:nvCxnSpPr>
          <p:cNvPr id="677" name="Google Shape;677;p36"/>
          <p:cNvCxnSpPr/>
          <p:nvPr/>
        </p:nvCxnSpPr>
        <p:spPr>
          <a:xfrm rot="5400000">
            <a:off x="8357420" y="2856702"/>
            <a:ext cx="428628" cy="1588"/>
          </a:xfrm>
          <a:prstGeom prst="straightConnector1">
            <a:avLst/>
          </a:prstGeom>
          <a:noFill/>
          <a:ln cap="flat" cmpd="sng" w="38100">
            <a:solidFill>
              <a:schemeClr val="accent3"/>
            </a:solidFill>
            <a:prstDash val="solid"/>
            <a:round/>
            <a:headEnd len="sm" w="sm" type="none"/>
            <a:tailEnd len="med" w="med" type="stealth"/>
          </a:ln>
          <a:effectLst>
            <a:outerShdw blurRad="40000" rotWithShape="0" dir="5400000" dist="23000">
              <a:srgbClr val="000000">
                <a:alpha val="34901"/>
              </a:srgbClr>
            </a:outerShdw>
          </a:effectLst>
        </p:spPr>
      </p:cxnSp>
      <p:cxnSp>
        <p:nvCxnSpPr>
          <p:cNvPr id="678" name="Google Shape;678;p36"/>
          <p:cNvCxnSpPr/>
          <p:nvPr/>
        </p:nvCxnSpPr>
        <p:spPr>
          <a:xfrm rot="5400000">
            <a:off x="1856165" y="2785661"/>
            <a:ext cx="572298" cy="1588"/>
          </a:xfrm>
          <a:prstGeom prst="straightConnector1">
            <a:avLst/>
          </a:prstGeom>
          <a:noFill/>
          <a:ln cap="flat" cmpd="sng" w="38100">
            <a:solidFill>
              <a:schemeClr val="accent3"/>
            </a:solidFill>
            <a:prstDash val="solid"/>
            <a:round/>
            <a:headEnd len="sm" w="sm" type="none"/>
            <a:tailEnd len="med" w="med" type="stealth"/>
          </a:ln>
          <a:effectLst>
            <a:outerShdw blurRad="40000" rotWithShape="0" dir="5400000" dist="23000">
              <a:srgbClr val="000000">
                <a:alpha val="34901"/>
              </a:srgbClr>
            </a:outerShdw>
          </a:effectLst>
        </p:spPr>
      </p:cxnSp>
      <p:cxnSp>
        <p:nvCxnSpPr>
          <p:cNvPr id="679" name="Google Shape;679;p36"/>
          <p:cNvCxnSpPr/>
          <p:nvPr/>
        </p:nvCxnSpPr>
        <p:spPr>
          <a:xfrm rot="5400000">
            <a:off x="642513" y="2857893"/>
            <a:ext cx="429422" cy="1588"/>
          </a:xfrm>
          <a:prstGeom prst="straightConnector1">
            <a:avLst/>
          </a:prstGeom>
          <a:noFill/>
          <a:ln cap="flat" cmpd="sng" w="38100">
            <a:solidFill>
              <a:schemeClr val="accent3"/>
            </a:solidFill>
            <a:prstDash val="solid"/>
            <a:round/>
            <a:headEnd len="sm" w="sm" type="none"/>
            <a:tailEnd len="med" w="med" type="stealth"/>
          </a:ln>
          <a:effectLst>
            <a:outerShdw blurRad="40000" rotWithShape="0" dir="5400000" dist="23000">
              <a:srgbClr val="000000">
                <a:alpha val="34901"/>
              </a:srgbClr>
            </a:outerShdw>
          </a:effectLst>
        </p:spPr>
      </p:cxnSp>
      <p:sp>
        <p:nvSpPr>
          <p:cNvPr id="680" name="Google Shape;68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681" name="Google Shape;681;p36"/>
          <p:cNvSpPr txBox="1"/>
          <p:nvPr/>
        </p:nvSpPr>
        <p:spPr>
          <a:xfrm>
            <a:off x="251520" y="6309320"/>
            <a:ext cx="29523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Source: James Bach</a:t>
            </a:r>
            <a:endParaRPr sz="1800">
              <a:solidFill>
                <a:schemeClr val="dk1"/>
              </a:solidFill>
              <a:latin typeface="Gill Sans"/>
              <a:ea typeface="Gill Sans"/>
              <a:cs typeface="Gill Sans"/>
              <a:sym typeface="Gill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Gill Sans"/>
              <a:buNone/>
            </a:pPr>
            <a:r>
              <a:rPr lang="fi-FI"/>
              <a:t>Testitapauksen </a:t>
            </a:r>
            <a:br>
              <a:rPr lang="fi-FI"/>
            </a:br>
            <a:r>
              <a:rPr lang="fi-FI"/>
              <a:t>muoto ja sisältö</a:t>
            </a:r>
            <a:endParaRPr/>
          </a:p>
        </p:txBody>
      </p:sp>
      <p:sp>
        <p:nvSpPr>
          <p:cNvPr id="688" name="Google Shape;688;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fi-FI"/>
              <a:t>Yksityiskohtien dokumentointi ei ole ainoa tapa tehdä hyvää testausta</a:t>
            </a:r>
            <a:endParaRPr/>
          </a:p>
          <a:p>
            <a:pPr indent="-285750" lvl="1" marL="742950" rtl="0" algn="l">
              <a:spcBef>
                <a:spcPts val="434"/>
              </a:spcBef>
              <a:spcAft>
                <a:spcPts val="0"/>
              </a:spcAft>
              <a:buClr>
                <a:schemeClr val="dk1"/>
              </a:buClr>
              <a:buSzPct val="100000"/>
              <a:buChar char="–"/>
            </a:pPr>
            <a:r>
              <a:rPr lang="fi-FI"/>
              <a:t>Tilannetekijöillä on merkitystä</a:t>
            </a:r>
            <a:endParaRPr/>
          </a:p>
          <a:p>
            <a:pPr indent="-285750" lvl="1" marL="742950" rtl="0" algn="l">
              <a:spcBef>
                <a:spcPts val="434"/>
              </a:spcBef>
              <a:spcAft>
                <a:spcPts val="0"/>
              </a:spcAft>
              <a:buClr>
                <a:schemeClr val="dk1"/>
              </a:buClr>
              <a:buSzPct val="100000"/>
              <a:buChar char="–"/>
            </a:pPr>
            <a:r>
              <a:rPr lang="fi-FI"/>
              <a:t>Tasapaino: dokumentointi on sallittua, jopa kannustettavaa</a:t>
            </a:r>
            <a:endParaRPr/>
          </a:p>
          <a:p>
            <a:pPr indent="-342900" lvl="0" marL="342900" rtl="0" algn="l">
              <a:spcBef>
                <a:spcPts val="496"/>
              </a:spcBef>
              <a:spcAft>
                <a:spcPts val="0"/>
              </a:spcAft>
              <a:buClr>
                <a:schemeClr val="dk1"/>
              </a:buClr>
              <a:buSzPct val="100000"/>
              <a:buChar char="•"/>
            </a:pPr>
            <a:r>
              <a:rPr lang="fi-FI"/>
              <a:t>Harkitse:</a:t>
            </a:r>
            <a:endParaRPr/>
          </a:p>
          <a:p>
            <a:pPr indent="-285750" lvl="1" marL="742950" rtl="0" algn="l">
              <a:spcBef>
                <a:spcPts val="434"/>
              </a:spcBef>
              <a:spcAft>
                <a:spcPts val="0"/>
              </a:spcAft>
              <a:buClr>
                <a:schemeClr val="dk1"/>
              </a:buClr>
              <a:buSzPct val="100000"/>
              <a:buChar char="–"/>
            </a:pPr>
            <a:r>
              <a:rPr lang="fi-FI"/>
              <a:t>Et ole yksin</a:t>
            </a:r>
            <a:endParaRPr/>
          </a:p>
          <a:p>
            <a:pPr indent="-285750" lvl="1" marL="742950" rtl="0" algn="l">
              <a:spcBef>
                <a:spcPts val="434"/>
              </a:spcBef>
              <a:spcAft>
                <a:spcPts val="0"/>
              </a:spcAft>
              <a:buClr>
                <a:schemeClr val="dk1"/>
              </a:buClr>
              <a:buSzPct val="100000"/>
              <a:buChar char="–"/>
            </a:pPr>
            <a:r>
              <a:rPr lang="fi-FI"/>
              <a:t>Muutkin osaavat ajatella, mutta tarvitsevat pikaisen lähtökohdan alueeseesi</a:t>
            </a:r>
            <a:endParaRPr/>
          </a:p>
          <a:p>
            <a:pPr indent="-285750" lvl="1" marL="742950" rtl="0" algn="l">
              <a:spcBef>
                <a:spcPts val="434"/>
              </a:spcBef>
              <a:spcAft>
                <a:spcPts val="0"/>
              </a:spcAft>
              <a:buClr>
                <a:schemeClr val="dk1"/>
              </a:buClr>
              <a:buSzPct val="100000"/>
              <a:buChar char="–"/>
            </a:pPr>
            <a:r>
              <a:rPr lang="fi-FI"/>
              <a:t>Testien ryhmittelyn pitäisi viestiä sitä mitä kertoisit muille</a:t>
            </a:r>
            <a:endParaRPr/>
          </a:p>
          <a:p>
            <a:pPr indent="-342900" lvl="0" marL="342900" rtl="0" algn="l">
              <a:spcBef>
                <a:spcPts val="496"/>
              </a:spcBef>
              <a:spcAft>
                <a:spcPts val="0"/>
              </a:spcAft>
              <a:buClr>
                <a:schemeClr val="dk1"/>
              </a:buClr>
              <a:buSzPct val="100000"/>
              <a:buChar char="•"/>
            </a:pPr>
            <a:r>
              <a:rPr lang="fi-FI"/>
              <a:t>Ajattele laatikon ulkopuolelle</a:t>
            </a:r>
            <a:endParaRPr/>
          </a:p>
          <a:p>
            <a:pPr indent="-285750" lvl="1" marL="742950" rtl="0" algn="l">
              <a:spcBef>
                <a:spcPts val="434"/>
              </a:spcBef>
              <a:spcAft>
                <a:spcPts val="0"/>
              </a:spcAft>
              <a:buClr>
                <a:schemeClr val="dk1"/>
              </a:buClr>
              <a:buSzPct val="100000"/>
              <a:buChar char="–"/>
            </a:pPr>
            <a:r>
              <a:rPr lang="fi-FI"/>
              <a:t>Testaajien kannattaa toisinaan testata jotain joka ei ole heille osoitettua</a:t>
            </a:r>
            <a:endParaRPr/>
          </a:p>
          <a:p>
            <a:pPr indent="-285750" lvl="1" marL="742950" rtl="0" algn="l">
              <a:spcBef>
                <a:spcPts val="434"/>
              </a:spcBef>
              <a:spcAft>
                <a:spcPts val="0"/>
              </a:spcAft>
              <a:buClr>
                <a:schemeClr val="dk1"/>
              </a:buClr>
              <a:buSzPct val="100000"/>
              <a:buChar char="–"/>
            </a:pPr>
            <a:r>
              <a:rPr lang="fi-FI"/>
              <a:t>”Näin kuuluukin toimia” ei ole suoraan hyväksyttävä vastaus</a:t>
            </a:r>
            <a:endParaRPr/>
          </a:p>
        </p:txBody>
      </p:sp>
      <p:sp>
        <p:nvSpPr>
          <p:cNvPr id="689" name="Google Shape;689;p37"/>
          <p:cNvSpPr/>
          <p:nvPr/>
        </p:nvSpPr>
        <p:spPr>
          <a:xfrm>
            <a:off x="5867400" y="152400"/>
            <a:ext cx="3124200" cy="1200329"/>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2400">
                <a:solidFill>
                  <a:schemeClr val="lt1"/>
                </a:solidFill>
                <a:latin typeface="Gill Sans"/>
                <a:ea typeface="Gill Sans"/>
                <a:cs typeface="Gill Sans"/>
                <a:sym typeface="Gill Sans"/>
              </a:rPr>
              <a:t>Testien laatu ei tule dokumentaatiosta, vaan </a:t>
            </a:r>
            <a:r>
              <a:rPr b="1" lang="fi-FI" sz="2400">
                <a:solidFill>
                  <a:schemeClr val="lt1"/>
                </a:solidFill>
                <a:latin typeface="Gill Sans"/>
                <a:ea typeface="Gill Sans"/>
                <a:cs typeface="Gill Sans"/>
                <a:sym typeface="Gill Sans"/>
              </a:rPr>
              <a:t>tuloksista</a:t>
            </a:r>
            <a:endParaRPr/>
          </a:p>
        </p:txBody>
      </p:sp>
      <p:sp>
        <p:nvSpPr>
          <p:cNvPr id="690" name="Google Shape;69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Testitapauksen mallipohja</a:t>
            </a:r>
            <a:endParaRPr/>
          </a:p>
        </p:txBody>
      </p:sp>
      <p:sp>
        <p:nvSpPr>
          <p:cNvPr id="697" name="Google Shape;69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graphicFrame>
        <p:nvGraphicFramePr>
          <p:cNvPr id="698" name="Google Shape;698;p38"/>
          <p:cNvGraphicFramePr/>
          <p:nvPr/>
        </p:nvGraphicFramePr>
        <p:xfrm>
          <a:off x="142876" y="1490764"/>
          <a:ext cx="3000000" cy="3000000"/>
        </p:xfrm>
        <a:graphic>
          <a:graphicData uri="http://schemas.openxmlformats.org/drawingml/2006/table">
            <a:tbl>
              <a:tblPr>
                <a:noFill/>
                <a:tableStyleId>{2922D00A-0D2C-46F2-92E8-5E025648F992}</a:tableStyleId>
              </a:tblPr>
              <a:tblGrid>
                <a:gridCol w="2067475"/>
                <a:gridCol w="6790800"/>
              </a:tblGrid>
              <a:tr h="320875">
                <a:tc gridSpan="2">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Testitapauksen tunniste ja otsikko</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accent1"/>
                    </a:solidFill>
                  </a:tcPr>
                </a:tc>
                <a:tc hMerge="1"/>
              </a:tr>
              <a:tr h="536375">
                <a:tc gridSpan="2">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&lt;hierarkiaa ilmaiseva numero&gt;&lt;Yhden lauseen mahdollisimman yksilöivä selitys testin tarkoituksesta ja kohteesta&gt;</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1423950">
                <a:tc>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Kuvaus testauksen kohteesta</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&lt;millaista asiaa tällä testillä testataan ”mitä”&gt;</a:t>
                      </a:r>
                      <a:endParaRPr sz="1400" u="none" cap="none" strike="noStrike">
                        <a:latin typeface="Calibri"/>
                        <a:ea typeface="Calibri"/>
                        <a:cs typeface="Calibri"/>
                        <a:sym typeface="Calibri"/>
                      </a:endParaRPr>
                    </a:p>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&lt;mistä tilanteesta testi lähtee liikkeelle&gt;</a:t>
                      </a:r>
                      <a:endParaRPr sz="1400" u="none" cap="none" strike="noStrike">
                        <a:latin typeface="Calibri"/>
                        <a:ea typeface="Calibri"/>
                        <a:cs typeface="Calibri"/>
                        <a:sym typeface="Calibri"/>
                      </a:endParaRPr>
                    </a:p>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&lt;millaisia asioita yleisesti tarkastellaan, mistä ollaan huolissaan miksi”&gt; </a:t>
                      </a:r>
                      <a:endParaRPr sz="1400" u="none" cap="none" strike="noStrike">
                        <a:latin typeface="Calibri"/>
                        <a:ea typeface="Calibri"/>
                        <a:cs typeface="Calibri"/>
                        <a:sym typeface="Calibri"/>
                      </a:endParaRPr>
                    </a:p>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&lt;yleiset ohjeet huolenaiheiden tarkistamiseksi, miten arvioidaan toimiiko vai onko huomioita raportoitavaksi&gt;</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76675">
                <a:tc>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Testiaineiston vaatimukset</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&lt;aineiston tai aineistojen kriteerit&gt;</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86125">
                <a:tc>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Toistotarve</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&lt;tilanteet joissa on tarpeen tarkastella samaa asiaa&gt;</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02675">
                <a:tc>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Tarkempi testiohje tarkistuksineen</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&lt;tarkastuslista katettavista huolenaiheista&gt;</a:t>
                      </a:r>
                      <a:endParaRPr sz="1400" u="none" cap="none" strike="noStrike">
                        <a:latin typeface="Calibri"/>
                        <a:ea typeface="Calibri"/>
                        <a:cs typeface="Calibri"/>
                        <a:sym typeface="Calibri"/>
                      </a:endParaRPr>
                    </a:p>
                    <a:p>
                      <a:pPr indent="0" lvl="0" marL="0" marR="0" rtl="0" algn="l">
                        <a:lnSpc>
                          <a:spcPct val="115000"/>
                        </a:lnSpc>
                        <a:spcBef>
                          <a:spcPts val="0"/>
                        </a:spcBef>
                        <a:spcAft>
                          <a:spcPts val="0"/>
                        </a:spcAft>
                        <a:buNone/>
                      </a:pPr>
                      <a:r>
                        <a:rPr lang="fi-FI" sz="1800" u="none" cap="none" strike="noStrike">
                          <a:latin typeface="Calibri"/>
                          <a:ea typeface="Calibri"/>
                          <a:cs typeface="Calibri"/>
                          <a:sym typeface="Calibri"/>
                        </a:rPr>
                        <a:t>&lt;miten kunkin huolenaiheen osalta voidaan varmistua että huolenaiheen osalta ei ole huomioita&gt;</a:t>
                      </a:r>
                      <a:endParaRPr sz="14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pic>
        <p:nvPicPr>
          <p:cNvPr id="704" name="Google Shape;704;p39"/>
          <p:cNvPicPr preferRelativeResize="0"/>
          <p:nvPr/>
        </p:nvPicPr>
        <p:blipFill rotWithShape="1">
          <a:blip r:embed="rId3">
            <a:alphaModFix/>
          </a:blip>
          <a:srcRect b="0" l="0" r="0" t="0"/>
          <a:stretch/>
        </p:blipFill>
        <p:spPr>
          <a:xfrm>
            <a:off x="81059" y="500042"/>
            <a:ext cx="8920097" cy="6000792"/>
          </a:xfrm>
          <a:prstGeom prst="rect">
            <a:avLst/>
          </a:prstGeom>
          <a:noFill/>
          <a:ln>
            <a:noFill/>
          </a:ln>
        </p:spPr>
      </p:pic>
      <p:sp>
        <p:nvSpPr>
          <p:cNvPr id="705" name="Google Shape;705;p39"/>
          <p:cNvSpPr/>
          <p:nvPr/>
        </p:nvSpPr>
        <p:spPr>
          <a:xfrm>
            <a:off x="7715272" y="142852"/>
            <a:ext cx="1214446" cy="1143008"/>
          </a:xfrm>
          <a:prstGeom prst="ellipse">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2000">
                <a:solidFill>
                  <a:schemeClr val="lt1"/>
                </a:solidFill>
                <a:latin typeface="Gill Sans"/>
                <a:ea typeface="Gill Sans"/>
                <a:cs typeface="Gill Sans"/>
                <a:sym typeface="Gill Sans"/>
              </a:rPr>
              <a:t>Free-Mind</a:t>
            </a:r>
            <a:endParaRPr b="1" sz="2000">
              <a:solidFill>
                <a:schemeClr val="lt1"/>
              </a:solidFill>
              <a:latin typeface="Gill Sans"/>
              <a:ea typeface="Gill Sans"/>
              <a:cs typeface="Gill Sans"/>
              <a:sym typeface="Gill Sans"/>
            </a:endParaRPr>
          </a:p>
        </p:txBody>
      </p:sp>
      <p:sp>
        <p:nvSpPr>
          <p:cNvPr id="706" name="Google Shape;706;p39"/>
          <p:cNvSpPr txBox="1"/>
          <p:nvPr/>
        </p:nvSpPr>
        <p:spPr>
          <a:xfrm>
            <a:off x="76200" y="76200"/>
            <a:ext cx="593596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2400">
                <a:solidFill>
                  <a:schemeClr val="dk1"/>
                </a:solidFill>
                <a:latin typeface="Gill Sans"/>
                <a:ea typeface="Gill Sans"/>
                <a:cs typeface="Gill Sans"/>
                <a:sym typeface="Gill Sans"/>
              </a:rPr>
              <a:t>Harjoitus: Testitapauksia FreeMindille</a:t>
            </a:r>
            <a:endParaRPr sz="2400">
              <a:solidFill>
                <a:schemeClr val="dk1"/>
              </a:solidFill>
              <a:latin typeface="Gill Sans"/>
              <a:ea typeface="Gill Sans"/>
              <a:cs typeface="Gill Sans"/>
              <a:sym typeface="Gill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Hyvien testien ominaisuuksia</a:t>
            </a:r>
            <a:endParaRPr/>
          </a:p>
        </p:txBody>
      </p:sp>
      <p:sp>
        <p:nvSpPr>
          <p:cNvPr id="713" name="Google Shape;713;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p>
            <a:pPr indent="-88900" lvl="0" marL="0" rtl="0" algn="l">
              <a:lnSpc>
                <a:spcPct val="110000"/>
              </a:lnSpc>
              <a:spcBef>
                <a:spcPts val="0"/>
              </a:spcBef>
              <a:spcAft>
                <a:spcPts val="0"/>
              </a:spcAft>
              <a:buClr>
                <a:schemeClr val="dk1"/>
              </a:buClr>
              <a:buSzPts val="1400"/>
              <a:buChar char="•"/>
            </a:pPr>
            <a:r>
              <a:rPr b="1" lang="fi-FI" sz="1400"/>
              <a:t>Teho</a:t>
            </a:r>
            <a:r>
              <a:rPr lang="fi-FI" sz="1400"/>
              <a:t>. Jos ongelma on, testi paljastaa sen.</a:t>
            </a:r>
            <a:endParaRPr/>
          </a:p>
          <a:p>
            <a:pPr indent="-88900" lvl="0" marL="0" rtl="0" algn="l">
              <a:lnSpc>
                <a:spcPct val="110000"/>
              </a:lnSpc>
              <a:spcBef>
                <a:spcPts val="280"/>
              </a:spcBef>
              <a:spcAft>
                <a:spcPts val="0"/>
              </a:spcAft>
              <a:buClr>
                <a:schemeClr val="dk1"/>
              </a:buClr>
              <a:buSzPts val="1400"/>
              <a:buChar char="•"/>
            </a:pPr>
            <a:r>
              <a:rPr b="1" lang="fi-FI" sz="1400"/>
              <a:t>Merkitys</a:t>
            </a:r>
            <a:r>
              <a:rPr lang="fi-FI" sz="1400"/>
              <a:t>. Jos testi paljastaa ongelman, se on todellinen. </a:t>
            </a:r>
            <a:endParaRPr/>
          </a:p>
          <a:p>
            <a:pPr indent="-88900" lvl="0" marL="0" rtl="0" algn="l">
              <a:lnSpc>
                <a:spcPct val="110000"/>
              </a:lnSpc>
              <a:spcBef>
                <a:spcPts val="280"/>
              </a:spcBef>
              <a:spcAft>
                <a:spcPts val="0"/>
              </a:spcAft>
              <a:buClr>
                <a:schemeClr val="dk1"/>
              </a:buClr>
              <a:buSzPts val="1400"/>
              <a:buChar char="•"/>
            </a:pPr>
            <a:r>
              <a:rPr b="1" lang="fi-FI" sz="1400"/>
              <a:t>Arvo</a:t>
            </a:r>
            <a:r>
              <a:rPr lang="fi-FI" sz="1400"/>
              <a:t>. Testi paljastaa asioita joita asiakkaasi haluavat tietää järjestelmästä tai projekteista.</a:t>
            </a:r>
            <a:endParaRPr/>
          </a:p>
          <a:p>
            <a:pPr indent="-88900" lvl="0" marL="0" rtl="0" algn="l">
              <a:lnSpc>
                <a:spcPct val="110000"/>
              </a:lnSpc>
              <a:spcBef>
                <a:spcPts val="280"/>
              </a:spcBef>
              <a:spcAft>
                <a:spcPts val="0"/>
              </a:spcAft>
              <a:buClr>
                <a:schemeClr val="dk1"/>
              </a:buClr>
              <a:buSzPts val="1400"/>
              <a:buChar char="•"/>
            </a:pPr>
            <a:r>
              <a:rPr b="1" lang="fi-FI" sz="1400"/>
              <a:t>Uskottava</a:t>
            </a:r>
            <a:r>
              <a:rPr lang="fi-FI" sz="1400"/>
              <a:t>. Asiakkaasi uskovat että testin sisältämä toiminta tapahtuu oikeassa elämässä. </a:t>
            </a:r>
            <a:endParaRPr/>
          </a:p>
          <a:p>
            <a:pPr indent="-88900" lvl="0" marL="0" rtl="0" algn="l">
              <a:lnSpc>
                <a:spcPct val="110000"/>
              </a:lnSpc>
              <a:spcBef>
                <a:spcPts val="280"/>
              </a:spcBef>
              <a:spcAft>
                <a:spcPts val="0"/>
              </a:spcAft>
              <a:buClr>
                <a:schemeClr val="dk1"/>
              </a:buClr>
              <a:buSzPts val="1400"/>
              <a:buChar char="•"/>
            </a:pPr>
            <a:r>
              <a:rPr b="1" lang="fi-FI" sz="1400"/>
              <a:t>Edustava. </a:t>
            </a:r>
            <a:r>
              <a:rPr lang="fi-FI" sz="1400"/>
              <a:t>Käyttäjän oikeasti kohtaamien asioiden osalta. </a:t>
            </a:r>
            <a:endParaRPr/>
          </a:p>
          <a:p>
            <a:pPr indent="-88900" lvl="0" marL="0" rtl="0" algn="l">
              <a:lnSpc>
                <a:spcPct val="110000"/>
              </a:lnSpc>
              <a:spcBef>
                <a:spcPts val="280"/>
              </a:spcBef>
              <a:spcAft>
                <a:spcPts val="0"/>
              </a:spcAft>
              <a:buClr>
                <a:schemeClr val="dk1"/>
              </a:buClr>
              <a:buSzPts val="1400"/>
              <a:buChar char="•"/>
            </a:pPr>
            <a:r>
              <a:rPr b="1" lang="fi-FI" sz="1400"/>
              <a:t>Toistoa välttävä</a:t>
            </a:r>
            <a:r>
              <a:rPr lang="fi-FI" sz="1400"/>
              <a:t>. Testi edustaa ryhmää joka kohdistuu samaan riskiin.</a:t>
            </a:r>
            <a:endParaRPr/>
          </a:p>
          <a:p>
            <a:pPr indent="-88900" lvl="0" marL="0" rtl="0" algn="l">
              <a:lnSpc>
                <a:spcPct val="110000"/>
              </a:lnSpc>
              <a:spcBef>
                <a:spcPts val="280"/>
              </a:spcBef>
              <a:spcAft>
                <a:spcPts val="0"/>
              </a:spcAft>
              <a:buClr>
                <a:schemeClr val="dk1"/>
              </a:buClr>
              <a:buSzPts val="1400"/>
              <a:buChar char="•"/>
            </a:pPr>
            <a:r>
              <a:rPr b="1" lang="fi-FI" sz="1400"/>
              <a:t>Motivoiva</a:t>
            </a:r>
            <a:r>
              <a:rPr lang="fi-FI" sz="1400"/>
              <a:t>. Testillä löytynyt ongelma halutaan korjata. </a:t>
            </a:r>
            <a:endParaRPr/>
          </a:p>
          <a:p>
            <a:pPr indent="-88900" lvl="0" marL="0" rtl="0" algn="l">
              <a:lnSpc>
                <a:spcPct val="110000"/>
              </a:lnSpc>
              <a:spcBef>
                <a:spcPts val="280"/>
              </a:spcBef>
              <a:spcAft>
                <a:spcPts val="0"/>
              </a:spcAft>
              <a:buClr>
                <a:schemeClr val="dk1"/>
              </a:buClr>
              <a:buSzPts val="1400"/>
              <a:buChar char="•"/>
            </a:pPr>
            <a:r>
              <a:rPr b="1" lang="fi-FI" sz="1400"/>
              <a:t>Suoritettava</a:t>
            </a:r>
            <a:r>
              <a:rPr lang="fi-FI" sz="1400"/>
              <a:t>. Voidaan toteuttaa kuten tarkoitettiin. </a:t>
            </a:r>
            <a:endParaRPr/>
          </a:p>
          <a:p>
            <a:pPr indent="-88900" lvl="0" marL="0" rtl="0" algn="l">
              <a:lnSpc>
                <a:spcPct val="110000"/>
              </a:lnSpc>
              <a:spcBef>
                <a:spcPts val="280"/>
              </a:spcBef>
              <a:spcAft>
                <a:spcPts val="0"/>
              </a:spcAft>
              <a:buClr>
                <a:schemeClr val="dk1"/>
              </a:buClr>
              <a:buSzPts val="1400"/>
              <a:buChar char="•"/>
            </a:pPr>
            <a:r>
              <a:rPr b="1" lang="fi-FI" sz="1400"/>
              <a:t>Ylläpidettävä</a:t>
            </a:r>
            <a:r>
              <a:rPr lang="fi-FI" sz="1400"/>
              <a:t>. Helppo päivittää muutoksissa. </a:t>
            </a:r>
            <a:endParaRPr/>
          </a:p>
          <a:p>
            <a:pPr indent="0" lvl="0" marL="0" rtl="0" algn="l">
              <a:lnSpc>
                <a:spcPct val="110000"/>
              </a:lnSpc>
              <a:spcBef>
                <a:spcPts val="280"/>
              </a:spcBef>
              <a:spcAft>
                <a:spcPts val="0"/>
              </a:spcAft>
              <a:buClr>
                <a:schemeClr val="dk1"/>
              </a:buClr>
              <a:buSzPts val="1400"/>
              <a:buNone/>
            </a:pPr>
            <a:r>
              <a:t/>
            </a:r>
            <a:endParaRPr sz="1400"/>
          </a:p>
        </p:txBody>
      </p:sp>
      <p:sp>
        <p:nvSpPr>
          <p:cNvPr id="714" name="Google Shape;714;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p>
            <a:pPr indent="-88900" lvl="0" marL="0" rtl="0" algn="l">
              <a:lnSpc>
                <a:spcPct val="110000"/>
              </a:lnSpc>
              <a:spcBef>
                <a:spcPts val="0"/>
              </a:spcBef>
              <a:spcAft>
                <a:spcPts val="0"/>
              </a:spcAft>
              <a:buClr>
                <a:schemeClr val="dk1"/>
              </a:buClr>
              <a:buSzPts val="1400"/>
              <a:buChar char="•"/>
            </a:pPr>
            <a:r>
              <a:rPr b="1" lang="fi-FI" sz="1400"/>
              <a:t>Toistettava</a:t>
            </a:r>
            <a:r>
              <a:rPr lang="fi-FI" sz="1400"/>
              <a:t>. Helppoa ja halpaa uudelleen käyttää.</a:t>
            </a:r>
            <a:endParaRPr/>
          </a:p>
          <a:p>
            <a:pPr indent="-88900" lvl="0" marL="0" rtl="0" algn="l">
              <a:lnSpc>
                <a:spcPct val="110000"/>
              </a:lnSpc>
              <a:spcBef>
                <a:spcPts val="280"/>
              </a:spcBef>
              <a:spcAft>
                <a:spcPts val="0"/>
              </a:spcAft>
              <a:buClr>
                <a:schemeClr val="dk1"/>
              </a:buClr>
              <a:buSzPts val="1400"/>
              <a:buChar char="•"/>
            </a:pPr>
            <a:r>
              <a:rPr b="1" lang="fi-FI" sz="1400"/>
              <a:t>Paljastava</a:t>
            </a:r>
            <a:r>
              <a:rPr lang="fi-FI" sz="1400"/>
              <a:t>. Opettaa jotain omista kriittisistä oletuksistamme.</a:t>
            </a:r>
            <a:endParaRPr/>
          </a:p>
          <a:p>
            <a:pPr indent="-88900" lvl="0" marL="0" rtl="0" algn="l">
              <a:lnSpc>
                <a:spcPct val="110000"/>
              </a:lnSpc>
              <a:spcBef>
                <a:spcPts val="280"/>
              </a:spcBef>
              <a:spcAft>
                <a:spcPts val="0"/>
              </a:spcAft>
              <a:buClr>
                <a:schemeClr val="dk1"/>
              </a:buClr>
              <a:buSzPts val="1400"/>
              <a:buChar char="•"/>
            </a:pPr>
            <a:r>
              <a:rPr b="1" lang="fi-FI" sz="1400"/>
              <a:t>Kattava</a:t>
            </a:r>
            <a:r>
              <a:rPr lang="fi-FI" sz="1400"/>
              <a:t>. Käsittelee ominaisuuksia joita muut testit eivät kosketa</a:t>
            </a:r>
            <a:endParaRPr/>
          </a:p>
          <a:p>
            <a:pPr indent="-88900" lvl="0" marL="0" rtl="0" algn="l">
              <a:lnSpc>
                <a:spcPct val="110000"/>
              </a:lnSpc>
              <a:spcBef>
                <a:spcPts val="280"/>
              </a:spcBef>
              <a:spcAft>
                <a:spcPts val="0"/>
              </a:spcAft>
              <a:buClr>
                <a:schemeClr val="dk1"/>
              </a:buClr>
              <a:buSzPts val="1400"/>
              <a:buChar char="•"/>
            </a:pPr>
            <a:r>
              <a:rPr b="1" lang="fi-FI" sz="1400"/>
              <a:t>Helppo arvottaa</a:t>
            </a:r>
            <a:r>
              <a:rPr lang="fi-FI" sz="1400"/>
              <a:t>. Tiedetään löytyykö virhe.  </a:t>
            </a:r>
            <a:endParaRPr/>
          </a:p>
          <a:p>
            <a:pPr indent="-88900" lvl="0" marL="0" rtl="0" algn="l">
              <a:lnSpc>
                <a:spcPct val="110000"/>
              </a:lnSpc>
              <a:spcBef>
                <a:spcPts val="280"/>
              </a:spcBef>
              <a:spcAft>
                <a:spcPts val="0"/>
              </a:spcAft>
              <a:buClr>
                <a:schemeClr val="dk1"/>
              </a:buClr>
              <a:buSzPts val="1400"/>
              <a:buChar char="•"/>
            </a:pPr>
            <a:r>
              <a:rPr b="1" lang="fi-FI" sz="1400"/>
              <a:t>Auttaa ongelman paikallistamisessa</a:t>
            </a:r>
            <a:r>
              <a:rPr lang="fi-FI" sz="1400"/>
              <a:t>. Tietoa vikaa paikallistavalle ohjelmoijalle. </a:t>
            </a:r>
            <a:endParaRPr/>
          </a:p>
          <a:p>
            <a:pPr indent="-88900" lvl="0" marL="0" rtl="0" algn="l">
              <a:lnSpc>
                <a:spcPct val="110000"/>
              </a:lnSpc>
              <a:spcBef>
                <a:spcPts val="280"/>
              </a:spcBef>
              <a:spcAft>
                <a:spcPts val="0"/>
              </a:spcAft>
              <a:buClr>
                <a:schemeClr val="dk1"/>
              </a:buClr>
              <a:buSzPts val="1400"/>
              <a:buChar char="•"/>
            </a:pPr>
            <a:r>
              <a:rPr b="1" lang="fi-FI" sz="1400"/>
              <a:t>Sopivan monimutkainen</a:t>
            </a:r>
            <a:r>
              <a:rPr lang="fi-FI" sz="1400"/>
              <a:t>. Perusvakauden jälkeen edustaa paremmin kokeneiden käyttäjien käyttötilanteita. </a:t>
            </a:r>
            <a:endParaRPr/>
          </a:p>
          <a:p>
            <a:pPr indent="-88900" lvl="0" marL="0" rtl="0" algn="l">
              <a:lnSpc>
                <a:spcPct val="110000"/>
              </a:lnSpc>
              <a:spcBef>
                <a:spcPts val="280"/>
              </a:spcBef>
              <a:spcAft>
                <a:spcPts val="0"/>
              </a:spcAft>
              <a:buClr>
                <a:schemeClr val="dk1"/>
              </a:buClr>
              <a:buSzPts val="1400"/>
              <a:buChar char="•"/>
            </a:pPr>
            <a:r>
              <a:rPr b="1" lang="fi-FI" sz="1400"/>
              <a:t>Jäljitettävissä</a:t>
            </a:r>
            <a:r>
              <a:rPr lang="fi-FI" sz="1400"/>
              <a:t>. Pystyt selittämään, perustelemaan ja todistamaan että se suoritettiin.</a:t>
            </a:r>
            <a:endParaRPr/>
          </a:p>
          <a:p>
            <a:pPr indent="-88900" lvl="0" marL="0" rtl="0" algn="l">
              <a:lnSpc>
                <a:spcPct val="110000"/>
              </a:lnSpc>
              <a:spcBef>
                <a:spcPts val="280"/>
              </a:spcBef>
              <a:spcAft>
                <a:spcPts val="0"/>
              </a:spcAft>
              <a:buClr>
                <a:schemeClr val="dk1"/>
              </a:buClr>
              <a:buSzPts val="1400"/>
              <a:buChar char="•"/>
            </a:pPr>
            <a:r>
              <a:rPr b="1" lang="fi-FI" sz="1400"/>
              <a:t>Kustannus</a:t>
            </a:r>
            <a:r>
              <a:rPr lang="fi-FI" sz="1400"/>
              <a:t>. Sisältää niin ajan kuin työmäärän, samoin kuin suorat kustannukset. </a:t>
            </a:r>
            <a:endParaRPr/>
          </a:p>
          <a:p>
            <a:pPr indent="-88900" lvl="0" marL="0" rtl="0" algn="l">
              <a:lnSpc>
                <a:spcPct val="110000"/>
              </a:lnSpc>
              <a:spcBef>
                <a:spcPts val="280"/>
              </a:spcBef>
              <a:spcAft>
                <a:spcPts val="0"/>
              </a:spcAft>
              <a:buClr>
                <a:schemeClr val="dk1"/>
              </a:buClr>
              <a:buSzPts val="1400"/>
              <a:buChar char="•"/>
            </a:pPr>
            <a:r>
              <a:rPr b="1" lang="fi-FI" sz="1400"/>
              <a:t>Vaihtoehtoiskustannus</a:t>
            </a:r>
            <a:r>
              <a:rPr lang="fi-FI" sz="1400"/>
              <a:t>. Mitä muuta työtä testi sai jättämään tekemättä?</a:t>
            </a:r>
            <a:endParaRPr/>
          </a:p>
        </p:txBody>
      </p:sp>
      <p:sp>
        <p:nvSpPr>
          <p:cNvPr id="715" name="Google Shape;715;p40"/>
          <p:cNvSpPr/>
          <p:nvPr/>
        </p:nvSpPr>
        <p:spPr>
          <a:xfrm>
            <a:off x="457201" y="5791200"/>
            <a:ext cx="4038600" cy="8636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Eri testeille eri ominaisuudet tärkeitä. Ominaisuudet osin keskenään ristiriidassa.</a:t>
            </a:r>
            <a:endParaRPr sz="1800">
              <a:solidFill>
                <a:schemeClr val="lt1"/>
              </a:solidFill>
              <a:latin typeface="Gill Sans"/>
              <a:ea typeface="Gill Sans"/>
              <a:cs typeface="Gill Sans"/>
              <a:sym typeface="Gill Sans"/>
            </a:endParaRPr>
          </a:p>
        </p:txBody>
      </p:sp>
      <p:sp>
        <p:nvSpPr>
          <p:cNvPr id="716" name="Google Shape;71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Yksityiskohtaisten ohjeiden tarve?</a:t>
            </a:r>
            <a:endParaRPr/>
          </a:p>
        </p:txBody>
      </p:sp>
      <p:sp>
        <p:nvSpPr>
          <p:cNvPr id="723" name="Google Shape;723;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Clr>
                <a:schemeClr val="dk1"/>
              </a:buClr>
              <a:buSzPct val="100000"/>
              <a:buChar char="•"/>
            </a:pPr>
            <a:r>
              <a:rPr lang="fi-FI"/>
              <a:t>Onko oikea toiminnallisuus kuvattu testien ulkopuolella?</a:t>
            </a:r>
            <a:endParaRPr/>
          </a:p>
          <a:p>
            <a:pPr indent="-285750" lvl="1" marL="742950" rtl="0" algn="l">
              <a:spcBef>
                <a:spcPts val="350"/>
              </a:spcBef>
              <a:spcAft>
                <a:spcPts val="0"/>
              </a:spcAft>
              <a:buClr>
                <a:schemeClr val="dk1"/>
              </a:buClr>
              <a:buSzPct val="100000"/>
              <a:buChar char="–"/>
            </a:pPr>
            <a:r>
              <a:rPr lang="fi-FI"/>
              <a:t>Toteutuspuolen toiminnallisuus- ja arkkitehtuurimäärittelyt</a:t>
            </a:r>
            <a:endParaRPr/>
          </a:p>
          <a:p>
            <a:pPr indent="-285750" lvl="1" marL="742950" rtl="0" algn="l">
              <a:spcBef>
                <a:spcPts val="350"/>
              </a:spcBef>
              <a:spcAft>
                <a:spcPts val="0"/>
              </a:spcAft>
              <a:buClr>
                <a:schemeClr val="dk1"/>
              </a:buClr>
              <a:buSzPct val="100000"/>
              <a:buChar char="–"/>
            </a:pPr>
            <a:r>
              <a:rPr lang="fi-FI"/>
              <a:t>Kuinka tehdään –ohjeet</a:t>
            </a:r>
            <a:endParaRPr/>
          </a:p>
          <a:p>
            <a:pPr indent="-342900" lvl="0" marL="342900" rtl="0" algn="l">
              <a:spcBef>
                <a:spcPts val="400"/>
              </a:spcBef>
              <a:spcAft>
                <a:spcPts val="0"/>
              </a:spcAft>
              <a:buClr>
                <a:schemeClr val="dk1"/>
              </a:buClr>
              <a:buSzPct val="100000"/>
              <a:buChar char="•"/>
            </a:pPr>
            <a:r>
              <a:rPr lang="fi-FI"/>
              <a:t>Odotus testauksen tekijöiden taidoille</a:t>
            </a:r>
            <a:endParaRPr/>
          </a:p>
          <a:p>
            <a:pPr indent="-285750" lvl="1" marL="742950" rtl="0" algn="l">
              <a:spcBef>
                <a:spcPts val="350"/>
              </a:spcBef>
              <a:spcAft>
                <a:spcPts val="0"/>
              </a:spcAft>
              <a:buClr>
                <a:schemeClr val="dk1"/>
              </a:buClr>
              <a:buSzPct val="100000"/>
              <a:buChar char="–"/>
            </a:pPr>
            <a:r>
              <a:rPr lang="fi-FI"/>
              <a:t>Satunnainen poikkeaminen testaustehtäviin, ei aikaa ajatella - “Vain yksi dokumentti testaajalle” </a:t>
            </a:r>
            <a:endParaRPr/>
          </a:p>
          <a:p>
            <a:pPr indent="-285750" lvl="1" marL="742950" rtl="0" algn="l">
              <a:spcBef>
                <a:spcPts val="350"/>
              </a:spcBef>
              <a:spcAft>
                <a:spcPts val="0"/>
              </a:spcAft>
              <a:buClr>
                <a:schemeClr val="dk1"/>
              </a:buClr>
              <a:buSzPct val="100000"/>
              <a:buChar char="–"/>
            </a:pPr>
            <a:r>
              <a:rPr lang="fi-FI"/>
              <a:t>Testaajalta odotetaan pohdintaa ja laajennoksia</a:t>
            </a:r>
            <a:endParaRPr/>
          </a:p>
          <a:p>
            <a:pPr indent="-342900" lvl="0" marL="342900" rtl="0" algn="l">
              <a:spcBef>
                <a:spcPts val="400"/>
              </a:spcBef>
              <a:spcAft>
                <a:spcPts val="0"/>
              </a:spcAft>
              <a:buClr>
                <a:schemeClr val="dk1"/>
              </a:buClr>
              <a:buSzPct val="100000"/>
              <a:buChar char="•"/>
            </a:pPr>
            <a:r>
              <a:rPr lang="fi-FI"/>
              <a:t>Dokumentaation omistajuus ja ylläpidon huomiointi</a:t>
            </a:r>
            <a:endParaRPr/>
          </a:p>
          <a:p>
            <a:pPr indent="-285750" lvl="1" marL="742950" rtl="0" algn="l">
              <a:spcBef>
                <a:spcPts val="350"/>
              </a:spcBef>
              <a:spcAft>
                <a:spcPts val="0"/>
              </a:spcAft>
              <a:buClr>
                <a:schemeClr val="dk1"/>
              </a:buClr>
              <a:buSzPct val="100000"/>
              <a:buChar char="–"/>
            </a:pPr>
            <a:r>
              <a:rPr lang="fi-FI"/>
              <a:t>Testaus etenkin kaipaa dokumentaatiota ylläpitovaiheeseen</a:t>
            </a:r>
            <a:endParaRPr/>
          </a:p>
          <a:p>
            <a:pPr indent="-285750" lvl="1" marL="742950" rtl="0" algn="l">
              <a:spcBef>
                <a:spcPts val="350"/>
              </a:spcBef>
              <a:spcAft>
                <a:spcPts val="0"/>
              </a:spcAft>
              <a:buClr>
                <a:schemeClr val="dk1"/>
              </a:buClr>
              <a:buSzPct val="100000"/>
              <a:buChar char="–"/>
            </a:pPr>
            <a:r>
              <a:rPr lang="fi-FI"/>
              <a:t>Voiko olettaa että kenenkään muun ylläpitämä </a:t>
            </a:r>
            <a:br>
              <a:rPr lang="fi-FI"/>
            </a:br>
            <a:r>
              <a:rPr lang="fi-FI"/>
              <a:t>dokumentaatio palvelee testauksen tarkoituksia?</a:t>
            </a:r>
            <a:endParaRPr/>
          </a:p>
          <a:p>
            <a:pPr indent="-342900" lvl="0" marL="342900" rtl="0" algn="l">
              <a:spcBef>
                <a:spcPts val="400"/>
              </a:spcBef>
              <a:spcAft>
                <a:spcPts val="0"/>
              </a:spcAft>
              <a:buClr>
                <a:schemeClr val="dk1"/>
              </a:buClr>
              <a:buSzPct val="100000"/>
              <a:buChar char="•"/>
            </a:pPr>
            <a:r>
              <a:rPr lang="fi-FI"/>
              <a:t>Suojautumisen tarve</a:t>
            </a:r>
            <a:endParaRPr/>
          </a:p>
          <a:p>
            <a:pPr indent="-285750" lvl="1" marL="742950" rtl="0" algn="l">
              <a:spcBef>
                <a:spcPts val="350"/>
              </a:spcBef>
              <a:spcAft>
                <a:spcPts val="0"/>
              </a:spcAft>
              <a:buClr>
                <a:schemeClr val="dk1"/>
              </a:buClr>
              <a:buSzPct val="100000"/>
              <a:buChar char="–"/>
            </a:pPr>
            <a:r>
              <a:rPr lang="fi-FI"/>
              <a:t>Tiukan aikataulun tiukat prioriteetit ja niiden seuraukset </a:t>
            </a:r>
            <a:br>
              <a:rPr lang="fi-FI"/>
            </a:br>
            <a:r>
              <a:rPr lang="fi-FI"/>
              <a:t>usein vaikea ymmärtää etukäteen</a:t>
            </a:r>
            <a:endParaRPr/>
          </a:p>
          <a:p>
            <a:pPr indent="-285750" lvl="1" marL="742950" rtl="0" algn="l">
              <a:spcBef>
                <a:spcPts val="350"/>
              </a:spcBef>
              <a:spcAft>
                <a:spcPts val="0"/>
              </a:spcAft>
              <a:buClr>
                <a:schemeClr val="dk1"/>
              </a:buClr>
              <a:buSzPct val="100000"/>
              <a:buChar char="–"/>
            </a:pPr>
            <a:r>
              <a:rPr lang="fi-FI"/>
              <a:t>Oman ja asiakasorganisaation kulttuuri vaikuttaa </a:t>
            </a:r>
            <a:br>
              <a:rPr lang="fi-FI"/>
            </a:br>
            <a:r>
              <a:rPr lang="fi-FI"/>
              <a:t>merkittävästi</a:t>
            </a:r>
            <a:endParaRPr/>
          </a:p>
        </p:txBody>
      </p:sp>
      <p:pic>
        <p:nvPicPr>
          <p:cNvPr id="724" name="Google Shape;724;p41"/>
          <p:cNvPicPr preferRelativeResize="0"/>
          <p:nvPr/>
        </p:nvPicPr>
        <p:blipFill rotWithShape="1">
          <a:blip r:embed="rId3">
            <a:alphaModFix/>
          </a:blip>
          <a:srcRect b="0" l="0" r="0" t="0"/>
          <a:stretch/>
        </p:blipFill>
        <p:spPr>
          <a:xfrm>
            <a:off x="7446963" y="3962400"/>
            <a:ext cx="1620837" cy="2438400"/>
          </a:xfrm>
          <a:prstGeom prst="rect">
            <a:avLst/>
          </a:prstGeom>
          <a:noFill/>
          <a:ln>
            <a:noFill/>
          </a:ln>
        </p:spPr>
      </p:pic>
      <p:sp>
        <p:nvSpPr>
          <p:cNvPr id="725" name="Google Shape;725;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Onnistunut testitapausten suunnittelu</a:t>
            </a:r>
            <a:endParaRPr/>
          </a:p>
        </p:txBody>
      </p:sp>
      <p:sp>
        <p:nvSpPr>
          <p:cNvPr id="732" name="Google Shape;732;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127000" lvl="0" marL="0" rtl="0" algn="l">
              <a:lnSpc>
                <a:spcPct val="110000"/>
              </a:lnSpc>
              <a:spcBef>
                <a:spcPts val="0"/>
              </a:spcBef>
              <a:spcAft>
                <a:spcPts val="0"/>
              </a:spcAft>
              <a:buClr>
                <a:schemeClr val="dk1"/>
              </a:buClr>
              <a:buSzPts val="2000"/>
              <a:buChar char="•"/>
            </a:pPr>
            <a:r>
              <a:rPr lang="fi-FI" sz="2000"/>
              <a:t>Oppimisaspekti</a:t>
            </a:r>
            <a:endParaRPr sz="2000"/>
          </a:p>
          <a:p>
            <a:pPr indent="-187325" lvl="1" marL="377825" rtl="0" algn="l">
              <a:lnSpc>
                <a:spcPct val="90000"/>
              </a:lnSpc>
              <a:spcBef>
                <a:spcPts val="360"/>
              </a:spcBef>
              <a:spcAft>
                <a:spcPts val="0"/>
              </a:spcAft>
              <a:buClr>
                <a:schemeClr val="dk1"/>
              </a:buClr>
              <a:buSzPts val="1800"/>
              <a:buChar char="–"/>
            </a:pPr>
            <a:r>
              <a:rPr lang="fi-FI" sz="1800"/>
              <a:t>Antoi aikaa tutustua järjestelmään ja siltä vaadittaviin asioihin, sekä jäsentää niitä testaukselle selkeällä tavalla</a:t>
            </a:r>
            <a:endParaRPr sz="1800"/>
          </a:p>
          <a:p>
            <a:pPr indent="-187325" lvl="1" marL="377825" rtl="0" algn="l">
              <a:lnSpc>
                <a:spcPct val="90000"/>
              </a:lnSpc>
              <a:spcBef>
                <a:spcPts val="360"/>
              </a:spcBef>
              <a:spcAft>
                <a:spcPts val="0"/>
              </a:spcAft>
              <a:buClr>
                <a:schemeClr val="dk1"/>
              </a:buClr>
              <a:buSzPts val="1800"/>
              <a:buChar char="–"/>
            </a:pPr>
            <a:r>
              <a:rPr lang="fi-FI" sz="1800"/>
              <a:t>Auttoi täydentämään testejä porukkana yli yksilön kapasiteetin</a:t>
            </a:r>
            <a:endParaRPr sz="1800"/>
          </a:p>
          <a:p>
            <a:pPr indent="-127000" lvl="0" marL="0" rtl="0" algn="l">
              <a:lnSpc>
                <a:spcPct val="110000"/>
              </a:lnSpc>
              <a:spcBef>
                <a:spcPts val="400"/>
              </a:spcBef>
              <a:spcAft>
                <a:spcPts val="0"/>
              </a:spcAft>
              <a:buClr>
                <a:schemeClr val="dk1"/>
              </a:buClr>
              <a:buSzPts val="2000"/>
              <a:buChar char="•"/>
            </a:pPr>
            <a:r>
              <a:rPr lang="fi-FI" sz="2000"/>
              <a:t>Osallistumisaspekti</a:t>
            </a:r>
            <a:endParaRPr sz="2000"/>
          </a:p>
          <a:p>
            <a:pPr indent="-187325" lvl="1" marL="377825" rtl="0" algn="l">
              <a:lnSpc>
                <a:spcPct val="90000"/>
              </a:lnSpc>
              <a:spcBef>
                <a:spcPts val="360"/>
              </a:spcBef>
              <a:spcAft>
                <a:spcPts val="0"/>
              </a:spcAft>
              <a:buClr>
                <a:schemeClr val="dk1"/>
              </a:buClr>
              <a:buSzPts val="1800"/>
              <a:buChar char="–"/>
            </a:pPr>
            <a:r>
              <a:rPr lang="fi-FI" sz="1800"/>
              <a:t>Sai ihmiset mukaan päättämään miten valmis määritellään ja mitä siihen kuuluu</a:t>
            </a:r>
            <a:endParaRPr sz="1800"/>
          </a:p>
          <a:p>
            <a:pPr indent="-187325" lvl="1" marL="377825" rtl="0" algn="l">
              <a:lnSpc>
                <a:spcPct val="90000"/>
              </a:lnSpc>
              <a:spcBef>
                <a:spcPts val="360"/>
              </a:spcBef>
              <a:spcAft>
                <a:spcPts val="0"/>
              </a:spcAft>
              <a:buClr>
                <a:schemeClr val="dk1"/>
              </a:buClr>
              <a:buSzPts val="1800"/>
              <a:buChar char="–"/>
            </a:pPr>
            <a:r>
              <a:rPr lang="fi-FI" sz="1800"/>
              <a:t>Sai ihmiset ottamaan kantaa tärkeysjärjestykseen ja siitä seuraaviin konkreettisiin valintoihin</a:t>
            </a:r>
            <a:endParaRPr sz="1800"/>
          </a:p>
          <a:p>
            <a:pPr indent="-127000" lvl="0" marL="0" rtl="0" algn="l">
              <a:lnSpc>
                <a:spcPct val="110000"/>
              </a:lnSpc>
              <a:spcBef>
                <a:spcPts val="400"/>
              </a:spcBef>
              <a:spcAft>
                <a:spcPts val="0"/>
              </a:spcAft>
              <a:buClr>
                <a:schemeClr val="dk1"/>
              </a:buClr>
              <a:buSzPts val="2000"/>
              <a:buChar char="•"/>
            </a:pPr>
            <a:r>
              <a:rPr lang="fi-FI" sz="2000"/>
              <a:t>Tehokkuusaspekti</a:t>
            </a:r>
            <a:endParaRPr sz="2000"/>
          </a:p>
          <a:p>
            <a:pPr indent="-187325" lvl="1" marL="377825" rtl="0" algn="l">
              <a:lnSpc>
                <a:spcPct val="90000"/>
              </a:lnSpc>
              <a:spcBef>
                <a:spcPts val="360"/>
              </a:spcBef>
              <a:spcAft>
                <a:spcPts val="0"/>
              </a:spcAft>
              <a:buClr>
                <a:schemeClr val="dk1"/>
              </a:buClr>
              <a:buSzPts val="1800"/>
              <a:buChar char="–"/>
            </a:pPr>
            <a:r>
              <a:rPr lang="fi-FI" sz="1800"/>
              <a:t>Kohdisti rajalliset voimavarat arvokkaisiin asioihin: merkittäviin virheisiin tai keskeisiin toiminnallisuuksiin</a:t>
            </a:r>
            <a:endParaRPr sz="1800"/>
          </a:p>
          <a:p>
            <a:pPr indent="-187325" lvl="1" marL="377825" rtl="0" algn="l">
              <a:lnSpc>
                <a:spcPct val="90000"/>
              </a:lnSpc>
              <a:spcBef>
                <a:spcPts val="360"/>
              </a:spcBef>
              <a:spcAft>
                <a:spcPts val="0"/>
              </a:spcAft>
              <a:buClr>
                <a:schemeClr val="dk1"/>
              </a:buClr>
              <a:buSzPts val="1800"/>
              <a:buChar char="–"/>
            </a:pPr>
            <a:r>
              <a:rPr lang="fi-FI" sz="1800"/>
              <a:t>Mahdollisti painotusten vaihdon oppimisen myötä kesken projektin</a:t>
            </a:r>
            <a:endParaRPr sz="1800"/>
          </a:p>
          <a:p>
            <a:pPr indent="-127000" lvl="0" marL="0" rtl="0" algn="l">
              <a:lnSpc>
                <a:spcPct val="110000"/>
              </a:lnSpc>
              <a:spcBef>
                <a:spcPts val="400"/>
              </a:spcBef>
              <a:spcAft>
                <a:spcPts val="0"/>
              </a:spcAft>
              <a:buClr>
                <a:schemeClr val="dk1"/>
              </a:buClr>
              <a:buSzPts val="2000"/>
              <a:buChar char="•"/>
            </a:pPr>
            <a:r>
              <a:rPr lang="fi-FI" sz="2000"/>
              <a:t>Kattavuusaspekti</a:t>
            </a:r>
            <a:endParaRPr sz="2000"/>
          </a:p>
          <a:p>
            <a:pPr indent="-187325" lvl="1" marL="377825" rtl="0" algn="l">
              <a:lnSpc>
                <a:spcPct val="90000"/>
              </a:lnSpc>
              <a:spcBef>
                <a:spcPts val="360"/>
              </a:spcBef>
              <a:spcAft>
                <a:spcPts val="0"/>
              </a:spcAft>
              <a:buClr>
                <a:schemeClr val="dk1"/>
              </a:buClr>
              <a:buSzPts val="1800"/>
              <a:buChar char="–"/>
            </a:pPr>
            <a:r>
              <a:rPr lang="fi-FI" sz="1800"/>
              <a:t>Antoi turvallisen tunteen joka kesti todellisuuden paineet tärkeiden asioiden löytymisestä ajallaan</a:t>
            </a:r>
            <a:endParaRPr sz="1800"/>
          </a:p>
        </p:txBody>
      </p:sp>
      <p:sp>
        <p:nvSpPr>
          <p:cNvPr id="733" name="Google Shape;733;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grpSp>
        <p:nvGrpSpPr>
          <p:cNvPr id="738" name="Google Shape;738;p43"/>
          <p:cNvGrpSpPr/>
          <p:nvPr/>
        </p:nvGrpSpPr>
        <p:grpSpPr>
          <a:xfrm>
            <a:off x="1763688" y="764704"/>
            <a:ext cx="5873824" cy="1368046"/>
            <a:chOff x="0" y="762051"/>
            <a:chExt cx="5987008" cy="287819"/>
          </a:xfrm>
        </p:grpSpPr>
        <p:sp>
          <p:nvSpPr>
            <p:cNvPr id="739" name="Google Shape;739;p43"/>
            <p:cNvSpPr/>
            <p:nvPr/>
          </p:nvSpPr>
          <p:spPr>
            <a:xfrm>
              <a:off x="0" y="762051"/>
              <a:ext cx="5987008" cy="287819"/>
            </a:xfrm>
            <a:prstGeom prst="roundRect">
              <a:avLst>
                <a:gd fmla="val 16667" name="adj"/>
              </a:avLst>
            </a:prstGeom>
            <a:solidFill>
              <a:srgbClr val="B32A1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43"/>
            <p:cNvSpPr/>
            <p:nvPr/>
          </p:nvSpPr>
          <p:spPr>
            <a:xfrm>
              <a:off x="14050" y="776101"/>
              <a:ext cx="5958908" cy="259719"/>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lang="fi-FI" sz="2800">
                  <a:solidFill>
                    <a:schemeClr val="lt1"/>
                  </a:solidFill>
                  <a:latin typeface="Gill Sans"/>
                  <a:ea typeface="Gill Sans"/>
                  <a:cs typeface="Gill Sans"/>
                  <a:sym typeface="Gill Sans"/>
                </a:rPr>
                <a:t>Testitapausten dokumentointi</a:t>
              </a:r>
              <a:endParaRPr sz="2800">
                <a:solidFill>
                  <a:schemeClr val="lt1"/>
                </a:solidFill>
                <a:latin typeface="Gill Sans"/>
                <a:ea typeface="Gill Sans"/>
                <a:cs typeface="Gill Sans"/>
                <a:sym typeface="Gill Sans"/>
              </a:endParaRPr>
            </a:p>
          </p:txBody>
        </p:sp>
      </p:grpSp>
      <p:sp>
        <p:nvSpPr>
          <p:cNvPr id="741" name="Google Shape;741;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pic>
        <p:nvPicPr>
          <p:cNvPr descr="C:\Documents and Settings\mpyhajar.CONFORMIQ\Application Data\Microsoft\Media Catalog\Downloaded Clips\cl1f\j0078711.wmf" id="742" name="Google Shape;742;p43"/>
          <p:cNvPicPr preferRelativeResize="0"/>
          <p:nvPr/>
        </p:nvPicPr>
        <p:blipFill rotWithShape="1">
          <a:blip r:embed="rId3">
            <a:alphaModFix/>
          </a:blip>
          <a:srcRect b="0" l="0" r="0" t="0"/>
          <a:stretch/>
        </p:blipFill>
        <p:spPr>
          <a:xfrm>
            <a:off x="2714612" y="1661115"/>
            <a:ext cx="1622425" cy="3933825"/>
          </a:xfrm>
          <a:prstGeom prst="rect">
            <a:avLst/>
          </a:prstGeom>
          <a:noFill/>
          <a:ln>
            <a:noFill/>
          </a:ln>
        </p:spPr>
      </p:pic>
      <p:pic>
        <p:nvPicPr>
          <p:cNvPr descr="C:\Documents and Settings\mpyhajar.CONFORMIQ\Application Data\Microsoft\Media Catalog\Downloaded Clips\cl1f\j0078625.wmf" id="743" name="Google Shape;743;p43"/>
          <p:cNvPicPr preferRelativeResize="0"/>
          <p:nvPr/>
        </p:nvPicPr>
        <p:blipFill rotWithShape="1">
          <a:blip r:embed="rId4">
            <a:alphaModFix/>
          </a:blip>
          <a:srcRect b="0" l="0" r="0" t="0"/>
          <a:stretch/>
        </p:blipFill>
        <p:spPr>
          <a:xfrm>
            <a:off x="4286248" y="2375495"/>
            <a:ext cx="1295400" cy="39338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b="1" lang="fi-FI"/>
              <a:t>PÄIVÄ 1</a:t>
            </a:r>
            <a:endParaRPr/>
          </a:p>
        </p:txBody>
      </p:sp>
      <p:grpSp>
        <p:nvGrpSpPr>
          <p:cNvPr id="749" name="Google Shape;749;p44"/>
          <p:cNvGrpSpPr/>
          <p:nvPr/>
        </p:nvGrpSpPr>
        <p:grpSpPr>
          <a:xfrm>
            <a:off x="1475656" y="1614891"/>
            <a:ext cx="5987008" cy="4496580"/>
            <a:chOff x="0" y="14691"/>
            <a:chExt cx="5987008" cy="4496580"/>
          </a:xfrm>
        </p:grpSpPr>
        <p:sp>
          <p:nvSpPr>
            <p:cNvPr id="750" name="Google Shape;750;p44"/>
            <p:cNvSpPr/>
            <p:nvPr/>
          </p:nvSpPr>
          <p:spPr>
            <a:xfrm>
              <a:off x="0" y="1469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44"/>
            <p:cNvSpPr txBox="1"/>
            <p:nvPr/>
          </p:nvSpPr>
          <p:spPr>
            <a:xfrm>
              <a:off x="14050" y="2874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 testitapaukset ja testaajana toimiminen</a:t>
              </a:r>
              <a:endParaRPr sz="1200">
                <a:solidFill>
                  <a:schemeClr val="lt1"/>
                </a:solidFill>
                <a:latin typeface="Gill Sans"/>
                <a:ea typeface="Gill Sans"/>
                <a:cs typeface="Gill Sans"/>
                <a:sym typeface="Gill Sans"/>
              </a:endParaRPr>
            </a:p>
          </p:txBody>
        </p:sp>
        <p:sp>
          <p:nvSpPr>
            <p:cNvPr id="752" name="Google Shape;752;p44"/>
            <p:cNvSpPr/>
            <p:nvPr/>
          </p:nvSpPr>
          <p:spPr>
            <a:xfrm>
              <a:off x="0" y="30251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4"/>
            <p:cNvSpPr txBox="1"/>
            <p:nvPr/>
          </p:nvSpPr>
          <p:spPr>
            <a:xfrm>
              <a:off x="0" y="30251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Testaustyön luonne ja merkitys / testausmatematiikan perusteet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Määrittelyt testauksen pohjana / määrittelyn limupeli</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ajattelumallit / kuinka testaisin tekstikentän</a:t>
              </a:r>
              <a:endParaRPr b="0" i="0" sz="900" u="none" cap="none" strike="noStrike">
                <a:solidFill>
                  <a:schemeClr val="dk1"/>
                </a:solidFill>
                <a:latin typeface="Gill Sans"/>
                <a:ea typeface="Gill Sans"/>
                <a:cs typeface="Gill Sans"/>
                <a:sym typeface="Gill Sans"/>
              </a:endParaRPr>
            </a:p>
          </p:txBody>
        </p:sp>
        <p:sp>
          <p:nvSpPr>
            <p:cNvPr id="754" name="Google Shape;754;p44"/>
            <p:cNvSpPr/>
            <p:nvPr/>
          </p:nvSpPr>
          <p:spPr>
            <a:xfrm>
              <a:off x="0" y="762051"/>
              <a:ext cx="5987008" cy="287819"/>
            </a:xfrm>
            <a:prstGeom prst="roundRect">
              <a:avLst>
                <a:gd fmla="val 16667" name="adj"/>
              </a:avLst>
            </a:prstGeom>
            <a:solidFill>
              <a:srgbClr val="B32A1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44"/>
            <p:cNvSpPr txBox="1"/>
            <p:nvPr/>
          </p:nvSpPr>
          <p:spPr>
            <a:xfrm>
              <a:off x="14050" y="7761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dokumentointi</a:t>
              </a:r>
              <a:endParaRPr sz="1200">
                <a:solidFill>
                  <a:schemeClr val="lt1"/>
                </a:solidFill>
                <a:latin typeface="Gill Sans"/>
                <a:ea typeface="Gill Sans"/>
                <a:cs typeface="Gill Sans"/>
                <a:sym typeface="Gill Sans"/>
              </a:endParaRPr>
            </a:p>
          </p:txBody>
        </p:sp>
        <p:sp>
          <p:nvSpPr>
            <p:cNvPr id="756" name="Google Shape;756;p44"/>
            <p:cNvSpPr/>
            <p:nvPr/>
          </p:nvSpPr>
          <p:spPr>
            <a:xfrm>
              <a:off x="0" y="104987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4"/>
            <p:cNvSpPr txBox="1"/>
            <p:nvPr/>
          </p:nvSpPr>
          <p:spPr>
            <a:xfrm>
              <a:off x="0" y="104987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Oikea-aikainen dokumentointi – valmistaudu ajoissa, älä unohda uusia oppeja!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Miltä oikeat testitapaukset näyttävät?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taso FreeMind Etsi ja korvaa -toiminnolle</a:t>
              </a:r>
              <a:endParaRPr b="0" i="0" sz="900" u="none" cap="none" strike="noStrike">
                <a:solidFill>
                  <a:schemeClr val="dk1"/>
                </a:solidFill>
                <a:latin typeface="Gill Sans"/>
                <a:ea typeface="Gill Sans"/>
                <a:cs typeface="Gill Sans"/>
                <a:sym typeface="Gill Sans"/>
              </a:endParaRPr>
            </a:p>
          </p:txBody>
        </p:sp>
        <p:sp>
          <p:nvSpPr>
            <p:cNvPr id="758" name="Google Shape;758;p44"/>
            <p:cNvSpPr/>
            <p:nvPr/>
          </p:nvSpPr>
          <p:spPr>
            <a:xfrm>
              <a:off x="0" y="1509411"/>
              <a:ext cx="5987008" cy="287819"/>
            </a:xfrm>
            <a:prstGeom prst="roundRect">
              <a:avLst>
                <a:gd fmla="val 16667" name="adj"/>
              </a:avLst>
            </a:prstGeom>
            <a:solidFill>
              <a:srgbClr val="F3CB2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44"/>
            <p:cNvSpPr txBox="1"/>
            <p:nvPr/>
          </p:nvSpPr>
          <p:spPr>
            <a:xfrm>
              <a:off x="14050" y="152346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Regressiotestaus</a:t>
              </a:r>
              <a:endParaRPr sz="1200">
                <a:solidFill>
                  <a:schemeClr val="lt1"/>
                </a:solidFill>
                <a:latin typeface="Gill Sans"/>
                <a:ea typeface="Gill Sans"/>
                <a:cs typeface="Gill Sans"/>
                <a:sym typeface="Gill Sans"/>
              </a:endParaRPr>
            </a:p>
          </p:txBody>
        </p:sp>
        <p:sp>
          <p:nvSpPr>
            <p:cNvPr id="760" name="Google Shape;760;p44"/>
            <p:cNvSpPr/>
            <p:nvPr/>
          </p:nvSpPr>
          <p:spPr>
            <a:xfrm>
              <a:off x="0" y="179723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4"/>
            <p:cNvSpPr txBox="1"/>
            <p:nvPr/>
          </p:nvSpPr>
          <p:spPr>
            <a:xfrm>
              <a:off x="0" y="179723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Testaaminen vs. korjaaminen</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Toimivia regressiotestausmalleja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regressiotestien valinta annetusta testitapausmäärittelystä</a:t>
              </a:r>
              <a:endParaRPr b="0" i="0" sz="900" u="none" cap="none" strike="noStrike">
                <a:solidFill>
                  <a:schemeClr val="dk1"/>
                </a:solidFill>
                <a:latin typeface="Gill Sans"/>
                <a:ea typeface="Gill Sans"/>
                <a:cs typeface="Gill Sans"/>
                <a:sym typeface="Gill Sans"/>
              </a:endParaRPr>
            </a:p>
          </p:txBody>
        </p:sp>
        <p:sp>
          <p:nvSpPr>
            <p:cNvPr id="762" name="Google Shape;762;p44"/>
            <p:cNvSpPr/>
            <p:nvPr/>
          </p:nvSpPr>
          <p:spPr>
            <a:xfrm>
              <a:off x="0" y="2256771"/>
              <a:ext cx="5987008" cy="287819"/>
            </a:xfrm>
            <a:prstGeom prst="roundRect">
              <a:avLst>
                <a:gd fmla="val 16667" name="adj"/>
              </a:avLst>
            </a:prstGeom>
            <a:solidFill>
              <a:srgbClr val="ACB9D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44"/>
            <p:cNvSpPr txBox="1"/>
            <p:nvPr/>
          </p:nvSpPr>
          <p:spPr>
            <a:xfrm>
              <a:off x="14050" y="227082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hallinnan välinetuki</a:t>
              </a:r>
              <a:endParaRPr sz="1200">
                <a:solidFill>
                  <a:schemeClr val="lt1"/>
                </a:solidFill>
                <a:latin typeface="Gill Sans"/>
                <a:ea typeface="Gill Sans"/>
                <a:cs typeface="Gill Sans"/>
                <a:sym typeface="Gill Sans"/>
              </a:endParaRPr>
            </a:p>
          </p:txBody>
        </p:sp>
        <p:sp>
          <p:nvSpPr>
            <p:cNvPr id="764" name="Google Shape;764;p44"/>
            <p:cNvSpPr/>
            <p:nvPr/>
          </p:nvSpPr>
          <p:spPr>
            <a:xfrm>
              <a:off x="0" y="254459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4"/>
            <p:cNvSpPr txBox="1"/>
            <p:nvPr/>
          </p:nvSpPr>
          <p:spPr>
            <a:xfrm>
              <a:off x="0" y="254459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varastointi uudelleenkäyttöön ja suorituksen hallinta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Testauksen aikaiset muistiinpanot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Kaupalliset ja avoimen lähdekoodin vaihtoehdot</a:t>
              </a:r>
              <a:endParaRPr b="0" i="0" sz="900" u="none" cap="none" strike="noStrike">
                <a:solidFill>
                  <a:schemeClr val="dk1"/>
                </a:solidFill>
                <a:latin typeface="Gill Sans"/>
                <a:ea typeface="Gill Sans"/>
                <a:cs typeface="Gill Sans"/>
                <a:sym typeface="Gill Sans"/>
              </a:endParaRPr>
            </a:p>
          </p:txBody>
        </p:sp>
        <p:sp>
          <p:nvSpPr>
            <p:cNvPr id="766" name="Google Shape;766;p44"/>
            <p:cNvSpPr/>
            <p:nvPr/>
          </p:nvSpPr>
          <p:spPr>
            <a:xfrm>
              <a:off x="0" y="3004131"/>
              <a:ext cx="5987008" cy="287819"/>
            </a:xfrm>
            <a:prstGeom prst="roundRect">
              <a:avLst>
                <a:gd fmla="val 16667" name="adj"/>
              </a:avLst>
            </a:prstGeom>
            <a:solidFill>
              <a:srgbClr val="767B8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4"/>
            <p:cNvSpPr txBox="1"/>
            <p:nvPr/>
          </p:nvSpPr>
          <p:spPr>
            <a:xfrm>
              <a:off x="14050" y="301818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Testaustyömaan ymmärtämisestä testitapausten tehokäyttöön</a:t>
              </a:r>
              <a:endParaRPr sz="1200">
                <a:solidFill>
                  <a:schemeClr val="lt1"/>
                </a:solidFill>
                <a:latin typeface="Gill Sans"/>
                <a:ea typeface="Gill Sans"/>
                <a:cs typeface="Gill Sans"/>
                <a:sym typeface="Gill Sans"/>
              </a:endParaRPr>
            </a:p>
          </p:txBody>
        </p:sp>
        <p:sp>
          <p:nvSpPr>
            <p:cNvPr id="768" name="Google Shape;768;p44"/>
            <p:cNvSpPr/>
            <p:nvPr/>
          </p:nvSpPr>
          <p:spPr>
            <a:xfrm>
              <a:off x="0" y="3291951"/>
              <a:ext cx="5987008" cy="62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4"/>
            <p:cNvSpPr txBox="1"/>
            <p:nvPr/>
          </p:nvSpPr>
          <p:spPr>
            <a:xfrm>
              <a:off x="0" y="3291951"/>
              <a:ext cx="5987008" cy="6210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Karkea osittaminen ennen yksityiskohtien suunnittelua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muuntelu testatessa: lisää / poista / toista / vaihda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tekemä testaus suhteessa muuhun testaukseen (yksikkötestit, tekninen testiautomaatio)</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priorisointi suoritusjärjestykseksi</a:t>
              </a:r>
              <a:endParaRPr b="0" i="0" sz="900" u="none" cap="none" strike="noStrike">
                <a:solidFill>
                  <a:schemeClr val="dk1"/>
                </a:solidFill>
                <a:latin typeface="Gill Sans"/>
                <a:ea typeface="Gill Sans"/>
                <a:cs typeface="Gill Sans"/>
                <a:sym typeface="Gill Sans"/>
              </a:endParaRPr>
            </a:p>
          </p:txBody>
        </p:sp>
        <p:sp>
          <p:nvSpPr>
            <p:cNvPr id="770" name="Google Shape;770;p44"/>
            <p:cNvSpPr/>
            <p:nvPr/>
          </p:nvSpPr>
          <p:spPr>
            <a:xfrm>
              <a:off x="0" y="391295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4"/>
            <p:cNvSpPr txBox="1"/>
            <p:nvPr/>
          </p:nvSpPr>
          <p:spPr>
            <a:xfrm>
              <a:off x="14050" y="39270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Testitapaukset testaustyön jakamisessa useille testaajille</a:t>
              </a:r>
              <a:endParaRPr sz="1200">
                <a:solidFill>
                  <a:schemeClr val="lt1"/>
                </a:solidFill>
                <a:latin typeface="Gill Sans"/>
                <a:ea typeface="Gill Sans"/>
                <a:cs typeface="Gill Sans"/>
                <a:sym typeface="Gill Sans"/>
              </a:endParaRPr>
            </a:p>
          </p:txBody>
        </p:sp>
        <p:sp>
          <p:nvSpPr>
            <p:cNvPr id="772" name="Google Shape;772;p44"/>
            <p:cNvSpPr/>
            <p:nvPr/>
          </p:nvSpPr>
          <p:spPr>
            <a:xfrm>
              <a:off x="0" y="4200771"/>
              <a:ext cx="5987008" cy="31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4"/>
            <p:cNvSpPr txBox="1"/>
            <p:nvPr/>
          </p:nvSpPr>
          <p:spPr>
            <a:xfrm>
              <a:off x="0" y="4200771"/>
              <a:ext cx="5987008" cy="3105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1: Testaustyömaan hallinta vakuutussektorin hyväksymistestauksessa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2: Testaustyömaan hallinta ketterässä tuotekehitystiimissä</a:t>
              </a:r>
              <a:endParaRPr b="0" i="0" sz="900" u="none" cap="none" strike="noStrike">
                <a:solidFill>
                  <a:schemeClr val="dk1"/>
                </a:solidFill>
                <a:latin typeface="Gill Sans"/>
                <a:ea typeface="Gill Sans"/>
                <a:cs typeface="Gill Sans"/>
                <a:sym typeface="Gill Sans"/>
              </a:endParaRPr>
            </a:p>
          </p:txBody>
        </p:sp>
      </p:grpSp>
      <p:sp>
        <p:nvSpPr>
          <p:cNvPr id="774" name="Google Shape;774;p44"/>
          <p:cNvSpPr/>
          <p:nvPr/>
        </p:nvSpPr>
        <p:spPr>
          <a:xfrm>
            <a:off x="929296" y="3356992"/>
            <a:ext cx="474352" cy="484632"/>
          </a:xfrm>
          <a:prstGeom prst="rightArrow">
            <a:avLst>
              <a:gd fmla="val 50000" name="adj1"/>
              <a:gd fmla="val 50000" name="adj2"/>
            </a:avLst>
          </a:prstGeom>
          <a:solidFill>
            <a:schemeClr val="dk1"/>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75" name="Google Shape;775;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45"/>
          <p:cNvSpPr/>
          <p:nvPr/>
        </p:nvSpPr>
        <p:spPr>
          <a:xfrm>
            <a:off x="3851920" y="1700808"/>
            <a:ext cx="5184576" cy="3960440"/>
          </a:xfrm>
          <a:prstGeom prst="rect">
            <a:avLst/>
          </a:prstGeom>
          <a:solidFill>
            <a:schemeClr val="accent4"/>
          </a:solidFill>
          <a:ln cap="flat" cmpd="sng" w="25400">
            <a:solidFill>
              <a:srgbClr val="B295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81" name="Google Shape;781;p45"/>
          <p:cNvSpPr/>
          <p:nvPr/>
        </p:nvSpPr>
        <p:spPr>
          <a:xfrm>
            <a:off x="3203848" y="1988840"/>
            <a:ext cx="5184576" cy="396044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82" name="Google Shape;782;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Testauksen vai korjaamisen kustannusten hallinta?</a:t>
            </a:r>
            <a:endParaRPr/>
          </a:p>
        </p:txBody>
      </p:sp>
      <p:sp>
        <p:nvSpPr>
          <p:cNvPr id="783" name="Google Shape;783;p45"/>
          <p:cNvSpPr/>
          <p:nvPr/>
        </p:nvSpPr>
        <p:spPr>
          <a:xfrm>
            <a:off x="2555776" y="2276872"/>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84" name="Google Shape;784;p45"/>
          <p:cNvSpPr/>
          <p:nvPr/>
        </p:nvSpPr>
        <p:spPr>
          <a:xfrm>
            <a:off x="3419872" y="2276872"/>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85" name="Google Shape;785;p45"/>
          <p:cNvSpPr/>
          <p:nvPr/>
        </p:nvSpPr>
        <p:spPr>
          <a:xfrm>
            <a:off x="4283968" y="2276872"/>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86" name="Google Shape;786;p45"/>
          <p:cNvSpPr/>
          <p:nvPr/>
        </p:nvSpPr>
        <p:spPr>
          <a:xfrm>
            <a:off x="5148064" y="2276872"/>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87" name="Google Shape;787;p45"/>
          <p:cNvSpPr/>
          <p:nvPr/>
        </p:nvSpPr>
        <p:spPr>
          <a:xfrm>
            <a:off x="6012160" y="2276872"/>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88" name="Google Shape;788;p45"/>
          <p:cNvSpPr/>
          <p:nvPr/>
        </p:nvSpPr>
        <p:spPr>
          <a:xfrm>
            <a:off x="6876256" y="2276872"/>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89" name="Google Shape;789;p45"/>
          <p:cNvSpPr/>
          <p:nvPr/>
        </p:nvSpPr>
        <p:spPr>
          <a:xfrm>
            <a:off x="2555776" y="3068960"/>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0" name="Google Shape;790;p45"/>
          <p:cNvSpPr/>
          <p:nvPr/>
        </p:nvSpPr>
        <p:spPr>
          <a:xfrm>
            <a:off x="3419872" y="3068960"/>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1" name="Google Shape;791;p45"/>
          <p:cNvSpPr/>
          <p:nvPr/>
        </p:nvSpPr>
        <p:spPr>
          <a:xfrm>
            <a:off x="4283968" y="3068960"/>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2" name="Google Shape;792;p45"/>
          <p:cNvSpPr/>
          <p:nvPr/>
        </p:nvSpPr>
        <p:spPr>
          <a:xfrm>
            <a:off x="5148064" y="3068960"/>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3" name="Google Shape;793;p45"/>
          <p:cNvSpPr/>
          <p:nvPr/>
        </p:nvSpPr>
        <p:spPr>
          <a:xfrm>
            <a:off x="6012160" y="3068960"/>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4" name="Google Shape;794;p45"/>
          <p:cNvSpPr/>
          <p:nvPr/>
        </p:nvSpPr>
        <p:spPr>
          <a:xfrm>
            <a:off x="6876256" y="3068960"/>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5" name="Google Shape;795;p45"/>
          <p:cNvSpPr/>
          <p:nvPr/>
        </p:nvSpPr>
        <p:spPr>
          <a:xfrm>
            <a:off x="2555776" y="3861048"/>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6" name="Google Shape;796;p45"/>
          <p:cNvSpPr/>
          <p:nvPr/>
        </p:nvSpPr>
        <p:spPr>
          <a:xfrm>
            <a:off x="3419872" y="3861048"/>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7" name="Google Shape;797;p45"/>
          <p:cNvSpPr/>
          <p:nvPr/>
        </p:nvSpPr>
        <p:spPr>
          <a:xfrm>
            <a:off x="4283968" y="3861048"/>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8" name="Google Shape;798;p45"/>
          <p:cNvSpPr/>
          <p:nvPr/>
        </p:nvSpPr>
        <p:spPr>
          <a:xfrm>
            <a:off x="5148064" y="3861048"/>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799" name="Google Shape;799;p45"/>
          <p:cNvSpPr/>
          <p:nvPr/>
        </p:nvSpPr>
        <p:spPr>
          <a:xfrm>
            <a:off x="6012160" y="3861048"/>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0" name="Google Shape;800;p45"/>
          <p:cNvSpPr/>
          <p:nvPr/>
        </p:nvSpPr>
        <p:spPr>
          <a:xfrm>
            <a:off x="6876256" y="3861048"/>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1" name="Google Shape;801;p45"/>
          <p:cNvSpPr/>
          <p:nvPr/>
        </p:nvSpPr>
        <p:spPr>
          <a:xfrm>
            <a:off x="2555776" y="4653136"/>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2" name="Google Shape;802;p45"/>
          <p:cNvSpPr/>
          <p:nvPr/>
        </p:nvSpPr>
        <p:spPr>
          <a:xfrm>
            <a:off x="3419872" y="4653136"/>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3" name="Google Shape;803;p45"/>
          <p:cNvSpPr/>
          <p:nvPr/>
        </p:nvSpPr>
        <p:spPr>
          <a:xfrm>
            <a:off x="4283968" y="4653136"/>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4" name="Google Shape;804;p45"/>
          <p:cNvSpPr/>
          <p:nvPr/>
        </p:nvSpPr>
        <p:spPr>
          <a:xfrm>
            <a:off x="5148064" y="4653136"/>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5" name="Google Shape;805;p45"/>
          <p:cNvSpPr/>
          <p:nvPr/>
        </p:nvSpPr>
        <p:spPr>
          <a:xfrm>
            <a:off x="6012160" y="4653136"/>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6" name="Google Shape;806;p45"/>
          <p:cNvSpPr/>
          <p:nvPr/>
        </p:nvSpPr>
        <p:spPr>
          <a:xfrm>
            <a:off x="6876256" y="4653136"/>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7" name="Google Shape;807;p45"/>
          <p:cNvSpPr/>
          <p:nvPr/>
        </p:nvSpPr>
        <p:spPr>
          <a:xfrm>
            <a:off x="2555776" y="5445224"/>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8" name="Google Shape;808;p45"/>
          <p:cNvSpPr/>
          <p:nvPr/>
        </p:nvSpPr>
        <p:spPr>
          <a:xfrm>
            <a:off x="3419872" y="5445224"/>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09" name="Google Shape;809;p45"/>
          <p:cNvSpPr/>
          <p:nvPr/>
        </p:nvSpPr>
        <p:spPr>
          <a:xfrm>
            <a:off x="4283968" y="5445224"/>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10" name="Google Shape;810;p45"/>
          <p:cNvSpPr/>
          <p:nvPr/>
        </p:nvSpPr>
        <p:spPr>
          <a:xfrm>
            <a:off x="5148064" y="5445224"/>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11" name="Google Shape;811;p45"/>
          <p:cNvSpPr/>
          <p:nvPr/>
        </p:nvSpPr>
        <p:spPr>
          <a:xfrm>
            <a:off x="6012160" y="5445224"/>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12" name="Google Shape;812;p45"/>
          <p:cNvSpPr/>
          <p:nvPr/>
        </p:nvSpPr>
        <p:spPr>
          <a:xfrm>
            <a:off x="6876256" y="5445224"/>
            <a:ext cx="864096" cy="792088"/>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grpSp>
        <p:nvGrpSpPr>
          <p:cNvPr id="813" name="Google Shape;813;p45"/>
          <p:cNvGrpSpPr/>
          <p:nvPr/>
        </p:nvGrpSpPr>
        <p:grpSpPr>
          <a:xfrm>
            <a:off x="6156176" y="4797152"/>
            <a:ext cx="502703" cy="559537"/>
            <a:chOff x="108857" y="2104572"/>
            <a:chExt cx="1047595" cy="1379909"/>
          </a:xfrm>
        </p:grpSpPr>
        <p:sp>
          <p:nvSpPr>
            <p:cNvPr id="814" name="Google Shape;814;p45"/>
            <p:cNvSpPr/>
            <p:nvPr/>
          </p:nvSpPr>
          <p:spPr>
            <a:xfrm>
              <a:off x="718457" y="2104572"/>
              <a:ext cx="141514" cy="279399"/>
            </a:xfrm>
            <a:custGeom>
              <a:rect b="b" l="l" r="r" t="t"/>
              <a:pathLst>
                <a:path extrusionOk="0" h="279399" w="141514">
                  <a:moveTo>
                    <a:pt x="76200" y="7257"/>
                  </a:moveTo>
                  <a:cubicBezTo>
                    <a:pt x="65314" y="0"/>
                    <a:pt x="52880" y="11473"/>
                    <a:pt x="43543" y="18142"/>
                  </a:cubicBezTo>
                  <a:cubicBezTo>
                    <a:pt x="26840" y="30073"/>
                    <a:pt x="0" y="61685"/>
                    <a:pt x="0" y="61685"/>
                  </a:cubicBezTo>
                  <a:cubicBezTo>
                    <a:pt x="3629" y="105228"/>
                    <a:pt x="5111" y="149003"/>
                    <a:pt x="10886" y="192314"/>
                  </a:cubicBezTo>
                  <a:cubicBezTo>
                    <a:pt x="12403" y="203688"/>
                    <a:pt x="18989" y="213839"/>
                    <a:pt x="21772" y="224971"/>
                  </a:cubicBezTo>
                  <a:cubicBezTo>
                    <a:pt x="26259" y="242921"/>
                    <a:pt x="29029" y="261256"/>
                    <a:pt x="32657" y="279399"/>
                  </a:cubicBezTo>
                  <a:cubicBezTo>
                    <a:pt x="50800" y="272142"/>
                    <a:pt x="71185" y="268986"/>
                    <a:pt x="87086" y="257628"/>
                  </a:cubicBezTo>
                  <a:cubicBezTo>
                    <a:pt x="111348" y="240298"/>
                    <a:pt x="108117" y="215566"/>
                    <a:pt x="119743" y="192314"/>
                  </a:cubicBezTo>
                  <a:cubicBezTo>
                    <a:pt x="125594" y="180612"/>
                    <a:pt x="134257" y="170543"/>
                    <a:pt x="141514" y="159657"/>
                  </a:cubicBezTo>
                  <a:lnTo>
                    <a:pt x="108857" y="61685"/>
                  </a:lnTo>
                  <a:cubicBezTo>
                    <a:pt x="95406" y="21330"/>
                    <a:pt x="87086" y="14514"/>
                    <a:pt x="76200" y="7257"/>
                  </a:cubicBezTo>
                  <a:close/>
                </a:path>
              </a:pathLst>
            </a:cu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15" name="Google Shape;815;p45"/>
            <p:cNvSpPr/>
            <p:nvPr/>
          </p:nvSpPr>
          <p:spPr>
            <a:xfrm>
              <a:off x="400741" y="2351314"/>
              <a:ext cx="416927" cy="624820"/>
            </a:xfrm>
            <a:custGeom>
              <a:rect b="b" l="l" r="r" t="t"/>
              <a:pathLst>
                <a:path extrusionOk="0" h="624820" w="416927">
                  <a:moveTo>
                    <a:pt x="328602" y="32657"/>
                  </a:moveTo>
                  <a:cubicBezTo>
                    <a:pt x="317716" y="39914"/>
                    <a:pt x="305670" y="45677"/>
                    <a:pt x="295945" y="54429"/>
                  </a:cubicBezTo>
                  <a:cubicBezTo>
                    <a:pt x="269245" y="78459"/>
                    <a:pt x="253823" y="119269"/>
                    <a:pt x="219745" y="130629"/>
                  </a:cubicBezTo>
                  <a:lnTo>
                    <a:pt x="187088" y="141515"/>
                  </a:lnTo>
                  <a:cubicBezTo>
                    <a:pt x="137841" y="190760"/>
                    <a:pt x="199417" y="131239"/>
                    <a:pt x="121773" y="195943"/>
                  </a:cubicBezTo>
                  <a:cubicBezTo>
                    <a:pt x="113889" y="202513"/>
                    <a:pt x="108213" y="211557"/>
                    <a:pt x="100002" y="217715"/>
                  </a:cubicBezTo>
                  <a:cubicBezTo>
                    <a:pt x="79069" y="233414"/>
                    <a:pt x="34688" y="261257"/>
                    <a:pt x="34688" y="261257"/>
                  </a:cubicBezTo>
                  <a:cubicBezTo>
                    <a:pt x="0" y="365321"/>
                    <a:pt x="6940" y="316336"/>
                    <a:pt x="23802" y="468086"/>
                  </a:cubicBezTo>
                  <a:cubicBezTo>
                    <a:pt x="26967" y="496567"/>
                    <a:pt x="31699" y="534539"/>
                    <a:pt x="56459" y="555172"/>
                  </a:cubicBezTo>
                  <a:cubicBezTo>
                    <a:pt x="68925" y="565561"/>
                    <a:pt x="85488" y="569686"/>
                    <a:pt x="100002" y="576943"/>
                  </a:cubicBezTo>
                  <a:cubicBezTo>
                    <a:pt x="107259" y="584200"/>
                    <a:pt x="112972" y="593435"/>
                    <a:pt x="121773" y="598715"/>
                  </a:cubicBezTo>
                  <a:cubicBezTo>
                    <a:pt x="165281" y="624820"/>
                    <a:pt x="204124" y="598557"/>
                    <a:pt x="252402" y="587829"/>
                  </a:cubicBezTo>
                  <a:cubicBezTo>
                    <a:pt x="266916" y="580572"/>
                    <a:pt x="281856" y="574108"/>
                    <a:pt x="295945" y="566057"/>
                  </a:cubicBezTo>
                  <a:cubicBezTo>
                    <a:pt x="313942" y="555773"/>
                    <a:pt x="359400" y="522250"/>
                    <a:pt x="372145" y="511629"/>
                  </a:cubicBezTo>
                  <a:cubicBezTo>
                    <a:pt x="380029" y="505059"/>
                    <a:pt x="386659" y="497114"/>
                    <a:pt x="393916" y="489857"/>
                  </a:cubicBezTo>
                  <a:cubicBezTo>
                    <a:pt x="401173" y="468086"/>
                    <a:pt x="416927" y="447459"/>
                    <a:pt x="415688" y="424543"/>
                  </a:cubicBezTo>
                  <a:cubicBezTo>
                    <a:pt x="393524" y="14525"/>
                    <a:pt x="393916" y="156225"/>
                    <a:pt x="393916" y="0"/>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16" name="Google Shape;816;p45"/>
            <p:cNvSpPr/>
            <p:nvPr/>
          </p:nvSpPr>
          <p:spPr>
            <a:xfrm>
              <a:off x="816429" y="2383971"/>
              <a:ext cx="340023" cy="217715"/>
            </a:xfrm>
            <a:custGeom>
              <a:rect b="b" l="l" r="r" t="t"/>
              <a:pathLst>
                <a:path extrusionOk="0" h="217715" w="340023">
                  <a:moveTo>
                    <a:pt x="0" y="217715"/>
                  </a:moveTo>
                  <a:cubicBezTo>
                    <a:pt x="29028" y="210458"/>
                    <a:pt x="58965" y="206169"/>
                    <a:pt x="87085" y="195943"/>
                  </a:cubicBezTo>
                  <a:cubicBezTo>
                    <a:pt x="99380" y="191472"/>
                    <a:pt x="107717" y="179326"/>
                    <a:pt x="119742" y="174172"/>
                  </a:cubicBezTo>
                  <a:cubicBezTo>
                    <a:pt x="133493" y="168279"/>
                    <a:pt x="148771" y="166915"/>
                    <a:pt x="163285" y="163286"/>
                  </a:cubicBezTo>
                  <a:cubicBezTo>
                    <a:pt x="177799" y="152400"/>
                    <a:pt x="193268" y="142682"/>
                    <a:pt x="206828" y="130629"/>
                  </a:cubicBezTo>
                  <a:cubicBezTo>
                    <a:pt x="226005" y="113583"/>
                    <a:pt x="240730" y="91595"/>
                    <a:pt x="261257" y="76200"/>
                  </a:cubicBezTo>
                  <a:cubicBezTo>
                    <a:pt x="275771" y="65314"/>
                    <a:pt x="291025" y="55350"/>
                    <a:pt x="304800" y="43543"/>
                  </a:cubicBezTo>
                  <a:cubicBezTo>
                    <a:pt x="340023" y="13352"/>
                    <a:pt x="337457" y="25095"/>
                    <a:pt x="337457" y="0"/>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17" name="Google Shape;817;p45"/>
            <p:cNvSpPr/>
            <p:nvPr/>
          </p:nvSpPr>
          <p:spPr>
            <a:xfrm>
              <a:off x="478971" y="2155371"/>
              <a:ext cx="130629" cy="326572"/>
            </a:xfrm>
            <a:custGeom>
              <a:rect b="b" l="l" r="r" t="t"/>
              <a:pathLst>
                <a:path extrusionOk="0" h="326572" w="130629">
                  <a:moveTo>
                    <a:pt x="130629" y="326572"/>
                  </a:moveTo>
                  <a:cubicBezTo>
                    <a:pt x="126657" y="298767"/>
                    <a:pt x="120700" y="238409"/>
                    <a:pt x="108858" y="206829"/>
                  </a:cubicBezTo>
                  <a:cubicBezTo>
                    <a:pt x="103160" y="191635"/>
                    <a:pt x="93479" y="178201"/>
                    <a:pt x="87086" y="163286"/>
                  </a:cubicBezTo>
                  <a:cubicBezTo>
                    <a:pt x="82566" y="152739"/>
                    <a:pt x="81332" y="140892"/>
                    <a:pt x="76200" y="130629"/>
                  </a:cubicBezTo>
                  <a:cubicBezTo>
                    <a:pt x="70349" y="118927"/>
                    <a:pt x="60920" y="109331"/>
                    <a:pt x="54429" y="97972"/>
                  </a:cubicBezTo>
                  <a:cubicBezTo>
                    <a:pt x="19282" y="36463"/>
                    <a:pt x="49690" y="71460"/>
                    <a:pt x="10886" y="32658"/>
                  </a:cubicBezTo>
                  <a:lnTo>
                    <a:pt x="0" y="0"/>
                  </a:ln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18" name="Google Shape;818;p45"/>
            <p:cNvSpPr/>
            <p:nvPr/>
          </p:nvSpPr>
          <p:spPr>
            <a:xfrm>
              <a:off x="827314" y="2830286"/>
              <a:ext cx="304800" cy="44449"/>
            </a:xfrm>
            <a:custGeom>
              <a:rect b="b" l="l" r="r" t="t"/>
              <a:pathLst>
                <a:path extrusionOk="0" h="44449" w="304800">
                  <a:moveTo>
                    <a:pt x="0" y="0"/>
                  </a:moveTo>
                  <a:cubicBezTo>
                    <a:pt x="10886" y="10886"/>
                    <a:pt x="17490" y="30019"/>
                    <a:pt x="32657" y="32657"/>
                  </a:cubicBezTo>
                  <a:cubicBezTo>
                    <a:pt x="100461" y="44449"/>
                    <a:pt x="219664" y="43543"/>
                    <a:pt x="304800" y="43543"/>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19" name="Google Shape;819;p45"/>
            <p:cNvSpPr/>
            <p:nvPr/>
          </p:nvSpPr>
          <p:spPr>
            <a:xfrm>
              <a:off x="674914" y="2960914"/>
              <a:ext cx="242505" cy="523567"/>
            </a:xfrm>
            <a:custGeom>
              <a:rect b="b" l="l" r="r" t="t"/>
              <a:pathLst>
                <a:path extrusionOk="0" h="523567" w="242505">
                  <a:moveTo>
                    <a:pt x="0" y="0"/>
                  </a:moveTo>
                  <a:cubicBezTo>
                    <a:pt x="7257" y="29029"/>
                    <a:pt x="11887" y="58844"/>
                    <a:pt x="21772" y="87086"/>
                  </a:cubicBezTo>
                  <a:cubicBezTo>
                    <a:pt x="70851" y="227313"/>
                    <a:pt x="124398" y="303226"/>
                    <a:pt x="195943" y="446315"/>
                  </a:cubicBezTo>
                  <a:cubicBezTo>
                    <a:pt x="201075" y="456578"/>
                    <a:pt x="199661" y="470012"/>
                    <a:pt x="206829" y="478972"/>
                  </a:cubicBezTo>
                  <a:cubicBezTo>
                    <a:pt x="242505" y="523567"/>
                    <a:pt x="239486" y="481888"/>
                    <a:pt x="239486" y="511629"/>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20" name="Google Shape;820;p45"/>
            <p:cNvSpPr/>
            <p:nvPr/>
          </p:nvSpPr>
          <p:spPr>
            <a:xfrm>
              <a:off x="206829" y="2416629"/>
              <a:ext cx="283028" cy="111107"/>
            </a:xfrm>
            <a:custGeom>
              <a:rect b="b" l="l" r="r" t="t"/>
              <a:pathLst>
                <a:path extrusionOk="0" h="111107" w="283028">
                  <a:moveTo>
                    <a:pt x="283028" y="97971"/>
                  </a:moveTo>
                  <a:cubicBezTo>
                    <a:pt x="272142" y="101600"/>
                    <a:pt x="261623" y="111107"/>
                    <a:pt x="250371" y="108857"/>
                  </a:cubicBezTo>
                  <a:cubicBezTo>
                    <a:pt x="240307" y="106844"/>
                    <a:pt x="237401" y="92365"/>
                    <a:pt x="228600" y="87085"/>
                  </a:cubicBezTo>
                  <a:cubicBezTo>
                    <a:pt x="218760" y="81181"/>
                    <a:pt x="206828" y="79828"/>
                    <a:pt x="195942" y="76200"/>
                  </a:cubicBezTo>
                  <a:cubicBezTo>
                    <a:pt x="185056" y="68943"/>
                    <a:pt x="174987" y="60279"/>
                    <a:pt x="163285" y="54428"/>
                  </a:cubicBezTo>
                  <a:cubicBezTo>
                    <a:pt x="153022" y="49296"/>
                    <a:pt x="140659" y="49115"/>
                    <a:pt x="130628" y="43542"/>
                  </a:cubicBezTo>
                  <a:cubicBezTo>
                    <a:pt x="107755" y="30835"/>
                    <a:pt x="65314" y="0"/>
                    <a:pt x="65314" y="0"/>
                  </a:cubicBezTo>
                  <a:cubicBezTo>
                    <a:pt x="22330" y="14327"/>
                    <a:pt x="44131" y="10885"/>
                    <a:pt x="0" y="10885"/>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21" name="Google Shape;821;p45"/>
            <p:cNvSpPr/>
            <p:nvPr/>
          </p:nvSpPr>
          <p:spPr>
            <a:xfrm>
              <a:off x="108857" y="2764971"/>
              <a:ext cx="326572" cy="97972"/>
            </a:xfrm>
            <a:custGeom>
              <a:rect b="b" l="l" r="r" t="t"/>
              <a:pathLst>
                <a:path extrusionOk="0" h="97972" w="326572">
                  <a:moveTo>
                    <a:pt x="326572" y="0"/>
                  </a:moveTo>
                  <a:cubicBezTo>
                    <a:pt x="301172" y="3629"/>
                    <a:pt x="275532" y="5854"/>
                    <a:pt x="250372" y="10886"/>
                  </a:cubicBezTo>
                  <a:cubicBezTo>
                    <a:pt x="239120" y="13136"/>
                    <a:pt x="228747" y="18620"/>
                    <a:pt x="217714" y="21772"/>
                  </a:cubicBezTo>
                  <a:cubicBezTo>
                    <a:pt x="203329" y="25882"/>
                    <a:pt x="188557" y="28548"/>
                    <a:pt x="174172" y="32658"/>
                  </a:cubicBezTo>
                  <a:cubicBezTo>
                    <a:pt x="163139" y="35810"/>
                    <a:pt x="152646" y="40760"/>
                    <a:pt x="141514" y="43543"/>
                  </a:cubicBezTo>
                  <a:cubicBezTo>
                    <a:pt x="123564" y="48030"/>
                    <a:pt x="105229" y="50800"/>
                    <a:pt x="87086" y="54429"/>
                  </a:cubicBezTo>
                  <a:cubicBezTo>
                    <a:pt x="76200" y="61686"/>
                    <a:pt x="66131" y="70349"/>
                    <a:pt x="54429" y="76200"/>
                  </a:cubicBezTo>
                  <a:cubicBezTo>
                    <a:pt x="44166" y="81332"/>
                    <a:pt x="32426" y="82824"/>
                    <a:pt x="21772" y="87086"/>
                  </a:cubicBezTo>
                  <a:cubicBezTo>
                    <a:pt x="14238" y="90099"/>
                    <a:pt x="7257" y="94343"/>
                    <a:pt x="0" y="97972"/>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grpSp>
      <p:grpSp>
        <p:nvGrpSpPr>
          <p:cNvPr id="822" name="Google Shape;822;p45"/>
          <p:cNvGrpSpPr/>
          <p:nvPr/>
        </p:nvGrpSpPr>
        <p:grpSpPr>
          <a:xfrm>
            <a:off x="4427984" y="4005064"/>
            <a:ext cx="502703" cy="559537"/>
            <a:chOff x="108857" y="2104572"/>
            <a:chExt cx="1047595" cy="1379909"/>
          </a:xfrm>
        </p:grpSpPr>
        <p:sp>
          <p:nvSpPr>
            <p:cNvPr id="823" name="Google Shape;823;p45"/>
            <p:cNvSpPr/>
            <p:nvPr/>
          </p:nvSpPr>
          <p:spPr>
            <a:xfrm>
              <a:off x="718457" y="2104572"/>
              <a:ext cx="141514" cy="279399"/>
            </a:xfrm>
            <a:custGeom>
              <a:rect b="b" l="l" r="r" t="t"/>
              <a:pathLst>
                <a:path extrusionOk="0" h="279399" w="141514">
                  <a:moveTo>
                    <a:pt x="76200" y="7257"/>
                  </a:moveTo>
                  <a:cubicBezTo>
                    <a:pt x="65314" y="0"/>
                    <a:pt x="52880" y="11473"/>
                    <a:pt x="43543" y="18142"/>
                  </a:cubicBezTo>
                  <a:cubicBezTo>
                    <a:pt x="26840" y="30073"/>
                    <a:pt x="0" y="61685"/>
                    <a:pt x="0" y="61685"/>
                  </a:cubicBezTo>
                  <a:cubicBezTo>
                    <a:pt x="3629" y="105228"/>
                    <a:pt x="5111" y="149003"/>
                    <a:pt x="10886" y="192314"/>
                  </a:cubicBezTo>
                  <a:cubicBezTo>
                    <a:pt x="12403" y="203688"/>
                    <a:pt x="18989" y="213839"/>
                    <a:pt x="21772" y="224971"/>
                  </a:cubicBezTo>
                  <a:cubicBezTo>
                    <a:pt x="26259" y="242921"/>
                    <a:pt x="29029" y="261256"/>
                    <a:pt x="32657" y="279399"/>
                  </a:cubicBezTo>
                  <a:cubicBezTo>
                    <a:pt x="50800" y="272142"/>
                    <a:pt x="71185" y="268986"/>
                    <a:pt x="87086" y="257628"/>
                  </a:cubicBezTo>
                  <a:cubicBezTo>
                    <a:pt x="111348" y="240298"/>
                    <a:pt x="108117" y="215566"/>
                    <a:pt x="119743" y="192314"/>
                  </a:cubicBezTo>
                  <a:cubicBezTo>
                    <a:pt x="125594" y="180612"/>
                    <a:pt x="134257" y="170543"/>
                    <a:pt x="141514" y="159657"/>
                  </a:cubicBezTo>
                  <a:lnTo>
                    <a:pt x="108857" y="61685"/>
                  </a:lnTo>
                  <a:cubicBezTo>
                    <a:pt x="95406" y="21330"/>
                    <a:pt x="87086" y="14514"/>
                    <a:pt x="76200" y="7257"/>
                  </a:cubicBezTo>
                  <a:close/>
                </a:path>
              </a:pathLst>
            </a:cu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24" name="Google Shape;824;p45"/>
            <p:cNvSpPr/>
            <p:nvPr/>
          </p:nvSpPr>
          <p:spPr>
            <a:xfrm>
              <a:off x="400741" y="2351314"/>
              <a:ext cx="416927" cy="624820"/>
            </a:xfrm>
            <a:custGeom>
              <a:rect b="b" l="l" r="r" t="t"/>
              <a:pathLst>
                <a:path extrusionOk="0" h="624820" w="416927">
                  <a:moveTo>
                    <a:pt x="328602" y="32657"/>
                  </a:moveTo>
                  <a:cubicBezTo>
                    <a:pt x="317716" y="39914"/>
                    <a:pt x="305670" y="45677"/>
                    <a:pt x="295945" y="54429"/>
                  </a:cubicBezTo>
                  <a:cubicBezTo>
                    <a:pt x="269245" y="78459"/>
                    <a:pt x="253823" y="119269"/>
                    <a:pt x="219745" y="130629"/>
                  </a:cubicBezTo>
                  <a:lnTo>
                    <a:pt x="187088" y="141515"/>
                  </a:lnTo>
                  <a:cubicBezTo>
                    <a:pt x="137841" y="190760"/>
                    <a:pt x="199417" y="131239"/>
                    <a:pt x="121773" y="195943"/>
                  </a:cubicBezTo>
                  <a:cubicBezTo>
                    <a:pt x="113889" y="202513"/>
                    <a:pt x="108213" y="211557"/>
                    <a:pt x="100002" y="217715"/>
                  </a:cubicBezTo>
                  <a:cubicBezTo>
                    <a:pt x="79069" y="233414"/>
                    <a:pt x="34688" y="261257"/>
                    <a:pt x="34688" y="261257"/>
                  </a:cubicBezTo>
                  <a:cubicBezTo>
                    <a:pt x="0" y="365321"/>
                    <a:pt x="6940" y="316336"/>
                    <a:pt x="23802" y="468086"/>
                  </a:cubicBezTo>
                  <a:cubicBezTo>
                    <a:pt x="26967" y="496567"/>
                    <a:pt x="31699" y="534539"/>
                    <a:pt x="56459" y="555172"/>
                  </a:cubicBezTo>
                  <a:cubicBezTo>
                    <a:pt x="68925" y="565561"/>
                    <a:pt x="85488" y="569686"/>
                    <a:pt x="100002" y="576943"/>
                  </a:cubicBezTo>
                  <a:cubicBezTo>
                    <a:pt x="107259" y="584200"/>
                    <a:pt x="112972" y="593435"/>
                    <a:pt x="121773" y="598715"/>
                  </a:cubicBezTo>
                  <a:cubicBezTo>
                    <a:pt x="165281" y="624820"/>
                    <a:pt x="204124" y="598557"/>
                    <a:pt x="252402" y="587829"/>
                  </a:cubicBezTo>
                  <a:cubicBezTo>
                    <a:pt x="266916" y="580572"/>
                    <a:pt x="281856" y="574108"/>
                    <a:pt x="295945" y="566057"/>
                  </a:cubicBezTo>
                  <a:cubicBezTo>
                    <a:pt x="313942" y="555773"/>
                    <a:pt x="359400" y="522250"/>
                    <a:pt x="372145" y="511629"/>
                  </a:cubicBezTo>
                  <a:cubicBezTo>
                    <a:pt x="380029" y="505059"/>
                    <a:pt x="386659" y="497114"/>
                    <a:pt x="393916" y="489857"/>
                  </a:cubicBezTo>
                  <a:cubicBezTo>
                    <a:pt x="401173" y="468086"/>
                    <a:pt x="416927" y="447459"/>
                    <a:pt x="415688" y="424543"/>
                  </a:cubicBezTo>
                  <a:cubicBezTo>
                    <a:pt x="393524" y="14525"/>
                    <a:pt x="393916" y="156225"/>
                    <a:pt x="393916" y="0"/>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25" name="Google Shape;825;p45"/>
            <p:cNvSpPr/>
            <p:nvPr/>
          </p:nvSpPr>
          <p:spPr>
            <a:xfrm>
              <a:off x="816429" y="2383971"/>
              <a:ext cx="340023" cy="217715"/>
            </a:xfrm>
            <a:custGeom>
              <a:rect b="b" l="l" r="r" t="t"/>
              <a:pathLst>
                <a:path extrusionOk="0" h="217715" w="340023">
                  <a:moveTo>
                    <a:pt x="0" y="217715"/>
                  </a:moveTo>
                  <a:cubicBezTo>
                    <a:pt x="29028" y="210458"/>
                    <a:pt x="58965" y="206169"/>
                    <a:pt x="87085" y="195943"/>
                  </a:cubicBezTo>
                  <a:cubicBezTo>
                    <a:pt x="99380" y="191472"/>
                    <a:pt x="107717" y="179326"/>
                    <a:pt x="119742" y="174172"/>
                  </a:cubicBezTo>
                  <a:cubicBezTo>
                    <a:pt x="133493" y="168279"/>
                    <a:pt x="148771" y="166915"/>
                    <a:pt x="163285" y="163286"/>
                  </a:cubicBezTo>
                  <a:cubicBezTo>
                    <a:pt x="177799" y="152400"/>
                    <a:pt x="193268" y="142682"/>
                    <a:pt x="206828" y="130629"/>
                  </a:cubicBezTo>
                  <a:cubicBezTo>
                    <a:pt x="226005" y="113583"/>
                    <a:pt x="240730" y="91595"/>
                    <a:pt x="261257" y="76200"/>
                  </a:cubicBezTo>
                  <a:cubicBezTo>
                    <a:pt x="275771" y="65314"/>
                    <a:pt x="291025" y="55350"/>
                    <a:pt x="304800" y="43543"/>
                  </a:cubicBezTo>
                  <a:cubicBezTo>
                    <a:pt x="340023" y="13352"/>
                    <a:pt x="337457" y="25095"/>
                    <a:pt x="337457" y="0"/>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26" name="Google Shape;826;p45"/>
            <p:cNvSpPr/>
            <p:nvPr/>
          </p:nvSpPr>
          <p:spPr>
            <a:xfrm>
              <a:off x="478971" y="2155371"/>
              <a:ext cx="130629" cy="326572"/>
            </a:xfrm>
            <a:custGeom>
              <a:rect b="b" l="l" r="r" t="t"/>
              <a:pathLst>
                <a:path extrusionOk="0" h="326572" w="130629">
                  <a:moveTo>
                    <a:pt x="130629" y="326572"/>
                  </a:moveTo>
                  <a:cubicBezTo>
                    <a:pt x="126657" y="298767"/>
                    <a:pt x="120700" y="238409"/>
                    <a:pt x="108858" y="206829"/>
                  </a:cubicBezTo>
                  <a:cubicBezTo>
                    <a:pt x="103160" y="191635"/>
                    <a:pt x="93479" y="178201"/>
                    <a:pt x="87086" y="163286"/>
                  </a:cubicBezTo>
                  <a:cubicBezTo>
                    <a:pt x="82566" y="152739"/>
                    <a:pt x="81332" y="140892"/>
                    <a:pt x="76200" y="130629"/>
                  </a:cubicBezTo>
                  <a:cubicBezTo>
                    <a:pt x="70349" y="118927"/>
                    <a:pt x="60920" y="109331"/>
                    <a:pt x="54429" y="97972"/>
                  </a:cubicBezTo>
                  <a:cubicBezTo>
                    <a:pt x="19282" y="36463"/>
                    <a:pt x="49690" y="71460"/>
                    <a:pt x="10886" y="32658"/>
                  </a:cubicBezTo>
                  <a:lnTo>
                    <a:pt x="0" y="0"/>
                  </a:ln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27" name="Google Shape;827;p45"/>
            <p:cNvSpPr/>
            <p:nvPr/>
          </p:nvSpPr>
          <p:spPr>
            <a:xfrm>
              <a:off x="827314" y="2830286"/>
              <a:ext cx="304800" cy="44449"/>
            </a:xfrm>
            <a:custGeom>
              <a:rect b="b" l="l" r="r" t="t"/>
              <a:pathLst>
                <a:path extrusionOk="0" h="44449" w="304800">
                  <a:moveTo>
                    <a:pt x="0" y="0"/>
                  </a:moveTo>
                  <a:cubicBezTo>
                    <a:pt x="10886" y="10886"/>
                    <a:pt x="17490" y="30019"/>
                    <a:pt x="32657" y="32657"/>
                  </a:cubicBezTo>
                  <a:cubicBezTo>
                    <a:pt x="100461" y="44449"/>
                    <a:pt x="219664" y="43543"/>
                    <a:pt x="304800" y="43543"/>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28" name="Google Shape;828;p45"/>
            <p:cNvSpPr/>
            <p:nvPr/>
          </p:nvSpPr>
          <p:spPr>
            <a:xfrm>
              <a:off x="674914" y="2960914"/>
              <a:ext cx="242505" cy="523567"/>
            </a:xfrm>
            <a:custGeom>
              <a:rect b="b" l="l" r="r" t="t"/>
              <a:pathLst>
                <a:path extrusionOk="0" h="523567" w="242505">
                  <a:moveTo>
                    <a:pt x="0" y="0"/>
                  </a:moveTo>
                  <a:cubicBezTo>
                    <a:pt x="7257" y="29029"/>
                    <a:pt x="11887" y="58844"/>
                    <a:pt x="21772" y="87086"/>
                  </a:cubicBezTo>
                  <a:cubicBezTo>
                    <a:pt x="70851" y="227313"/>
                    <a:pt x="124398" y="303226"/>
                    <a:pt x="195943" y="446315"/>
                  </a:cubicBezTo>
                  <a:cubicBezTo>
                    <a:pt x="201075" y="456578"/>
                    <a:pt x="199661" y="470012"/>
                    <a:pt x="206829" y="478972"/>
                  </a:cubicBezTo>
                  <a:cubicBezTo>
                    <a:pt x="242505" y="523567"/>
                    <a:pt x="239486" y="481888"/>
                    <a:pt x="239486" y="511629"/>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29" name="Google Shape;829;p45"/>
            <p:cNvSpPr/>
            <p:nvPr/>
          </p:nvSpPr>
          <p:spPr>
            <a:xfrm>
              <a:off x="206829" y="2416629"/>
              <a:ext cx="283028" cy="111107"/>
            </a:xfrm>
            <a:custGeom>
              <a:rect b="b" l="l" r="r" t="t"/>
              <a:pathLst>
                <a:path extrusionOk="0" h="111107" w="283028">
                  <a:moveTo>
                    <a:pt x="283028" y="97971"/>
                  </a:moveTo>
                  <a:cubicBezTo>
                    <a:pt x="272142" y="101600"/>
                    <a:pt x="261623" y="111107"/>
                    <a:pt x="250371" y="108857"/>
                  </a:cubicBezTo>
                  <a:cubicBezTo>
                    <a:pt x="240307" y="106844"/>
                    <a:pt x="237401" y="92365"/>
                    <a:pt x="228600" y="87085"/>
                  </a:cubicBezTo>
                  <a:cubicBezTo>
                    <a:pt x="218760" y="81181"/>
                    <a:pt x="206828" y="79828"/>
                    <a:pt x="195942" y="76200"/>
                  </a:cubicBezTo>
                  <a:cubicBezTo>
                    <a:pt x="185056" y="68943"/>
                    <a:pt x="174987" y="60279"/>
                    <a:pt x="163285" y="54428"/>
                  </a:cubicBezTo>
                  <a:cubicBezTo>
                    <a:pt x="153022" y="49296"/>
                    <a:pt x="140659" y="49115"/>
                    <a:pt x="130628" y="43542"/>
                  </a:cubicBezTo>
                  <a:cubicBezTo>
                    <a:pt x="107755" y="30835"/>
                    <a:pt x="65314" y="0"/>
                    <a:pt x="65314" y="0"/>
                  </a:cubicBezTo>
                  <a:cubicBezTo>
                    <a:pt x="22330" y="14327"/>
                    <a:pt x="44131" y="10885"/>
                    <a:pt x="0" y="10885"/>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30" name="Google Shape;830;p45"/>
            <p:cNvSpPr/>
            <p:nvPr/>
          </p:nvSpPr>
          <p:spPr>
            <a:xfrm>
              <a:off x="108857" y="2764971"/>
              <a:ext cx="326572" cy="97972"/>
            </a:xfrm>
            <a:custGeom>
              <a:rect b="b" l="l" r="r" t="t"/>
              <a:pathLst>
                <a:path extrusionOk="0" h="97972" w="326572">
                  <a:moveTo>
                    <a:pt x="326572" y="0"/>
                  </a:moveTo>
                  <a:cubicBezTo>
                    <a:pt x="301172" y="3629"/>
                    <a:pt x="275532" y="5854"/>
                    <a:pt x="250372" y="10886"/>
                  </a:cubicBezTo>
                  <a:cubicBezTo>
                    <a:pt x="239120" y="13136"/>
                    <a:pt x="228747" y="18620"/>
                    <a:pt x="217714" y="21772"/>
                  </a:cubicBezTo>
                  <a:cubicBezTo>
                    <a:pt x="203329" y="25882"/>
                    <a:pt x="188557" y="28548"/>
                    <a:pt x="174172" y="32658"/>
                  </a:cubicBezTo>
                  <a:cubicBezTo>
                    <a:pt x="163139" y="35810"/>
                    <a:pt x="152646" y="40760"/>
                    <a:pt x="141514" y="43543"/>
                  </a:cubicBezTo>
                  <a:cubicBezTo>
                    <a:pt x="123564" y="48030"/>
                    <a:pt x="105229" y="50800"/>
                    <a:pt x="87086" y="54429"/>
                  </a:cubicBezTo>
                  <a:cubicBezTo>
                    <a:pt x="76200" y="61686"/>
                    <a:pt x="66131" y="70349"/>
                    <a:pt x="54429" y="76200"/>
                  </a:cubicBezTo>
                  <a:cubicBezTo>
                    <a:pt x="44166" y="81332"/>
                    <a:pt x="32426" y="82824"/>
                    <a:pt x="21772" y="87086"/>
                  </a:cubicBezTo>
                  <a:cubicBezTo>
                    <a:pt x="14238" y="90099"/>
                    <a:pt x="7257" y="94343"/>
                    <a:pt x="0" y="97972"/>
                  </a:cubicBezTo>
                </a:path>
              </a:pathLst>
            </a:cu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grpSp>
      <p:grpSp>
        <p:nvGrpSpPr>
          <p:cNvPr id="831" name="Google Shape;831;p45"/>
          <p:cNvGrpSpPr/>
          <p:nvPr/>
        </p:nvGrpSpPr>
        <p:grpSpPr>
          <a:xfrm>
            <a:off x="3635896" y="3284984"/>
            <a:ext cx="1224136" cy="1152128"/>
            <a:chOff x="2843808" y="3284984"/>
            <a:chExt cx="1224136" cy="1152128"/>
          </a:xfrm>
        </p:grpSpPr>
        <p:sp>
          <p:nvSpPr>
            <p:cNvPr id="832" name="Google Shape;832;p45"/>
            <p:cNvSpPr/>
            <p:nvPr/>
          </p:nvSpPr>
          <p:spPr>
            <a:xfrm>
              <a:off x="2843808" y="3284984"/>
              <a:ext cx="360040" cy="360040"/>
            </a:xfrm>
            <a:prstGeom prst="star5">
              <a:avLst>
                <a:gd fmla="val 19098" name="adj"/>
                <a:gd fmla="val 105146" name="hf"/>
                <a:gd fmla="val 110557" name="vf"/>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33" name="Google Shape;833;p45"/>
            <p:cNvSpPr/>
            <p:nvPr/>
          </p:nvSpPr>
          <p:spPr>
            <a:xfrm>
              <a:off x="3707904" y="4077072"/>
              <a:ext cx="360040" cy="360040"/>
            </a:xfrm>
            <a:prstGeom prst="star5">
              <a:avLst>
                <a:gd fmla="val 19098" name="adj"/>
                <a:gd fmla="val 105146" name="hf"/>
                <a:gd fmla="val 110557" name="vf"/>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834" name="Google Shape;834;p45"/>
          <p:cNvSpPr txBox="1"/>
          <p:nvPr/>
        </p:nvSpPr>
        <p:spPr>
          <a:xfrm>
            <a:off x="35496" y="2019612"/>
            <a:ext cx="2520280" cy="37856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i-FI" sz="2000">
                <a:solidFill>
                  <a:schemeClr val="dk1"/>
                </a:solidFill>
                <a:latin typeface="Gill Sans"/>
                <a:ea typeface="Gill Sans"/>
                <a:cs typeface="Gill Sans"/>
                <a:sym typeface="Gill Sans"/>
              </a:rPr>
              <a:t>Ensitestaus (ei virhettä): 10 min</a:t>
            </a:r>
            <a:endParaRPr/>
          </a:p>
          <a:p>
            <a:pPr indent="0" lvl="0" marL="0" marR="0" rtl="0" algn="ctr">
              <a:spcBef>
                <a:spcPts val="0"/>
              </a:spcBef>
              <a:spcAft>
                <a:spcPts val="0"/>
              </a:spcAft>
              <a:buNone/>
            </a:pPr>
            <a:r>
              <a:t/>
            </a:r>
            <a:endParaRPr b="1" sz="2000">
              <a:solidFill>
                <a:schemeClr val="dk1"/>
              </a:solidFill>
              <a:latin typeface="Gill Sans"/>
              <a:ea typeface="Gill Sans"/>
              <a:cs typeface="Gill Sans"/>
              <a:sym typeface="Gill Sans"/>
            </a:endParaRPr>
          </a:p>
          <a:p>
            <a:pPr indent="0" lvl="0" marL="0" marR="0" rtl="0" algn="ctr">
              <a:spcBef>
                <a:spcPts val="0"/>
              </a:spcBef>
              <a:spcAft>
                <a:spcPts val="0"/>
              </a:spcAft>
              <a:buNone/>
            </a:pPr>
            <a:r>
              <a:rPr b="1" lang="fi-FI" sz="2000">
                <a:solidFill>
                  <a:schemeClr val="dk1"/>
                </a:solidFill>
                <a:latin typeface="Gill Sans"/>
                <a:ea typeface="Gill Sans"/>
                <a:cs typeface="Gill Sans"/>
                <a:sym typeface="Gill Sans"/>
              </a:rPr>
              <a:t>Virheraportointi: </a:t>
            </a:r>
            <a:br>
              <a:rPr b="1" lang="fi-FI" sz="2000">
                <a:solidFill>
                  <a:schemeClr val="dk1"/>
                </a:solidFill>
                <a:latin typeface="Gill Sans"/>
                <a:ea typeface="Gill Sans"/>
                <a:cs typeface="Gill Sans"/>
                <a:sym typeface="Gill Sans"/>
              </a:rPr>
            </a:br>
            <a:r>
              <a:rPr b="1" lang="fi-FI" sz="2000">
                <a:solidFill>
                  <a:schemeClr val="dk1"/>
                </a:solidFill>
                <a:latin typeface="Gill Sans"/>
                <a:ea typeface="Gill Sans"/>
                <a:cs typeface="Gill Sans"/>
                <a:sym typeface="Gill Sans"/>
              </a:rPr>
              <a:t>4 min</a:t>
            </a:r>
            <a:endParaRPr/>
          </a:p>
          <a:p>
            <a:pPr indent="0" lvl="0" marL="0" marR="0" rtl="0" algn="ctr">
              <a:spcBef>
                <a:spcPts val="0"/>
              </a:spcBef>
              <a:spcAft>
                <a:spcPts val="0"/>
              </a:spcAft>
              <a:buNone/>
            </a:pPr>
            <a:r>
              <a:t/>
            </a:r>
            <a:endParaRPr b="1" sz="2000">
              <a:solidFill>
                <a:schemeClr val="dk1"/>
              </a:solidFill>
              <a:latin typeface="Gill Sans"/>
              <a:ea typeface="Gill Sans"/>
              <a:cs typeface="Gill Sans"/>
              <a:sym typeface="Gill Sans"/>
            </a:endParaRPr>
          </a:p>
          <a:p>
            <a:pPr indent="0" lvl="0" marL="0" marR="0" rtl="0" algn="ctr">
              <a:spcBef>
                <a:spcPts val="0"/>
              </a:spcBef>
              <a:spcAft>
                <a:spcPts val="0"/>
              </a:spcAft>
              <a:buNone/>
            </a:pPr>
            <a:r>
              <a:rPr b="1" lang="fi-FI" sz="2000">
                <a:solidFill>
                  <a:schemeClr val="dk1"/>
                </a:solidFill>
                <a:latin typeface="Gill Sans"/>
                <a:ea typeface="Gill Sans"/>
                <a:cs typeface="Gill Sans"/>
                <a:sym typeface="Gill Sans"/>
              </a:rPr>
              <a:t>Uudelleentestaus: </a:t>
            </a:r>
            <a:br>
              <a:rPr b="1" lang="fi-FI" sz="2000">
                <a:solidFill>
                  <a:schemeClr val="dk1"/>
                </a:solidFill>
                <a:latin typeface="Gill Sans"/>
                <a:ea typeface="Gill Sans"/>
                <a:cs typeface="Gill Sans"/>
                <a:sym typeface="Gill Sans"/>
              </a:rPr>
            </a:br>
            <a:r>
              <a:rPr b="1" lang="fi-FI" sz="2000">
                <a:solidFill>
                  <a:schemeClr val="dk1"/>
                </a:solidFill>
                <a:latin typeface="Gill Sans"/>
                <a:ea typeface="Gill Sans"/>
                <a:cs typeface="Gill Sans"/>
                <a:sym typeface="Gill Sans"/>
              </a:rPr>
              <a:t>10 min</a:t>
            </a:r>
            <a:endParaRPr/>
          </a:p>
          <a:p>
            <a:pPr indent="0" lvl="0" marL="0" marR="0" rtl="0" algn="ctr">
              <a:spcBef>
                <a:spcPts val="0"/>
              </a:spcBef>
              <a:spcAft>
                <a:spcPts val="0"/>
              </a:spcAft>
              <a:buNone/>
            </a:pPr>
            <a:r>
              <a:t/>
            </a:r>
            <a:endParaRPr b="1" sz="2000">
              <a:solidFill>
                <a:schemeClr val="dk1"/>
              </a:solidFill>
              <a:latin typeface="Gill Sans"/>
              <a:ea typeface="Gill Sans"/>
              <a:cs typeface="Gill Sans"/>
              <a:sym typeface="Gill Sans"/>
            </a:endParaRPr>
          </a:p>
          <a:p>
            <a:pPr indent="0" lvl="0" marL="0" marR="0" rtl="0" algn="ctr">
              <a:spcBef>
                <a:spcPts val="0"/>
              </a:spcBef>
              <a:spcAft>
                <a:spcPts val="0"/>
              </a:spcAft>
              <a:buNone/>
            </a:pPr>
            <a:r>
              <a:rPr b="1" lang="fi-FI" sz="2000">
                <a:solidFill>
                  <a:schemeClr val="dk1"/>
                </a:solidFill>
                <a:latin typeface="Gill Sans"/>
                <a:ea typeface="Gill Sans"/>
                <a:cs typeface="Gill Sans"/>
                <a:sym typeface="Gill Sans"/>
              </a:rPr>
              <a:t>🡪 vrt. 10 min vs. 24 min ”testaukseen”</a:t>
            </a:r>
            <a:endParaRPr b="1" sz="2000">
              <a:solidFill>
                <a:schemeClr val="dk1"/>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500"/>
                                        <p:tgtEl>
                                          <p:spTgt spid="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500"/>
                                        <p:tgtEl>
                                          <p:spTgt spid="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500"/>
                                        <p:tgtEl>
                                          <p:spTgt spid="8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46"/>
          <p:cNvSpPr/>
          <p:nvPr/>
        </p:nvSpPr>
        <p:spPr>
          <a:xfrm>
            <a:off x="4291013" y="3213100"/>
            <a:ext cx="4384675" cy="2400300"/>
          </a:xfrm>
          <a:custGeom>
            <a:rect b="b" l="l" r="r" t="t"/>
            <a:pathLst>
              <a:path extrusionOk="0" h="2208" w="3504">
                <a:moveTo>
                  <a:pt x="768" y="96"/>
                </a:moveTo>
                <a:lnTo>
                  <a:pt x="864" y="384"/>
                </a:lnTo>
                <a:lnTo>
                  <a:pt x="768" y="480"/>
                </a:lnTo>
                <a:lnTo>
                  <a:pt x="912" y="528"/>
                </a:lnTo>
                <a:lnTo>
                  <a:pt x="864" y="816"/>
                </a:lnTo>
                <a:lnTo>
                  <a:pt x="624" y="864"/>
                </a:lnTo>
                <a:lnTo>
                  <a:pt x="576" y="1008"/>
                </a:lnTo>
                <a:lnTo>
                  <a:pt x="336" y="960"/>
                </a:lnTo>
                <a:lnTo>
                  <a:pt x="336" y="1104"/>
                </a:lnTo>
                <a:lnTo>
                  <a:pt x="96" y="912"/>
                </a:lnTo>
                <a:lnTo>
                  <a:pt x="0" y="1008"/>
                </a:lnTo>
                <a:lnTo>
                  <a:pt x="96" y="1440"/>
                </a:lnTo>
                <a:lnTo>
                  <a:pt x="48" y="1728"/>
                </a:lnTo>
                <a:lnTo>
                  <a:pt x="96" y="2016"/>
                </a:lnTo>
                <a:lnTo>
                  <a:pt x="240" y="2112"/>
                </a:lnTo>
                <a:lnTo>
                  <a:pt x="288" y="2208"/>
                </a:lnTo>
                <a:lnTo>
                  <a:pt x="480" y="2160"/>
                </a:lnTo>
                <a:lnTo>
                  <a:pt x="816" y="2016"/>
                </a:lnTo>
                <a:lnTo>
                  <a:pt x="1056" y="2160"/>
                </a:lnTo>
                <a:lnTo>
                  <a:pt x="1536" y="2064"/>
                </a:lnTo>
                <a:lnTo>
                  <a:pt x="1776" y="2112"/>
                </a:lnTo>
                <a:lnTo>
                  <a:pt x="1872" y="2016"/>
                </a:lnTo>
                <a:lnTo>
                  <a:pt x="2112" y="2064"/>
                </a:lnTo>
                <a:lnTo>
                  <a:pt x="2352" y="2016"/>
                </a:lnTo>
                <a:lnTo>
                  <a:pt x="2496" y="2112"/>
                </a:lnTo>
                <a:lnTo>
                  <a:pt x="2928" y="2016"/>
                </a:lnTo>
                <a:lnTo>
                  <a:pt x="3360" y="2160"/>
                </a:lnTo>
                <a:lnTo>
                  <a:pt x="3504" y="1824"/>
                </a:lnTo>
                <a:lnTo>
                  <a:pt x="3360" y="1344"/>
                </a:lnTo>
                <a:lnTo>
                  <a:pt x="3456" y="864"/>
                </a:lnTo>
                <a:lnTo>
                  <a:pt x="3312" y="816"/>
                </a:lnTo>
                <a:lnTo>
                  <a:pt x="3168" y="528"/>
                </a:lnTo>
                <a:lnTo>
                  <a:pt x="3216" y="240"/>
                </a:lnTo>
                <a:lnTo>
                  <a:pt x="3120" y="48"/>
                </a:lnTo>
                <a:lnTo>
                  <a:pt x="2688" y="192"/>
                </a:lnTo>
                <a:lnTo>
                  <a:pt x="2352" y="144"/>
                </a:lnTo>
                <a:lnTo>
                  <a:pt x="2208" y="48"/>
                </a:lnTo>
                <a:lnTo>
                  <a:pt x="2064" y="48"/>
                </a:lnTo>
                <a:lnTo>
                  <a:pt x="1920" y="0"/>
                </a:lnTo>
                <a:lnTo>
                  <a:pt x="1728" y="48"/>
                </a:lnTo>
                <a:lnTo>
                  <a:pt x="1488" y="96"/>
                </a:lnTo>
                <a:lnTo>
                  <a:pt x="1296" y="48"/>
                </a:lnTo>
                <a:lnTo>
                  <a:pt x="1104" y="48"/>
                </a:lnTo>
                <a:lnTo>
                  <a:pt x="1008" y="144"/>
                </a:lnTo>
                <a:lnTo>
                  <a:pt x="864" y="48"/>
                </a:lnTo>
                <a:lnTo>
                  <a:pt x="768" y="48"/>
                </a:lnTo>
                <a:lnTo>
                  <a:pt x="768" y="96"/>
                </a:lnTo>
                <a:close/>
              </a:path>
            </a:pathLst>
          </a:custGeom>
          <a:solidFill>
            <a:schemeClr val="accent1"/>
          </a:solidFill>
          <a:ln cap="flat" cmpd="sng" w="9525">
            <a:solidFill>
              <a:schemeClr val="dk1"/>
            </a:solidFill>
            <a:prstDash val="solid"/>
            <a:round/>
            <a:headEnd len="sm" w="sm" type="none"/>
            <a:tailEnd len="sm" w="sm" type="none"/>
          </a:ln>
          <a:effectLst>
            <a:outerShdw rotWithShape="0" algn="ctr" dir="8100000" dist="107763">
              <a:schemeClr val="lt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41" name="Google Shape;841;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Regressiotestaus</a:t>
            </a:r>
            <a:endParaRPr/>
          </a:p>
        </p:txBody>
      </p:sp>
      <p:sp>
        <p:nvSpPr>
          <p:cNvPr id="842" name="Google Shape;842;p46"/>
          <p:cNvSpPr txBox="1"/>
          <p:nvPr>
            <p:ph idx="1" type="body"/>
          </p:nvPr>
        </p:nvSpPr>
        <p:spPr>
          <a:xfrm>
            <a:off x="685800" y="1828800"/>
            <a:ext cx="3381375" cy="3657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fi-FI" sz="2400"/>
              <a:t>Regressio = taantuma</a:t>
            </a:r>
            <a:endParaRPr/>
          </a:p>
          <a:p>
            <a:pPr indent="-285750" lvl="1" marL="742950" rtl="0" algn="l">
              <a:spcBef>
                <a:spcPts val="400"/>
              </a:spcBef>
              <a:spcAft>
                <a:spcPts val="0"/>
              </a:spcAft>
              <a:buClr>
                <a:schemeClr val="dk1"/>
              </a:buClr>
              <a:buSzPts val="2000"/>
              <a:buChar char="–"/>
            </a:pPr>
            <a:r>
              <a:rPr lang="fi-FI" sz="2000"/>
              <a:t>Asiat jotka ennen toimivat eivät toimi nyt</a:t>
            </a:r>
            <a:endParaRPr/>
          </a:p>
          <a:p>
            <a:pPr indent="-342900" lvl="0" marL="342900" rtl="0" algn="l">
              <a:spcBef>
                <a:spcPts val="360"/>
              </a:spcBef>
              <a:spcAft>
                <a:spcPts val="0"/>
              </a:spcAft>
              <a:buClr>
                <a:schemeClr val="dk1"/>
              </a:buClr>
              <a:buSzPts val="1800"/>
              <a:buChar char="•"/>
            </a:pPr>
            <a:r>
              <a:rPr lang="fi-FI" sz="1800"/>
              <a:t>Regressiotestaus on aiemmin läpäistyjen testien ajamista uudelleen sivuvaikutusten etsimistarkoituksessa</a:t>
            </a:r>
            <a:endParaRPr/>
          </a:p>
          <a:p>
            <a:pPr indent="-254000" lvl="0" marL="342900" rtl="0" algn="l">
              <a:spcBef>
                <a:spcPts val="280"/>
              </a:spcBef>
              <a:spcAft>
                <a:spcPts val="0"/>
              </a:spcAft>
              <a:buClr>
                <a:schemeClr val="dk1"/>
              </a:buClr>
              <a:buSzPts val="1400"/>
              <a:buNone/>
            </a:pPr>
            <a:r>
              <a:t/>
            </a:r>
            <a:endParaRPr sz="1400"/>
          </a:p>
        </p:txBody>
      </p:sp>
      <p:grpSp>
        <p:nvGrpSpPr>
          <p:cNvPr id="843" name="Google Shape;843;p46"/>
          <p:cNvGrpSpPr/>
          <p:nvPr/>
        </p:nvGrpSpPr>
        <p:grpSpPr>
          <a:xfrm>
            <a:off x="4454525" y="5157788"/>
            <a:ext cx="2493963" cy="1171575"/>
            <a:chOff x="0" y="3248"/>
            <a:chExt cx="2352" cy="1414"/>
          </a:xfrm>
        </p:grpSpPr>
        <p:sp>
          <p:nvSpPr>
            <p:cNvPr id="844" name="Google Shape;844;p46"/>
            <p:cNvSpPr/>
            <p:nvPr/>
          </p:nvSpPr>
          <p:spPr>
            <a:xfrm>
              <a:off x="1609" y="3248"/>
              <a:ext cx="144" cy="144"/>
            </a:xfrm>
            <a:prstGeom prst="ellipse">
              <a:avLst/>
            </a:prstGeom>
            <a:solidFill>
              <a:srgbClr val="FF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45" name="Google Shape;845;p46"/>
            <p:cNvSpPr txBox="1"/>
            <p:nvPr/>
          </p:nvSpPr>
          <p:spPr>
            <a:xfrm>
              <a:off x="0" y="3888"/>
              <a:ext cx="2352" cy="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rgbClr val="FF0000"/>
                  </a:solidFill>
                  <a:latin typeface="Gill Sans"/>
                  <a:ea typeface="Gill Sans"/>
                  <a:cs typeface="Gill Sans"/>
                  <a:sym typeface="Gill Sans"/>
                </a:rPr>
                <a:t>Testi löytää </a:t>
              </a:r>
              <a:br>
                <a:rPr lang="fi-FI" sz="1800">
                  <a:solidFill>
                    <a:srgbClr val="FF0000"/>
                  </a:solidFill>
                  <a:latin typeface="Gill Sans"/>
                  <a:ea typeface="Gill Sans"/>
                  <a:cs typeface="Gill Sans"/>
                  <a:sym typeface="Gill Sans"/>
                </a:rPr>
              </a:br>
              <a:r>
                <a:rPr lang="fi-FI" sz="1800">
                  <a:solidFill>
                    <a:srgbClr val="FF0000"/>
                  </a:solidFill>
                  <a:latin typeface="Gill Sans"/>
                  <a:ea typeface="Gill Sans"/>
                  <a:cs typeface="Gill Sans"/>
                  <a:sym typeface="Gill Sans"/>
                </a:rPr>
                <a:t>virheen</a:t>
              </a:r>
              <a:endParaRPr sz="1800">
                <a:solidFill>
                  <a:srgbClr val="FF0000"/>
                </a:solidFill>
                <a:latin typeface="Gill Sans"/>
                <a:ea typeface="Gill Sans"/>
                <a:cs typeface="Gill Sans"/>
                <a:sym typeface="Gill Sans"/>
              </a:endParaRPr>
            </a:p>
          </p:txBody>
        </p:sp>
        <p:cxnSp>
          <p:nvCxnSpPr>
            <p:cNvPr id="846" name="Google Shape;846;p46"/>
            <p:cNvCxnSpPr/>
            <p:nvPr/>
          </p:nvCxnSpPr>
          <p:spPr>
            <a:xfrm flipH="1" rot="10800000">
              <a:off x="912" y="3360"/>
              <a:ext cx="672" cy="576"/>
            </a:xfrm>
            <a:prstGeom prst="straightConnector1">
              <a:avLst/>
            </a:prstGeom>
            <a:noFill/>
            <a:ln cap="flat" cmpd="sng" w="9525">
              <a:solidFill>
                <a:srgbClr val="000000"/>
              </a:solidFill>
              <a:prstDash val="solid"/>
              <a:round/>
              <a:headEnd len="med" w="med" type="none"/>
              <a:tailEnd len="med" w="med" type="triangle"/>
            </a:ln>
          </p:spPr>
        </p:cxnSp>
      </p:grpSp>
      <p:grpSp>
        <p:nvGrpSpPr>
          <p:cNvPr id="847" name="Google Shape;847;p46"/>
          <p:cNvGrpSpPr/>
          <p:nvPr/>
        </p:nvGrpSpPr>
        <p:grpSpPr>
          <a:xfrm>
            <a:off x="2087563" y="4000500"/>
            <a:ext cx="6300787" cy="2741613"/>
            <a:chOff x="1315" y="2520"/>
            <a:chExt cx="3969" cy="1727"/>
          </a:xfrm>
        </p:grpSpPr>
        <p:sp>
          <p:nvSpPr>
            <p:cNvPr id="848" name="Google Shape;848;p46"/>
            <p:cNvSpPr/>
            <p:nvPr/>
          </p:nvSpPr>
          <p:spPr>
            <a:xfrm>
              <a:off x="1315" y="3324"/>
              <a:ext cx="1384" cy="9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rgbClr val="FF9900"/>
                  </a:solidFill>
                  <a:latin typeface="Gill Sans"/>
                  <a:ea typeface="Gill Sans"/>
                  <a:cs typeface="Gill Sans"/>
                  <a:sym typeface="Gill Sans"/>
                </a:rPr>
                <a:t>Uusia virheitä syntyy korjauksen vaatimien muutosten seurauksena.</a:t>
              </a:r>
              <a:endParaRPr sz="1800">
                <a:solidFill>
                  <a:srgbClr val="FF9900"/>
                </a:solidFill>
                <a:latin typeface="Gill Sans"/>
                <a:ea typeface="Gill Sans"/>
                <a:cs typeface="Gill Sans"/>
                <a:sym typeface="Gill Sans"/>
              </a:endParaRPr>
            </a:p>
          </p:txBody>
        </p:sp>
        <p:grpSp>
          <p:nvGrpSpPr>
            <p:cNvPr id="849" name="Google Shape;849;p46"/>
            <p:cNvGrpSpPr/>
            <p:nvPr/>
          </p:nvGrpSpPr>
          <p:grpSpPr>
            <a:xfrm>
              <a:off x="2944" y="2520"/>
              <a:ext cx="2340" cy="834"/>
              <a:chOff x="2944" y="2868"/>
              <a:chExt cx="2340" cy="834"/>
            </a:xfrm>
          </p:grpSpPr>
          <p:sp>
            <p:nvSpPr>
              <p:cNvPr id="850" name="Google Shape;850;p46"/>
              <p:cNvSpPr/>
              <p:nvPr/>
            </p:nvSpPr>
            <p:spPr>
              <a:xfrm>
                <a:off x="3506" y="2868"/>
                <a:ext cx="96" cy="100"/>
              </a:xfrm>
              <a:prstGeom prst="diamond">
                <a:avLst/>
              </a:prstGeom>
              <a:solidFill>
                <a:srgbClr val="FF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51" name="Google Shape;851;p46"/>
              <p:cNvSpPr/>
              <p:nvPr/>
            </p:nvSpPr>
            <p:spPr>
              <a:xfrm>
                <a:off x="4243" y="2868"/>
                <a:ext cx="96" cy="100"/>
              </a:xfrm>
              <a:prstGeom prst="diamond">
                <a:avLst/>
              </a:prstGeom>
              <a:solidFill>
                <a:srgbClr val="FF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52" name="Google Shape;852;p46"/>
              <p:cNvSpPr/>
              <p:nvPr/>
            </p:nvSpPr>
            <p:spPr>
              <a:xfrm>
                <a:off x="5188" y="3327"/>
                <a:ext cx="96" cy="100"/>
              </a:xfrm>
              <a:prstGeom prst="diamond">
                <a:avLst/>
              </a:prstGeom>
              <a:solidFill>
                <a:srgbClr val="FF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53" name="Google Shape;853;p46"/>
              <p:cNvSpPr/>
              <p:nvPr/>
            </p:nvSpPr>
            <p:spPr>
              <a:xfrm>
                <a:off x="3379" y="3385"/>
                <a:ext cx="97" cy="100"/>
              </a:xfrm>
              <a:prstGeom prst="diamond">
                <a:avLst/>
              </a:prstGeom>
              <a:solidFill>
                <a:srgbClr val="FF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54" name="Google Shape;854;p46"/>
              <p:cNvSpPr/>
              <p:nvPr/>
            </p:nvSpPr>
            <p:spPr>
              <a:xfrm>
                <a:off x="3742" y="3385"/>
                <a:ext cx="96" cy="100"/>
              </a:xfrm>
              <a:prstGeom prst="diamond">
                <a:avLst/>
              </a:prstGeom>
              <a:solidFill>
                <a:srgbClr val="FF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55" name="Google Shape;855;p46"/>
              <p:cNvSpPr/>
              <p:nvPr/>
            </p:nvSpPr>
            <p:spPr>
              <a:xfrm>
                <a:off x="2944" y="3602"/>
                <a:ext cx="96" cy="100"/>
              </a:xfrm>
              <a:prstGeom prst="diamond">
                <a:avLst/>
              </a:prstGeom>
              <a:solidFill>
                <a:srgbClr val="FF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56" name="Google Shape;856;p46"/>
              <p:cNvSpPr/>
              <p:nvPr/>
            </p:nvSpPr>
            <p:spPr>
              <a:xfrm>
                <a:off x="3553" y="3602"/>
                <a:ext cx="96" cy="100"/>
              </a:xfrm>
              <a:prstGeom prst="diamond">
                <a:avLst/>
              </a:prstGeom>
              <a:solidFill>
                <a:srgbClr val="FF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grpSp>
      <p:grpSp>
        <p:nvGrpSpPr>
          <p:cNvPr id="857" name="Google Shape;857;p46"/>
          <p:cNvGrpSpPr/>
          <p:nvPr/>
        </p:nvGrpSpPr>
        <p:grpSpPr>
          <a:xfrm>
            <a:off x="6084888" y="5084763"/>
            <a:ext cx="2808287" cy="1695450"/>
            <a:chOff x="3833" y="3203"/>
            <a:chExt cx="1769" cy="1068"/>
          </a:xfrm>
        </p:grpSpPr>
        <p:sp>
          <p:nvSpPr>
            <p:cNvPr id="858" name="Google Shape;858;p46"/>
            <p:cNvSpPr txBox="1"/>
            <p:nvPr/>
          </p:nvSpPr>
          <p:spPr>
            <a:xfrm>
              <a:off x="3833" y="3521"/>
              <a:ext cx="1769" cy="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hlink"/>
                  </a:solidFill>
                  <a:latin typeface="Gill Sans"/>
                  <a:ea typeface="Gill Sans"/>
                  <a:cs typeface="Gill Sans"/>
                  <a:sym typeface="Gill Sans"/>
                </a:rPr>
                <a:t>Virhe korjataan ja tarkka tilanne testataan uudelleen (re-test, uudelleen testaus)</a:t>
              </a:r>
              <a:endParaRPr sz="1800">
                <a:solidFill>
                  <a:schemeClr val="hlink"/>
                </a:solidFill>
                <a:latin typeface="Gill Sans"/>
                <a:ea typeface="Gill Sans"/>
                <a:cs typeface="Gill Sans"/>
                <a:sym typeface="Gill Sans"/>
              </a:endParaRPr>
            </a:p>
          </p:txBody>
        </p:sp>
        <p:sp>
          <p:nvSpPr>
            <p:cNvPr id="859" name="Google Shape;859;p46"/>
            <p:cNvSpPr/>
            <p:nvPr/>
          </p:nvSpPr>
          <p:spPr>
            <a:xfrm>
              <a:off x="3878" y="3203"/>
              <a:ext cx="136" cy="136"/>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grpSp>
        <p:nvGrpSpPr>
          <p:cNvPr id="860" name="Google Shape;860;p46"/>
          <p:cNvGrpSpPr/>
          <p:nvPr/>
        </p:nvGrpSpPr>
        <p:grpSpPr>
          <a:xfrm>
            <a:off x="5219700" y="2081213"/>
            <a:ext cx="3455988" cy="3363912"/>
            <a:chOff x="3288" y="1311"/>
            <a:chExt cx="2177" cy="2119"/>
          </a:xfrm>
        </p:grpSpPr>
        <p:sp>
          <p:nvSpPr>
            <p:cNvPr id="861" name="Google Shape;861;p46"/>
            <p:cNvSpPr txBox="1"/>
            <p:nvPr/>
          </p:nvSpPr>
          <p:spPr>
            <a:xfrm>
              <a:off x="3288" y="1311"/>
              <a:ext cx="2177" cy="5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folHlink"/>
                  </a:solidFill>
                  <a:latin typeface="Gill Sans"/>
                  <a:ea typeface="Gill Sans"/>
                  <a:cs typeface="Gill Sans"/>
                  <a:sym typeface="Gill Sans"/>
                </a:rPr>
                <a:t>Suoritetaan aiemmin jo läpäistyjä testejä sivuvaikutusten löytämiseksi</a:t>
              </a:r>
              <a:endParaRPr sz="1800">
                <a:solidFill>
                  <a:schemeClr val="folHlink"/>
                </a:solidFill>
                <a:latin typeface="Gill Sans"/>
                <a:ea typeface="Gill Sans"/>
                <a:cs typeface="Gill Sans"/>
                <a:sym typeface="Gill Sans"/>
              </a:endParaRPr>
            </a:p>
          </p:txBody>
        </p:sp>
        <p:sp>
          <p:nvSpPr>
            <p:cNvPr id="862" name="Google Shape;862;p46"/>
            <p:cNvSpPr/>
            <p:nvPr/>
          </p:nvSpPr>
          <p:spPr>
            <a:xfrm>
              <a:off x="3424" y="2069"/>
              <a:ext cx="892" cy="1361"/>
            </a:xfrm>
            <a:custGeom>
              <a:rect b="b" l="l" r="r" t="t"/>
              <a:pathLst>
                <a:path extrusionOk="0" h="1361" w="892">
                  <a:moveTo>
                    <a:pt x="862" y="0"/>
                  </a:moveTo>
                  <a:cubicBezTo>
                    <a:pt x="877" y="196"/>
                    <a:pt x="892" y="393"/>
                    <a:pt x="862" y="499"/>
                  </a:cubicBezTo>
                  <a:cubicBezTo>
                    <a:pt x="832" y="605"/>
                    <a:pt x="764" y="544"/>
                    <a:pt x="681" y="635"/>
                  </a:cubicBezTo>
                  <a:cubicBezTo>
                    <a:pt x="598" y="726"/>
                    <a:pt x="454" y="938"/>
                    <a:pt x="363" y="1044"/>
                  </a:cubicBezTo>
                  <a:cubicBezTo>
                    <a:pt x="272" y="1150"/>
                    <a:pt x="197" y="1217"/>
                    <a:pt x="136" y="1270"/>
                  </a:cubicBezTo>
                  <a:cubicBezTo>
                    <a:pt x="75" y="1323"/>
                    <a:pt x="53" y="1331"/>
                    <a:pt x="0" y="1361"/>
                  </a:cubicBezTo>
                </a:path>
              </a:pathLst>
            </a:custGeom>
            <a:noFill/>
            <a:ln cap="flat" cmpd="sng" w="38100">
              <a:solidFill>
                <a:schemeClr val="folHlink"/>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63" name="Google Shape;863;p46"/>
            <p:cNvSpPr/>
            <p:nvPr/>
          </p:nvSpPr>
          <p:spPr>
            <a:xfrm>
              <a:off x="4362" y="2160"/>
              <a:ext cx="378" cy="1270"/>
            </a:xfrm>
            <a:custGeom>
              <a:rect b="b" l="l" r="r" t="t"/>
              <a:pathLst>
                <a:path extrusionOk="0" h="1270" w="378">
                  <a:moveTo>
                    <a:pt x="106" y="0"/>
                  </a:moveTo>
                  <a:cubicBezTo>
                    <a:pt x="204" y="268"/>
                    <a:pt x="302" y="536"/>
                    <a:pt x="287" y="680"/>
                  </a:cubicBezTo>
                  <a:cubicBezTo>
                    <a:pt x="272" y="824"/>
                    <a:pt x="0" y="764"/>
                    <a:pt x="15" y="862"/>
                  </a:cubicBezTo>
                  <a:cubicBezTo>
                    <a:pt x="30" y="960"/>
                    <a:pt x="310" y="1179"/>
                    <a:pt x="378" y="1270"/>
                  </a:cubicBezTo>
                </a:path>
              </a:pathLst>
            </a:custGeom>
            <a:noFill/>
            <a:ln cap="flat" cmpd="sng" w="38100">
              <a:solidFill>
                <a:schemeClr val="folHlink"/>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cxnSp>
          <p:nvCxnSpPr>
            <p:cNvPr id="864" name="Google Shape;864;p46"/>
            <p:cNvCxnSpPr/>
            <p:nvPr/>
          </p:nvCxnSpPr>
          <p:spPr>
            <a:xfrm flipH="1">
              <a:off x="3379" y="2160"/>
              <a:ext cx="136" cy="1270"/>
            </a:xfrm>
            <a:prstGeom prst="straightConnector1">
              <a:avLst/>
            </a:prstGeom>
            <a:noFill/>
            <a:ln cap="flat" cmpd="sng" w="38100">
              <a:solidFill>
                <a:schemeClr val="folHlink"/>
              </a:solidFill>
              <a:prstDash val="solid"/>
              <a:round/>
              <a:headEnd len="med" w="med" type="none"/>
              <a:tailEnd len="med" w="med" type="triangle"/>
            </a:ln>
          </p:spPr>
        </p:cxnSp>
      </p:grpSp>
      <p:sp>
        <p:nvSpPr>
          <p:cNvPr id="865" name="Google Shape;865;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3"/>
                                        </p:tgtEl>
                                        <p:attrNameLst>
                                          <p:attrName>style.visibility</p:attrName>
                                        </p:attrNameLst>
                                      </p:cBhvr>
                                      <p:to>
                                        <p:strVal val="visible"/>
                                      </p:to>
                                    </p:set>
                                    <p:anim calcmode="lin" valueType="num">
                                      <p:cBhvr additive="base">
                                        <p:cTn dur="500"/>
                                        <p:tgtEl>
                                          <p:spTgt spid="84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7"/>
                                        </p:tgtEl>
                                        <p:attrNameLst>
                                          <p:attrName>style.visibility</p:attrName>
                                        </p:attrNameLst>
                                      </p:cBhvr>
                                      <p:to>
                                        <p:strVal val="visible"/>
                                      </p:to>
                                    </p:set>
                                    <p:anim calcmode="lin" valueType="num">
                                      <p:cBhvr additive="base">
                                        <p:cTn dur="500"/>
                                        <p:tgtEl>
                                          <p:spTgt spid="8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7"/>
                                        </p:tgtEl>
                                        <p:attrNameLst>
                                          <p:attrName>style.visibility</p:attrName>
                                        </p:attrNameLst>
                                      </p:cBhvr>
                                      <p:to>
                                        <p:strVal val="visible"/>
                                      </p:to>
                                    </p:set>
                                    <p:anim calcmode="lin" valueType="num">
                                      <p:cBhvr additive="base">
                                        <p:cTn dur="500"/>
                                        <p:tgtEl>
                                          <p:spTgt spid="84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0"/>
                                        </p:tgtEl>
                                        <p:attrNameLst>
                                          <p:attrName>style.visibility</p:attrName>
                                        </p:attrNameLst>
                                      </p:cBhvr>
                                      <p:to>
                                        <p:strVal val="visible"/>
                                      </p:to>
                                    </p:set>
                                    <p:anim calcmode="lin" valueType="num">
                                      <p:cBhvr additive="base">
                                        <p:cTn dur="500"/>
                                        <p:tgtEl>
                                          <p:spTgt spid="86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Testauksen optimointi</a:t>
            </a:r>
            <a:endParaRPr/>
          </a:p>
        </p:txBody>
      </p:sp>
      <p:sp>
        <p:nvSpPr>
          <p:cNvPr id="872" name="Google Shape;872;p47"/>
          <p:cNvSpPr/>
          <p:nvPr/>
        </p:nvSpPr>
        <p:spPr>
          <a:xfrm>
            <a:off x="611188" y="2836862"/>
            <a:ext cx="6769100" cy="8636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2000">
                <a:solidFill>
                  <a:schemeClr val="lt1"/>
                </a:solidFill>
                <a:latin typeface="Gill Sans"/>
                <a:ea typeface="Gill Sans"/>
                <a:cs typeface="Gill Sans"/>
                <a:sym typeface="Gill Sans"/>
              </a:rPr>
              <a:t>Käyttäjän näkökulma</a:t>
            </a:r>
            <a:r>
              <a:rPr lang="fi-FI" sz="1800">
                <a:solidFill>
                  <a:schemeClr val="lt1"/>
                </a:solidFill>
                <a:latin typeface="Gill Sans"/>
                <a:ea typeface="Gill Sans"/>
                <a:cs typeface="Gill Sans"/>
                <a:sym typeface="Gill Sans"/>
              </a:rPr>
              <a:t>: mitä kaikkea järjestelmällä / sovelluksella / komponentilla voidaankaan tehdä?</a:t>
            </a:r>
            <a:endParaRPr sz="1800">
              <a:solidFill>
                <a:schemeClr val="lt1"/>
              </a:solidFill>
              <a:latin typeface="Gill Sans"/>
              <a:ea typeface="Gill Sans"/>
              <a:cs typeface="Gill Sans"/>
              <a:sym typeface="Gill Sans"/>
            </a:endParaRPr>
          </a:p>
        </p:txBody>
      </p:sp>
      <p:sp>
        <p:nvSpPr>
          <p:cNvPr id="873" name="Google Shape;873;p47"/>
          <p:cNvSpPr/>
          <p:nvPr/>
        </p:nvSpPr>
        <p:spPr>
          <a:xfrm>
            <a:off x="611188" y="1828800"/>
            <a:ext cx="6769100" cy="8636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2000">
                <a:solidFill>
                  <a:schemeClr val="lt1"/>
                </a:solidFill>
                <a:latin typeface="Gill Sans"/>
                <a:ea typeface="Gill Sans"/>
                <a:cs typeface="Gill Sans"/>
                <a:sym typeface="Gill Sans"/>
              </a:rPr>
              <a:t>Liiketoiminnan näkökulma</a:t>
            </a:r>
            <a:r>
              <a:rPr lang="fi-FI" sz="1800">
                <a:solidFill>
                  <a:schemeClr val="lt1"/>
                </a:solidFill>
                <a:latin typeface="Gill Sans"/>
                <a:ea typeface="Gill Sans"/>
                <a:cs typeface="Gill Sans"/>
                <a:sym typeface="Gill Sans"/>
              </a:rPr>
              <a:t>: mikä on tärkeää ja keskeistä? mistä pitää tietää erityisesti?</a:t>
            </a:r>
            <a:endParaRPr sz="1800">
              <a:solidFill>
                <a:schemeClr val="lt1"/>
              </a:solidFill>
              <a:latin typeface="Gill Sans"/>
              <a:ea typeface="Gill Sans"/>
              <a:cs typeface="Gill Sans"/>
              <a:sym typeface="Gill Sans"/>
            </a:endParaRPr>
          </a:p>
        </p:txBody>
      </p:sp>
      <p:sp>
        <p:nvSpPr>
          <p:cNvPr id="874" name="Google Shape;874;p47"/>
          <p:cNvSpPr/>
          <p:nvPr/>
        </p:nvSpPr>
        <p:spPr>
          <a:xfrm>
            <a:off x="611188" y="3844925"/>
            <a:ext cx="6769100" cy="8636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2000">
                <a:solidFill>
                  <a:schemeClr val="lt1"/>
                </a:solidFill>
                <a:latin typeface="Gill Sans"/>
                <a:ea typeface="Gill Sans"/>
                <a:cs typeface="Gill Sans"/>
                <a:sym typeface="Gill Sans"/>
              </a:rPr>
              <a:t>Arkkitehtuurin näkökulma</a:t>
            </a:r>
            <a:r>
              <a:rPr lang="fi-FI" sz="1800">
                <a:solidFill>
                  <a:schemeClr val="lt1"/>
                </a:solidFill>
                <a:latin typeface="Gill Sans"/>
                <a:ea typeface="Gill Sans"/>
                <a:cs typeface="Gill Sans"/>
                <a:sym typeface="Gill Sans"/>
              </a:rPr>
              <a:t>: mikä voi vaikuttaa ja mihin? minkä suhteen uskaltaa optimoida?</a:t>
            </a:r>
            <a:endParaRPr sz="1800">
              <a:solidFill>
                <a:schemeClr val="lt1"/>
              </a:solidFill>
              <a:latin typeface="Gill Sans"/>
              <a:ea typeface="Gill Sans"/>
              <a:cs typeface="Gill Sans"/>
              <a:sym typeface="Gill Sans"/>
            </a:endParaRPr>
          </a:p>
        </p:txBody>
      </p:sp>
      <p:sp>
        <p:nvSpPr>
          <p:cNvPr id="875" name="Google Shape;875;p47"/>
          <p:cNvSpPr/>
          <p:nvPr/>
        </p:nvSpPr>
        <p:spPr>
          <a:xfrm>
            <a:off x="2700338" y="5229225"/>
            <a:ext cx="5616575" cy="1152525"/>
          </a:xfrm>
          <a:prstGeom prst="rect">
            <a:avLst/>
          </a:prstGeom>
          <a:solidFill>
            <a:schemeClr val="lt2"/>
          </a:solidFill>
          <a:ln cap="flat" cmpd="sng" w="9525">
            <a:solidFill>
              <a:schemeClr val="dk1"/>
            </a:solidFill>
            <a:prstDash val="solid"/>
            <a:miter lim="800000"/>
            <a:headEnd len="sm" w="sm" type="none"/>
            <a:tailEnd len="sm" w="sm" type="none"/>
          </a:ln>
          <a:effectLst>
            <a:outerShdw rotWithShape="0" algn="ctr" dir="18900000" dist="107763">
              <a:schemeClr val="lt2">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Eri näkökulmien ymmärtäminen ja yhdistäminen säästää merkittävästi työmääriä. Vain käyttäjän näkökulmaa käyttäen testaamme liiankin sokkona. </a:t>
            </a:r>
            <a:endParaRPr sz="1800">
              <a:solidFill>
                <a:schemeClr val="dk1"/>
              </a:solidFill>
              <a:latin typeface="Gill Sans"/>
              <a:ea typeface="Gill Sans"/>
              <a:cs typeface="Gill Sans"/>
              <a:sym typeface="Gill Sans"/>
            </a:endParaRPr>
          </a:p>
        </p:txBody>
      </p:sp>
      <p:sp>
        <p:nvSpPr>
          <p:cNvPr id="876" name="Google Shape;876;p47"/>
          <p:cNvSpPr txBox="1"/>
          <p:nvPr/>
        </p:nvSpPr>
        <p:spPr>
          <a:xfrm>
            <a:off x="7380288" y="1900237"/>
            <a:ext cx="12954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hlink"/>
                </a:solidFill>
                <a:latin typeface="Gill Sans"/>
                <a:ea typeface="Gill Sans"/>
                <a:cs typeface="Gill Sans"/>
                <a:sym typeface="Gill Sans"/>
              </a:rPr>
              <a:t>PRIORI-SOINTIA</a:t>
            </a:r>
            <a:endParaRPr sz="1800">
              <a:solidFill>
                <a:schemeClr val="hlink"/>
              </a:solidFill>
              <a:latin typeface="Gill Sans"/>
              <a:ea typeface="Gill Sans"/>
              <a:cs typeface="Gill Sans"/>
              <a:sym typeface="Gill Sans"/>
            </a:endParaRPr>
          </a:p>
        </p:txBody>
      </p:sp>
      <p:sp>
        <p:nvSpPr>
          <p:cNvPr id="877" name="Google Shape;877;p47"/>
          <p:cNvSpPr txBox="1"/>
          <p:nvPr/>
        </p:nvSpPr>
        <p:spPr>
          <a:xfrm>
            <a:off x="7380288" y="3916362"/>
            <a:ext cx="12954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hlink"/>
                </a:solidFill>
                <a:latin typeface="Gill Sans"/>
                <a:ea typeface="Gill Sans"/>
                <a:cs typeface="Gill Sans"/>
                <a:sym typeface="Gill Sans"/>
              </a:rPr>
              <a:t>PRIORI-SOINTIA</a:t>
            </a:r>
            <a:endParaRPr sz="1800">
              <a:solidFill>
                <a:schemeClr val="hlink"/>
              </a:solidFill>
              <a:latin typeface="Gill Sans"/>
              <a:ea typeface="Gill Sans"/>
              <a:cs typeface="Gill Sans"/>
              <a:sym typeface="Gill Sans"/>
            </a:endParaRPr>
          </a:p>
        </p:txBody>
      </p:sp>
      <p:sp>
        <p:nvSpPr>
          <p:cNvPr id="878" name="Google Shape;878;p47"/>
          <p:cNvSpPr txBox="1"/>
          <p:nvPr/>
        </p:nvSpPr>
        <p:spPr>
          <a:xfrm>
            <a:off x="7380288" y="2908300"/>
            <a:ext cx="12954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2"/>
                </a:solidFill>
                <a:latin typeface="Gill Sans"/>
                <a:ea typeface="Gill Sans"/>
                <a:cs typeface="Gill Sans"/>
                <a:sym typeface="Gill Sans"/>
              </a:rPr>
              <a:t>LAA-JUUTTA</a:t>
            </a:r>
            <a:endParaRPr sz="1800">
              <a:solidFill>
                <a:schemeClr val="dk2"/>
              </a:solidFill>
              <a:latin typeface="Gill Sans"/>
              <a:ea typeface="Gill Sans"/>
              <a:cs typeface="Gill Sans"/>
              <a:sym typeface="Gill Sans"/>
            </a:endParaRPr>
          </a:p>
        </p:txBody>
      </p:sp>
      <p:sp>
        <p:nvSpPr>
          <p:cNvPr id="879" name="Google Shape;8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48"/>
          <p:cNvSpPr txBox="1"/>
          <p:nvPr>
            <p:ph type="title"/>
          </p:nvPr>
        </p:nvSpPr>
        <p:spPr>
          <a:xfrm>
            <a:off x="652463" y="152400"/>
            <a:ext cx="7232650" cy="1600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Millaiset testit osoittavat laadun heikkenemistä?</a:t>
            </a:r>
            <a:endParaRPr/>
          </a:p>
        </p:txBody>
      </p:sp>
      <p:sp>
        <p:nvSpPr>
          <p:cNvPr id="886" name="Google Shape;886;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fi-FI" sz="2400"/>
              <a:t>Riippumattoman testauksen teoria:</a:t>
            </a:r>
            <a:endParaRPr/>
          </a:p>
          <a:p>
            <a:pPr indent="-285750" lvl="1" marL="742950" rtl="0" algn="l">
              <a:spcBef>
                <a:spcPts val="400"/>
              </a:spcBef>
              <a:spcAft>
                <a:spcPts val="0"/>
              </a:spcAft>
              <a:buClr>
                <a:schemeClr val="dk1"/>
              </a:buClr>
              <a:buSzPts val="2000"/>
              <a:buChar char="–"/>
            </a:pPr>
            <a:r>
              <a:rPr lang="fi-FI" sz="2000"/>
              <a:t>Emme ymmärrä ja luota riippuvuuksiin, joten lähes mikä tahansa voi hajota</a:t>
            </a:r>
            <a:endParaRPr/>
          </a:p>
          <a:p>
            <a:pPr indent="-285750" lvl="1" marL="742950" rtl="0" algn="l">
              <a:spcBef>
                <a:spcPts val="400"/>
              </a:spcBef>
              <a:spcAft>
                <a:spcPts val="0"/>
              </a:spcAft>
              <a:buClr>
                <a:schemeClr val="dk1"/>
              </a:buClr>
              <a:buSzPts val="2000"/>
              <a:buChar char="–"/>
            </a:pPr>
            <a:r>
              <a:rPr lang="fi-FI" sz="2000"/>
              <a:t>Merkityksellisyys ohjaa valintoja</a:t>
            </a:r>
            <a:endParaRPr/>
          </a:p>
          <a:p>
            <a:pPr indent="-342900" lvl="0" marL="342900" rtl="0" algn="l">
              <a:spcBef>
                <a:spcPts val="480"/>
              </a:spcBef>
              <a:spcAft>
                <a:spcPts val="0"/>
              </a:spcAft>
              <a:buClr>
                <a:schemeClr val="dk1"/>
              </a:buClr>
              <a:buSzPts val="2400"/>
              <a:buChar char="•"/>
            </a:pPr>
            <a:r>
              <a:rPr lang="fi-FI" sz="2400"/>
              <a:t>Käytäntö:</a:t>
            </a:r>
            <a:endParaRPr/>
          </a:p>
          <a:p>
            <a:pPr indent="-285750" lvl="1" marL="742950" rtl="0" algn="l">
              <a:spcBef>
                <a:spcPts val="400"/>
              </a:spcBef>
              <a:spcAft>
                <a:spcPts val="0"/>
              </a:spcAft>
              <a:buClr>
                <a:schemeClr val="dk1"/>
              </a:buClr>
              <a:buSzPts val="2000"/>
              <a:buChar char="–"/>
            </a:pPr>
            <a:r>
              <a:rPr lang="fi-FI" sz="2000"/>
              <a:t>Meillä ei ole varaa ohittaa arkkitehtuuri-</a:t>
            </a:r>
            <a:br>
              <a:rPr lang="fi-FI" sz="2000"/>
            </a:br>
            <a:r>
              <a:rPr lang="fi-FI" sz="2000"/>
              <a:t>näkökulmaa optimoinnissa</a:t>
            </a:r>
            <a:endParaRPr/>
          </a:p>
          <a:p>
            <a:pPr indent="-285750" lvl="1" marL="742950" rtl="0" algn="l">
              <a:spcBef>
                <a:spcPts val="400"/>
              </a:spcBef>
              <a:spcAft>
                <a:spcPts val="0"/>
              </a:spcAft>
              <a:buClr>
                <a:schemeClr val="dk1"/>
              </a:buClr>
              <a:buSzPts val="2000"/>
              <a:buChar char="–"/>
            </a:pPr>
            <a:r>
              <a:rPr lang="fi-FI" sz="2000"/>
              <a:t>Aika organisaatiossa opettaa paljon riippuvuuksista</a:t>
            </a:r>
            <a:endParaRPr/>
          </a:p>
          <a:p>
            <a:pPr indent="-285750" lvl="1" marL="742950" rtl="0" algn="l">
              <a:spcBef>
                <a:spcPts val="400"/>
              </a:spcBef>
              <a:spcAft>
                <a:spcPts val="0"/>
              </a:spcAft>
              <a:buClr>
                <a:schemeClr val="dk1"/>
              </a:buClr>
              <a:buSzPts val="2000"/>
              <a:buChar char="–"/>
            </a:pPr>
            <a:r>
              <a:rPr lang="fi-FI" sz="2000"/>
              <a:t>Testausprosessin kokonaisuuden toteuttamisella on iso merkitys: kenellä on paras osaaminen tarkastaa ettei muutoksesta seurannut ongelmia</a:t>
            </a:r>
            <a:endParaRPr sz="2000"/>
          </a:p>
          <a:p>
            <a:pPr indent="-82550" lvl="1" marL="742950" rtl="0" algn="l">
              <a:spcBef>
                <a:spcPts val="640"/>
              </a:spcBef>
              <a:spcAft>
                <a:spcPts val="0"/>
              </a:spcAft>
              <a:buClr>
                <a:schemeClr val="dk1"/>
              </a:buClr>
              <a:buSzPts val="3200"/>
              <a:buNone/>
            </a:pPr>
            <a:r>
              <a:t/>
            </a:r>
            <a:endParaRPr sz="3200"/>
          </a:p>
        </p:txBody>
      </p:sp>
      <p:sp>
        <p:nvSpPr>
          <p:cNvPr id="887" name="Google Shape;887;p48"/>
          <p:cNvSpPr/>
          <p:nvPr/>
        </p:nvSpPr>
        <p:spPr>
          <a:xfrm>
            <a:off x="3348038" y="5516563"/>
            <a:ext cx="5111750" cy="915987"/>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Mikä tahansa ei hajoa, jokaiseen hajoamiseen on syy josta meidän on aiheellista olla kiinnostuneita oppiaksemme!</a:t>
            </a:r>
            <a:endParaRPr sz="1800">
              <a:solidFill>
                <a:schemeClr val="lt1"/>
              </a:solidFill>
              <a:latin typeface="Gill Sans"/>
              <a:ea typeface="Gill Sans"/>
              <a:cs typeface="Gill Sans"/>
              <a:sym typeface="Gill Sans"/>
            </a:endParaRPr>
          </a:p>
        </p:txBody>
      </p:sp>
      <p:sp>
        <p:nvSpPr>
          <p:cNvPr id="888" name="Google Shape;888;p48"/>
          <p:cNvSpPr/>
          <p:nvPr/>
        </p:nvSpPr>
        <p:spPr>
          <a:xfrm>
            <a:off x="6372225" y="2611438"/>
            <a:ext cx="2087563" cy="1477328"/>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Hyönteismyrkky-paradoksi: samoille testeille tullaan immuuniksi!</a:t>
            </a:r>
            <a:endParaRPr sz="1800">
              <a:solidFill>
                <a:schemeClr val="lt1"/>
              </a:solidFill>
              <a:latin typeface="Gill Sans"/>
              <a:ea typeface="Gill Sans"/>
              <a:cs typeface="Gill Sans"/>
              <a:sym typeface="Gill Sans"/>
            </a:endParaRPr>
          </a:p>
        </p:txBody>
      </p:sp>
      <p:sp>
        <p:nvSpPr>
          <p:cNvPr id="889" name="Google Shape;88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49"/>
          <p:cNvSpPr/>
          <p:nvPr/>
        </p:nvSpPr>
        <p:spPr>
          <a:xfrm>
            <a:off x="1820863" y="3927475"/>
            <a:ext cx="1019175" cy="795338"/>
          </a:xfrm>
          <a:prstGeom prst="rect">
            <a:avLst/>
          </a:prstGeom>
          <a:solidFill>
            <a:schemeClr val="accent2"/>
          </a:soli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96" name="Google Shape;896;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Regressiotestausta kaikilla testaustasoilla!</a:t>
            </a:r>
            <a:endParaRPr/>
          </a:p>
        </p:txBody>
      </p:sp>
      <p:sp>
        <p:nvSpPr>
          <p:cNvPr id="897" name="Google Shape;897;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fi-FI" sz="2000"/>
              <a:t>Regressiotestaus ei ole järjestelmätestauksen viimeinen vaihe tai yleensäkään testauksien viimeinen vaihe</a:t>
            </a:r>
            <a:endParaRPr/>
          </a:p>
          <a:p>
            <a:pPr indent="-285750" lvl="1" marL="742950" rtl="0" algn="l">
              <a:spcBef>
                <a:spcPts val="360"/>
              </a:spcBef>
              <a:spcAft>
                <a:spcPts val="0"/>
              </a:spcAft>
              <a:buClr>
                <a:schemeClr val="dk1"/>
              </a:buClr>
              <a:buSzPts val="1800"/>
              <a:buChar char="–"/>
            </a:pPr>
            <a:r>
              <a:rPr lang="fi-FI" sz="1800"/>
              <a:t>testaustyyppi: voi sijoittua mille tahansa tasolle</a:t>
            </a:r>
            <a:endParaRPr/>
          </a:p>
          <a:p>
            <a:pPr indent="-342900" lvl="0" marL="342900" rtl="0" algn="l">
              <a:spcBef>
                <a:spcPts val="400"/>
              </a:spcBef>
              <a:spcAft>
                <a:spcPts val="0"/>
              </a:spcAft>
              <a:buClr>
                <a:schemeClr val="dk1"/>
              </a:buClr>
              <a:buSzPts val="2000"/>
              <a:buChar char="•"/>
            </a:pPr>
            <a:r>
              <a:rPr lang="fi-FI" sz="2000"/>
              <a:t>Jokaisen muutoksen jälkeen regressiotestausta vähintään teknisen toteutuksen ja loppukäyttäjän näkökulmista</a:t>
            </a:r>
            <a:endParaRPr/>
          </a:p>
          <a:p>
            <a:pPr indent="-285750" lvl="1" marL="742950" rtl="0" algn="l">
              <a:spcBef>
                <a:spcPts val="360"/>
              </a:spcBef>
              <a:spcAft>
                <a:spcPts val="0"/>
              </a:spcAft>
              <a:buClr>
                <a:schemeClr val="dk1"/>
              </a:buClr>
              <a:buSzPts val="1800"/>
              <a:buChar char="–"/>
            </a:pPr>
            <a:r>
              <a:rPr lang="fi-FI" sz="1800"/>
              <a:t>Yksikkö- ja järjestelmätestaustasot</a:t>
            </a:r>
            <a:endParaRPr sz="1800"/>
          </a:p>
        </p:txBody>
      </p:sp>
      <p:sp>
        <p:nvSpPr>
          <p:cNvPr id="898" name="Google Shape;898;p49"/>
          <p:cNvSpPr/>
          <p:nvPr/>
        </p:nvSpPr>
        <p:spPr>
          <a:xfrm>
            <a:off x="2789238" y="3927475"/>
            <a:ext cx="1179512" cy="795338"/>
          </a:xfrm>
          <a:prstGeom prst="rtTriangle">
            <a:avLst/>
          </a:prstGeom>
          <a:solidFill>
            <a:schemeClr val="accent2"/>
          </a:soli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899" name="Google Shape;899;p49"/>
          <p:cNvSpPr txBox="1"/>
          <p:nvPr/>
        </p:nvSpPr>
        <p:spPr>
          <a:xfrm>
            <a:off x="1758950" y="4192588"/>
            <a:ext cx="1403350" cy="5175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400">
                <a:solidFill>
                  <a:schemeClr val="lt1"/>
                </a:solidFill>
                <a:latin typeface="Gill Sans"/>
                <a:ea typeface="Gill Sans"/>
                <a:cs typeface="Gill Sans"/>
                <a:sym typeface="Gill Sans"/>
              </a:rPr>
              <a:t>Uuskehityksen</a:t>
            </a:r>
            <a:br>
              <a:rPr lang="fi-FI" sz="1400">
                <a:solidFill>
                  <a:schemeClr val="lt1"/>
                </a:solidFill>
                <a:latin typeface="Gill Sans"/>
                <a:ea typeface="Gill Sans"/>
                <a:cs typeface="Gill Sans"/>
                <a:sym typeface="Gill Sans"/>
              </a:rPr>
            </a:br>
            <a:r>
              <a:rPr lang="fi-FI" sz="1400">
                <a:solidFill>
                  <a:schemeClr val="lt1"/>
                </a:solidFill>
                <a:latin typeface="Gill Sans"/>
                <a:ea typeface="Gill Sans"/>
                <a:cs typeface="Gill Sans"/>
                <a:sym typeface="Gill Sans"/>
              </a:rPr>
              <a:t>testaus</a:t>
            </a:r>
            <a:endParaRPr sz="1400">
              <a:solidFill>
                <a:schemeClr val="lt1"/>
              </a:solidFill>
              <a:latin typeface="Gill Sans"/>
              <a:ea typeface="Gill Sans"/>
              <a:cs typeface="Gill Sans"/>
              <a:sym typeface="Gill Sans"/>
            </a:endParaRPr>
          </a:p>
        </p:txBody>
      </p:sp>
      <p:sp>
        <p:nvSpPr>
          <p:cNvPr id="900" name="Google Shape;900;p49"/>
          <p:cNvSpPr/>
          <p:nvPr/>
        </p:nvSpPr>
        <p:spPr>
          <a:xfrm rot="10800000">
            <a:off x="2778125" y="3927475"/>
            <a:ext cx="1190625" cy="795338"/>
          </a:xfrm>
          <a:prstGeom prst="rtTriangle">
            <a:avLst/>
          </a:prstGeom>
          <a:solidFill>
            <a:schemeClr val="accent1"/>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901" name="Google Shape;901;p49"/>
          <p:cNvSpPr/>
          <p:nvPr/>
        </p:nvSpPr>
        <p:spPr>
          <a:xfrm>
            <a:off x="3968750" y="3927475"/>
            <a:ext cx="3124200" cy="795338"/>
          </a:xfrm>
          <a:prstGeom prst="rect">
            <a:avLst/>
          </a:prstGeom>
          <a:solidFill>
            <a:schemeClr val="accent1"/>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902" name="Google Shape;902;p49"/>
          <p:cNvSpPr txBox="1"/>
          <p:nvPr/>
        </p:nvSpPr>
        <p:spPr>
          <a:xfrm>
            <a:off x="3492500" y="4005263"/>
            <a:ext cx="2105025"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2"/>
                </a:solidFill>
                <a:latin typeface="Gill Sans"/>
                <a:ea typeface="Gill Sans"/>
                <a:cs typeface="Gill Sans"/>
                <a:sym typeface="Gill Sans"/>
              </a:rPr>
              <a:t>Regressiotestaus</a:t>
            </a:r>
            <a:endParaRPr sz="1800">
              <a:solidFill>
                <a:schemeClr val="dk2"/>
              </a:solidFill>
              <a:latin typeface="Gill Sans"/>
              <a:ea typeface="Gill Sans"/>
              <a:cs typeface="Gill Sans"/>
              <a:sym typeface="Gill Sans"/>
            </a:endParaRPr>
          </a:p>
        </p:txBody>
      </p:sp>
      <p:sp>
        <p:nvSpPr>
          <p:cNvPr id="903" name="Google Shape;903;p49"/>
          <p:cNvSpPr txBox="1"/>
          <p:nvPr/>
        </p:nvSpPr>
        <p:spPr>
          <a:xfrm>
            <a:off x="250825" y="4141788"/>
            <a:ext cx="1481138"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Toteuttaja</a:t>
            </a:r>
            <a:endParaRPr sz="1800">
              <a:solidFill>
                <a:schemeClr val="dk1"/>
              </a:solidFill>
              <a:latin typeface="Gill Sans"/>
              <a:ea typeface="Gill Sans"/>
              <a:cs typeface="Gill Sans"/>
              <a:sym typeface="Gill Sans"/>
            </a:endParaRPr>
          </a:p>
        </p:txBody>
      </p:sp>
      <p:sp>
        <p:nvSpPr>
          <p:cNvPr id="904" name="Google Shape;904;p49"/>
          <p:cNvSpPr txBox="1"/>
          <p:nvPr/>
        </p:nvSpPr>
        <p:spPr>
          <a:xfrm>
            <a:off x="323850" y="5154613"/>
            <a:ext cx="1362075"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Testaaja</a:t>
            </a:r>
            <a:endParaRPr sz="1800">
              <a:solidFill>
                <a:schemeClr val="dk1"/>
              </a:solidFill>
              <a:latin typeface="Gill Sans"/>
              <a:ea typeface="Gill Sans"/>
              <a:cs typeface="Gill Sans"/>
              <a:sym typeface="Gill Sans"/>
            </a:endParaRPr>
          </a:p>
        </p:txBody>
      </p:sp>
      <p:grpSp>
        <p:nvGrpSpPr>
          <p:cNvPr id="905" name="Google Shape;905;p49"/>
          <p:cNvGrpSpPr/>
          <p:nvPr/>
        </p:nvGrpSpPr>
        <p:grpSpPr>
          <a:xfrm>
            <a:off x="3921125" y="4889500"/>
            <a:ext cx="3171825" cy="796925"/>
            <a:chOff x="576" y="1920"/>
            <a:chExt cx="4560" cy="1392"/>
          </a:xfrm>
        </p:grpSpPr>
        <p:sp>
          <p:nvSpPr>
            <p:cNvPr id="906" name="Google Shape;906;p49"/>
            <p:cNvSpPr/>
            <p:nvPr/>
          </p:nvSpPr>
          <p:spPr>
            <a:xfrm>
              <a:off x="1008" y="1920"/>
              <a:ext cx="4128" cy="1392"/>
            </a:xfrm>
            <a:prstGeom prst="rtTriangle">
              <a:avLst/>
            </a:prstGeom>
            <a:solidFill>
              <a:schemeClr val="accent2"/>
            </a:soli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907" name="Google Shape;907;p49"/>
            <p:cNvSpPr/>
            <p:nvPr/>
          </p:nvSpPr>
          <p:spPr>
            <a:xfrm>
              <a:off x="576" y="1920"/>
              <a:ext cx="432" cy="1392"/>
            </a:xfrm>
            <a:prstGeom prst="rect">
              <a:avLst/>
            </a:prstGeom>
            <a:solidFill>
              <a:schemeClr val="accent2"/>
            </a:soli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908" name="Google Shape;908;p49"/>
          <p:cNvSpPr txBox="1"/>
          <p:nvPr/>
        </p:nvSpPr>
        <p:spPr>
          <a:xfrm>
            <a:off x="3997325" y="5156200"/>
            <a:ext cx="1504950" cy="5175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400">
                <a:solidFill>
                  <a:schemeClr val="lt1"/>
                </a:solidFill>
                <a:latin typeface="Gill Sans"/>
                <a:ea typeface="Gill Sans"/>
                <a:cs typeface="Gill Sans"/>
                <a:sym typeface="Gill Sans"/>
              </a:rPr>
              <a:t>Uuskehityksen testaus</a:t>
            </a:r>
            <a:endParaRPr sz="1400">
              <a:solidFill>
                <a:schemeClr val="lt1"/>
              </a:solidFill>
              <a:latin typeface="Gill Sans"/>
              <a:ea typeface="Gill Sans"/>
              <a:cs typeface="Gill Sans"/>
              <a:sym typeface="Gill Sans"/>
            </a:endParaRPr>
          </a:p>
        </p:txBody>
      </p:sp>
      <p:grpSp>
        <p:nvGrpSpPr>
          <p:cNvPr id="909" name="Google Shape;909;p49"/>
          <p:cNvGrpSpPr/>
          <p:nvPr/>
        </p:nvGrpSpPr>
        <p:grpSpPr>
          <a:xfrm>
            <a:off x="3979863" y="4889500"/>
            <a:ext cx="3113087" cy="796925"/>
            <a:chOff x="1008" y="1920"/>
            <a:chExt cx="4560" cy="1392"/>
          </a:xfrm>
        </p:grpSpPr>
        <p:sp>
          <p:nvSpPr>
            <p:cNvPr id="910" name="Google Shape;910;p49"/>
            <p:cNvSpPr/>
            <p:nvPr/>
          </p:nvSpPr>
          <p:spPr>
            <a:xfrm rot="10800000">
              <a:off x="1008" y="1920"/>
              <a:ext cx="4128" cy="1392"/>
            </a:xfrm>
            <a:prstGeom prst="rtTriangle">
              <a:avLst/>
            </a:prstGeom>
            <a:solidFill>
              <a:schemeClr val="accent1"/>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911" name="Google Shape;911;p49"/>
            <p:cNvSpPr/>
            <p:nvPr/>
          </p:nvSpPr>
          <p:spPr>
            <a:xfrm>
              <a:off x="5136" y="1920"/>
              <a:ext cx="432" cy="1392"/>
            </a:xfrm>
            <a:prstGeom prst="rect">
              <a:avLst/>
            </a:prstGeom>
            <a:solidFill>
              <a:schemeClr val="accent1"/>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912" name="Google Shape;912;p49"/>
          <p:cNvSpPr txBox="1"/>
          <p:nvPr/>
        </p:nvSpPr>
        <p:spPr>
          <a:xfrm>
            <a:off x="5003800" y="4868863"/>
            <a:ext cx="2078038"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2"/>
                </a:solidFill>
                <a:latin typeface="Gill Sans"/>
                <a:ea typeface="Gill Sans"/>
                <a:cs typeface="Gill Sans"/>
                <a:sym typeface="Gill Sans"/>
              </a:rPr>
              <a:t>Regressiotestaus</a:t>
            </a:r>
            <a:endParaRPr sz="1800">
              <a:solidFill>
                <a:schemeClr val="dk2"/>
              </a:solidFill>
              <a:latin typeface="Gill Sans"/>
              <a:ea typeface="Gill Sans"/>
              <a:cs typeface="Gill Sans"/>
              <a:sym typeface="Gill Sans"/>
            </a:endParaRPr>
          </a:p>
        </p:txBody>
      </p:sp>
      <p:sp>
        <p:nvSpPr>
          <p:cNvPr id="913" name="Google Shape;913;p49"/>
          <p:cNvSpPr/>
          <p:nvPr/>
        </p:nvSpPr>
        <p:spPr>
          <a:xfrm>
            <a:off x="1817688" y="4889500"/>
            <a:ext cx="2103437" cy="796925"/>
          </a:xfrm>
          <a:prstGeom prst="rect">
            <a:avLst/>
          </a:prstGeom>
          <a:solidFill>
            <a:schemeClr val="hlink"/>
          </a:solidFill>
          <a:ln cap="flat" cmpd="sng" w="952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914" name="Google Shape;914;p49"/>
          <p:cNvSpPr txBox="1"/>
          <p:nvPr/>
        </p:nvSpPr>
        <p:spPr>
          <a:xfrm>
            <a:off x="1938338" y="5194300"/>
            <a:ext cx="1839912" cy="304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400">
                <a:solidFill>
                  <a:schemeClr val="lt1"/>
                </a:solidFill>
                <a:latin typeface="Gill Sans"/>
                <a:ea typeface="Gill Sans"/>
                <a:cs typeface="Gill Sans"/>
                <a:sym typeface="Gill Sans"/>
              </a:rPr>
              <a:t>Valmistelu</a:t>
            </a:r>
            <a:endParaRPr sz="1400">
              <a:solidFill>
                <a:schemeClr val="lt1"/>
              </a:solidFill>
              <a:latin typeface="Gill Sans"/>
              <a:ea typeface="Gill Sans"/>
              <a:cs typeface="Gill Sans"/>
              <a:sym typeface="Gill Sans"/>
            </a:endParaRPr>
          </a:p>
        </p:txBody>
      </p:sp>
      <p:cxnSp>
        <p:nvCxnSpPr>
          <p:cNvPr id="915" name="Google Shape;915;p49"/>
          <p:cNvCxnSpPr/>
          <p:nvPr/>
        </p:nvCxnSpPr>
        <p:spPr>
          <a:xfrm rot="10800000">
            <a:off x="3921125" y="3860800"/>
            <a:ext cx="3175" cy="2376488"/>
          </a:xfrm>
          <a:prstGeom prst="straightConnector1">
            <a:avLst/>
          </a:prstGeom>
          <a:noFill/>
          <a:ln cap="flat" cmpd="sng" w="28575">
            <a:solidFill>
              <a:schemeClr val="folHlink"/>
            </a:solidFill>
            <a:prstDash val="solid"/>
            <a:round/>
            <a:headEnd len="med" w="med" type="none"/>
            <a:tailEnd len="med" w="med" type="none"/>
          </a:ln>
        </p:spPr>
      </p:cxnSp>
      <p:sp>
        <p:nvSpPr>
          <p:cNvPr id="916" name="Google Shape;916;p49"/>
          <p:cNvSpPr txBox="1"/>
          <p:nvPr/>
        </p:nvSpPr>
        <p:spPr>
          <a:xfrm>
            <a:off x="2709863" y="6308725"/>
            <a:ext cx="2582862"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600">
                <a:solidFill>
                  <a:schemeClr val="folHlink"/>
                </a:solidFill>
                <a:latin typeface="Gill Sans"/>
                <a:ea typeface="Gill Sans"/>
                <a:cs typeface="Gill Sans"/>
                <a:sym typeface="Gill Sans"/>
              </a:rPr>
              <a:t>Luovutus testaukseen </a:t>
            </a:r>
            <a:endParaRPr sz="1600">
              <a:solidFill>
                <a:schemeClr val="folHlink"/>
              </a:solidFill>
              <a:latin typeface="Gill Sans"/>
              <a:ea typeface="Gill Sans"/>
              <a:cs typeface="Gill Sans"/>
              <a:sym typeface="Gill Sans"/>
            </a:endParaRPr>
          </a:p>
        </p:txBody>
      </p:sp>
      <p:sp>
        <p:nvSpPr>
          <p:cNvPr id="917" name="Google Shape;917;p49"/>
          <p:cNvSpPr txBox="1"/>
          <p:nvPr/>
        </p:nvSpPr>
        <p:spPr>
          <a:xfrm>
            <a:off x="7164388" y="3573462"/>
            <a:ext cx="1871662" cy="2807865"/>
          </a:xfrm>
          <a:prstGeom prst="rect">
            <a:avLst/>
          </a:prstGeom>
          <a:solidFill>
            <a:schemeClr val="lt2"/>
          </a:solidFill>
          <a:ln cap="flat" cmpd="sng" w="12700">
            <a:solidFill>
              <a:schemeClr val="folHlink"/>
            </a:solidFill>
            <a:prstDash val="solid"/>
            <a:miter lim="800000"/>
            <a:headEnd len="sm" w="sm" type="none"/>
            <a:tailEnd len="sm" w="sm" type="none"/>
          </a:ln>
          <a:effectLst>
            <a:outerShdw rotWithShape="0" algn="ctr" dir="18900000" dist="107763">
              <a:schemeClr val="lt2">
                <a:alpha val="49803"/>
              </a:schemeClr>
            </a:outerShdw>
          </a:effectLst>
        </p:spPr>
        <p:txBody>
          <a:bodyPr anchorCtr="0" anchor="t" bIns="46800" lIns="90000" spcFirstLastPara="1" rIns="90000" wrap="square" tIns="46800">
            <a:sp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Aina kun valinta mahdollinen, vie regressiotestaus-vastuu toteuttajien testitasoille. Kustannustehok-kaammat muutos-havaitsijat saatavilla pienempiin kokonaisuuksiin.</a:t>
            </a:r>
            <a:r>
              <a:rPr lang="fi-FI" sz="1800">
                <a:solidFill>
                  <a:schemeClr val="dk1"/>
                </a:solidFill>
                <a:latin typeface="Gill Sans"/>
                <a:ea typeface="Gill Sans"/>
                <a:cs typeface="Gill Sans"/>
                <a:sym typeface="Gill Sans"/>
              </a:rPr>
              <a:t> </a:t>
            </a:r>
            <a:endParaRPr sz="1800">
              <a:solidFill>
                <a:schemeClr val="dk1"/>
              </a:solidFill>
              <a:latin typeface="Gill Sans"/>
              <a:ea typeface="Gill Sans"/>
              <a:cs typeface="Gill Sans"/>
              <a:sym typeface="Gill Sans"/>
            </a:endParaRPr>
          </a:p>
        </p:txBody>
      </p:sp>
      <p:cxnSp>
        <p:nvCxnSpPr>
          <p:cNvPr id="918" name="Google Shape;918;p49"/>
          <p:cNvCxnSpPr/>
          <p:nvPr/>
        </p:nvCxnSpPr>
        <p:spPr>
          <a:xfrm>
            <a:off x="1765300" y="5949950"/>
            <a:ext cx="5327650" cy="0"/>
          </a:xfrm>
          <a:prstGeom prst="straightConnector1">
            <a:avLst/>
          </a:prstGeom>
          <a:noFill/>
          <a:ln cap="flat" cmpd="sng" w="9525">
            <a:solidFill>
              <a:schemeClr val="dk1"/>
            </a:solidFill>
            <a:prstDash val="solid"/>
            <a:round/>
            <a:headEnd len="med" w="med" type="none"/>
            <a:tailEnd len="med" w="med" type="triangle"/>
          </a:ln>
        </p:spPr>
      </p:cxnSp>
      <p:sp>
        <p:nvSpPr>
          <p:cNvPr id="919" name="Google Shape;919;p49"/>
          <p:cNvSpPr txBox="1"/>
          <p:nvPr/>
        </p:nvSpPr>
        <p:spPr>
          <a:xfrm>
            <a:off x="6372225" y="5876925"/>
            <a:ext cx="1439863"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aika</a:t>
            </a:r>
            <a:endParaRPr sz="1800">
              <a:solidFill>
                <a:schemeClr val="dk1"/>
              </a:solidFill>
              <a:latin typeface="Gill Sans"/>
              <a:ea typeface="Gill Sans"/>
              <a:cs typeface="Gill Sans"/>
              <a:sym typeface="Gill Sans"/>
            </a:endParaRPr>
          </a:p>
        </p:txBody>
      </p:sp>
      <p:sp>
        <p:nvSpPr>
          <p:cNvPr id="920" name="Google Shape;920;p49"/>
          <p:cNvSpPr/>
          <p:nvPr/>
        </p:nvSpPr>
        <p:spPr>
          <a:xfrm>
            <a:off x="3851275" y="6237288"/>
            <a:ext cx="144463" cy="144462"/>
          </a:xfrm>
          <a:prstGeom prst="ellipse">
            <a:avLst/>
          </a:prstGeom>
          <a:solidFill>
            <a:schemeClr val="folHlink"/>
          </a:solidFill>
          <a:ln cap="flat" cmpd="sng" w="952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921" name="Google Shape;921;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Vaihteleva rooli kehityksestä riippuen</a:t>
            </a:r>
            <a:endParaRPr/>
          </a:p>
        </p:txBody>
      </p:sp>
      <p:sp>
        <p:nvSpPr>
          <p:cNvPr id="928" name="Google Shape;928;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fi-FI" sz="2000"/>
              <a:t>Regressiotestauksen rooli hyvin erilainen</a:t>
            </a:r>
            <a:endParaRPr/>
          </a:p>
          <a:p>
            <a:pPr indent="-285750" lvl="1" marL="742950" rtl="0" algn="l">
              <a:spcBef>
                <a:spcPts val="360"/>
              </a:spcBef>
              <a:spcAft>
                <a:spcPts val="0"/>
              </a:spcAft>
              <a:buClr>
                <a:schemeClr val="dk1"/>
              </a:buClr>
              <a:buSzPts val="1800"/>
              <a:buChar char="–"/>
            </a:pPr>
            <a:r>
              <a:rPr lang="fi-FI" sz="1800"/>
              <a:t>Uuden järjestelmän kehityksessä</a:t>
            </a:r>
            <a:endParaRPr/>
          </a:p>
          <a:p>
            <a:pPr indent="-285750" lvl="1" marL="742950" rtl="0" algn="l">
              <a:spcBef>
                <a:spcPts val="360"/>
              </a:spcBef>
              <a:spcAft>
                <a:spcPts val="0"/>
              </a:spcAft>
              <a:buClr>
                <a:schemeClr val="dk1"/>
              </a:buClr>
              <a:buSzPts val="1800"/>
              <a:buChar char="–"/>
            </a:pPr>
            <a:r>
              <a:rPr lang="fi-FI" sz="1800"/>
              <a:t>Uuden ominaisuuden kehityksessä </a:t>
            </a:r>
            <a:br>
              <a:rPr lang="fi-FI" sz="1800"/>
            </a:br>
            <a:r>
              <a:rPr lang="fi-FI" sz="1800"/>
              <a:t>olemassa olevaan järjestelmään</a:t>
            </a:r>
            <a:endParaRPr/>
          </a:p>
          <a:p>
            <a:pPr indent="-285750" lvl="1" marL="742950" rtl="0" algn="l">
              <a:spcBef>
                <a:spcPts val="360"/>
              </a:spcBef>
              <a:spcAft>
                <a:spcPts val="0"/>
              </a:spcAft>
              <a:buClr>
                <a:schemeClr val="dk1"/>
              </a:buClr>
              <a:buSzPts val="1800"/>
              <a:buChar char="–"/>
            </a:pPr>
            <a:r>
              <a:rPr lang="fi-FI" sz="1800"/>
              <a:t>Ylläpitokorjauksessa</a:t>
            </a:r>
            <a:endParaRPr/>
          </a:p>
          <a:p>
            <a:pPr indent="-342900" lvl="0" marL="342900" rtl="0" algn="l">
              <a:spcBef>
                <a:spcPts val="400"/>
              </a:spcBef>
              <a:spcAft>
                <a:spcPts val="0"/>
              </a:spcAft>
              <a:buClr>
                <a:schemeClr val="dk1"/>
              </a:buClr>
              <a:buSzPts val="2000"/>
              <a:buChar char="•"/>
            </a:pPr>
            <a:r>
              <a:rPr lang="fi-FI" sz="2000"/>
              <a:t>Lisättäessä uusia ominaisuuksia ja korjauksia olemassa oleviin järjestelmiin, muutostestaus sisältää oleellisesti</a:t>
            </a:r>
            <a:endParaRPr/>
          </a:p>
          <a:p>
            <a:pPr indent="-285750" lvl="1" marL="742950" rtl="0" algn="l">
              <a:spcBef>
                <a:spcPts val="360"/>
              </a:spcBef>
              <a:spcAft>
                <a:spcPts val="0"/>
              </a:spcAft>
              <a:buClr>
                <a:schemeClr val="dk1"/>
              </a:buClr>
              <a:buSzPts val="1800"/>
              <a:buChar char="–"/>
            </a:pPr>
            <a:r>
              <a:rPr lang="fi-FI" sz="1800"/>
              <a:t>uuden toiminnallisuuden testauksen (suunnitellaan testejä muutosta suppeasti ajatellen)</a:t>
            </a:r>
            <a:endParaRPr/>
          </a:p>
          <a:p>
            <a:pPr indent="-285750" lvl="1" marL="742950" rtl="0" algn="l">
              <a:spcBef>
                <a:spcPts val="360"/>
              </a:spcBef>
              <a:spcAft>
                <a:spcPts val="0"/>
              </a:spcAft>
              <a:buClr>
                <a:schemeClr val="dk1"/>
              </a:buClr>
              <a:buSzPts val="1800"/>
              <a:buChar char="–"/>
            </a:pPr>
            <a:r>
              <a:rPr lang="fi-FI" sz="1800" u="sng"/>
              <a:t>riskiperusteiden regressiotestauksen</a:t>
            </a:r>
            <a:r>
              <a:rPr lang="fi-FI" sz="1800"/>
              <a:t> suorien vaikutusten osalta (suunnitellaan testejä muutosta laajasti ajatellen)</a:t>
            </a:r>
            <a:endParaRPr/>
          </a:p>
          <a:p>
            <a:pPr indent="-285750" lvl="1" marL="742950" rtl="0" algn="l">
              <a:spcBef>
                <a:spcPts val="360"/>
              </a:spcBef>
              <a:spcAft>
                <a:spcPts val="0"/>
              </a:spcAft>
              <a:buClr>
                <a:schemeClr val="dk1"/>
              </a:buClr>
              <a:buSzPts val="1800"/>
              <a:buChar char="–"/>
            </a:pPr>
            <a:r>
              <a:rPr lang="fi-FI" sz="1800" u="sng"/>
              <a:t>perustoiminnallisuuden regressiotestauksen</a:t>
            </a:r>
            <a:r>
              <a:rPr lang="fi-FI" sz="1800"/>
              <a:t> (uudelleen 		  suoritetaan ihan perustestejä, riskinä se ettemme olekaan 		  ymmärtäneet kaikkia vaikutuksia)</a:t>
            </a:r>
            <a:endParaRPr/>
          </a:p>
          <a:p>
            <a:pPr indent="-241300" lvl="0" marL="342900" rtl="0" algn="l">
              <a:spcBef>
                <a:spcPts val="320"/>
              </a:spcBef>
              <a:spcAft>
                <a:spcPts val="0"/>
              </a:spcAft>
              <a:buClr>
                <a:schemeClr val="dk1"/>
              </a:buClr>
              <a:buSzPts val="1600"/>
              <a:buNone/>
            </a:pPr>
            <a:r>
              <a:t/>
            </a:r>
            <a:endParaRPr sz="1600"/>
          </a:p>
        </p:txBody>
      </p:sp>
      <p:sp>
        <p:nvSpPr>
          <p:cNvPr id="929" name="Google Shape;929;p50"/>
          <p:cNvSpPr/>
          <p:nvPr/>
        </p:nvSpPr>
        <p:spPr>
          <a:xfrm>
            <a:off x="6084888" y="1676400"/>
            <a:ext cx="2590800" cy="1368425"/>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Testausresursointitarve jopa </a:t>
            </a:r>
            <a:r>
              <a:rPr b="1" lang="fi-FI" sz="1800">
                <a:solidFill>
                  <a:schemeClr val="lt1"/>
                </a:solidFill>
                <a:latin typeface="Gill Sans"/>
                <a:ea typeface="Gill Sans"/>
                <a:cs typeface="Gill Sans"/>
                <a:sym typeface="Gill Sans"/>
              </a:rPr>
              <a:t>20:1</a:t>
            </a:r>
            <a:r>
              <a:rPr lang="fi-FI" sz="1800">
                <a:solidFill>
                  <a:schemeClr val="lt1"/>
                </a:solidFill>
                <a:latin typeface="Gill Sans"/>
                <a:ea typeface="Gill Sans"/>
                <a:cs typeface="Gill Sans"/>
                <a:sym typeface="Gill Sans"/>
              </a:rPr>
              <a:t> muutostestauksessa suhteessa toteutukseen</a:t>
            </a:r>
            <a:endParaRPr sz="1800">
              <a:solidFill>
                <a:schemeClr val="lt1"/>
              </a:solidFill>
              <a:latin typeface="Gill Sans"/>
              <a:ea typeface="Gill Sans"/>
              <a:cs typeface="Gill Sans"/>
              <a:sym typeface="Gill Sans"/>
            </a:endParaRPr>
          </a:p>
        </p:txBody>
      </p:sp>
      <p:sp>
        <p:nvSpPr>
          <p:cNvPr id="930" name="Google Shape;93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Ylläpitotestaus</a:t>
            </a:r>
            <a:endParaRPr/>
          </a:p>
        </p:txBody>
      </p:sp>
      <p:sp>
        <p:nvSpPr>
          <p:cNvPr id="937" name="Google Shape;937;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27000" lvl="0" marL="0" rtl="0" algn="l">
              <a:spcBef>
                <a:spcPts val="0"/>
              </a:spcBef>
              <a:spcAft>
                <a:spcPts val="0"/>
              </a:spcAft>
              <a:buClr>
                <a:schemeClr val="dk1"/>
              </a:buClr>
              <a:buSzPts val="2000"/>
              <a:buChar char="•"/>
            </a:pPr>
            <a:r>
              <a:rPr lang="fi-FI" sz="2000"/>
              <a:t>Erilaisia ylläpitomuutoksia</a:t>
            </a:r>
            <a:endParaRPr sz="2000"/>
          </a:p>
          <a:p>
            <a:pPr indent="-187325" lvl="1" marL="377825" rtl="0" algn="l">
              <a:spcBef>
                <a:spcPts val="360"/>
              </a:spcBef>
              <a:spcAft>
                <a:spcPts val="0"/>
              </a:spcAft>
              <a:buClr>
                <a:schemeClr val="dk1"/>
              </a:buClr>
              <a:buSzPts val="1800"/>
              <a:buChar char="–"/>
            </a:pPr>
            <a:r>
              <a:rPr lang="fi-FI" sz="1800"/>
              <a:t>Tuotannon aikaiset virhekorjaukset</a:t>
            </a:r>
            <a:endParaRPr sz="1800"/>
          </a:p>
          <a:p>
            <a:pPr indent="-187325" lvl="1" marL="377825" rtl="0" algn="l">
              <a:spcBef>
                <a:spcPts val="360"/>
              </a:spcBef>
              <a:spcAft>
                <a:spcPts val="0"/>
              </a:spcAft>
              <a:buClr>
                <a:schemeClr val="dk1"/>
              </a:buClr>
              <a:buSzPts val="1800"/>
              <a:buChar char="–"/>
            </a:pPr>
            <a:r>
              <a:rPr lang="fi-FI" sz="1800"/>
              <a:t>Ympäristötekijöiden muutokset </a:t>
            </a:r>
            <a:endParaRPr/>
          </a:p>
          <a:p>
            <a:pPr indent="-192087" lvl="2" marL="766763" rtl="0" algn="l">
              <a:spcBef>
                <a:spcPts val="320"/>
              </a:spcBef>
              <a:spcAft>
                <a:spcPts val="0"/>
              </a:spcAft>
              <a:buClr>
                <a:schemeClr val="dk1"/>
              </a:buClr>
              <a:buSzPts val="1600"/>
              <a:buChar char="•"/>
            </a:pPr>
            <a:r>
              <a:rPr lang="fi-FI" sz="1600"/>
              <a:t>(esim. IE7 F-Securen tuotteen julkaisun jälkeen tai uusi kantaversio)</a:t>
            </a:r>
            <a:endParaRPr/>
          </a:p>
          <a:p>
            <a:pPr indent="-127000" lvl="0" marL="0" rtl="0" algn="l">
              <a:spcBef>
                <a:spcPts val="400"/>
              </a:spcBef>
              <a:spcAft>
                <a:spcPts val="0"/>
              </a:spcAft>
              <a:buClr>
                <a:schemeClr val="dk1"/>
              </a:buClr>
              <a:buSzPts val="2000"/>
              <a:buChar char="•"/>
            </a:pPr>
            <a:r>
              <a:rPr lang="fi-FI" sz="2000"/>
              <a:t>Luonteeltaan pääasiallisesti regressiotestausta</a:t>
            </a:r>
            <a:endParaRPr sz="2000"/>
          </a:p>
          <a:p>
            <a:pPr indent="-187325" lvl="1" marL="377825" rtl="0" algn="l">
              <a:spcBef>
                <a:spcPts val="360"/>
              </a:spcBef>
              <a:spcAft>
                <a:spcPts val="0"/>
              </a:spcAft>
              <a:buClr>
                <a:schemeClr val="dk1"/>
              </a:buClr>
              <a:buSzPts val="1800"/>
              <a:buChar char="–"/>
            </a:pPr>
            <a:r>
              <a:rPr lang="fi-FI" sz="1800"/>
              <a:t>Testauksen työmäärä tyypillisesti moninkertainen toteutustyömäärään nähden</a:t>
            </a:r>
            <a:endParaRPr sz="1800"/>
          </a:p>
          <a:p>
            <a:pPr indent="-187325" lvl="1" marL="377825" rtl="0" algn="l">
              <a:spcBef>
                <a:spcPts val="360"/>
              </a:spcBef>
              <a:spcAft>
                <a:spcPts val="0"/>
              </a:spcAft>
              <a:buClr>
                <a:schemeClr val="dk1"/>
              </a:buClr>
              <a:buSzPts val="1800"/>
              <a:buChar char="–"/>
            </a:pPr>
            <a:r>
              <a:rPr lang="fi-FI" sz="1800"/>
              <a:t>Kaiveltava muistin lokeroita: mitä tuettiinkaan juuri tälle versiolle? </a:t>
            </a:r>
            <a:endParaRPr/>
          </a:p>
          <a:p>
            <a:pPr indent="-127000" lvl="0" marL="0" rtl="0" algn="l">
              <a:spcBef>
                <a:spcPts val="400"/>
              </a:spcBef>
              <a:spcAft>
                <a:spcPts val="0"/>
              </a:spcAft>
              <a:buClr>
                <a:schemeClr val="dk1"/>
              </a:buClr>
              <a:buSzPts val="2000"/>
              <a:buChar char="•"/>
            </a:pPr>
            <a:r>
              <a:rPr lang="fi-FI" sz="2000"/>
              <a:t>Samojen testien ajaminen kerta toisensa jälkeen ei suuntaa työtä</a:t>
            </a:r>
            <a:endParaRPr sz="2000"/>
          </a:p>
          <a:p>
            <a:pPr indent="-187325" lvl="1" marL="377825" rtl="0" algn="l">
              <a:spcBef>
                <a:spcPts val="360"/>
              </a:spcBef>
              <a:spcAft>
                <a:spcPts val="0"/>
              </a:spcAft>
              <a:buClr>
                <a:schemeClr val="dk1"/>
              </a:buClr>
              <a:buSzPts val="1800"/>
              <a:buChar char="–"/>
            </a:pPr>
            <a:r>
              <a:rPr lang="fi-FI" sz="1800"/>
              <a:t>Yleensä tiedämme mikä on ollut muutos ja voimme ainakin arvailla mitä siitä seuraa</a:t>
            </a:r>
            <a:endParaRPr sz="1800"/>
          </a:p>
          <a:p>
            <a:pPr indent="-187325" lvl="1" marL="377825" rtl="0" algn="l">
              <a:spcBef>
                <a:spcPts val="360"/>
              </a:spcBef>
              <a:spcAft>
                <a:spcPts val="0"/>
              </a:spcAft>
              <a:buClr>
                <a:schemeClr val="dk1"/>
              </a:buClr>
              <a:buSzPts val="1800"/>
              <a:buChar char="–"/>
            </a:pPr>
            <a:r>
              <a:rPr lang="fi-FI" sz="1800"/>
              <a:t>Regressiotestauksen peruskysymykset: mihin kaikkialle voi vaikuttaa ja minkä toiminnasta on oltava aivan varma?</a:t>
            </a:r>
            <a:endParaRPr/>
          </a:p>
        </p:txBody>
      </p:sp>
      <p:sp>
        <p:nvSpPr>
          <p:cNvPr id="938" name="Google Shape;938;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pic>
        <p:nvPicPr>
          <p:cNvPr id="944" name="Google Shape;944;p52"/>
          <p:cNvPicPr preferRelativeResize="0"/>
          <p:nvPr/>
        </p:nvPicPr>
        <p:blipFill rotWithShape="1">
          <a:blip r:embed="rId3">
            <a:alphaModFix/>
          </a:blip>
          <a:srcRect b="0" l="0" r="0" t="0"/>
          <a:stretch/>
        </p:blipFill>
        <p:spPr>
          <a:xfrm>
            <a:off x="6227763" y="3789363"/>
            <a:ext cx="2384425" cy="2743200"/>
          </a:xfrm>
          <a:prstGeom prst="rect">
            <a:avLst/>
          </a:prstGeom>
          <a:noFill/>
          <a:ln>
            <a:noFill/>
          </a:ln>
        </p:spPr>
      </p:pic>
      <p:sp>
        <p:nvSpPr>
          <p:cNvPr id="945" name="Google Shape;945;p52"/>
          <p:cNvSpPr txBox="1"/>
          <p:nvPr>
            <p:ph type="title"/>
          </p:nvPr>
        </p:nvSpPr>
        <p:spPr>
          <a:xfrm>
            <a:off x="579438" y="152400"/>
            <a:ext cx="7305675" cy="1600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Gill Sans"/>
              <a:buNone/>
            </a:pPr>
            <a:r>
              <a:rPr lang="fi-FI" sz="4000"/>
              <a:t>Harjoitus: </a:t>
            </a:r>
            <a:r>
              <a:rPr lang="fi-FI" sz="3600"/>
              <a:t>Regressiotestijakson määrittely</a:t>
            </a:r>
            <a:endParaRPr/>
          </a:p>
        </p:txBody>
      </p:sp>
      <p:sp>
        <p:nvSpPr>
          <p:cNvPr id="946" name="Google Shape;946;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27000" lvl="0" marL="0" rtl="0" algn="l">
              <a:spcBef>
                <a:spcPts val="0"/>
              </a:spcBef>
              <a:spcAft>
                <a:spcPts val="0"/>
              </a:spcAft>
              <a:buClr>
                <a:schemeClr val="dk1"/>
              </a:buClr>
              <a:buSzPts val="2000"/>
              <a:buChar char="•"/>
            </a:pPr>
            <a:r>
              <a:rPr lang="fi-FI" sz="2000"/>
              <a:t>Olette liittyneet varsin myöhäisenä vahvistuksena porukkaan jossa testataan WordPadia. Testitapaukset on jo suunniteltu ja suunnitelmat on juuri luovutettu teille. </a:t>
            </a:r>
            <a:endParaRPr/>
          </a:p>
          <a:p>
            <a:pPr indent="-127000" lvl="0" marL="0" rtl="0" algn="l">
              <a:spcBef>
                <a:spcPts val="400"/>
              </a:spcBef>
              <a:spcAft>
                <a:spcPts val="0"/>
              </a:spcAft>
              <a:buClr>
                <a:schemeClr val="dk1"/>
              </a:buClr>
              <a:buSzPts val="2000"/>
              <a:buChar char="•"/>
            </a:pPr>
            <a:r>
              <a:rPr lang="fi-FI" sz="2000"/>
              <a:t>Testauksen kalenteriin on merkitty että ensi viikolla on tarkoitus suorittaa regressiotestausta. Tämä on annettu teille tehtäväksi. Teillä on aikaa suorittaa korkeintaan viidesosa suhteessa määriteltyihin testeihin, eli aikanne on varsin rajattu. </a:t>
            </a:r>
            <a:endParaRPr/>
          </a:p>
          <a:p>
            <a:pPr indent="-127000" lvl="0" marL="0" rtl="0" algn="l">
              <a:spcBef>
                <a:spcPts val="400"/>
              </a:spcBef>
              <a:spcAft>
                <a:spcPts val="0"/>
              </a:spcAft>
              <a:buClr>
                <a:schemeClr val="dk1"/>
              </a:buClr>
              <a:buSzPts val="2000"/>
              <a:buChar char="•"/>
            </a:pPr>
            <a:r>
              <a:rPr lang="fi-FI" sz="2000"/>
              <a:t>Miten valitsette testit joita suoritatte? Esittäkää suunnitelmanne ajankäytöllenne ensi viikolle kokeneempien kommentoitavaksi.</a:t>
            </a:r>
            <a:endParaRPr/>
          </a:p>
        </p:txBody>
      </p:sp>
      <p:sp>
        <p:nvSpPr>
          <p:cNvPr id="947" name="Google Shape;947;p52"/>
          <p:cNvSpPr/>
          <p:nvPr/>
        </p:nvSpPr>
        <p:spPr>
          <a:xfrm>
            <a:off x="2600325" y="5334000"/>
            <a:ext cx="3124200" cy="1066800"/>
          </a:xfrm>
          <a:prstGeom prst="irregularSeal1">
            <a:avLst/>
          </a:prstGeom>
          <a:solidFill>
            <a:schemeClr val="lt2"/>
          </a:solidFill>
          <a:ln cap="flat" cmpd="sng" w="12700">
            <a:solidFill>
              <a:schemeClr val="accent2"/>
            </a:solidFill>
            <a:prstDash val="dot"/>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lang="fi-FI" sz="1600">
                <a:solidFill>
                  <a:schemeClr val="dk1"/>
                </a:solidFill>
                <a:latin typeface="Arial"/>
                <a:ea typeface="Arial"/>
                <a:cs typeface="Arial"/>
                <a:sym typeface="Arial"/>
              </a:rPr>
              <a:t>ryhmätyö</a:t>
            </a:r>
            <a:endParaRPr/>
          </a:p>
        </p:txBody>
      </p:sp>
      <p:sp>
        <p:nvSpPr>
          <p:cNvPr id="948" name="Google Shape;948;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Regressiotestausta eri lähtökohdista</a:t>
            </a:r>
            <a:endParaRPr/>
          </a:p>
        </p:txBody>
      </p:sp>
      <p:grpSp>
        <p:nvGrpSpPr>
          <p:cNvPr id="955" name="Google Shape;955;p53"/>
          <p:cNvGrpSpPr/>
          <p:nvPr/>
        </p:nvGrpSpPr>
        <p:grpSpPr>
          <a:xfrm>
            <a:off x="539750" y="1773238"/>
            <a:ext cx="8015288" cy="4248150"/>
            <a:chOff x="240" y="897"/>
            <a:chExt cx="5376" cy="3168"/>
          </a:xfrm>
        </p:grpSpPr>
        <p:sp>
          <p:nvSpPr>
            <p:cNvPr id="956" name="Google Shape;956;p53"/>
            <p:cNvSpPr/>
            <p:nvPr/>
          </p:nvSpPr>
          <p:spPr>
            <a:xfrm>
              <a:off x="240" y="897"/>
              <a:ext cx="2640" cy="1536"/>
            </a:xfrm>
            <a:prstGeom prst="roundRect">
              <a:avLst>
                <a:gd fmla="val 16667" name="adj"/>
              </a:avLst>
            </a:prstGeom>
            <a:solidFill>
              <a:schemeClr val="lt1"/>
            </a:solidFill>
            <a:ln cap="flat" cmpd="sng" w="12700">
              <a:solidFill>
                <a:schemeClr val="folHlink"/>
              </a:solidFill>
              <a:prstDash val="solid"/>
              <a:round/>
              <a:headEnd len="sm" w="sm" type="none"/>
              <a:tailEnd len="sm" w="sm" type="none"/>
            </a:ln>
            <a:effectLst>
              <a:outerShdw rotWithShape="0" algn="ctr" dir="18900000" dist="107763">
                <a:schemeClr val="lt2"/>
              </a:outerShdw>
            </a:effectLst>
          </p:spPr>
          <p:txBody>
            <a:bodyPr anchorCtr="0" anchor="t" bIns="46800" lIns="90000" spcFirstLastPara="1" rIns="90000" wrap="square" tIns="46800">
              <a:noAutofit/>
            </a:bodyPr>
            <a:lstStyle/>
            <a:p>
              <a:pPr indent="0" lvl="0" marL="0" marR="0" rtl="0" algn="ctr">
                <a:spcBef>
                  <a:spcPts val="0"/>
                </a:spcBef>
                <a:spcAft>
                  <a:spcPts val="0"/>
                </a:spcAft>
                <a:buNone/>
              </a:pPr>
              <a:r>
                <a:rPr b="1" lang="fi-FI" sz="1400">
                  <a:solidFill>
                    <a:schemeClr val="dk1"/>
                  </a:solidFill>
                  <a:latin typeface="Gill Sans"/>
                  <a:ea typeface="Gill Sans"/>
                  <a:cs typeface="Gill Sans"/>
                  <a:sym typeface="Gill Sans"/>
                </a:rPr>
                <a:t>Case 1: Perustoiminnallisuudet lopuksi testien kautta</a:t>
              </a:r>
              <a:endParaRPr/>
            </a:p>
            <a:p>
              <a:pPr indent="0" lvl="0" marL="0" marR="0" rtl="0" algn="ctr">
                <a:spcBef>
                  <a:spcPts val="0"/>
                </a:spcBef>
                <a:spcAft>
                  <a:spcPts val="0"/>
                </a:spcAft>
                <a:buNone/>
              </a:pPr>
              <a:r>
                <a:rPr lang="fi-FI" sz="1400">
                  <a:solidFill>
                    <a:schemeClr val="dk1"/>
                  </a:solidFill>
                  <a:latin typeface="Gill Sans"/>
                  <a:ea typeface="Gill Sans"/>
                  <a:cs typeface="Gill Sans"/>
                  <a:sym typeface="Gill Sans"/>
                </a:rPr>
                <a:t>Testitapausmäärittelyn korkeimman prioriteetin testit ajettava viimeisillä koontiversioilla</a:t>
              </a:r>
              <a:endParaRPr/>
            </a:p>
            <a:p>
              <a:pPr indent="0" lvl="0" marL="0" marR="0" rtl="0" algn="ctr">
                <a:spcBef>
                  <a:spcPts val="0"/>
                </a:spcBef>
                <a:spcAft>
                  <a:spcPts val="0"/>
                </a:spcAft>
                <a:buNone/>
              </a:pPr>
              <a:r>
                <a:rPr lang="fi-FI" sz="1400">
                  <a:solidFill>
                    <a:schemeClr val="accent2"/>
                  </a:solidFill>
                  <a:latin typeface="Gill Sans"/>
                  <a:ea typeface="Gill Sans"/>
                  <a:cs typeface="Gill Sans"/>
                  <a:sym typeface="Gill Sans"/>
                </a:rPr>
                <a:t>Huolenaihe: käyttäjän perustoiminnallisuuden olemassaolon varmistaminen</a:t>
              </a:r>
              <a:endParaRPr/>
            </a:p>
          </p:txBody>
        </p:sp>
        <p:sp>
          <p:nvSpPr>
            <p:cNvPr id="957" name="Google Shape;957;p53"/>
            <p:cNvSpPr/>
            <p:nvPr/>
          </p:nvSpPr>
          <p:spPr>
            <a:xfrm>
              <a:off x="240" y="2529"/>
              <a:ext cx="2640" cy="1536"/>
            </a:xfrm>
            <a:prstGeom prst="roundRect">
              <a:avLst>
                <a:gd fmla="val 16667" name="adj"/>
              </a:avLst>
            </a:prstGeom>
            <a:solidFill>
              <a:schemeClr val="lt1"/>
            </a:solidFill>
            <a:ln cap="flat" cmpd="sng" w="12700">
              <a:solidFill>
                <a:schemeClr val="folHlink"/>
              </a:solidFill>
              <a:prstDash val="solid"/>
              <a:round/>
              <a:headEnd len="sm" w="sm" type="none"/>
              <a:tailEnd len="sm" w="sm" type="none"/>
            </a:ln>
            <a:effectLst>
              <a:outerShdw rotWithShape="0" algn="ctr" dir="18900000" dist="107763">
                <a:schemeClr val="lt2"/>
              </a:outerShdw>
            </a:effectLst>
          </p:spPr>
          <p:txBody>
            <a:bodyPr anchorCtr="0" anchor="t" bIns="46800" lIns="90000" spcFirstLastPara="1" rIns="90000" wrap="square" tIns="46800">
              <a:noAutofit/>
            </a:bodyPr>
            <a:lstStyle/>
            <a:p>
              <a:pPr indent="0" lvl="0" marL="0" marR="0" rtl="0" algn="ctr">
                <a:spcBef>
                  <a:spcPts val="0"/>
                </a:spcBef>
                <a:spcAft>
                  <a:spcPts val="0"/>
                </a:spcAft>
                <a:buNone/>
              </a:pPr>
              <a:r>
                <a:rPr b="1" lang="fi-FI" sz="1400">
                  <a:solidFill>
                    <a:schemeClr val="dk1"/>
                  </a:solidFill>
                  <a:latin typeface="Gill Sans"/>
                  <a:ea typeface="Gill Sans"/>
                  <a:cs typeface="Gill Sans"/>
                  <a:sym typeface="Gill Sans"/>
                </a:rPr>
                <a:t>Case 3: Uustoiminnot vievät ajan, ei regressiotestausta</a:t>
              </a:r>
              <a:endParaRPr/>
            </a:p>
            <a:p>
              <a:pPr indent="0" lvl="0" marL="0" marR="0" rtl="0" algn="ctr">
                <a:spcBef>
                  <a:spcPts val="0"/>
                </a:spcBef>
                <a:spcAft>
                  <a:spcPts val="0"/>
                </a:spcAft>
                <a:buNone/>
              </a:pPr>
              <a:r>
                <a:rPr lang="fi-FI" sz="1400">
                  <a:solidFill>
                    <a:schemeClr val="dk1"/>
                  </a:solidFill>
                  <a:latin typeface="Gill Sans"/>
                  <a:ea typeface="Gill Sans"/>
                  <a:cs typeface="Gill Sans"/>
                  <a:sym typeface="Gill Sans"/>
                </a:rPr>
                <a:t>Riskianalyysissä todettu parhaaksi rajallisen ajan käytöksi jatkuvasti uusien testien ajaminen, regressiotestaus hoituu osana virheiden korjausten varmistusta</a:t>
              </a:r>
              <a:endParaRPr/>
            </a:p>
            <a:p>
              <a:pPr indent="0" lvl="0" marL="0" marR="0" rtl="0" algn="ctr">
                <a:spcBef>
                  <a:spcPts val="0"/>
                </a:spcBef>
                <a:spcAft>
                  <a:spcPts val="0"/>
                </a:spcAft>
                <a:buNone/>
              </a:pPr>
              <a:r>
                <a:rPr lang="fi-FI" sz="1400">
                  <a:solidFill>
                    <a:schemeClr val="accent2"/>
                  </a:solidFill>
                  <a:latin typeface="Gill Sans"/>
                  <a:ea typeface="Gill Sans"/>
                  <a:cs typeface="Gill Sans"/>
                  <a:sym typeface="Gill Sans"/>
                </a:rPr>
                <a:t>Huolenaihe: rajallisen työmäärän hyödyn maksimointi regressioriskillä</a:t>
              </a:r>
              <a:endParaRPr/>
            </a:p>
          </p:txBody>
        </p:sp>
        <p:sp>
          <p:nvSpPr>
            <p:cNvPr id="958" name="Google Shape;958;p53"/>
            <p:cNvSpPr/>
            <p:nvPr/>
          </p:nvSpPr>
          <p:spPr>
            <a:xfrm>
              <a:off x="2976" y="2529"/>
              <a:ext cx="2640" cy="1536"/>
            </a:xfrm>
            <a:prstGeom prst="roundRect">
              <a:avLst>
                <a:gd fmla="val 16667" name="adj"/>
              </a:avLst>
            </a:prstGeom>
            <a:solidFill>
              <a:schemeClr val="lt1"/>
            </a:solidFill>
            <a:ln cap="flat" cmpd="sng" w="12700">
              <a:solidFill>
                <a:schemeClr val="folHlink"/>
              </a:solidFill>
              <a:prstDash val="solid"/>
              <a:round/>
              <a:headEnd len="sm" w="sm" type="none"/>
              <a:tailEnd len="sm" w="sm" type="none"/>
            </a:ln>
            <a:effectLst>
              <a:outerShdw rotWithShape="0" algn="ctr" dir="18900000" dist="107763">
                <a:schemeClr val="lt2"/>
              </a:outerShdw>
            </a:effectLst>
          </p:spPr>
          <p:txBody>
            <a:bodyPr anchorCtr="0" anchor="t" bIns="46800" lIns="90000" spcFirstLastPara="1" rIns="90000" wrap="square" tIns="46800">
              <a:noAutofit/>
            </a:bodyPr>
            <a:lstStyle/>
            <a:p>
              <a:pPr indent="0" lvl="0" marL="0" marR="0" rtl="0" algn="ctr">
                <a:spcBef>
                  <a:spcPts val="0"/>
                </a:spcBef>
                <a:spcAft>
                  <a:spcPts val="0"/>
                </a:spcAft>
                <a:buNone/>
              </a:pPr>
              <a:r>
                <a:rPr b="1" lang="fi-FI" sz="1400">
                  <a:solidFill>
                    <a:schemeClr val="dk1"/>
                  </a:solidFill>
                  <a:latin typeface="Gill Sans"/>
                  <a:ea typeface="Gill Sans"/>
                  <a:cs typeface="Gill Sans"/>
                  <a:sym typeface="Gill Sans"/>
                </a:rPr>
                <a:t>Case 4: Hyväksymistestijakso regressiotestauksen asemesta</a:t>
              </a:r>
              <a:endParaRPr/>
            </a:p>
            <a:p>
              <a:pPr indent="0" lvl="0" marL="0" marR="0" rtl="0" algn="ctr">
                <a:spcBef>
                  <a:spcPts val="0"/>
                </a:spcBef>
                <a:spcAft>
                  <a:spcPts val="0"/>
                </a:spcAft>
                <a:buNone/>
              </a:pPr>
              <a:r>
                <a:rPr lang="fi-FI" sz="1400">
                  <a:solidFill>
                    <a:schemeClr val="dk1"/>
                  </a:solidFill>
                  <a:latin typeface="Gill Sans"/>
                  <a:ea typeface="Gill Sans"/>
                  <a:cs typeface="Gill Sans"/>
                  <a:sym typeface="Gill Sans"/>
                </a:rPr>
                <a:t>Erikseen määritelty käyttötapauksiin perustuen tärkeimmät toiminnallisuudet, joiden on oltava paikalla. Tutkivaa testausta tavoitteiden ympärillä.</a:t>
              </a:r>
              <a:endParaRPr/>
            </a:p>
            <a:p>
              <a:pPr indent="0" lvl="0" marL="0" marR="0" rtl="0" algn="ctr">
                <a:spcBef>
                  <a:spcPts val="0"/>
                </a:spcBef>
                <a:spcAft>
                  <a:spcPts val="0"/>
                </a:spcAft>
                <a:buNone/>
              </a:pPr>
              <a:r>
                <a:rPr lang="fi-FI" sz="1400">
                  <a:solidFill>
                    <a:schemeClr val="accent2"/>
                  </a:solidFill>
                  <a:latin typeface="Gill Sans"/>
                  <a:ea typeface="Gill Sans"/>
                  <a:cs typeface="Gill Sans"/>
                  <a:sym typeface="Gill Sans"/>
                </a:rPr>
                <a:t>Huolenaihe: Viimeinen raportointi korostetusti käyttäjän kokemaan arvoon sitoen</a:t>
              </a:r>
              <a:endParaRPr/>
            </a:p>
          </p:txBody>
        </p:sp>
        <p:sp>
          <p:nvSpPr>
            <p:cNvPr id="959" name="Google Shape;959;p53"/>
            <p:cNvSpPr/>
            <p:nvPr/>
          </p:nvSpPr>
          <p:spPr>
            <a:xfrm>
              <a:off x="2976" y="897"/>
              <a:ext cx="2640" cy="1536"/>
            </a:xfrm>
            <a:prstGeom prst="roundRect">
              <a:avLst>
                <a:gd fmla="val 16667" name="adj"/>
              </a:avLst>
            </a:prstGeom>
            <a:solidFill>
              <a:schemeClr val="lt1"/>
            </a:solidFill>
            <a:ln cap="flat" cmpd="sng" w="12700">
              <a:solidFill>
                <a:schemeClr val="folHlink"/>
              </a:solidFill>
              <a:prstDash val="solid"/>
              <a:round/>
              <a:headEnd len="sm" w="sm" type="none"/>
              <a:tailEnd len="sm" w="sm" type="none"/>
            </a:ln>
            <a:effectLst>
              <a:outerShdw rotWithShape="0" algn="ctr" dir="18900000" dist="107763">
                <a:schemeClr val="lt2"/>
              </a:outerShdw>
            </a:effectLst>
          </p:spPr>
          <p:txBody>
            <a:bodyPr anchorCtr="0" anchor="t" bIns="46800" lIns="90000" spcFirstLastPara="1" rIns="90000" wrap="square" tIns="46800">
              <a:noAutofit/>
            </a:bodyPr>
            <a:lstStyle/>
            <a:p>
              <a:pPr indent="0" lvl="0" marL="0" marR="0" rtl="0" algn="ctr">
                <a:spcBef>
                  <a:spcPts val="0"/>
                </a:spcBef>
                <a:spcAft>
                  <a:spcPts val="0"/>
                </a:spcAft>
                <a:buNone/>
              </a:pPr>
              <a:r>
                <a:rPr b="1" lang="fi-FI" sz="1400">
                  <a:solidFill>
                    <a:schemeClr val="dk1"/>
                  </a:solidFill>
                  <a:latin typeface="Gill Sans"/>
                  <a:ea typeface="Gill Sans"/>
                  <a:cs typeface="Gill Sans"/>
                  <a:sym typeface="Gill Sans"/>
                </a:rPr>
                <a:t>Case 2: Perustoiminnallisuudet lopuksi virheiden kautta</a:t>
              </a:r>
              <a:endParaRPr/>
            </a:p>
            <a:p>
              <a:pPr indent="0" lvl="0" marL="0" marR="0" rtl="0" algn="ctr">
                <a:spcBef>
                  <a:spcPts val="0"/>
                </a:spcBef>
                <a:spcAft>
                  <a:spcPts val="0"/>
                </a:spcAft>
                <a:buNone/>
              </a:pPr>
              <a:r>
                <a:rPr lang="fi-FI" sz="1400">
                  <a:solidFill>
                    <a:schemeClr val="dk1"/>
                  </a:solidFill>
                  <a:latin typeface="Gill Sans"/>
                  <a:ea typeface="Gill Sans"/>
                  <a:cs typeface="Gill Sans"/>
                  <a:sym typeface="Gill Sans"/>
                </a:rPr>
                <a:t>Valitut raportoidut virheet ohjelman eri alueilta regressiotestauksessa viimeisillä viikoilla</a:t>
              </a:r>
              <a:endParaRPr/>
            </a:p>
            <a:p>
              <a:pPr indent="0" lvl="0" marL="0" marR="0" rtl="0" algn="ctr">
                <a:spcBef>
                  <a:spcPts val="0"/>
                </a:spcBef>
                <a:spcAft>
                  <a:spcPts val="0"/>
                </a:spcAft>
                <a:buNone/>
              </a:pPr>
              <a:r>
                <a:rPr lang="fi-FI" sz="1400">
                  <a:solidFill>
                    <a:schemeClr val="accent2"/>
                  </a:solidFill>
                  <a:latin typeface="Gill Sans"/>
                  <a:ea typeface="Gill Sans"/>
                  <a:cs typeface="Gill Sans"/>
                  <a:sym typeface="Gill Sans"/>
                </a:rPr>
                <a:t>Huolenaihe: virheet jotka ovat olleet tärkeitä korjata ilmenevät takaisin julkaisuun, alueiden kattavuus hoituu sivussa</a:t>
              </a:r>
              <a:endParaRPr/>
            </a:p>
          </p:txBody>
        </p:sp>
      </p:grpSp>
      <p:sp>
        <p:nvSpPr>
          <p:cNvPr id="960" name="Google Shape;960;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grpSp>
        <p:nvGrpSpPr>
          <p:cNvPr id="965" name="Google Shape;965;p54"/>
          <p:cNvGrpSpPr/>
          <p:nvPr/>
        </p:nvGrpSpPr>
        <p:grpSpPr>
          <a:xfrm>
            <a:off x="1475656" y="692697"/>
            <a:ext cx="5987008" cy="1584175"/>
            <a:chOff x="0" y="1509411"/>
            <a:chExt cx="5987008" cy="287819"/>
          </a:xfrm>
        </p:grpSpPr>
        <p:sp>
          <p:nvSpPr>
            <p:cNvPr id="966" name="Google Shape;966;p54"/>
            <p:cNvSpPr/>
            <p:nvPr/>
          </p:nvSpPr>
          <p:spPr>
            <a:xfrm>
              <a:off x="0" y="1509411"/>
              <a:ext cx="5987008" cy="287819"/>
            </a:xfrm>
            <a:prstGeom prst="roundRect">
              <a:avLst>
                <a:gd fmla="val 16667" name="adj"/>
              </a:avLst>
            </a:prstGeom>
            <a:solidFill>
              <a:srgbClr val="F3CB2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54"/>
            <p:cNvSpPr/>
            <p:nvPr/>
          </p:nvSpPr>
          <p:spPr>
            <a:xfrm>
              <a:off x="14050" y="1523461"/>
              <a:ext cx="5958908" cy="259719"/>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lang="fi-FI" sz="2800">
                  <a:solidFill>
                    <a:schemeClr val="lt1"/>
                  </a:solidFill>
                  <a:latin typeface="Gill Sans"/>
                  <a:ea typeface="Gill Sans"/>
                  <a:cs typeface="Gill Sans"/>
                  <a:sym typeface="Gill Sans"/>
                </a:rPr>
                <a:t>Regressiotestaus</a:t>
              </a:r>
              <a:endParaRPr sz="2800">
                <a:solidFill>
                  <a:schemeClr val="lt1"/>
                </a:solidFill>
                <a:latin typeface="Gill Sans"/>
                <a:ea typeface="Gill Sans"/>
                <a:cs typeface="Gill Sans"/>
                <a:sym typeface="Gill Sans"/>
              </a:endParaRPr>
            </a:p>
          </p:txBody>
        </p:sp>
      </p:grpSp>
      <p:sp>
        <p:nvSpPr>
          <p:cNvPr id="968" name="Google Shape;96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pic>
        <p:nvPicPr>
          <p:cNvPr descr="C:\Documents and Settings\mpyhajar.CONFORMIQ\Application Data\Microsoft\Media Catalog\Downloaded Clips\cl1f\j0078711.wmf" id="969" name="Google Shape;969;p54"/>
          <p:cNvPicPr preferRelativeResize="0"/>
          <p:nvPr/>
        </p:nvPicPr>
        <p:blipFill rotWithShape="1">
          <a:blip r:embed="rId3">
            <a:alphaModFix/>
          </a:blip>
          <a:srcRect b="0" l="0" r="0" t="0"/>
          <a:stretch/>
        </p:blipFill>
        <p:spPr>
          <a:xfrm>
            <a:off x="2714612" y="1661115"/>
            <a:ext cx="1622425" cy="3933825"/>
          </a:xfrm>
          <a:prstGeom prst="rect">
            <a:avLst/>
          </a:prstGeom>
          <a:noFill/>
          <a:ln>
            <a:noFill/>
          </a:ln>
        </p:spPr>
      </p:pic>
      <p:pic>
        <p:nvPicPr>
          <p:cNvPr descr="C:\Documents and Settings\mpyhajar.CONFORMIQ\Application Data\Microsoft\Media Catalog\Downloaded Clips\cl1f\j0078625.wmf" id="970" name="Google Shape;970;p54"/>
          <p:cNvPicPr preferRelativeResize="0"/>
          <p:nvPr/>
        </p:nvPicPr>
        <p:blipFill rotWithShape="1">
          <a:blip r:embed="rId4">
            <a:alphaModFix/>
          </a:blip>
          <a:srcRect b="0" l="0" r="0" t="0"/>
          <a:stretch/>
        </p:blipFill>
        <p:spPr>
          <a:xfrm>
            <a:off x="4286248" y="2375495"/>
            <a:ext cx="1295400" cy="39338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b="1" lang="fi-FI"/>
              <a:t>PÄIVÄ 1</a:t>
            </a:r>
            <a:endParaRPr/>
          </a:p>
        </p:txBody>
      </p:sp>
      <p:grpSp>
        <p:nvGrpSpPr>
          <p:cNvPr id="976" name="Google Shape;976;p55"/>
          <p:cNvGrpSpPr/>
          <p:nvPr/>
        </p:nvGrpSpPr>
        <p:grpSpPr>
          <a:xfrm>
            <a:off x="1475656" y="1614891"/>
            <a:ext cx="5987008" cy="4496580"/>
            <a:chOff x="0" y="14691"/>
            <a:chExt cx="5987008" cy="4496580"/>
          </a:xfrm>
        </p:grpSpPr>
        <p:sp>
          <p:nvSpPr>
            <p:cNvPr id="977" name="Google Shape;977;p55"/>
            <p:cNvSpPr/>
            <p:nvPr/>
          </p:nvSpPr>
          <p:spPr>
            <a:xfrm>
              <a:off x="0" y="1469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55"/>
            <p:cNvSpPr txBox="1"/>
            <p:nvPr/>
          </p:nvSpPr>
          <p:spPr>
            <a:xfrm>
              <a:off x="14050" y="2874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 testitapaukset ja testaajana toimiminen</a:t>
              </a:r>
              <a:endParaRPr sz="1200">
                <a:solidFill>
                  <a:schemeClr val="lt1"/>
                </a:solidFill>
                <a:latin typeface="Gill Sans"/>
                <a:ea typeface="Gill Sans"/>
                <a:cs typeface="Gill Sans"/>
                <a:sym typeface="Gill Sans"/>
              </a:endParaRPr>
            </a:p>
          </p:txBody>
        </p:sp>
        <p:sp>
          <p:nvSpPr>
            <p:cNvPr id="979" name="Google Shape;979;p55"/>
            <p:cNvSpPr/>
            <p:nvPr/>
          </p:nvSpPr>
          <p:spPr>
            <a:xfrm>
              <a:off x="0" y="30251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55"/>
            <p:cNvSpPr txBox="1"/>
            <p:nvPr/>
          </p:nvSpPr>
          <p:spPr>
            <a:xfrm>
              <a:off x="0" y="30251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Testaustyön luonne ja merkitys / testausmatematiikan perusteet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Määrittelyt testauksen pohjana / määrittelyn limupeli</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ajattelumallit / kuinka testaisin tekstikentän</a:t>
              </a:r>
              <a:endParaRPr b="0" i="0" sz="900" u="none" cap="none" strike="noStrike">
                <a:solidFill>
                  <a:schemeClr val="dk1"/>
                </a:solidFill>
                <a:latin typeface="Gill Sans"/>
                <a:ea typeface="Gill Sans"/>
                <a:cs typeface="Gill Sans"/>
                <a:sym typeface="Gill Sans"/>
              </a:endParaRPr>
            </a:p>
          </p:txBody>
        </p:sp>
        <p:sp>
          <p:nvSpPr>
            <p:cNvPr id="981" name="Google Shape;981;p55"/>
            <p:cNvSpPr/>
            <p:nvPr/>
          </p:nvSpPr>
          <p:spPr>
            <a:xfrm>
              <a:off x="0" y="762051"/>
              <a:ext cx="5987008" cy="287819"/>
            </a:xfrm>
            <a:prstGeom prst="roundRect">
              <a:avLst>
                <a:gd fmla="val 16667" name="adj"/>
              </a:avLst>
            </a:prstGeom>
            <a:solidFill>
              <a:srgbClr val="B32A1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55"/>
            <p:cNvSpPr txBox="1"/>
            <p:nvPr/>
          </p:nvSpPr>
          <p:spPr>
            <a:xfrm>
              <a:off x="14050" y="7761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dokumentointi</a:t>
              </a:r>
              <a:endParaRPr sz="1200">
                <a:solidFill>
                  <a:schemeClr val="lt1"/>
                </a:solidFill>
                <a:latin typeface="Gill Sans"/>
                <a:ea typeface="Gill Sans"/>
                <a:cs typeface="Gill Sans"/>
                <a:sym typeface="Gill Sans"/>
              </a:endParaRPr>
            </a:p>
          </p:txBody>
        </p:sp>
        <p:sp>
          <p:nvSpPr>
            <p:cNvPr id="983" name="Google Shape;983;p55"/>
            <p:cNvSpPr/>
            <p:nvPr/>
          </p:nvSpPr>
          <p:spPr>
            <a:xfrm>
              <a:off x="0" y="104987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5"/>
            <p:cNvSpPr txBox="1"/>
            <p:nvPr/>
          </p:nvSpPr>
          <p:spPr>
            <a:xfrm>
              <a:off x="0" y="104987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Oikea-aikainen dokumentointi – valmistaudu ajoissa, älä unohda uusia oppeja!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Miltä oikeat testitapaukset näyttävät?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taso FreeMind Etsi ja korvaa -toiminnolle</a:t>
              </a:r>
              <a:endParaRPr b="0" i="0" sz="900" u="none" cap="none" strike="noStrike">
                <a:solidFill>
                  <a:schemeClr val="dk1"/>
                </a:solidFill>
                <a:latin typeface="Gill Sans"/>
                <a:ea typeface="Gill Sans"/>
                <a:cs typeface="Gill Sans"/>
                <a:sym typeface="Gill Sans"/>
              </a:endParaRPr>
            </a:p>
          </p:txBody>
        </p:sp>
        <p:sp>
          <p:nvSpPr>
            <p:cNvPr id="985" name="Google Shape;985;p55"/>
            <p:cNvSpPr/>
            <p:nvPr/>
          </p:nvSpPr>
          <p:spPr>
            <a:xfrm>
              <a:off x="0" y="1509411"/>
              <a:ext cx="5987008" cy="287819"/>
            </a:xfrm>
            <a:prstGeom prst="roundRect">
              <a:avLst>
                <a:gd fmla="val 16667" name="adj"/>
              </a:avLst>
            </a:prstGeom>
            <a:solidFill>
              <a:srgbClr val="F3CB2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5"/>
            <p:cNvSpPr txBox="1"/>
            <p:nvPr/>
          </p:nvSpPr>
          <p:spPr>
            <a:xfrm>
              <a:off x="14050" y="152346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Regressiotestaus</a:t>
              </a:r>
              <a:endParaRPr sz="1200">
                <a:solidFill>
                  <a:schemeClr val="lt1"/>
                </a:solidFill>
                <a:latin typeface="Gill Sans"/>
                <a:ea typeface="Gill Sans"/>
                <a:cs typeface="Gill Sans"/>
                <a:sym typeface="Gill Sans"/>
              </a:endParaRPr>
            </a:p>
          </p:txBody>
        </p:sp>
        <p:sp>
          <p:nvSpPr>
            <p:cNvPr id="987" name="Google Shape;987;p55"/>
            <p:cNvSpPr/>
            <p:nvPr/>
          </p:nvSpPr>
          <p:spPr>
            <a:xfrm>
              <a:off x="0" y="179723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5"/>
            <p:cNvSpPr txBox="1"/>
            <p:nvPr/>
          </p:nvSpPr>
          <p:spPr>
            <a:xfrm>
              <a:off x="0" y="179723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Testaaminen vs. korjaaminen</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Toimivia regressiotestausmalleja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regressiotestien valinta annetusta testitapausmäärittelystä</a:t>
              </a:r>
              <a:endParaRPr b="0" i="0" sz="900" u="none" cap="none" strike="noStrike">
                <a:solidFill>
                  <a:schemeClr val="dk1"/>
                </a:solidFill>
                <a:latin typeface="Gill Sans"/>
                <a:ea typeface="Gill Sans"/>
                <a:cs typeface="Gill Sans"/>
                <a:sym typeface="Gill Sans"/>
              </a:endParaRPr>
            </a:p>
          </p:txBody>
        </p:sp>
        <p:sp>
          <p:nvSpPr>
            <p:cNvPr id="989" name="Google Shape;989;p55"/>
            <p:cNvSpPr/>
            <p:nvPr/>
          </p:nvSpPr>
          <p:spPr>
            <a:xfrm>
              <a:off x="0" y="2256771"/>
              <a:ext cx="5987008" cy="287819"/>
            </a:xfrm>
            <a:prstGeom prst="roundRect">
              <a:avLst>
                <a:gd fmla="val 16667" name="adj"/>
              </a:avLst>
            </a:prstGeom>
            <a:solidFill>
              <a:srgbClr val="ACB9D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55"/>
            <p:cNvSpPr txBox="1"/>
            <p:nvPr/>
          </p:nvSpPr>
          <p:spPr>
            <a:xfrm>
              <a:off x="14050" y="227082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hallinnan välinetuki</a:t>
              </a:r>
              <a:endParaRPr sz="1200">
                <a:solidFill>
                  <a:schemeClr val="lt1"/>
                </a:solidFill>
                <a:latin typeface="Gill Sans"/>
                <a:ea typeface="Gill Sans"/>
                <a:cs typeface="Gill Sans"/>
                <a:sym typeface="Gill Sans"/>
              </a:endParaRPr>
            </a:p>
          </p:txBody>
        </p:sp>
        <p:sp>
          <p:nvSpPr>
            <p:cNvPr id="991" name="Google Shape;991;p55"/>
            <p:cNvSpPr/>
            <p:nvPr/>
          </p:nvSpPr>
          <p:spPr>
            <a:xfrm>
              <a:off x="0" y="254459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55"/>
            <p:cNvSpPr txBox="1"/>
            <p:nvPr/>
          </p:nvSpPr>
          <p:spPr>
            <a:xfrm>
              <a:off x="0" y="254459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varastointi uudelleenkäyttöön ja suorituksen hallinta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Testauksen aikaiset muistiinpanot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Kaupalliset ja avoimen lähdekoodin vaihtoehdot</a:t>
              </a:r>
              <a:endParaRPr b="0" i="0" sz="900" u="none" cap="none" strike="noStrike">
                <a:solidFill>
                  <a:schemeClr val="dk1"/>
                </a:solidFill>
                <a:latin typeface="Gill Sans"/>
                <a:ea typeface="Gill Sans"/>
                <a:cs typeface="Gill Sans"/>
                <a:sym typeface="Gill Sans"/>
              </a:endParaRPr>
            </a:p>
          </p:txBody>
        </p:sp>
        <p:sp>
          <p:nvSpPr>
            <p:cNvPr id="993" name="Google Shape;993;p55"/>
            <p:cNvSpPr/>
            <p:nvPr/>
          </p:nvSpPr>
          <p:spPr>
            <a:xfrm>
              <a:off x="0" y="3004131"/>
              <a:ext cx="5987008" cy="287819"/>
            </a:xfrm>
            <a:prstGeom prst="roundRect">
              <a:avLst>
                <a:gd fmla="val 16667" name="adj"/>
              </a:avLst>
            </a:prstGeom>
            <a:solidFill>
              <a:srgbClr val="767B8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5"/>
            <p:cNvSpPr txBox="1"/>
            <p:nvPr/>
          </p:nvSpPr>
          <p:spPr>
            <a:xfrm>
              <a:off x="14050" y="301818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Testaustyömaan ymmärtämisestä testitapausten tehokäyttöön</a:t>
              </a:r>
              <a:endParaRPr sz="1200">
                <a:solidFill>
                  <a:schemeClr val="lt1"/>
                </a:solidFill>
                <a:latin typeface="Gill Sans"/>
                <a:ea typeface="Gill Sans"/>
                <a:cs typeface="Gill Sans"/>
                <a:sym typeface="Gill Sans"/>
              </a:endParaRPr>
            </a:p>
          </p:txBody>
        </p:sp>
        <p:sp>
          <p:nvSpPr>
            <p:cNvPr id="995" name="Google Shape;995;p55"/>
            <p:cNvSpPr/>
            <p:nvPr/>
          </p:nvSpPr>
          <p:spPr>
            <a:xfrm>
              <a:off x="0" y="3291951"/>
              <a:ext cx="5987008" cy="62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55"/>
            <p:cNvSpPr txBox="1"/>
            <p:nvPr/>
          </p:nvSpPr>
          <p:spPr>
            <a:xfrm>
              <a:off x="0" y="3291951"/>
              <a:ext cx="5987008" cy="6210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Karkea osittaminen ennen yksityiskohtien suunnittelua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muuntelu testatessa: lisää / poista / toista / vaihda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tekemä testaus suhteessa muuhun testaukseen (yksikkötestit, tekninen testiautomaatio)</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priorisointi suoritusjärjestykseksi</a:t>
              </a:r>
              <a:endParaRPr b="0" i="0" sz="900" u="none" cap="none" strike="noStrike">
                <a:solidFill>
                  <a:schemeClr val="dk1"/>
                </a:solidFill>
                <a:latin typeface="Gill Sans"/>
                <a:ea typeface="Gill Sans"/>
                <a:cs typeface="Gill Sans"/>
                <a:sym typeface="Gill Sans"/>
              </a:endParaRPr>
            </a:p>
          </p:txBody>
        </p:sp>
        <p:sp>
          <p:nvSpPr>
            <p:cNvPr id="997" name="Google Shape;997;p55"/>
            <p:cNvSpPr/>
            <p:nvPr/>
          </p:nvSpPr>
          <p:spPr>
            <a:xfrm>
              <a:off x="0" y="391295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5"/>
            <p:cNvSpPr txBox="1"/>
            <p:nvPr/>
          </p:nvSpPr>
          <p:spPr>
            <a:xfrm>
              <a:off x="14050" y="39270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Testitapaukset testaustyön jakamisessa useille testaajille</a:t>
              </a:r>
              <a:endParaRPr sz="1200">
                <a:solidFill>
                  <a:schemeClr val="lt1"/>
                </a:solidFill>
                <a:latin typeface="Gill Sans"/>
                <a:ea typeface="Gill Sans"/>
                <a:cs typeface="Gill Sans"/>
                <a:sym typeface="Gill Sans"/>
              </a:endParaRPr>
            </a:p>
          </p:txBody>
        </p:sp>
        <p:sp>
          <p:nvSpPr>
            <p:cNvPr id="999" name="Google Shape;999;p55"/>
            <p:cNvSpPr/>
            <p:nvPr/>
          </p:nvSpPr>
          <p:spPr>
            <a:xfrm>
              <a:off x="0" y="4200771"/>
              <a:ext cx="5987008" cy="31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55"/>
            <p:cNvSpPr txBox="1"/>
            <p:nvPr/>
          </p:nvSpPr>
          <p:spPr>
            <a:xfrm>
              <a:off x="0" y="4200771"/>
              <a:ext cx="5987008" cy="3105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1: Testaustyömaan hallinta vakuutussektorin hyväksymistestauksessa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2: Testaustyömaan hallinta ketterässä tuotekehitystiimissä</a:t>
              </a:r>
              <a:endParaRPr b="0" i="0" sz="900" u="none" cap="none" strike="noStrike">
                <a:solidFill>
                  <a:schemeClr val="dk1"/>
                </a:solidFill>
                <a:latin typeface="Gill Sans"/>
                <a:ea typeface="Gill Sans"/>
                <a:cs typeface="Gill Sans"/>
                <a:sym typeface="Gill Sans"/>
              </a:endParaRPr>
            </a:p>
          </p:txBody>
        </p:sp>
      </p:grpSp>
      <p:sp>
        <p:nvSpPr>
          <p:cNvPr id="1001" name="Google Shape;1001;p55"/>
          <p:cNvSpPr/>
          <p:nvPr/>
        </p:nvSpPr>
        <p:spPr>
          <a:xfrm>
            <a:off x="929296" y="4096496"/>
            <a:ext cx="474352" cy="484632"/>
          </a:xfrm>
          <a:prstGeom prst="rightArrow">
            <a:avLst>
              <a:gd fmla="val 50000" name="adj1"/>
              <a:gd fmla="val 50000" name="adj2"/>
            </a:avLst>
          </a:prstGeom>
          <a:solidFill>
            <a:schemeClr val="dk1"/>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02" name="Google Shape;1002;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Testien hallinnan välineet</a:t>
            </a:r>
            <a:endParaRPr/>
          </a:p>
        </p:txBody>
      </p:sp>
      <p:sp>
        <p:nvSpPr>
          <p:cNvPr id="1008" name="Google Shape;1008;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fi-FI"/>
              <a:t>Eriävät peruslähtökohdat</a:t>
            </a:r>
            <a:endParaRPr/>
          </a:p>
          <a:p>
            <a:pPr indent="-285750" lvl="1" marL="742950" rtl="0" algn="l">
              <a:spcBef>
                <a:spcPts val="560"/>
              </a:spcBef>
              <a:spcAft>
                <a:spcPts val="0"/>
              </a:spcAft>
              <a:buClr>
                <a:schemeClr val="dk1"/>
              </a:buClr>
              <a:buSzPts val="2800"/>
              <a:buChar char="–"/>
            </a:pPr>
            <a:r>
              <a:rPr lang="fi-FI"/>
              <a:t>Testitapausten varastointi uudelleenkäyttöön ja suorituksen hallinta</a:t>
            </a:r>
            <a:endParaRPr/>
          </a:p>
          <a:p>
            <a:pPr indent="-285750" lvl="1" marL="742950" rtl="0" algn="l">
              <a:spcBef>
                <a:spcPts val="560"/>
              </a:spcBef>
              <a:spcAft>
                <a:spcPts val="0"/>
              </a:spcAft>
              <a:buClr>
                <a:schemeClr val="dk1"/>
              </a:buClr>
              <a:buSzPts val="2800"/>
              <a:buChar char="–"/>
            </a:pPr>
            <a:r>
              <a:rPr lang="fi-FI"/>
              <a:t>Testauksen aikaiset muistiinpanot</a:t>
            </a:r>
            <a:endParaRPr/>
          </a:p>
        </p:txBody>
      </p:sp>
      <p:sp>
        <p:nvSpPr>
          <p:cNvPr id="1009" name="Google Shape;1009;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1010" name="Google Shape;1010;p56"/>
          <p:cNvSpPr/>
          <p:nvPr/>
        </p:nvSpPr>
        <p:spPr>
          <a:xfrm>
            <a:off x="4788024" y="3861048"/>
            <a:ext cx="3096344" cy="1800200"/>
          </a:xfrm>
          <a:prstGeom prst="roundRect">
            <a:avLst>
              <a:gd fmla="val 16667" name="adj"/>
            </a:avLst>
          </a:prstGeom>
          <a:solidFill>
            <a:schemeClr val="accent1"/>
          </a:solidFill>
          <a:ln cap="flat" cmpd="sng" w="25400">
            <a:solidFill>
              <a:srgbClr val="B96128"/>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1800">
                <a:solidFill>
                  <a:schemeClr val="lt1"/>
                </a:solidFill>
                <a:latin typeface="Gill Sans"/>
                <a:ea typeface="Gill Sans"/>
                <a:cs typeface="Gill Sans"/>
                <a:sym typeface="Gill Sans"/>
              </a:rPr>
              <a:t>Tutkiva testaus</a:t>
            </a:r>
            <a:r>
              <a:rPr lang="fi-FI" sz="1800">
                <a:solidFill>
                  <a:schemeClr val="lt1"/>
                </a:solidFill>
                <a:latin typeface="Gill Sans"/>
                <a:ea typeface="Gill Sans"/>
                <a:cs typeface="Gill Sans"/>
                <a:sym typeface="Gill Sans"/>
              </a:rPr>
              <a:t> </a:t>
            </a:r>
            <a:endParaRPr/>
          </a:p>
          <a:p>
            <a:pPr indent="-114300" lvl="0" marL="0" marR="0" rtl="0" algn="ctr">
              <a:spcBef>
                <a:spcPts val="0"/>
              </a:spcBef>
              <a:spcAft>
                <a:spcPts val="0"/>
              </a:spcAft>
              <a:buClr>
                <a:schemeClr val="lt1"/>
              </a:buClr>
              <a:buSzPts val="1800"/>
              <a:buFont typeface="Noto Sans Symbols"/>
              <a:buChar char="⇒"/>
            </a:pPr>
            <a:r>
              <a:rPr lang="fi-FI" sz="1800">
                <a:solidFill>
                  <a:schemeClr val="lt1"/>
                </a:solidFill>
                <a:latin typeface="Gill Sans"/>
                <a:ea typeface="Gill Sans"/>
                <a:cs typeface="Gill Sans"/>
                <a:sym typeface="Gill Sans"/>
              </a:rPr>
              <a:t>Testitapaukset testauksen tuloksena</a:t>
            </a:r>
            <a:endParaRPr/>
          </a:p>
          <a:p>
            <a:pPr indent="-114300" lvl="0" marL="0" marR="0" rtl="0" algn="ctr">
              <a:spcBef>
                <a:spcPts val="0"/>
              </a:spcBef>
              <a:spcAft>
                <a:spcPts val="0"/>
              </a:spcAft>
              <a:buClr>
                <a:schemeClr val="lt1"/>
              </a:buClr>
              <a:buSzPts val="1800"/>
              <a:buFont typeface="Noto Sans Symbols"/>
              <a:buChar char="⇒"/>
            </a:pPr>
            <a:r>
              <a:rPr lang="fi-FI" sz="1800">
                <a:solidFill>
                  <a:schemeClr val="lt1"/>
                </a:solidFill>
                <a:latin typeface="Gill Sans"/>
                <a:ea typeface="Gill Sans"/>
                <a:cs typeface="Gill Sans"/>
                <a:sym typeface="Gill Sans"/>
              </a:rPr>
              <a:t> Kaikkia ei dokumentoida</a:t>
            </a:r>
            <a:endParaRPr sz="1800">
              <a:solidFill>
                <a:schemeClr val="lt1"/>
              </a:solidFill>
              <a:latin typeface="Gill Sans"/>
              <a:ea typeface="Gill Sans"/>
              <a:cs typeface="Gill Sans"/>
              <a:sym typeface="Gill Sans"/>
            </a:endParaRPr>
          </a:p>
        </p:txBody>
      </p:sp>
      <p:sp>
        <p:nvSpPr>
          <p:cNvPr id="1011" name="Google Shape;1011;p56"/>
          <p:cNvSpPr/>
          <p:nvPr/>
        </p:nvSpPr>
        <p:spPr>
          <a:xfrm>
            <a:off x="1331640" y="3861048"/>
            <a:ext cx="3096344" cy="1800200"/>
          </a:xfrm>
          <a:prstGeom prst="roundRect">
            <a:avLst>
              <a:gd fmla="val 16667" name="adj"/>
            </a:avLst>
          </a:prstGeom>
          <a:solidFill>
            <a:schemeClr val="accent1"/>
          </a:solidFill>
          <a:ln cap="flat" cmpd="sng" w="25400">
            <a:solidFill>
              <a:srgbClr val="B96128"/>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1800">
                <a:solidFill>
                  <a:schemeClr val="lt1"/>
                </a:solidFill>
                <a:latin typeface="Gill Sans"/>
                <a:ea typeface="Gill Sans"/>
                <a:cs typeface="Gill Sans"/>
                <a:sym typeface="Gill Sans"/>
              </a:rPr>
              <a:t>Skriptattu testaus</a:t>
            </a:r>
            <a:endParaRPr sz="1800">
              <a:solidFill>
                <a:schemeClr val="lt1"/>
              </a:solidFill>
              <a:latin typeface="Gill Sans"/>
              <a:ea typeface="Gill Sans"/>
              <a:cs typeface="Gill Sans"/>
              <a:sym typeface="Gill Sans"/>
            </a:endParaRPr>
          </a:p>
          <a:p>
            <a:pPr indent="-114300" lvl="0" marL="0" marR="0" rtl="0" algn="ctr">
              <a:spcBef>
                <a:spcPts val="0"/>
              </a:spcBef>
              <a:spcAft>
                <a:spcPts val="0"/>
              </a:spcAft>
              <a:buClr>
                <a:schemeClr val="lt1"/>
              </a:buClr>
              <a:buSzPts val="1800"/>
              <a:buFont typeface="Noto Sans Symbols"/>
              <a:buChar char="⇒"/>
            </a:pPr>
            <a:r>
              <a:rPr lang="fi-FI" sz="1800">
                <a:solidFill>
                  <a:schemeClr val="lt1"/>
                </a:solidFill>
                <a:latin typeface="Gill Sans"/>
                <a:ea typeface="Gill Sans"/>
                <a:cs typeface="Gill Sans"/>
                <a:sym typeface="Gill Sans"/>
              </a:rPr>
              <a:t>Testitapaukset testauksen syötteenä</a:t>
            </a:r>
            <a:endParaRPr/>
          </a:p>
          <a:p>
            <a:pPr indent="-114300" lvl="0" marL="0" marR="0" rtl="0" algn="ctr">
              <a:spcBef>
                <a:spcPts val="0"/>
              </a:spcBef>
              <a:spcAft>
                <a:spcPts val="0"/>
              </a:spcAft>
              <a:buClr>
                <a:schemeClr val="lt1"/>
              </a:buClr>
              <a:buSzPts val="1800"/>
              <a:buFont typeface="Noto Sans Symbols"/>
              <a:buChar char="⇒"/>
            </a:pPr>
            <a:r>
              <a:rPr lang="fi-FI" sz="1800">
                <a:solidFill>
                  <a:schemeClr val="lt1"/>
                </a:solidFill>
                <a:latin typeface="Gill Sans"/>
                <a:ea typeface="Gill Sans"/>
                <a:cs typeface="Gill Sans"/>
                <a:sym typeface="Gill Sans"/>
              </a:rPr>
              <a:t> Dokumentointi on valmistelua</a:t>
            </a:r>
            <a:endParaRPr sz="1800">
              <a:solidFill>
                <a:schemeClr val="lt1"/>
              </a:solidFill>
              <a:latin typeface="Gill Sans"/>
              <a:ea typeface="Gill Sans"/>
              <a:cs typeface="Gill Sans"/>
              <a:sym typeface="Gill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57"/>
          <p:cNvSpPr txBox="1"/>
          <p:nvPr>
            <p:ph type="title"/>
          </p:nvPr>
        </p:nvSpPr>
        <p:spPr>
          <a:xfrm>
            <a:off x="508000" y="152400"/>
            <a:ext cx="7232650" cy="1600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Testitapaus testaushallinnan välineissä</a:t>
            </a:r>
            <a:endParaRPr/>
          </a:p>
        </p:txBody>
      </p:sp>
      <p:sp>
        <p:nvSpPr>
          <p:cNvPr id="1018" name="Google Shape;1018;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fi-FI" sz="2400"/>
              <a:t>Antavat mallipohjan jota voi käyttää monella tapaa</a:t>
            </a:r>
            <a:endParaRPr/>
          </a:p>
          <a:p>
            <a:pPr indent="-285750" lvl="1" marL="742950" rtl="0" algn="l">
              <a:spcBef>
                <a:spcPts val="400"/>
              </a:spcBef>
              <a:spcAft>
                <a:spcPts val="0"/>
              </a:spcAft>
              <a:buClr>
                <a:schemeClr val="dk1"/>
              </a:buClr>
              <a:buSzPts val="2000"/>
              <a:buChar char="–"/>
            </a:pPr>
            <a:r>
              <a:rPr lang="fi-FI" sz="2000"/>
              <a:t>Testitapaus</a:t>
            </a:r>
            <a:endParaRPr/>
          </a:p>
          <a:p>
            <a:pPr indent="-285750" lvl="1" marL="742950" rtl="0" algn="l">
              <a:spcBef>
                <a:spcPts val="400"/>
              </a:spcBef>
              <a:spcAft>
                <a:spcPts val="0"/>
              </a:spcAft>
              <a:buClr>
                <a:schemeClr val="dk1"/>
              </a:buClr>
              <a:buSzPts val="2000"/>
              <a:buChar char="–"/>
            </a:pPr>
            <a:r>
              <a:rPr lang="fi-FI" sz="2000"/>
              <a:t>Askeleet</a:t>
            </a:r>
            <a:endParaRPr/>
          </a:p>
          <a:p>
            <a:pPr indent="-285750" lvl="1" marL="742950" rtl="0" algn="l">
              <a:spcBef>
                <a:spcPts val="400"/>
              </a:spcBef>
              <a:spcAft>
                <a:spcPts val="0"/>
              </a:spcAft>
              <a:buClr>
                <a:schemeClr val="dk1"/>
              </a:buClr>
              <a:buSzPts val="2000"/>
              <a:buChar char="–"/>
            </a:pPr>
            <a:r>
              <a:rPr lang="fi-FI" sz="2000"/>
              <a:t>Odotetut tulokset kullakin askeleella</a:t>
            </a:r>
            <a:endParaRPr/>
          </a:p>
          <a:p>
            <a:pPr indent="-342900" lvl="0" marL="342900" rtl="0" algn="l">
              <a:spcBef>
                <a:spcPts val="480"/>
              </a:spcBef>
              <a:spcAft>
                <a:spcPts val="0"/>
              </a:spcAft>
              <a:buClr>
                <a:schemeClr val="dk1"/>
              </a:buClr>
              <a:buSzPts val="2400"/>
              <a:buChar char="•"/>
            </a:pPr>
            <a:r>
              <a:rPr lang="fi-FI" sz="2400"/>
              <a:t>Tasapaino: dokumentaation aukottomuus vs. testaamisen tuki</a:t>
            </a:r>
            <a:endParaRPr/>
          </a:p>
          <a:p>
            <a:pPr indent="-342900" lvl="0" marL="342900" rtl="0" algn="l">
              <a:spcBef>
                <a:spcPts val="480"/>
              </a:spcBef>
              <a:spcAft>
                <a:spcPts val="0"/>
              </a:spcAft>
              <a:buClr>
                <a:schemeClr val="dk1"/>
              </a:buClr>
              <a:buSzPts val="2400"/>
              <a:buChar char="•"/>
            </a:pPr>
            <a:r>
              <a:rPr lang="fi-FI" sz="2400"/>
              <a:t>Kokemukseni: työkalu mallipohjana johtaa helposti heikkoihin testitapauksiin</a:t>
            </a:r>
            <a:endParaRPr/>
          </a:p>
        </p:txBody>
      </p:sp>
      <p:sp>
        <p:nvSpPr>
          <p:cNvPr id="1019" name="Google Shape;1019;p57"/>
          <p:cNvSpPr/>
          <p:nvPr/>
        </p:nvSpPr>
        <p:spPr>
          <a:xfrm>
            <a:off x="2133600" y="5108575"/>
            <a:ext cx="4800600" cy="981075"/>
          </a:xfrm>
          <a:prstGeom prst="rect">
            <a:avLst/>
          </a:prstGeom>
          <a:solidFill>
            <a:schemeClr val="lt1"/>
          </a:solidFill>
          <a:ln cap="flat" cmpd="sng" w="12700">
            <a:solidFill>
              <a:schemeClr val="accent2"/>
            </a:solidFill>
            <a:prstDash val="solid"/>
            <a:miter lim="800000"/>
            <a:headEnd len="sm" w="sm" type="none"/>
            <a:tailEnd len="sm" w="sm" type="none"/>
          </a:ln>
          <a:effectLst>
            <a:outerShdw rotWithShape="0" algn="ctr" dir="18900000" dist="107763">
              <a:schemeClr val="lt2"/>
            </a:outerShdw>
          </a:effectLst>
        </p:spPr>
        <p:txBody>
          <a:bodyPr anchorCtr="0" anchor="t" bIns="46800" lIns="90000" spcFirstLastPara="1" rIns="90000" wrap="square" tIns="46800">
            <a:spAutoFit/>
          </a:bodyPr>
          <a:lstStyle/>
          <a:p>
            <a:pPr indent="0" lvl="0" marL="0" marR="0" rtl="0" algn="ctr">
              <a:lnSpc>
                <a:spcPct val="120000"/>
              </a:lnSpc>
              <a:spcBef>
                <a:spcPts val="0"/>
              </a:spcBef>
              <a:spcAft>
                <a:spcPts val="0"/>
              </a:spcAft>
              <a:buClr>
                <a:schemeClr val="dk1"/>
              </a:buClr>
              <a:buSzPts val="2400"/>
              <a:buFont typeface="Times"/>
              <a:buNone/>
            </a:pPr>
            <a:r>
              <a:rPr lang="fi-FI" sz="2400">
                <a:solidFill>
                  <a:schemeClr val="dk1"/>
                </a:solidFill>
                <a:latin typeface="Gill Sans"/>
                <a:ea typeface="Gill Sans"/>
                <a:cs typeface="Gill Sans"/>
                <a:sym typeface="Gill Sans"/>
              </a:rPr>
              <a:t>Pidä huolta että työkalu palvelee prosessia, ei päin vastoin. </a:t>
            </a:r>
            <a:endParaRPr/>
          </a:p>
        </p:txBody>
      </p:sp>
      <p:sp>
        <p:nvSpPr>
          <p:cNvPr id="1020" name="Google Shape;1020;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58"/>
          <p:cNvSpPr txBox="1"/>
          <p:nvPr>
            <p:ph type="title"/>
          </p:nvPr>
        </p:nvSpPr>
        <p:spPr>
          <a:xfrm>
            <a:off x="685800" y="400050"/>
            <a:ext cx="6870700" cy="1600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sz="4000"/>
              <a:t>Esimerkki: “Testihallinnan väline” voi olla jotain näinkin yksinkertaista</a:t>
            </a:r>
            <a:endParaRPr/>
          </a:p>
        </p:txBody>
      </p:sp>
      <p:sp>
        <p:nvSpPr>
          <p:cNvPr id="1027" name="Google Shape;1027;p58"/>
          <p:cNvSpPr txBox="1"/>
          <p:nvPr>
            <p:ph idx="1" type="body"/>
          </p:nvPr>
        </p:nvSpPr>
        <p:spPr>
          <a:xfrm>
            <a:off x="685800" y="2076450"/>
            <a:ext cx="7696200" cy="3657600"/>
          </a:xfrm>
          <a:prstGeom prst="rect">
            <a:avLst/>
          </a:prstGeom>
          <a:noFill/>
          <a:ln>
            <a:noFill/>
          </a:ln>
        </p:spPr>
        <p:txBody>
          <a:bodyPr anchorCtr="0" anchor="t" bIns="45700" lIns="91425" spcFirstLastPara="1" rIns="91425" wrap="square" tIns="45700">
            <a:normAutofit/>
          </a:bodyPr>
          <a:lstStyle/>
          <a:p>
            <a:pPr indent="-203200" lvl="0" marL="0" rtl="0" algn="l">
              <a:spcBef>
                <a:spcPts val="0"/>
              </a:spcBef>
              <a:spcAft>
                <a:spcPts val="0"/>
              </a:spcAft>
              <a:buClr>
                <a:schemeClr val="dk1"/>
              </a:buClr>
              <a:buSzPts val="3200"/>
              <a:buChar char="•"/>
            </a:pPr>
            <a:r>
              <a:rPr lang="fi-FI"/>
              <a:t>Demo: Testimäärittely, testiloki, koontiversiot</a:t>
            </a:r>
            <a:endParaRPr/>
          </a:p>
        </p:txBody>
      </p:sp>
      <p:pic>
        <p:nvPicPr>
          <p:cNvPr id="1028" name="Google Shape;1028;p58"/>
          <p:cNvPicPr preferRelativeResize="0"/>
          <p:nvPr/>
        </p:nvPicPr>
        <p:blipFill rotWithShape="1">
          <a:blip r:embed="rId3">
            <a:alphaModFix/>
          </a:blip>
          <a:srcRect b="0" l="0" r="0" t="0"/>
          <a:stretch/>
        </p:blipFill>
        <p:spPr>
          <a:xfrm>
            <a:off x="5638800" y="2895600"/>
            <a:ext cx="2924175" cy="2192338"/>
          </a:xfrm>
          <a:prstGeom prst="rect">
            <a:avLst/>
          </a:prstGeom>
          <a:noFill/>
          <a:ln>
            <a:noFill/>
          </a:ln>
        </p:spPr>
      </p:pic>
      <p:pic>
        <p:nvPicPr>
          <p:cNvPr id="1029" name="Google Shape;1029;p58"/>
          <p:cNvPicPr preferRelativeResize="0"/>
          <p:nvPr/>
        </p:nvPicPr>
        <p:blipFill rotWithShape="1">
          <a:blip r:embed="rId4">
            <a:alphaModFix/>
          </a:blip>
          <a:srcRect b="0" l="0" r="0" t="0"/>
          <a:stretch/>
        </p:blipFill>
        <p:spPr>
          <a:xfrm>
            <a:off x="2195513" y="4183063"/>
            <a:ext cx="3017837" cy="2051050"/>
          </a:xfrm>
          <a:prstGeom prst="rect">
            <a:avLst/>
          </a:prstGeom>
          <a:noFill/>
          <a:ln>
            <a:noFill/>
          </a:ln>
        </p:spPr>
      </p:pic>
      <p:sp>
        <p:nvSpPr>
          <p:cNvPr id="1030" name="Google Shape;103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Esimerkki: Quality Center</a:t>
            </a:r>
            <a:endParaRPr/>
          </a:p>
        </p:txBody>
      </p:sp>
      <p:sp>
        <p:nvSpPr>
          <p:cNvPr id="1037" name="Google Shape;1037;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fi-FI" sz="2400"/>
              <a:t>Jakaantuu useisiin toiminnallisiin osiin:</a:t>
            </a:r>
            <a:endParaRPr/>
          </a:p>
          <a:p>
            <a:pPr indent="-285750" lvl="1" marL="742950" rtl="0" algn="l">
              <a:spcBef>
                <a:spcPts val="400"/>
              </a:spcBef>
              <a:spcAft>
                <a:spcPts val="0"/>
              </a:spcAft>
              <a:buClr>
                <a:schemeClr val="dk1"/>
              </a:buClr>
              <a:buSzPts val="2000"/>
              <a:buChar char="–"/>
            </a:pPr>
            <a:r>
              <a:rPr lang="fi-FI" sz="2000"/>
              <a:t>julkaisujenhallinta (Releases) </a:t>
            </a:r>
            <a:r>
              <a:rPr lang="fi-FI" sz="2000">
                <a:solidFill>
                  <a:srgbClr val="969696"/>
                </a:solidFill>
              </a:rPr>
              <a:t>*uusi</a:t>
            </a:r>
            <a:endParaRPr/>
          </a:p>
          <a:p>
            <a:pPr indent="-285750" lvl="1" marL="742950" rtl="0" algn="l">
              <a:spcBef>
                <a:spcPts val="400"/>
              </a:spcBef>
              <a:spcAft>
                <a:spcPts val="0"/>
              </a:spcAft>
              <a:buClr>
                <a:schemeClr val="dk1"/>
              </a:buClr>
              <a:buSzPts val="2000"/>
              <a:buChar char="–"/>
            </a:pPr>
            <a:r>
              <a:rPr lang="fi-FI" sz="2000"/>
              <a:t>vaatimustenhallinta (Requirements)</a:t>
            </a:r>
            <a:endParaRPr/>
          </a:p>
          <a:p>
            <a:pPr indent="-285750" lvl="1" marL="742950" rtl="0" algn="l">
              <a:spcBef>
                <a:spcPts val="400"/>
              </a:spcBef>
              <a:spcAft>
                <a:spcPts val="0"/>
              </a:spcAft>
              <a:buClr>
                <a:schemeClr val="dk1"/>
              </a:buClr>
              <a:buSzPts val="2000"/>
              <a:buChar char="–"/>
            </a:pPr>
            <a:r>
              <a:rPr lang="fi-FI" sz="2000"/>
              <a:t>testauksen suunnittelu (Test Plan)</a:t>
            </a:r>
            <a:endParaRPr/>
          </a:p>
          <a:p>
            <a:pPr indent="-285750" lvl="1" marL="742950" rtl="0" algn="l">
              <a:spcBef>
                <a:spcPts val="400"/>
              </a:spcBef>
              <a:spcAft>
                <a:spcPts val="0"/>
              </a:spcAft>
              <a:buClr>
                <a:schemeClr val="dk1"/>
              </a:buClr>
              <a:buSzPts val="2000"/>
              <a:buChar char="–"/>
            </a:pPr>
            <a:r>
              <a:rPr lang="fi-FI" sz="2000"/>
              <a:t>testauksen suoritus (Test Lab)</a:t>
            </a:r>
            <a:endParaRPr/>
          </a:p>
          <a:p>
            <a:pPr indent="-285750" lvl="1" marL="742950" rtl="0" algn="l">
              <a:spcBef>
                <a:spcPts val="400"/>
              </a:spcBef>
              <a:spcAft>
                <a:spcPts val="0"/>
              </a:spcAft>
              <a:buClr>
                <a:schemeClr val="dk1"/>
              </a:buClr>
              <a:buSzPts val="2000"/>
              <a:buChar char="–"/>
            </a:pPr>
            <a:r>
              <a:rPr lang="fi-FI" sz="2000"/>
              <a:t>havaintojen hallinta (Defects)</a:t>
            </a:r>
            <a:endParaRPr/>
          </a:p>
          <a:p>
            <a:pPr indent="-342900" lvl="0" marL="342900" rtl="0" algn="l">
              <a:spcBef>
                <a:spcPts val="480"/>
              </a:spcBef>
              <a:spcAft>
                <a:spcPts val="0"/>
              </a:spcAft>
              <a:buClr>
                <a:schemeClr val="dk1"/>
              </a:buClr>
              <a:buSzPts val="2400"/>
              <a:buChar char="•"/>
            </a:pPr>
            <a:r>
              <a:rPr lang="fi-FI" sz="2400"/>
              <a:t>Kokoaa kaiken testausdokumentaation keskitettyyn tietokantaan</a:t>
            </a:r>
            <a:endParaRPr/>
          </a:p>
          <a:p>
            <a:pPr indent="-342900" lvl="0" marL="342900" rtl="0" algn="l">
              <a:spcBef>
                <a:spcPts val="480"/>
              </a:spcBef>
              <a:spcAft>
                <a:spcPts val="0"/>
              </a:spcAft>
              <a:buClr>
                <a:schemeClr val="dk1"/>
              </a:buClr>
              <a:buSzPts val="2400"/>
              <a:buChar char="•"/>
            </a:pPr>
            <a:r>
              <a:rPr lang="fi-FI" sz="2400"/>
              <a:t>Tarjoaa raportteja aineistoon perustuen</a:t>
            </a:r>
            <a:endParaRPr sz="2400"/>
          </a:p>
          <a:p>
            <a:pPr indent="-158750" lvl="1" marL="742950" rtl="0" algn="l">
              <a:spcBef>
                <a:spcPts val="400"/>
              </a:spcBef>
              <a:spcAft>
                <a:spcPts val="0"/>
              </a:spcAft>
              <a:buClr>
                <a:schemeClr val="dk1"/>
              </a:buClr>
              <a:buSzPts val="2000"/>
              <a:buNone/>
            </a:pPr>
            <a:r>
              <a:t/>
            </a:r>
            <a:endParaRPr sz="2000"/>
          </a:p>
        </p:txBody>
      </p:sp>
      <p:sp>
        <p:nvSpPr>
          <p:cNvPr id="1038" name="Google Shape;1038;p59"/>
          <p:cNvSpPr txBox="1"/>
          <p:nvPr/>
        </p:nvSpPr>
        <p:spPr>
          <a:xfrm>
            <a:off x="2484438" y="5445125"/>
            <a:ext cx="5903912" cy="1190625"/>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Useita kilpailevia kaupallisia testitapausten hallinnan välineitä. Henkilökohtaisesti en ole vielä kohdannut yhtään jonka käytöstä pitäisin eli uskoisin sen kohtuullisesti auttavan hyvää testausta. </a:t>
            </a:r>
            <a:endParaRPr sz="1800">
              <a:solidFill>
                <a:schemeClr val="lt1"/>
              </a:solidFill>
              <a:latin typeface="Gill Sans"/>
              <a:ea typeface="Gill Sans"/>
              <a:cs typeface="Gill Sans"/>
              <a:sym typeface="Gill Sans"/>
            </a:endParaRPr>
          </a:p>
        </p:txBody>
      </p:sp>
      <p:sp>
        <p:nvSpPr>
          <p:cNvPr id="1039" name="Google Shape;103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Rakenteissa riittää pohdittavaa</a:t>
            </a:r>
            <a:endParaRPr/>
          </a:p>
        </p:txBody>
      </p:sp>
      <p:sp>
        <p:nvSpPr>
          <p:cNvPr id="1046" name="Google Shape;1046;p60"/>
          <p:cNvSpPr txBox="1"/>
          <p:nvPr/>
        </p:nvSpPr>
        <p:spPr>
          <a:xfrm>
            <a:off x="323850" y="1844675"/>
            <a:ext cx="2232025"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Arial"/>
                <a:ea typeface="Arial"/>
                <a:cs typeface="Arial"/>
                <a:sym typeface="Arial"/>
              </a:rPr>
              <a:t>REQUIREMENTS</a:t>
            </a:r>
            <a:endParaRPr sz="1800">
              <a:solidFill>
                <a:schemeClr val="dk1"/>
              </a:solidFill>
              <a:latin typeface="Arial"/>
              <a:ea typeface="Arial"/>
              <a:cs typeface="Arial"/>
              <a:sym typeface="Arial"/>
            </a:endParaRPr>
          </a:p>
        </p:txBody>
      </p:sp>
      <p:sp>
        <p:nvSpPr>
          <p:cNvPr id="1047" name="Google Shape;1047;p60"/>
          <p:cNvSpPr txBox="1"/>
          <p:nvPr/>
        </p:nvSpPr>
        <p:spPr>
          <a:xfrm>
            <a:off x="3276600" y="1844675"/>
            <a:ext cx="2232025"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Arial"/>
                <a:ea typeface="Arial"/>
                <a:cs typeface="Arial"/>
                <a:sym typeface="Arial"/>
              </a:rPr>
              <a:t>TEST PLAN</a:t>
            </a:r>
            <a:endParaRPr sz="1800">
              <a:solidFill>
                <a:schemeClr val="dk1"/>
              </a:solidFill>
              <a:latin typeface="Arial"/>
              <a:ea typeface="Arial"/>
              <a:cs typeface="Arial"/>
              <a:sym typeface="Arial"/>
            </a:endParaRPr>
          </a:p>
        </p:txBody>
      </p:sp>
      <p:sp>
        <p:nvSpPr>
          <p:cNvPr id="1048" name="Google Shape;1048;p60"/>
          <p:cNvSpPr txBox="1"/>
          <p:nvPr/>
        </p:nvSpPr>
        <p:spPr>
          <a:xfrm>
            <a:off x="5795963" y="1844675"/>
            <a:ext cx="2232025"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Arial"/>
                <a:ea typeface="Arial"/>
                <a:cs typeface="Arial"/>
                <a:sym typeface="Arial"/>
              </a:rPr>
              <a:t>TEST LAB</a:t>
            </a:r>
            <a:endParaRPr sz="1800">
              <a:solidFill>
                <a:schemeClr val="dk1"/>
              </a:solidFill>
              <a:latin typeface="Arial"/>
              <a:ea typeface="Arial"/>
              <a:cs typeface="Arial"/>
              <a:sym typeface="Arial"/>
            </a:endParaRPr>
          </a:p>
        </p:txBody>
      </p:sp>
      <p:cxnSp>
        <p:nvCxnSpPr>
          <p:cNvPr id="1049" name="Google Shape;1049;p60"/>
          <p:cNvCxnSpPr/>
          <p:nvPr/>
        </p:nvCxnSpPr>
        <p:spPr>
          <a:xfrm>
            <a:off x="2916238" y="1700213"/>
            <a:ext cx="0" cy="4608512"/>
          </a:xfrm>
          <a:prstGeom prst="straightConnector1">
            <a:avLst/>
          </a:prstGeom>
          <a:noFill/>
          <a:ln cap="rnd" cmpd="sng" w="9525">
            <a:solidFill>
              <a:srgbClr val="FF3300"/>
            </a:solidFill>
            <a:prstDash val="dot"/>
            <a:round/>
            <a:headEnd len="med" w="med" type="none"/>
            <a:tailEnd len="med" w="med" type="none"/>
          </a:ln>
        </p:spPr>
      </p:cxnSp>
      <p:cxnSp>
        <p:nvCxnSpPr>
          <p:cNvPr id="1050" name="Google Shape;1050;p60"/>
          <p:cNvCxnSpPr/>
          <p:nvPr/>
        </p:nvCxnSpPr>
        <p:spPr>
          <a:xfrm>
            <a:off x="5940425" y="1700213"/>
            <a:ext cx="0" cy="4608512"/>
          </a:xfrm>
          <a:prstGeom prst="straightConnector1">
            <a:avLst/>
          </a:prstGeom>
          <a:noFill/>
          <a:ln cap="rnd" cmpd="sng" w="9525">
            <a:solidFill>
              <a:srgbClr val="FF3300"/>
            </a:solidFill>
            <a:prstDash val="dot"/>
            <a:round/>
            <a:headEnd len="med" w="med" type="none"/>
            <a:tailEnd len="med" w="med" type="none"/>
          </a:ln>
        </p:spPr>
      </p:cxnSp>
      <p:grpSp>
        <p:nvGrpSpPr>
          <p:cNvPr id="1051" name="Google Shape;1051;p60"/>
          <p:cNvGrpSpPr/>
          <p:nvPr/>
        </p:nvGrpSpPr>
        <p:grpSpPr>
          <a:xfrm>
            <a:off x="3132138" y="2420938"/>
            <a:ext cx="2519362" cy="304800"/>
            <a:chOff x="1973" y="1525"/>
            <a:chExt cx="1587" cy="192"/>
          </a:xfrm>
        </p:grpSpPr>
        <p:pic>
          <p:nvPicPr>
            <p:cNvPr descr="clf" id="1052" name="Google Shape;1052;p60"/>
            <p:cNvPicPr preferRelativeResize="0"/>
            <p:nvPr/>
          </p:nvPicPr>
          <p:blipFill rotWithShape="1">
            <a:blip r:embed="rId3">
              <a:alphaModFix/>
            </a:blip>
            <a:srcRect b="0" l="0" r="0" t="0"/>
            <a:stretch/>
          </p:blipFill>
          <p:spPr>
            <a:xfrm>
              <a:off x="1973" y="1525"/>
              <a:ext cx="480" cy="185"/>
            </a:xfrm>
            <a:prstGeom prst="rect">
              <a:avLst/>
            </a:prstGeom>
            <a:noFill/>
            <a:ln>
              <a:noFill/>
            </a:ln>
          </p:spPr>
        </p:pic>
        <p:sp>
          <p:nvSpPr>
            <p:cNvPr id="1053" name="Google Shape;1053;p60"/>
            <p:cNvSpPr txBox="1"/>
            <p:nvPr/>
          </p:nvSpPr>
          <p:spPr>
            <a:xfrm>
              <a:off x="2472" y="1525"/>
              <a:ext cx="1088"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Arial Black"/>
                  <a:ea typeface="Arial Black"/>
                  <a:cs typeface="Arial Black"/>
                  <a:sym typeface="Arial Black"/>
                </a:rPr>
                <a:t>Järjestelmä 1</a:t>
              </a:r>
              <a:endParaRPr sz="1400">
                <a:solidFill>
                  <a:schemeClr val="dk1"/>
                </a:solidFill>
                <a:latin typeface="Arial Black"/>
                <a:ea typeface="Arial Black"/>
                <a:cs typeface="Arial Black"/>
                <a:sym typeface="Arial Black"/>
              </a:endParaRPr>
            </a:p>
          </p:txBody>
        </p:sp>
      </p:grpSp>
      <p:grpSp>
        <p:nvGrpSpPr>
          <p:cNvPr id="1054" name="Google Shape;1054;p60"/>
          <p:cNvGrpSpPr/>
          <p:nvPr/>
        </p:nvGrpSpPr>
        <p:grpSpPr>
          <a:xfrm>
            <a:off x="250825" y="2420938"/>
            <a:ext cx="2449513" cy="346075"/>
            <a:chOff x="158" y="1525"/>
            <a:chExt cx="1543" cy="218"/>
          </a:xfrm>
        </p:grpSpPr>
        <p:pic>
          <p:nvPicPr>
            <p:cNvPr descr="isop" id="1055" name="Google Shape;1055;p60"/>
            <p:cNvPicPr preferRelativeResize="0"/>
            <p:nvPr/>
          </p:nvPicPr>
          <p:blipFill rotWithShape="1">
            <a:blip r:embed="rId4">
              <a:alphaModFix/>
            </a:blip>
            <a:srcRect b="0" l="0" r="0" t="0"/>
            <a:stretch/>
          </p:blipFill>
          <p:spPr>
            <a:xfrm>
              <a:off x="158" y="1525"/>
              <a:ext cx="363" cy="218"/>
            </a:xfrm>
            <a:prstGeom prst="rect">
              <a:avLst/>
            </a:prstGeom>
            <a:noFill/>
            <a:ln>
              <a:noFill/>
            </a:ln>
          </p:spPr>
        </p:pic>
        <p:sp>
          <p:nvSpPr>
            <p:cNvPr id="1056" name="Google Shape;1056;p60"/>
            <p:cNvSpPr txBox="1"/>
            <p:nvPr/>
          </p:nvSpPr>
          <p:spPr>
            <a:xfrm>
              <a:off x="521" y="1525"/>
              <a:ext cx="1180"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Arial Black"/>
                  <a:ea typeface="Arial Black"/>
                  <a:cs typeface="Arial Black"/>
                  <a:sym typeface="Arial Black"/>
                </a:rPr>
                <a:t>Järjestelmä 1</a:t>
              </a:r>
              <a:endParaRPr sz="1400">
                <a:solidFill>
                  <a:schemeClr val="dk1"/>
                </a:solidFill>
                <a:latin typeface="Arial Black"/>
                <a:ea typeface="Arial Black"/>
                <a:cs typeface="Arial Black"/>
                <a:sym typeface="Arial Black"/>
              </a:endParaRPr>
            </a:p>
          </p:txBody>
        </p:sp>
      </p:grpSp>
      <p:grpSp>
        <p:nvGrpSpPr>
          <p:cNvPr id="1057" name="Google Shape;1057;p60"/>
          <p:cNvGrpSpPr/>
          <p:nvPr/>
        </p:nvGrpSpPr>
        <p:grpSpPr>
          <a:xfrm>
            <a:off x="250825" y="2781300"/>
            <a:ext cx="2449513" cy="346075"/>
            <a:chOff x="158" y="1525"/>
            <a:chExt cx="1543" cy="218"/>
          </a:xfrm>
        </p:grpSpPr>
        <p:pic>
          <p:nvPicPr>
            <p:cNvPr descr="isop" id="1058" name="Google Shape;1058;p60"/>
            <p:cNvPicPr preferRelativeResize="0"/>
            <p:nvPr/>
          </p:nvPicPr>
          <p:blipFill rotWithShape="1">
            <a:blip r:embed="rId4">
              <a:alphaModFix/>
            </a:blip>
            <a:srcRect b="0" l="0" r="0" t="0"/>
            <a:stretch/>
          </p:blipFill>
          <p:spPr>
            <a:xfrm>
              <a:off x="158" y="1525"/>
              <a:ext cx="363" cy="218"/>
            </a:xfrm>
            <a:prstGeom prst="rect">
              <a:avLst/>
            </a:prstGeom>
            <a:noFill/>
            <a:ln>
              <a:noFill/>
            </a:ln>
          </p:spPr>
        </p:pic>
        <p:sp>
          <p:nvSpPr>
            <p:cNvPr id="1059" name="Google Shape;1059;p60"/>
            <p:cNvSpPr txBox="1"/>
            <p:nvPr/>
          </p:nvSpPr>
          <p:spPr>
            <a:xfrm>
              <a:off x="521" y="1525"/>
              <a:ext cx="1180"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Arial Black"/>
                  <a:ea typeface="Arial Black"/>
                  <a:cs typeface="Arial Black"/>
                  <a:sym typeface="Arial Black"/>
                </a:rPr>
                <a:t>Järjestelmä 2</a:t>
              </a:r>
              <a:endParaRPr sz="1400">
                <a:solidFill>
                  <a:schemeClr val="dk1"/>
                </a:solidFill>
                <a:latin typeface="Arial Black"/>
                <a:ea typeface="Arial Black"/>
                <a:cs typeface="Arial Black"/>
                <a:sym typeface="Arial Black"/>
              </a:endParaRPr>
            </a:p>
          </p:txBody>
        </p:sp>
      </p:grpSp>
      <p:grpSp>
        <p:nvGrpSpPr>
          <p:cNvPr id="1060" name="Google Shape;1060;p60"/>
          <p:cNvGrpSpPr/>
          <p:nvPr/>
        </p:nvGrpSpPr>
        <p:grpSpPr>
          <a:xfrm>
            <a:off x="6154738" y="2420938"/>
            <a:ext cx="2233612" cy="304800"/>
            <a:chOff x="3877" y="1525"/>
            <a:chExt cx="1407" cy="192"/>
          </a:xfrm>
        </p:grpSpPr>
        <p:pic>
          <p:nvPicPr>
            <p:cNvPr descr="clf" id="1061" name="Google Shape;1061;p60"/>
            <p:cNvPicPr preferRelativeResize="0"/>
            <p:nvPr/>
          </p:nvPicPr>
          <p:blipFill rotWithShape="1">
            <a:blip r:embed="rId3">
              <a:alphaModFix/>
            </a:blip>
            <a:srcRect b="0" l="0" r="0" t="0"/>
            <a:stretch/>
          </p:blipFill>
          <p:spPr>
            <a:xfrm>
              <a:off x="3877" y="1525"/>
              <a:ext cx="480" cy="185"/>
            </a:xfrm>
            <a:prstGeom prst="rect">
              <a:avLst/>
            </a:prstGeom>
            <a:noFill/>
            <a:ln>
              <a:noFill/>
            </a:ln>
          </p:spPr>
        </p:pic>
        <p:sp>
          <p:nvSpPr>
            <p:cNvPr id="1062" name="Google Shape;1062;p60"/>
            <p:cNvSpPr txBox="1"/>
            <p:nvPr/>
          </p:nvSpPr>
          <p:spPr>
            <a:xfrm>
              <a:off x="4376" y="1525"/>
              <a:ext cx="908"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Arial Black"/>
                  <a:ea typeface="Arial Black"/>
                  <a:cs typeface="Arial Black"/>
                  <a:sym typeface="Arial Black"/>
                </a:rPr>
                <a:t>Projekti 1</a:t>
              </a:r>
              <a:endParaRPr sz="1400">
                <a:solidFill>
                  <a:schemeClr val="dk1"/>
                </a:solidFill>
                <a:latin typeface="Arial Black"/>
                <a:ea typeface="Arial Black"/>
                <a:cs typeface="Arial Black"/>
                <a:sym typeface="Arial Black"/>
              </a:endParaRPr>
            </a:p>
          </p:txBody>
        </p:sp>
      </p:grpSp>
      <p:sp>
        <p:nvSpPr>
          <p:cNvPr id="1063" name="Google Shape;1063;p60"/>
          <p:cNvSpPr txBox="1"/>
          <p:nvPr/>
        </p:nvSpPr>
        <p:spPr>
          <a:xfrm>
            <a:off x="252413" y="4017963"/>
            <a:ext cx="2232025"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Arial"/>
                <a:ea typeface="Arial"/>
                <a:cs typeface="Arial"/>
                <a:sym typeface="Arial"/>
              </a:rPr>
              <a:t>REQUIREMENTS</a:t>
            </a:r>
            <a:endParaRPr sz="1800">
              <a:solidFill>
                <a:schemeClr val="dk1"/>
              </a:solidFill>
              <a:latin typeface="Arial"/>
              <a:ea typeface="Arial"/>
              <a:cs typeface="Arial"/>
              <a:sym typeface="Arial"/>
            </a:endParaRPr>
          </a:p>
        </p:txBody>
      </p:sp>
      <p:sp>
        <p:nvSpPr>
          <p:cNvPr id="1064" name="Google Shape;1064;p60"/>
          <p:cNvSpPr txBox="1"/>
          <p:nvPr/>
        </p:nvSpPr>
        <p:spPr>
          <a:xfrm>
            <a:off x="3205163" y="4017963"/>
            <a:ext cx="2232025"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Arial"/>
                <a:ea typeface="Arial"/>
                <a:cs typeface="Arial"/>
                <a:sym typeface="Arial"/>
              </a:rPr>
              <a:t>TEST PLAN</a:t>
            </a:r>
            <a:endParaRPr sz="1800">
              <a:solidFill>
                <a:schemeClr val="dk1"/>
              </a:solidFill>
              <a:latin typeface="Arial"/>
              <a:ea typeface="Arial"/>
              <a:cs typeface="Arial"/>
              <a:sym typeface="Arial"/>
            </a:endParaRPr>
          </a:p>
        </p:txBody>
      </p:sp>
      <p:sp>
        <p:nvSpPr>
          <p:cNvPr id="1065" name="Google Shape;1065;p60"/>
          <p:cNvSpPr txBox="1"/>
          <p:nvPr/>
        </p:nvSpPr>
        <p:spPr>
          <a:xfrm>
            <a:off x="5724525" y="4017963"/>
            <a:ext cx="2232025"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Arial"/>
                <a:ea typeface="Arial"/>
                <a:cs typeface="Arial"/>
                <a:sym typeface="Arial"/>
              </a:rPr>
              <a:t>TEST LAB</a:t>
            </a:r>
            <a:endParaRPr sz="1800">
              <a:solidFill>
                <a:schemeClr val="dk1"/>
              </a:solidFill>
              <a:latin typeface="Arial"/>
              <a:ea typeface="Arial"/>
              <a:cs typeface="Arial"/>
              <a:sym typeface="Arial"/>
            </a:endParaRPr>
          </a:p>
        </p:txBody>
      </p:sp>
      <p:grpSp>
        <p:nvGrpSpPr>
          <p:cNvPr id="1066" name="Google Shape;1066;p60"/>
          <p:cNvGrpSpPr/>
          <p:nvPr/>
        </p:nvGrpSpPr>
        <p:grpSpPr>
          <a:xfrm>
            <a:off x="3060700" y="4594225"/>
            <a:ext cx="2519363" cy="304800"/>
            <a:chOff x="1973" y="1525"/>
            <a:chExt cx="1587" cy="192"/>
          </a:xfrm>
        </p:grpSpPr>
        <p:pic>
          <p:nvPicPr>
            <p:cNvPr descr="clf" id="1067" name="Google Shape;1067;p60"/>
            <p:cNvPicPr preferRelativeResize="0"/>
            <p:nvPr/>
          </p:nvPicPr>
          <p:blipFill rotWithShape="1">
            <a:blip r:embed="rId3">
              <a:alphaModFix/>
            </a:blip>
            <a:srcRect b="0" l="0" r="0" t="0"/>
            <a:stretch/>
          </p:blipFill>
          <p:spPr>
            <a:xfrm>
              <a:off x="1973" y="1525"/>
              <a:ext cx="480" cy="185"/>
            </a:xfrm>
            <a:prstGeom prst="rect">
              <a:avLst/>
            </a:prstGeom>
            <a:noFill/>
            <a:ln>
              <a:noFill/>
            </a:ln>
          </p:spPr>
        </p:pic>
        <p:sp>
          <p:nvSpPr>
            <p:cNvPr id="1068" name="Google Shape;1068;p60"/>
            <p:cNvSpPr txBox="1"/>
            <p:nvPr/>
          </p:nvSpPr>
          <p:spPr>
            <a:xfrm>
              <a:off x="2472" y="1525"/>
              <a:ext cx="1088"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Arial Black"/>
                  <a:ea typeface="Arial Black"/>
                  <a:cs typeface="Arial Black"/>
                  <a:sym typeface="Arial Black"/>
                </a:rPr>
                <a:t>Projekti 1</a:t>
              </a:r>
              <a:endParaRPr sz="1400">
                <a:solidFill>
                  <a:schemeClr val="dk1"/>
                </a:solidFill>
                <a:latin typeface="Arial Black"/>
                <a:ea typeface="Arial Black"/>
                <a:cs typeface="Arial Black"/>
                <a:sym typeface="Arial Black"/>
              </a:endParaRPr>
            </a:p>
          </p:txBody>
        </p:sp>
      </p:grpSp>
      <p:grpSp>
        <p:nvGrpSpPr>
          <p:cNvPr id="1069" name="Google Shape;1069;p60"/>
          <p:cNvGrpSpPr/>
          <p:nvPr/>
        </p:nvGrpSpPr>
        <p:grpSpPr>
          <a:xfrm>
            <a:off x="179388" y="4594225"/>
            <a:ext cx="2449512" cy="346075"/>
            <a:chOff x="158" y="1525"/>
            <a:chExt cx="1543" cy="218"/>
          </a:xfrm>
        </p:grpSpPr>
        <p:pic>
          <p:nvPicPr>
            <p:cNvPr descr="isop" id="1070" name="Google Shape;1070;p60"/>
            <p:cNvPicPr preferRelativeResize="0"/>
            <p:nvPr/>
          </p:nvPicPr>
          <p:blipFill rotWithShape="1">
            <a:blip r:embed="rId4">
              <a:alphaModFix/>
            </a:blip>
            <a:srcRect b="0" l="0" r="0" t="0"/>
            <a:stretch/>
          </p:blipFill>
          <p:spPr>
            <a:xfrm>
              <a:off x="158" y="1525"/>
              <a:ext cx="363" cy="218"/>
            </a:xfrm>
            <a:prstGeom prst="rect">
              <a:avLst/>
            </a:prstGeom>
            <a:noFill/>
            <a:ln>
              <a:noFill/>
            </a:ln>
          </p:spPr>
        </p:pic>
        <p:sp>
          <p:nvSpPr>
            <p:cNvPr id="1071" name="Google Shape;1071;p60"/>
            <p:cNvSpPr txBox="1"/>
            <p:nvPr/>
          </p:nvSpPr>
          <p:spPr>
            <a:xfrm>
              <a:off x="521" y="1525"/>
              <a:ext cx="1180"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Arial Black"/>
                  <a:ea typeface="Arial Black"/>
                  <a:cs typeface="Arial Black"/>
                  <a:sym typeface="Arial Black"/>
                </a:rPr>
                <a:t>Projekti 1</a:t>
              </a:r>
              <a:endParaRPr sz="1400">
                <a:solidFill>
                  <a:schemeClr val="dk1"/>
                </a:solidFill>
                <a:latin typeface="Arial Black"/>
                <a:ea typeface="Arial Black"/>
                <a:cs typeface="Arial Black"/>
                <a:sym typeface="Arial Black"/>
              </a:endParaRPr>
            </a:p>
          </p:txBody>
        </p:sp>
      </p:grpSp>
      <p:grpSp>
        <p:nvGrpSpPr>
          <p:cNvPr id="1072" name="Google Shape;1072;p60"/>
          <p:cNvGrpSpPr/>
          <p:nvPr/>
        </p:nvGrpSpPr>
        <p:grpSpPr>
          <a:xfrm>
            <a:off x="179388" y="4954588"/>
            <a:ext cx="2449512" cy="346075"/>
            <a:chOff x="158" y="1525"/>
            <a:chExt cx="1543" cy="218"/>
          </a:xfrm>
        </p:grpSpPr>
        <p:pic>
          <p:nvPicPr>
            <p:cNvPr descr="isop" id="1073" name="Google Shape;1073;p60"/>
            <p:cNvPicPr preferRelativeResize="0"/>
            <p:nvPr/>
          </p:nvPicPr>
          <p:blipFill rotWithShape="1">
            <a:blip r:embed="rId4">
              <a:alphaModFix/>
            </a:blip>
            <a:srcRect b="0" l="0" r="0" t="0"/>
            <a:stretch/>
          </p:blipFill>
          <p:spPr>
            <a:xfrm>
              <a:off x="158" y="1525"/>
              <a:ext cx="363" cy="218"/>
            </a:xfrm>
            <a:prstGeom prst="rect">
              <a:avLst/>
            </a:prstGeom>
            <a:noFill/>
            <a:ln>
              <a:noFill/>
            </a:ln>
          </p:spPr>
        </p:pic>
        <p:sp>
          <p:nvSpPr>
            <p:cNvPr id="1074" name="Google Shape;1074;p60"/>
            <p:cNvSpPr txBox="1"/>
            <p:nvPr/>
          </p:nvSpPr>
          <p:spPr>
            <a:xfrm>
              <a:off x="521" y="1525"/>
              <a:ext cx="1180"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Arial Black"/>
                  <a:ea typeface="Arial Black"/>
                  <a:cs typeface="Arial Black"/>
                  <a:sym typeface="Arial Black"/>
                </a:rPr>
                <a:t>Projekti 2</a:t>
              </a:r>
              <a:endParaRPr sz="1400">
                <a:solidFill>
                  <a:schemeClr val="dk1"/>
                </a:solidFill>
                <a:latin typeface="Arial Black"/>
                <a:ea typeface="Arial Black"/>
                <a:cs typeface="Arial Black"/>
                <a:sym typeface="Arial Black"/>
              </a:endParaRPr>
            </a:p>
          </p:txBody>
        </p:sp>
      </p:grpSp>
      <p:grpSp>
        <p:nvGrpSpPr>
          <p:cNvPr id="1075" name="Google Shape;1075;p60"/>
          <p:cNvGrpSpPr/>
          <p:nvPr/>
        </p:nvGrpSpPr>
        <p:grpSpPr>
          <a:xfrm>
            <a:off x="6083300" y="4594225"/>
            <a:ext cx="2233613" cy="304800"/>
            <a:chOff x="3877" y="1525"/>
            <a:chExt cx="1407" cy="192"/>
          </a:xfrm>
        </p:grpSpPr>
        <p:pic>
          <p:nvPicPr>
            <p:cNvPr descr="clf" id="1076" name="Google Shape;1076;p60"/>
            <p:cNvPicPr preferRelativeResize="0"/>
            <p:nvPr/>
          </p:nvPicPr>
          <p:blipFill rotWithShape="1">
            <a:blip r:embed="rId3">
              <a:alphaModFix/>
            </a:blip>
            <a:srcRect b="0" l="0" r="0" t="0"/>
            <a:stretch/>
          </p:blipFill>
          <p:spPr>
            <a:xfrm>
              <a:off x="3877" y="1525"/>
              <a:ext cx="480" cy="185"/>
            </a:xfrm>
            <a:prstGeom prst="rect">
              <a:avLst/>
            </a:prstGeom>
            <a:noFill/>
            <a:ln>
              <a:noFill/>
            </a:ln>
          </p:spPr>
        </p:pic>
        <p:sp>
          <p:nvSpPr>
            <p:cNvPr id="1077" name="Google Shape;1077;p60"/>
            <p:cNvSpPr txBox="1"/>
            <p:nvPr/>
          </p:nvSpPr>
          <p:spPr>
            <a:xfrm>
              <a:off x="4376" y="1525"/>
              <a:ext cx="908"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Arial Black"/>
                  <a:ea typeface="Arial Black"/>
                  <a:cs typeface="Arial Black"/>
                  <a:sym typeface="Arial Black"/>
                </a:rPr>
                <a:t>Projekti 1</a:t>
              </a:r>
              <a:endParaRPr sz="1400">
                <a:solidFill>
                  <a:schemeClr val="dk1"/>
                </a:solidFill>
                <a:latin typeface="Arial Black"/>
                <a:ea typeface="Arial Black"/>
                <a:cs typeface="Arial Black"/>
                <a:sym typeface="Arial Black"/>
              </a:endParaRPr>
            </a:p>
          </p:txBody>
        </p:sp>
      </p:grpSp>
      <p:cxnSp>
        <p:nvCxnSpPr>
          <p:cNvPr id="1078" name="Google Shape;1078;p60"/>
          <p:cNvCxnSpPr/>
          <p:nvPr/>
        </p:nvCxnSpPr>
        <p:spPr>
          <a:xfrm>
            <a:off x="250825" y="3644900"/>
            <a:ext cx="7921625" cy="0"/>
          </a:xfrm>
          <a:prstGeom prst="straightConnector1">
            <a:avLst/>
          </a:prstGeom>
          <a:noFill/>
          <a:ln cap="flat" cmpd="sng" w="9525">
            <a:solidFill>
              <a:schemeClr val="hlink"/>
            </a:solidFill>
            <a:prstDash val="solid"/>
            <a:round/>
            <a:headEnd len="med" w="med" type="none"/>
            <a:tailEnd len="med" w="med" type="none"/>
          </a:ln>
        </p:spPr>
      </p:cxnSp>
      <p:sp>
        <p:nvSpPr>
          <p:cNvPr id="1079" name="Google Shape;1079;p60"/>
          <p:cNvSpPr txBox="1"/>
          <p:nvPr/>
        </p:nvSpPr>
        <p:spPr>
          <a:xfrm>
            <a:off x="4284663" y="2997200"/>
            <a:ext cx="38163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fi-FI" sz="1800">
                <a:solidFill>
                  <a:schemeClr val="folHlink"/>
                </a:solidFill>
                <a:latin typeface="Gill Sans"/>
                <a:ea typeface="Gill Sans"/>
                <a:cs typeface="Gill Sans"/>
                <a:sym typeface="Gill Sans"/>
              </a:rPr>
              <a:t>Minun suosimani jäsennys</a:t>
            </a:r>
            <a:endParaRPr i="1" sz="1800">
              <a:solidFill>
                <a:schemeClr val="folHlink"/>
              </a:solidFill>
              <a:latin typeface="Gill Sans"/>
              <a:ea typeface="Gill Sans"/>
              <a:cs typeface="Gill Sans"/>
              <a:sym typeface="Gill Sans"/>
            </a:endParaRPr>
          </a:p>
        </p:txBody>
      </p:sp>
      <p:sp>
        <p:nvSpPr>
          <p:cNvPr id="1080" name="Google Shape;1080;p60"/>
          <p:cNvSpPr txBox="1"/>
          <p:nvPr/>
        </p:nvSpPr>
        <p:spPr>
          <a:xfrm>
            <a:off x="4572000" y="5445125"/>
            <a:ext cx="3744913" cy="915988"/>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Jokaiseen elementtiin liitettävät lisäkentät oleellisia tehokkaan kierroksiin valinnan pohjaksi.</a:t>
            </a:r>
            <a:endParaRPr sz="1800">
              <a:solidFill>
                <a:schemeClr val="lt1"/>
              </a:solidFill>
              <a:latin typeface="Gill Sans"/>
              <a:ea typeface="Gill Sans"/>
              <a:cs typeface="Gill Sans"/>
              <a:sym typeface="Gill Sans"/>
            </a:endParaRPr>
          </a:p>
        </p:txBody>
      </p:sp>
      <p:sp>
        <p:nvSpPr>
          <p:cNvPr id="1081" name="Google Shape;1081;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Testikokoelman ylläpitämisen haasteista</a:t>
            </a:r>
            <a:endParaRPr/>
          </a:p>
        </p:txBody>
      </p:sp>
      <p:sp>
        <p:nvSpPr>
          <p:cNvPr id="1088" name="Google Shape;1088;p61"/>
          <p:cNvSpPr/>
          <p:nvPr/>
        </p:nvSpPr>
        <p:spPr>
          <a:xfrm>
            <a:off x="1836738" y="1989138"/>
            <a:ext cx="2160587" cy="1296987"/>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Järjestelmä 1: tuotantoversio</a:t>
            </a:r>
            <a:endParaRPr sz="1800">
              <a:solidFill>
                <a:schemeClr val="lt1"/>
              </a:solidFill>
              <a:latin typeface="Gill Sans"/>
              <a:ea typeface="Gill Sans"/>
              <a:cs typeface="Gill Sans"/>
              <a:sym typeface="Gill Sans"/>
            </a:endParaRPr>
          </a:p>
        </p:txBody>
      </p:sp>
      <p:sp>
        <p:nvSpPr>
          <p:cNvPr id="1089" name="Google Shape;1089;p61"/>
          <p:cNvSpPr/>
          <p:nvPr/>
        </p:nvSpPr>
        <p:spPr>
          <a:xfrm>
            <a:off x="5940425" y="1989138"/>
            <a:ext cx="2160588" cy="1296987"/>
          </a:xfrm>
          <a:prstGeom prst="rect">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Järjestelmä 1: ylläpitoversio</a:t>
            </a:r>
            <a:endParaRPr sz="1800">
              <a:solidFill>
                <a:schemeClr val="lt1"/>
              </a:solidFill>
              <a:latin typeface="Gill Sans"/>
              <a:ea typeface="Gill Sans"/>
              <a:cs typeface="Gill Sans"/>
              <a:sym typeface="Gill Sans"/>
            </a:endParaRPr>
          </a:p>
        </p:txBody>
      </p:sp>
      <p:sp>
        <p:nvSpPr>
          <p:cNvPr id="1090" name="Google Shape;1090;p61"/>
          <p:cNvSpPr txBox="1"/>
          <p:nvPr/>
        </p:nvSpPr>
        <p:spPr>
          <a:xfrm>
            <a:off x="6010275" y="3213100"/>
            <a:ext cx="2017713" cy="9159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olemassa väliaikaisesti (viikkoja)</a:t>
            </a:r>
            <a:endParaRPr sz="1800">
              <a:solidFill>
                <a:schemeClr val="dk1"/>
              </a:solidFill>
              <a:latin typeface="Gill Sans"/>
              <a:ea typeface="Gill Sans"/>
              <a:cs typeface="Gill Sans"/>
              <a:sym typeface="Gill Sans"/>
            </a:endParaRPr>
          </a:p>
        </p:txBody>
      </p:sp>
      <p:cxnSp>
        <p:nvCxnSpPr>
          <p:cNvPr id="1091" name="Google Shape;1091;p61"/>
          <p:cNvCxnSpPr>
            <a:stCxn id="1088" idx="3"/>
            <a:endCxn id="1089" idx="1"/>
          </p:cNvCxnSpPr>
          <p:nvPr/>
        </p:nvCxnSpPr>
        <p:spPr>
          <a:xfrm>
            <a:off x="3997325" y="2637632"/>
            <a:ext cx="1943100" cy="0"/>
          </a:xfrm>
          <a:prstGeom prst="straightConnector1">
            <a:avLst/>
          </a:prstGeom>
          <a:noFill/>
          <a:ln cap="flat" cmpd="sng" w="9525">
            <a:solidFill>
              <a:schemeClr val="dk1"/>
            </a:solidFill>
            <a:prstDash val="solid"/>
            <a:round/>
            <a:headEnd len="med" w="med" type="none"/>
            <a:tailEnd len="med" w="med" type="triangle"/>
          </a:ln>
        </p:spPr>
      </p:cxnSp>
      <p:cxnSp>
        <p:nvCxnSpPr>
          <p:cNvPr id="1092" name="Google Shape;1092;p61"/>
          <p:cNvCxnSpPr>
            <a:stCxn id="1089" idx="0"/>
            <a:endCxn id="1088" idx="0"/>
          </p:cNvCxnSpPr>
          <p:nvPr/>
        </p:nvCxnSpPr>
        <p:spPr>
          <a:xfrm rot="5400000">
            <a:off x="4968569" y="-62412"/>
            <a:ext cx="600" cy="4103700"/>
          </a:xfrm>
          <a:prstGeom prst="bentConnector3">
            <a:avLst>
              <a:gd fmla="val -38087917" name="adj1"/>
            </a:avLst>
          </a:prstGeom>
          <a:noFill/>
          <a:ln cap="flat" cmpd="sng" w="9525">
            <a:solidFill>
              <a:schemeClr val="dk1"/>
            </a:solidFill>
            <a:prstDash val="solid"/>
            <a:miter lim="800000"/>
            <a:headEnd len="med" w="med" type="none"/>
            <a:tailEnd len="med" w="med" type="triangle"/>
          </a:ln>
        </p:spPr>
      </p:cxnSp>
      <p:sp>
        <p:nvSpPr>
          <p:cNvPr id="1093" name="Google Shape;1093;p61"/>
          <p:cNvSpPr/>
          <p:nvPr/>
        </p:nvSpPr>
        <p:spPr>
          <a:xfrm>
            <a:off x="1835150" y="4292600"/>
            <a:ext cx="2160588" cy="1296988"/>
          </a:xfrm>
          <a:prstGeom prst="rect">
            <a:avLst/>
          </a:prstGeom>
          <a:solidFill>
            <a:schemeClr val="accent2"/>
          </a:solidFill>
          <a:ln cap="flat" cmpd="sng" w="25400">
            <a:solidFill>
              <a:srgbClr val="556E9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Järjestelmä 1: projektiversio a</a:t>
            </a:r>
            <a:endParaRPr sz="1800">
              <a:solidFill>
                <a:schemeClr val="lt1"/>
              </a:solidFill>
              <a:latin typeface="Gill Sans"/>
              <a:ea typeface="Gill Sans"/>
              <a:cs typeface="Gill Sans"/>
              <a:sym typeface="Gill Sans"/>
            </a:endParaRPr>
          </a:p>
        </p:txBody>
      </p:sp>
      <p:sp>
        <p:nvSpPr>
          <p:cNvPr id="1094" name="Google Shape;1094;p61"/>
          <p:cNvSpPr/>
          <p:nvPr/>
        </p:nvSpPr>
        <p:spPr>
          <a:xfrm>
            <a:off x="4211638" y="4292600"/>
            <a:ext cx="2160587" cy="1296988"/>
          </a:xfrm>
          <a:prstGeom prst="rect">
            <a:avLst/>
          </a:prstGeom>
          <a:solidFill>
            <a:schemeClr val="accent2"/>
          </a:solidFill>
          <a:ln cap="flat" cmpd="sng" w="25400">
            <a:solidFill>
              <a:srgbClr val="556E9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Järjestelmä 1: projektiversio b</a:t>
            </a:r>
            <a:endParaRPr sz="1800">
              <a:solidFill>
                <a:schemeClr val="lt1"/>
              </a:solidFill>
              <a:latin typeface="Gill Sans"/>
              <a:ea typeface="Gill Sans"/>
              <a:cs typeface="Gill Sans"/>
              <a:sym typeface="Gill Sans"/>
            </a:endParaRPr>
          </a:p>
        </p:txBody>
      </p:sp>
      <p:sp>
        <p:nvSpPr>
          <p:cNvPr id="1095" name="Google Shape;1095;p61"/>
          <p:cNvSpPr txBox="1"/>
          <p:nvPr/>
        </p:nvSpPr>
        <p:spPr>
          <a:xfrm>
            <a:off x="1908175" y="5518150"/>
            <a:ext cx="2017713" cy="9159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olemassa väliaikaisesti (kuukausia)</a:t>
            </a:r>
            <a:endParaRPr sz="1800">
              <a:solidFill>
                <a:schemeClr val="dk1"/>
              </a:solidFill>
              <a:latin typeface="Gill Sans"/>
              <a:ea typeface="Gill Sans"/>
              <a:cs typeface="Gill Sans"/>
              <a:sym typeface="Gill Sans"/>
            </a:endParaRPr>
          </a:p>
        </p:txBody>
      </p:sp>
      <p:sp>
        <p:nvSpPr>
          <p:cNvPr id="1096" name="Google Shape;1096;p61"/>
          <p:cNvSpPr txBox="1"/>
          <p:nvPr/>
        </p:nvSpPr>
        <p:spPr>
          <a:xfrm>
            <a:off x="4211638" y="5518150"/>
            <a:ext cx="2017712" cy="9159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olemassa väliaikaisesti (kuukausia)</a:t>
            </a:r>
            <a:endParaRPr sz="1800">
              <a:solidFill>
                <a:schemeClr val="dk1"/>
              </a:solidFill>
              <a:latin typeface="Gill Sans"/>
              <a:ea typeface="Gill Sans"/>
              <a:cs typeface="Gill Sans"/>
              <a:sym typeface="Gill Sans"/>
            </a:endParaRPr>
          </a:p>
        </p:txBody>
      </p:sp>
      <p:cxnSp>
        <p:nvCxnSpPr>
          <p:cNvPr id="1097" name="Google Shape;1097;p61"/>
          <p:cNvCxnSpPr>
            <a:stCxn id="1088" idx="2"/>
            <a:endCxn id="1093" idx="0"/>
          </p:cNvCxnSpPr>
          <p:nvPr/>
        </p:nvCxnSpPr>
        <p:spPr>
          <a:xfrm rot="5400000">
            <a:off x="2413032" y="3788625"/>
            <a:ext cx="1006500" cy="1500"/>
          </a:xfrm>
          <a:prstGeom prst="bentConnector3">
            <a:avLst>
              <a:gd fmla="val 49999" name="adj1"/>
            </a:avLst>
          </a:prstGeom>
          <a:noFill/>
          <a:ln cap="flat" cmpd="sng" w="9525">
            <a:solidFill>
              <a:schemeClr val="dk1"/>
            </a:solidFill>
            <a:prstDash val="solid"/>
            <a:miter lim="800000"/>
            <a:headEnd len="med" w="med" type="none"/>
            <a:tailEnd len="med" w="med" type="triangle"/>
          </a:ln>
        </p:spPr>
      </p:cxnSp>
      <p:cxnSp>
        <p:nvCxnSpPr>
          <p:cNvPr id="1098" name="Google Shape;1098;p61"/>
          <p:cNvCxnSpPr>
            <a:stCxn id="1088" idx="2"/>
            <a:endCxn id="1094" idx="0"/>
          </p:cNvCxnSpPr>
          <p:nvPr/>
        </p:nvCxnSpPr>
        <p:spPr>
          <a:xfrm flipH="1" rot="-5400000">
            <a:off x="3601182" y="2601975"/>
            <a:ext cx="1006500" cy="2374800"/>
          </a:xfrm>
          <a:prstGeom prst="bentConnector3">
            <a:avLst>
              <a:gd fmla="val 49999" name="adj1"/>
            </a:avLst>
          </a:prstGeom>
          <a:noFill/>
          <a:ln cap="flat" cmpd="sng" w="9525">
            <a:solidFill>
              <a:schemeClr val="dk1"/>
            </a:solidFill>
            <a:prstDash val="solid"/>
            <a:miter lim="800000"/>
            <a:headEnd len="med" w="med" type="none"/>
            <a:tailEnd len="med" w="med" type="triangle"/>
          </a:ln>
        </p:spPr>
      </p:cxnSp>
      <p:sp>
        <p:nvSpPr>
          <p:cNvPr id="1099" name="Google Shape;1099;p61"/>
          <p:cNvSpPr txBox="1"/>
          <p:nvPr/>
        </p:nvSpPr>
        <p:spPr>
          <a:xfrm>
            <a:off x="3994447" y="2847975"/>
            <a:ext cx="2017713" cy="581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fi-FI" sz="1600">
                <a:solidFill>
                  <a:schemeClr val="dk2"/>
                </a:solidFill>
                <a:latin typeface="Gill Sans"/>
                <a:ea typeface="Gill Sans"/>
                <a:cs typeface="Gill Sans"/>
                <a:sym typeface="Gill Sans"/>
              </a:rPr>
              <a:t>useita tuettuja versioita ulkona</a:t>
            </a:r>
            <a:endParaRPr i="1" sz="1600">
              <a:solidFill>
                <a:schemeClr val="dk2"/>
              </a:solidFill>
              <a:latin typeface="Gill Sans"/>
              <a:ea typeface="Gill Sans"/>
              <a:cs typeface="Gill Sans"/>
              <a:sym typeface="Gill Sans"/>
            </a:endParaRPr>
          </a:p>
        </p:txBody>
      </p:sp>
      <p:sp>
        <p:nvSpPr>
          <p:cNvPr id="1100" name="Google Shape;1100;p61"/>
          <p:cNvSpPr/>
          <p:nvPr/>
        </p:nvSpPr>
        <p:spPr>
          <a:xfrm>
            <a:off x="6588125" y="4365625"/>
            <a:ext cx="2016125" cy="2159000"/>
          </a:xfrm>
          <a:prstGeom prst="rect">
            <a:avLst/>
          </a:prstGeom>
          <a:solidFill>
            <a:schemeClr val="lt1"/>
          </a:solidFill>
          <a:ln cap="flat" cmpd="sng" w="9525">
            <a:solidFill>
              <a:schemeClr val="lt2"/>
            </a:solidFill>
            <a:prstDash val="solid"/>
            <a:miter lim="800000"/>
            <a:headEnd len="sm" w="sm" type="none"/>
            <a:tailEnd len="sm" w="sm" type="none"/>
          </a:ln>
          <a:effectLst>
            <a:outerShdw rotWithShape="0" algn="ctr" dir="18900000" dist="107763">
              <a:schemeClr val="lt2">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Dokumenttien versiointi haasteena työkalusta huolimatta.</a:t>
            </a:r>
            <a:endParaRPr sz="1800">
              <a:solidFill>
                <a:schemeClr val="dk1"/>
              </a:solidFill>
              <a:latin typeface="Gill Sans"/>
              <a:ea typeface="Gill Sans"/>
              <a:cs typeface="Gill Sans"/>
              <a:sym typeface="Gill Sans"/>
            </a:endParaRPr>
          </a:p>
        </p:txBody>
      </p:sp>
      <p:sp>
        <p:nvSpPr>
          <p:cNvPr id="1101" name="Google Shape;1101;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Ehkä näin Test Plan -puolella?</a:t>
            </a:r>
            <a:endParaRPr/>
          </a:p>
        </p:txBody>
      </p:sp>
      <p:grpSp>
        <p:nvGrpSpPr>
          <p:cNvPr id="1108" name="Google Shape;1108;p62"/>
          <p:cNvGrpSpPr/>
          <p:nvPr/>
        </p:nvGrpSpPr>
        <p:grpSpPr>
          <a:xfrm>
            <a:off x="468313" y="1916113"/>
            <a:ext cx="2519362" cy="304800"/>
            <a:chOff x="1973" y="1525"/>
            <a:chExt cx="1587" cy="192"/>
          </a:xfrm>
        </p:grpSpPr>
        <p:pic>
          <p:nvPicPr>
            <p:cNvPr descr="clf" id="1109" name="Google Shape;1109;p62"/>
            <p:cNvPicPr preferRelativeResize="0"/>
            <p:nvPr/>
          </p:nvPicPr>
          <p:blipFill rotWithShape="1">
            <a:blip r:embed="rId3">
              <a:alphaModFix/>
            </a:blip>
            <a:srcRect b="0" l="0" r="0" t="0"/>
            <a:stretch/>
          </p:blipFill>
          <p:spPr>
            <a:xfrm>
              <a:off x="1973" y="1525"/>
              <a:ext cx="480" cy="185"/>
            </a:xfrm>
            <a:prstGeom prst="rect">
              <a:avLst/>
            </a:prstGeom>
            <a:noFill/>
            <a:ln>
              <a:noFill/>
            </a:ln>
          </p:spPr>
        </p:pic>
        <p:sp>
          <p:nvSpPr>
            <p:cNvPr id="1110" name="Google Shape;1110;p62"/>
            <p:cNvSpPr txBox="1"/>
            <p:nvPr/>
          </p:nvSpPr>
          <p:spPr>
            <a:xfrm>
              <a:off x="2472" y="1525"/>
              <a:ext cx="1088"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Järjestelmä 1</a:t>
              </a:r>
              <a:endParaRPr sz="1400">
                <a:solidFill>
                  <a:schemeClr val="dk1"/>
                </a:solidFill>
                <a:latin typeface="Gill Sans"/>
                <a:ea typeface="Gill Sans"/>
                <a:cs typeface="Gill Sans"/>
                <a:sym typeface="Gill Sans"/>
              </a:endParaRPr>
            </a:p>
          </p:txBody>
        </p:sp>
      </p:grpSp>
      <p:grpSp>
        <p:nvGrpSpPr>
          <p:cNvPr id="1111" name="Google Shape;1111;p62"/>
          <p:cNvGrpSpPr/>
          <p:nvPr/>
        </p:nvGrpSpPr>
        <p:grpSpPr>
          <a:xfrm>
            <a:off x="755650" y="2636838"/>
            <a:ext cx="4176713" cy="304800"/>
            <a:chOff x="2381" y="1661"/>
            <a:chExt cx="2631" cy="192"/>
          </a:xfrm>
        </p:grpSpPr>
        <p:pic>
          <p:nvPicPr>
            <p:cNvPr descr="opf" id="1112" name="Google Shape;1112;p62"/>
            <p:cNvPicPr preferRelativeResize="0"/>
            <p:nvPr/>
          </p:nvPicPr>
          <p:blipFill rotWithShape="1">
            <a:blip r:embed="rId4">
              <a:alphaModFix/>
            </a:blip>
            <a:srcRect b="0" l="0" r="0" t="0"/>
            <a:stretch/>
          </p:blipFill>
          <p:spPr>
            <a:xfrm>
              <a:off x="2381" y="1661"/>
              <a:ext cx="530" cy="185"/>
            </a:xfrm>
            <a:prstGeom prst="rect">
              <a:avLst/>
            </a:prstGeom>
            <a:noFill/>
            <a:ln>
              <a:noFill/>
            </a:ln>
          </p:spPr>
        </p:pic>
        <p:sp>
          <p:nvSpPr>
            <p:cNvPr id="1113" name="Google Shape;1113;p62"/>
            <p:cNvSpPr txBox="1"/>
            <p:nvPr/>
          </p:nvSpPr>
          <p:spPr>
            <a:xfrm>
              <a:off x="2925" y="1661"/>
              <a:ext cx="208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TEMP: Testitapaus 2</a:t>
              </a:r>
              <a:endParaRPr sz="1400">
                <a:solidFill>
                  <a:schemeClr val="dk1"/>
                </a:solidFill>
                <a:latin typeface="Gill Sans"/>
                <a:ea typeface="Gill Sans"/>
                <a:cs typeface="Gill Sans"/>
                <a:sym typeface="Gill Sans"/>
              </a:endParaRPr>
            </a:p>
          </p:txBody>
        </p:sp>
      </p:grpSp>
      <p:grpSp>
        <p:nvGrpSpPr>
          <p:cNvPr id="1114" name="Google Shape;1114;p62"/>
          <p:cNvGrpSpPr/>
          <p:nvPr/>
        </p:nvGrpSpPr>
        <p:grpSpPr>
          <a:xfrm>
            <a:off x="827088" y="2235200"/>
            <a:ext cx="4105275" cy="346075"/>
            <a:chOff x="521" y="1408"/>
            <a:chExt cx="2586" cy="218"/>
          </a:xfrm>
        </p:grpSpPr>
        <p:pic>
          <p:nvPicPr>
            <p:cNvPr descr="test" id="1115" name="Google Shape;1115;p62"/>
            <p:cNvPicPr preferRelativeResize="0"/>
            <p:nvPr/>
          </p:nvPicPr>
          <p:blipFill rotWithShape="1">
            <a:blip r:embed="rId5">
              <a:alphaModFix/>
            </a:blip>
            <a:srcRect b="0" l="0" r="0" t="0"/>
            <a:stretch/>
          </p:blipFill>
          <p:spPr>
            <a:xfrm>
              <a:off x="521" y="1408"/>
              <a:ext cx="453" cy="208"/>
            </a:xfrm>
            <a:prstGeom prst="rect">
              <a:avLst/>
            </a:prstGeom>
            <a:noFill/>
            <a:ln>
              <a:noFill/>
            </a:ln>
          </p:spPr>
        </p:pic>
        <p:sp>
          <p:nvSpPr>
            <p:cNvPr id="1116" name="Google Shape;1116;p62"/>
            <p:cNvSpPr txBox="1"/>
            <p:nvPr/>
          </p:nvSpPr>
          <p:spPr>
            <a:xfrm>
              <a:off x="1020" y="1434"/>
              <a:ext cx="208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Testitapaus 1</a:t>
              </a:r>
              <a:endParaRPr sz="1400">
                <a:solidFill>
                  <a:schemeClr val="dk1"/>
                </a:solidFill>
                <a:latin typeface="Gill Sans"/>
                <a:ea typeface="Gill Sans"/>
                <a:cs typeface="Gill Sans"/>
                <a:sym typeface="Gill Sans"/>
              </a:endParaRPr>
            </a:p>
          </p:txBody>
        </p:sp>
      </p:grpSp>
      <p:grpSp>
        <p:nvGrpSpPr>
          <p:cNvPr id="1117" name="Google Shape;1117;p62"/>
          <p:cNvGrpSpPr/>
          <p:nvPr/>
        </p:nvGrpSpPr>
        <p:grpSpPr>
          <a:xfrm>
            <a:off x="1187450" y="3011488"/>
            <a:ext cx="4105275" cy="346075"/>
            <a:chOff x="521" y="1408"/>
            <a:chExt cx="2586" cy="218"/>
          </a:xfrm>
        </p:grpSpPr>
        <p:pic>
          <p:nvPicPr>
            <p:cNvPr descr="test" id="1118" name="Google Shape;1118;p62"/>
            <p:cNvPicPr preferRelativeResize="0"/>
            <p:nvPr/>
          </p:nvPicPr>
          <p:blipFill rotWithShape="1">
            <a:blip r:embed="rId5">
              <a:alphaModFix/>
            </a:blip>
            <a:srcRect b="0" l="0" r="0" t="0"/>
            <a:stretch/>
          </p:blipFill>
          <p:spPr>
            <a:xfrm>
              <a:off x="521" y="1408"/>
              <a:ext cx="453" cy="208"/>
            </a:xfrm>
            <a:prstGeom prst="rect">
              <a:avLst/>
            </a:prstGeom>
            <a:noFill/>
            <a:ln>
              <a:noFill/>
            </a:ln>
          </p:spPr>
        </p:pic>
        <p:sp>
          <p:nvSpPr>
            <p:cNvPr id="1119" name="Google Shape;1119;p62"/>
            <p:cNvSpPr txBox="1"/>
            <p:nvPr/>
          </p:nvSpPr>
          <p:spPr>
            <a:xfrm>
              <a:off x="1020" y="1434"/>
              <a:ext cx="208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Tuotanto: Testitapaus 2</a:t>
              </a:r>
              <a:endParaRPr sz="1400">
                <a:solidFill>
                  <a:schemeClr val="dk1"/>
                </a:solidFill>
                <a:latin typeface="Gill Sans"/>
                <a:ea typeface="Gill Sans"/>
                <a:cs typeface="Gill Sans"/>
                <a:sym typeface="Gill Sans"/>
              </a:endParaRPr>
            </a:p>
          </p:txBody>
        </p:sp>
      </p:grpSp>
      <p:grpSp>
        <p:nvGrpSpPr>
          <p:cNvPr id="1120" name="Google Shape;1120;p62"/>
          <p:cNvGrpSpPr/>
          <p:nvPr/>
        </p:nvGrpSpPr>
        <p:grpSpPr>
          <a:xfrm>
            <a:off x="1187450" y="3429000"/>
            <a:ext cx="4105275" cy="346075"/>
            <a:chOff x="521" y="1408"/>
            <a:chExt cx="2586" cy="218"/>
          </a:xfrm>
        </p:grpSpPr>
        <p:pic>
          <p:nvPicPr>
            <p:cNvPr descr="test" id="1121" name="Google Shape;1121;p62"/>
            <p:cNvPicPr preferRelativeResize="0"/>
            <p:nvPr/>
          </p:nvPicPr>
          <p:blipFill rotWithShape="1">
            <a:blip r:embed="rId5">
              <a:alphaModFix/>
            </a:blip>
            <a:srcRect b="0" l="0" r="0" t="0"/>
            <a:stretch/>
          </p:blipFill>
          <p:spPr>
            <a:xfrm>
              <a:off x="521" y="1408"/>
              <a:ext cx="453" cy="208"/>
            </a:xfrm>
            <a:prstGeom prst="rect">
              <a:avLst/>
            </a:prstGeom>
            <a:noFill/>
            <a:ln>
              <a:noFill/>
            </a:ln>
          </p:spPr>
        </p:pic>
        <p:sp>
          <p:nvSpPr>
            <p:cNvPr id="1122" name="Google Shape;1122;p62"/>
            <p:cNvSpPr txBox="1"/>
            <p:nvPr/>
          </p:nvSpPr>
          <p:spPr>
            <a:xfrm>
              <a:off x="1020" y="1434"/>
              <a:ext cx="208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Projekti 1: Testitapaus 2</a:t>
              </a:r>
              <a:endParaRPr sz="1400">
                <a:solidFill>
                  <a:schemeClr val="dk1"/>
                </a:solidFill>
                <a:latin typeface="Gill Sans"/>
                <a:ea typeface="Gill Sans"/>
                <a:cs typeface="Gill Sans"/>
                <a:sym typeface="Gill Sans"/>
              </a:endParaRPr>
            </a:p>
          </p:txBody>
        </p:sp>
      </p:grpSp>
      <p:grpSp>
        <p:nvGrpSpPr>
          <p:cNvPr id="1123" name="Google Shape;1123;p62"/>
          <p:cNvGrpSpPr/>
          <p:nvPr/>
        </p:nvGrpSpPr>
        <p:grpSpPr>
          <a:xfrm>
            <a:off x="1187450" y="3860800"/>
            <a:ext cx="4105275" cy="346075"/>
            <a:chOff x="521" y="1408"/>
            <a:chExt cx="2586" cy="218"/>
          </a:xfrm>
        </p:grpSpPr>
        <p:pic>
          <p:nvPicPr>
            <p:cNvPr descr="test" id="1124" name="Google Shape;1124;p62"/>
            <p:cNvPicPr preferRelativeResize="0"/>
            <p:nvPr/>
          </p:nvPicPr>
          <p:blipFill rotWithShape="1">
            <a:blip r:embed="rId5">
              <a:alphaModFix/>
            </a:blip>
            <a:srcRect b="0" l="0" r="0" t="0"/>
            <a:stretch/>
          </p:blipFill>
          <p:spPr>
            <a:xfrm>
              <a:off x="521" y="1408"/>
              <a:ext cx="453" cy="208"/>
            </a:xfrm>
            <a:prstGeom prst="rect">
              <a:avLst/>
            </a:prstGeom>
            <a:noFill/>
            <a:ln>
              <a:noFill/>
            </a:ln>
          </p:spPr>
        </p:pic>
        <p:sp>
          <p:nvSpPr>
            <p:cNvPr id="1125" name="Google Shape;1125;p62"/>
            <p:cNvSpPr txBox="1"/>
            <p:nvPr/>
          </p:nvSpPr>
          <p:spPr>
            <a:xfrm>
              <a:off x="1020" y="1434"/>
              <a:ext cx="208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400">
                  <a:solidFill>
                    <a:schemeClr val="dk1"/>
                  </a:solidFill>
                  <a:latin typeface="Gill Sans"/>
                  <a:ea typeface="Gill Sans"/>
                  <a:cs typeface="Gill Sans"/>
                  <a:sym typeface="Gill Sans"/>
                </a:rPr>
                <a:t>Projekti 2: Testitapaus 2</a:t>
              </a:r>
              <a:endParaRPr sz="1400">
                <a:solidFill>
                  <a:schemeClr val="dk1"/>
                </a:solidFill>
                <a:latin typeface="Gill Sans"/>
                <a:ea typeface="Gill Sans"/>
                <a:cs typeface="Gill Sans"/>
                <a:sym typeface="Gill Sans"/>
              </a:endParaRPr>
            </a:p>
          </p:txBody>
        </p:sp>
      </p:grpSp>
      <p:sp>
        <p:nvSpPr>
          <p:cNvPr id="1126" name="Google Shape;1126;p62"/>
          <p:cNvSpPr txBox="1"/>
          <p:nvPr/>
        </p:nvSpPr>
        <p:spPr>
          <a:xfrm>
            <a:off x="3708400" y="1557338"/>
            <a:ext cx="3311525"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Suuri osa testitapauksista vastaa tuotantoversiota</a:t>
            </a:r>
            <a:endParaRPr sz="1800">
              <a:solidFill>
                <a:schemeClr val="dk1"/>
              </a:solidFill>
              <a:latin typeface="Gill Sans"/>
              <a:ea typeface="Gill Sans"/>
              <a:cs typeface="Gill Sans"/>
              <a:sym typeface="Gill Sans"/>
            </a:endParaRPr>
          </a:p>
        </p:txBody>
      </p:sp>
      <p:cxnSp>
        <p:nvCxnSpPr>
          <p:cNvPr id="1127" name="Google Shape;1127;p62"/>
          <p:cNvCxnSpPr/>
          <p:nvPr/>
        </p:nvCxnSpPr>
        <p:spPr>
          <a:xfrm flipH="1">
            <a:off x="3203575" y="1844675"/>
            <a:ext cx="504825" cy="504825"/>
          </a:xfrm>
          <a:prstGeom prst="straightConnector1">
            <a:avLst/>
          </a:prstGeom>
          <a:noFill/>
          <a:ln cap="flat" cmpd="sng" w="9525">
            <a:solidFill>
              <a:schemeClr val="dk1"/>
            </a:solidFill>
            <a:prstDash val="solid"/>
            <a:round/>
            <a:headEnd len="med" w="med" type="none"/>
            <a:tailEnd len="med" w="med" type="triangle"/>
          </a:ln>
        </p:spPr>
      </p:cxnSp>
      <p:sp>
        <p:nvSpPr>
          <p:cNvPr id="1128" name="Google Shape;1128;p62"/>
          <p:cNvSpPr txBox="1"/>
          <p:nvPr/>
        </p:nvSpPr>
        <p:spPr>
          <a:xfrm>
            <a:off x="5435600" y="2852738"/>
            <a:ext cx="3311525"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Joskus samaan asiaan useita rinnakkaisia muutoksia: enemmän poikkeustilanne. Silloin väliaikaisesti useita instansseja samasta testistä. Lopulta palataan takaisin yhteen: tuotannon testitapaukseen.</a:t>
            </a:r>
            <a:endParaRPr sz="1800">
              <a:solidFill>
                <a:schemeClr val="dk1"/>
              </a:solidFill>
              <a:latin typeface="Gill Sans"/>
              <a:ea typeface="Gill Sans"/>
              <a:cs typeface="Gill Sans"/>
              <a:sym typeface="Gill Sans"/>
            </a:endParaRPr>
          </a:p>
        </p:txBody>
      </p:sp>
      <p:cxnSp>
        <p:nvCxnSpPr>
          <p:cNvPr id="1129" name="Google Shape;1129;p62"/>
          <p:cNvCxnSpPr/>
          <p:nvPr/>
        </p:nvCxnSpPr>
        <p:spPr>
          <a:xfrm rot="10800000">
            <a:off x="4067175" y="2781300"/>
            <a:ext cx="1368425" cy="287338"/>
          </a:xfrm>
          <a:prstGeom prst="straightConnector1">
            <a:avLst/>
          </a:prstGeom>
          <a:noFill/>
          <a:ln cap="flat" cmpd="sng" w="9525">
            <a:solidFill>
              <a:schemeClr val="dk1"/>
            </a:solidFill>
            <a:prstDash val="solid"/>
            <a:round/>
            <a:headEnd len="med" w="med" type="none"/>
            <a:tailEnd len="med" w="med" type="triangle"/>
          </a:ln>
        </p:spPr>
      </p:cxnSp>
      <p:sp>
        <p:nvSpPr>
          <p:cNvPr id="1130" name="Google Shape;1130;p62"/>
          <p:cNvSpPr txBox="1"/>
          <p:nvPr/>
        </p:nvSpPr>
        <p:spPr>
          <a:xfrm>
            <a:off x="215900" y="4587875"/>
            <a:ext cx="45720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Ylläpitokorjauksien seurauksena saadaan muuttaa suoraan tuotannon testitapausta. </a:t>
            </a:r>
            <a:endParaRPr sz="1800">
              <a:solidFill>
                <a:schemeClr val="dk1"/>
              </a:solidFill>
              <a:latin typeface="Gill Sans"/>
              <a:ea typeface="Gill Sans"/>
              <a:cs typeface="Gill Sans"/>
              <a:sym typeface="Gill Sans"/>
            </a:endParaRPr>
          </a:p>
        </p:txBody>
      </p:sp>
      <p:cxnSp>
        <p:nvCxnSpPr>
          <p:cNvPr id="1131" name="Google Shape;1131;p62"/>
          <p:cNvCxnSpPr/>
          <p:nvPr/>
        </p:nvCxnSpPr>
        <p:spPr>
          <a:xfrm flipH="1" rot="10800000">
            <a:off x="684213" y="3141663"/>
            <a:ext cx="647700" cy="1511300"/>
          </a:xfrm>
          <a:prstGeom prst="straightConnector1">
            <a:avLst/>
          </a:prstGeom>
          <a:noFill/>
          <a:ln cap="flat" cmpd="sng" w="9525">
            <a:solidFill>
              <a:schemeClr val="dk1"/>
            </a:solidFill>
            <a:prstDash val="solid"/>
            <a:round/>
            <a:headEnd len="med" w="med" type="none"/>
            <a:tailEnd len="med" w="med" type="triangle"/>
          </a:ln>
        </p:spPr>
      </p:cxnSp>
      <p:sp>
        <p:nvSpPr>
          <p:cNvPr id="1132" name="Google Shape;1132;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Rakenteisten muistiinpanojen tekeminen tutkivassa testauksessa</a:t>
            </a:r>
            <a:endParaRPr/>
          </a:p>
        </p:txBody>
      </p:sp>
      <p:grpSp>
        <p:nvGrpSpPr>
          <p:cNvPr id="1139" name="Google Shape;1139;p63"/>
          <p:cNvGrpSpPr/>
          <p:nvPr/>
        </p:nvGrpSpPr>
        <p:grpSpPr>
          <a:xfrm>
            <a:off x="838200" y="1838348"/>
            <a:ext cx="7520014" cy="4662486"/>
            <a:chOff x="432" y="768"/>
            <a:chExt cx="5088" cy="3264"/>
          </a:xfrm>
        </p:grpSpPr>
        <p:sp>
          <p:nvSpPr>
            <p:cNvPr id="1140" name="Google Shape;1140;p63"/>
            <p:cNvSpPr/>
            <p:nvPr/>
          </p:nvSpPr>
          <p:spPr>
            <a:xfrm>
              <a:off x="432" y="768"/>
              <a:ext cx="2496" cy="1584"/>
            </a:xfrm>
            <a:prstGeom prst="rect">
              <a:avLst/>
            </a:prstGeom>
            <a:solidFill>
              <a:schemeClr val="lt1"/>
            </a:solidFill>
            <a:ln cap="flat" cmpd="sng" w="57150">
              <a:solidFill>
                <a:schemeClr val="accent2"/>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fi-FI" sz="2400">
                  <a:solidFill>
                    <a:schemeClr val="dk1"/>
                  </a:solidFill>
                  <a:latin typeface="Gill Sans"/>
                  <a:ea typeface="Gill Sans"/>
                  <a:cs typeface="Gill Sans"/>
                  <a:sym typeface="Gill Sans"/>
                </a:rPr>
                <a:t>Visio (“hiekkalaatikko”)</a:t>
              </a:r>
              <a:endParaRPr b="1" sz="2400">
                <a:solidFill>
                  <a:schemeClr val="dk1"/>
                </a:solidFill>
                <a:latin typeface="Gill Sans"/>
                <a:ea typeface="Gill Sans"/>
                <a:cs typeface="Gill Sans"/>
                <a:sym typeface="Gill Sans"/>
              </a:endParaRPr>
            </a:p>
          </p:txBody>
        </p:sp>
        <p:sp>
          <p:nvSpPr>
            <p:cNvPr id="1141" name="Google Shape;1141;p63"/>
            <p:cNvSpPr/>
            <p:nvPr/>
          </p:nvSpPr>
          <p:spPr>
            <a:xfrm>
              <a:off x="3024" y="768"/>
              <a:ext cx="2496" cy="1584"/>
            </a:xfrm>
            <a:prstGeom prst="rect">
              <a:avLst/>
            </a:prstGeom>
            <a:solidFill>
              <a:schemeClr val="lt1"/>
            </a:solidFill>
            <a:ln cap="flat" cmpd="sng" w="57150">
              <a:solidFill>
                <a:schemeClr val="accent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fi-FI" sz="2400">
                  <a:solidFill>
                    <a:schemeClr val="dk1"/>
                  </a:solidFill>
                  <a:latin typeface="Gill Sans"/>
                  <a:ea typeface="Gill Sans"/>
                  <a:cs typeface="Gill Sans"/>
                  <a:sym typeface="Gill Sans"/>
                </a:rPr>
                <a:t>Nykyinen tehtävänanto</a:t>
              </a:r>
              <a:endParaRPr b="1" sz="2400">
                <a:solidFill>
                  <a:schemeClr val="dk1"/>
                </a:solidFill>
                <a:latin typeface="Gill Sans"/>
                <a:ea typeface="Gill Sans"/>
                <a:cs typeface="Gill Sans"/>
                <a:sym typeface="Gill Sans"/>
              </a:endParaRPr>
            </a:p>
          </p:txBody>
        </p:sp>
        <p:sp>
          <p:nvSpPr>
            <p:cNvPr id="1142" name="Google Shape;1142;p63"/>
            <p:cNvSpPr/>
            <p:nvPr/>
          </p:nvSpPr>
          <p:spPr>
            <a:xfrm>
              <a:off x="432" y="2448"/>
              <a:ext cx="2496" cy="1584"/>
            </a:xfrm>
            <a:prstGeom prst="rect">
              <a:avLst/>
            </a:prstGeom>
            <a:solidFill>
              <a:schemeClr val="lt1"/>
            </a:solidFill>
            <a:ln cap="flat" cmpd="sng" w="57150">
              <a:solidFill>
                <a:schemeClr val="folHlink"/>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fi-FI" sz="2400">
                  <a:solidFill>
                    <a:schemeClr val="dk1"/>
                  </a:solidFill>
                  <a:latin typeface="Gill Sans"/>
                  <a:ea typeface="Gill Sans"/>
                  <a:cs typeface="Gill Sans"/>
                  <a:sym typeface="Gill Sans"/>
                </a:rPr>
                <a:t>Muita tehtävänantoja</a:t>
              </a:r>
              <a:endParaRPr b="1" sz="2400">
                <a:solidFill>
                  <a:schemeClr val="dk1"/>
                </a:solidFill>
                <a:latin typeface="Gill Sans"/>
                <a:ea typeface="Gill Sans"/>
                <a:cs typeface="Gill Sans"/>
                <a:sym typeface="Gill Sans"/>
              </a:endParaRPr>
            </a:p>
          </p:txBody>
        </p:sp>
        <p:sp>
          <p:nvSpPr>
            <p:cNvPr id="1143" name="Google Shape;1143;p63"/>
            <p:cNvSpPr/>
            <p:nvPr/>
          </p:nvSpPr>
          <p:spPr>
            <a:xfrm>
              <a:off x="3024" y="2448"/>
              <a:ext cx="2496" cy="1584"/>
            </a:xfrm>
            <a:prstGeom prst="rect">
              <a:avLst/>
            </a:prstGeom>
            <a:solidFill>
              <a:schemeClr val="lt1"/>
            </a:solidFill>
            <a:ln cap="flat" cmpd="sng" w="57150">
              <a:solidFill>
                <a:schemeClr val="accent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fi-FI" sz="2400">
                  <a:solidFill>
                    <a:schemeClr val="dk1"/>
                  </a:solidFill>
                  <a:latin typeface="Gill Sans"/>
                  <a:ea typeface="Gill Sans"/>
                  <a:cs typeface="Gill Sans"/>
                  <a:sym typeface="Gill Sans"/>
                </a:rPr>
                <a:t>Yksityiskohdat</a:t>
              </a:r>
              <a:endParaRPr b="1" sz="2400">
                <a:solidFill>
                  <a:schemeClr val="dk1"/>
                </a:solidFill>
                <a:latin typeface="Gill Sans"/>
                <a:ea typeface="Gill Sans"/>
                <a:cs typeface="Gill Sans"/>
                <a:sym typeface="Gill Sans"/>
              </a:endParaRPr>
            </a:p>
          </p:txBody>
        </p:sp>
      </p:grpSp>
      <p:sp>
        <p:nvSpPr>
          <p:cNvPr id="1144" name="Google Shape;1144;p63"/>
          <p:cNvSpPr txBox="1"/>
          <p:nvPr/>
        </p:nvSpPr>
        <p:spPr>
          <a:xfrm>
            <a:off x="6248400" y="5715000"/>
            <a:ext cx="5334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i-FI" sz="3200">
                <a:solidFill>
                  <a:schemeClr val="accent3"/>
                </a:solidFill>
                <a:latin typeface="Gill Sans"/>
                <a:ea typeface="Gill Sans"/>
                <a:cs typeface="Gill Sans"/>
                <a:sym typeface="Gill Sans"/>
              </a:rPr>
              <a:t>?</a:t>
            </a:r>
            <a:endParaRPr b="1" sz="3200">
              <a:solidFill>
                <a:schemeClr val="accent3"/>
              </a:solidFill>
              <a:latin typeface="Gill Sans"/>
              <a:ea typeface="Gill Sans"/>
              <a:cs typeface="Gill Sans"/>
              <a:sym typeface="Gill Sans"/>
            </a:endParaRPr>
          </a:p>
        </p:txBody>
      </p:sp>
      <p:sp>
        <p:nvSpPr>
          <p:cNvPr id="1145" name="Google Shape;1145;p63"/>
          <p:cNvSpPr txBox="1"/>
          <p:nvPr/>
        </p:nvSpPr>
        <p:spPr>
          <a:xfrm>
            <a:off x="5638800" y="5715000"/>
            <a:ext cx="5334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i-FI" sz="3200">
                <a:solidFill>
                  <a:schemeClr val="accent3"/>
                </a:solidFill>
                <a:latin typeface="Gill Sans"/>
                <a:ea typeface="Gill Sans"/>
                <a:cs typeface="Gill Sans"/>
                <a:sym typeface="Gill Sans"/>
              </a:rPr>
              <a:t>#</a:t>
            </a:r>
            <a:endParaRPr b="1" sz="3200">
              <a:solidFill>
                <a:schemeClr val="accent3"/>
              </a:solidFill>
              <a:latin typeface="Gill Sans"/>
              <a:ea typeface="Gill Sans"/>
              <a:cs typeface="Gill Sans"/>
              <a:sym typeface="Gill Sans"/>
            </a:endParaRPr>
          </a:p>
        </p:txBody>
      </p:sp>
      <p:sp>
        <p:nvSpPr>
          <p:cNvPr id="1146" name="Google Shape;1146;p63"/>
          <p:cNvSpPr txBox="1"/>
          <p:nvPr/>
        </p:nvSpPr>
        <p:spPr>
          <a:xfrm>
            <a:off x="6934200" y="5715000"/>
            <a:ext cx="5334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i-FI" sz="3200">
                <a:solidFill>
                  <a:schemeClr val="accent3"/>
                </a:solidFill>
                <a:latin typeface="Gill Sans"/>
                <a:ea typeface="Gill Sans"/>
                <a:cs typeface="Gill Sans"/>
                <a:sym typeface="Gill Sans"/>
              </a:rPr>
              <a:t>x</a:t>
            </a:r>
            <a:endParaRPr b="1" sz="3200">
              <a:solidFill>
                <a:schemeClr val="accent3"/>
              </a:solidFill>
              <a:latin typeface="Gill Sans"/>
              <a:ea typeface="Gill Sans"/>
              <a:cs typeface="Gill Sans"/>
              <a:sym typeface="Gill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Gill Sans"/>
              <a:buNone/>
            </a:pPr>
            <a:r>
              <a:rPr lang="fi-FI" sz="4000">
                <a:latin typeface="Gill Sans"/>
                <a:ea typeface="Gill Sans"/>
                <a:cs typeface="Gill Sans"/>
                <a:sym typeface="Gill Sans"/>
              </a:rPr>
              <a:t>Tutkivan testauksen kehikko</a:t>
            </a:r>
            <a:endParaRPr sz="4000">
              <a:latin typeface="Gill Sans"/>
              <a:ea typeface="Gill Sans"/>
              <a:cs typeface="Gill Sans"/>
              <a:sym typeface="Gill Sans"/>
            </a:endParaRPr>
          </a:p>
        </p:txBody>
      </p:sp>
      <p:sp>
        <p:nvSpPr>
          <p:cNvPr id="1153" name="Google Shape;1153;p64"/>
          <p:cNvSpPr txBox="1"/>
          <p:nvPr/>
        </p:nvSpPr>
        <p:spPr>
          <a:xfrm>
            <a:off x="4567230" y="2438400"/>
            <a:ext cx="264320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2800">
                <a:solidFill>
                  <a:schemeClr val="dk1"/>
                </a:solidFill>
                <a:latin typeface="Gill Sans"/>
                <a:ea typeface="Gill Sans"/>
                <a:cs typeface="Gill Sans"/>
                <a:sym typeface="Gill Sans"/>
              </a:rPr>
              <a:t>”Päivän työt”</a:t>
            </a:r>
            <a:endParaRPr sz="2800">
              <a:solidFill>
                <a:schemeClr val="dk1"/>
              </a:solidFill>
              <a:latin typeface="Gill Sans"/>
              <a:ea typeface="Gill Sans"/>
              <a:cs typeface="Gill Sans"/>
              <a:sym typeface="Gill Sans"/>
            </a:endParaRPr>
          </a:p>
        </p:txBody>
      </p:sp>
      <p:grpSp>
        <p:nvGrpSpPr>
          <p:cNvPr id="1154" name="Google Shape;1154;p64"/>
          <p:cNvGrpSpPr/>
          <p:nvPr/>
        </p:nvGrpSpPr>
        <p:grpSpPr>
          <a:xfrm>
            <a:off x="4814886" y="2971800"/>
            <a:ext cx="4024314" cy="2143140"/>
            <a:chOff x="432" y="768"/>
            <a:chExt cx="5088" cy="3264"/>
          </a:xfrm>
        </p:grpSpPr>
        <p:sp>
          <p:nvSpPr>
            <p:cNvPr id="1155" name="Google Shape;1155;p64"/>
            <p:cNvSpPr/>
            <p:nvPr/>
          </p:nvSpPr>
          <p:spPr>
            <a:xfrm>
              <a:off x="432" y="768"/>
              <a:ext cx="2496" cy="1584"/>
            </a:xfrm>
            <a:prstGeom prst="rect">
              <a:avLst/>
            </a:prstGeom>
            <a:solidFill>
              <a:schemeClr val="lt1"/>
            </a:solidFill>
            <a:ln cap="flat" cmpd="sng" w="57150">
              <a:solidFill>
                <a:schemeClr val="accent2"/>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fi-FI" sz="1200">
                  <a:solidFill>
                    <a:schemeClr val="dk1"/>
                  </a:solidFill>
                  <a:latin typeface="Gill Sans"/>
                  <a:ea typeface="Gill Sans"/>
                  <a:cs typeface="Gill Sans"/>
                  <a:sym typeface="Gill Sans"/>
                </a:rPr>
                <a:t>Visio (“hiekkalaatikko”)</a:t>
              </a:r>
              <a:endParaRPr b="1" sz="1200">
                <a:solidFill>
                  <a:schemeClr val="dk1"/>
                </a:solidFill>
                <a:latin typeface="Gill Sans"/>
                <a:ea typeface="Gill Sans"/>
                <a:cs typeface="Gill Sans"/>
                <a:sym typeface="Gill Sans"/>
              </a:endParaRPr>
            </a:p>
          </p:txBody>
        </p:sp>
        <p:sp>
          <p:nvSpPr>
            <p:cNvPr id="1156" name="Google Shape;1156;p64"/>
            <p:cNvSpPr/>
            <p:nvPr/>
          </p:nvSpPr>
          <p:spPr>
            <a:xfrm>
              <a:off x="3024" y="768"/>
              <a:ext cx="2496" cy="1584"/>
            </a:xfrm>
            <a:prstGeom prst="rect">
              <a:avLst/>
            </a:prstGeom>
            <a:solidFill>
              <a:schemeClr val="lt1"/>
            </a:solidFill>
            <a:ln cap="flat" cmpd="sng" w="57150">
              <a:solidFill>
                <a:schemeClr val="accent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fi-FI" sz="1200">
                  <a:solidFill>
                    <a:schemeClr val="dk1"/>
                  </a:solidFill>
                  <a:latin typeface="Gill Sans"/>
                  <a:ea typeface="Gill Sans"/>
                  <a:cs typeface="Gill Sans"/>
                  <a:sym typeface="Gill Sans"/>
                </a:rPr>
                <a:t>Nykyinen tehtävänanto</a:t>
              </a:r>
              <a:endParaRPr b="1" sz="1200">
                <a:solidFill>
                  <a:schemeClr val="dk1"/>
                </a:solidFill>
                <a:latin typeface="Gill Sans"/>
                <a:ea typeface="Gill Sans"/>
                <a:cs typeface="Gill Sans"/>
                <a:sym typeface="Gill Sans"/>
              </a:endParaRPr>
            </a:p>
          </p:txBody>
        </p:sp>
        <p:sp>
          <p:nvSpPr>
            <p:cNvPr id="1157" name="Google Shape;1157;p64"/>
            <p:cNvSpPr/>
            <p:nvPr/>
          </p:nvSpPr>
          <p:spPr>
            <a:xfrm>
              <a:off x="432" y="2448"/>
              <a:ext cx="2496" cy="1584"/>
            </a:xfrm>
            <a:prstGeom prst="rect">
              <a:avLst/>
            </a:prstGeom>
            <a:solidFill>
              <a:schemeClr val="lt1"/>
            </a:solidFill>
            <a:ln cap="flat" cmpd="sng" w="57150">
              <a:solidFill>
                <a:schemeClr val="folHlink"/>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fi-FI" sz="1200">
                  <a:solidFill>
                    <a:schemeClr val="dk1"/>
                  </a:solidFill>
                  <a:latin typeface="Gill Sans"/>
                  <a:ea typeface="Gill Sans"/>
                  <a:cs typeface="Gill Sans"/>
                  <a:sym typeface="Gill Sans"/>
                </a:rPr>
                <a:t>Muut tehtävänannot</a:t>
              </a:r>
              <a:endParaRPr b="1" sz="1200">
                <a:solidFill>
                  <a:schemeClr val="dk1"/>
                </a:solidFill>
                <a:latin typeface="Gill Sans"/>
                <a:ea typeface="Gill Sans"/>
                <a:cs typeface="Gill Sans"/>
                <a:sym typeface="Gill Sans"/>
              </a:endParaRPr>
            </a:p>
          </p:txBody>
        </p:sp>
        <p:sp>
          <p:nvSpPr>
            <p:cNvPr id="1158" name="Google Shape;1158;p64"/>
            <p:cNvSpPr/>
            <p:nvPr/>
          </p:nvSpPr>
          <p:spPr>
            <a:xfrm>
              <a:off x="3024" y="2448"/>
              <a:ext cx="2496" cy="1584"/>
            </a:xfrm>
            <a:prstGeom prst="rect">
              <a:avLst/>
            </a:prstGeom>
            <a:solidFill>
              <a:schemeClr val="lt1"/>
            </a:solidFill>
            <a:ln cap="flat" cmpd="sng" w="57150">
              <a:solidFill>
                <a:schemeClr val="accent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fi-FI" sz="1200">
                  <a:solidFill>
                    <a:schemeClr val="dk1"/>
                  </a:solidFill>
                  <a:latin typeface="Gill Sans"/>
                  <a:ea typeface="Gill Sans"/>
                  <a:cs typeface="Gill Sans"/>
                  <a:sym typeface="Gill Sans"/>
                </a:rPr>
                <a:t>Yksityiskohdat</a:t>
              </a:r>
              <a:endParaRPr b="1" sz="1200">
                <a:solidFill>
                  <a:schemeClr val="dk1"/>
                </a:solidFill>
                <a:latin typeface="Gill Sans"/>
                <a:ea typeface="Gill Sans"/>
                <a:cs typeface="Gill Sans"/>
                <a:sym typeface="Gill Sans"/>
              </a:endParaRPr>
            </a:p>
          </p:txBody>
        </p:sp>
      </p:grpSp>
      <p:sp>
        <p:nvSpPr>
          <p:cNvPr id="1159" name="Google Shape;1159;p64"/>
          <p:cNvSpPr/>
          <p:nvPr/>
        </p:nvSpPr>
        <p:spPr>
          <a:xfrm>
            <a:off x="7491402" y="5548315"/>
            <a:ext cx="1500198" cy="833013"/>
          </a:xfrm>
          <a:prstGeom prst="foldedCorner">
            <a:avLst>
              <a:gd fmla="val 16667" name="adj"/>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2000">
                <a:solidFill>
                  <a:schemeClr val="lt1"/>
                </a:solidFill>
                <a:latin typeface="Gill Sans"/>
                <a:ea typeface="Gill Sans"/>
                <a:cs typeface="Gill Sans"/>
                <a:sym typeface="Gill Sans"/>
              </a:rPr>
              <a:t>Havainto-kirjaukset</a:t>
            </a:r>
            <a:endParaRPr sz="2000">
              <a:solidFill>
                <a:schemeClr val="lt1"/>
              </a:solidFill>
              <a:latin typeface="Gill Sans"/>
              <a:ea typeface="Gill Sans"/>
              <a:cs typeface="Gill Sans"/>
              <a:sym typeface="Gill Sans"/>
            </a:endParaRPr>
          </a:p>
        </p:txBody>
      </p:sp>
      <p:sp>
        <p:nvSpPr>
          <p:cNvPr id="1160" name="Google Shape;1160;p64"/>
          <p:cNvSpPr/>
          <p:nvPr/>
        </p:nvSpPr>
        <p:spPr>
          <a:xfrm>
            <a:off x="3429000" y="1357298"/>
            <a:ext cx="2727176" cy="1143008"/>
          </a:xfrm>
          <a:prstGeom prst="cloud">
            <a:avLst/>
          </a:prstGeom>
          <a:gradFill>
            <a:gsLst>
              <a:gs pos="0">
                <a:srgbClr val="C5CBD1"/>
              </a:gs>
              <a:gs pos="35000">
                <a:srgbClr val="D7DADD"/>
              </a:gs>
              <a:gs pos="100000">
                <a:srgbClr val="EEF2F2"/>
              </a:gs>
            </a:gsLst>
            <a:lin ang="16200000" scaled="0"/>
          </a:gradFill>
          <a:ln cap="flat" cmpd="sng" w="9525">
            <a:solidFill>
              <a:srgbClr val="73788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Käsitys laadusta ja kattavuudesta</a:t>
            </a:r>
            <a:endParaRPr sz="1800">
              <a:solidFill>
                <a:schemeClr val="dk1"/>
              </a:solidFill>
              <a:latin typeface="Gill Sans"/>
              <a:ea typeface="Gill Sans"/>
              <a:cs typeface="Gill Sans"/>
              <a:sym typeface="Gill Sans"/>
            </a:endParaRPr>
          </a:p>
        </p:txBody>
      </p:sp>
      <p:sp>
        <p:nvSpPr>
          <p:cNvPr id="1161" name="Google Shape;1161;p64"/>
          <p:cNvSpPr/>
          <p:nvPr/>
        </p:nvSpPr>
        <p:spPr>
          <a:xfrm>
            <a:off x="7010400" y="1219200"/>
            <a:ext cx="1738064" cy="1143000"/>
          </a:xfrm>
          <a:prstGeom prst="foldedCorner">
            <a:avLst>
              <a:gd fmla="val 16667" name="adj"/>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2000">
                <a:solidFill>
                  <a:schemeClr val="lt1"/>
                </a:solidFill>
                <a:latin typeface="Gill Sans"/>
                <a:ea typeface="Gill Sans"/>
                <a:cs typeface="Gill Sans"/>
                <a:sym typeface="Gill Sans"/>
              </a:rPr>
              <a:t>Laaturaportti</a:t>
            </a:r>
            <a:endParaRPr sz="2000">
              <a:solidFill>
                <a:schemeClr val="lt1"/>
              </a:solidFill>
              <a:latin typeface="Gill Sans"/>
              <a:ea typeface="Gill Sans"/>
              <a:cs typeface="Gill Sans"/>
              <a:sym typeface="Gill Sans"/>
            </a:endParaRPr>
          </a:p>
        </p:txBody>
      </p:sp>
      <p:sp>
        <p:nvSpPr>
          <p:cNvPr id="1162" name="Google Shape;1162;p64"/>
          <p:cNvSpPr/>
          <p:nvPr/>
        </p:nvSpPr>
        <p:spPr>
          <a:xfrm>
            <a:off x="1600200" y="1500174"/>
            <a:ext cx="1571636" cy="928694"/>
          </a:xfrm>
          <a:prstGeom prst="wedgeRoundRectCallout">
            <a:avLst>
              <a:gd fmla="val 48984" name="adj1"/>
              <a:gd fmla="val 85474" name="adj2"/>
              <a:gd fmla="val 16667" name="adj3"/>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600">
                <a:solidFill>
                  <a:schemeClr val="lt1"/>
                </a:solidFill>
                <a:latin typeface="Gill Sans"/>
                <a:ea typeface="Gill Sans"/>
                <a:cs typeface="Gill Sans"/>
                <a:sym typeface="Gill Sans"/>
              </a:rPr>
              <a:t>Tiivis tilannekatsaus (Debriefing)</a:t>
            </a:r>
            <a:endParaRPr sz="1600">
              <a:solidFill>
                <a:schemeClr val="lt1"/>
              </a:solidFill>
              <a:latin typeface="Gill Sans"/>
              <a:ea typeface="Gill Sans"/>
              <a:cs typeface="Gill Sans"/>
              <a:sym typeface="Gill Sans"/>
            </a:endParaRPr>
          </a:p>
        </p:txBody>
      </p:sp>
      <p:grpSp>
        <p:nvGrpSpPr>
          <p:cNvPr id="1163" name="Google Shape;1163;p64"/>
          <p:cNvGrpSpPr/>
          <p:nvPr/>
        </p:nvGrpSpPr>
        <p:grpSpPr>
          <a:xfrm>
            <a:off x="3505200" y="2819400"/>
            <a:ext cx="1071570" cy="1266403"/>
            <a:chOff x="4071934" y="4746507"/>
            <a:chExt cx="1071570" cy="1266403"/>
          </a:xfrm>
        </p:grpSpPr>
        <p:pic>
          <p:nvPicPr>
            <p:cNvPr descr="C:\Documents and Settings\Maaret\My Documents\My Pictures\Microsoft Clip Organizer\j0078753.wmf" id="1164" name="Google Shape;1164;p64"/>
            <p:cNvPicPr preferRelativeResize="0"/>
            <p:nvPr/>
          </p:nvPicPr>
          <p:blipFill rotWithShape="1">
            <a:blip r:embed="rId3">
              <a:alphaModFix/>
            </a:blip>
            <a:srcRect b="0" l="0" r="0" t="0"/>
            <a:stretch/>
          </p:blipFill>
          <p:spPr>
            <a:xfrm>
              <a:off x="4161898" y="4746507"/>
              <a:ext cx="838730" cy="891773"/>
            </a:xfrm>
            <a:prstGeom prst="rect">
              <a:avLst/>
            </a:prstGeom>
            <a:noFill/>
            <a:ln>
              <a:noFill/>
            </a:ln>
          </p:spPr>
        </p:pic>
        <p:sp>
          <p:nvSpPr>
            <p:cNvPr id="1165" name="Google Shape;1165;p64"/>
            <p:cNvSpPr txBox="1"/>
            <p:nvPr/>
          </p:nvSpPr>
          <p:spPr>
            <a:xfrm>
              <a:off x="4071934" y="5643578"/>
              <a:ext cx="10715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Testaaja</a:t>
              </a:r>
              <a:endParaRPr sz="1800">
                <a:solidFill>
                  <a:schemeClr val="dk1"/>
                </a:solidFill>
                <a:latin typeface="Gill Sans"/>
                <a:ea typeface="Gill Sans"/>
                <a:cs typeface="Gill Sans"/>
                <a:sym typeface="Gill Sans"/>
              </a:endParaRPr>
            </a:p>
          </p:txBody>
        </p:sp>
      </p:grpSp>
      <p:grpSp>
        <p:nvGrpSpPr>
          <p:cNvPr id="1166" name="Google Shape;1166;p64"/>
          <p:cNvGrpSpPr/>
          <p:nvPr/>
        </p:nvGrpSpPr>
        <p:grpSpPr>
          <a:xfrm>
            <a:off x="-252394" y="1447800"/>
            <a:ext cx="1928794" cy="1983372"/>
            <a:chOff x="7000892" y="2449149"/>
            <a:chExt cx="1928794" cy="1983372"/>
          </a:xfrm>
        </p:grpSpPr>
        <p:pic>
          <p:nvPicPr>
            <p:cNvPr descr="C:\Documents and Settings\Maaret\My Documents\My Pictures\Microsoft Clip Organizer\j0078713.wmf" id="1167" name="Google Shape;1167;p64"/>
            <p:cNvPicPr preferRelativeResize="0"/>
            <p:nvPr/>
          </p:nvPicPr>
          <p:blipFill rotWithShape="1">
            <a:blip r:embed="rId4">
              <a:alphaModFix/>
            </a:blip>
            <a:srcRect b="0" l="0" r="0" t="0"/>
            <a:stretch/>
          </p:blipFill>
          <p:spPr>
            <a:xfrm>
              <a:off x="7641525" y="2449149"/>
              <a:ext cx="645251" cy="1376721"/>
            </a:xfrm>
            <a:prstGeom prst="rect">
              <a:avLst/>
            </a:prstGeom>
            <a:noFill/>
            <a:ln>
              <a:noFill/>
            </a:ln>
          </p:spPr>
        </p:pic>
        <p:sp>
          <p:nvSpPr>
            <p:cNvPr id="1168" name="Google Shape;1168;p64"/>
            <p:cNvSpPr txBox="1"/>
            <p:nvPr/>
          </p:nvSpPr>
          <p:spPr>
            <a:xfrm>
              <a:off x="7000892" y="3786190"/>
              <a:ext cx="192879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Testaus-</a:t>
              </a:r>
              <a:br>
                <a:rPr lang="fi-FI" sz="1800">
                  <a:solidFill>
                    <a:schemeClr val="dk1"/>
                  </a:solidFill>
                  <a:latin typeface="Gill Sans"/>
                  <a:ea typeface="Gill Sans"/>
                  <a:cs typeface="Gill Sans"/>
                  <a:sym typeface="Gill Sans"/>
                </a:rPr>
              </a:br>
              <a:r>
                <a:rPr lang="fi-FI" sz="1800">
                  <a:solidFill>
                    <a:schemeClr val="dk1"/>
                  </a:solidFill>
                  <a:latin typeface="Gill Sans"/>
                  <a:ea typeface="Gill Sans"/>
                  <a:cs typeface="Gill Sans"/>
                  <a:sym typeface="Gill Sans"/>
                </a:rPr>
                <a:t>vastaava</a:t>
              </a:r>
              <a:endParaRPr sz="1800">
                <a:solidFill>
                  <a:schemeClr val="dk1"/>
                </a:solidFill>
                <a:latin typeface="Gill Sans"/>
                <a:ea typeface="Gill Sans"/>
                <a:cs typeface="Gill Sans"/>
                <a:sym typeface="Gill Sans"/>
              </a:endParaRPr>
            </a:p>
          </p:txBody>
        </p:sp>
      </p:grpSp>
      <p:sp>
        <p:nvSpPr>
          <p:cNvPr id="1169" name="Google Shape;1169;p64"/>
          <p:cNvSpPr txBox="1"/>
          <p:nvPr/>
        </p:nvSpPr>
        <p:spPr>
          <a:xfrm>
            <a:off x="1604954" y="2438400"/>
            <a:ext cx="138287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i-FI" sz="1800">
                <a:solidFill>
                  <a:srgbClr val="FF0000"/>
                </a:solidFill>
                <a:latin typeface="Gill Sans"/>
                <a:ea typeface="Gill Sans"/>
                <a:cs typeface="Gill Sans"/>
                <a:sym typeface="Gill Sans"/>
              </a:rPr>
              <a:t>P</a:t>
            </a:r>
            <a:r>
              <a:rPr lang="fi-FI" sz="1800">
                <a:solidFill>
                  <a:schemeClr val="dk1"/>
                </a:solidFill>
                <a:latin typeface="Gill Sans"/>
                <a:ea typeface="Gill Sans"/>
                <a:cs typeface="Gill Sans"/>
                <a:sym typeface="Gill Sans"/>
              </a:rPr>
              <a:t>ast</a:t>
            </a:r>
            <a:endParaRPr/>
          </a:p>
          <a:p>
            <a:pPr indent="0" lvl="0" marL="0" marR="0" rtl="0" algn="l">
              <a:spcBef>
                <a:spcPts val="0"/>
              </a:spcBef>
              <a:spcAft>
                <a:spcPts val="0"/>
              </a:spcAft>
              <a:buNone/>
            </a:pPr>
            <a:r>
              <a:rPr b="1" lang="fi-FI" sz="1800">
                <a:solidFill>
                  <a:srgbClr val="FF0000"/>
                </a:solidFill>
                <a:latin typeface="Gill Sans"/>
                <a:ea typeface="Gill Sans"/>
                <a:cs typeface="Gill Sans"/>
                <a:sym typeface="Gill Sans"/>
              </a:rPr>
              <a:t>R</a:t>
            </a:r>
            <a:r>
              <a:rPr lang="fi-FI" sz="1800">
                <a:solidFill>
                  <a:schemeClr val="dk1"/>
                </a:solidFill>
                <a:latin typeface="Gill Sans"/>
                <a:ea typeface="Gill Sans"/>
                <a:cs typeface="Gill Sans"/>
                <a:sym typeface="Gill Sans"/>
              </a:rPr>
              <a:t>esults</a:t>
            </a:r>
            <a:endParaRPr/>
          </a:p>
          <a:p>
            <a:pPr indent="0" lvl="0" marL="0" marR="0" rtl="0" algn="l">
              <a:spcBef>
                <a:spcPts val="0"/>
              </a:spcBef>
              <a:spcAft>
                <a:spcPts val="0"/>
              </a:spcAft>
              <a:buNone/>
            </a:pPr>
            <a:r>
              <a:rPr b="1" lang="fi-FI" sz="1800">
                <a:solidFill>
                  <a:srgbClr val="FF0000"/>
                </a:solidFill>
                <a:latin typeface="Gill Sans"/>
                <a:ea typeface="Gill Sans"/>
                <a:cs typeface="Gill Sans"/>
                <a:sym typeface="Gill Sans"/>
              </a:rPr>
              <a:t>O</a:t>
            </a:r>
            <a:r>
              <a:rPr lang="fi-FI" sz="1800">
                <a:solidFill>
                  <a:schemeClr val="dk1"/>
                </a:solidFill>
                <a:latin typeface="Gill Sans"/>
                <a:ea typeface="Gill Sans"/>
                <a:cs typeface="Gill Sans"/>
                <a:sym typeface="Gill Sans"/>
              </a:rPr>
              <a:t>bstacles</a:t>
            </a:r>
            <a:endParaRPr/>
          </a:p>
          <a:p>
            <a:pPr indent="0" lvl="0" marL="0" marR="0" rtl="0" algn="l">
              <a:spcBef>
                <a:spcPts val="0"/>
              </a:spcBef>
              <a:spcAft>
                <a:spcPts val="0"/>
              </a:spcAft>
              <a:buNone/>
            </a:pPr>
            <a:r>
              <a:rPr b="1" lang="fi-FI" sz="1800">
                <a:solidFill>
                  <a:srgbClr val="FF0000"/>
                </a:solidFill>
                <a:latin typeface="Gill Sans"/>
                <a:ea typeface="Gill Sans"/>
                <a:cs typeface="Gill Sans"/>
                <a:sym typeface="Gill Sans"/>
              </a:rPr>
              <a:t>O</a:t>
            </a:r>
            <a:r>
              <a:rPr lang="fi-FI" sz="1800">
                <a:solidFill>
                  <a:schemeClr val="dk1"/>
                </a:solidFill>
                <a:latin typeface="Gill Sans"/>
                <a:ea typeface="Gill Sans"/>
                <a:cs typeface="Gill Sans"/>
                <a:sym typeface="Gill Sans"/>
              </a:rPr>
              <a:t>utlook</a:t>
            </a:r>
            <a:endParaRPr/>
          </a:p>
          <a:p>
            <a:pPr indent="0" lvl="0" marL="0" marR="0" rtl="0" algn="l">
              <a:spcBef>
                <a:spcPts val="0"/>
              </a:spcBef>
              <a:spcAft>
                <a:spcPts val="0"/>
              </a:spcAft>
              <a:buNone/>
            </a:pPr>
            <a:r>
              <a:rPr b="1" lang="fi-FI" sz="1800">
                <a:solidFill>
                  <a:srgbClr val="FF0000"/>
                </a:solidFill>
                <a:latin typeface="Gill Sans"/>
                <a:ea typeface="Gill Sans"/>
                <a:cs typeface="Gill Sans"/>
                <a:sym typeface="Gill Sans"/>
              </a:rPr>
              <a:t>F</a:t>
            </a:r>
            <a:r>
              <a:rPr lang="fi-FI" sz="1800">
                <a:solidFill>
                  <a:schemeClr val="dk1"/>
                </a:solidFill>
                <a:latin typeface="Gill Sans"/>
                <a:ea typeface="Gill Sans"/>
                <a:cs typeface="Gill Sans"/>
                <a:sym typeface="Gill Sans"/>
              </a:rPr>
              <a:t>eelings</a:t>
            </a:r>
            <a:endParaRPr sz="1800">
              <a:solidFill>
                <a:schemeClr val="dk1"/>
              </a:solidFill>
              <a:latin typeface="Gill Sans"/>
              <a:ea typeface="Gill Sans"/>
              <a:cs typeface="Gill Sans"/>
              <a:sym typeface="Gill Sans"/>
            </a:endParaRPr>
          </a:p>
        </p:txBody>
      </p:sp>
      <p:sp>
        <p:nvSpPr>
          <p:cNvPr id="1170" name="Google Shape;1170;p64"/>
          <p:cNvSpPr/>
          <p:nvPr/>
        </p:nvSpPr>
        <p:spPr>
          <a:xfrm rot="2826998">
            <a:off x="7509485" y="4918687"/>
            <a:ext cx="571504" cy="571504"/>
          </a:xfrm>
          <a:prstGeom prst="rightArrow">
            <a:avLst>
              <a:gd fmla="val 50000" name="adj1"/>
              <a:gd fmla="val 50000" name="adj2"/>
            </a:avLst>
          </a:prstGeom>
          <a:solidFill>
            <a:schemeClr val="accent2"/>
          </a:solidFill>
          <a:ln cap="flat" cmpd="sng" w="25400">
            <a:solidFill>
              <a:srgbClr val="556E9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171" name="Google Shape;1171;p64"/>
          <p:cNvSpPr/>
          <p:nvPr/>
        </p:nvSpPr>
        <p:spPr>
          <a:xfrm>
            <a:off x="6286512" y="1643050"/>
            <a:ext cx="500066" cy="500066"/>
          </a:xfrm>
          <a:prstGeom prst="rightArrow">
            <a:avLst>
              <a:gd fmla="val 50000" name="adj1"/>
              <a:gd fmla="val 50000" name="adj2"/>
            </a:avLst>
          </a:prstGeom>
          <a:solidFill>
            <a:schemeClr val="accent3"/>
          </a:solidFill>
          <a:ln cap="flat" cmpd="sng" w="25400">
            <a:solidFill>
              <a:srgbClr val="822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172" name="Google Shape;1172;p64"/>
          <p:cNvSpPr/>
          <p:nvPr/>
        </p:nvSpPr>
        <p:spPr>
          <a:xfrm rot="-2249170">
            <a:off x="4991691" y="4915491"/>
            <a:ext cx="571504" cy="571504"/>
          </a:xfrm>
          <a:prstGeom prst="leftArrow">
            <a:avLst>
              <a:gd fmla="val 50000" name="adj1"/>
              <a:gd fmla="val 50000" name="adj2"/>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173" name="Google Shape;1173;p64"/>
          <p:cNvSpPr txBox="1"/>
          <p:nvPr/>
        </p:nvSpPr>
        <p:spPr>
          <a:xfrm>
            <a:off x="8458200" y="4419600"/>
            <a:ext cx="3048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a:t>
            </a:r>
            <a:endParaRPr sz="1600">
              <a:solidFill>
                <a:schemeClr val="dk1"/>
              </a:solidFill>
              <a:latin typeface="Gill Sans"/>
              <a:ea typeface="Gill Sans"/>
              <a:cs typeface="Gill Sans"/>
              <a:sym typeface="Gill Sans"/>
            </a:endParaRPr>
          </a:p>
        </p:txBody>
      </p:sp>
      <p:sp>
        <p:nvSpPr>
          <p:cNvPr id="1174" name="Google Shape;1174;p64"/>
          <p:cNvSpPr txBox="1"/>
          <p:nvPr/>
        </p:nvSpPr>
        <p:spPr>
          <a:xfrm>
            <a:off x="8382000" y="4114800"/>
            <a:ext cx="4572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a:t>
            </a:r>
            <a:endParaRPr sz="1600">
              <a:solidFill>
                <a:schemeClr val="dk1"/>
              </a:solidFill>
              <a:latin typeface="Gill Sans"/>
              <a:ea typeface="Gill Sans"/>
              <a:cs typeface="Gill Sans"/>
              <a:sym typeface="Gill Sans"/>
            </a:endParaRPr>
          </a:p>
        </p:txBody>
      </p:sp>
      <p:sp>
        <p:nvSpPr>
          <p:cNvPr id="1175" name="Google Shape;1175;p64"/>
          <p:cNvSpPr txBox="1"/>
          <p:nvPr/>
        </p:nvSpPr>
        <p:spPr>
          <a:xfrm>
            <a:off x="8382000" y="4724400"/>
            <a:ext cx="4572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x</a:t>
            </a:r>
            <a:endParaRPr sz="1600">
              <a:solidFill>
                <a:schemeClr val="dk1"/>
              </a:solidFill>
              <a:latin typeface="Gill Sans"/>
              <a:ea typeface="Gill Sans"/>
              <a:cs typeface="Gill Sans"/>
              <a:sym typeface="Gill Sans"/>
            </a:endParaRPr>
          </a:p>
        </p:txBody>
      </p:sp>
      <p:grpSp>
        <p:nvGrpSpPr>
          <p:cNvPr id="1176" name="Google Shape;1176;p64"/>
          <p:cNvGrpSpPr/>
          <p:nvPr/>
        </p:nvGrpSpPr>
        <p:grpSpPr>
          <a:xfrm>
            <a:off x="1828800" y="4797152"/>
            <a:ext cx="3124200" cy="2088232"/>
            <a:chOff x="4648200" y="1436969"/>
            <a:chExt cx="4114800" cy="4229181"/>
          </a:xfrm>
        </p:grpSpPr>
        <p:sp>
          <p:nvSpPr>
            <p:cNvPr id="1177" name="Google Shape;1177;p64"/>
            <p:cNvSpPr txBox="1"/>
            <p:nvPr/>
          </p:nvSpPr>
          <p:spPr>
            <a:xfrm>
              <a:off x="4648200" y="1436969"/>
              <a:ext cx="4038599" cy="105964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i-FI" sz="1400">
                  <a:solidFill>
                    <a:schemeClr val="dk1"/>
                  </a:solidFill>
                  <a:latin typeface="Gill Sans"/>
                  <a:ea typeface="Gill Sans"/>
                  <a:cs typeface="Gill Sans"/>
                  <a:sym typeface="Gill Sans"/>
                </a:rPr>
                <a:t>Tulevan testauksen tehtävänantojen työlista</a:t>
              </a:r>
              <a:endParaRPr b="1" sz="1400">
                <a:solidFill>
                  <a:schemeClr val="dk1"/>
                </a:solidFill>
                <a:latin typeface="Gill Sans"/>
                <a:ea typeface="Gill Sans"/>
                <a:cs typeface="Gill Sans"/>
                <a:sym typeface="Gill Sans"/>
              </a:endParaRPr>
            </a:p>
          </p:txBody>
        </p:sp>
        <p:sp>
          <p:nvSpPr>
            <p:cNvPr id="1178" name="Google Shape;1178;p64"/>
            <p:cNvSpPr/>
            <p:nvPr/>
          </p:nvSpPr>
          <p:spPr>
            <a:xfrm>
              <a:off x="6248400" y="25908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79" name="Google Shape;1179;p64"/>
            <p:cNvSpPr/>
            <p:nvPr/>
          </p:nvSpPr>
          <p:spPr>
            <a:xfrm>
              <a:off x="6248400" y="27432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0" name="Google Shape;1180;p64"/>
            <p:cNvSpPr/>
            <p:nvPr/>
          </p:nvSpPr>
          <p:spPr>
            <a:xfrm>
              <a:off x="6248400" y="28956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1" name="Google Shape;1181;p64"/>
            <p:cNvSpPr/>
            <p:nvPr/>
          </p:nvSpPr>
          <p:spPr>
            <a:xfrm>
              <a:off x="6248400" y="3047999"/>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2" name="Google Shape;1182;p64"/>
            <p:cNvSpPr/>
            <p:nvPr/>
          </p:nvSpPr>
          <p:spPr>
            <a:xfrm>
              <a:off x="6248400" y="3200399"/>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3" name="Google Shape;1183;p64"/>
            <p:cNvSpPr/>
            <p:nvPr/>
          </p:nvSpPr>
          <p:spPr>
            <a:xfrm>
              <a:off x="6248400" y="33528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4" name="Google Shape;1184;p64"/>
            <p:cNvSpPr/>
            <p:nvPr/>
          </p:nvSpPr>
          <p:spPr>
            <a:xfrm>
              <a:off x="6248400" y="35052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5" name="Google Shape;1185;p64"/>
            <p:cNvSpPr/>
            <p:nvPr/>
          </p:nvSpPr>
          <p:spPr>
            <a:xfrm>
              <a:off x="6248400" y="36576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6" name="Google Shape;1186;p64"/>
            <p:cNvSpPr/>
            <p:nvPr/>
          </p:nvSpPr>
          <p:spPr>
            <a:xfrm>
              <a:off x="6248400" y="38100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7" name="Google Shape;1187;p64"/>
            <p:cNvSpPr/>
            <p:nvPr/>
          </p:nvSpPr>
          <p:spPr>
            <a:xfrm>
              <a:off x="6248400" y="39624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8" name="Google Shape;1188;p64"/>
            <p:cNvSpPr/>
            <p:nvPr/>
          </p:nvSpPr>
          <p:spPr>
            <a:xfrm>
              <a:off x="6248400" y="41148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89" name="Google Shape;1189;p64"/>
            <p:cNvSpPr/>
            <p:nvPr/>
          </p:nvSpPr>
          <p:spPr>
            <a:xfrm>
              <a:off x="6248400" y="42672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90" name="Google Shape;1190;p64"/>
            <p:cNvSpPr/>
            <p:nvPr/>
          </p:nvSpPr>
          <p:spPr>
            <a:xfrm>
              <a:off x="6248400" y="44196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91" name="Google Shape;1191;p64"/>
            <p:cNvSpPr/>
            <p:nvPr/>
          </p:nvSpPr>
          <p:spPr>
            <a:xfrm>
              <a:off x="6248400" y="45720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92" name="Google Shape;1192;p64"/>
            <p:cNvSpPr/>
            <p:nvPr/>
          </p:nvSpPr>
          <p:spPr>
            <a:xfrm>
              <a:off x="6248400" y="48006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93" name="Google Shape;1193;p64"/>
            <p:cNvSpPr/>
            <p:nvPr/>
          </p:nvSpPr>
          <p:spPr>
            <a:xfrm>
              <a:off x="6248400" y="49530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94" name="Google Shape;1194;p64"/>
            <p:cNvSpPr/>
            <p:nvPr/>
          </p:nvSpPr>
          <p:spPr>
            <a:xfrm>
              <a:off x="6248400" y="51054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sp>
          <p:nvSpPr>
            <p:cNvPr id="1195" name="Google Shape;1195;p64"/>
            <p:cNvSpPr/>
            <p:nvPr/>
          </p:nvSpPr>
          <p:spPr>
            <a:xfrm>
              <a:off x="6248400" y="5257800"/>
              <a:ext cx="2438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Gill Sans"/>
                <a:ea typeface="Gill Sans"/>
                <a:cs typeface="Gill Sans"/>
                <a:sym typeface="Gill Sans"/>
              </a:endParaRPr>
            </a:p>
          </p:txBody>
        </p:sp>
        <p:cxnSp>
          <p:nvCxnSpPr>
            <p:cNvPr id="1196" name="Google Shape;1196;p64"/>
            <p:cNvCxnSpPr/>
            <p:nvPr/>
          </p:nvCxnSpPr>
          <p:spPr>
            <a:xfrm>
              <a:off x="5334000" y="4724400"/>
              <a:ext cx="3429000" cy="0"/>
            </a:xfrm>
            <a:prstGeom prst="straightConnector1">
              <a:avLst/>
            </a:prstGeom>
            <a:noFill/>
            <a:ln cap="flat" cmpd="sng" w="38100">
              <a:solidFill>
                <a:schemeClr val="accent3"/>
              </a:solidFill>
              <a:prstDash val="solid"/>
              <a:round/>
              <a:headEnd len="sm" w="sm" type="none"/>
              <a:tailEnd len="sm" w="sm" type="none"/>
            </a:ln>
            <a:effectLst>
              <a:outerShdw blurRad="40000" rotWithShape="0" dir="5400000" dist="23000">
                <a:srgbClr val="000000">
                  <a:alpha val="34901"/>
                </a:srgbClr>
              </a:outerShdw>
            </a:effectLst>
          </p:spPr>
        </p:cxnSp>
        <p:sp>
          <p:nvSpPr>
            <p:cNvPr id="1197" name="Google Shape;1197;p64"/>
            <p:cNvSpPr txBox="1"/>
            <p:nvPr/>
          </p:nvSpPr>
          <p:spPr>
            <a:xfrm>
              <a:off x="4962961" y="4731165"/>
              <a:ext cx="1306598" cy="93498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200">
                  <a:solidFill>
                    <a:schemeClr val="dk1"/>
                  </a:solidFill>
                  <a:latin typeface="Gill Sans"/>
                  <a:ea typeface="Gill Sans"/>
                  <a:cs typeface="Gill Sans"/>
                  <a:sym typeface="Gill Sans"/>
                </a:rPr>
                <a:t>Budjetin ulkopuolella</a:t>
              </a:r>
              <a:endParaRPr sz="1200">
                <a:solidFill>
                  <a:schemeClr val="dk1"/>
                </a:solidFill>
                <a:latin typeface="Gill Sans"/>
                <a:ea typeface="Gill Sans"/>
                <a:cs typeface="Gill Sans"/>
                <a:sym typeface="Gill Sans"/>
              </a:endParaRPr>
            </a:p>
          </p:txBody>
        </p:sp>
        <p:sp>
          <p:nvSpPr>
            <p:cNvPr id="1198" name="Google Shape;1198;p64"/>
            <p:cNvSpPr txBox="1"/>
            <p:nvPr/>
          </p:nvSpPr>
          <p:spPr>
            <a:xfrm>
              <a:off x="4708280" y="2689492"/>
              <a:ext cx="1371600" cy="93498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1200">
                  <a:solidFill>
                    <a:schemeClr val="dk1"/>
                  </a:solidFill>
                  <a:latin typeface="Gill Sans"/>
                  <a:ea typeface="Gill Sans"/>
                  <a:cs typeface="Gill Sans"/>
                  <a:sym typeface="Gill Sans"/>
                </a:rPr>
                <a:t>Seuraavaksi tärkein</a:t>
              </a:r>
              <a:endParaRPr sz="1200">
                <a:solidFill>
                  <a:schemeClr val="dk1"/>
                </a:solidFill>
                <a:latin typeface="Gill Sans"/>
                <a:ea typeface="Gill Sans"/>
                <a:cs typeface="Gill Sans"/>
                <a:sym typeface="Gill Sans"/>
              </a:endParaRPr>
            </a:p>
          </p:txBody>
        </p:sp>
        <p:cxnSp>
          <p:nvCxnSpPr>
            <p:cNvPr id="1199" name="Google Shape;1199;p64"/>
            <p:cNvCxnSpPr/>
            <p:nvPr/>
          </p:nvCxnSpPr>
          <p:spPr>
            <a:xfrm>
              <a:off x="5791200" y="2590800"/>
              <a:ext cx="381000" cy="1588"/>
            </a:xfrm>
            <a:prstGeom prst="straightConnector1">
              <a:avLst/>
            </a:prstGeom>
            <a:noFill/>
            <a:ln cap="flat" cmpd="sng" w="38100">
              <a:solidFill>
                <a:schemeClr val="accent1"/>
              </a:solidFill>
              <a:prstDash val="solid"/>
              <a:round/>
              <a:headEnd len="sm" w="sm" type="none"/>
              <a:tailEnd len="med" w="med" type="stealth"/>
            </a:ln>
            <a:effectLst>
              <a:outerShdw blurRad="40000" rotWithShape="0" dir="5400000" dist="23000">
                <a:srgbClr val="000000">
                  <a:alpha val="34901"/>
                </a:srgbClr>
              </a:outerShdw>
            </a:effectLst>
          </p:spPr>
        </p:cxnSp>
      </p:grpSp>
      <p:grpSp>
        <p:nvGrpSpPr>
          <p:cNvPr id="1200" name="Google Shape;1200;p64"/>
          <p:cNvGrpSpPr/>
          <p:nvPr/>
        </p:nvGrpSpPr>
        <p:grpSpPr>
          <a:xfrm>
            <a:off x="3448" y="4293096"/>
            <a:ext cx="3200400" cy="1653477"/>
            <a:chOff x="3432448" y="5128319"/>
            <a:chExt cx="3200400" cy="1653477"/>
          </a:xfrm>
        </p:grpSpPr>
        <p:grpSp>
          <p:nvGrpSpPr>
            <p:cNvPr id="1201" name="Google Shape;1201;p64"/>
            <p:cNvGrpSpPr/>
            <p:nvPr/>
          </p:nvGrpSpPr>
          <p:grpSpPr>
            <a:xfrm>
              <a:off x="3733800" y="5638797"/>
              <a:ext cx="1524000" cy="1142999"/>
              <a:chOff x="457200" y="4038600"/>
              <a:chExt cx="1981200" cy="1524000"/>
            </a:xfrm>
          </p:grpSpPr>
          <p:sp>
            <p:nvSpPr>
              <p:cNvPr id="1202" name="Google Shape;1202;p64"/>
              <p:cNvSpPr/>
              <p:nvPr/>
            </p:nvSpPr>
            <p:spPr>
              <a:xfrm>
                <a:off x="914400" y="4038600"/>
                <a:ext cx="1524000" cy="10668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1203" name="Google Shape;1203;p64"/>
              <p:cNvSpPr/>
              <p:nvPr/>
            </p:nvSpPr>
            <p:spPr>
              <a:xfrm>
                <a:off x="762000" y="4191000"/>
                <a:ext cx="1524000" cy="10668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1204" name="Google Shape;1204;p64"/>
              <p:cNvSpPr/>
              <p:nvPr/>
            </p:nvSpPr>
            <p:spPr>
              <a:xfrm>
                <a:off x="609600" y="4343400"/>
                <a:ext cx="1524000" cy="10668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1205" name="Google Shape;1205;p64"/>
              <p:cNvSpPr/>
              <p:nvPr/>
            </p:nvSpPr>
            <p:spPr>
              <a:xfrm>
                <a:off x="457200" y="4495800"/>
                <a:ext cx="1524000" cy="10668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1206" name="Google Shape;1206;p64"/>
              <p:cNvSpPr/>
              <p:nvPr/>
            </p:nvSpPr>
            <p:spPr>
              <a:xfrm>
                <a:off x="533400" y="4724400"/>
                <a:ext cx="1295400" cy="76200"/>
              </a:xfrm>
              <a:prstGeom prst="rect">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1207" name="Google Shape;1207;p64"/>
              <p:cNvSpPr txBox="1"/>
              <p:nvPr/>
            </p:nvSpPr>
            <p:spPr>
              <a:xfrm>
                <a:off x="685800" y="4800601"/>
                <a:ext cx="14807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200">
                    <a:solidFill>
                      <a:schemeClr val="dk1"/>
                    </a:solidFill>
                    <a:latin typeface="Gill Sans"/>
                    <a:ea typeface="Gill Sans"/>
                    <a:cs typeface="Gill Sans"/>
                    <a:sym typeface="Gill Sans"/>
                  </a:rPr>
                  <a:t>#, ?, x, +</a:t>
                </a:r>
                <a:endParaRPr sz="1200">
                  <a:solidFill>
                    <a:schemeClr val="dk1"/>
                  </a:solidFill>
                  <a:latin typeface="Gill Sans"/>
                  <a:ea typeface="Gill Sans"/>
                  <a:cs typeface="Gill Sans"/>
                  <a:sym typeface="Gill Sans"/>
                </a:endParaRPr>
              </a:p>
            </p:txBody>
          </p:sp>
          <p:sp>
            <p:nvSpPr>
              <p:cNvPr id="1208" name="Google Shape;1208;p64"/>
              <p:cNvSpPr txBox="1"/>
              <p:nvPr/>
            </p:nvSpPr>
            <p:spPr>
              <a:xfrm>
                <a:off x="685800" y="5105405"/>
                <a:ext cx="14807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200">
                    <a:solidFill>
                      <a:schemeClr val="dk1"/>
                    </a:solidFill>
                    <a:latin typeface="Gill Sans"/>
                    <a:ea typeface="Gill Sans"/>
                    <a:cs typeface="Gill Sans"/>
                    <a:sym typeface="Gill Sans"/>
                  </a:rPr>
                  <a:t>20:20:60</a:t>
                </a:r>
                <a:endParaRPr sz="1400">
                  <a:solidFill>
                    <a:schemeClr val="dk1"/>
                  </a:solidFill>
                  <a:latin typeface="Gill Sans"/>
                  <a:ea typeface="Gill Sans"/>
                  <a:cs typeface="Gill Sans"/>
                  <a:sym typeface="Gill Sans"/>
                </a:endParaRPr>
              </a:p>
            </p:txBody>
          </p:sp>
        </p:grpSp>
        <p:sp>
          <p:nvSpPr>
            <p:cNvPr id="1209" name="Google Shape;1209;p64"/>
            <p:cNvSpPr txBox="1"/>
            <p:nvPr/>
          </p:nvSpPr>
          <p:spPr>
            <a:xfrm>
              <a:off x="3432448" y="5128319"/>
              <a:ext cx="32004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i-FI" sz="1400">
                  <a:solidFill>
                    <a:schemeClr val="dk1"/>
                  </a:solidFill>
                  <a:latin typeface="Gill Sans"/>
                  <a:ea typeface="Gill Sans"/>
                  <a:cs typeface="Gill Sans"/>
                  <a:sym typeface="Gill Sans"/>
                </a:rPr>
                <a:t>Menneen testauksen sessiomuistiinpanot</a:t>
              </a:r>
              <a:endParaRPr b="1" sz="1400">
                <a:solidFill>
                  <a:schemeClr val="dk1"/>
                </a:solidFill>
                <a:latin typeface="Gill Sans"/>
                <a:ea typeface="Gill Sans"/>
                <a:cs typeface="Gill Sans"/>
                <a:sym typeface="Gill Sans"/>
              </a:endParaRPr>
            </a:p>
          </p:txBody>
        </p:sp>
      </p:grpSp>
      <p:sp>
        <p:nvSpPr>
          <p:cNvPr id="1210" name="Google Shape;1210;p64"/>
          <p:cNvSpPr/>
          <p:nvPr/>
        </p:nvSpPr>
        <p:spPr>
          <a:xfrm>
            <a:off x="5181600" y="5638800"/>
            <a:ext cx="2126704" cy="838200"/>
          </a:xfrm>
          <a:prstGeom prst="cloud">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Tutkittava idea</a:t>
            </a:r>
            <a:endParaRPr sz="1800">
              <a:solidFill>
                <a:schemeClr val="lt1"/>
              </a:solidFill>
              <a:latin typeface="Gill Sans"/>
              <a:ea typeface="Gill Sans"/>
              <a:cs typeface="Gill Sans"/>
              <a:sym typeface="Gill Sans"/>
            </a:endParaRPr>
          </a:p>
        </p:txBody>
      </p:sp>
      <p:cxnSp>
        <p:nvCxnSpPr>
          <p:cNvPr id="1211" name="Google Shape;1211;p64"/>
          <p:cNvCxnSpPr/>
          <p:nvPr/>
        </p:nvCxnSpPr>
        <p:spPr>
          <a:xfrm rot="10800000">
            <a:off x="4953000" y="5410200"/>
            <a:ext cx="381000" cy="304800"/>
          </a:xfrm>
          <a:prstGeom prst="straightConnector1">
            <a:avLst/>
          </a:prstGeom>
          <a:noFill/>
          <a:ln cap="flat" cmpd="sng" w="38100">
            <a:solidFill>
              <a:schemeClr val="accent2"/>
            </a:solidFill>
            <a:prstDash val="solid"/>
            <a:round/>
            <a:headEnd len="sm" w="sm" type="none"/>
            <a:tailEnd len="med" w="med" type="stealth"/>
          </a:ln>
          <a:effectLst>
            <a:outerShdw blurRad="40000" rotWithShape="0" dir="5400000" dist="23000">
              <a:srgbClr val="000000">
                <a:alpha val="34901"/>
              </a:srgbClr>
            </a:outerShdw>
          </a:effectLst>
        </p:spPr>
      </p:cxnSp>
      <p:cxnSp>
        <p:nvCxnSpPr>
          <p:cNvPr id="1212" name="Google Shape;1212;p64"/>
          <p:cNvCxnSpPr/>
          <p:nvPr/>
        </p:nvCxnSpPr>
        <p:spPr>
          <a:xfrm flipH="1">
            <a:off x="4953000" y="6477000"/>
            <a:ext cx="381000" cy="152400"/>
          </a:xfrm>
          <a:prstGeom prst="straightConnector1">
            <a:avLst/>
          </a:prstGeom>
          <a:noFill/>
          <a:ln cap="flat" cmpd="sng" w="38100">
            <a:solidFill>
              <a:schemeClr val="accent2"/>
            </a:solidFill>
            <a:prstDash val="solid"/>
            <a:round/>
            <a:headEnd len="sm" w="sm" type="none"/>
            <a:tailEnd len="med" w="med" type="stealth"/>
          </a:ln>
          <a:effectLst>
            <a:outerShdw blurRad="40000" rotWithShape="0" dir="5400000" dist="23000">
              <a:srgbClr val="000000">
                <a:alpha val="34901"/>
              </a:srgbClr>
            </a:outerShdw>
          </a:effectLst>
        </p:spPr>
      </p:cxnSp>
      <p:sp>
        <p:nvSpPr>
          <p:cNvPr id="1213" name="Google Shape;1213;p64"/>
          <p:cNvSpPr/>
          <p:nvPr/>
        </p:nvSpPr>
        <p:spPr>
          <a:xfrm>
            <a:off x="76200" y="3717032"/>
            <a:ext cx="1399456" cy="533400"/>
          </a:xfrm>
          <a:prstGeom prst="roundRect">
            <a:avLst>
              <a:gd fmla="val 16667" name="adj"/>
            </a:avLst>
          </a:prstGeom>
          <a:gradFill>
            <a:gsLst>
              <a:gs pos="0">
                <a:srgbClr val="FFAA7A"/>
              </a:gs>
              <a:gs pos="35000">
                <a:srgbClr val="FFC4A3"/>
              </a:gs>
              <a:gs pos="100000">
                <a:srgbClr val="FFE4D6"/>
              </a:gs>
            </a:gsLst>
            <a:lin ang="16200000" scaled="0"/>
          </a:gradFill>
          <a:ln cap="flat" cmpd="sng" w="9525">
            <a:solidFill>
              <a:srgbClr val="FC803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Mittari-yhteenveto</a:t>
            </a:r>
            <a:endParaRPr sz="1800">
              <a:solidFill>
                <a:schemeClr val="dk1"/>
              </a:solidFill>
              <a:latin typeface="Gill Sans"/>
              <a:ea typeface="Gill Sans"/>
              <a:cs typeface="Gill Sans"/>
              <a:sym typeface="Gill Sans"/>
            </a:endParaRPr>
          </a:p>
        </p:txBody>
      </p:sp>
      <p:sp>
        <p:nvSpPr>
          <p:cNvPr id="1214" name="Google Shape;1214;p64"/>
          <p:cNvSpPr/>
          <p:nvPr/>
        </p:nvSpPr>
        <p:spPr>
          <a:xfrm>
            <a:off x="4192" y="304800"/>
            <a:ext cx="1399456" cy="838200"/>
          </a:xfrm>
          <a:prstGeom prst="cloudCallout">
            <a:avLst>
              <a:gd fmla="val -29041" name="adj1"/>
              <a:gd fmla="val 95481" name="adj2"/>
            </a:avLst>
          </a:prstGeom>
          <a:gradFill>
            <a:gsLst>
              <a:gs pos="0">
                <a:srgbClr val="FFAA7A"/>
              </a:gs>
              <a:gs pos="35000">
                <a:srgbClr val="FFC4A3"/>
              </a:gs>
              <a:gs pos="100000">
                <a:srgbClr val="FFE4D6"/>
              </a:gs>
            </a:gsLst>
            <a:lin ang="16200000" scaled="0"/>
          </a:gradFill>
          <a:ln cap="flat" cmpd="sng" w="9525">
            <a:solidFill>
              <a:srgbClr val="FC803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400">
                <a:solidFill>
                  <a:schemeClr val="dk1"/>
                </a:solidFill>
                <a:latin typeface="Gill Sans"/>
                <a:ea typeface="Gill Sans"/>
                <a:cs typeface="Gill Sans"/>
                <a:sym typeface="Gill Sans"/>
              </a:rPr>
              <a:t>Valmentaminen</a:t>
            </a:r>
            <a:endParaRPr sz="1400">
              <a:solidFill>
                <a:schemeClr val="dk1"/>
              </a:solidFill>
              <a:latin typeface="Gill Sans"/>
              <a:ea typeface="Gill Sans"/>
              <a:cs typeface="Gill Sans"/>
              <a:sym typeface="Gill Sans"/>
            </a:endParaRPr>
          </a:p>
        </p:txBody>
      </p:sp>
      <p:sp>
        <p:nvSpPr>
          <p:cNvPr id="1215" name="Google Shape;1215;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
        <p:nvSpPr>
          <p:cNvPr id="1216" name="Google Shape;1216;p64"/>
          <p:cNvSpPr/>
          <p:nvPr/>
        </p:nvSpPr>
        <p:spPr>
          <a:xfrm>
            <a:off x="323528" y="6021288"/>
            <a:ext cx="1512168" cy="360040"/>
          </a:xfrm>
          <a:prstGeom prst="foldedCorner">
            <a:avLst>
              <a:gd fmla="val 16667" name="adj"/>
            </a:avLst>
          </a:prstGeom>
          <a:gradFill>
            <a:gsLst>
              <a:gs pos="0">
                <a:srgbClr val="FFFF7D"/>
              </a:gs>
              <a:gs pos="35000">
                <a:srgbClr val="FFFFA4"/>
              </a:gs>
              <a:gs pos="100000">
                <a:srgbClr val="FFFED7"/>
              </a:gs>
            </a:gsLst>
            <a:lin ang="16200000" scaled="0"/>
          </a:gradFill>
          <a:ln cap="flat" cmpd="sng" w="9525">
            <a:solidFill>
              <a:srgbClr val="F3CA26"/>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600">
                <a:solidFill>
                  <a:schemeClr val="dk1"/>
                </a:solidFill>
                <a:latin typeface="Gill Sans"/>
                <a:ea typeface="Gill Sans"/>
                <a:cs typeface="Gill Sans"/>
                <a:sym typeface="Gill Sans"/>
              </a:rPr>
              <a:t>Ohjekirjaset</a:t>
            </a:r>
            <a:endParaRPr sz="1800">
              <a:solidFill>
                <a:schemeClr val="dk1"/>
              </a:solidFill>
              <a:latin typeface="Gill Sans"/>
              <a:ea typeface="Gill Sans"/>
              <a:cs typeface="Gill Sans"/>
              <a:sym typeface="Gill Sans"/>
            </a:endParaRPr>
          </a:p>
        </p:txBody>
      </p:sp>
      <p:sp>
        <p:nvSpPr>
          <p:cNvPr id="1217" name="Google Shape;1217;p64"/>
          <p:cNvSpPr/>
          <p:nvPr/>
        </p:nvSpPr>
        <p:spPr>
          <a:xfrm>
            <a:off x="323528" y="6453336"/>
            <a:ext cx="1512168" cy="360040"/>
          </a:xfrm>
          <a:prstGeom prst="foldedCorner">
            <a:avLst>
              <a:gd fmla="val 16667" name="adj"/>
            </a:avLst>
          </a:prstGeom>
          <a:gradFill>
            <a:gsLst>
              <a:gs pos="0">
                <a:srgbClr val="FFFF7D"/>
              </a:gs>
              <a:gs pos="35000">
                <a:srgbClr val="FFFFA4"/>
              </a:gs>
              <a:gs pos="100000">
                <a:srgbClr val="FFFED7"/>
              </a:gs>
            </a:gsLst>
            <a:lin ang="16200000" scaled="0"/>
          </a:gradFill>
          <a:ln cap="flat" cmpd="sng" w="9525">
            <a:solidFill>
              <a:srgbClr val="F3CA26"/>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fi-FI" sz="1200">
                <a:solidFill>
                  <a:schemeClr val="dk1"/>
                </a:solidFill>
                <a:latin typeface="Gill Sans"/>
                <a:ea typeface="Gill Sans"/>
                <a:cs typeface="Gill Sans"/>
                <a:sym typeface="Gill Sans"/>
              </a:rPr>
              <a:t>Kattavuustukilistat</a:t>
            </a:r>
            <a:endParaRPr sz="1200">
              <a:solidFill>
                <a:schemeClr val="dk1"/>
              </a:solidFill>
              <a:latin typeface="Gill Sans"/>
              <a:ea typeface="Gill Sans"/>
              <a:cs typeface="Gill Sans"/>
              <a:sym typeface="Gill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2" name="Shape 1222"/>
        <p:cNvGrpSpPr/>
        <p:nvPr/>
      </p:nvGrpSpPr>
      <p:grpSpPr>
        <a:xfrm>
          <a:off x="0" y="0"/>
          <a:ext cx="0" cy="0"/>
          <a:chOff x="0" y="0"/>
          <a:chExt cx="0" cy="0"/>
        </a:xfrm>
      </p:grpSpPr>
      <p:sp>
        <p:nvSpPr>
          <p:cNvPr id="1223" name="Google Shape;1223;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The Pieces in Management Framework</a:t>
            </a:r>
            <a:endParaRPr/>
          </a:p>
        </p:txBody>
      </p:sp>
      <p:sp>
        <p:nvSpPr>
          <p:cNvPr id="1224" name="Google Shape;1224;p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fi-FI" sz="2400"/>
              <a:t>A </a:t>
            </a:r>
            <a:r>
              <a:rPr lang="fi-FI" sz="2400" u="sng"/>
              <a:t>disciplined tester</a:t>
            </a:r>
            <a:r>
              <a:rPr lang="fi-FI" sz="2400"/>
              <a:t> replanning on various levels</a:t>
            </a:r>
            <a:endParaRPr/>
          </a:p>
          <a:p>
            <a:pPr indent="-342900" lvl="0" marL="342900" rtl="0" algn="l">
              <a:spcBef>
                <a:spcPts val="480"/>
              </a:spcBef>
              <a:spcAft>
                <a:spcPts val="0"/>
              </a:spcAft>
              <a:buClr>
                <a:schemeClr val="dk1"/>
              </a:buClr>
              <a:buSzPts val="2400"/>
              <a:buChar char="•"/>
            </a:pPr>
            <a:r>
              <a:rPr lang="fi-FI" sz="2400" u="sng"/>
              <a:t>Session</a:t>
            </a:r>
            <a:r>
              <a:rPr lang="fi-FI" sz="2400"/>
              <a:t> with </a:t>
            </a:r>
            <a:r>
              <a:rPr lang="fi-FI" sz="2400" u="sng"/>
              <a:t>charter</a:t>
            </a:r>
            <a:r>
              <a:rPr lang="fi-FI" sz="2400"/>
              <a:t> that provides a </a:t>
            </a:r>
            <a:r>
              <a:rPr lang="fi-FI" sz="2400" u="sng"/>
              <a:t>report</a:t>
            </a:r>
            <a:r>
              <a:rPr lang="fi-FI" sz="2400"/>
              <a:t> </a:t>
            </a:r>
            <a:endParaRPr/>
          </a:p>
          <a:p>
            <a:pPr indent="-342900" lvl="0" marL="342900" rtl="0" algn="l">
              <a:spcBef>
                <a:spcPts val="480"/>
              </a:spcBef>
              <a:spcAft>
                <a:spcPts val="0"/>
              </a:spcAft>
              <a:buClr>
                <a:schemeClr val="dk1"/>
              </a:buClr>
              <a:buSzPts val="2400"/>
              <a:buChar char="•"/>
            </a:pPr>
            <a:r>
              <a:rPr lang="fi-FI" sz="2400"/>
              <a:t>Classification of information created as </a:t>
            </a:r>
            <a:r>
              <a:rPr lang="fi-FI" sz="2400" u="sng"/>
              <a:t>metrics</a:t>
            </a:r>
            <a:endParaRPr/>
          </a:p>
          <a:p>
            <a:pPr indent="-342900" lvl="0" marL="342900" rtl="0" algn="l">
              <a:spcBef>
                <a:spcPts val="480"/>
              </a:spcBef>
              <a:spcAft>
                <a:spcPts val="0"/>
              </a:spcAft>
              <a:buClr>
                <a:schemeClr val="dk1"/>
              </a:buClr>
              <a:buSzPts val="2400"/>
              <a:buChar char="•"/>
            </a:pPr>
            <a:r>
              <a:rPr lang="fi-FI" sz="2400" u="sng"/>
              <a:t>Prioritizing</a:t>
            </a:r>
            <a:r>
              <a:rPr lang="fi-FI" sz="2400"/>
              <a:t> of what test idea comes next</a:t>
            </a:r>
            <a:endParaRPr/>
          </a:p>
          <a:p>
            <a:pPr indent="-342900" lvl="0" marL="342900" rtl="0" algn="l">
              <a:spcBef>
                <a:spcPts val="480"/>
              </a:spcBef>
              <a:spcAft>
                <a:spcPts val="0"/>
              </a:spcAft>
              <a:buClr>
                <a:schemeClr val="dk1"/>
              </a:buClr>
              <a:buSzPts val="2400"/>
              <a:buChar char="•"/>
            </a:pPr>
            <a:r>
              <a:rPr lang="fi-FI" sz="2400"/>
              <a:t>Supporting reporting by </a:t>
            </a:r>
            <a:r>
              <a:rPr lang="fi-FI" sz="2400" u="sng"/>
              <a:t>debriefing</a:t>
            </a:r>
            <a:endParaRPr/>
          </a:p>
          <a:p>
            <a:pPr indent="-342900" lvl="0" marL="342900" rtl="0" algn="l">
              <a:spcBef>
                <a:spcPts val="480"/>
              </a:spcBef>
              <a:spcAft>
                <a:spcPts val="0"/>
              </a:spcAft>
              <a:buClr>
                <a:schemeClr val="dk1"/>
              </a:buClr>
              <a:buSzPts val="2400"/>
              <a:buChar char="•"/>
            </a:pPr>
            <a:r>
              <a:rPr lang="fi-FI" sz="2400"/>
              <a:t>Supporting skills development by </a:t>
            </a:r>
            <a:r>
              <a:rPr lang="fi-FI" sz="2400" u="sng"/>
              <a:t>coaching</a:t>
            </a:r>
            <a:endParaRPr/>
          </a:p>
          <a:p>
            <a:pPr indent="-342900" lvl="0" marL="342900" rtl="0" algn="l">
              <a:spcBef>
                <a:spcPts val="480"/>
              </a:spcBef>
              <a:spcAft>
                <a:spcPts val="0"/>
              </a:spcAft>
              <a:buClr>
                <a:schemeClr val="dk1"/>
              </a:buClr>
              <a:buSzPts val="2400"/>
              <a:buChar char="•"/>
            </a:pPr>
            <a:r>
              <a:rPr lang="fi-FI" sz="2400"/>
              <a:t>Documenting in </a:t>
            </a:r>
            <a:r>
              <a:rPr lang="fi-FI" sz="2400" u="sng"/>
              <a:t>playbooks</a:t>
            </a:r>
            <a:r>
              <a:rPr lang="fi-FI" sz="2400"/>
              <a:t> relevant documentation of things to test to support future productivity</a:t>
            </a:r>
            <a:endParaRPr/>
          </a:p>
          <a:p>
            <a:pPr indent="-342900" lvl="0" marL="342900" rtl="0" algn="l">
              <a:spcBef>
                <a:spcPts val="480"/>
              </a:spcBef>
              <a:spcAft>
                <a:spcPts val="0"/>
              </a:spcAft>
              <a:buClr>
                <a:schemeClr val="dk1"/>
              </a:buClr>
              <a:buSzPts val="2400"/>
              <a:buChar char="•"/>
            </a:pPr>
            <a:r>
              <a:rPr lang="fi-FI" sz="2400"/>
              <a:t>Analyzing coverage against </a:t>
            </a:r>
            <a:r>
              <a:rPr lang="fi-FI" sz="2400" u="sng"/>
              <a:t>coverage outlines </a:t>
            </a:r>
            <a:r>
              <a:rPr lang="fi-FI" sz="2400"/>
              <a:t>of things you find relevant to report against</a:t>
            </a:r>
            <a:endParaRPr/>
          </a:p>
          <a:p>
            <a:pPr indent="-342900" lvl="0" marL="342900" rtl="0" algn="l">
              <a:spcBef>
                <a:spcPts val="480"/>
              </a:spcBef>
              <a:spcAft>
                <a:spcPts val="0"/>
              </a:spcAft>
              <a:buClr>
                <a:schemeClr val="dk1"/>
              </a:buClr>
              <a:buSzPts val="2400"/>
              <a:buChar char="•"/>
            </a:pPr>
            <a:r>
              <a:rPr lang="fi-FI" sz="2400"/>
              <a:t>Creating a combined judgement of quality by </a:t>
            </a:r>
            <a:r>
              <a:rPr lang="fi-FI" sz="2400" u="sng"/>
              <a:t>quality reporting</a:t>
            </a:r>
            <a:endParaRPr/>
          </a:p>
        </p:txBody>
      </p:sp>
      <p:sp>
        <p:nvSpPr>
          <p:cNvPr id="1225" name="Google Shape;1225;p65"/>
          <p:cNvSpPr txBox="1"/>
          <p:nvPr>
            <p:ph idx="4294967295"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Hyödyllisiä työkaluja</a:t>
            </a:r>
            <a:endParaRPr/>
          </a:p>
        </p:txBody>
      </p:sp>
      <p:sp>
        <p:nvSpPr>
          <p:cNvPr id="1231" name="Google Shape;1231;p6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300"/>
              <a:buChar char="•"/>
            </a:pPr>
            <a:r>
              <a:rPr lang="fi-FI" sz="2300"/>
              <a:t>Testaustekstin tuottamiseen (merkistöt, pituudet):  Perlclip </a:t>
            </a:r>
            <a:r>
              <a:rPr lang="fi-FI" sz="2300" u="sng">
                <a:solidFill>
                  <a:schemeClr val="hlink"/>
                </a:solidFill>
                <a:hlinkClick r:id="rId3"/>
              </a:rPr>
              <a:t>http://www.satisfice.com/tools/perlclip.zip</a:t>
            </a:r>
            <a:r>
              <a:rPr lang="fi-FI" sz="2300"/>
              <a:t> </a:t>
            </a:r>
            <a:endParaRPr/>
          </a:p>
          <a:p>
            <a:pPr indent="-342900" lvl="0" marL="342900" rtl="0" algn="l">
              <a:spcBef>
                <a:spcPts val="460"/>
              </a:spcBef>
              <a:spcAft>
                <a:spcPts val="0"/>
              </a:spcAft>
              <a:buClr>
                <a:schemeClr val="dk1"/>
              </a:buClr>
              <a:buSzPts val="2300"/>
              <a:buChar char="•"/>
            </a:pPr>
            <a:r>
              <a:rPr lang="fi-FI" sz="2300"/>
              <a:t>Web developer Firefox add-on, </a:t>
            </a:r>
            <a:r>
              <a:rPr lang="fi-FI" sz="2300" u="sng">
                <a:solidFill>
                  <a:schemeClr val="hlink"/>
                </a:solidFill>
                <a:hlinkClick r:id="rId4"/>
              </a:rPr>
              <a:t>https://addons.mozilla.org/fi/firefox/addon/web-developer/</a:t>
            </a:r>
            <a:r>
              <a:rPr lang="fi-FI" sz="2300"/>
              <a:t>, really nifty tool for many kinds of web app related actions. </a:t>
            </a:r>
            <a:endParaRPr/>
          </a:p>
          <a:p>
            <a:pPr indent="-342900" lvl="0" marL="342900" rtl="0" algn="l">
              <a:spcBef>
                <a:spcPts val="460"/>
              </a:spcBef>
              <a:spcAft>
                <a:spcPts val="0"/>
              </a:spcAft>
              <a:buClr>
                <a:schemeClr val="dk1"/>
              </a:buClr>
              <a:buSzPts val="2300"/>
              <a:buChar char="•"/>
            </a:pPr>
            <a:r>
              <a:rPr lang="fi-FI" sz="2300"/>
              <a:t>Screenshot utilities: Fireshot and Screenshot studio </a:t>
            </a:r>
            <a:r>
              <a:rPr lang="fi-FI" sz="2300" u="sng">
                <a:solidFill>
                  <a:schemeClr val="hlink"/>
                </a:solidFill>
                <a:hlinkClick r:id="rId5"/>
              </a:rPr>
              <a:t>https://addons.mozilla.org/fi/firefox/addon/fireshot/</a:t>
            </a:r>
            <a:r>
              <a:rPr lang="fi-FI" sz="2300"/>
              <a:t> tai Greenshot </a:t>
            </a:r>
            <a:r>
              <a:rPr lang="fi-FI" sz="2300" u="sng">
                <a:solidFill>
                  <a:schemeClr val="hlink"/>
                </a:solidFill>
                <a:hlinkClick r:id="rId6"/>
              </a:rPr>
              <a:t>http://getgreenshot.org/</a:t>
            </a:r>
            <a:r>
              <a:rPr lang="fi-FI" sz="2300"/>
              <a:t> </a:t>
            </a:r>
            <a:endParaRPr/>
          </a:p>
          <a:p>
            <a:pPr indent="-342900" lvl="0" marL="342900" rtl="0" algn="l">
              <a:spcBef>
                <a:spcPts val="460"/>
              </a:spcBef>
              <a:spcAft>
                <a:spcPts val="0"/>
              </a:spcAft>
              <a:buClr>
                <a:schemeClr val="dk1"/>
              </a:buClr>
              <a:buSzPts val="2300"/>
              <a:buChar char="•"/>
            </a:pPr>
            <a:r>
              <a:rPr lang="fi-FI" sz="2300"/>
              <a:t>Capturing video: screencast-o-matic </a:t>
            </a:r>
            <a:r>
              <a:rPr lang="fi-FI" sz="2300" u="sng">
                <a:solidFill>
                  <a:schemeClr val="hlink"/>
                </a:solidFill>
                <a:hlinkClick r:id="rId7"/>
              </a:rPr>
              <a:t>www.screencast-o-matic.com/</a:t>
            </a:r>
            <a:r>
              <a:rPr lang="fi-FI" sz="2300"/>
              <a:t> tai Jing </a:t>
            </a:r>
            <a:r>
              <a:rPr lang="fi-FI" sz="2300" u="sng"/>
              <a:t>http://www.techsmith.com/jing.html</a:t>
            </a:r>
            <a:endParaRPr/>
          </a:p>
          <a:p>
            <a:pPr indent="-342900" lvl="0" marL="342900" rtl="0" algn="l">
              <a:spcBef>
                <a:spcPts val="460"/>
              </a:spcBef>
              <a:spcAft>
                <a:spcPts val="0"/>
              </a:spcAft>
              <a:buClr>
                <a:schemeClr val="dk1"/>
              </a:buClr>
              <a:buSzPts val="2300"/>
              <a:buChar char="•"/>
            </a:pPr>
            <a:r>
              <a:rPr lang="fi-FI" sz="2300"/>
              <a:t>Screen capture and screen recording: FastStone Capture (</a:t>
            </a:r>
            <a:r>
              <a:rPr lang="fi-FI" sz="2300" u="sng">
                <a:solidFill>
                  <a:schemeClr val="hlink"/>
                </a:solidFill>
                <a:hlinkClick r:id="rId8"/>
              </a:rPr>
              <a:t>http://www.faststone.org/FSCaptureDetail.htm</a:t>
            </a:r>
            <a:r>
              <a:rPr lang="fi-FI" sz="2300"/>
              <a:t>) </a:t>
            </a:r>
            <a:endParaRPr/>
          </a:p>
          <a:p>
            <a:pPr indent="-196850" lvl="0" marL="342900" rtl="0" algn="l">
              <a:spcBef>
                <a:spcPts val="460"/>
              </a:spcBef>
              <a:spcAft>
                <a:spcPts val="0"/>
              </a:spcAft>
              <a:buClr>
                <a:schemeClr val="dk1"/>
              </a:buClr>
              <a:buSzPts val="2300"/>
              <a:buNone/>
            </a:pPr>
            <a:r>
              <a:t/>
            </a:r>
            <a:endParaRPr i="1" sz="2300" u="sng"/>
          </a:p>
          <a:p>
            <a:pPr indent="-196850" lvl="0" marL="342900" rtl="0" algn="l">
              <a:spcBef>
                <a:spcPts val="460"/>
              </a:spcBef>
              <a:spcAft>
                <a:spcPts val="0"/>
              </a:spcAft>
              <a:buClr>
                <a:schemeClr val="dk1"/>
              </a:buClr>
              <a:buSzPts val="2300"/>
              <a:buNone/>
            </a:pPr>
            <a:r>
              <a:t/>
            </a:r>
            <a:endParaRPr sz="2300"/>
          </a:p>
          <a:p>
            <a:pPr indent="-196850" lvl="0" marL="342900" rtl="0" algn="l">
              <a:spcBef>
                <a:spcPts val="460"/>
              </a:spcBef>
              <a:spcAft>
                <a:spcPts val="0"/>
              </a:spcAft>
              <a:buClr>
                <a:schemeClr val="dk1"/>
              </a:buClr>
              <a:buSzPts val="2300"/>
              <a:buNone/>
            </a:pPr>
            <a:r>
              <a:t/>
            </a:r>
            <a:endParaRPr sz="2300"/>
          </a:p>
        </p:txBody>
      </p:sp>
      <p:sp>
        <p:nvSpPr>
          <p:cNvPr id="1232" name="Google Shape;1232;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Testihallinnan rakenteet ja välinetuki </a:t>
            </a:r>
            <a:endParaRPr/>
          </a:p>
        </p:txBody>
      </p:sp>
      <p:sp>
        <p:nvSpPr>
          <p:cNvPr id="1239" name="Google Shape;1239;p6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p>
            <a:pPr indent="-152400" lvl="0" marL="0" rtl="0" algn="l">
              <a:spcBef>
                <a:spcPts val="0"/>
              </a:spcBef>
              <a:spcAft>
                <a:spcPts val="0"/>
              </a:spcAft>
              <a:buClr>
                <a:schemeClr val="dk1"/>
              </a:buClr>
              <a:buSzPts val="2400"/>
              <a:buChar char="•"/>
            </a:pPr>
            <a:r>
              <a:rPr lang="fi-FI" sz="2400"/>
              <a:t>Erityisiä onnistumisia</a:t>
            </a:r>
            <a:endParaRPr sz="2400"/>
          </a:p>
          <a:p>
            <a:pPr indent="-187325" lvl="1" marL="377825" rtl="0" algn="l">
              <a:spcBef>
                <a:spcPts val="400"/>
              </a:spcBef>
              <a:spcAft>
                <a:spcPts val="0"/>
              </a:spcAft>
              <a:buClr>
                <a:schemeClr val="dk1"/>
              </a:buClr>
              <a:buSzPts val="2000"/>
              <a:buChar char="–"/>
            </a:pPr>
            <a:r>
              <a:rPr lang="fi-FI" sz="2000"/>
              <a:t>Luottamuksen kasvattaminen ison ja hajautetun organisaation eri testausta tekevien osapuolien kesken</a:t>
            </a:r>
            <a:endParaRPr sz="2000"/>
          </a:p>
          <a:p>
            <a:pPr indent="-187325" lvl="1" marL="377825" rtl="0" algn="l">
              <a:spcBef>
                <a:spcPts val="400"/>
              </a:spcBef>
              <a:spcAft>
                <a:spcPts val="0"/>
              </a:spcAft>
              <a:buClr>
                <a:schemeClr val="dk1"/>
              </a:buClr>
              <a:buSzPts val="2000"/>
              <a:buChar char="–"/>
            </a:pPr>
            <a:r>
              <a:rPr lang="fi-FI" sz="2000"/>
              <a:t>Jatkuva näkyvyys viimeisen koontiversion testaustietoihin</a:t>
            </a:r>
            <a:endParaRPr sz="2000"/>
          </a:p>
          <a:p>
            <a:pPr indent="-187325" lvl="1" marL="377825" rtl="0" algn="l">
              <a:spcBef>
                <a:spcPts val="400"/>
              </a:spcBef>
              <a:spcAft>
                <a:spcPts val="0"/>
              </a:spcAft>
              <a:buClr>
                <a:schemeClr val="dk1"/>
              </a:buClr>
              <a:buSzPts val="2000"/>
              <a:buChar char="–"/>
            </a:pPr>
            <a:r>
              <a:rPr lang="fi-FI" sz="2000"/>
              <a:t>Testauksen moninkertaisuuden laskeminen ilman leikkaa-liimaa –mittausta (kierrokset, ympäristöt)</a:t>
            </a:r>
            <a:endParaRPr/>
          </a:p>
          <a:p>
            <a:pPr indent="-187325" lvl="1" marL="377825" rtl="0" algn="l">
              <a:spcBef>
                <a:spcPts val="400"/>
              </a:spcBef>
              <a:spcAft>
                <a:spcPts val="0"/>
              </a:spcAft>
              <a:buClr>
                <a:schemeClr val="dk1"/>
              </a:buClr>
              <a:buSzPts val="2000"/>
              <a:buChar char="–"/>
            </a:pPr>
            <a:r>
              <a:rPr lang="fi-FI" sz="2000"/>
              <a:t>Näkyvyys virhemääriin suhteessa testausalueisiin</a:t>
            </a:r>
            <a:endParaRPr sz="2000"/>
          </a:p>
        </p:txBody>
      </p:sp>
      <p:sp>
        <p:nvSpPr>
          <p:cNvPr id="1240" name="Google Shape;1240;p6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52400" lvl="0" marL="0" rtl="0" algn="l">
              <a:spcBef>
                <a:spcPts val="0"/>
              </a:spcBef>
              <a:spcAft>
                <a:spcPts val="0"/>
              </a:spcAft>
              <a:buClr>
                <a:schemeClr val="dk1"/>
              </a:buClr>
              <a:buSzPts val="2400"/>
              <a:buChar char="•"/>
            </a:pPr>
            <a:r>
              <a:rPr lang="fi-FI" sz="2400"/>
              <a:t>Sudenkuoppia</a:t>
            </a:r>
            <a:endParaRPr/>
          </a:p>
          <a:p>
            <a:pPr indent="-187325" lvl="1" marL="377825" rtl="0" algn="l">
              <a:spcBef>
                <a:spcPts val="400"/>
              </a:spcBef>
              <a:spcAft>
                <a:spcPts val="0"/>
              </a:spcAft>
              <a:buClr>
                <a:schemeClr val="dk1"/>
              </a:buClr>
              <a:buSzPts val="2000"/>
              <a:buChar char="–"/>
            </a:pPr>
            <a:r>
              <a:rPr lang="fi-FI" sz="2000"/>
              <a:t>Raportoinnin hyvyys perustuu hyviin suunnittelun rakenteisiin</a:t>
            </a:r>
            <a:endParaRPr/>
          </a:p>
          <a:p>
            <a:pPr indent="-187325" lvl="1" marL="377825" rtl="0" algn="l">
              <a:spcBef>
                <a:spcPts val="400"/>
              </a:spcBef>
              <a:spcAft>
                <a:spcPts val="0"/>
              </a:spcAft>
              <a:buClr>
                <a:schemeClr val="dk1"/>
              </a:buClr>
              <a:buSzPts val="2000"/>
              <a:buChar char="–"/>
            </a:pPr>
            <a:r>
              <a:rPr lang="fi-FI" sz="2000"/>
              <a:t>Monet välineet ohjaavat liian helposti liialliseen dokumentaatioon ja yksityiskohtien määrään</a:t>
            </a:r>
            <a:endParaRPr/>
          </a:p>
          <a:p>
            <a:pPr indent="-187325" lvl="1" marL="377825" rtl="0" algn="l">
              <a:spcBef>
                <a:spcPts val="400"/>
              </a:spcBef>
              <a:spcAft>
                <a:spcPts val="0"/>
              </a:spcAft>
              <a:buClr>
                <a:schemeClr val="dk1"/>
              </a:buClr>
              <a:buSzPts val="2000"/>
              <a:buChar char="–"/>
            </a:pPr>
            <a:r>
              <a:rPr lang="fi-FI" sz="2000"/>
              <a:t>Käyttöoikeuksien rajoittamisella voidaan viedä pohjaa jakamiselta</a:t>
            </a:r>
            <a:endParaRPr/>
          </a:p>
          <a:p>
            <a:pPr indent="-187325" lvl="1" marL="377825" rtl="0" algn="l">
              <a:spcBef>
                <a:spcPts val="400"/>
              </a:spcBef>
              <a:spcAft>
                <a:spcPts val="0"/>
              </a:spcAft>
              <a:buClr>
                <a:schemeClr val="dk1"/>
              </a:buClr>
              <a:buSzPts val="2000"/>
              <a:buChar char="–"/>
            </a:pPr>
            <a:r>
              <a:rPr lang="fi-FI" sz="2000"/>
              <a:t>Lisensointimallit eivät aina helpota materiaalin jakamista</a:t>
            </a:r>
            <a:endParaRPr/>
          </a:p>
          <a:p>
            <a:pPr indent="-60325" lvl="1" marL="377825" rtl="0" algn="l">
              <a:spcBef>
                <a:spcPts val="400"/>
              </a:spcBef>
              <a:spcAft>
                <a:spcPts val="0"/>
              </a:spcAft>
              <a:buClr>
                <a:schemeClr val="dk1"/>
              </a:buClr>
              <a:buSzPts val="2000"/>
              <a:buNone/>
            </a:pPr>
            <a:r>
              <a:t/>
            </a:r>
            <a:endParaRPr sz="2000"/>
          </a:p>
        </p:txBody>
      </p:sp>
      <p:sp>
        <p:nvSpPr>
          <p:cNvPr id="1241" name="Google Shape;1241;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grpSp>
        <p:nvGrpSpPr>
          <p:cNvPr id="1246" name="Google Shape;1246;p68"/>
          <p:cNvGrpSpPr/>
          <p:nvPr/>
        </p:nvGrpSpPr>
        <p:grpSpPr>
          <a:xfrm>
            <a:off x="1619672" y="548680"/>
            <a:ext cx="5987008" cy="1800200"/>
            <a:chOff x="0" y="2256771"/>
            <a:chExt cx="5987008" cy="287819"/>
          </a:xfrm>
        </p:grpSpPr>
        <p:sp>
          <p:nvSpPr>
            <p:cNvPr id="1247" name="Google Shape;1247;p68"/>
            <p:cNvSpPr/>
            <p:nvPr/>
          </p:nvSpPr>
          <p:spPr>
            <a:xfrm>
              <a:off x="0" y="2256771"/>
              <a:ext cx="5987008" cy="287819"/>
            </a:xfrm>
            <a:prstGeom prst="roundRect">
              <a:avLst>
                <a:gd fmla="val 16667" name="adj"/>
              </a:avLst>
            </a:prstGeom>
            <a:solidFill>
              <a:srgbClr val="ACB9D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68"/>
            <p:cNvSpPr/>
            <p:nvPr/>
          </p:nvSpPr>
          <p:spPr>
            <a:xfrm>
              <a:off x="14050" y="2270821"/>
              <a:ext cx="5958908" cy="259719"/>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lang="fi-FI" sz="2800">
                  <a:solidFill>
                    <a:schemeClr val="lt1"/>
                  </a:solidFill>
                  <a:latin typeface="Gill Sans"/>
                  <a:ea typeface="Gill Sans"/>
                  <a:cs typeface="Gill Sans"/>
                  <a:sym typeface="Gill Sans"/>
                </a:rPr>
                <a:t>Testitapausten hallinnan välinetuki</a:t>
              </a:r>
              <a:endParaRPr sz="2800">
                <a:solidFill>
                  <a:schemeClr val="lt1"/>
                </a:solidFill>
                <a:latin typeface="Gill Sans"/>
                <a:ea typeface="Gill Sans"/>
                <a:cs typeface="Gill Sans"/>
                <a:sym typeface="Gill Sans"/>
              </a:endParaRPr>
            </a:p>
          </p:txBody>
        </p:sp>
      </p:grpSp>
      <p:sp>
        <p:nvSpPr>
          <p:cNvPr id="1249" name="Google Shape;1249;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pic>
        <p:nvPicPr>
          <p:cNvPr descr="C:\Documents and Settings\mpyhajar.CONFORMIQ\Application Data\Microsoft\Media Catalog\Downloaded Clips\cl1f\j0078711.wmf" id="1250" name="Google Shape;1250;p68"/>
          <p:cNvPicPr preferRelativeResize="0"/>
          <p:nvPr/>
        </p:nvPicPr>
        <p:blipFill rotWithShape="1">
          <a:blip r:embed="rId3">
            <a:alphaModFix/>
          </a:blip>
          <a:srcRect b="0" l="0" r="0" t="0"/>
          <a:stretch/>
        </p:blipFill>
        <p:spPr>
          <a:xfrm>
            <a:off x="2714612" y="1661115"/>
            <a:ext cx="1622425" cy="3933825"/>
          </a:xfrm>
          <a:prstGeom prst="rect">
            <a:avLst/>
          </a:prstGeom>
          <a:noFill/>
          <a:ln>
            <a:noFill/>
          </a:ln>
        </p:spPr>
      </p:pic>
      <p:pic>
        <p:nvPicPr>
          <p:cNvPr descr="C:\Documents and Settings\mpyhajar.CONFORMIQ\Application Data\Microsoft\Media Catalog\Downloaded Clips\cl1f\j0078625.wmf" id="1251" name="Google Shape;1251;p68"/>
          <p:cNvPicPr preferRelativeResize="0"/>
          <p:nvPr/>
        </p:nvPicPr>
        <p:blipFill rotWithShape="1">
          <a:blip r:embed="rId4">
            <a:alphaModFix/>
          </a:blip>
          <a:srcRect b="0" l="0" r="0" t="0"/>
          <a:stretch/>
        </p:blipFill>
        <p:spPr>
          <a:xfrm>
            <a:off x="4286248" y="2375495"/>
            <a:ext cx="1295400" cy="39338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b="1" lang="fi-FI"/>
              <a:t>PÄIVÄ 1</a:t>
            </a:r>
            <a:endParaRPr/>
          </a:p>
        </p:txBody>
      </p:sp>
      <p:grpSp>
        <p:nvGrpSpPr>
          <p:cNvPr id="1257" name="Google Shape;1257;p69"/>
          <p:cNvGrpSpPr/>
          <p:nvPr/>
        </p:nvGrpSpPr>
        <p:grpSpPr>
          <a:xfrm>
            <a:off x="1475656" y="1614891"/>
            <a:ext cx="5987008" cy="4496580"/>
            <a:chOff x="0" y="14691"/>
            <a:chExt cx="5987008" cy="4496580"/>
          </a:xfrm>
        </p:grpSpPr>
        <p:sp>
          <p:nvSpPr>
            <p:cNvPr id="1258" name="Google Shape;1258;p69"/>
            <p:cNvSpPr/>
            <p:nvPr/>
          </p:nvSpPr>
          <p:spPr>
            <a:xfrm>
              <a:off x="0" y="1469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69"/>
            <p:cNvSpPr txBox="1"/>
            <p:nvPr/>
          </p:nvSpPr>
          <p:spPr>
            <a:xfrm>
              <a:off x="14050" y="2874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 testitapaukset ja testaajana toimiminen</a:t>
              </a:r>
              <a:endParaRPr sz="1200">
                <a:solidFill>
                  <a:schemeClr val="lt1"/>
                </a:solidFill>
                <a:latin typeface="Gill Sans"/>
                <a:ea typeface="Gill Sans"/>
                <a:cs typeface="Gill Sans"/>
                <a:sym typeface="Gill Sans"/>
              </a:endParaRPr>
            </a:p>
          </p:txBody>
        </p:sp>
        <p:sp>
          <p:nvSpPr>
            <p:cNvPr id="1260" name="Google Shape;1260;p69"/>
            <p:cNvSpPr/>
            <p:nvPr/>
          </p:nvSpPr>
          <p:spPr>
            <a:xfrm>
              <a:off x="0" y="30251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69"/>
            <p:cNvSpPr txBox="1"/>
            <p:nvPr/>
          </p:nvSpPr>
          <p:spPr>
            <a:xfrm>
              <a:off x="0" y="30251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Testaustyön luonne ja merkitys / testausmatematiikan perusteet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Määrittelyt testauksen pohjana / määrittelyn limupeli</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ajattelumallit / kuinka testaisin tekstikentän</a:t>
              </a:r>
              <a:endParaRPr b="0" i="0" sz="900" u="none" cap="none" strike="noStrike">
                <a:solidFill>
                  <a:schemeClr val="dk1"/>
                </a:solidFill>
                <a:latin typeface="Gill Sans"/>
                <a:ea typeface="Gill Sans"/>
                <a:cs typeface="Gill Sans"/>
                <a:sym typeface="Gill Sans"/>
              </a:endParaRPr>
            </a:p>
          </p:txBody>
        </p:sp>
        <p:sp>
          <p:nvSpPr>
            <p:cNvPr id="1262" name="Google Shape;1262;p69"/>
            <p:cNvSpPr/>
            <p:nvPr/>
          </p:nvSpPr>
          <p:spPr>
            <a:xfrm>
              <a:off x="0" y="762051"/>
              <a:ext cx="5987008" cy="287819"/>
            </a:xfrm>
            <a:prstGeom prst="roundRect">
              <a:avLst>
                <a:gd fmla="val 16667" name="adj"/>
              </a:avLst>
            </a:prstGeom>
            <a:solidFill>
              <a:srgbClr val="B32A1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69"/>
            <p:cNvSpPr txBox="1"/>
            <p:nvPr/>
          </p:nvSpPr>
          <p:spPr>
            <a:xfrm>
              <a:off x="14050" y="7761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dokumentointi</a:t>
              </a:r>
              <a:endParaRPr sz="1200">
                <a:solidFill>
                  <a:schemeClr val="lt1"/>
                </a:solidFill>
                <a:latin typeface="Gill Sans"/>
                <a:ea typeface="Gill Sans"/>
                <a:cs typeface="Gill Sans"/>
                <a:sym typeface="Gill Sans"/>
              </a:endParaRPr>
            </a:p>
          </p:txBody>
        </p:sp>
        <p:sp>
          <p:nvSpPr>
            <p:cNvPr id="1264" name="Google Shape;1264;p69"/>
            <p:cNvSpPr/>
            <p:nvPr/>
          </p:nvSpPr>
          <p:spPr>
            <a:xfrm>
              <a:off x="0" y="104987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69"/>
            <p:cNvSpPr txBox="1"/>
            <p:nvPr/>
          </p:nvSpPr>
          <p:spPr>
            <a:xfrm>
              <a:off x="0" y="104987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Oikea-aikainen dokumentointi – valmistaudu ajoissa, älä unohda uusia oppeja!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Miltä oikeat testitapaukset näyttävät?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taso FreeMind Etsi ja korvaa -toiminnolle</a:t>
              </a:r>
              <a:endParaRPr b="0" i="0" sz="900" u="none" cap="none" strike="noStrike">
                <a:solidFill>
                  <a:schemeClr val="dk1"/>
                </a:solidFill>
                <a:latin typeface="Gill Sans"/>
                <a:ea typeface="Gill Sans"/>
                <a:cs typeface="Gill Sans"/>
                <a:sym typeface="Gill Sans"/>
              </a:endParaRPr>
            </a:p>
          </p:txBody>
        </p:sp>
        <p:sp>
          <p:nvSpPr>
            <p:cNvPr id="1266" name="Google Shape;1266;p69"/>
            <p:cNvSpPr/>
            <p:nvPr/>
          </p:nvSpPr>
          <p:spPr>
            <a:xfrm>
              <a:off x="0" y="1509411"/>
              <a:ext cx="5987008" cy="287819"/>
            </a:xfrm>
            <a:prstGeom prst="roundRect">
              <a:avLst>
                <a:gd fmla="val 16667" name="adj"/>
              </a:avLst>
            </a:prstGeom>
            <a:solidFill>
              <a:srgbClr val="F3CB2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69"/>
            <p:cNvSpPr txBox="1"/>
            <p:nvPr/>
          </p:nvSpPr>
          <p:spPr>
            <a:xfrm>
              <a:off x="14050" y="152346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Regressiotestaus</a:t>
              </a:r>
              <a:endParaRPr sz="1200">
                <a:solidFill>
                  <a:schemeClr val="lt1"/>
                </a:solidFill>
                <a:latin typeface="Gill Sans"/>
                <a:ea typeface="Gill Sans"/>
                <a:cs typeface="Gill Sans"/>
                <a:sym typeface="Gill Sans"/>
              </a:endParaRPr>
            </a:p>
          </p:txBody>
        </p:sp>
        <p:sp>
          <p:nvSpPr>
            <p:cNvPr id="1268" name="Google Shape;1268;p69"/>
            <p:cNvSpPr/>
            <p:nvPr/>
          </p:nvSpPr>
          <p:spPr>
            <a:xfrm>
              <a:off x="0" y="179723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69"/>
            <p:cNvSpPr txBox="1"/>
            <p:nvPr/>
          </p:nvSpPr>
          <p:spPr>
            <a:xfrm>
              <a:off x="0" y="179723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Testaaminen vs. korjaaminen</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Toimivia regressiotestausmalleja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regressiotestien valinta annetusta testitapausmäärittelystä</a:t>
              </a:r>
              <a:endParaRPr b="0" i="0" sz="900" u="none" cap="none" strike="noStrike">
                <a:solidFill>
                  <a:schemeClr val="dk1"/>
                </a:solidFill>
                <a:latin typeface="Gill Sans"/>
                <a:ea typeface="Gill Sans"/>
                <a:cs typeface="Gill Sans"/>
                <a:sym typeface="Gill Sans"/>
              </a:endParaRPr>
            </a:p>
          </p:txBody>
        </p:sp>
        <p:sp>
          <p:nvSpPr>
            <p:cNvPr id="1270" name="Google Shape;1270;p69"/>
            <p:cNvSpPr/>
            <p:nvPr/>
          </p:nvSpPr>
          <p:spPr>
            <a:xfrm>
              <a:off x="0" y="2256771"/>
              <a:ext cx="5987008" cy="287819"/>
            </a:xfrm>
            <a:prstGeom prst="roundRect">
              <a:avLst>
                <a:gd fmla="val 16667" name="adj"/>
              </a:avLst>
            </a:prstGeom>
            <a:solidFill>
              <a:srgbClr val="ACB9D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69"/>
            <p:cNvSpPr txBox="1"/>
            <p:nvPr/>
          </p:nvSpPr>
          <p:spPr>
            <a:xfrm>
              <a:off x="14050" y="227082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hallinnan välinetuki</a:t>
              </a:r>
              <a:endParaRPr sz="1200">
                <a:solidFill>
                  <a:schemeClr val="lt1"/>
                </a:solidFill>
                <a:latin typeface="Gill Sans"/>
                <a:ea typeface="Gill Sans"/>
                <a:cs typeface="Gill Sans"/>
                <a:sym typeface="Gill Sans"/>
              </a:endParaRPr>
            </a:p>
          </p:txBody>
        </p:sp>
        <p:sp>
          <p:nvSpPr>
            <p:cNvPr id="1272" name="Google Shape;1272;p69"/>
            <p:cNvSpPr/>
            <p:nvPr/>
          </p:nvSpPr>
          <p:spPr>
            <a:xfrm>
              <a:off x="0" y="254459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69"/>
            <p:cNvSpPr txBox="1"/>
            <p:nvPr/>
          </p:nvSpPr>
          <p:spPr>
            <a:xfrm>
              <a:off x="0" y="254459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varastointi uudelleenkäyttöön ja suorituksen hallinta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Testauksen aikaiset muistiinpanot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Kaupalliset ja avoimen lähdekoodin vaihtoehdot</a:t>
              </a:r>
              <a:endParaRPr b="0" i="0" sz="900" u="none" cap="none" strike="noStrike">
                <a:solidFill>
                  <a:schemeClr val="dk1"/>
                </a:solidFill>
                <a:latin typeface="Gill Sans"/>
                <a:ea typeface="Gill Sans"/>
                <a:cs typeface="Gill Sans"/>
                <a:sym typeface="Gill Sans"/>
              </a:endParaRPr>
            </a:p>
          </p:txBody>
        </p:sp>
        <p:sp>
          <p:nvSpPr>
            <p:cNvPr id="1274" name="Google Shape;1274;p69"/>
            <p:cNvSpPr/>
            <p:nvPr/>
          </p:nvSpPr>
          <p:spPr>
            <a:xfrm>
              <a:off x="0" y="3004131"/>
              <a:ext cx="5987008" cy="287819"/>
            </a:xfrm>
            <a:prstGeom prst="roundRect">
              <a:avLst>
                <a:gd fmla="val 16667" name="adj"/>
              </a:avLst>
            </a:prstGeom>
            <a:solidFill>
              <a:srgbClr val="767B8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69"/>
            <p:cNvSpPr txBox="1"/>
            <p:nvPr/>
          </p:nvSpPr>
          <p:spPr>
            <a:xfrm>
              <a:off x="14050" y="301818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Testaustyömaan ymmärtämisestä testitapausten tehokäyttöön</a:t>
              </a:r>
              <a:endParaRPr sz="1200">
                <a:solidFill>
                  <a:schemeClr val="lt1"/>
                </a:solidFill>
                <a:latin typeface="Gill Sans"/>
                <a:ea typeface="Gill Sans"/>
                <a:cs typeface="Gill Sans"/>
                <a:sym typeface="Gill Sans"/>
              </a:endParaRPr>
            </a:p>
          </p:txBody>
        </p:sp>
        <p:sp>
          <p:nvSpPr>
            <p:cNvPr id="1276" name="Google Shape;1276;p69"/>
            <p:cNvSpPr/>
            <p:nvPr/>
          </p:nvSpPr>
          <p:spPr>
            <a:xfrm>
              <a:off x="0" y="3291951"/>
              <a:ext cx="5987008" cy="62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69"/>
            <p:cNvSpPr txBox="1"/>
            <p:nvPr/>
          </p:nvSpPr>
          <p:spPr>
            <a:xfrm>
              <a:off x="0" y="3291951"/>
              <a:ext cx="5987008" cy="6210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Karkea osittaminen ennen yksityiskohtien suunnittelua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muuntelu testatessa: lisää / poista / toista / vaihda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tekemä testaus suhteessa muuhun testaukseen (yksikkötestit, tekninen testiautomaatio)</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priorisointi suoritusjärjestykseksi</a:t>
              </a:r>
              <a:endParaRPr b="0" i="0" sz="900" u="none" cap="none" strike="noStrike">
                <a:solidFill>
                  <a:schemeClr val="dk1"/>
                </a:solidFill>
                <a:latin typeface="Gill Sans"/>
                <a:ea typeface="Gill Sans"/>
                <a:cs typeface="Gill Sans"/>
                <a:sym typeface="Gill Sans"/>
              </a:endParaRPr>
            </a:p>
          </p:txBody>
        </p:sp>
        <p:sp>
          <p:nvSpPr>
            <p:cNvPr id="1278" name="Google Shape;1278;p69"/>
            <p:cNvSpPr/>
            <p:nvPr/>
          </p:nvSpPr>
          <p:spPr>
            <a:xfrm>
              <a:off x="0" y="391295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69"/>
            <p:cNvSpPr txBox="1"/>
            <p:nvPr/>
          </p:nvSpPr>
          <p:spPr>
            <a:xfrm>
              <a:off x="14050" y="39270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Testitapaukset testaustyön jakamisessa useille testaajille</a:t>
              </a:r>
              <a:endParaRPr sz="1200">
                <a:solidFill>
                  <a:schemeClr val="lt1"/>
                </a:solidFill>
                <a:latin typeface="Gill Sans"/>
                <a:ea typeface="Gill Sans"/>
                <a:cs typeface="Gill Sans"/>
                <a:sym typeface="Gill Sans"/>
              </a:endParaRPr>
            </a:p>
          </p:txBody>
        </p:sp>
        <p:sp>
          <p:nvSpPr>
            <p:cNvPr id="1280" name="Google Shape;1280;p69"/>
            <p:cNvSpPr/>
            <p:nvPr/>
          </p:nvSpPr>
          <p:spPr>
            <a:xfrm>
              <a:off x="0" y="4200771"/>
              <a:ext cx="5987008" cy="31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69"/>
            <p:cNvSpPr txBox="1"/>
            <p:nvPr/>
          </p:nvSpPr>
          <p:spPr>
            <a:xfrm>
              <a:off x="0" y="4200771"/>
              <a:ext cx="5987008" cy="3105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1: Testaustyömaan hallinta vakuutussektorin hyväksymistestauksessa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2: Testaustyömaan hallinta ketterässä tuotekehitystiimissä</a:t>
              </a:r>
              <a:endParaRPr b="0" i="0" sz="900" u="none" cap="none" strike="noStrike">
                <a:solidFill>
                  <a:schemeClr val="dk1"/>
                </a:solidFill>
                <a:latin typeface="Gill Sans"/>
                <a:ea typeface="Gill Sans"/>
                <a:cs typeface="Gill Sans"/>
                <a:sym typeface="Gill Sans"/>
              </a:endParaRPr>
            </a:p>
          </p:txBody>
        </p:sp>
      </p:grpSp>
      <p:sp>
        <p:nvSpPr>
          <p:cNvPr id="1282" name="Google Shape;1282;p69"/>
          <p:cNvSpPr/>
          <p:nvPr/>
        </p:nvSpPr>
        <p:spPr>
          <a:xfrm>
            <a:off x="929296" y="4888584"/>
            <a:ext cx="474352" cy="484632"/>
          </a:xfrm>
          <a:prstGeom prst="rightArrow">
            <a:avLst>
              <a:gd fmla="val 50000" name="adj1"/>
              <a:gd fmla="val 50000" name="adj2"/>
            </a:avLst>
          </a:prstGeom>
          <a:solidFill>
            <a:schemeClr val="dk1"/>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283" name="Google Shape;1283;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Karkea osittaminen ennen yksityiskohtien suunnittelua</a:t>
            </a:r>
            <a:endParaRPr/>
          </a:p>
        </p:txBody>
      </p:sp>
      <p:sp>
        <p:nvSpPr>
          <p:cNvPr id="1290" name="Google Shape;1290;p7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fi-FI"/>
              <a:t>Testistrategia</a:t>
            </a:r>
            <a:endParaRPr/>
          </a:p>
          <a:p>
            <a:pPr indent="-285750" lvl="1" marL="742950" rtl="0" algn="l">
              <a:spcBef>
                <a:spcPts val="560"/>
              </a:spcBef>
              <a:spcAft>
                <a:spcPts val="0"/>
              </a:spcAft>
              <a:buClr>
                <a:schemeClr val="dk1"/>
              </a:buClr>
              <a:buSzPts val="2800"/>
              <a:buChar char="–"/>
            </a:pPr>
            <a:r>
              <a:rPr lang="fi-FI"/>
              <a:t>Riskit syynä ja motivaationa sille miten aiotaan testata</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fi-FI"/>
              <a:t>Testitapausarkkitehtuuri:</a:t>
            </a:r>
            <a:endParaRPr/>
          </a:p>
          <a:p>
            <a:pPr indent="-285750" lvl="1" marL="742950" rtl="0" algn="l">
              <a:spcBef>
                <a:spcPts val="560"/>
              </a:spcBef>
              <a:spcAft>
                <a:spcPts val="0"/>
              </a:spcAft>
              <a:buClr>
                <a:schemeClr val="dk1"/>
              </a:buClr>
              <a:buSzPts val="2800"/>
              <a:buChar char="–"/>
            </a:pPr>
            <a:r>
              <a:rPr lang="fi-FI"/>
              <a:t>Korkean tason jäsennys johon täydentää testauksen yksityiskohtia, testitapauksia</a:t>
            </a:r>
            <a:endParaRPr/>
          </a:p>
        </p:txBody>
      </p:sp>
      <p:sp>
        <p:nvSpPr>
          <p:cNvPr id="1291" name="Google Shape;1291;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Laatuhierarkia</a:t>
            </a:r>
            <a:br>
              <a:rPr lang="fi-FI"/>
            </a:br>
            <a:r>
              <a:rPr lang="fi-FI" sz="2000"/>
              <a:t>Lähde: Muokattu Gojko Adjicin ideasta</a:t>
            </a:r>
            <a:endParaRPr/>
          </a:p>
        </p:txBody>
      </p:sp>
      <p:sp>
        <p:nvSpPr>
          <p:cNvPr id="1298" name="Google Shape;1298;p71"/>
          <p:cNvSpPr/>
          <p:nvPr/>
        </p:nvSpPr>
        <p:spPr>
          <a:xfrm>
            <a:off x="323528" y="1556792"/>
            <a:ext cx="8568952" cy="4824536"/>
          </a:xfrm>
          <a:prstGeom prst="triangle">
            <a:avLst>
              <a:gd fmla="val 50000" name="adj"/>
            </a:avLst>
          </a:prstGeom>
          <a:gradFill>
            <a:gsLst>
              <a:gs pos="0">
                <a:srgbClr val="A5C3FF"/>
              </a:gs>
              <a:gs pos="35000">
                <a:srgbClr val="BDD5FF"/>
              </a:gs>
              <a:gs pos="100000">
                <a:srgbClr val="E3EEFF"/>
              </a:gs>
            </a:gsLst>
            <a:lin ang="5400000" scaled="0"/>
          </a:gradFill>
          <a:ln cap="flat" cmpd="sng" w="57150">
            <a:solidFill>
              <a:srgbClr val="6F93D5"/>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299" name="Google Shape;1299;p71"/>
          <p:cNvSpPr txBox="1"/>
          <p:nvPr/>
        </p:nvSpPr>
        <p:spPr>
          <a:xfrm>
            <a:off x="1259632" y="5445224"/>
            <a:ext cx="6768752"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800">
                <a:solidFill>
                  <a:schemeClr val="dk1"/>
                </a:solidFill>
                <a:latin typeface="Gill Sans"/>
                <a:ea typeface="Gill Sans"/>
                <a:cs typeface="Gill Sans"/>
                <a:sym typeface="Gill Sans"/>
              </a:rPr>
              <a:t>Otettavissa käyttöön</a:t>
            </a:r>
            <a:endParaRPr/>
          </a:p>
          <a:p>
            <a:pPr indent="0" lvl="0" marL="0" marR="0" rtl="0" algn="ctr">
              <a:spcBef>
                <a:spcPts val="0"/>
              </a:spcBef>
              <a:spcAft>
                <a:spcPts val="0"/>
              </a:spcAft>
              <a:buNone/>
            </a:pPr>
            <a:r>
              <a:rPr lang="fi-FI" sz="2800">
                <a:solidFill>
                  <a:schemeClr val="dk1"/>
                </a:solidFill>
                <a:latin typeface="Gill Sans"/>
                <a:ea typeface="Gill Sans"/>
                <a:cs typeface="Gill Sans"/>
                <a:sym typeface="Gill Sans"/>
              </a:rPr>
              <a:t>Toimiva monipuolisella aineistolla</a:t>
            </a:r>
            <a:endParaRPr sz="2800">
              <a:solidFill>
                <a:schemeClr val="dk1"/>
              </a:solidFill>
              <a:latin typeface="Gill Sans"/>
              <a:ea typeface="Gill Sans"/>
              <a:cs typeface="Gill Sans"/>
              <a:sym typeface="Gill Sans"/>
            </a:endParaRPr>
          </a:p>
        </p:txBody>
      </p:sp>
      <p:cxnSp>
        <p:nvCxnSpPr>
          <p:cNvPr id="1300" name="Google Shape;1300;p71"/>
          <p:cNvCxnSpPr/>
          <p:nvPr/>
        </p:nvCxnSpPr>
        <p:spPr>
          <a:xfrm>
            <a:off x="1115616" y="5445224"/>
            <a:ext cx="6912768" cy="0"/>
          </a:xfrm>
          <a:prstGeom prst="straightConnector1">
            <a:avLst/>
          </a:prstGeom>
          <a:noFill/>
          <a:ln cap="flat" cmpd="sng" w="38100">
            <a:solidFill>
              <a:schemeClr val="accent5"/>
            </a:solidFill>
            <a:prstDash val="solid"/>
            <a:round/>
            <a:headEnd len="sm" w="sm" type="none"/>
            <a:tailEnd len="sm" w="sm" type="none"/>
          </a:ln>
          <a:effectLst>
            <a:outerShdw blurRad="40000" rotWithShape="0" dir="5400000" dist="23000">
              <a:srgbClr val="000000">
                <a:alpha val="34901"/>
              </a:srgbClr>
            </a:outerShdw>
          </a:effectLst>
        </p:spPr>
      </p:cxnSp>
      <p:sp>
        <p:nvSpPr>
          <p:cNvPr id="1301" name="Google Shape;1301;p71"/>
          <p:cNvSpPr txBox="1"/>
          <p:nvPr/>
        </p:nvSpPr>
        <p:spPr>
          <a:xfrm>
            <a:off x="1259632" y="4509120"/>
            <a:ext cx="6768752"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800">
                <a:solidFill>
                  <a:schemeClr val="dk1"/>
                </a:solidFill>
                <a:latin typeface="Gill Sans"/>
                <a:ea typeface="Gill Sans"/>
                <a:cs typeface="Gill Sans"/>
                <a:sym typeface="Gill Sans"/>
              </a:rPr>
              <a:t>Suorituskykyinen</a:t>
            </a:r>
            <a:endParaRPr/>
          </a:p>
          <a:p>
            <a:pPr indent="0" lvl="0" marL="0" marR="0" rtl="0" algn="ctr">
              <a:spcBef>
                <a:spcPts val="0"/>
              </a:spcBef>
              <a:spcAft>
                <a:spcPts val="0"/>
              </a:spcAft>
              <a:buNone/>
            </a:pPr>
            <a:r>
              <a:rPr lang="fi-FI" sz="2800">
                <a:solidFill>
                  <a:schemeClr val="dk1"/>
                </a:solidFill>
                <a:latin typeface="Gill Sans"/>
                <a:ea typeface="Gill Sans"/>
                <a:cs typeface="Gill Sans"/>
                <a:sym typeface="Gill Sans"/>
              </a:rPr>
              <a:t>Turvallinen</a:t>
            </a:r>
            <a:endParaRPr sz="2800">
              <a:solidFill>
                <a:schemeClr val="dk1"/>
              </a:solidFill>
              <a:latin typeface="Gill Sans"/>
              <a:ea typeface="Gill Sans"/>
              <a:cs typeface="Gill Sans"/>
              <a:sym typeface="Gill Sans"/>
            </a:endParaRPr>
          </a:p>
        </p:txBody>
      </p:sp>
      <p:cxnSp>
        <p:nvCxnSpPr>
          <p:cNvPr id="1302" name="Google Shape;1302;p71"/>
          <p:cNvCxnSpPr/>
          <p:nvPr/>
        </p:nvCxnSpPr>
        <p:spPr>
          <a:xfrm>
            <a:off x="1979712" y="4509120"/>
            <a:ext cx="5256584" cy="0"/>
          </a:xfrm>
          <a:prstGeom prst="straightConnector1">
            <a:avLst/>
          </a:prstGeom>
          <a:noFill/>
          <a:ln cap="flat" cmpd="sng" w="38100">
            <a:solidFill>
              <a:schemeClr val="accent4"/>
            </a:solidFill>
            <a:prstDash val="solid"/>
            <a:round/>
            <a:headEnd len="sm" w="sm" type="none"/>
            <a:tailEnd len="sm" w="sm" type="none"/>
          </a:ln>
          <a:effectLst>
            <a:outerShdw blurRad="40000" rotWithShape="0" dir="5400000" dist="23000">
              <a:srgbClr val="000000">
                <a:alpha val="34901"/>
              </a:srgbClr>
            </a:outerShdw>
          </a:effectLst>
        </p:spPr>
      </p:cxnSp>
      <p:sp>
        <p:nvSpPr>
          <p:cNvPr id="1303" name="Google Shape;1303;p71"/>
          <p:cNvSpPr txBox="1"/>
          <p:nvPr/>
        </p:nvSpPr>
        <p:spPr>
          <a:xfrm>
            <a:off x="1259632" y="3933056"/>
            <a:ext cx="676875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800">
                <a:solidFill>
                  <a:schemeClr val="dk1"/>
                </a:solidFill>
                <a:latin typeface="Gill Sans"/>
                <a:ea typeface="Gill Sans"/>
                <a:cs typeface="Gill Sans"/>
                <a:sym typeface="Gill Sans"/>
              </a:rPr>
              <a:t>Käytettävä</a:t>
            </a:r>
            <a:endParaRPr sz="2800">
              <a:solidFill>
                <a:schemeClr val="dk1"/>
              </a:solidFill>
              <a:latin typeface="Gill Sans"/>
              <a:ea typeface="Gill Sans"/>
              <a:cs typeface="Gill Sans"/>
              <a:sym typeface="Gill Sans"/>
            </a:endParaRPr>
          </a:p>
        </p:txBody>
      </p:sp>
      <p:sp>
        <p:nvSpPr>
          <p:cNvPr id="1304" name="Google Shape;1304;p71"/>
          <p:cNvSpPr txBox="1"/>
          <p:nvPr/>
        </p:nvSpPr>
        <p:spPr>
          <a:xfrm>
            <a:off x="1259632" y="3212976"/>
            <a:ext cx="676875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800">
                <a:solidFill>
                  <a:schemeClr val="dk1"/>
                </a:solidFill>
                <a:latin typeface="Gill Sans"/>
                <a:ea typeface="Gill Sans"/>
                <a:cs typeface="Gill Sans"/>
                <a:sym typeface="Gill Sans"/>
              </a:rPr>
              <a:t>Hyödyllinen</a:t>
            </a:r>
            <a:endParaRPr sz="2800">
              <a:solidFill>
                <a:schemeClr val="dk1"/>
              </a:solidFill>
              <a:latin typeface="Gill Sans"/>
              <a:ea typeface="Gill Sans"/>
              <a:cs typeface="Gill Sans"/>
              <a:sym typeface="Gill Sans"/>
            </a:endParaRPr>
          </a:p>
        </p:txBody>
      </p:sp>
      <p:sp>
        <p:nvSpPr>
          <p:cNvPr id="1305" name="Google Shape;1305;p71"/>
          <p:cNvSpPr txBox="1"/>
          <p:nvPr/>
        </p:nvSpPr>
        <p:spPr>
          <a:xfrm>
            <a:off x="1228100" y="2473732"/>
            <a:ext cx="676875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800">
                <a:solidFill>
                  <a:schemeClr val="dk1"/>
                </a:solidFill>
                <a:latin typeface="Gill Sans"/>
                <a:ea typeface="Gill Sans"/>
                <a:cs typeface="Gill Sans"/>
                <a:sym typeface="Gill Sans"/>
              </a:rPr>
              <a:t>Onnistunut</a:t>
            </a:r>
            <a:endParaRPr sz="2800">
              <a:solidFill>
                <a:schemeClr val="dk1"/>
              </a:solidFill>
              <a:latin typeface="Gill Sans"/>
              <a:ea typeface="Gill Sans"/>
              <a:cs typeface="Gill Sans"/>
              <a:sym typeface="Gill Sans"/>
            </a:endParaRPr>
          </a:p>
        </p:txBody>
      </p:sp>
      <p:cxnSp>
        <p:nvCxnSpPr>
          <p:cNvPr id="1306" name="Google Shape;1306;p71"/>
          <p:cNvCxnSpPr/>
          <p:nvPr/>
        </p:nvCxnSpPr>
        <p:spPr>
          <a:xfrm>
            <a:off x="3275856" y="3068960"/>
            <a:ext cx="2664296" cy="0"/>
          </a:xfrm>
          <a:prstGeom prst="straightConnector1">
            <a:avLst/>
          </a:prstGeom>
          <a:noFill/>
          <a:ln cap="flat" cmpd="sng" w="38100">
            <a:solidFill>
              <a:schemeClr val="accent6"/>
            </a:solidFill>
            <a:prstDash val="solid"/>
            <a:round/>
            <a:headEnd len="sm" w="sm" type="none"/>
            <a:tailEnd len="sm" w="sm" type="none"/>
          </a:ln>
          <a:effectLst>
            <a:outerShdw blurRad="40000" rotWithShape="0" dir="5400000" dist="23000">
              <a:srgbClr val="000000">
                <a:alpha val="34901"/>
              </a:srgbClr>
            </a:outerShdw>
          </a:effectLst>
        </p:spPr>
      </p:cxnSp>
      <p:cxnSp>
        <p:nvCxnSpPr>
          <p:cNvPr id="1307" name="Google Shape;1307;p71"/>
          <p:cNvCxnSpPr/>
          <p:nvPr/>
        </p:nvCxnSpPr>
        <p:spPr>
          <a:xfrm>
            <a:off x="2627784" y="3789040"/>
            <a:ext cx="3960440" cy="0"/>
          </a:xfrm>
          <a:prstGeom prst="straightConnector1">
            <a:avLst/>
          </a:prstGeom>
          <a:noFill/>
          <a:ln cap="flat" cmpd="sng" w="38100">
            <a:solidFill>
              <a:schemeClr val="accent1"/>
            </a:solidFill>
            <a:prstDash val="solid"/>
            <a:round/>
            <a:headEnd len="sm" w="sm" type="none"/>
            <a:tailEnd len="sm" w="sm" type="none"/>
          </a:ln>
          <a:effectLst>
            <a:outerShdw blurRad="40000" rotWithShape="0" dir="5400000" dist="23000">
              <a:srgbClr val="000000">
                <a:alpha val="34901"/>
              </a:srgbClr>
            </a:outerShdw>
          </a:effectLst>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Testistrategia</a:t>
            </a:r>
            <a:endParaRPr/>
          </a:p>
        </p:txBody>
      </p:sp>
      <p:sp>
        <p:nvSpPr>
          <p:cNvPr id="1314" name="Google Shape;1314;p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2400"/>
              <a:buChar char="•"/>
            </a:pPr>
            <a:r>
              <a:rPr lang="fi-FI" sz="2400"/>
              <a:t>Eri asia kuin </a:t>
            </a:r>
            <a:r>
              <a:rPr lang="fi-FI" sz="2400" u="sng"/>
              <a:t>testauksen strategia</a:t>
            </a:r>
            <a:endParaRPr/>
          </a:p>
          <a:p>
            <a:pPr indent="-285750" lvl="1" marL="742950" rtl="0" algn="l">
              <a:spcBef>
                <a:spcPts val="400"/>
              </a:spcBef>
              <a:spcAft>
                <a:spcPts val="0"/>
              </a:spcAft>
              <a:buClr>
                <a:schemeClr val="dk1"/>
              </a:buClr>
              <a:buSzPts val="2000"/>
              <a:buChar char="–"/>
            </a:pPr>
            <a:r>
              <a:rPr lang="fi-FI" sz="2000"/>
              <a:t>kokonaisuuden motivointia: testistrategia on projekti / järjestelmäkohtainen, konkreettisempi</a:t>
            </a:r>
            <a:endParaRPr/>
          </a:p>
          <a:p>
            <a:pPr indent="-342900" lvl="0" marL="342900" rtl="0" algn="l">
              <a:spcBef>
                <a:spcPts val="480"/>
              </a:spcBef>
              <a:spcAft>
                <a:spcPts val="0"/>
              </a:spcAft>
              <a:buClr>
                <a:schemeClr val="dk1"/>
              </a:buClr>
              <a:buSzPts val="2400"/>
              <a:buChar char="•"/>
            </a:pPr>
            <a:r>
              <a:rPr lang="fi-FI" sz="2400"/>
              <a:t>Osa testaussuunnittelua, tunnetaan nimellä ”lähestymistapa” (approach)</a:t>
            </a:r>
            <a:endParaRPr/>
          </a:p>
          <a:p>
            <a:pPr indent="-342900" lvl="0" marL="342900" rtl="0" algn="l">
              <a:spcBef>
                <a:spcPts val="480"/>
              </a:spcBef>
              <a:spcAft>
                <a:spcPts val="0"/>
              </a:spcAft>
              <a:buClr>
                <a:schemeClr val="dk1"/>
              </a:buClr>
              <a:buSzPts val="2400"/>
              <a:buChar char="•"/>
            </a:pPr>
            <a:r>
              <a:rPr lang="fi-FI" sz="2400"/>
              <a:t>Mistä on siis kysymys:</a:t>
            </a:r>
            <a:endParaRPr/>
          </a:p>
          <a:p>
            <a:pPr indent="-285750" lvl="1" marL="742950" rtl="0" algn="l">
              <a:spcBef>
                <a:spcPts val="360"/>
              </a:spcBef>
              <a:spcAft>
                <a:spcPts val="0"/>
              </a:spcAft>
              <a:buClr>
                <a:schemeClr val="dk1"/>
              </a:buClr>
              <a:buSzPts val="1800"/>
              <a:buChar char="–"/>
            </a:pPr>
            <a:r>
              <a:rPr lang="fi-FI" sz="1800"/>
              <a:t>Yksityiskohtien takana on syynsä valinnoille</a:t>
            </a:r>
            <a:endParaRPr/>
          </a:p>
          <a:p>
            <a:pPr indent="-285750" lvl="1" marL="742950" rtl="0" algn="l">
              <a:spcBef>
                <a:spcPts val="360"/>
              </a:spcBef>
              <a:spcAft>
                <a:spcPts val="0"/>
              </a:spcAft>
              <a:buClr>
                <a:schemeClr val="dk1"/>
              </a:buClr>
              <a:buSzPts val="1800"/>
              <a:buChar char="–"/>
            </a:pPr>
            <a:r>
              <a:rPr lang="fi-FI" sz="1800"/>
              <a:t>Suunnan konkretisointi, erilaisia lähtökohtia</a:t>
            </a:r>
            <a:endParaRPr/>
          </a:p>
          <a:p>
            <a:pPr indent="-228600" lvl="2" marL="1143000" rtl="0" algn="l">
              <a:spcBef>
                <a:spcPts val="320"/>
              </a:spcBef>
              <a:spcAft>
                <a:spcPts val="0"/>
              </a:spcAft>
              <a:buClr>
                <a:schemeClr val="dk1"/>
              </a:buClr>
              <a:buSzPts val="1600"/>
              <a:buChar char="•"/>
            </a:pPr>
            <a:r>
              <a:rPr lang="fi-FI" sz="1600"/>
              <a:t>Uuskehityksen aikainen testaus</a:t>
            </a:r>
            <a:endParaRPr/>
          </a:p>
          <a:p>
            <a:pPr indent="-228600" lvl="2" marL="1143000" rtl="0" algn="l">
              <a:spcBef>
                <a:spcPts val="320"/>
              </a:spcBef>
              <a:spcAft>
                <a:spcPts val="0"/>
              </a:spcAft>
              <a:buClr>
                <a:schemeClr val="dk1"/>
              </a:buClr>
              <a:buSzPts val="1600"/>
              <a:buChar char="•"/>
            </a:pPr>
            <a:r>
              <a:rPr lang="fi-FI" sz="1600"/>
              <a:t>Ylläpidon aikainen testaus</a:t>
            </a:r>
            <a:endParaRPr/>
          </a:p>
          <a:p>
            <a:pPr indent="-285750" lvl="1" marL="742950" rtl="0" algn="l">
              <a:spcBef>
                <a:spcPts val="360"/>
              </a:spcBef>
              <a:spcAft>
                <a:spcPts val="0"/>
              </a:spcAft>
              <a:buClr>
                <a:schemeClr val="dk1"/>
              </a:buClr>
              <a:buSzPts val="1800"/>
              <a:buChar char="–"/>
            </a:pPr>
            <a:r>
              <a:rPr lang="fi-FI" sz="1800"/>
              <a:t>Testauksen taustakäsitteet, oletukset ympäristöstä ja muista merkittävistä huomioitavista seikoista</a:t>
            </a:r>
            <a:endParaRPr/>
          </a:p>
          <a:p>
            <a:pPr indent="-285750" lvl="1" marL="742950" rtl="0" algn="l">
              <a:spcBef>
                <a:spcPts val="360"/>
              </a:spcBef>
              <a:spcAft>
                <a:spcPts val="0"/>
              </a:spcAft>
              <a:buClr>
                <a:schemeClr val="dk1"/>
              </a:buClr>
              <a:buSzPts val="1800"/>
              <a:buChar char="–"/>
            </a:pPr>
            <a:r>
              <a:rPr lang="fi-FI" sz="1800"/>
              <a:t>Testien valinta, priorisoinnin perusteet ja muutostrendit</a:t>
            </a:r>
            <a:endParaRPr sz="1800"/>
          </a:p>
        </p:txBody>
      </p:sp>
      <p:sp>
        <p:nvSpPr>
          <p:cNvPr id="1315" name="Google Shape;1315;p72"/>
          <p:cNvSpPr/>
          <p:nvPr/>
        </p:nvSpPr>
        <p:spPr>
          <a:xfrm>
            <a:off x="6477000" y="3124200"/>
            <a:ext cx="2362200" cy="1676400"/>
          </a:xfrm>
          <a:prstGeom prst="irregularSeal2">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6800" lIns="90000" spcFirstLastPara="1" rIns="90000" wrap="square" tIns="46800">
            <a:noAutofit/>
          </a:bodyPr>
          <a:lstStyle/>
          <a:p>
            <a:pPr indent="0" lvl="0" marL="0" marR="0" rtl="0" algn="ctr">
              <a:spcBef>
                <a:spcPts val="0"/>
              </a:spcBef>
              <a:spcAft>
                <a:spcPts val="0"/>
              </a:spcAft>
              <a:buNone/>
            </a:pPr>
            <a:r>
              <a:rPr lang="fi-FI" sz="1600">
                <a:solidFill>
                  <a:schemeClr val="lt1"/>
                </a:solidFill>
                <a:latin typeface="Gill Sans"/>
                <a:ea typeface="Gill Sans"/>
                <a:cs typeface="Gill Sans"/>
                <a:sym typeface="Gill Sans"/>
              </a:rPr>
              <a:t>Esimerkki</a:t>
            </a:r>
            <a:endParaRPr/>
          </a:p>
        </p:txBody>
      </p:sp>
      <p:sp>
        <p:nvSpPr>
          <p:cNvPr id="1316" name="Google Shape;1316;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Testitapausarkkitehtuuri</a:t>
            </a:r>
            <a:endParaRPr/>
          </a:p>
        </p:txBody>
      </p:sp>
      <p:sp>
        <p:nvSpPr>
          <p:cNvPr id="1323" name="Google Shape;1323;p7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10000"/>
              </a:lnSpc>
              <a:spcBef>
                <a:spcPts val="0"/>
              </a:spcBef>
              <a:spcAft>
                <a:spcPts val="0"/>
              </a:spcAft>
              <a:buClr>
                <a:schemeClr val="dk1"/>
              </a:buClr>
              <a:buSzPts val="2000"/>
              <a:buChar char="•"/>
            </a:pPr>
            <a:r>
              <a:rPr lang="fi-FI" sz="2000"/>
              <a:t>Testattavat kokonaisuudet liian isoja kerralla haukattavaksi</a:t>
            </a:r>
            <a:endParaRPr sz="2000"/>
          </a:p>
          <a:p>
            <a:pPr indent="-342900" lvl="0" marL="342900" rtl="0" algn="l">
              <a:lnSpc>
                <a:spcPct val="110000"/>
              </a:lnSpc>
              <a:spcBef>
                <a:spcPts val="400"/>
              </a:spcBef>
              <a:spcAft>
                <a:spcPts val="0"/>
              </a:spcAft>
              <a:buClr>
                <a:schemeClr val="dk1"/>
              </a:buClr>
              <a:buSzPts val="2000"/>
              <a:buChar char="•"/>
            </a:pPr>
            <a:r>
              <a:rPr lang="fi-FI" sz="2000"/>
              <a:t>Jäsennys osiin, erilaisia lähtökohtia</a:t>
            </a:r>
            <a:endParaRPr sz="2000"/>
          </a:p>
          <a:p>
            <a:pPr indent="-285750" lvl="1" marL="742950" rtl="0" algn="l">
              <a:spcBef>
                <a:spcPts val="320"/>
              </a:spcBef>
              <a:spcAft>
                <a:spcPts val="0"/>
              </a:spcAft>
              <a:buClr>
                <a:schemeClr val="dk1"/>
              </a:buClr>
              <a:buSzPts val="1600"/>
              <a:buChar char="–"/>
            </a:pPr>
            <a:r>
              <a:rPr lang="fi-FI" sz="1600"/>
              <a:t>TFIRPUSS</a:t>
            </a:r>
            <a:endParaRPr/>
          </a:p>
          <a:p>
            <a:pPr indent="-285750" lvl="1" marL="742950" rtl="0" algn="l">
              <a:spcBef>
                <a:spcPts val="320"/>
              </a:spcBef>
              <a:spcAft>
                <a:spcPts val="0"/>
              </a:spcAft>
              <a:buClr>
                <a:schemeClr val="dk1"/>
              </a:buClr>
              <a:buSzPts val="1600"/>
              <a:buChar char="–"/>
            </a:pPr>
            <a:r>
              <a:rPr lang="fi-FI" sz="1600"/>
              <a:t>Toimijat</a:t>
            </a:r>
            <a:endParaRPr sz="1600"/>
          </a:p>
          <a:p>
            <a:pPr indent="-285750" lvl="1" marL="742950" rtl="0" algn="l">
              <a:spcBef>
                <a:spcPts val="320"/>
              </a:spcBef>
              <a:spcAft>
                <a:spcPts val="0"/>
              </a:spcAft>
              <a:buClr>
                <a:schemeClr val="dk1"/>
              </a:buClr>
              <a:buSzPts val="1600"/>
              <a:buChar char="–"/>
            </a:pPr>
            <a:r>
              <a:rPr lang="fi-FI" sz="1600"/>
              <a:t>Toiminnot ja toimintokokonaisuudet</a:t>
            </a:r>
            <a:endParaRPr sz="1600"/>
          </a:p>
          <a:p>
            <a:pPr indent="-285750" lvl="1" marL="742950" rtl="0" algn="l">
              <a:spcBef>
                <a:spcPts val="320"/>
              </a:spcBef>
              <a:spcAft>
                <a:spcPts val="0"/>
              </a:spcAft>
              <a:buClr>
                <a:schemeClr val="dk1"/>
              </a:buClr>
              <a:buSzPts val="1600"/>
              <a:buChar char="–"/>
            </a:pPr>
            <a:r>
              <a:rPr lang="fi-FI" sz="1600"/>
              <a:t>Aineistotyypit, aineistolähtökohta</a:t>
            </a:r>
            <a:endParaRPr sz="1600"/>
          </a:p>
          <a:p>
            <a:pPr indent="-285750" lvl="1" marL="742950" rtl="0" algn="l">
              <a:spcBef>
                <a:spcPts val="320"/>
              </a:spcBef>
              <a:spcAft>
                <a:spcPts val="0"/>
              </a:spcAft>
              <a:buClr>
                <a:schemeClr val="dk1"/>
              </a:buClr>
              <a:buSzPts val="1600"/>
              <a:buChar char="–"/>
            </a:pPr>
            <a:r>
              <a:rPr lang="fi-FI" sz="1600"/>
              <a:t>Ympäristöjen erityisominaisuudet</a:t>
            </a:r>
            <a:endParaRPr sz="1600"/>
          </a:p>
          <a:p>
            <a:pPr indent="-285750" lvl="1" marL="742950" rtl="0" algn="l">
              <a:spcBef>
                <a:spcPts val="320"/>
              </a:spcBef>
              <a:spcAft>
                <a:spcPts val="0"/>
              </a:spcAft>
              <a:buClr>
                <a:schemeClr val="dk1"/>
              </a:buClr>
              <a:buSzPts val="1600"/>
              <a:buChar char="–"/>
            </a:pPr>
            <a:r>
              <a:rPr lang="fi-FI" sz="1600"/>
              <a:t>Moduulirakenne</a:t>
            </a:r>
            <a:endParaRPr sz="1600"/>
          </a:p>
          <a:p>
            <a:pPr indent="-285750" lvl="1" marL="742950" rtl="0" algn="l">
              <a:spcBef>
                <a:spcPts val="320"/>
              </a:spcBef>
              <a:spcAft>
                <a:spcPts val="0"/>
              </a:spcAft>
              <a:buClr>
                <a:schemeClr val="dk1"/>
              </a:buClr>
              <a:buSzPts val="1600"/>
              <a:buChar char="–"/>
            </a:pPr>
            <a:r>
              <a:rPr lang="fi-FI" sz="1600"/>
              <a:t>Arvatut virheet ja virheluokat</a:t>
            </a:r>
            <a:endParaRPr sz="1600"/>
          </a:p>
          <a:p>
            <a:pPr indent="-285750" lvl="1" marL="742950" rtl="0" algn="l">
              <a:spcBef>
                <a:spcPts val="320"/>
              </a:spcBef>
              <a:spcAft>
                <a:spcPts val="0"/>
              </a:spcAft>
              <a:buClr>
                <a:schemeClr val="dk1"/>
              </a:buClr>
              <a:buSzPts val="1600"/>
              <a:buChar char="–"/>
            </a:pPr>
            <a:r>
              <a:rPr lang="fi-FI" sz="1600"/>
              <a:t>Kattavuus suhteessa valittuun näkökulmaan, esim. vaatimuksiin</a:t>
            </a:r>
            <a:endParaRPr sz="1600"/>
          </a:p>
          <a:p>
            <a:pPr indent="-342900" lvl="0" marL="342900" rtl="0" algn="l">
              <a:lnSpc>
                <a:spcPct val="110000"/>
              </a:lnSpc>
              <a:spcBef>
                <a:spcPts val="400"/>
              </a:spcBef>
              <a:spcAft>
                <a:spcPts val="0"/>
              </a:spcAft>
              <a:buClr>
                <a:schemeClr val="dk1"/>
              </a:buClr>
              <a:buSzPts val="2000"/>
              <a:buChar char="•"/>
            </a:pPr>
            <a:r>
              <a:rPr lang="fi-FI" sz="2000"/>
              <a:t>Se on:</a:t>
            </a:r>
            <a:endParaRPr/>
          </a:p>
          <a:p>
            <a:pPr indent="-285750" lvl="1" marL="742950" rtl="0" algn="l">
              <a:spcBef>
                <a:spcPts val="360"/>
              </a:spcBef>
              <a:spcAft>
                <a:spcPts val="0"/>
              </a:spcAft>
              <a:buClr>
                <a:schemeClr val="dk1"/>
              </a:buClr>
              <a:buSzPts val="1800"/>
              <a:buChar char="–"/>
            </a:pPr>
            <a:r>
              <a:rPr lang="fi-FI" sz="1800"/>
              <a:t>Jäsennys tehtävälle testaustyölle ja testitapauksille</a:t>
            </a:r>
            <a:endParaRPr/>
          </a:p>
          <a:p>
            <a:pPr indent="-285750" lvl="1" marL="742950" rtl="0" algn="l">
              <a:spcBef>
                <a:spcPts val="360"/>
              </a:spcBef>
              <a:spcAft>
                <a:spcPts val="0"/>
              </a:spcAft>
              <a:buClr>
                <a:schemeClr val="dk1"/>
              </a:buClr>
              <a:buSzPts val="1800"/>
              <a:buChar char="–"/>
            </a:pPr>
            <a:r>
              <a:rPr lang="fi-FI" sz="1800"/>
              <a:t>Apu testitapausten luomiseen ja valintaan testikierroksiin</a:t>
            </a:r>
            <a:endParaRPr sz="1800"/>
          </a:p>
          <a:p>
            <a:pPr indent="-139700" lvl="0" marL="342900" rtl="0" algn="l">
              <a:spcBef>
                <a:spcPts val="640"/>
              </a:spcBef>
              <a:spcAft>
                <a:spcPts val="0"/>
              </a:spcAft>
              <a:buClr>
                <a:schemeClr val="dk1"/>
              </a:buClr>
              <a:buSzPts val="3200"/>
              <a:buNone/>
            </a:pPr>
            <a:r>
              <a:t/>
            </a:r>
            <a:endParaRPr/>
          </a:p>
        </p:txBody>
      </p:sp>
      <p:sp>
        <p:nvSpPr>
          <p:cNvPr id="1324" name="Google Shape;1324;p73"/>
          <p:cNvSpPr/>
          <p:nvPr/>
        </p:nvSpPr>
        <p:spPr>
          <a:xfrm>
            <a:off x="5651500" y="2997200"/>
            <a:ext cx="2952750" cy="1190625"/>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i-FI" sz="1800">
                <a:solidFill>
                  <a:schemeClr val="lt1"/>
                </a:solidFill>
                <a:latin typeface="Gill Sans"/>
                <a:ea typeface="Gill Sans"/>
                <a:cs typeface="Gill Sans"/>
                <a:sym typeface="Gill Sans"/>
              </a:rPr>
              <a:t>Testaajan näkökulma – voi erota muista näkökulmista, mutta linkit on tärkeä ymmärtää</a:t>
            </a:r>
            <a:endParaRPr/>
          </a:p>
        </p:txBody>
      </p:sp>
      <p:sp>
        <p:nvSpPr>
          <p:cNvPr id="1325" name="Google Shape;1325;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Testitapausarkkitehtuuri</a:t>
            </a:r>
            <a:endParaRPr/>
          </a:p>
        </p:txBody>
      </p:sp>
      <p:sp>
        <p:nvSpPr>
          <p:cNvPr id="1332" name="Google Shape;1332;p74"/>
          <p:cNvSpPr/>
          <p:nvPr/>
        </p:nvSpPr>
        <p:spPr>
          <a:xfrm>
            <a:off x="4740275" y="1892300"/>
            <a:ext cx="3200400" cy="3624263"/>
          </a:xfrm>
          <a:prstGeom prst="rect">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2400">
                <a:solidFill>
                  <a:schemeClr val="lt1"/>
                </a:solidFill>
                <a:latin typeface="Gill Sans"/>
                <a:ea typeface="Gill Sans"/>
                <a:cs typeface="Gill Sans"/>
                <a:sym typeface="Gill Sans"/>
              </a:rPr>
              <a:t>Testauksen </a:t>
            </a:r>
            <a:br>
              <a:rPr b="1" lang="fi-FI" sz="2400">
                <a:solidFill>
                  <a:schemeClr val="lt1"/>
                </a:solidFill>
                <a:latin typeface="Gill Sans"/>
                <a:ea typeface="Gill Sans"/>
                <a:cs typeface="Gill Sans"/>
                <a:sym typeface="Gill Sans"/>
              </a:rPr>
            </a:br>
            <a:r>
              <a:rPr b="1" lang="fi-FI" sz="2400">
                <a:solidFill>
                  <a:schemeClr val="lt1"/>
                </a:solidFill>
                <a:latin typeface="Gill Sans"/>
                <a:ea typeface="Gill Sans"/>
                <a:cs typeface="Gill Sans"/>
                <a:sym typeface="Gill Sans"/>
              </a:rPr>
              <a:t>suorituksen </a:t>
            </a:r>
            <a:br>
              <a:rPr b="1" lang="fi-FI" sz="2400">
                <a:solidFill>
                  <a:schemeClr val="lt1"/>
                </a:solidFill>
                <a:latin typeface="Gill Sans"/>
                <a:ea typeface="Gill Sans"/>
                <a:cs typeface="Gill Sans"/>
                <a:sym typeface="Gill Sans"/>
              </a:rPr>
            </a:br>
            <a:r>
              <a:rPr b="1" lang="fi-FI" sz="2400">
                <a:solidFill>
                  <a:schemeClr val="lt1"/>
                </a:solidFill>
                <a:latin typeface="Gill Sans"/>
                <a:ea typeface="Gill Sans"/>
                <a:cs typeface="Gill Sans"/>
                <a:sym typeface="Gill Sans"/>
              </a:rPr>
              <a:t>testijaksot:</a:t>
            </a:r>
            <a:endParaRPr/>
          </a:p>
          <a:p>
            <a:pPr indent="-114300" lvl="0" marL="0" marR="0" rtl="0" algn="ctr">
              <a:spcBef>
                <a:spcPts val="0"/>
              </a:spcBef>
              <a:spcAft>
                <a:spcPts val="0"/>
              </a:spcAft>
              <a:buClr>
                <a:schemeClr val="lt1"/>
              </a:buClr>
              <a:buSzPts val="1800"/>
              <a:buFont typeface="Gill Sans"/>
              <a:buChar char="•"/>
            </a:pPr>
            <a:r>
              <a:rPr lang="fi-FI" sz="1800">
                <a:solidFill>
                  <a:schemeClr val="lt1"/>
                </a:solidFill>
                <a:latin typeface="Gill Sans"/>
                <a:ea typeface="Gill Sans"/>
                <a:cs typeface="Gill Sans"/>
                <a:sym typeface="Gill Sans"/>
              </a:rPr>
              <a:t> Testattavat asiat </a:t>
            </a:r>
            <a:br>
              <a:rPr lang="fi-FI" sz="1800">
                <a:solidFill>
                  <a:schemeClr val="lt1"/>
                </a:solidFill>
                <a:latin typeface="Gill Sans"/>
                <a:ea typeface="Gill Sans"/>
                <a:cs typeface="Gill Sans"/>
                <a:sym typeface="Gill Sans"/>
              </a:rPr>
            </a:br>
            <a:r>
              <a:rPr lang="fi-FI" sz="1800">
                <a:solidFill>
                  <a:schemeClr val="lt1"/>
                </a:solidFill>
                <a:latin typeface="Gill Sans"/>
                <a:ea typeface="Gill Sans"/>
                <a:cs typeface="Gill Sans"/>
                <a:sym typeface="Gill Sans"/>
              </a:rPr>
              <a:t>vs. kokoonpanot </a:t>
            </a:r>
            <a:br>
              <a:rPr lang="fi-FI" sz="1800">
                <a:solidFill>
                  <a:schemeClr val="lt1"/>
                </a:solidFill>
                <a:latin typeface="Gill Sans"/>
                <a:ea typeface="Gill Sans"/>
                <a:cs typeface="Gill Sans"/>
                <a:sym typeface="Gill Sans"/>
              </a:rPr>
            </a:br>
            <a:r>
              <a:rPr lang="fi-FI" sz="1800">
                <a:solidFill>
                  <a:schemeClr val="lt1"/>
                </a:solidFill>
                <a:latin typeface="Gill Sans"/>
                <a:ea typeface="Gill Sans"/>
                <a:cs typeface="Gill Sans"/>
                <a:sym typeface="Gill Sans"/>
              </a:rPr>
              <a:t>vs. ympäristöt</a:t>
            </a:r>
            <a:endParaRPr/>
          </a:p>
          <a:p>
            <a:pPr indent="-114300" lvl="0" marL="0" marR="0" rtl="0" algn="ctr">
              <a:spcBef>
                <a:spcPts val="0"/>
              </a:spcBef>
              <a:spcAft>
                <a:spcPts val="0"/>
              </a:spcAft>
              <a:buClr>
                <a:schemeClr val="lt1"/>
              </a:buClr>
              <a:buSzPts val="1800"/>
              <a:buFont typeface="Gill Sans"/>
              <a:buChar char="•"/>
            </a:pPr>
            <a:r>
              <a:rPr lang="fi-FI" sz="1800">
                <a:solidFill>
                  <a:schemeClr val="lt1"/>
                </a:solidFill>
                <a:latin typeface="Gill Sans"/>
                <a:ea typeface="Gill Sans"/>
                <a:cs typeface="Gill Sans"/>
                <a:sym typeface="Gill Sans"/>
              </a:rPr>
              <a:t> Testikierrokset</a:t>
            </a:r>
            <a:endParaRPr/>
          </a:p>
          <a:p>
            <a:pPr indent="-114300" lvl="0" marL="0" marR="0" rtl="0" algn="ctr">
              <a:spcBef>
                <a:spcPts val="0"/>
              </a:spcBef>
              <a:spcAft>
                <a:spcPts val="0"/>
              </a:spcAft>
              <a:buClr>
                <a:schemeClr val="lt1"/>
              </a:buClr>
              <a:buSzPts val="1800"/>
              <a:buFont typeface="Gill Sans"/>
              <a:buChar char="•"/>
            </a:pPr>
            <a:r>
              <a:rPr lang="fi-FI" sz="1800">
                <a:solidFill>
                  <a:schemeClr val="lt1"/>
                </a:solidFill>
                <a:latin typeface="Gill Sans"/>
                <a:ea typeface="Gill Sans"/>
                <a:cs typeface="Gill Sans"/>
                <a:sym typeface="Gill Sans"/>
              </a:rPr>
              <a:t> Linkki raportointiin</a:t>
            </a:r>
            <a:endParaRPr/>
          </a:p>
          <a:p>
            <a:pPr indent="0" lvl="0" marL="0" marR="0" rtl="0" algn="ctr">
              <a:spcBef>
                <a:spcPts val="0"/>
              </a:spcBef>
              <a:spcAft>
                <a:spcPts val="0"/>
              </a:spcAft>
              <a:buClr>
                <a:schemeClr val="dk1"/>
              </a:buClr>
              <a:buSzPts val="1800"/>
              <a:buFont typeface="Gill Sans"/>
              <a:buNone/>
            </a:pPr>
            <a:r>
              <a:t/>
            </a:r>
            <a:endParaRPr sz="1800">
              <a:solidFill>
                <a:schemeClr val="lt1"/>
              </a:solidFill>
              <a:latin typeface="Gill Sans"/>
              <a:ea typeface="Gill Sans"/>
              <a:cs typeface="Gill Sans"/>
              <a:sym typeface="Gill Sans"/>
            </a:endParaRPr>
          </a:p>
        </p:txBody>
      </p:sp>
      <p:sp>
        <p:nvSpPr>
          <p:cNvPr id="1333" name="Google Shape;1333;p74"/>
          <p:cNvSpPr/>
          <p:nvPr/>
        </p:nvSpPr>
        <p:spPr>
          <a:xfrm>
            <a:off x="1403350" y="1892300"/>
            <a:ext cx="3200400" cy="3624263"/>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2400">
                <a:solidFill>
                  <a:schemeClr val="lt1"/>
                </a:solidFill>
                <a:latin typeface="Gill Sans"/>
                <a:ea typeface="Gill Sans"/>
                <a:cs typeface="Gill Sans"/>
                <a:sym typeface="Gill Sans"/>
              </a:rPr>
              <a:t>Testien </a:t>
            </a:r>
            <a:br>
              <a:rPr b="1" lang="fi-FI" sz="2400">
                <a:solidFill>
                  <a:schemeClr val="lt1"/>
                </a:solidFill>
                <a:latin typeface="Gill Sans"/>
                <a:ea typeface="Gill Sans"/>
                <a:cs typeface="Gill Sans"/>
                <a:sym typeface="Gill Sans"/>
              </a:rPr>
            </a:br>
            <a:r>
              <a:rPr b="1" lang="fi-FI" sz="2400">
                <a:solidFill>
                  <a:schemeClr val="lt1"/>
                </a:solidFill>
                <a:latin typeface="Gill Sans"/>
                <a:ea typeface="Gill Sans"/>
                <a:cs typeface="Gill Sans"/>
                <a:sym typeface="Gill Sans"/>
              </a:rPr>
              <a:t>jäsentämisen </a:t>
            </a:r>
            <a:br>
              <a:rPr b="1" lang="fi-FI" sz="2400">
                <a:solidFill>
                  <a:schemeClr val="lt1"/>
                </a:solidFill>
                <a:latin typeface="Gill Sans"/>
                <a:ea typeface="Gill Sans"/>
                <a:cs typeface="Gill Sans"/>
                <a:sym typeface="Gill Sans"/>
              </a:rPr>
            </a:br>
            <a:r>
              <a:rPr b="1" lang="fi-FI" sz="2400">
                <a:solidFill>
                  <a:schemeClr val="lt1"/>
                </a:solidFill>
                <a:latin typeface="Gill Sans"/>
                <a:ea typeface="Gill Sans"/>
                <a:cs typeface="Gill Sans"/>
                <a:sym typeface="Gill Sans"/>
              </a:rPr>
              <a:t>testijaksot:</a:t>
            </a:r>
            <a:endParaRPr/>
          </a:p>
          <a:p>
            <a:pPr indent="-114300" lvl="0" marL="0" marR="0" rtl="0" algn="ctr">
              <a:spcBef>
                <a:spcPts val="0"/>
              </a:spcBef>
              <a:spcAft>
                <a:spcPts val="0"/>
              </a:spcAft>
              <a:buClr>
                <a:schemeClr val="lt1"/>
              </a:buClr>
              <a:buSzPts val="1800"/>
              <a:buFont typeface="Gill Sans"/>
              <a:buChar char="•"/>
            </a:pPr>
            <a:r>
              <a:rPr lang="fi-FI" sz="1800">
                <a:solidFill>
                  <a:schemeClr val="lt1"/>
                </a:solidFill>
                <a:latin typeface="Gill Sans"/>
                <a:ea typeface="Gill Sans"/>
                <a:cs typeface="Gill Sans"/>
                <a:sym typeface="Gill Sans"/>
              </a:rPr>
              <a:t> Testattavat asiat</a:t>
            </a:r>
            <a:endParaRPr/>
          </a:p>
          <a:p>
            <a:pPr indent="-114300" lvl="0" marL="0" marR="0" rtl="0" algn="ctr">
              <a:spcBef>
                <a:spcPts val="0"/>
              </a:spcBef>
              <a:spcAft>
                <a:spcPts val="0"/>
              </a:spcAft>
              <a:buClr>
                <a:schemeClr val="lt1"/>
              </a:buClr>
              <a:buSzPts val="1800"/>
              <a:buFont typeface="Gill Sans"/>
              <a:buChar char="•"/>
            </a:pPr>
            <a:r>
              <a:rPr lang="fi-FI" sz="1800">
                <a:solidFill>
                  <a:schemeClr val="lt1"/>
                </a:solidFill>
                <a:latin typeface="Gill Sans"/>
                <a:ea typeface="Gill Sans"/>
                <a:cs typeface="Gill Sans"/>
                <a:sym typeface="Gill Sans"/>
              </a:rPr>
              <a:t> Aineistot</a:t>
            </a:r>
            <a:endParaRPr/>
          </a:p>
          <a:p>
            <a:pPr indent="-114300" lvl="0" marL="0" marR="0" rtl="0" algn="ctr">
              <a:spcBef>
                <a:spcPts val="0"/>
              </a:spcBef>
              <a:spcAft>
                <a:spcPts val="0"/>
              </a:spcAft>
              <a:buClr>
                <a:schemeClr val="lt1"/>
              </a:buClr>
              <a:buSzPts val="1800"/>
              <a:buFont typeface="Gill Sans"/>
              <a:buChar char="•"/>
            </a:pPr>
            <a:r>
              <a:rPr lang="fi-FI" sz="1800">
                <a:solidFill>
                  <a:schemeClr val="lt1"/>
                </a:solidFill>
                <a:latin typeface="Gill Sans"/>
                <a:ea typeface="Gill Sans"/>
                <a:cs typeface="Gill Sans"/>
                <a:sym typeface="Gill Sans"/>
              </a:rPr>
              <a:t> Ryhmittely</a:t>
            </a:r>
            <a:endParaRPr/>
          </a:p>
          <a:p>
            <a:pPr indent="-114300" lvl="0" marL="0" marR="0" rtl="0" algn="ctr">
              <a:spcBef>
                <a:spcPts val="0"/>
              </a:spcBef>
              <a:spcAft>
                <a:spcPts val="0"/>
              </a:spcAft>
              <a:buClr>
                <a:schemeClr val="lt1"/>
              </a:buClr>
              <a:buSzPts val="1800"/>
              <a:buFont typeface="Gill Sans"/>
              <a:buChar char="•"/>
            </a:pPr>
            <a:r>
              <a:rPr lang="fi-FI" sz="1800">
                <a:solidFill>
                  <a:schemeClr val="lt1"/>
                </a:solidFill>
                <a:latin typeface="Gill Sans"/>
                <a:ea typeface="Gill Sans"/>
                <a:cs typeface="Gill Sans"/>
                <a:sym typeface="Gill Sans"/>
              </a:rPr>
              <a:t> Tärkeysjärjestykseen laittaminen</a:t>
            </a:r>
            <a:endParaRPr/>
          </a:p>
          <a:p>
            <a:pPr indent="-114300" lvl="0" marL="0" marR="0" rtl="0" algn="ctr">
              <a:spcBef>
                <a:spcPts val="0"/>
              </a:spcBef>
              <a:spcAft>
                <a:spcPts val="0"/>
              </a:spcAft>
              <a:buClr>
                <a:schemeClr val="lt1"/>
              </a:buClr>
              <a:buSzPts val="1800"/>
              <a:buFont typeface="Gill Sans"/>
              <a:buChar char="•"/>
            </a:pPr>
            <a:r>
              <a:rPr lang="fi-FI" sz="1800">
                <a:solidFill>
                  <a:schemeClr val="lt1"/>
                </a:solidFill>
                <a:latin typeface="Gill Sans"/>
                <a:ea typeface="Gill Sans"/>
                <a:cs typeface="Gill Sans"/>
                <a:sym typeface="Gill Sans"/>
              </a:rPr>
              <a:t> Ajamisen valintakriteerien </a:t>
            </a:r>
            <a:br>
              <a:rPr lang="fi-FI" sz="1800">
                <a:solidFill>
                  <a:schemeClr val="lt1"/>
                </a:solidFill>
                <a:latin typeface="Gill Sans"/>
                <a:ea typeface="Gill Sans"/>
                <a:cs typeface="Gill Sans"/>
                <a:sym typeface="Gill Sans"/>
              </a:rPr>
            </a:br>
            <a:r>
              <a:rPr lang="fi-FI" sz="1800">
                <a:solidFill>
                  <a:schemeClr val="lt1"/>
                </a:solidFill>
                <a:latin typeface="Gill Sans"/>
                <a:ea typeface="Gill Sans"/>
                <a:cs typeface="Gill Sans"/>
                <a:sym typeface="Gill Sans"/>
              </a:rPr>
              <a:t>tukeminen</a:t>
            </a:r>
            <a:endParaRPr sz="1800">
              <a:solidFill>
                <a:schemeClr val="lt1"/>
              </a:solidFill>
              <a:latin typeface="Gill Sans"/>
              <a:ea typeface="Gill Sans"/>
              <a:cs typeface="Gill Sans"/>
              <a:sym typeface="Gill Sans"/>
            </a:endParaRPr>
          </a:p>
        </p:txBody>
      </p:sp>
      <p:sp>
        <p:nvSpPr>
          <p:cNvPr id="1334" name="Google Shape;1334;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Gill Sans"/>
              <a:buNone/>
            </a:pPr>
            <a:r>
              <a:rPr lang="fi-FI" sz="3600"/>
              <a:t>Testitapausten muuntelu testatessa: </a:t>
            </a:r>
            <a:br>
              <a:rPr lang="fi-FI" sz="3600"/>
            </a:br>
            <a:r>
              <a:rPr lang="fi-FI" sz="2800"/>
              <a:t>Laajennetaan testitapauksia</a:t>
            </a:r>
            <a:endParaRPr sz="3600"/>
          </a:p>
        </p:txBody>
      </p:sp>
      <p:sp>
        <p:nvSpPr>
          <p:cNvPr id="1341" name="Google Shape;1341;p7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2400"/>
              <a:buNone/>
            </a:pPr>
            <a:r>
              <a:rPr lang="fi-FI"/>
              <a:t>Testitapauksen muuntelu</a:t>
            </a:r>
            <a:endParaRPr/>
          </a:p>
        </p:txBody>
      </p:sp>
      <p:sp>
        <p:nvSpPr>
          <p:cNvPr id="1342" name="Google Shape;1342;p7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fi-FI"/>
              <a:t>Laitetaan mukaan vaihtelua</a:t>
            </a:r>
            <a:endParaRPr/>
          </a:p>
          <a:p>
            <a:pPr indent="-285750" lvl="1" marL="742950" rtl="0" algn="l">
              <a:spcBef>
                <a:spcPts val="370"/>
              </a:spcBef>
              <a:spcAft>
                <a:spcPts val="0"/>
              </a:spcAft>
              <a:buClr>
                <a:schemeClr val="dk1"/>
              </a:buClr>
              <a:buSzPct val="100000"/>
              <a:buChar char="–"/>
            </a:pPr>
            <a:r>
              <a:rPr lang="fi-FI"/>
              <a:t>Lisätään askelia</a:t>
            </a:r>
            <a:endParaRPr/>
          </a:p>
          <a:p>
            <a:pPr indent="-228600" lvl="2" marL="1143000" rtl="0" algn="l">
              <a:spcBef>
                <a:spcPts val="333"/>
              </a:spcBef>
              <a:spcAft>
                <a:spcPts val="0"/>
              </a:spcAft>
              <a:buClr>
                <a:schemeClr val="dk1"/>
              </a:buClr>
              <a:buSzPct val="100000"/>
              <a:buChar char="•"/>
            </a:pPr>
            <a:r>
              <a:rPr lang="fi-FI"/>
              <a:t>Enemmän syötteitä ja aineistoa, uusia osia käyttöliittymästä</a:t>
            </a:r>
            <a:endParaRPr/>
          </a:p>
          <a:p>
            <a:pPr indent="-285750" lvl="1" marL="742950" rtl="0" algn="l">
              <a:spcBef>
                <a:spcPts val="370"/>
              </a:spcBef>
              <a:spcAft>
                <a:spcPts val="0"/>
              </a:spcAft>
              <a:buClr>
                <a:schemeClr val="dk1"/>
              </a:buClr>
              <a:buSzPct val="100000"/>
              <a:buChar char="–"/>
            </a:pPr>
            <a:r>
              <a:rPr lang="fi-FI"/>
              <a:t>Poistetaan askelia</a:t>
            </a:r>
            <a:endParaRPr/>
          </a:p>
          <a:p>
            <a:pPr indent="-285750" lvl="1" marL="742950" rtl="0" algn="l">
              <a:spcBef>
                <a:spcPts val="370"/>
              </a:spcBef>
              <a:spcAft>
                <a:spcPts val="0"/>
              </a:spcAft>
              <a:buClr>
                <a:schemeClr val="dk1"/>
              </a:buClr>
              <a:buSzPct val="100000"/>
              <a:buChar char="–"/>
            </a:pPr>
            <a:r>
              <a:rPr lang="fi-FI"/>
              <a:t>Korvataan askelia toisilla</a:t>
            </a:r>
            <a:endParaRPr/>
          </a:p>
          <a:p>
            <a:pPr indent="-285750" lvl="1" marL="742950" rtl="0" algn="l">
              <a:spcBef>
                <a:spcPts val="370"/>
              </a:spcBef>
              <a:spcAft>
                <a:spcPts val="0"/>
              </a:spcAft>
              <a:buClr>
                <a:schemeClr val="dk1"/>
              </a:buClr>
              <a:buSzPct val="100000"/>
              <a:buChar char="–"/>
            </a:pPr>
            <a:r>
              <a:rPr lang="fi-FI"/>
              <a:t>Toistetaan askelia</a:t>
            </a:r>
            <a:endParaRPr/>
          </a:p>
          <a:p>
            <a:pPr indent="-285750" lvl="1" marL="742950" rtl="0" algn="l">
              <a:spcBef>
                <a:spcPts val="370"/>
              </a:spcBef>
              <a:spcAft>
                <a:spcPts val="0"/>
              </a:spcAft>
              <a:buClr>
                <a:schemeClr val="dk1"/>
              </a:buClr>
              <a:buSzPct val="100000"/>
              <a:buChar char="–"/>
            </a:pPr>
            <a:r>
              <a:rPr lang="fi-FI"/>
              <a:t>Vaihdetaan syötteitä ja aineistoja</a:t>
            </a:r>
            <a:endParaRPr/>
          </a:p>
          <a:p>
            <a:pPr indent="-285750" lvl="1" marL="742950" rtl="0" algn="l">
              <a:spcBef>
                <a:spcPts val="370"/>
              </a:spcBef>
              <a:spcAft>
                <a:spcPts val="0"/>
              </a:spcAft>
              <a:buClr>
                <a:schemeClr val="dk1"/>
              </a:buClr>
              <a:buSzPct val="100000"/>
              <a:buChar char="–"/>
            </a:pPr>
            <a:r>
              <a:rPr lang="fi-FI"/>
              <a:t>Vaihdetaan ympäristöä</a:t>
            </a:r>
            <a:endParaRPr/>
          </a:p>
          <a:p>
            <a:pPr indent="-342900" lvl="0" marL="342900" rtl="0" algn="l">
              <a:spcBef>
                <a:spcPts val="444"/>
              </a:spcBef>
              <a:spcAft>
                <a:spcPts val="0"/>
              </a:spcAft>
              <a:buClr>
                <a:schemeClr val="dk1"/>
              </a:buClr>
              <a:buSzPct val="100000"/>
              <a:buChar char="•"/>
            </a:pPr>
            <a:r>
              <a:rPr lang="fi-FI"/>
              <a:t>Lyhyehköjä sivupolkuja</a:t>
            </a:r>
            <a:endParaRPr/>
          </a:p>
          <a:p>
            <a:pPr indent="-168275" lvl="1" marL="742950" rtl="0" algn="l">
              <a:spcBef>
                <a:spcPts val="370"/>
              </a:spcBef>
              <a:spcAft>
                <a:spcPts val="0"/>
              </a:spcAft>
              <a:buClr>
                <a:schemeClr val="dk1"/>
              </a:buClr>
              <a:buSzPct val="100000"/>
              <a:buNone/>
            </a:pPr>
            <a:r>
              <a:t/>
            </a:r>
            <a:endParaRPr/>
          </a:p>
          <a:p>
            <a:pPr indent="-168275" lvl="1" marL="742950" rtl="0" algn="l">
              <a:spcBef>
                <a:spcPts val="370"/>
              </a:spcBef>
              <a:spcAft>
                <a:spcPts val="0"/>
              </a:spcAft>
              <a:buClr>
                <a:schemeClr val="dk1"/>
              </a:buClr>
              <a:buSzPct val="100000"/>
              <a:buNone/>
            </a:pPr>
            <a:r>
              <a:t/>
            </a:r>
            <a:endParaRPr/>
          </a:p>
        </p:txBody>
      </p:sp>
      <p:sp>
        <p:nvSpPr>
          <p:cNvPr id="1343" name="Google Shape;1343;p7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fontScale="92500" lnSpcReduction="20000"/>
          </a:bodyPr>
          <a:lstStyle/>
          <a:p>
            <a:pPr indent="0" lvl="0" marL="0" rtl="0" algn="l">
              <a:spcBef>
                <a:spcPts val="0"/>
              </a:spcBef>
              <a:spcAft>
                <a:spcPts val="0"/>
              </a:spcAft>
              <a:buClr>
                <a:schemeClr val="dk1"/>
              </a:buClr>
              <a:buSzPct val="100000"/>
              <a:buNone/>
            </a:pPr>
            <a:r>
              <a:rPr lang="fi-FI"/>
              <a:t>Vaihtelua ”kiertoajeluiden avulla” </a:t>
            </a:r>
            <a:endParaRPr/>
          </a:p>
        </p:txBody>
      </p:sp>
      <p:sp>
        <p:nvSpPr>
          <p:cNvPr id="1344" name="Google Shape;1344;p7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fi-FI"/>
              <a:t>Laajennetaan testi-idealla, joka kuvaa strategiaa / taktiikkaa</a:t>
            </a:r>
            <a:endParaRPr/>
          </a:p>
          <a:p>
            <a:pPr indent="-342900" lvl="0" marL="342900" rtl="0" algn="l">
              <a:spcBef>
                <a:spcPts val="480"/>
              </a:spcBef>
              <a:spcAft>
                <a:spcPts val="0"/>
              </a:spcAft>
              <a:buClr>
                <a:schemeClr val="dk1"/>
              </a:buClr>
              <a:buSzPts val="2400"/>
              <a:buChar char="•"/>
            </a:pPr>
            <a:r>
              <a:rPr lang="fi-FI"/>
              <a:t>Whittaker, 2009, kuvaa kiertoajeluita tutkivan testauksen opettamisessa ja laajentamisessa</a:t>
            </a:r>
            <a:endParaRPr/>
          </a:p>
          <a:p>
            <a:pPr indent="-342900" lvl="0" marL="342900" rtl="0" algn="l">
              <a:spcBef>
                <a:spcPts val="480"/>
              </a:spcBef>
              <a:spcAft>
                <a:spcPts val="0"/>
              </a:spcAft>
              <a:buClr>
                <a:schemeClr val="dk1"/>
              </a:buClr>
              <a:buSzPts val="2400"/>
              <a:buChar char="•"/>
            </a:pPr>
            <a:r>
              <a:rPr lang="fi-FI"/>
              <a:t>Pidemmät sivupolut tuovat enemmän joustoa testaukseen</a:t>
            </a:r>
            <a:endParaRPr/>
          </a:p>
        </p:txBody>
      </p:sp>
      <p:sp>
        <p:nvSpPr>
          <p:cNvPr id="1345" name="Google Shape;1345;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Toiminnallisen testauksen syvyystasot</a:t>
            </a:r>
            <a:endParaRPr/>
          </a:p>
        </p:txBody>
      </p:sp>
      <p:sp>
        <p:nvSpPr>
          <p:cNvPr id="1352" name="Google Shape;1352;p7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609600" lvl="0" marL="609600" rtl="0" algn="l">
              <a:spcBef>
                <a:spcPts val="0"/>
              </a:spcBef>
              <a:spcAft>
                <a:spcPts val="0"/>
              </a:spcAft>
              <a:buClr>
                <a:schemeClr val="dk1"/>
              </a:buClr>
              <a:buSzPts val="3200"/>
              <a:buFont typeface="Times"/>
              <a:buAutoNum type="arabicPeriod"/>
            </a:pPr>
            <a:r>
              <a:rPr lang="fi-FI"/>
              <a:t>Aloitustestaus (smoke test) perustoiminnallisuuksille</a:t>
            </a:r>
            <a:endParaRPr/>
          </a:p>
          <a:p>
            <a:pPr indent="-609600" lvl="0" marL="609600" rtl="0" algn="l">
              <a:spcBef>
                <a:spcPts val="640"/>
              </a:spcBef>
              <a:spcAft>
                <a:spcPts val="0"/>
              </a:spcAft>
              <a:buClr>
                <a:schemeClr val="dk1"/>
              </a:buClr>
              <a:buSzPts val="3200"/>
              <a:buFont typeface="Times"/>
              <a:buAutoNum type="arabicPeriod"/>
            </a:pPr>
            <a:r>
              <a:rPr lang="fi-FI"/>
              <a:t>Toimintojen testaus</a:t>
            </a:r>
            <a:endParaRPr/>
          </a:p>
          <a:p>
            <a:pPr indent="-609600" lvl="0" marL="609600" rtl="0" algn="l">
              <a:spcBef>
                <a:spcPts val="640"/>
              </a:spcBef>
              <a:spcAft>
                <a:spcPts val="0"/>
              </a:spcAft>
              <a:buClr>
                <a:schemeClr val="dk1"/>
              </a:buClr>
              <a:buSzPts val="3200"/>
              <a:buFont typeface="Times"/>
              <a:buAutoNum type="arabicPeriod"/>
            </a:pPr>
            <a:r>
              <a:rPr lang="fi-FI"/>
              <a:t>Kyvykkyyden testaus</a:t>
            </a:r>
            <a:endParaRPr/>
          </a:p>
          <a:p>
            <a:pPr indent="-533400" lvl="1" marL="990600" rtl="0" algn="l">
              <a:spcBef>
                <a:spcPts val="560"/>
              </a:spcBef>
              <a:spcAft>
                <a:spcPts val="0"/>
              </a:spcAft>
              <a:buClr>
                <a:schemeClr val="dk1"/>
              </a:buClr>
              <a:buSzPts val="2800"/>
              <a:buChar char="–"/>
            </a:pPr>
            <a:r>
              <a:rPr lang="fi-FI"/>
              <a:t>yksinkertaisempi aineisto</a:t>
            </a:r>
            <a:endParaRPr/>
          </a:p>
          <a:p>
            <a:pPr indent="-609600" lvl="0" marL="609600" rtl="0" algn="l">
              <a:spcBef>
                <a:spcPts val="640"/>
              </a:spcBef>
              <a:spcAft>
                <a:spcPts val="0"/>
              </a:spcAft>
              <a:buClr>
                <a:schemeClr val="dk1"/>
              </a:buClr>
              <a:buSzPts val="3200"/>
              <a:buFont typeface="Times"/>
              <a:buAutoNum type="arabicPeriod"/>
            </a:pPr>
            <a:r>
              <a:rPr lang="fi-FI"/>
              <a:t>Luotettavuuden testaus</a:t>
            </a:r>
            <a:endParaRPr/>
          </a:p>
          <a:p>
            <a:pPr indent="-533400" lvl="1" marL="990600" rtl="0" algn="l">
              <a:spcBef>
                <a:spcPts val="560"/>
              </a:spcBef>
              <a:spcAft>
                <a:spcPts val="0"/>
              </a:spcAft>
              <a:buClr>
                <a:schemeClr val="dk1"/>
              </a:buClr>
              <a:buSzPts val="2800"/>
              <a:buChar char="–"/>
            </a:pPr>
            <a:r>
              <a:rPr lang="fi-FI"/>
              <a:t>monipuolisempi ja laajempi aineisto </a:t>
            </a:r>
            <a:endParaRPr/>
          </a:p>
        </p:txBody>
      </p:sp>
      <p:sp>
        <p:nvSpPr>
          <p:cNvPr id="1353" name="Google Shape;1353;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77"/>
          <p:cNvSpPr/>
          <p:nvPr/>
        </p:nvSpPr>
        <p:spPr>
          <a:xfrm>
            <a:off x="854075" y="1371600"/>
            <a:ext cx="5013325" cy="4800600"/>
          </a:xfrm>
          <a:prstGeom prst="ellipse">
            <a:avLst/>
          </a:prstGeom>
          <a:gradFill>
            <a:gsLst>
              <a:gs pos="0">
                <a:srgbClr val="FFFFFF"/>
              </a:gs>
              <a:gs pos="100000">
                <a:schemeClr val="accent2"/>
              </a:gs>
            </a:gsLst>
            <a:path path="circle">
              <a:fillToRect b="50%" l="50%" r="50%" t="50%"/>
            </a:path>
            <a:tileRect/>
          </a:gradFill>
          <a:ln cap="flat" cmpd="sng" w="19050">
            <a:solidFill>
              <a:schemeClr val="dk1"/>
            </a:solidFill>
            <a:prstDash val="solid"/>
            <a:round/>
            <a:headEnd len="sm" w="sm" type="none"/>
            <a:tailEnd len="sm" w="sm" type="none"/>
          </a:ln>
        </p:spPr>
        <p:txBody>
          <a:bodyPr anchorCtr="0" anchor="ctr" bIns="46800" lIns="0" spcFirstLastPara="1" rIns="90000" wrap="square" tIns="0">
            <a:noAutofit/>
          </a:bodyPr>
          <a:lstStyle/>
          <a:p>
            <a:pPr indent="0" lvl="0" marL="0" marR="0" rtl="0" algn="ctr">
              <a:spcBef>
                <a:spcPts val="0"/>
              </a:spcBef>
              <a:spcAft>
                <a:spcPts val="0"/>
              </a:spcAft>
              <a:buNone/>
            </a:pPr>
            <a:r>
              <a:t/>
            </a:r>
            <a:endParaRPr sz="2000">
              <a:solidFill>
                <a:schemeClr val="dk1"/>
              </a:solidFill>
              <a:latin typeface="Arial"/>
              <a:ea typeface="Arial"/>
              <a:cs typeface="Arial"/>
              <a:sym typeface="Arial"/>
            </a:endParaRPr>
          </a:p>
        </p:txBody>
      </p:sp>
      <p:sp>
        <p:nvSpPr>
          <p:cNvPr id="1360" name="Google Shape;1360;p77"/>
          <p:cNvSpPr/>
          <p:nvPr/>
        </p:nvSpPr>
        <p:spPr>
          <a:xfrm>
            <a:off x="1141413" y="1479550"/>
            <a:ext cx="4021137" cy="3790950"/>
          </a:xfrm>
          <a:prstGeom prst="ellipse">
            <a:avLst/>
          </a:prstGeom>
          <a:gradFill>
            <a:gsLst>
              <a:gs pos="0">
                <a:srgbClr val="FFFFFF"/>
              </a:gs>
              <a:gs pos="100000">
                <a:schemeClr val="accent2"/>
              </a:gs>
            </a:gsLst>
            <a:path path="circle">
              <a:fillToRect b="50%" l="50%" r="50%" t="50%"/>
            </a:path>
            <a:tileRect/>
          </a:gradFill>
          <a:ln cap="flat" cmpd="sng" w="19050">
            <a:solidFill>
              <a:schemeClr val="dk1"/>
            </a:solidFill>
            <a:prstDash val="solid"/>
            <a:round/>
            <a:headEnd len="sm" w="sm" type="none"/>
            <a:tailEnd len="sm" w="sm" type="none"/>
          </a:ln>
        </p:spPr>
        <p:txBody>
          <a:bodyPr anchorCtr="0" anchor="ctr" bIns="46800" lIns="0" spcFirstLastPara="1" rIns="90000" wrap="square" tIns="0">
            <a:noAutofit/>
          </a:bodyPr>
          <a:lstStyle/>
          <a:p>
            <a:pPr indent="0" lvl="0" marL="0" marR="0" rtl="0" algn="ctr">
              <a:spcBef>
                <a:spcPts val="0"/>
              </a:spcBef>
              <a:spcAft>
                <a:spcPts val="0"/>
              </a:spcAft>
              <a:buNone/>
            </a:pPr>
            <a:r>
              <a:t/>
            </a:r>
            <a:endParaRPr sz="2000">
              <a:solidFill>
                <a:schemeClr val="dk1"/>
              </a:solidFill>
              <a:latin typeface="Arial"/>
              <a:ea typeface="Arial"/>
              <a:cs typeface="Arial"/>
              <a:sym typeface="Arial"/>
            </a:endParaRPr>
          </a:p>
        </p:txBody>
      </p:sp>
      <p:sp>
        <p:nvSpPr>
          <p:cNvPr id="1361" name="Google Shape;1361;p77"/>
          <p:cNvSpPr/>
          <p:nvPr/>
        </p:nvSpPr>
        <p:spPr>
          <a:xfrm>
            <a:off x="1430338" y="1727200"/>
            <a:ext cx="2825750" cy="2714625"/>
          </a:xfrm>
          <a:prstGeom prst="ellipse">
            <a:avLst/>
          </a:prstGeom>
          <a:gradFill>
            <a:gsLst>
              <a:gs pos="0">
                <a:schemeClr val="lt2"/>
              </a:gs>
              <a:gs pos="100000">
                <a:schemeClr val="accent1"/>
              </a:gs>
            </a:gsLst>
            <a:path path="circle">
              <a:fillToRect b="50%" l="50%" r="50%" t="50%"/>
            </a:path>
            <a:tileRect/>
          </a:gradFill>
          <a:ln cap="flat" cmpd="sng" w="19050">
            <a:solidFill>
              <a:schemeClr val="dk1"/>
            </a:solidFill>
            <a:prstDash val="solid"/>
            <a:round/>
            <a:headEnd len="sm" w="sm" type="none"/>
            <a:tailEnd len="sm" w="sm" type="none"/>
          </a:ln>
        </p:spPr>
        <p:txBody>
          <a:bodyPr anchorCtr="0" anchor="ctr" bIns="46800" lIns="0" spcFirstLastPara="1" rIns="90000" wrap="square" tIns="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1362" name="Google Shape;1362;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Testaustasot</a:t>
            </a:r>
            <a:br>
              <a:rPr lang="fi-FI"/>
            </a:br>
            <a:endParaRPr/>
          </a:p>
        </p:txBody>
      </p:sp>
      <p:sp>
        <p:nvSpPr>
          <p:cNvPr id="1363" name="Google Shape;1363;p77"/>
          <p:cNvSpPr/>
          <p:nvPr/>
        </p:nvSpPr>
        <p:spPr>
          <a:xfrm>
            <a:off x="1789113" y="1970088"/>
            <a:ext cx="1547812" cy="1493837"/>
          </a:xfrm>
          <a:prstGeom prst="ellipse">
            <a:avLst/>
          </a:prstGeom>
          <a:gradFill>
            <a:gsLst>
              <a:gs pos="0">
                <a:schemeClr val="lt2"/>
              </a:gs>
              <a:gs pos="100000">
                <a:schemeClr val="accent1"/>
              </a:gs>
            </a:gsLst>
            <a:path path="circle">
              <a:fillToRect b="50%" l="50%" r="50%" t="50%"/>
            </a:path>
            <a:tileRect/>
          </a:gradFill>
          <a:ln cap="flat" cmpd="sng" w="19050">
            <a:solidFill>
              <a:schemeClr val="dk1"/>
            </a:solidFill>
            <a:prstDash val="solid"/>
            <a:round/>
            <a:headEnd len="sm" w="sm" type="none"/>
            <a:tailEnd len="sm" w="sm" type="none"/>
          </a:ln>
        </p:spPr>
        <p:txBody>
          <a:bodyPr anchorCtr="0" anchor="ctr" bIns="46800" lIns="0" spcFirstLastPara="1" rIns="90000" wrap="square" tIns="0">
            <a:noAutofit/>
          </a:bodyPr>
          <a:lstStyle/>
          <a:p>
            <a:pPr indent="0" lvl="0" marL="0" marR="0" rtl="0" algn="ctr">
              <a:spcBef>
                <a:spcPts val="0"/>
              </a:spcBef>
              <a:spcAft>
                <a:spcPts val="0"/>
              </a:spcAft>
              <a:buNone/>
            </a:pPr>
            <a:r>
              <a:rPr b="1" lang="fi-FI" sz="2000">
                <a:solidFill>
                  <a:schemeClr val="dk1"/>
                </a:solidFill>
                <a:latin typeface="Arial"/>
                <a:ea typeface="Arial"/>
                <a:cs typeface="Arial"/>
                <a:sym typeface="Arial"/>
              </a:rPr>
              <a:t>Yksikkö-testaus</a:t>
            </a:r>
            <a:endParaRPr b="1" sz="2000">
              <a:solidFill>
                <a:schemeClr val="dk1"/>
              </a:solidFill>
              <a:latin typeface="Arial"/>
              <a:ea typeface="Arial"/>
              <a:cs typeface="Arial"/>
              <a:sym typeface="Arial"/>
            </a:endParaRPr>
          </a:p>
        </p:txBody>
      </p:sp>
      <p:sp>
        <p:nvSpPr>
          <p:cNvPr id="1364" name="Google Shape;1364;p77"/>
          <p:cNvSpPr txBox="1"/>
          <p:nvPr/>
        </p:nvSpPr>
        <p:spPr>
          <a:xfrm>
            <a:off x="2286000" y="3459163"/>
            <a:ext cx="2117725" cy="655637"/>
          </a:xfrm>
          <a:prstGeom prst="rect">
            <a:avLst/>
          </a:prstGeom>
          <a:noFill/>
          <a:ln>
            <a:noFill/>
          </a:ln>
        </p:spPr>
        <p:txBody>
          <a:bodyPr anchorCtr="0" anchor="t" bIns="46800" lIns="0" spcFirstLastPara="1" rIns="90000" wrap="square" tIns="0">
            <a:spAutoFit/>
          </a:bodyPr>
          <a:lstStyle/>
          <a:p>
            <a:pPr indent="0" lvl="0" marL="0" marR="0" rtl="0" algn="ctr">
              <a:spcBef>
                <a:spcPts val="0"/>
              </a:spcBef>
              <a:spcAft>
                <a:spcPts val="0"/>
              </a:spcAft>
              <a:buNone/>
            </a:pPr>
            <a:r>
              <a:rPr b="1" lang="fi-FI" sz="2000">
                <a:solidFill>
                  <a:schemeClr val="dk1"/>
                </a:solidFill>
                <a:latin typeface="Arial"/>
                <a:ea typeface="Arial"/>
                <a:cs typeface="Arial"/>
                <a:sym typeface="Arial"/>
              </a:rPr>
              <a:t>Integrointi-</a:t>
            </a:r>
            <a:br>
              <a:rPr b="1" lang="fi-FI" sz="2000">
                <a:solidFill>
                  <a:schemeClr val="dk1"/>
                </a:solidFill>
                <a:latin typeface="Arial"/>
                <a:ea typeface="Arial"/>
                <a:cs typeface="Arial"/>
                <a:sym typeface="Arial"/>
              </a:rPr>
            </a:br>
            <a:r>
              <a:rPr b="1" lang="fi-FI" sz="2000">
                <a:solidFill>
                  <a:schemeClr val="dk1"/>
                </a:solidFill>
                <a:latin typeface="Arial"/>
                <a:ea typeface="Arial"/>
                <a:cs typeface="Arial"/>
                <a:sym typeface="Arial"/>
              </a:rPr>
              <a:t>testaus</a:t>
            </a:r>
            <a:endParaRPr b="1" sz="2000">
              <a:solidFill>
                <a:schemeClr val="dk1"/>
              </a:solidFill>
              <a:latin typeface="Arial"/>
              <a:ea typeface="Arial"/>
              <a:cs typeface="Arial"/>
              <a:sym typeface="Arial"/>
            </a:endParaRPr>
          </a:p>
        </p:txBody>
      </p:sp>
      <p:sp>
        <p:nvSpPr>
          <p:cNvPr id="1365" name="Google Shape;1365;p77"/>
          <p:cNvSpPr txBox="1"/>
          <p:nvPr/>
        </p:nvSpPr>
        <p:spPr>
          <a:xfrm>
            <a:off x="2667000" y="4449763"/>
            <a:ext cx="2117725" cy="655637"/>
          </a:xfrm>
          <a:prstGeom prst="rect">
            <a:avLst/>
          </a:prstGeom>
          <a:noFill/>
          <a:ln>
            <a:noFill/>
          </a:ln>
        </p:spPr>
        <p:txBody>
          <a:bodyPr anchorCtr="0" anchor="t" bIns="46800" lIns="0" spcFirstLastPara="1" rIns="90000" wrap="square" tIns="0">
            <a:spAutoFit/>
          </a:bodyPr>
          <a:lstStyle/>
          <a:p>
            <a:pPr indent="0" lvl="0" marL="0" marR="0" rtl="0" algn="ctr">
              <a:spcBef>
                <a:spcPts val="0"/>
              </a:spcBef>
              <a:spcAft>
                <a:spcPts val="0"/>
              </a:spcAft>
              <a:buNone/>
            </a:pPr>
            <a:r>
              <a:rPr b="1" lang="fi-FI" sz="2000">
                <a:solidFill>
                  <a:schemeClr val="lt1"/>
                </a:solidFill>
                <a:latin typeface="Arial"/>
                <a:ea typeface="Arial"/>
                <a:cs typeface="Arial"/>
                <a:sym typeface="Arial"/>
              </a:rPr>
              <a:t>Järjestelmä-</a:t>
            </a:r>
            <a:br>
              <a:rPr b="1" lang="fi-FI" sz="2000">
                <a:solidFill>
                  <a:schemeClr val="lt1"/>
                </a:solidFill>
                <a:latin typeface="Arial"/>
                <a:ea typeface="Arial"/>
                <a:cs typeface="Arial"/>
                <a:sym typeface="Arial"/>
              </a:rPr>
            </a:br>
            <a:r>
              <a:rPr b="1" lang="fi-FI" sz="2000">
                <a:solidFill>
                  <a:schemeClr val="lt1"/>
                </a:solidFill>
                <a:latin typeface="Arial"/>
                <a:ea typeface="Arial"/>
                <a:cs typeface="Arial"/>
                <a:sym typeface="Arial"/>
              </a:rPr>
              <a:t>testaus</a:t>
            </a:r>
            <a:endParaRPr b="1" sz="2000">
              <a:solidFill>
                <a:schemeClr val="lt1"/>
              </a:solidFill>
              <a:latin typeface="Arial"/>
              <a:ea typeface="Arial"/>
              <a:cs typeface="Arial"/>
              <a:sym typeface="Arial"/>
            </a:endParaRPr>
          </a:p>
        </p:txBody>
      </p:sp>
      <p:sp>
        <p:nvSpPr>
          <p:cNvPr id="1366" name="Google Shape;1366;p77"/>
          <p:cNvSpPr txBox="1"/>
          <p:nvPr/>
        </p:nvSpPr>
        <p:spPr>
          <a:xfrm>
            <a:off x="3124200" y="5287963"/>
            <a:ext cx="2117725" cy="655637"/>
          </a:xfrm>
          <a:prstGeom prst="rect">
            <a:avLst/>
          </a:prstGeom>
          <a:noFill/>
          <a:ln>
            <a:noFill/>
          </a:ln>
        </p:spPr>
        <p:txBody>
          <a:bodyPr anchorCtr="0" anchor="t" bIns="46800" lIns="0" spcFirstLastPara="1" rIns="90000" wrap="square" tIns="0">
            <a:spAutoFit/>
          </a:bodyPr>
          <a:lstStyle/>
          <a:p>
            <a:pPr indent="0" lvl="0" marL="0" marR="0" rtl="0" algn="ctr">
              <a:spcBef>
                <a:spcPts val="0"/>
              </a:spcBef>
              <a:spcAft>
                <a:spcPts val="0"/>
              </a:spcAft>
              <a:buNone/>
            </a:pPr>
            <a:r>
              <a:rPr b="1" lang="fi-FI" sz="2000">
                <a:solidFill>
                  <a:schemeClr val="lt1"/>
                </a:solidFill>
                <a:latin typeface="Arial"/>
                <a:ea typeface="Arial"/>
                <a:cs typeface="Arial"/>
                <a:sym typeface="Arial"/>
              </a:rPr>
              <a:t>Hyväksymis-</a:t>
            </a:r>
            <a:br>
              <a:rPr b="1" lang="fi-FI" sz="2000">
                <a:solidFill>
                  <a:schemeClr val="lt1"/>
                </a:solidFill>
                <a:latin typeface="Arial"/>
                <a:ea typeface="Arial"/>
                <a:cs typeface="Arial"/>
                <a:sym typeface="Arial"/>
              </a:rPr>
            </a:br>
            <a:r>
              <a:rPr b="1" lang="fi-FI" sz="2000">
                <a:solidFill>
                  <a:schemeClr val="lt1"/>
                </a:solidFill>
                <a:latin typeface="Arial"/>
                <a:ea typeface="Arial"/>
                <a:cs typeface="Arial"/>
                <a:sym typeface="Arial"/>
              </a:rPr>
              <a:t>testaus</a:t>
            </a:r>
            <a:endParaRPr b="1" sz="2000">
              <a:solidFill>
                <a:schemeClr val="lt1"/>
              </a:solidFill>
              <a:latin typeface="Arial"/>
              <a:ea typeface="Arial"/>
              <a:cs typeface="Arial"/>
              <a:sym typeface="Arial"/>
            </a:endParaRPr>
          </a:p>
        </p:txBody>
      </p:sp>
      <p:sp>
        <p:nvSpPr>
          <p:cNvPr id="1367" name="Google Shape;1367;p77"/>
          <p:cNvSpPr/>
          <p:nvPr/>
        </p:nvSpPr>
        <p:spPr>
          <a:xfrm>
            <a:off x="5940425" y="3886200"/>
            <a:ext cx="1981200" cy="2438400"/>
          </a:xfrm>
          <a:prstGeom prst="roundRect">
            <a:avLst>
              <a:gd fmla="val 16667" name="adj"/>
            </a:avLst>
          </a:prstGeom>
          <a:solidFill>
            <a:schemeClr val="accent1"/>
          </a:solidFill>
          <a:ln cap="flat" cmpd="sng" w="9525">
            <a:solidFill>
              <a:srgbClr val="000000"/>
            </a:solidFill>
            <a:prstDash val="solid"/>
            <a:round/>
            <a:headEnd len="sm" w="sm" type="none"/>
            <a:tailEnd len="sm" w="sm" type="none"/>
          </a:ln>
          <a:effectLst>
            <a:outerShdw rotWithShape="0" algn="ctr" dir="18900000" dist="107763">
              <a:schemeClr val="lt2"/>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2000">
                <a:solidFill>
                  <a:schemeClr val="dk1"/>
                </a:solidFill>
                <a:latin typeface="Arial"/>
                <a:ea typeface="Arial"/>
                <a:cs typeface="Arial"/>
                <a:sym typeface="Arial"/>
              </a:rPr>
              <a:t>Tekninen näkökulma</a:t>
            </a:r>
            <a:endParaRPr/>
          </a:p>
          <a:p>
            <a:pPr indent="0" lvl="0" marL="0" marR="0" rtl="0" algn="ctr">
              <a:spcBef>
                <a:spcPts val="0"/>
              </a:spcBef>
              <a:spcAft>
                <a:spcPts val="0"/>
              </a:spcAft>
              <a:buNone/>
            </a:pPr>
            <a:r>
              <a:rPr lang="fi-FI" sz="1800">
                <a:solidFill>
                  <a:schemeClr val="dk1"/>
                </a:solidFill>
                <a:latin typeface="Arial"/>
                <a:ea typeface="Arial"/>
                <a:cs typeface="Arial"/>
                <a:sym typeface="Arial"/>
              </a:rPr>
              <a:t>”järjestelmä ei toimi, jos...”</a:t>
            </a:r>
            <a:endParaRPr sz="1800">
              <a:solidFill>
                <a:schemeClr val="dk1"/>
              </a:solidFill>
              <a:latin typeface="Arial"/>
              <a:ea typeface="Arial"/>
              <a:cs typeface="Arial"/>
              <a:sym typeface="Arial"/>
            </a:endParaRPr>
          </a:p>
        </p:txBody>
      </p:sp>
      <p:sp>
        <p:nvSpPr>
          <p:cNvPr id="1368" name="Google Shape;1368;p77"/>
          <p:cNvSpPr/>
          <p:nvPr/>
        </p:nvSpPr>
        <p:spPr>
          <a:xfrm>
            <a:off x="5940425" y="1295400"/>
            <a:ext cx="1981200" cy="2438400"/>
          </a:xfrm>
          <a:prstGeom prst="roundRect">
            <a:avLst>
              <a:gd fmla="val 16667" name="adj"/>
            </a:avLst>
          </a:prstGeom>
          <a:gradFill>
            <a:gsLst>
              <a:gs pos="0">
                <a:srgbClr val="969696"/>
              </a:gs>
              <a:gs pos="100000">
                <a:schemeClr val="accent2"/>
              </a:gs>
            </a:gsLst>
            <a:path path="circle">
              <a:fillToRect b="50%" l="50%" r="50%" t="50%"/>
            </a:path>
            <a:tileRect/>
          </a:gradFill>
          <a:ln cap="flat" cmpd="sng" w="9525">
            <a:solidFill>
              <a:srgbClr val="000000"/>
            </a:solidFill>
            <a:prstDash val="solid"/>
            <a:round/>
            <a:headEnd len="sm" w="sm" type="none"/>
            <a:tailEnd len="sm" w="sm" type="none"/>
          </a:ln>
          <a:effectLst>
            <a:outerShdw rotWithShape="0" algn="ctr" dir="18900000" dist="107763">
              <a:schemeClr val="lt2"/>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fi-FI" sz="2000">
                <a:solidFill>
                  <a:schemeClr val="lt1"/>
                </a:solidFill>
                <a:latin typeface="Arial"/>
                <a:ea typeface="Arial"/>
                <a:cs typeface="Arial"/>
                <a:sym typeface="Arial"/>
              </a:rPr>
              <a:t>Käyttäjän näkökulma</a:t>
            </a:r>
            <a:endParaRPr/>
          </a:p>
          <a:p>
            <a:pPr indent="0" lvl="0" marL="0" marR="0" rtl="0" algn="ctr">
              <a:spcBef>
                <a:spcPts val="0"/>
              </a:spcBef>
              <a:spcAft>
                <a:spcPts val="0"/>
              </a:spcAft>
              <a:buNone/>
            </a:pPr>
            <a:r>
              <a:rPr lang="fi-FI" sz="1800">
                <a:solidFill>
                  <a:schemeClr val="lt1"/>
                </a:solidFill>
                <a:latin typeface="Arial"/>
                <a:ea typeface="Arial"/>
                <a:cs typeface="Arial"/>
                <a:sym typeface="Arial"/>
              </a:rPr>
              <a:t>”ei voi ratkaista ongelmaa / tehostaa toimintaa, jos...”</a:t>
            </a:r>
            <a:endParaRPr sz="1800">
              <a:solidFill>
                <a:schemeClr val="lt1"/>
              </a:solidFill>
              <a:latin typeface="Arial"/>
              <a:ea typeface="Arial"/>
              <a:cs typeface="Arial"/>
              <a:sym typeface="Arial"/>
            </a:endParaRPr>
          </a:p>
        </p:txBody>
      </p:sp>
      <p:sp>
        <p:nvSpPr>
          <p:cNvPr id="1369" name="Google Shape;1369;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cxnSp>
        <p:nvCxnSpPr>
          <p:cNvPr id="1375" name="Google Shape;1375;p78"/>
          <p:cNvCxnSpPr/>
          <p:nvPr/>
        </p:nvCxnSpPr>
        <p:spPr>
          <a:xfrm>
            <a:off x="1676400" y="2438400"/>
            <a:ext cx="2895600" cy="3429000"/>
          </a:xfrm>
          <a:prstGeom prst="straightConnector1">
            <a:avLst/>
          </a:prstGeom>
          <a:noFill/>
          <a:ln cap="flat" cmpd="sng" w="76200">
            <a:solidFill>
              <a:schemeClr val="dk1"/>
            </a:solidFill>
            <a:prstDash val="solid"/>
            <a:round/>
            <a:headEnd len="med" w="med" type="none"/>
            <a:tailEnd len="med" w="med" type="none"/>
          </a:ln>
        </p:spPr>
      </p:cxnSp>
      <p:cxnSp>
        <p:nvCxnSpPr>
          <p:cNvPr id="1376" name="Google Shape;1376;p78"/>
          <p:cNvCxnSpPr/>
          <p:nvPr/>
        </p:nvCxnSpPr>
        <p:spPr>
          <a:xfrm flipH="1" rot="10800000">
            <a:off x="4572000" y="1524000"/>
            <a:ext cx="3657600" cy="4343400"/>
          </a:xfrm>
          <a:prstGeom prst="straightConnector1">
            <a:avLst/>
          </a:prstGeom>
          <a:noFill/>
          <a:ln cap="flat" cmpd="sng" w="76200">
            <a:solidFill>
              <a:schemeClr val="dk1"/>
            </a:solidFill>
            <a:prstDash val="solid"/>
            <a:round/>
            <a:headEnd len="med" w="med" type="none"/>
            <a:tailEnd len="med" w="med" type="triangle"/>
          </a:ln>
        </p:spPr>
      </p:cxnSp>
      <p:sp>
        <p:nvSpPr>
          <p:cNvPr id="1377" name="Google Shape;1377;p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V-malli – testauksen tasot</a:t>
            </a:r>
            <a:endParaRPr/>
          </a:p>
        </p:txBody>
      </p:sp>
      <p:sp>
        <p:nvSpPr>
          <p:cNvPr id="1378" name="Google Shape;1378;p78"/>
          <p:cNvSpPr/>
          <p:nvPr/>
        </p:nvSpPr>
        <p:spPr>
          <a:xfrm>
            <a:off x="4800600" y="4876800"/>
            <a:ext cx="2057400" cy="685800"/>
          </a:xfrm>
          <a:prstGeom prst="rect">
            <a:avLst/>
          </a:prstGeom>
          <a:gradFill>
            <a:gsLst>
              <a:gs pos="0">
                <a:schemeClr val="accent1"/>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Yksikkö-testaus</a:t>
            </a:r>
            <a:endParaRPr sz="2400">
              <a:solidFill>
                <a:schemeClr val="dk1"/>
              </a:solidFill>
              <a:latin typeface="Gill Sans"/>
              <a:ea typeface="Gill Sans"/>
              <a:cs typeface="Gill Sans"/>
              <a:sym typeface="Gill Sans"/>
            </a:endParaRPr>
          </a:p>
        </p:txBody>
      </p:sp>
      <p:sp>
        <p:nvSpPr>
          <p:cNvPr id="1379" name="Google Shape;1379;p78"/>
          <p:cNvSpPr/>
          <p:nvPr/>
        </p:nvSpPr>
        <p:spPr>
          <a:xfrm>
            <a:off x="5181600" y="3886200"/>
            <a:ext cx="2057400" cy="685800"/>
          </a:xfrm>
          <a:prstGeom prst="rect">
            <a:avLst/>
          </a:prstGeom>
          <a:gradFill>
            <a:gsLst>
              <a:gs pos="0">
                <a:schemeClr val="accent1"/>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Integrointi-testaus</a:t>
            </a:r>
            <a:endParaRPr sz="2400">
              <a:solidFill>
                <a:schemeClr val="dk1"/>
              </a:solidFill>
              <a:latin typeface="Gill Sans"/>
              <a:ea typeface="Gill Sans"/>
              <a:cs typeface="Gill Sans"/>
              <a:sym typeface="Gill Sans"/>
            </a:endParaRPr>
          </a:p>
        </p:txBody>
      </p:sp>
      <p:sp>
        <p:nvSpPr>
          <p:cNvPr id="1380" name="Google Shape;1380;p78"/>
          <p:cNvSpPr/>
          <p:nvPr/>
        </p:nvSpPr>
        <p:spPr>
          <a:xfrm>
            <a:off x="5791200" y="2819400"/>
            <a:ext cx="2057400" cy="685800"/>
          </a:xfrm>
          <a:prstGeom prst="rect">
            <a:avLst/>
          </a:prstGeom>
          <a:gradFill>
            <a:gsLst>
              <a:gs pos="0">
                <a:schemeClr val="accent1"/>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Järjestelmä-testaus</a:t>
            </a:r>
            <a:endParaRPr sz="2400">
              <a:solidFill>
                <a:schemeClr val="dk1"/>
              </a:solidFill>
              <a:latin typeface="Gill Sans"/>
              <a:ea typeface="Gill Sans"/>
              <a:cs typeface="Gill Sans"/>
              <a:sym typeface="Gill Sans"/>
            </a:endParaRPr>
          </a:p>
        </p:txBody>
      </p:sp>
      <p:sp>
        <p:nvSpPr>
          <p:cNvPr id="1381" name="Google Shape;1381;p78"/>
          <p:cNvSpPr/>
          <p:nvPr/>
        </p:nvSpPr>
        <p:spPr>
          <a:xfrm>
            <a:off x="6477000" y="1828800"/>
            <a:ext cx="2057400" cy="685800"/>
          </a:xfrm>
          <a:prstGeom prst="rect">
            <a:avLst/>
          </a:prstGeom>
          <a:gradFill>
            <a:gsLst>
              <a:gs pos="0">
                <a:schemeClr val="accent1"/>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Hyväksymis-testaus</a:t>
            </a:r>
            <a:endParaRPr sz="2400">
              <a:solidFill>
                <a:schemeClr val="dk1"/>
              </a:solidFill>
              <a:latin typeface="Gill Sans"/>
              <a:ea typeface="Gill Sans"/>
              <a:cs typeface="Gill Sans"/>
              <a:sym typeface="Gill Sans"/>
            </a:endParaRPr>
          </a:p>
        </p:txBody>
      </p:sp>
      <p:cxnSp>
        <p:nvCxnSpPr>
          <p:cNvPr id="1382" name="Google Shape;1382;p78"/>
          <p:cNvCxnSpPr/>
          <p:nvPr/>
        </p:nvCxnSpPr>
        <p:spPr>
          <a:xfrm>
            <a:off x="2667000" y="2209800"/>
            <a:ext cx="3810000" cy="0"/>
          </a:xfrm>
          <a:prstGeom prst="straightConnector1">
            <a:avLst/>
          </a:prstGeom>
          <a:noFill/>
          <a:ln cap="flat" cmpd="sng" w="38100">
            <a:solidFill>
              <a:schemeClr val="lt2"/>
            </a:solidFill>
            <a:prstDash val="solid"/>
            <a:round/>
            <a:headEnd len="med" w="med" type="none"/>
            <a:tailEnd len="med" w="med" type="triangle"/>
          </a:ln>
        </p:spPr>
      </p:cxnSp>
      <p:cxnSp>
        <p:nvCxnSpPr>
          <p:cNvPr id="1383" name="Google Shape;1383;p78"/>
          <p:cNvCxnSpPr/>
          <p:nvPr/>
        </p:nvCxnSpPr>
        <p:spPr>
          <a:xfrm>
            <a:off x="3429000" y="3200400"/>
            <a:ext cx="2362200" cy="0"/>
          </a:xfrm>
          <a:prstGeom prst="straightConnector1">
            <a:avLst/>
          </a:prstGeom>
          <a:noFill/>
          <a:ln cap="flat" cmpd="sng" w="38100">
            <a:solidFill>
              <a:schemeClr val="lt2"/>
            </a:solidFill>
            <a:prstDash val="solid"/>
            <a:round/>
            <a:headEnd len="med" w="med" type="none"/>
            <a:tailEnd len="med" w="med" type="triangle"/>
          </a:ln>
        </p:spPr>
      </p:cxnSp>
      <p:cxnSp>
        <p:nvCxnSpPr>
          <p:cNvPr id="1384" name="Google Shape;1384;p78"/>
          <p:cNvCxnSpPr/>
          <p:nvPr/>
        </p:nvCxnSpPr>
        <p:spPr>
          <a:xfrm>
            <a:off x="3962400" y="4267200"/>
            <a:ext cx="1219200" cy="0"/>
          </a:xfrm>
          <a:prstGeom prst="straightConnector1">
            <a:avLst/>
          </a:prstGeom>
          <a:noFill/>
          <a:ln cap="flat" cmpd="sng" w="38100">
            <a:solidFill>
              <a:schemeClr val="lt2"/>
            </a:solidFill>
            <a:prstDash val="solid"/>
            <a:round/>
            <a:headEnd len="med" w="med" type="none"/>
            <a:tailEnd len="med" w="med" type="triangle"/>
          </a:ln>
        </p:spPr>
      </p:cxnSp>
      <p:cxnSp>
        <p:nvCxnSpPr>
          <p:cNvPr id="1385" name="Google Shape;1385;p78"/>
          <p:cNvCxnSpPr/>
          <p:nvPr/>
        </p:nvCxnSpPr>
        <p:spPr>
          <a:xfrm>
            <a:off x="4343400" y="5257800"/>
            <a:ext cx="457200" cy="0"/>
          </a:xfrm>
          <a:prstGeom prst="straightConnector1">
            <a:avLst/>
          </a:prstGeom>
          <a:noFill/>
          <a:ln cap="flat" cmpd="sng" w="38100">
            <a:solidFill>
              <a:schemeClr val="lt2"/>
            </a:solidFill>
            <a:prstDash val="solid"/>
            <a:round/>
            <a:headEnd len="med" w="med" type="none"/>
            <a:tailEnd len="med" w="med" type="triangle"/>
          </a:ln>
        </p:spPr>
      </p:cxnSp>
      <p:sp>
        <p:nvSpPr>
          <p:cNvPr id="1386" name="Google Shape;1386;p78"/>
          <p:cNvSpPr/>
          <p:nvPr/>
        </p:nvSpPr>
        <p:spPr>
          <a:xfrm>
            <a:off x="2286000" y="4876800"/>
            <a:ext cx="2057400" cy="685800"/>
          </a:xfrm>
          <a:prstGeom prst="rect">
            <a:avLst/>
          </a:prstGeom>
          <a:gradFill>
            <a:gsLst>
              <a:gs pos="0">
                <a:schemeClr val="accent1"/>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Ohjelmointi</a:t>
            </a:r>
            <a:endParaRPr sz="2400">
              <a:solidFill>
                <a:schemeClr val="dk1"/>
              </a:solidFill>
              <a:latin typeface="Gill Sans"/>
              <a:ea typeface="Gill Sans"/>
              <a:cs typeface="Gill Sans"/>
              <a:sym typeface="Gill Sans"/>
            </a:endParaRPr>
          </a:p>
        </p:txBody>
      </p:sp>
      <p:sp>
        <p:nvSpPr>
          <p:cNvPr id="1387" name="Google Shape;1387;p78"/>
          <p:cNvSpPr/>
          <p:nvPr/>
        </p:nvSpPr>
        <p:spPr>
          <a:xfrm>
            <a:off x="1905000" y="3886200"/>
            <a:ext cx="2057400" cy="685800"/>
          </a:xfrm>
          <a:prstGeom prst="rect">
            <a:avLst/>
          </a:prstGeom>
          <a:gradFill>
            <a:gsLst>
              <a:gs pos="0">
                <a:schemeClr val="accent1"/>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Tekninen suunnittelu</a:t>
            </a:r>
            <a:endParaRPr sz="2400">
              <a:solidFill>
                <a:schemeClr val="dk1"/>
              </a:solidFill>
              <a:latin typeface="Gill Sans"/>
              <a:ea typeface="Gill Sans"/>
              <a:cs typeface="Gill Sans"/>
              <a:sym typeface="Gill Sans"/>
            </a:endParaRPr>
          </a:p>
        </p:txBody>
      </p:sp>
      <p:sp>
        <p:nvSpPr>
          <p:cNvPr id="1388" name="Google Shape;1388;p78"/>
          <p:cNvSpPr/>
          <p:nvPr/>
        </p:nvSpPr>
        <p:spPr>
          <a:xfrm>
            <a:off x="1371600" y="2819400"/>
            <a:ext cx="2057400" cy="685800"/>
          </a:xfrm>
          <a:prstGeom prst="rect">
            <a:avLst/>
          </a:prstGeom>
          <a:gradFill>
            <a:gsLst>
              <a:gs pos="0">
                <a:schemeClr val="accent1"/>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Määrittely</a:t>
            </a:r>
            <a:endParaRPr sz="2400">
              <a:solidFill>
                <a:schemeClr val="dk1"/>
              </a:solidFill>
              <a:latin typeface="Gill Sans"/>
              <a:ea typeface="Gill Sans"/>
              <a:cs typeface="Gill Sans"/>
              <a:sym typeface="Gill Sans"/>
            </a:endParaRPr>
          </a:p>
        </p:txBody>
      </p:sp>
      <p:sp>
        <p:nvSpPr>
          <p:cNvPr id="1389" name="Google Shape;1389;p78"/>
          <p:cNvSpPr/>
          <p:nvPr/>
        </p:nvSpPr>
        <p:spPr>
          <a:xfrm>
            <a:off x="609600" y="1828800"/>
            <a:ext cx="2057400" cy="685800"/>
          </a:xfrm>
          <a:prstGeom prst="rect">
            <a:avLst/>
          </a:prstGeom>
          <a:gradFill>
            <a:gsLst>
              <a:gs pos="0">
                <a:schemeClr val="accent1"/>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Vaatimukset</a:t>
            </a:r>
            <a:endParaRPr sz="2400">
              <a:solidFill>
                <a:schemeClr val="dk1"/>
              </a:solidFill>
              <a:latin typeface="Gill Sans"/>
              <a:ea typeface="Gill Sans"/>
              <a:cs typeface="Gill Sans"/>
              <a:sym typeface="Gill Sans"/>
            </a:endParaRPr>
          </a:p>
        </p:txBody>
      </p:sp>
      <p:sp>
        <p:nvSpPr>
          <p:cNvPr id="1390" name="Google Shape;1390;p78"/>
          <p:cNvSpPr txBox="1"/>
          <p:nvPr/>
        </p:nvSpPr>
        <p:spPr>
          <a:xfrm>
            <a:off x="7207250" y="4365625"/>
            <a:ext cx="1828800" cy="120032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Testien ajaminen ja korjaustyö</a:t>
            </a:r>
            <a:endParaRPr sz="2400">
              <a:solidFill>
                <a:schemeClr val="dk1"/>
              </a:solidFill>
              <a:latin typeface="Gill Sans"/>
              <a:ea typeface="Gill Sans"/>
              <a:cs typeface="Gill Sans"/>
              <a:sym typeface="Gill Sans"/>
            </a:endParaRPr>
          </a:p>
        </p:txBody>
      </p:sp>
      <p:grpSp>
        <p:nvGrpSpPr>
          <p:cNvPr id="1391" name="Google Shape;1391;p78"/>
          <p:cNvGrpSpPr/>
          <p:nvPr/>
        </p:nvGrpSpPr>
        <p:grpSpPr>
          <a:xfrm>
            <a:off x="6096000" y="1752600"/>
            <a:ext cx="2819400" cy="4343400"/>
            <a:chOff x="3840" y="1200"/>
            <a:chExt cx="1776" cy="2640"/>
          </a:xfrm>
        </p:grpSpPr>
        <p:cxnSp>
          <p:nvCxnSpPr>
            <p:cNvPr id="1392" name="Google Shape;1392;p78"/>
            <p:cNvCxnSpPr/>
            <p:nvPr/>
          </p:nvCxnSpPr>
          <p:spPr>
            <a:xfrm flipH="1" rot="10800000">
              <a:off x="4128" y="1344"/>
              <a:ext cx="1488" cy="2496"/>
            </a:xfrm>
            <a:prstGeom prst="straightConnector1">
              <a:avLst/>
            </a:prstGeom>
            <a:noFill/>
            <a:ln cap="flat" cmpd="sng" w="28575">
              <a:solidFill>
                <a:srgbClr val="3366FF"/>
              </a:solidFill>
              <a:prstDash val="solid"/>
              <a:round/>
              <a:headEnd len="med" w="med" type="none"/>
              <a:tailEnd len="med" w="med" type="none"/>
            </a:ln>
          </p:spPr>
        </p:cxnSp>
        <p:cxnSp>
          <p:nvCxnSpPr>
            <p:cNvPr id="1393" name="Google Shape;1393;p78"/>
            <p:cNvCxnSpPr/>
            <p:nvPr/>
          </p:nvCxnSpPr>
          <p:spPr>
            <a:xfrm rot="10800000">
              <a:off x="5328" y="1200"/>
              <a:ext cx="288" cy="144"/>
            </a:xfrm>
            <a:prstGeom prst="straightConnector1">
              <a:avLst/>
            </a:prstGeom>
            <a:noFill/>
            <a:ln cap="flat" cmpd="sng" w="28575">
              <a:solidFill>
                <a:srgbClr val="3366FF"/>
              </a:solidFill>
              <a:prstDash val="solid"/>
              <a:round/>
              <a:headEnd len="med" w="med" type="none"/>
              <a:tailEnd len="med" w="med" type="none"/>
            </a:ln>
          </p:spPr>
        </p:cxnSp>
        <p:cxnSp>
          <p:nvCxnSpPr>
            <p:cNvPr id="1394" name="Google Shape;1394;p78"/>
            <p:cNvCxnSpPr/>
            <p:nvPr/>
          </p:nvCxnSpPr>
          <p:spPr>
            <a:xfrm rot="10800000">
              <a:off x="3840" y="3696"/>
              <a:ext cx="288" cy="144"/>
            </a:xfrm>
            <a:prstGeom prst="straightConnector1">
              <a:avLst/>
            </a:prstGeom>
            <a:noFill/>
            <a:ln cap="flat" cmpd="sng" w="28575">
              <a:solidFill>
                <a:srgbClr val="3366FF"/>
              </a:solidFill>
              <a:prstDash val="solid"/>
              <a:round/>
              <a:headEnd len="med" w="med" type="none"/>
              <a:tailEnd len="med" w="med" type="none"/>
            </a:ln>
          </p:spPr>
        </p:cxnSp>
      </p:grpSp>
      <p:grpSp>
        <p:nvGrpSpPr>
          <p:cNvPr id="1395" name="Google Shape;1395;p78"/>
          <p:cNvGrpSpPr/>
          <p:nvPr/>
        </p:nvGrpSpPr>
        <p:grpSpPr>
          <a:xfrm rot="7123819">
            <a:off x="155575" y="1790700"/>
            <a:ext cx="2971800" cy="4267200"/>
            <a:chOff x="3840" y="1200"/>
            <a:chExt cx="1776" cy="2640"/>
          </a:xfrm>
        </p:grpSpPr>
        <p:cxnSp>
          <p:nvCxnSpPr>
            <p:cNvPr id="1396" name="Google Shape;1396;p78"/>
            <p:cNvCxnSpPr/>
            <p:nvPr/>
          </p:nvCxnSpPr>
          <p:spPr>
            <a:xfrm flipH="1" rot="10800000">
              <a:off x="4128" y="1344"/>
              <a:ext cx="1488" cy="2496"/>
            </a:xfrm>
            <a:prstGeom prst="straightConnector1">
              <a:avLst/>
            </a:prstGeom>
            <a:noFill/>
            <a:ln cap="flat" cmpd="sng" w="28575">
              <a:solidFill>
                <a:srgbClr val="FF0000"/>
              </a:solidFill>
              <a:prstDash val="solid"/>
              <a:round/>
              <a:headEnd len="med" w="med" type="none"/>
              <a:tailEnd len="med" w="med" type="none"/>
            </a:ln>
          </p:spPr>
        </p:cxnSp>
        <p:cxnSp>
          <p:nvCxnSpPr>
            <p:cNvPr id="1397" name="Google Shape;1397;p78"/>
            <p:cNvCxnSpPr/>
            <p:nvPr/>
          </p:nvCxnSpPr>
          <p:spPr>
            <a:xfrm rot="10800000">
              <a:off x="5328" y="1200"/>
              <a:ext cx="288" cy="144"/>
            </a:xfrm>
            <a:prstGeom prst="straightConnector1">
              <a:avLst/>
            </a:prstGeom>
            <a:noFill/>
            <a:ln cap="flat" cmpd="sng" w="28575">
              <a:solidFill>
                <a:srgbClr val="FF0000"/>
              </a:solidFill>
              <a:prstDash val="solid"/>
              <a:round/>
              <a:headEnd len="med" w="med" type="none"/>
              <a:tailEnd len="med" w="med" type="none"/>
            </a:ln>
          </p:spPr>
        </p:cxnSp>
        <p:cxnSp>
          <p:nvCxnSpPr>
            <p:cNvPr id="1398" name="Google Shape;1398;p78"/>
            <p:cNvCxnSpPr/>
            <p:nvPr/>
          </p:nvCxnSpPr>
          <p:spPr>
            <a:xfrm rot="10800000">
              <a:off x="3840" y="3696"/>
              <a:ext cx="288" cy="144"/>
            </a:xfrm>
            <a:prstGeom prst="straightConnector1">
              <a:avLst/>
            </a:prstGeom>
            <a:noFill/>
            <a:ln cap="flat" cmpd="sng" w="28575">
              <a:solidFill>
                <a:srgbClr val="FF0000"/>
              </a:solidFill>
              <a:prstDash val="solid"/>
              <a:round/>
              <a:headEnd len="med" w="med" type="none"/>
              <a:tailEnd len="med" w="med" type="none"/>
            </a:ln>
          </p:spPr>
        </p:cxnSp>
      </p:grpSp>
      <p:sp>
        <p:nvSpPr>
          <p:cNvPr id="1399" name="Google Shape;1399;p78"/>
          <p:cNvSpPr txBox="1"/>
          <p:nvPr/>
        </p:nvSpPr>
        <p:spPr>
          <a:xfrm>
            <a:off x="-36513" y="4365625"/>
            <a:ext cx="1828801"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i-FI" sz="2400">
                <a:solidFill>
                  <a:schemeClr val="dk1"/>
                </a:solidFill>
                <a:latin typeface="Gill Sans"/>
                <a:ea typeface="Gill Sans"/>
                <a:cs typeface="Gill Sans"/>
                <a:sym typeface="Gill Sans"/>
              </a:rPr>
              <a:t>Testien suunnittelu</a:t>
            </a:r>
            <a:endParaRPr sz="2400">
              <a:solidFill>
                <a:schemeClr val="dk1"/>
              </a:solidFill>
              <a:latin typeface="Gill Sans"/>
              <a:ea typeface="Gill Sans"/>
              <a:cs typeface="Gill Sans"/>
              <a:sym typeface="Gill Sans"/>
            </a:endParaRPr>
          </a:p>
        </p:txBody>
      </p:sp>
      <p:sp>
        <p:nvSpPr>
          <p:cNvPr id="1400" name="Google Shape;1400;p78"/>
          <p:cNvSpPr/>
          <p:nvPr/>
        </p:nvSpPr>
        <p:spPr>
          <a:xfrm>
            <a:off x="2362200" y="2209800"/>
            <a:ext cx="457200" cy="457200"/>
          </a:xfrm>
          <a:prstGeom prst="star5">
            <a:avLst>
              <a:gd fmla="val 19098" name="adj"/>
              <a:gd fmla="val 105146" name="hf"/>
              <a:gd fmla="val 110557" name="vf"/>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401" name="Google Shape;1401;p78"/>
          <p:cNvSpPr/>
          <p:nvPr/>
        </p:nvSpPr>
        <p:spPr>
          <a:xfrm>
            <a:off x="3124200" y="3200400"/>
            <a:ext cx="457200" cy="457200"/>
          </a:xfrm>
          <a:prstGeom prst="star5">
            <a:avLst>
              <a:gd fmla="val 19098" name="adj"/>
              <a:gd fmla="val 105146" name="hf"/>
              <a:gd fmla="val 110557" name="vf"/>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402" name="Google Shape;1402;p78"/>
          <p:cNvSpPr/>
          <p:nvPr/>
        </p:nvSpPr>
        <p:spPr>
          <a:xfrm>
            <a:off x="3733800" y="4267200"/>
            <a:ext cx="457200" cy="457200"/>
          </a:xfrm>
          <a:prstGeom prst="star5">
            <a:avLst>
              <a:gd fmla="val 19098" name="adj"/>
              <a:gd fmla="val 105146" name="hf"/>
              <a:gd fmla="val 110557" name="vf"/>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403" name="Google Shape;1403;p78"/>
          <p:cNvSpPr/>
          <p:nvPr/>
        </p:nvSpPr>
        <p:spPr>
          <a:xfrm>
            <a:off x="4114800" y="5257800"/>
            <a:ext cx="457200" cy="457200"/>
          </a:xfrm>
          <a:prstGeom prst="star5">
            <a:avLst>
              <a:gd fmla="val 19098" name="adj"/>
              <a:gd fmla="val 105146" name="hf"/>
              <a:gd fmla="val 110557" name="vf"/>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404" name="Google Shape;1404;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Testaustasot ja testitapaukset</a:t>
            </a:r>
            <a:endParaRPr/>
          </a:p>
        </p:txBody>
      </p:sp>
      <p:sp>
        <p:nvSpPr>
          <p:cNvPr id="1411" name="Google Shape;1411;p7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Clr>
                <a:schemeClr val="dk1"/>
              </a:buClr>
              <a:buSzPct val="100000"/>
              <a:buChar char="•"/>
            </a:pPr>
            <a:r>
              <a:rPr lang="fi-FI"/>
              <a:t>Yksikkötestaus</a:t>
            </a:r>
            <a:endParaRPr/>
          </a:p>
          <a:p>
            <a:pPr indent="-285750" lvl="1" marL="742950" rtl="0" algn="l">
              <a:spcBef>
                <a:spcPts val="350"/>
              </a:spcBef>
              <a:spcAft>
                <a:spcPts val="0"/>
              </a:spcAft>
              <a:buClr>
                <a:schemeClr val="dk1"/>
              </a:buClr>
              <a:buSzPct val="100000"/>
              <a:buChar char="–"/>
            </a:pPr>
            <a:r>
              <a:rPr lang="fi-FI"/>
              <a:t>Kunkin toteutuskokonaisuuden sisäisen toiminnan </a:t>
            </a:r>
            <a:br>
              <a:rPr lang="fi-FI"/>
            </a:br>
            <a:r>
              <a:rPr lang="fi-FI"/>
              <a:t>oikeellisuus</a:t>
            </a:r>
            <a:endParaRPr/>
          </a:p>
          <a:p>
            <a:pPr indent="-285750" lvl="1" marL="742950" rtl="0" algn="l">
              <a:spcBef>
                <a:spcPts val="350"/>
              </a:spcBef>
              <a:spcAft>
                <a:spcPts val="0"/>
              </a:spcAft>
              <a:buClr>
                <a:schemeClr val="dk1"/>
              </a:buClr>
              <a:buSzPct val="100000"/>
              <a:buChar char="–"/>
            </a:pPr>
            <a:r>
              <a:rPr lang="fi-FI"/>
              <a:t>Suunniteltu toiminnallisuus sekä virhetilanteet</a:t>
            </a:r>
            <a:endParaRPr/>
          </a:p>
          <a:p>
            <a:pPr indent="-285750" lvl="1" marL="742950" rtl="0" algn="l">
              <a:spcBef>
                <a:spcPts val="350"/>
              </a:spcBef>
              <a:spcAft>
                <a:spcPts val="0"/>
              </a:spcAft>
              <a:buClr>
                <a:schemeClr val="dk1"/>
              </a:buClr>
              <a:buSzPct val="100000"/>
              <a:buChar char="–"/>
            </a:pPr>
            <a:r>
              <a:rPr lang="fi-FI"/>
              <a:t>Termistöltään varsin teknisiä testejä</a:t>
            </a:r>
            <a:endParaRPr/>
          </a:p>
          <a:p>
            <a:pPr indent="-342900" lvl="0" marL="342900" rtl="0" algn="l">
              <a:spcBef>
                <a:spcPts val="400"/>
              </a:spcBef>
              <a:spcAft>
                <a:spcPts val="0"/>
              </a:spcAft>
              <a:buClr>
                <a:schemeClr val="dk1"/>
              </a:buClr>
              <a:buSzPct val="100000"/>
              <a:buChar char="•"/>
            </a:pPr>
            <a:r>
              <a:rPr lang="fi-FI"/>
              <a:t>Integrointitestaus</a:t>
            </a:r>
            <a:endParaRPr/>
          </a:p>
          <a:p>
            <a:pPr indent="-285750" lvl="1" marL="742950" rtl="0" algn="l">
              <a:spcBef>
                <a:spcPts val="350"/>
              </a:spcBef>
              <a:spcAft>
                <a:spcPts val="0"/>
              </a:spcAft>
              <a:buClr>
                <a:schemeClr val="dk1"/>
              </a:buClr>
              <a:buSzPct val="100000"/>
              <a:buChar char="–"/>
            </a:pPr>
            <a:r>
              <a:rPr lang="fi-FI"/>
              <a:t>Toteutuskokonaisuuksien yhteenliittäminen, rajapinnat</a:t>
            </a:r>
            <a:endParaRPr/>
          </a:p>
          <a:p>
            <a:pPr indent="-285750" lvl="1" marL="742950" rtl="0" algn="l">
              <a:spcBef>
                <a:spcPts val="350"/>
              </a:spcBef>
              <a:spcAft>
                <a:spcPts val="0"/>
              </a:spcAft>
              <a:buClr>
                <a:schemeClr val="dk1"/>
              </a:buClr>
              <a:buSzPct val="100000"/>
              <a:buChar char="–"/>
            </a:pPr>
            <a:r>
              <a:rPr lang="fi-FI"/>
              <a:t>Yhteenliitettyjen osien tarkoituksen ja toiminnallisuuden varmistaminen</a:t>
            </a:r>
            <a:endParaRPr/>
          </a:p>
          <a:p>
            <a:pPr indent="-342900" lvl="0" marL="342900" rtl="0" algn="l">
              <a:spcBef>
                <a:spcPts val="400"/>
              </a:spcBef>
              <a:spcAft>
                <a:spcPts val="0"/>
              </a:spcAft>
              <a:buClr>
                <a:schemeClr val="dk1"/>
              </a:buClr>
              <a:buSzPct val="100000"/>
              <a:buChar char="•"/>
            </a:pPr>
            <a:r>
              <a:rPr lang="fi-FI"/>
              <a:t>Järjestelmätestaus</a:t>
            </a:r>
            <a:endParaRPr/>
          </a:p>
          <a:p>
            <a:pPr indent="-285750" lvl="1" marL="742950" rtl="0" algn="l">
              <a:spcBef>
                <a:spcPts val="350"/>
              </a:spcBef>
              <a:spcAft>
                <a:spcPts val="0"/>
              </a:spcAft>
              <a:buClr>
                <a:schemeClr val="dk1"/>
              </a:buClr>
              <a:buSzPct val="100000"/>
              <a:buChar char="–"/>
            </a:pPr>
            <a:r>
              <a:rPr lang="fi-FI"/>
              <a:t>Yhteenliitetyt omat toteutetut palat todellisessa ympäristössä</a:t>
            </a:r>
            <a:endParaRPr/>
          </a:p>
          <a:p>
            <a:pPr indent="-285750" lvl="1" marL="742950" rtl="0" algn="l">
              <a:spcBef>
                <a:spcPts val="350"/>
              </a:spcBef>
              <a:spcAft>
                <a:spcPts val="0"/>
              </a:spcAft>
              <a:buClr>
                <a:schemeClr val="dk1"/>
              </a:buClr>
              <a:buSzPct val="100000"/>
              <a:buChar char="–"/>
            </a:pPr>
            <a:r>
              <a:rPr lang="fi-FI"/>
              <a:t>Tarkoitukseen sopivuus ja toiminnan oikeellisuus: käyttäjän ja muiden sidosryhmien tarpeet, käyttötapaukset käyttäjän näkökulmasta</a:t>
            </a:r>
            <a:endParaRPr/>
          </a:p>
          <a:p>
            <a:pPr indent="-342900" lvl="0" marL="342900" rtl="0" algn="l">
              <a:spcBef>
                <a:spcPts val="400"/>
              </a:spcBef>
              <a:spcAft>
                <a:spcPts val="0"/>
              </a:spcAft>
              <a:buClr>
                <a:schemeClr val="dk1"/>
              </a:buClr>
              <a:buSzPct val="100000"/>
              <a:buChar char="•"/>
            </a:pPr>
            <a:r>
              <a:rPr lang="fi-FI"/>
              <a:t>Hyväksymistestaus</a:t>
            </a:r>
            <a:endParaRPr/>
          </a:p>
          <a:p>
            <a:pPr indent="-285750" lvl="1" marL="742950" rtl="0" algn="l">
              <a:spcBef>
                <a:spcPts val="350"/>
              </a:spcBef>
              <a:spcAft>
                <a:spcPts val="0"/>
              </a:spcAft>
              <a:buClr>
                <a:schemeClr val="dk1"/>
              </a:buClr>
              <a:buSzPct val="100000"/>
              <a:buChar char="–"/>
            </a:pPr>
            <a:r>
              <a:rPr lang="fi-FI"/>
              <a:t>Kokonaisuus käyttöönoton kannalta: voidaanko tätä hyödyntää  todelliseen käyttöön</a:t>
            </a:r>
            <a:endParaRPr/>
          </a:p>
        </p:txBody>
      </p:sp>
      <p:sp>
        <p:nvSpPr>
          <p:cNvPr id="1412" name="Google Shape;1412;p79"/>
          <p:cNvSpPr/>
          <p:nvPr/>
        </p:nvSpPr>
        <p:spPr>
          <a:xfrm>
            <a:off x="6399212" y="1524000"/>
            <a:ext cx="2592388" cy="1728787"/>
          </a:xfrm>
          <a:prstGeom prst="rect">
            <a:avLst/>
          </a:prstGeom>
          <a:solidFill>
            <a:schemeClr val="lt1"/>
          </a:solidFill>
          <a:ln cap="flat" cmpd="sng" w="12700">
            <a:solidFill>
              <a:schemeClr val="accent2"/>
            </a:solidFill>
            <a:prstDash val="solid"/>
            <a:miter lim="800000"/>
            <a:headEnd len="sm" w="sm" type="none"/>
            <a:tailEnd len="sm" w="sm" type="none"/>
          </a:ln>
          <a:effectLst>
            <a:outerShdw rotWithShape="0" algn="ctr" dir="18900000" dist="107763">
              <a:schemeClr val="lt2"/>
            </a:outerShdw>
          </a:effectLst>
        </p:spPr>
        <p:txBody>
          <a:bodyPr anchorCtr="0" anchor="ctr" bIns="46800" lIns="90000" spcFirstLastPara="1" rIns="90000" wrap="square" tIns="46800">
            <a:noAutofit/>
          </a:bodyPr>
          <a:lstStyle/>
          <a:p>
            <a:pPr indent="0" lvl="0" marL="0" marR="0" rtl="0" algn="ctr">
              <a:spcBef>
                <a:spcPts val="0"/>
              </a:spcBef>
              <a:spcAft>
                <a:spcPts val="0"/>
              </a:spcAft>
              <a:buNone/>
            </a:pPr>
            <a:r>
              <a:rPr lang="fi-FI" sz="1800">
                <a:solidFill>
                  <a:schemeClr val="dk1"/>
                </a:solidFill>
                <a:latin typeface="Gill Sans"/>
                <a:ea typeface="Gill Sans"/>
                <a:cs typeface="Gill Sans"/>
                <a:sym typeface="Gill Sans"/>
              </a:rPr>
              <a:t>Tekemättä jääneet asiat moninkertaistuvat työmäärältään uusien osapuolien liittyessä mukaan.</a:t>
            </a:r>
            <a:endParaRPr/>
          </a:p>
        </p:txBody>
      </p:sp>
      <p:sp>
        <p:nvSpPr>
          <p:cNvPr id="1413" name="Google Shape;1413;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Prioriteetin merkitys testaukselle</a:t>
            </a:r>
            <a:endParaRPr/>
          </a:p>
        </p:txBody>
      </p:sp>
      <p:sp>
        <p:nvSpPr>
          <p:cNvPr id="1420" name="Google Shape;1420;p80"/>
          <p:cNvSpPr/>
          <p:nvPr/>
        </p:nvSpPr>
        <p:spPr>
          <a:xfrm>
            <a:off x="838200" y="1981200"/>
            <a:ext cx="7543800" cy="3505200"/>
          </a:xfrm>
          <a:prstGeom prst="rect">
            <a:avLst/>
          </a:prstGeom>
          <a:solidFill>
            <a:schemeClr val="accent4"/>
          </a:solidFill>
          <a:ln cap="flat" cmpd="sng" w="25400">
            <a:solidFill>
              <a:srgbClr val="B29520"/>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340"/>
              <a:buFont typeface="Times"/>
              <a:buNone/>
            </a:pPr>
            <a:r>
              <a:rPr b="1" lang="fi-FI" sz="3600">
                <a:solidFill>
                  <a:srgbClr val="000000"/>
                </a:solidFill>
                <a:latin typeface="Gill Sans"/>
                <a:ea typeface="Gill Sans"/>
                <a:cs typeface="Gill Sans"/>
                <a:sym typeface="Gill Sans"/>
              </a:rPr>
              <a:t>Priorisoi testit siten että koska tahansa lopettaessasi testauksen olet tehnyt parasta mahdollista testaustyötä aika- ja resurssirajoitteiden puitteissa. </a:t>
            </a:r>
            <a:endParaRPr/>
          </a:p>
          <a:p>
            <a:pPr indent="0" lvl="0" marL="0" marR="0" rtl="0" algn="ctr">
              <a:spcBef>
                <a:spcPts val="0"/>
              </a:spcBef>
              <a:spcAft>
                <a:spcPts val="0"/>
              </a:spcAft>
              <a:buNone/>
            </a:pPr>
            <a:r>
              <a:t/>
            </a:r>
            <a:endParaRPr b="1" sz="1400">
              <a:solidFill>
                <a:schemeClr val="lt1"/>
              </a:solidFill>
              <a:latin typeface="Gill Sans"/>
              <a:ea typeface="Gill Sans"/>
              <a:cs typeface="Gill Sans"/>
              <a:sym typeface="Gill Sans"/>
            </a:endParaRPr>
          </a:p>
        </p:txBody>
      </p:sp>
      <p:sp>
        <p:nvSpPr>
          <p:cNvPr id="1421" name="Google Shape;1421;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Harjoitus: Testitapausten priorisointi suoritusjärjestykseksi</a:t>
            </a:r>
            <a:endParaRPr/>
          </a:p>
        </p:txBody>
      </p:sp>
      <p:sp>
        <p:nvSpPr>
          <p:cNvPr id="1428" name="Google Shape;1428;p8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fi-FI"/>
              <a:t>Keskustelkaa ryhmissä:</a:t>
            </a:r>
            <a:endParaRPr/>
          </a:p>
          <a:p>
            <a:pPr indent="-285750" lvl="1" marL="742950" rtl="0" algn="l">
              <a:spcBef>
                <a:spcPts val="560"/>
              </a:spcBef>
              <a:spcAft>
                <a:spcPts val="0"/>
              </a:spcAft>
              <a:buClr>
                <a:schemeClr val="dk1"/>
              </a:buClr>
              <a:buSzPts val="2800"/>
              <a:buChar char="–"/>
            </a:pPr>
            <a:r>
              <a:rPr lang="fi-FI"/>
              <a:t>Millä perusteella merkitsette testin korkealle prioriteetille?</a:t>
            </a:r>
            <a:endParaRPr/>
          </a:p>
          <a:p>
            <a:pPr indent="-285750" lvl="1" marL="742950" rtl="0" algn="l">
              <a:spcBef>
                <a:spcPts val="560"/>
              </a:spcBef>
              <a:spcAft>
                <a:spcPts val="0"/>
              </a:spcAft>
              <a:buClr>
                <a:schemeClr val="dk1"/>
              </a:buClr>
              <a:buSzPts val="2800"/>
              <a:buChar char="–"/>
            </a:pPr>
            <a:r>
              <a:rPr lang="fi-FI"/>
              <a:t>Miten suhtaudutte toisen merkitsemään korkean prioriteetin testiin testatessanne? </a:t>
            </a:r>
            <a:endParaRPr/>
          </a:p>
        </p:txBody>
      </p:sp>
      <p:sp>
        <p:nvSpPr>
          <p:cNvPr id="1429" name="Google Shape;1429;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pic>
        <p:nvPicPr>
          <p:cNvPr descr="C:\Users\mpy\AppData\Local\Microsoft\Windows\Temporary Internet Files\Content.IE5\NK6YCGQ8\MP900439281[1].jpg" id="1430" name="Google Shape;1430;p81"/>
          <p:cNvPicPr preferRelativeResize="0"/>
          <p:nvPr/>
        </p:nvPicPr>
        <p:blipFill rotWithShape="1">
          <a:blip r:embed="rId3">
            <a:alphaModFix/>
          </a:blip>
          <a:srcRect b="0" l="0" r="0" t="0"/>
          <a:stretch/>
        </p:blipFill>
        <p:spPr>
          <a:xfrm>
            <a:off x="3923928" y="4221088"/>
            <a:ext cx="1455681" cy="2294153"/>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Mitä prioriteetti tarkoittaa?</a:t>
            </a:r>
            <a:endParaRPr/>
          </a:p>
        </p:txBody>
      </p:sp>
      <p:sp>
        <p:nvSpPr>
          <p:cNvPr id="1437" name="Google Shape;1437;p8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14300" lvl="0" marL="0" rtl="0" algn="l">
              <a:lnSpc>
                <a:spcPct val="110000"/>
              </a:lnSpc>
              <a:spcBef>
                <a:spcPts val="0"/>
              </a:spcBef>
              <a:spcAft>
                <a:spcPts val="0"/>
              </a:spcAft>
              <a:buClr>
                <a:schemeClr val="dk1"/>
              </a:buClr>
              <a:buSzPts val="1800"/>
              <a:buChar char="•"/>
            </a:pPr>
            <a:r>
              <a:rPr lang="fi-FI" sz="1800"/>
              <a:t>Prioriteetin 1 (korkein) testejä:</a:t>
            </a:r>
            <a:endParaRPr/>
          </a:p>
          <a:p>
            <a:pPr indent="-185737" lvl="1" marL="377825" rtl="0" algn="l">
              <a:lnSpc>
                <a:spcPct val="90000"/>
              </a:lnSpc>
              <a:spcBef>
                <a:spcPts val="320"/>
              </a:spcBef>
              <a:spcAft>
                <a:spcPts val="0"/>
              </a:spcAft>
              <a:buClr>
                <a:schemeClr val="dk1"/>
              </a:buClr>
              <a:buSzPts val="1600"/>
              <a:buChar char="–"/>
            </a:pPr>
            <a:r>
              <a:rPr lang="fi-FI" sz="1600"/>
              <a:t>Ajetaan usein (regressiotestausoletus)</a:t>
            </a:r>
            <a:endParaRPr/>
          </a:p>
          <a:p>
            <a:pPr indent="-185737" lvl="1" marL="377825" rtl="0" algn="l">
              <a:lnSpc>
                <a:spcPct val="90000"/>
              </a:lnSpc>
              <a:spcBef>
                <a:spcPts val="320"/>
              </a:spcBef>
              <a:spcAft>
                <a:spcPts val="0"/>
              </a:spcAft>
              <a:buClr>
                <a:schemeClr val="dk1"/>
              </a:buClr>
              <a:buSzPts val="1600"/>
              <a:buChar char="–"/>
            </a:pPr>
            <a:r>
              <a:rPr lang="fi-FI" sz="1600"/>
              <a:t>Toistetaan kaikissa tarvittavissa ympäristöissä (ympäristökattavuusoletus)</a:t>
            </a:r>
            <a:endParaRPr/>
          </a:p>
          <a:p>
            <a:pPr indent="-185737" lvl="1" marL="377825" rtl="0" algn="l">
              <a:lnSpc>
                <a:spcPct val="90000"/>
              </a:lnSpc>
              <a:spcBef>
                <a:spcPts val="320"/>
              </a:spcBef>
              <a:spcAft>
                <a:spcPts val="0"/>
              </a:spcAft>
              <a:buClr>
                <a:schemeClr val="dk1"/>
              </a:buClr>
              <a:buSzPts val="1600"/>
              <a:buChar char="–"/>
            </a:pPr>
            <a:r>
              <a:rPr lang="fi-FI" sz="1600"/>
              <a:t>Edustavat minkä tahansa toiminnallisuuden peruskäyttöä (positiivisten testien oletus)</a:t>
            </a:r>
            <a:endParaRPr/>
          </a:p>
          <a:p>
            <a:pPr indent="-185737" lvl="1" marL="377825" rtl="0" algn="l">
              <a:lnSpc>
                <a:spcPct val="90000"/>
              </a:lnSpc>
              <a:spcBef>
                <a:spcPts val="320"/>
              </a:spcBef>
              <a:spcAft>
                <a:spcPts val="0"/>
              </a:spcAft>
              <a:buClr>
                <a:schemeClr val="dk1"/>
              </a:buClr>
              <a:buSzPts val="1600"/>
              <a:buChar char="–"/>
            </a:pPr>
            <a:r>
              <a:rPr lang="fi-FI" sz="1600"/>
              <a:t>Perustuvat näkyviin ominaisuuksiin joissa näkyviä ja todennäköisiä virheitä (työmäärän hyödyntämisen teho –oletus)</a:t>
            </a:r>
            <a:endParaRPr/>
          </a:p>
          <a:p>
            <a:pPr indent="-101600" lvl="0" marL="0" rtl="0" algn="l">
              <a:lnSpc>
                <a:spcPct val="110000"/>
              </a:lnSpc>
              <a:spcBef>
                <a:spcPts val="320"/>
              </a:spcBef>
              <a:spcAft>
                <a:spcPts val="0"/>
              </a:spcAft>
              <a:buClr>
                <a:schemeClr val="dk1"/>
              </a:buClr>
              <a:buSzPts val="1600"/>
              <a:buChar char="•"/>
            </a:pPr>
            <a:r>
              <a:rPr lang="fi-FI" sz="1600"/>
              <a:t>Priorisointi vihjaa suoritusjärjestyksestä, jossa tavoitteena voi olla:</a:t>
            </a:r>
            <a:endParaRPr/>
          </a:p>
          <a:p>
            <a:pPr indent="-185737" lvl="3" marL="1141413" rtl="0" algn="l">
              <a:lnSpc>
                <a:spcPct val="90000"/>
              </a:lnSpc>
              <a:spcBef>
                <a:spcPts val="280"/>
              </a:spcBef>
              <a:spcAft>
                <a:spcPts val="0"/>
              </a:spcAft>
              <a:buClr>
                <a:schemeClr val="dk1"/>
              </a:buClr>
              <a:buSzPts val="1400"/>
              <a:buChar char="–"/>
            </a:pPr>
            <a:r>
              <a:rPr lang="fi-FI" sz="1400"/>
              <a:t>Optimointi loppukäyttäjänäkökulmasta</a:t>
            </a:r>
            <a:endParaRPr sz="1400"/>
          </a:p>
          <a:p>
            <a:pPr indent="-185737" lvl="3" marL="1141413" rtl="0" algn="l">
              <a:lnSpc>
                <a:spcPct val="90000"/>
              </a:lnSpc>
              <a:spcBef>
                <a:spcPts val="280"/>
              </a:spcBef>
              <a:spcAft>
                <a:spcPts val="0"/>
              </a:spcAft>
              <a:buClr>
                <a:schemeClr val="dk1"/>
              </a:buClr>
              <a:buSzPts val="1400"/>
              <a:buChar char="–"/>
            </a:pPr>
            <a:r>
              <a:rPr lang="fi-FI" sz="1400"/>
              <a:t>Optimointi ajoissa saatavalle palautteelle pahoista virheistä (aikataulu)</a:t>
            </a:r>
            <a:endParaRPr/>
          </a:p>
          <a:p>
            <a:pPr indent="-185737" lvl="3" marL="1141413" rtl="0" algn="l">
              <a:lnSpc>
                <a:spcPct val="90000"/>
              </a:lnSpc>
              <a:spcBef>
                <a:spcPts val="280"/>
              </a:spcBef>
              <a:spcAft>
                <a:spcPts val="0"/>
              </a:spcAft>
              <a:buClr>
                <a:schemeClr val="dk1"/>
              </a:buClr>
              <a:buSzPts val="1400"/>
              <a:buChar char="–"/>
            </a:pPr>
            <a:r>
              <a:rPr lang="fi-FI" sz="1400"/>
              <a:t>Optimointi uusintatestaukselle</a:t>
            </a:r>
            <a:endParaRPr sz="1400"/>
          </a:p>
          <a:p>
            <a:pPr indent="-185737" lvl="3" marL="1141413" rtl="0" algn="l">
              <a:lnSpc>
                <a:spcPct val="90000"/>
              </a:lnSpc>
              <a:spcBef>
                <a:spcPts val="280"/>
              </a:spcBef>
              <a:spcAft>
                <a:spcPts val="0"/>
              </a:spcAft>
              <a:buClr>
                <a:schemeClr val="dk1"/>
              </a:buClr>
              <a:buSzPts val="1400"/>
              <a:buChar char="–"/>
            </a:pPr>
            <a:r>
              <a:rPr lang="fi-FI" sz="1400"/>
              <a:t>Optimointi testien valinnalle eri ympäristöihin</a:t>
            </a:r>
            <a:endParaRPr sz="1400"/>
          </a:p>
          <a:p>
            <a:pPr indent="-185737" lvl="3" marL="1141413" rtl="0" algn="l">
              <a:lnSpc>
                <a:spcPct val="90000"/>
              </a:lnSpc>
              <a:spcBef>
                <a:spcPts val="280"/>
              </a:spcBef>
              <a:spcAft>
                <a:spcPts val="0"/>
              </a:spcAft>
              <a:buClr>
                <a:schemeClr val="dk1"/>
              </a:buClr>
              <a:buSzPts val="1400"/>
              <a:buChar char="–"/>
            </a:pPr>
            <a:r>
              <a:rPr lang="fi-FI" sz="1400"/>
              <a:t>Optimointi virheiden havaitsemiseen</a:t>
            </a:r>
            <a:endParaRPr sz="1400"/>
          </a:p>
          <a:p>
            <a:pPr indent="-185737" lvl="3" marL="1141413" rtl="0" algn="l">
              <a:lnSpc>
                <a:spcPct val="90000"/>
              </a:lnSpc>
              <a:spcBef>
                <a:spcPts val="280"/>
              </a:spcBef>
              <a:spcAft>
                <a:spcPts val="0"/>
              </a:spcAft>
              <a:buClr>
                <a:schemeClr val="dk1"/>
              </a:buClr>
              <a:buSzPts val="1400"/>
              <a:buChar char="–"/>
            </a:pPr>
            <a:r>
              <a:rPr lang="fi-FI" sz="1400"/>
              <a:t>Optimointi koodin kattamiseksi</a:t>
            </a:r>
            <a:endParaRPr sz="1400"/>
          </a:p>
          <a:p>
            <a:pPr indent="-185737" lvl="3" marL="1141413" rtl="0" algn="l">
              <a:lnSpc>
                <a:spcPct val="90000"/>
              </a:lnSpc>
              <a:spcBef>
                <a:spcPts val="280"/>
              </a:spcBef>
              <a:spcAft>
                <a:spcPts val="0"/>
              </a:spcAft>
              <a:buClr>
                <a:schemeClr val="dk1"/>
              </a:buClr>
              <a:buSzPts val="1400"/>
              <a:buChar char="–"/>
            </a:pPr>
            <a:r>
              <a:rPr lang="fi-FI" sz="1400"/>
              <a:t>Optimointi kunnian suojaamiseksi</a:t>
            </a:r>
            <a:endParaRPr sz="1400"/>
          </a:p>
          <a:p>
            <a:pPr indent="-185737" lvl="3" marL="1141413" rtl="0" algn="l">
              <a:lnSpc>
                <a:spcPct val="90000"/>
              </a:lnSpc>
              <a:spcBef>
                <a:spcPts val="280"/>
              </a:spcBef>
              <a:spcAft>
                <a:spcPts val="0"/>
              </a:spcAft>
              <a:buClr>
                <a:schemeClr val="dk1"/>
              </a:buClr>
              <a:buSzPts val="1400"/>
              <a:buChar char="–"/>
            </a:pPr>
            <a:r>
              <a:rPr lang="fi-FI" sz="1400"/>
              <a:t>Optimointi riskien kattamiseksi</a:t>
            </a:r>
            <a:endParaRPr sz="1400"/>
          </a:p>
          <a:p>
            <a:pPr indent="-185737" lvl="3" marL="1141413" rtl="0" algn="l">
              <a:lnSpc>
                <a:spcPct val="90000"/>
              </a:lnSpc>
              <a:spcBef>
                <a:spcPts val="280"/>
              </a:spcBef>
              <a:spcAft>
                <a:spcPts val="0"/>
              </a:spcAft>
              <a:buClr>
                <a:schemeClr val="dk1"/>
              </a:buClr>
              <a:buSzPts val="1400"/>
              <a:buChar char="–"/>
            </a:pPr>
            <a:r>
              <a:rPr lang="fi-FI" sz="1400"/>
              <a:t>Optimointi luotettavuuteen luottamisen kasvattamiseksi</a:t>
            </a:r>
            <a:endParaRPr sz="1400"/>
          </a:p>
          <a:p>
            <a:pPr indent="-185737" lvl="3" marL="1141413" rtl="0" algn="l">
              <a:lnSpc>
                <a:spcPct val="90000"/>
              </a:lnSpc>
              <a:spcBef>
                <a:spcPts val="280"/>
              </a:spcBef>
              <a:spcAft>
                <a:spcPts val="0"/>
              </a:spcAft>
              <a:buClr>
                <a:schemeClr val="dk1"/>
              </a:buClr>
              <a:buSzPts val="1400"/>
              <a:buChar char="–"/>
            </a:pPr>
            <a:r>
              <a:rPr lang="fi-FI" sz="1400"/>
              <a:t>Optimointi perustuen siihen millä paras mahdollisuus löytää virheitä</a:t>
            </a:r>
            <a:endParaRPr sz="1400"/>
          </a:p>
        </p:txBody>
      </p:sp>
      <p:sp>
        <p:nvSpPr>
          <p:cNvPr id="1438" name="Google Shape;1438;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grpSp>
        <p:nvGrpSpPr>
          <p:cNvPr id="1444" name="Google Shape;1444;p83"/>
          <p:cNvGrpSpPr/>
          <p:nvPr/>
        </p:nvGrpSpPr>
        <p:grpSpPr>
          <a:xfrm>
            <a:off x="1578496" y="404664"/>
            <a:ext cx="5987008" cy="1656077"/>
            <a:chOff x="0" y="3004131"/>
            <a:chExt cx="5987008" cy="287819"/>
          </a:xfrm>
        </p:grpSpPr>
        <p:sp>
          <p:nvSpPr>
            <p:cNvPr id="1445" name="Google Shape;1445;p83"/>
            <p:cNvSpPr/>
            <p:nvPr/>
          </p:nvSpPr>
          <p:spPr>
            <a:xfrm>
              <a:off x="0" y="3004131"/>
              <a:ext cx="5987008" cy="287819"/>
            </a:xfrm>
            <a:prstGeom prst="roundRect">
              <a:avLst>
                <a:gd fmla="val 16667" name="adj"/>
              </a:avLst>
            </a:prstGeom>
            <a:solidFill>
              <a:srgbClr val="767B8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83"/>
            <p:cNvSpPr/>
            <p:nvPr/>
          </p:nvSpPr>
          <p:spPr>
            <a:xfrm>
              <a:off x="14050" y="3018181"/>
              <a:ext cx="5958908" cy="259719"/>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lang="fi-FI" sz="2800">
                  <a:solidFill>
                    <a:schemeClr val="lt1"/>
                  </a:solidFill>
                  <a:latin typeface="Gill Sans"/>
                  <a:ea typeface="Gill Sans"/>
                  <a:cs typeface="Gill Sans"/>
                  <a:sym typeface="Gill Sans"/>
                </a:rPr>
                <a:t>Testaustyömaan ymmärtämisestä testitapausten tehokäyttöön</a:t>
              </a:r>
              <a:endParaRPr sz="2800">
                <a:solidFill>
                  <a:schemeClr val="lt1"/>
                </a:solidFill>
                <a:latin typeface="Gill Sans"/>
                <a:ea typeface="Gill Sans"/>
                <a:cs typeface="Gill Sans"/>
                <a:sym typeface="Gill Sans"/>
              </a:endParaRPr>
            </a:p>
          </p:txBody>
        </p:sp>
      </p:grpSp>
      <p:sp>
        <p:nvSpPr>
          <p:cNvPr id="1447" name="Google Shape;1447;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pic>
        <p:nvPicPr>
          <p:cNvPr descr="C:\Documents and Settings\mpyhajar.CONFORMIQ\Application Data\Microsoft\Media Catalog\Downloaded Clips\cl1f\j0078711.wmf" id="1448" name="Google Shape;1448;p83"/>
          <p:cNvPicPr preferRelativeResize="0"/>
          <p:nvPr/>
        </p:nvPicPr>
        <p:blipFill rotWithShape="1">
          <a:blip r:embed="rId3">
            <a:alphaModFix/>
          </a:blip>
          <a:srcRect b="0" l="0" r="0" t="0"/>
          <a:stretch/>
        </p:blipFill>
        <p:spPr>
          <a:xfrm>
            <a:off x="2714612" y="1661115"/>
            <a:ext cx="1622425" cy="3933825"/>
          </a:xfrm>
          <a:prstGeom prst="rect">
            <a:avLst/>
          </a:prstGeom>
          <a:noFill/>
          <a:ln>
            <a:noFill/>
          </a:ln>
        </p:spPr>
      </p:pic>
      <p:pic>
        <p:nvPicPr>
          <p:cNvPr descr="C:\Documents and Settings\mpyhajar.CONFORMIQ\Application Data\Microsoft\Media Catalog\Downloaded Clips\cl1f\j0078625.wmf" id="1449" name="Google Shape;1449;p83"/>
          <p:cNvPicPr preferRelativeResize="0"/>
          <p:nvPr/>
        </p:nvPicPr>
        <p:blipFill rotWithShape="1">
          <a:blip r:embed="rId4">
            <a:alphaModFix/>
          </a:blip>
          <a:srcRect b="0" l="0" r="0" t="0"/>
          <a:stretch/>
        </p:blipFill>
        <p:spPr>
          <a:xfrm>
            <a:off x="4286248" y="2375495"/>
            <a:ext cx="1295400" cy="393382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b="1" lang="fi-FI"/>
              <a:t>PÄIVÄ 1</a:t>
            </a:r>
            <a:endParaRPr/>
          </a:p>
        </p:txBody>
      </p:sp>
      <p:grpSp>
        <p:nvGrpSpPr>
          <p:cNvPr id="1455" name="Google Shape;1455;p84"/>
          <p:cNvGrpSpPr/>
          <p:nvPr/>
        </p:nvGrpSpPr>
        <p:grpSpPr>
          <a:xfrm>
            <a:off x="1475656" y="1614891"/>
            <a:ext cx="5987008" cy="4496580"/>
            <a:chOff x="0" y="14691"/>
            <a:chExt cx="5987008" cy="4496580"/>
          </a:xfrm>
        </p:grpSpPr>
        <p:sp>
          <p:nvSpPr>
            <p:cNvPr id="1456" name="Google Shape;1456;p84"/>
            <p:cNvSpPr/>
            <p:nvPr/>
          </p:nvSpPr>
          <p:spPr>
            <a:xfrm>
              <a:off x="0" y="1469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84"/>
            <p:cNvSpPr txBox="1"/>
            <p:nvPr/>
          </p:nvSpPr>
          <p:spPr>
            <a:xfrm>
              <a:off x="14050" y="2874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 testitapaukset ja testaajana toimiminen</a:t>
              </a:r>
              <a:endParaRPr sz="1200">
                <a:solidFill>
                  <a:schemeClr val="lt1"/>
                </a:solidFill>
                <a:latin typeface="Gill Sans"/>
                <a:ea typeface="Gill Sans"/>
                <a:cs typeface="Gill Sans"/>
                <a:sym typeface="Gill Sans"/>
              </a:endParaRPr>
            </a:p>
          </p:txBody>
        </p:sp>
        <p:sp>
          <p:nvSpPr>
            <p:cNvPr id="1458" name="Google Shape;1458;p84"/>
            <p:cNvSpPr/>
            <p:nvPr/>
          </p:nvSpPr>
          <p:spPr>
            <a:xfrm>
              <a:off x="0" y="30251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84"/>
            <p:cNvSpPr txBox="1"/>
            <p:nvPr/>
          </p:nvSpPr>
          <p:spPr>
            <a:xfrm>
              <a:off x="0" y="30251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Testaustyön luonne ja merkitys / testausmatematiikan perusteet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Määrittelyt testauksen pohjana / määrittelyn limupeli</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ajattelumallit / kuinka testaisin tekstikentän</a:t>
              </a:r>
              <a:endParaRPr b="0" i="0" sz="900" u="none" cap="none" strike="noStrike">
                <a:solidFill>
                  <a:schemeClr val="dk1"/>
                </a:solidFill>
                <a:latin typeface="Gill Sans"/>
                <a:ea typeface="Gill Sans"/>
                <a:cs typeface="Gill Sans"/>
                <a:sym typeface="Gill Sans"/>
              </a:endParaRPr>
            </a:p>
          </p:txBody>
        </p:sp>
        <p:sp>
          <p:nvSpPr>
            <p:cNvPr id="1460" name="Google Shape;1460;p84"/>
            <p:cNvSpPr/>
            <p:nvPr/>
          </p:nvSpPr>
          <p:spPr>
            <a:xfrm>
              <a:off x="0" y="762051"/>
              <a:ext cx="5987008" cy="287819"/>
            </a:xfrm>
            <a:prstGeom prst="roundRect">
              <a:avLst>
                <a:gd fmla="val 16667" name="adj"/>
              </a:avLst>
            </a:prstGeom>
            <a:solidFill>
              <a:srgbClr val="B32A1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84"/>
            <p:cNvSpPr txBox="1"/>
            <p:nvPr/>
          </p:nvSpPr>
          <p:spPr>
            <a:xfrm>
              <a:off x="14050" y="7761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dokumentointi</a:t>
              </a:r>
              <a:endParaRPr sz="1200">
                <a:solidFill>
                  <a:schemeClr val="lt1"/>
                </a:solidFill>
                <a:latin typeface="Gill Sans"/>
                <a:ea typeface="Gill Sans"/>
                <a:cs typeface="Gill Sans"/>
                <a:sym typeface="Gill Sans"/>
              </a:endParaRPr>
            </a:p>
          </p:txBody>
        </p:sp>
        <p:sp>
          <p:nvSpPr>
            <p:cNvPr id="1462" name="Google Shape;1462;p84"/>
            <p:cNvSpPr/>
            <p:nvPr/>
          </p:nvSpPr>
          <p:spPr>
            <a:xfrm>
              <a:off x="0" y="104987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84"/>
            <p:cNvSpPr txBox="1"/>
            <p:nvPr/>
          </p:nvSpPr>
          <p:spPr>
            <a:xfrm>
              <a:off x="0" y="104987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Oikea-aikainen dokumentointi – valmistaudu ajoissa, älä unohda uusia oppeja!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Miltä oikeat testitapaukset näyttävät?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taso FreeMind Etsi ja korvaa -toiminnolle</a:t>
              </a:r>
              <a:endParaRPr b="0" i="0" sz="900" u="none" cap="none" strike="noStrike">
                <a:solidFill>
                  <a:schemeClr val="dk1"/>
                </a:solidFill>
                <a:latin typeface="Gill Sans"/>
                <a:ea typeface="Gill Sans"/>
                <a:cs typeface="Gill Sans"/>
                <a:sym typeface="Gill Sans"/>
              </a:endParaRPr>
            </a:p>
          </p:txBody>
        </p:sp>
        <p:sp>
          <p:nvSpPr>
            <p:cNvPr id="1464" name="Google Shape;1464;p84"/>
            <p:cNvSpPr/>
            <p:nvPr/>
          </p:nvSpPr>
          <p:spPr>
            <a:xfrm>
              <a:off x="0" y="1509411"/>
              <a:ext cx="5987008" cy="287819"/>
            </a:xfrm>
            <a:prstGeom prst="roundRect">
              <a:avLst>
                <a:gd fmla="val 16667" name="adj"/>
              </a:avLst>
            </a:prstGeom>
            <a:solidFill>
              <a:srgbClr val="F3CB2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84"/>
            <p:cNvSpPr txBox="1"/>
            <p:nvPr/>
          </p:nvSpPr>
          <p:spPr>
            <a:xfrm>
              <a:off x="14050" y="152346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Regressiotestaus</a:t>
              </a:r>
              <a:endParaRPr sz="1200">
                <a:solidFill>
                  <a:schemeClr val="lt1"/>
                </a:solidFill>
                <a:latin typeface="Gill Sans"/>
                <a:ea typeface="Gill Sans"/>
                <a:cs typeface="Gill Sans"/>
                <a:sym typeface="Gill Sans"/>
              </a:endParaRPr>
            </a:p>
          </p:txBody>
        </p:sp>
        <p:sp>
          <p:nvSpPr>
            <p:cNvPr id="1466" name="Google Shape;1466;p84"/>
            <p:cNvSpPr/>
            <p:nvPr/>
          </p:nvSpPr>
          <p:spPr>
            <a:xfrm>
              <a:off x="0" y="179723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84"/>
            <p:cNvSpPr txBox="1"/>
            <p:nvPr/>
          </p:nvSpPr>
          <p:spPr>
            <a:xfrm>
              <a:off x="0" y="179723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Testaaminen vs. korjaaminen</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Toimivia regressiotestausmalleja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regressiotestien valinta annetusta testitapausmäärittelystä</a:t>
              </a:r>
              <a:endParaRPr b="0" i="0" sz="900" u="none" cap="none" strike="noStrike">
                <a:solidFill>
                  <a:schemeClr val="dk1"/>
                </a:solidFill>
                <a:latin typeface="Gill Sans"/>
                <a:ea typeface="Gill Sans"/>
                <a:cs typeface="Gill Sans"/>
                <a:sym typeface="Gill Sans"/>
              </a:endParaRPr>
            </a:p>
          </p:txBody>
        </p:sp>
        <p:sp>
          <p:nvSpPr>
            <p:cNvPr id="1468" name="Google Shape;1468;p84"/>
            <p:cNvSpPr/>
            <p:nvPr/>
          </p:nvSpPr>
          <p:spPr>
            <a:xfrm>
              <a:off x="0" y="2256771"/>
              <a:ext cx="5987008" cy="287819"/>
            </a:xfrm>
            <a:prstGeom prst="roundRect">
              <a:avLst>
                <a:gd fmla="val 16667" name="adj"/>
              </a:avLst>
            </a:prstGeom>
            <a:solidFill>
              <a:srgbClr val="ACB9D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84"/>
            <p:cNvSpPr txBox="1"/>
            <p:nvPr/>
          </p:nvSpPr>
          <p:spPr>
            <a:xfrm>
              <a:off x="14050" y="227082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Testitapausten hallinnan välinetuki</a:t>
              </a:r>
              <a:endParaRPr sz="1200">
                <a:solidFill>
                  <a:schemeClr val="lt1"/>
                </a:solidFill>
                <a:latin typeface="Gill Sans"/>
                <a:ea typeface="Gill Sans"/>
                <a:cs typeface="Gill Sans"/>
                <a:sym typeface="Gill Sans"/>
              </a:endParaRPr>
            </a:p>
          </p:txBody>
        </p:sp>
        <p:sp>
          <p:nvSpPr>
            <p:cNvPr id="1470" name="Google Shape;1470;p84"/>
            <p:cNvSpPr/>
            <p:nvPr/>
          </p:nvSpPr>
          <p:spPr>
            <a:xfrm>
              <a:off x="0" y="2544591"/>
              <a:ext cx="5987008" cy="4595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84"/>
            <p:cNvSpPr txBox="1"/>
            <p:nvPr/>
          </p:nvSpPr>
          <p:spPr>
            <a:xfrm>
              <a:off x="0" y="2544591"/>
              <a:ext cx="5987008" cy="45954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varastointi uudelleenkäyttöön ja suorituksen hallinta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Testauksen aikaiset muistiinpanot</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Kaupalliset ja avoimen lähdekoodin vaihtoehdot</a:t>
              </a:r>
              <a:endParaRPr b="0" i="0" sz="900" u="none" cap="none" strike="noStrike">
                <a:solidFill>
                  <a:schemeClr val="dk1"/>
                </a:solidFill>
                <a:latin typeface="Gill Sans"/>
                <a:ea typeface="Gill Sans"/>
                <a:cs typeface="Gill Sans"/>
                <a:sym typeface="Gill Sans"/>
              </a:endParaRPr>
            </a:p>
          </p:txBody>
        </p:sp>
        <p:sp>
          <p:nvSpPr>
            <p:cNvPr id="1472" name="Google Shape;1472;p84"/>
            <p:cNvSpPr/>
            <p:nvPr/>
          </p:nvSpPr>
          <p:spPr>
            <a:xfrm>
              <a:off x="0" y="3004131"/>
              <a:ext cx="5987008" cy="287819"/>
            </a:xfrm>
            <a:prstGeom prst="roundRect">
              <a:avLst>
                <a:gd fmla="val 16667" name="adj"/>
              </a:avLst>
            </a:prstGeom>
            <a:solidFill>
              <a:srgbClr val="767B8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84"/>
            <p:cNvSpPr txBox="1"/>
            <p:nvPr/>
          </p:nvSpPr>
          <p:spPr>
            <a:xfrm>
              <a:off x="14050" y="301818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Testaustyömaan ymmärtämisestä testitapausten tehokäyttöön</a:t>
              </a:r>
              <a:endParaRPr sz="1200">
                <a:solidFill>
                  <a:schemeClr val="lt1"/>
                </a:solidFill>
                <a:latin typeface="Gill Sans"/>
                <a:ea typeface="Gill Sans"/>
                <a:cs typeface="Gill Sans"/>
                <a:sym typeface="Gill Sans"/>
              </a:endParaRPr>
            </a:p>
          </p:txBody>
        </p:sp>
        <p:sp>
          <p:nvSpPr>
            <p:cNvPr id="1474" name="Google Shape;1474;p84"/>
            <p:cNvSpPr/>
            <p:nvPr/>
          </p:nvSpPr>
          <p:spPr>
            <a:xfrm>
              <a:off x="0" y="3291951"/>
              <a:ext cx="5987008" cy="62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84"/>
            <p:cNvSpPr txBox="1"/>
            <p:nvPr/>
          </p:nvSpPr>
          <p:spPr>
            <a:xfrm>
              <a:off x="0" y="3291951"/>
              <a:ext cx="5987008" cy="6210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Karkea osittaminen ennen yksityiskohtien suunnittelua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Testitapausten muuntelu testatessa: lisää / poista / toista / vaihda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Testaajan tekemä testaus suhteessa muuhun testaukseen (yksikkötestit, tekninen testiautomaatio)</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Harjoitus: Testitapausten priorisointi suoritusjärjestykseksi</a:t>
              </a:r>
              <a:endParaRPr b="0" i="0" sz="900" u="none" cap="none" strike="noStrike">
                <a:solidFill>
                  <a:schemeClr val="dk1"/>
                </a:solidFill>
                <a:latin typeface="Gill Sans"/>
                <a:ea typeface="Gill Sans"/>
                <a:cs typeface="Gill Sans"/>
                <a:sym typeface="Gill Sans"/>
              </a:endParaRPr>
            </a:p>
          </p:txBody>
        </p:sp>
        <p:sp>
          <p:nvSpPr>
            <p:cNvPr id="1476" name="Google Shape;1476;p84"/>
            <p:cNvSpPr/>
            <p:nvPr/>
          </p:nvSpPr>
          <p:spPr>
            <a:xfrm>
              <a:off x="0" y="391295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84"/>
            <p:cNvSpPr txBox="1"/>
            <p:nvPr/>
          </p:nvSpPr>
          <p:spPr>
            <a:xfrm>
              <a:off x="14050" y="3927001"/>
              <a:ext cx="5958908" cy="259719"/>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None/>
              </a:pPr>
              <a:r>
                <a:rPr lang="fi-FI" sz="1200">
                  <a:solidFill>
                    <a:schemeClr val="lt1"/>
                  </a:solidFill>
                  <a:latin typeface="Gill Sans"/>
                  <a:ea typeface="Gill Sans"/>
                  <a:cs typeface="Gill Sans"/>
                  <a:sym typeface="Gill Sans"/>
                </a:rPr>
                <a:t>Testitapaukset testaustyön jakamisessa useille testaajille</a:t>
              </a:r>
              <a:endParaRPr sz="1200">
                <a:solidFill>
                  <a:schemeClr val="lt1"/>
                </a:solidFill>
                <a:latin typeface="Gill Sans"/>
                <a:ea typeface="Gill Sans"/>
                <a:cs typeface="Gill Sans"/>
                <a:sym typeface="Gill Sans"/>
              </a:endParaRPr>
            </a:p>
          </p:txBody>
        </p:sp>
        <p:sp>
          <p:nvSpPr>
            <p:cNvPr id="1478" name="Google Shape;1478;p84"/>
            <p:cNvSpPr/>
            <p:nvPr/>
          </p:nvSpPr>
          <p:spPr>
            <a:xfrm>
              <a:off x="0" y="4200771"/>
              <a:ext cx="5987008" cy="31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84"/>
            <p:cNvSpPr txBox="1"/>
            <p:nvPr/>
          </p:nvSpPr>
          <p:spPr>
            <a:xfrm>
              <a:off x="0" y="4200771"/>
              <a:ext cx="5987008" cy="310500"/>
            </a:xfrm>
            <a:prstGeom prst="rect">
              <a:avLst/>
            </a:prstGeom>
            <a:noFill/>
            <a:ln>
              <a:noFill/>
            </a:ln>
          </p:spPr>
          <p:txBody>
            <a:bodyPr anchorCtr="0" anchor="t" bIns="15225" lIns="190075" spcFirstLastPara="1" rIns="85325" wrap="square" tIns="15225">
              <a:noAutofit/>
            </a:bodyPr>
            <a:lstStyle/>
            <a:p>
              <a:pPr indent="-57150" lvl="1" marL="57150" marR="0" rtl="0" algn="l">
                <a:lnSpc>
                  <a:spcPct val="90000"/>
                </a:lnSpc>
                <a:spcBef>
                  <a:spcPts val="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1: Testaustyömaan hallinta vakuutussektorin hyväksymistestauksessa</a:t>
              </a:r>
              <a:endParaRPr b="0" i="0" sz="900" u="none" cap="none" strike="noStrike">
                <a:solidFill>
                  <a:schemeClr val="dk1"/>
                </a:solidFill>
                <a:latin typeface="Gill Sans"/>
                <a:ea typeface="Gill Sans"/>
                <a:cs typeface="Gill Sans"/>
                <a:sym typeface="Gill Sans"/>
              </a:endParaRPr>
            </a:p>
            <a:p>
              <a:pPr indent="-57150" lvl="1" marL="57150" marR="0" rtl="0" algn="l">
                <a:lnSpc>
                  <a:spcPct val="90000"/>
                </a:lnSpc>
                <a:spcBef>
                  <a:spcPts val="180"/>
                </a:spcBef>
                <a:spcAft>
                  <a:spcPts val="0"/>
                </a:spcAft>
                <a:buClr>
                  <a:schemeClr val="dk1"/>
                </a:buClr>
                <a:buSzPts val="900"/>
                <a:buFont typeface="Gill Sans"/>
                <a:buChar char="•"/>
              </a:pPr>
              <a:r>
                <a:rPr b="0" i="0" lang="fi-FI" sz="900" u="none" cap="none" strike="noStrike">
                  <a:solidFill>
                    <a:schemeClr val="dk1"/>
                  </a:solidFill>
                  <a:latin typeface="Gill Sans"/>
                  <a:ea typeface="Gill Sans"/>
                  <a:cs typeface="Gill Sans"/>
                  <a:sym typeface="Gill Sans"/>
                </a:rPr>
                <a:t>Case 2: Testaustyömaan hallinta ketterässä tuotekehitystiimissä</a:t>
              </a:r>
              <a:endParaRPr b="0" i="0" sz="900" u="none" cap="none" strike="noStrike">
                <a:solidFill>
                  <a:schemeClr val="dk1"/>
                </a:solidFill>
                <a:latin typeface="Gill Sans"/>
                <a:ea typeface="Gill Sans"/>
                <a:cs typeface="Gill Sans"/>
                <a:sym typeface="Gill Sans"/>
              </a:endParaRPr>
            </a:p>
          </p:txBody>
        </p:sp>
      </p:grpSp>
      <p:sp>
        <p:nvSpPr>
          <p:cNvPr id="1480" name="Google Shape;1480;p84"/>
          <p:cNvSpPr/>
          <p:nvPr/>
        </p:nvSpPr>
        <p:spPr>
          <a:xfrm>
            <a:off x="929296" y="5680672"/>
            <a:ext cx="474352" cy="484632"/>
          </a:xfrm>
          <a:prstGeom prst="rightArrow">
            <a:avLst>
              <a:gd fmla="val 50000" name="adj1"/>
              <a:gd fmla="val 50000" name="adj2"/>
            </a:avLst>
          </a:prstGeom>
          <a:solidFill>
            <a:schemeClr val="dk1"/>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81" name="Google Shape;1481;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85"/>
          <p:cNvSpPr txBox="1"/>
          <p:nvPr/>
        </p:nvSpPr>
        <p:spPr>
          <a:xfrm>
            <a:off x="3059832" y="2780928"/>
            <a:ext cx="2853666"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6000">
                <a:solidFill>
                  <a:schemeClr val="dk1"/>
                </a:solidFill>
                <a:latin typeface="Caveat"/>
                <a:ea typeface="Caveat"/>
                <a:cs typeface="Caveat"/>
                <a:sym typeface="Caveat"/>
              </a:rPr>
              <a:t>Case 1</a:t>
            </a:r>
            <a:endParaRPr sz="6000">
              <a:solidFill>
                <a:schemeClr val="dk1"/>
              </a:solidFill>
              <a:latin typeface="Caveat"/>
              <a:ea typeface="Caveat"/>
              <a:cs typeface="Caveat"/>
              <a:sym typeface="Caveat"/>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Testitapauksen koko / plan 🡪 lab</a:t>
            </a:r>
            <a:endParaRPr/>
          </a:p>
        </p:txBody>
      </p:sp>
      <p:pic>
        <p:nvPicPr>
          <p:cNvPr id="1492" name="Google Shape;1492;p86"/>
          <p:cNvPicPr preferRelativeResize="0"/>
          <p:nvPr/>
        </p:nvPicPr>
        <p:blipFill rotWithShape="1">
          <a:blip r:embed="rId3">
            <a:alphaModFix/>
          </a:blip>
          <a:srcRect b="0" l="0" r="0" t="0"/>
          <a:stretch/>
        </p:blipFill>
        <p:spPr>
          <a:xfrm>
            <a:off x="539552" y="2033786"/>
            <a:ext cx="2876550" cy="2590800"/>
          </a:xfrm>
          <a:prstGeom prst="rect">
            <a:avLst/>
          </a:prstGeom>
          <a:noFill/>
          <a:ln>
            <a:noFill/>
          </a:ln>
        </p:spPr>
      </p:pic>
      <p:pic>
        <p:nvPicPr>
          <p:cNvPr id="1493" name="Google Shape;1493;p86"/>
          <p:cNvPicPr preferRelativeResize="0"/>
          <p:nvPr/>
        </p:nvPicPr>
        <p:blipFill rotWithShape="1">
          <a:blip r:embed="rId4">
            <a:alphaModFix/>
          </a:blip>
          <a:srcRect b="0" l="0" r="0" t="0"/>
          <a:stretch/>
        </p:blipFill>
        <p:spPr>
          <a:xfrm>
            <a:off x="3799656" y="1844824"/>
            <a:ext cx="4876800" cy="3686175"/>
          </a:xfrm>
          <a:prstGeom prst="rect">
            <a:avLst/>
          </a:prstGeom>
          <a:noFill/>
          <a:ln>
            <a:noFill/>
          </a:ln>
        </p:spPr>
      </p:pic>
      <p:sp>
        <p:nvSpPr>
          <p:cNvPr id="1494" name="Google Shape;1494;p86"/>
          <p:cNvSpPr txBox="1"/>
          <p:nvPr/>
        </p:nvSpPr>
        <p:spPr>
          <a:xfrm>
            <a:off x="539552" y="4869160"/>
            <a:ext cx="19442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1 tapaus planissa 🡪 5 labissä</a:t>
            </a:r>
            <a:endParaRPr sz="1800">
              <a:solidFill>
                <a:schemeClr val="dk1"/>
              </a:solidFill>
              <a:latin typeface="Gill Sans"/>
              <a:ea typeface="Gill Sans"/>
              <a:cs typeface="Gill Sans"/>
              <a:sym typeface="Gill Sans"/>
            </a:endParaRPr>
          </a:p>
        </p:txBody>
      </p:sp>
      <p:sp>
        <p:nvSpPr>
          <p:cNvPr id="1495" name="Google Shape;1495;p86"/>
          <p:cNvSpPr txBox="1"/>
          <p:nvPr/>
        </p:nvSpPr>
        <p:spPr>
          <a:xfrm>
            <a:off x="3923928" y="5805264"/>
            <a:ext cx="19442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1800">
                <a:solidFill>
                  <a:schemeClr val="dk1"/>
                </a:solidFill>
                <a:latin typeface="Gill Sans"/>
                <a:ea typeface="Gill Sans"/>
                <a:cs typeface="Gill Sans"/>
                <a:sym typeface="Gill Sans"/>
              </a:rPr>
              <a:t>1 tapaus planissa 🡪 1 labissä</a:t>
            </a:r>
            <a:endParaRPr sz="1800">
              <a:solidFill>
                <a:schemeClr val="dk1"/>
              </a:solidFill>
              <a:latin typeface="Gill Sans"/>
              <a:ea typeface="Gill Sans"/>
              <a:cs typeface="Gill Sans"/>
              <a:sym typeface="Gill Sans"/>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pic>
        <p:nvPicPr>
          <p:cNvPr id="1500" name="Google Shape;1500;p87"/>
          <p:cNvPicPr preferRelativeResize="0"/>
          <p:nvPr/>
        </p:nvPicPr>
        <p:blipFill rotWithShape="1">
          <a:blip r:embed="rId3">
            <a:alphaModFix/>
          </a:blip>
          <a:srcRect b="0" l="0" r="0" t="0"/>
          <a:stretch/>
        </p:blipFill>
        <p:spPr>
          <a:xfrm>
            <a:off x="107503" y="116632"/>
            <a:ext cx="4116585" cy="4968552"/>
          </a:xfrm>
          <a:prstGeom prst="rect">
            <a:avLst/>
          </a:prstGeom>
          <a:noFill/>
          <a:ln>
            <a:noFill/>
          </a:ln>
        </p:spPr>
      </p:pic>
      <p:pic>
        <p:nvPicPr>
          <p:cNvPr id="1501" name="Google Shape;1501;p87"/>
          <p:cNvPicPr preferRelativeResize="0"/>
          <p:nvPr/>
        </p:nvPicPr>
        <p:blipFill rotWithShape="1">
          <a:blip r:embed="rId4">
            <a:alphaModFix/>
          </a:blip>
          <a:srcRect b="0" l="0" r="0" t="0"/>
          <a:stretch/>
        </p:blipFill>
        <p:spPr>
          <a:xfrm>
            <a:off x="4283968" y="1340768"/>
            <a:ext cx="4577242" cy="5472608"/>
          </a:xfrm>
          <a:prstGeom prst="rect">
            <a:avLst/>
          </a:prstGeom>
          <a:noFill/>
          <a:ln>
            <a:noFill/>
          </a:ln>
        </p:spPr>
      </p:pic>
      <p:sp>
        <p:nvSpPr>
          <p:cNvPr id="1502" name="Google Shape;1502;p87"/>
          <p:cNvSpPr txBox="1"/>
          <p:nvPr>
            <p:ph type="title"/>
          </p:nvPr>
        </p:nvSpPr>
        <p:spPr>
          <a:xfrm>
            <a:off x="3779912" y="274638"/>
            <a:ext cx="4906888"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Gill Sans"/>
              <a:buNone/>
            </a:pPr>
            <a:r>
              <a:rPr lang="fi-FI" sz="2800"/>
              <a:t>Yleiskäyttöaskeleet, kahden järjestelmän esimerkit</a:t>
            </a:r>
            <a:endParaRPr sz="2800"/>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pic>
        <p:nvPicPr>
          <p:cNvPr id="1507" name="Google Shape;1507;p88"/>
          <p:cNvPicPr preferRelativeResize="0"/>
          <p:nvPr/>
        </p:nvPicPr>
        <p:blipFill rotWithShape="1">
          <a:blip r:embed="rId3">
            <a:alphaModFix/>
          </a:blip>
          <a:srcRect b="0" l="0" r="0" t="0"/>
          <a:stretch/>
        </p:blipFill>
        <p:spPr>
          <a:xfrm>
            <a:off x="26715" y="1556792"/>
            <a:ext cx="2819400" cy="4438650"/>
          </a:xfrm>
          <a:prstGeom prst="rect">
            <a:avLst/>
          </a:prstGeom>
          <a:noFill/>
          <a:ln>
            <a:noFill/>
          </a:ln>
        </p:spPr>
      </p:pic>
      <p:sp>
        <p:nvSpPr>
          <p:cNvPr id="1508" name="Google Shape;1508;p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Yleiskäyttöaskeleet, määrittelyjen uudelleenkirjoitustapa</a:t>
            </a:r>
            <a:endParaRPr/>
          </a:p>
        </p:txBody>
      </p:sp>
      <p:pic>
        <p:nvPicPr>
          <p:cNvPr id="1509" name="Google Shape;1509;p88"/>
          <p:cNvPicPr preferRelativeResize="0"/>
          <p:nvPr/>
        </p:nvPicPr>
        <p:blipFill rotWithShape="1">
          <a:blip r:embed="rId4">
            <a:alphaModFix/>
          </a:blip>
          <a:srcRect b="0" l="0" r="0" t="0"/>
          <a:stretch/>
        </p:blipFill>
        <p:spPr>
          <a:xfrm>
            <a:off x="1983025" y="1964972"/>
            <a:ext cx="3520471" cy="4348817"/>
          </a:xfrm>
          <a:prstGeom prst="rect">
            <a:avLst/>
          </a:prstGeom>
          <a:noFill/>
          <a:ln>
            <a:noFill/>
          </a:ln>
        </p:spPr>
      </p:pic>
      <p:pic>
        <p:nvPicPr>
          <p:cNvPr id="1510" name="Google Shape;1510;p88"/>
          <p:cNvPicPr preferRelativeResize="0"/>
          <p:nvPr/>
        </p:nvPicPr>
        <p:blipFill rotWithShape="1">
          <a:blip r:embed="rId5">
            <a:alphaModFix/>
          </a:blip>
          <a:srcRect b="0" l="0" r="0" t="0"/>
          <a:stretch/>
        </p:blipFill>
        <p:spPr>
          <a:xfrm>
            <a:off x="5644800" y="1956030"/>
            <a:ext cx="3463704" cy="4301083"/>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89"/>
          <p:cNvSpPr txBox="1"/>
          <p:nvPr/>
        </p:nvSpPr>
        <p:spPr>
          <a:xfrm>
            <a:off x="2915816" y="2780928"/>
            <a:ext cx="2853666"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i-FI" sz="6000">
                <a:solidFill>
                  <a:schemeClr val="dk1"/>
                </a:solidFill>
                <a:latin typeface="Caveat"/>
                <a:ea typeface="Caveat"/>
                <a:cs typeface="Caveat"/>
                <a:sym typeface="Caveat"/>
              </a:rPr>
              <a:t>Case 2</a:t>
            </a:r>
            <a:endParaRPr sz="6000">
              <a:solidFill>
                <a:schemeClr val="dk1"/>
              </a:solidFill>
              <a:latin typeface="Caveat"/>
              <a:ea typeface="Caveat"/>
              <a:cs typeface="Caveat"/>
              <a:sym typeface="Caveat"/>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Testauksen työjono</a:t>
            </a:r>
            <a:endParaRPr/>
          </a:p>
        </p:txBody>
      </p:sp>
      <p:pic>
        <p:nvPicPr>
          <p:cNvPr id="1521" name="Google Shape;1521;p90"/>
          <p:cNvPicPr preferRelativeResize="0"/>
          <p:nvPr/>
        </p:nvPicPr>
        <p:blipFill rotWithShape="1">
          <a:blip r:embed="rId3">
            <a:alphaModFix/>
          </a:blip>
          <a:srcRect b="0" l="0" r="0" t="0"/>
          <a:stretch/>
        </p:blipFill>
        <p:spPr>
          <a:xfrm>
            <a:off x="323528" y="1196752"/>
            <a:ext cx="8438488" cy="3714924"/>
          </a:xfrm>
          <a:prstGeom prst="rect">
            <a:avLst/>
          </a:prstGeom>
          <a:noFill/>
          <a:ln>
            <a:noFill/>
          </a:ln>
        </p:spPr>
      </p:pic>
      <p:pic>
        <p:nvPicPr>
          <p:cNvPr id="1522" name="Google Shape;1522;p90"/>
          <p:cNvPicPr preferRelativeResize="0"/>
          <p:nvPr/>
        </p:nvPicPr>
        <p:blipFill rotWithShape="1">
          <a:blip r:embed="rId4">
            <a:alphaModFix/>
          </a:blip>
          <a:srcRect b="0" l="0" r="0" t="0"/>
          <a:stretch/>
        </p:blipFill>
        <p:spPr>
          <a:xfrm>
            <a:off x="2123728" y="2204864"/>
            <a:ext cx="6795264" cy="4477147"/>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Kuukausisuunnittelu &amp; seuranta</a:t>
            </a:r>
            <a:endParaRPr/>
          </a:p>
        </p:txBody>
      </p:sp>
      <p:pic>
        <p:nvPicPr>
          <p:cNvPr id="1528" name="Google Shape;1528;p91"/>
          <p:cNvPicPr preferRelativeResize="0"/>
          <p:nvPr/>
        </p:nvPicPr>
        <p:blipFill rotWithShape="1">
          <a:blip r:embed="rId3">
            <a:alphaModFix/>
          </a:blip>
          <a:srcRect b="0" l="0" r="0" t="0"/>
          <a:stretch/>
        </p:blipFill>
        <p:spPr>
          <a:xfrm>
            <a:off x="539552" y="1484784"/>
            <a:ext cx="7819405" cy="5111687"/>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Gill Sans"/>
              <a:buNone/>
            </a:pPr>
            <a:r>
              <a:rPr lang="fi-FI"/>
              <a:t>Keskustelu dokumentaation tukemana</a:t>
            </a:r>
            <a:endParaRPr/>
          </a:p>
        </p:txBody>
      </p:sp>
      <p:pic>
        <p:nvPicPr>
          <p:cNvPr id="1534" name="Google Shape;1534;p92"/>
          <p:cNvPicPr preferRelativeResize="0"/>
          <p:nvPr/>
        </p:nvPicPr>
        <p:blipFill rotWithShape="1">
          <a:blip r:embed="rId3">
            <a:alphaModFix/>
          </a:blip>
          <a:srcRect b="0" l="0" r="0" t="0"/>
          <a:stretch/>
        </p:blipFill>
        <p:spPr>
          <a:xfrm>
            <a:off x="0" y="1916832"/>
            <a:ext cx="9064163" cy="3900091"/>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Tarkistuslistat</a:t>
            </a:r>
            <a:endParaRPr/>
          </a:p>
        </p:txBody>
      </p:sp>
      <p:sp>
        <p:nvSpPr>
          <p:cNvPr id="1540" name="Google Shape;1540;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pic>
        <p:nvPicPr>
          <p:cNvPr id="1541" name="Google Shape;1541;p93"/>
          <p:cNvPicPr preferRelativeResize="0"/>
          <p:nvPr/>
        </p:nvPicPr>
        <p:blipFill rotWithShape="1">
          <a:blip r:embed="rId3">
            <a:alphaModFix/>
          </a:blip>
          <a:srcRect b="0" l="0" r="0" t="0"/>
          <a:stretch/>
        </p:blipFill>
        <p:spPr>
          <a:xfrm>
            <a:off x="1259632" y="1412776"/>
            <a:ext cx="6564313" cy="46863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Gill Sans"/>
              <a:buNone/>
            </a:pPr>
            <a:r>
              <a:rPr lang="fi-FI"/>
              <a:t>Selkeät havaintoraportit</a:t>
            </a:r>
            <a:endParaRPr/>
          </a:p>
        </p:txBody>
      </p:sp>
      <p:pic>
        <p:nvPicPr>
          <p:cNvPr id="1547" name="Google Shape;1547;p94"/>
          <p:cNvPicPr preferRelativeResize="0"/>
          <p:nvPr/>
        </p:nvPicPr>
        <p:blipFill rotWithShape="1">
          <a:blip r:embed="rId3">
            <a:alphaModFix/>
          </a:blip>
          <a:srcRect b="0" l="0" r="0" t="0"/>
          <a:stretch/>
        </p:blipFill>
        <p:spPr>
          <a:xfrm>
            <a:off x="179512" y="1700808"/>
            <a:ext cx="8736141" cy="3951908"/>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grpSp>
        <p:nvGrpSpPr>
          <p:cNvPr id="1552" name="Google Shape;1552;p95"/>
          <p:cNvGrpSpPr/>
          <p:nvPr/>
        </p:nvGrpSpPr>
        <p:grpSpPr>
          <a:xfrm>
            <a:off x="1547664" y="404770"/>
            <a:ext cx="5987008" cy="1800094"/>
            <a:chOff x="0" y="3912951"/>
            <a:chExt cx="5987008" cy="287819"/>
          </a:xfrm>
        </p:grpSpPr>
        <p:sp>
          <p:nvSpPr>
            <p:cNvPr id="1553" name="Google Shape;1553;p95"/>
            <p:cNvSpPr/>
            <p:nvPr/>
          </p:nvSpPr>
          <p:spPr>
            <a:xfrm>
              <a:off x="0" y="3912951"/>
              <a:ext cx="5987008" cy="287819"/>
            </a:xfrm>
            <a:prstGeom prst="roundRect">
              <a:avLst>
                <a:gd fmla="val 16667"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95"/>
            <p:cNvSpPr/>
            <p:nvPr/>
          </p:nvSpPr>
          <p:spPr>
            <a:xfrm>
              <a:off x="14050" y="3927001"/>
              <a:ext cx="5958908" cy="259719"/>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lang="fi-FI" sz="2800">
                  <a:solidFill>
                    <a:schemeClr val="lt1"/>
                  </a:solidFill>
                  <a:latin typeface="Gill Sans"/>
                  <a:ea typeface="Gill Sans"/>
                  <a:cs typeface="Gill Sans"/>
                  <a:sym typeface="Gill Sans"/>
                </a:rPr>
                <a:t>Testitapaukset testaustyön jakamisessa useille testaajille</a:t>
              </a:r>
              <a:endParaRPr sz="2800">
                <a:solidFill>
                  <a:schemeClr val="lt1"/>
                </a:solidFill>
                <a:latin typeface="Gill Sans"/>
                <a:ea typeface="Gill Sans"/>
                <a:cs typeface="Gill Sans"/>
                <a:sym typeface="Gill Sans"/>
              </a:endParaRPr>
            </a:p>
          </p:txBody>
        </p:sp>
      </p:grpSp>
      <p:sp>
        <p:nvSpPr>
          <p:cNvPr id="1555" name="Google Shape;1555;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i-FI"/>
              <a:t>‹#›</a:t>
            </a:fld>
            <a:endParaRPr/>
          </a:p>
        </p:txBody>
      </p:sp>
      <p:pic>
        <p:nvPicPr>
          <p:cNvPr descr="C:\Documents and Settings\mpyhajar.CONFORMIQ\Application Data\Microsoft\Media Catalog\Downloaded Clips\cl1f\j0078711.wmf" id="1556" name="Google Shape;1556;p95"/>
          <p:cNvPicPr preferRelativeResize="0"/>
          <p:nvPr/>
        </p:nvPicPr>
        <p:blipFill rotWithShape="1">
          <a:blip r:embed="rId3">
            <a:alphaModFix/>
          </a:blip>
          <a:srcRect b="0" l="0" r="0" t="0"/>
          <a:stretch/>
        </p:blipFill>
        <p:spPr>
          <a:xfrm>
            <a:off x="2714612" y="1661115"/>
            <a:ext cx="1622425" cy="3933825"/>
          </a:xfrm>
          <a:prstGeom prst="rect">
            <a:avLst/>
          </a:prstGeom>
          <a:noFill/>
          <a:ln>
            <a:noFill/>
          </a:ln>
        </p:spPr>
      </p:pic>
      <p:pic>
        <p:nvPicPr>
          <p:cNvPr descr="C:\Documents and Settings\mpyhajar.CONFORMIQ\Application Data\Microsoft\Media Catalog\Downloaded Clips\cl1f\j0078625.wmf" id="1557" name="Google Shape;1557;p95"/>
          <p:cNvPicPr preferRelativeResize="0"/>
          <p:nvPr/>
        </p:nvPicPr>
        <p:blipFill rotWithShape="1">
          <a:blip r:embed="rId4">
            <a:alphaModFix/>
          </a:blip>
          <a:srcRect b="0" l="0" r="0" t="0"/>
          <a:stretch/>
        </p:blipFill>
        <p:spPr>
          <a:xfrm>
            <a:off x="4286248" y="2375495"/>
            <a:ext cx="1295400" cy="3933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teema">
  <a:themeElements>
    <a:clrScheme name="Erkkeri">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teem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2014-05-26T20:11:01Z</dcterms:created>
  <dc:creator>Pyhäjärvi Maaret</dc:creator>
</cp:coreProperties>
</file>