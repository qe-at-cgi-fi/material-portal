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Default Extension="wmf" ContentType="image/x-w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734175" cy="98679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3309" autoAdjust="0"/>
  </p:normalViewPr>
  <p:slideViewPr>
    <p:cSldViewPr>
      <p:cViewPr varScale="1">
        <p:scale>
          <a:sx n="67" d="100"/>
          <a:sy n="67" d="100"/>
        </p:scale>
        <p:origin x="-1328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4" d="100"/>
          <a:sy n="64" d="100"/>
        </p:scale>
        <p:origin x="-2490" y="-126"/>
      </p:cViewPr>
      <p:guideLst>
        <p:guide orient="horz" pos="3108"/>
        <p:guide pos="2121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notesMaster" Target="notesMasters/notesMaster1.xml"/><Relationship Id="rId12" Type="http://schemas.openxmlformats.org/officeDocument/2006/relationships/printerSettings" Target="printerSettings/printerSettings1.bin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143" cy="49339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i-FI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14474" y="0"/>
            <a:ext cx="2918143" cy="49339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A5C55B-5751-4D85-896F-91204AA783C7}" type="datetimeFigureOut">
              <a:rPr lang="en-US" smtClean="0"/>
              <a:pPr/>
              <a:t>30/05/17</a:t>
            </a:fld>
            <a:endParaRPr lang="fi-FI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00113" y="739775"/>
            <a:ext cx="4933950" cy="37004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i-FI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3418" y="4687253"/>
            <a:ext cx="5387340" cy="44405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i-F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72792"/>
            <a:ext cx="2918143" cy="49339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i-F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14474" y="9372792"/>
            <a:ext cx="2918143" cy="49339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46C0F0-CF11-4FCF-A404-2F2FF520469E}" type="slidenum">
              <a:rPr lang="fi-FI" smtClean="0"/>
              <a:pPr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2750445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i-FI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0CF697-E9C7-412C-B703-3A093BE15AC0}" type="slidenum">
              <a:rPr lang="fi-FI" smtClean="0"/>
              <a:pPr/>
              <a:t>1</a:t>
            </a:fld>
            <a:endParaRPr lang="fi-FI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i-FI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0CF697-E9C7-412C-B703-3A093BE15AC0}" type="slidenum">
              <a:rPr lang="fi-FI" smtClean="0"/>
              <a:pPr/>
              <a:t>2</a:t>
            </a:fld>
            <a:endParaRPr lang="fi-FI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i-FI" dirty="0" smtClean="0"/>
              <a:t>From committee that</a:t>
            </a:r>
            <a:r>
              <a:rPr lang="fi-FI" baseline="0" dirty="0" smtClean="0"/>
              <a:t> looks at all the cases (by-default exclusive process) to self-organized decision-making on the cases with committee giving advice on criteria (by-default inclusive process). </a:t>
            </a:r>
            <a:endParaRPr lang="fi-F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45F02B-9874-44A0-BC67-C783E6F88478}" type="slidenum">
              <a:rPr lang="fi-FI" smtClean="0"/>
              <a:pPr/>
              <a:t>3</a:t>
            </a:fld>
            <a:endParaRPr lang="fi-FI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i-FI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3AACC-7829-4723-A1E7-509BAA6ABEDE}" type="slidenum">
              <a:rPr lang="fi-FI" smtClean="0"/>
              <a:pPr/>
              <a:t>4</a:t>
            </a:fld>
            <a:endParaRPr lang="fi-FI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i-FI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0CF697-E9C7-412C-B703-3A093BE15AC0}" type="slidenum">
              <a:rPr lang="fi-FI" smtClean="0"/>
              <a:pPr/>
              <a:t>5</a:t>
            </a:fld>
            <a:endParaRPr lang="fi-FI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#1 issue with big defect databases:  I would rather be testing than doing paperwork</a:t>
            </a:r>
          </a:p>
          <a:p>
            <a:pPr lvl="1"/>
            <a:r>
              <a:rPr lang="en-US" dirty="0" smtClean="0"/>
              <a:t>Explaining in writing why a bug is relevant</a:t>
            </a:r>
          </a:p>
          <a:p>
            <a:pPr lvl="1"/>
            <a:r>
              <a:rPr lang="en-US" dirty="0" smtClean="0"/>
              <a:t>Finding out if the bug I found is known or not</a:t>
            </a:r>
            <a:endParaRPr lang="fi-FI" dirty="0" smtClean="0"/>
          </a:p>
          <a:p>
            <a:endParaRPr lang="fi-F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3AACC-7829-4723-A1E7-509BAA6ABEDE}" type="slidenum">
              <a:rPr lang="fi-FI" smtClean="0"/>
              <a:pPr/>
              <a:t>6</a:t>
            </a:fld>
            <a:endParaRPr lang="fi-FI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i-FI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0CF697-E9C7-412C-B703-3A093BE15AC0}" type="slidenum">
              <a:rPr lang="fi-FI" smtClean="0"/>
              <a:pPr/>
              <a:t>7</a:t>
            </a:fld>
            <a:endParaRPr lang="fi-FI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i-FI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0CF697-E9C7-412C-B703-3A093BE15AC0}" type="slidenum">
              <a:rPr lang="fi-FI" smtClean="0"/>
              <a:pPr/>
              <a:t>8</a:t>
            </a:fld>
            <a:endParaRPr lang="fi-FI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i-F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90F80B-00F3-431D-B31E-47D2F9301A1B}" type="slidenum">
              <a:rPr lang="fi-FI" smtClean="0"/>
              <a:pPr/>
              <a:t>9</a:t>
            </a:fld>
            <a:endParaRPr lang="fi-FI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30/05/17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30/05/17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30/05/17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30/05/17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30/05/17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30/05/17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30/05/17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30/05/17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30/05/17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30/05/17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30/05/17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30/05/17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0" y="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4" Type="http://schemas.openxmlformats.org/officeDocument/2006/relationships/image" Target="../media/image2.png"/><Relationship Id="rId5" Type="http://schemas.openxmlformats.org/officeDocument/2006/relationships/hyperlink" Target="http://creativecommons.org/licenses/by/1.0/fi/" TargetMode="External"/><Relationship Id="rId6" Type="http://schemas.openxmlformats.org/officeDocument/2006/relationships/hyperlink" Target="http://creativecommons.org/licenses/by/1.0/fi/deed.en" TargetMode="External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w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4" Type="http://schemas.openxmlformats.org/officeDocument/2006/relationships/image" Target="../media/image5.wmf"/><Relationship Id="rId5" Type="http://schemas.openxmlformats.org/officeDocument/2006/relationships/image" Target="../media/image6.wmf"/><Relationship Id="rId6" Type="http://schemas.openxmlformats.org/officeDocument/2006/relationships/image" Target="../media/image7.wmf"/><Relationship Id="rId7" Type="http://schemas.openxmlformats.org/officeDocument/2006/relationships/image" Target="../media/image8.wmf"/><Relationship Id="rId8" Type="http://schemas.openxmlformats.org/officeDocument/2006/relationships/image" Target="../media/image9.wmf"/><Relationship Id="rId9" Type="http://schemas.openxmlformats.org/officeDocument/2006/relationships/image" Target="../media/image10.wmf"/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4" Type="http://schemas.openxmlformats.org/officeDocument/2006/relationships/image" Target="../media/image12.wmf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smtClean="0"/>
              <a:t>Havaintojen kirjaaminen ja Virheiden korjaaminen</a:t>
            </a:r>
            <a:endParaRPr lang="fi-FI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i-FI" dirty="0" smtClean="0"/>
              <a:t>Asenne havaintoihin ja virheisiin, kirjausten käsittely ketterissä projekteissa</a:t>
            </a:r>
            <a:endParaRPr lang="fi-FI" dirty="0"/>
          </a:p>
        </p:txBody>
      </p:sp>
      <p:pic>
        <p:nvPicPr>
          <p:cNvPr id="8194" name="Picture 2" descr="C:\Documents and Settings\Maaret\My Documents\My Pictures\Microsoft Clip Organizer\j0288967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143504" y="428604"/>
            <a:ext cx="3312651" cy="3230564"/>
          </a:xfrm>
          <a:prstGeom prst="rect">
            <a:avLst/>
          </a:prstGeom>
          <a:noFill/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 dirty="0"/>
          </a:p>
        </p:txBody>
      </p:sp>
      <p:grpSp>
        <p:nvGrpSpPr>
          <p:cNvPr id="4" name="Group 12"/>
          <p:cNvGrpSpPr/>
          <p:nvPr/>
        </p:nvGrpSpPr>
        <p:grpSpPr>
          <a:xfrm>
            <a:off x="4876800" y="5943600"/>
            <a:ext cx="4114800" cy="685800"/>
            <a:chOff x="838200" y="5486400"/>
            <a:chExt cx="4114800" cy="685800"/>
          </a:xfrm>
        </p:grpSpPr>
        <p:sp>
          <p:nvSpPr>
            <p:cNvPr id="12" name="Rectangle 11"/>
            <p:cNvSpPr/>
            <p:nvPr/>
          </p:nvSpPr>
          <p:spPr>
            <a:xfrm>
              <a:off x="838200" y="5486400"/>
              <a:ext cx="4114800" cy="685800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i-FI"/>
            </a:p>
          </p:txBody>
        </p:sp>
        <p:pic>
          <p:nvPicPr>
            <p:cNvPr id="13" name="Picture 12" descr="88x31.png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39940" y="5638800"/>
              <a:ext cx="1117460" cy="393651"/>
            </a:xfrm>
            <a:prstGeom prst="rect">
              <a:avLst/>
            </a:prstGeom>
          </p:spPr>
        </p:pic>
        <p:sp>
          <p:nvSpPr>
            <p:cNvPr id="14" name="TextBox 13"/>
            <p:cNvSpPr txBox="1"/>
            <p:nvPr/>
          </p:nvSpPr>
          <p:spPr>
            <a:xfrm>
              <a:off x="2057400" y="5511225"/>
              <a:ext cx="28194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i-FI" sz="900" b="1" dirty="0" smtClean="0"/>
                <a:t>Erkki Pöyhönen &amp; Maaret Pyhäjärvi</a:t>
              </a:r>
            </a:p>
            <a:p>
              <a:r>
                <a:rPr lang="fi-FI" sz="900" dirty="0" smtClean="0"/>
                <a:t>Nimeä |  Attribution (Finland)</a:t>
              </a:r>
            </a:p>
            <a:p>
              <a:pPr marL="0" lvl="1"/>
              <a:r>
                <a:rPr lang="fi-FI" sz="900" dirty="0" smtClean="0">
                  <a:hlinkClick r:id="rId5"/>
                </a:rPr>
                <a:t>http://creativecommons.org/licenses/by/1.0/fi/</a:t>
              </a:r>
              <a:endParaRPr lang="fi-FI" sz="900" dirty="0" smtClean="0"/>
            </a:p>
            <a:p>
              <a:pPr marL="0" lvl="1"/>
              <a:r>
                <a:rPr lang="fi-FI" sz="900" dirty="0" smtClean="0">
                  <a:hlinkClick r:id="rId6"/>
                </a:rPr>
                <a:t>http://creativecommons.org/licenses/by/1.0/fi/deed.en</a:t>
              </a:r>
              <a:endParaRPr lang="fi-FI" sz="900" dirty="0" smtClean="0"/>
            </a:p>
          </p:txBody>
        </p:sp>
      </p:grp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i-FI" dirty="0" smtClean="0"/>
              <a:t>Ketterä havaintokirjaus ja -korjausmenettely</a:t>
            </a:r>
            <a:endParaRPr lang="fi-FI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fi-FI" dirty="0" smtClean="0"/>
              <a:t>Havainnot (virheet) pitäisi korjata saman tien löytymisen jälkeen</a:t>
            </a:r>
          </a:p>
          <a:p>
            <a:pPr lvl="1"/>
            <a:r>
              <a:rPr lang="fi-FI" dirty="0" smtClean="0"/>
              <a:t>Vanhan korjaamisella on korkeampi tärkeysaste kuin </a:t>
            </a:r>
            <a:br>
              <a:rPr lang="fi-FI" dirty="0" smtClean="0"/>
            </a:br>
            <a:r>
              <a:rPr lang="fi-FI" dirty="0" smtClean="0"/>
              <a:t>uuden kehittämisellä (pysähdy-ja-korjaa –periaate)</a:t>
            </a:r>
          </a:p>
          <a:p>
            <a:pPr lvl="1"/>
            <a:r>
              <a:rPr lang="fi-FI" dirty="0" smtClean="0"/>
              <a:t>Vältetään välivaraston rakentamista ja laatuvelkaa</a:t>
            </a:r>
          </a:p>
          <a:p>
            <a:r>
              <a:rPr lang="fi-FI" dirty="0" smtClean="0"/>
              <a:t>Päätöksenteko havainnoille: korjaa ennen julkaisua tai ei</a:t>
            </a:r>
          </a:p>
          <a:p>
            <a:pPr lvl="1"/>
            <a:r>
              <a:rPr lang="fi-FI" dirty="0" smtClean="0"/>
              <a:t>Osaa asioista ei korjata ennen julkaisua lainkaan</a:t>
            </a:r>
          </a:p>
          <a:p>
            <a:r>
              <a:rPr lang="fi-FI" dirty="0" smtClean="0"/>
              <a:t>Muutosten hallinnasta niiden mahdollistamiseen</a:t>
            </a:r>
          </a:p>
          <a:p>
            <a:pPr lvl="1"/>
            <a:r>
              <a:rPr lang="fi-FI" dirty="0" smtClean="0"/>
              <a:t>Havainnoilla myös sisäinen vaikutus (tiimin motivaatio, työn helppous) ja itseohjautuvat tiimit voivat päättää korjauksista ja etsiä neuvoja päätökseen kun tarvitaan</a:t>
            </a:r>
          </a:p>
          <a:p>
            <a:r>
              <a:rPr lang="fi-FI" dirty="0" smtClean="0"/>
              <a:t>Korjaa-ja-unohda ylittää havaintojen seurannan</a:t>
            </a:r>
          </a:p>
          <a:p>
            <a:pPr lvl="1"/>
            <a:r>
              <a:rPr lang="fi-FI" dirty="0" smtClean="0"/>
              <a:t>Ristiriitainen lisäarvo tulevalle testaukselle virhetietokannoista</a:t>
            </a:r>
          </a:p>
          <a:p>
            <a:r>
              <a:rPr lang="fi-FI" dirty="0" smtClean="0"/>
              <a:t>Lähtökohtaisesti-ulkona vaihtuu lähtökohtaisesti-sisällä prosessiin</a:t>
            </a:r>
          </a:p>
          <a:p>
            <a:pPr lvl="1"/>
            <a:r>
              <a:rPr lang="fi-FI" dirty="0" smtClean="0"/>
              <a:t>Virheet tuotannosta tälle järjestelmälle samalle aktiiviselle projektille ja niistä merkittävään osaan voi reagoida uuskehityksen rinnalla</a:t>
            </a:r>
          </a:p>
        </p:txBody>
      </p:sp>
      <p:pic>
        <p:nvPicPr>
          <p:cNvPr id="1026" name="Picture 2" descr="C:\Documents and Settings\Maaret\My Documents\My Pictures\Microsoft Clip Organizer\j0287567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314202" y="1828800"/>
            <a:ext cx="1832029" cy="1483517"/>
          </a:xfrm>
          <a:prstGeom prst="rect">
            <a:avLst/>
          </a:prstGeom>
          <a:noFill/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285720" y="2000240"/>
            <a:ext cx="8501122" cy="2214578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 anchorCtr="0"/>
          <a:lstStyle/>
          <a:p>
            <a:r>
              <a:rPr lang="en-GB" dirty="0" err="1" smtClean="0"/>
              <a:t>Ei-ketterä</a:t>
            </a:r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285720" y="4429132"/>
            <a:ext cx="8501122" cy="221457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t" anchorCtr="0"/>
          <a:lstStyle/>
          <a:p>
            <a:r>
              <a:rPr lang="en-GB" dirty="0" err="1" smtClean="0"/>
              <a:t>Ketterä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 smtClean="0"/>
              <a:t>Havaintojen</a:t>
            </a:r>
            <a:r>
              <a:rPr lang="en-GB" dirty="0" smtClean="0"/>
              <a:t> </a:t>
            </a:r>
            <a:r>
              <a:rPr lang="en-GB" dirty="0" err="1" smtClean="0"/>
              <a:t>käsittelyn</a:t>
            </a:r>
            <a:r>
              <a:rPr lang="en-GB" dirty="0" smtClean="0"/>
              <a:t> </a:t>
            </a:r>
            <a:r>
              <a:rPr lang="en-GB" dirty="0" err="1" smtClean="0"/>
              <a:t>prosessi</a:t>
            </a:r>
            <a:endParaRPr lang="en-US" dirty="0"/>
          </a:p>
        </p:txBody>
      </p:sp>
      <p:grpSp>
        <p:nvGrpSpPr>
          <p:cNvPr id="2" name="Group 11"/>
          <p:cNvGrpSpPr/>
          <p:nvPr/>
        </p:nvGrpSpPr>
        <p:grpSpPr>
          <a:xfrm rot="16200000">
            <a:off x="2939004" y="990029"/>
            <a:ext cx="1694355" cy="4143404"/>
            <a:chOff x="2591891" y="1844913"/>
            <a:chExt cx="3960217" cy="3168174"/>
          </a:xfrm>
        </p:grpSpPr>
        <p:sp>
          <p:nvSpPr>
            <p:cNvPr id="13" name=" 3"/>
            <p:cNvSpPr/>
            <p:nvPr/>
          </p:nvSpPr>
          <p:spPr>
            <a:xfrm>
              <a:off x="2591891" y="1844913"/>
              <a:ext cx="3960217" cy="3168174"/>
            </a:xfrm>
            <a:prstGeom prst="funnel">
              <a:avLst/>
            </a:prstGeom>
          </p:spPr>
          <p:style>
            <a:lnRef idx="1">
              <a:schemeClr val="accent2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4" name="Oval 13"/>
            <p:cNvSpPr/>
            <p:nvPr/>
          </p:nvSpPr>
          <p:spPr>
            <a:xfrm>
              <a:off x="2747473" y="1899537"/>
              <a:ext cx="3649057" cy="1474840"/>
            </a:xfrm>
            <a:prstGeom prst="ellipse">
              <a:avLst/>
            </a:prstGeom>
          </p:spPr>
          <p:style>
            <a:lnRef idx="0">
              <a:schemeClr val="accent2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50000"/>
                <a:alpha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50000"/>
                <a:alpha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</p:grpSp>
      <p:sp>
        <p:nvSpPr>
          <p:cNvPr id="17" name="Oval 16"/>
          <p:cNvSpPr/>
          <p:nvPr/>
        </p:nvSpPr>
        <p:spPr>
          <a:xfrm>
            <a:off x="1142976" y="2285992"/>
            <a:ext cx="500066" cy="5000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#</a:t>
            </a:r>
            <a:endParaRPr lang="en-US" dirty="0"/>
          </a:p>
        </p:txBody>
      </p:sp>
      <p:sp>
        <p:nvSpPr>
          <p:cNvPr id="19" name="Oval 18"/>
          <p:cNvSpPr/>
          <p:nvPr/>
        </p:nvSpPr>
        <p:spPr>
          <a:xfrm>
            <a:off x="785786" y="2786058"/>
            <a:ext cx="500066" cy="5000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#</a:t>
            </a:r>
            <a:endParaRPr lang="en-US" dirty="0"/>
          </a:p>
        </p:txBody>
      </p:sp>
      <p:sp>
        <p:nvSpPr>
          <p:cNvPr id="20" name="Oval 19"/>
          <p:cNvSpPr/>
          <p:nvPr/>
        </p:nvSpPr>
        <p:spPr>
          <a:xfrm>
            <a:off x="1214414" y="3357562"/>
            <a:ext cx="500066" cy="5000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#</a:t>
            </a:r>
            <a:endParaRPr lang="en-US" dirty="0"/>
          </a:p>
        </p:txBody>
      </p:sp>
      <p:sp>
        <p:nvSpPr>
          <p:cNvPr id="22" name="Right Arrow 21"/>
          <p:cNvSpPr/>
          <p:nvPr/>
        </p:nvSpPr>
        <p:spPr>
          <a:xfrm>
            <a:off x="1571604" y="2857496"/>
            <a:ext cx="714380" cy="42862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/>
          <p:cNvSpPr/>
          <p:nvPr/>
        </p:nvSpPr>
        <p:spPr>
          <a:xfrm>
            <a:off x="6000760" y="2857496"/>
            <a:ext cx="500066" cy="5000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#</a:t>
            </a:r>
            <a:endParaRPr lang="en-US" dirty="0"/>
          </a:p>
        </p:txBody>
      </p:sp>
      <p:sp>
        <p:nvSpPr>
          <p:cNvPr id="24" name="Oval 23"/>
          <p:cNvSpPr/>
          <p:nvPr/>
        </p:nvSpPr>
        <p:spPr>
          <a:xfrm>
            <a:off x="714348" y="5000636"/>
            <a:ext cx="500066" cy="500066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#</a:t>
            </a:r>
            <a:endParaRPr lang="en-US" dirty="0"/>
          </a:p>
        </p:txBody>
      </p:sp>
      <p:pic>
        <p:nvPicPr>
          <p:cNvPr id="1028" name="Picture 4" descr="C:\Documents and Settings\pyhama\My Documents\My Pictures\Microsoft Clip Organizer\j0417574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22218" y="174114"/>
            <a:ext cx="178007" cy="172439"/>
          </a:xfrm>
          <a:prstGeom prst="rect">
            <a:avLst/>
          </a:prstGeom>
          <a:noFill/>
        </p:spPr>
      </p:pic>
      <p:pic>
        <p:nvPicPr>
          <p:cNvPr id="1030" name="Picture 6" descr="C:\Documents and Settings\pyhama\My Documents\My Pictures\Microsoft Clip Organizer\j0417564.wm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428728" y="4500570"/>
            <a:ext cx="523892" cy="519753"/>
          </a:xfrm>
          <a:prstGeom prst="rect">
            <a:avLst/>
          </a:prstGeom>
          <a:noFill/>
        </p:spPr>
      </p:pic>
      <p:pic>
        <p:nvPicPr>
          <p:cNvPr id="1031" name="Picture 7" descr="C:\Documents and Settings\pyhama\My Documents\My Pictures\Microsoft Clip Organizer\j0417560.wmf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643174" y="6138906"/>
            <a:ext cx="440490" cy="433366"/>
          </a:xfrm>
          <a:prstGeom prst="rect">
            <a:avLst/>
          </a:prstGeom>
          <a:noFill/>
        </p:spPr>
      </p:pic>
      <p:sp>
        <p:nvSpPr>
          <p:cNvPr id="31" name="Oval 30"/>
          <p:cNvSpPr/>
          <p:nvPr/>
        </p:nvSpPr>
        <p:spPr>
          <a:xfrm>
            <a:off x="1000100" y="5929330"/>
            <a:ext cx="500066" cy="500066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#</a:t>
            </a:r>
            <a:endParaRPr lang="en-US" dirty="0"/>
          </a:p>
        </p:txBody>
      </p:sp>
      <p:sp>
        <p:nvSpPr>
          <p:cNvPr id="32" name="Oval 31"/>
          <p:cNvSpPr/>
          <p:nvPr/>
        </p:nvSpPr>
        <p:spPr>
          <a:xfrm>
            <a:off x="1428728" y="5429264"/>
            <a:ext cx="500066" cy="5000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#</a:t>
            </a:r>
            <a:endParaRPr lang="en-US" dirty="0"/>
          </a:p>
        </p:txBody>
      </p:sp>
      <p:pic>
        <p:nvPicPr>
          <p:cNvPr id="33" name="Picture 6" descr="C:\Documents and Settings\pyhama\My Documents\My Pictures\Microsoft Clip Organizer\j0417564.wm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429388" y="2143116"/>
            <a:ext cx="523892" cy="519753"/>
          </a:xfrm>
          <a:prstGeom prst="rect">
            <a:avLst/>
          </a:prstGeom>
          <a:noFill/>
        </p:spPr>
      </p:pic>
      <p:cxnSp>
        <p:nvCxnSpPr>
          <p:cNvPr id="35" name="Elbow Connector 34"/>
          <p:cNvCxnSpPr>
            <a:stCxn id="24" idx="6"/>
            <a:endCxn id="1030" idx="1"/>
          </p:cNvCxnSpPr>
          <p:nvPr/>
        </p:nvCxnSpPr>
        <p:spPr>
          <a:xfrm flipV="1">
            <a:off x="1214414" y="4760447"/>
            <a:ext cx="214314" cy="490222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Elbow Connector 36"/>
          <p:cNvCxnSpPr>
            <a:stCxn id="31" idx="6"/>
            <a:endCxn id="1031" idx="1"/>
          </p:cNvCxnSpPr>
          <p:nvPr/>
        </p:nvCxnSpPr>
        <p:spPr>
          <a:xfrm>
            <a:off x="1500166" y="6179363"/>
            <a:ext cx="1143008" cy="176226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8" name="Picture 2" descr="C:\Documents and Settings\pyhama\My Documents\My Pictures\Microsoft Clip Organizer\j0417566.wmf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357422" y="1214422"/>
            <a:ext cx="433787" cy="451157"/>
          </a:xfrm>
          <a:prstGeom prst="rect">
            <a:avLst/>
          </a:prstGeom>
          <a:noFill/>
        </p:spPr>
      </p:pic>
      <p:pic>
        <p:nvPicPr>
          <p:cNvPr id="39" name="Picture 3" descr="C:\Documents and Settings\pyhama\My Documents\My Pictures\Microsoft Clip Organizer\j0417576.wmf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2357422" y="1712174"/>
            <a:ext cx="500075" cy="503907"/>
          </a:xfrm>
          <a:prstGeom prst="rect">
            <a:avLst/>
          </a:prstGeom>
          <a:noFill/>
        </p:spPr>
      </p:pic>
      <p:pic>
        <p:nvPicPr>
          <p:cNvPr id="40" name="Picture 5" descr="C:\Documents and Settings\pyhama\My Documents\My Pictures\Microsoft Clip Organizer\j0417568.wmf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2857488" y="1404512"/>
            <a:ext cx="428628" cy="500897"/>
          </a:xfrm>
          <a:prstGeom prst="rect">
            <a:avLst/>
          </a:prstGeom>
          <a:noFill/>
        </p:spPr>
      </p:pic>
      <p:pic>
        <p:nvPicPr>
          <p:cNvPr id="41" name="Picture 2" descr="C:\Documents and Settings\pyhama\My Documents\My Pictures\Microsoft Clip Organizer\j0417566.wmf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072066" y="4643446"/>
            <a:ext cx="433787" cy="451157"/>
          </a:xfrm>
          <a:prstGeom prst="rect">
            <a:avLst/>
          </a:prstGeom>
          <a:noFill/>
        </p:spPr>
      </p:pic>
      <p:pic>
        <p:nvPicPr>
          <p:cNvPr id="42" name="Picture 3" descr="C:\Documents and Settings\pyhama\My Documents\My Pictures\Microsoft Clip Organizer\j0417576.wmf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5072066" y="5141198"/>
            <a:ext cx="500075" cy="503907"/>
          </a:xfrm>
          <a:prstGeom prst="rect">
            <a:avLst/>
          </a:prstGeom>
          <a:noFill/>
        </p:spPr>
      </p:pic>
      <p:pic>
        <p:nvPicPr>
          <p:cNvPr id="43" name="Picture 5" descr="C:\Documents and Settings\pyhama\My Documents\My Pictures\Microsoft Clip Organizer\j0417568.wmf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5572132" y="4833536"/>
            <a:ext cx="428628" cy="500897"/>
          </a:xfrm>
          <a:prstGeom prst="rect">
            <a:avLst/>
          </a:prstGeom>
          <a:noFill/>
        </p:spPr>
      </p:pic>
      <p:pic>
        <p:nvPicPr>
          <p:cNvPr id="44" name="Picture 6" descr="C:\Documents and Settings\pyhama\My Documents\My Pictures\Microsoft Clip Organizer\j0417564.wm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928794" y="1428736"/>
            <a:ext cx="523892" cy="519753"/>
          </a:xfrm>
          <a:prstGeom prst="rect">
            <a:avLst/>
          </a:prstGeom>
          <a:noFill/>
        </p:spPr>
      </p:pic>
      <p:pic>
        <p:nvPicPr>
          <p:cNvPr id="45" name="Picture 6" descr="C:\Documents and Settings\pyhama\My Documents\My Pictures\Microsoft Clip Organizer\j0417564.wm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572000" y="4857760"/>
            <a:ext cx="523892" cy="519753"/>
          </a:xfrm>
          <a:prstGeom prst="rect">
            <a:avLst/>
          </a:prstGeom>
          <a:noFill/>
        </p:spPr>
      </p:pic>
      <p:pic>
        <p:nvPicPr>
          <p:cNvPr id="46" name="Picture 3" descr="C:\Documents and Settings\pyhama\My Documents\My Pictures\Microsoft Clip Organizer\j0417576.wmf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143231" y="5141198"/>
            <a:ext cx="500075" cy="503907"/>
          </a:xfrm>
          <a:prstGeom prst="rect">
            <a:avLst/>
          </a:prstGeom>
          <a:noFill/>
        </p:spPr>
      </p:pic>
      <p:pic>
        <p:nvPicPr>
          <p:cNvPr id="47" name="Picture 6" descr="C:\Documents and Settings\pyhama\My Documents\My Pictures\Microsoft Clip Organizer\j0417564.wm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714603" y="4857760"/>
            <a:ext cx="523892" cy="519753"/>
          </a:xfrm>
          <a:prstGeom prst="rect">
            <a:avLst/>
          </a:prstGeom>
          <a:noFill/>
        </p:spPr>
      </p:pic>
      <p:sp>
        <p:nvSpPr>
          <p:cNvPr id="48" name="Oval 47"/>
          <p:cNvSpPr/>
          <p:nvPr/>
        </p:nvSpPr>
        <p:spPr>
          <a:xfrm>
            <a:off x="1928794" y="4929198"/>
            <a:ext cx="500066" cy="500066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#</a:t>
            </a:r>
            <a:endParaRPr lang="en-US" dirty="0"/>
          </a:p>
        </p:txBody>
      </p:sp>
      <p:cxnSp>
        <p:nvCxnSpPr>
          <p:cNvPr id="50" name="Elbow Connector 49"/>
          <p:cNvCxnSpPr>
            <a:stCxn id="48" idx="6"/>
            <a:endCxn id="47" idx="1"/>
          </p:cNvCxnSpPr>
          <p:nvPr/>
        </p:nvCxnSpPr>
        <p:spPr>
          <a:xfrm flipV="1">
            <a:off x="2428860" y="5117637"/>
            <a:ext cx="285743" cy="61594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Elbow Connector 52"/>
          <p:cNvCxnSpPr>
            <a:stCxn id="32" idx="6"/>
            <a:endCxn id="46" idx="1"/>
          </p:cNvCxnSpPr>
          <p:nvPr/>
        </p:nvCxnSpPr>
        <p:spPr>
          <a:xfrm flipV="1">
            <a:off x="1928794" y="5393152"/>
            <a:ext cx="1214437" cy="286145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hape 54"/>
          <p:cNvCxnSpPr>
            <a:stCxn id="46" idx="0"/>
            <a:endCxn id="45" idx="1"/>
          </p:cNvCxnSpPr>
          <p:nvPr/>
        </p:nvCxnSpPr>
        <p:spPr>
          <a:xfrm rot="5400000" flipH="1" flipV="1">
            <a:off x="3970854" y="4540053"/>
            <a:ext cx="23561" cy="1178731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2714612" y="1071546"/>
            <a:ext cx="1552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 smtClean="0"/>
              <a:t>muutosraati</a:t>
            </a:r>
            <a:endParaRPr lang="en-US" dirty="0"/>
          </a:p>
        </p:txBody>
      </p:sp>
      <p:sp>
        <p:nvSpPr>
          <p:cNvPr id="57" name="TextBox 56"/>
          <p:cNvSpPr txBox="1"/>
          <p:nvPr/>
        </p:nvSpPr>
        <p:spPr>
          <a:xfrm>
            <a:off x="4114800" y="4343400"/>
            <a:ext cx="1295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 smtClean="0"/>
              <a:t>Muutos-neuvosto</a:t>
            </a:r>
            <a:endParaRPr lang="en-US" dirty="0"/>
          </a:p>
        </p:txBody>
      </p:sp>
      <p:sp>
        <p:nvSpPr>
          <p:cNvPr id="58" name="TextBox 57"/>
          <p:cNvSpPr txBox="1"/>
          <p:nvPr/>
        </p:nvSpPr>
        <p:spPr>
          <a:xfrm>
            <a:off x="5072066" y="5867400"/>
            <a:ext cx="35719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 smtClean="0">
                <a:latin typeface="Algerian" pitchFamily="82" charset="0"/>
              </a:rPr>
              <a:t>ITSEOHJAUTUVA </a:t>
            </a:r>
            <a:r>
              <a:rPr lang="en-GB" dirty="0" err="1" smtClean="0">
                <a:latin typeface="Algerian" pitchFamily="82" charset="0"/>
              </a:rPr>
              <a:t>Työn</a:t>
            </a:r>
            <a:r>
              <a:rPr lang="en-GB" dirty="0" smtClean="0">
                <a:latin typeface="Algerian" pitchFamily="82" charset="0"/>
              </a:rPr>
              <a:t> </a:t>
            </a:r>
            <a:r>
              <a:rPr lang="en-GB" dirty="0" err="1" smtClean="0">
                <a:latin typeface="Algerian" pitchFamily="82" charset="0"/>
              </a:rPr>
              <a:t>säännöstely</a:t>
            </a:r>
            <a:r>
              <a:rPr lang="en-GB" dirty="0" smtClean="0">
                <a:latin typeface="Algerian" pitchFamily="82" charset="0"/>
              </a:rPr>
              <a:t> (triage)</a:t>
            </a:r>
            <a:endParaRPr lang="en-US" dirty="0">
              <a:latin typeface="Algerian" pitchFamily="82" charset="0"/>
            </a:endParaRPr>
          </a:p>
        </p:txBody>
      </p:sp>
      <p:sp>
        <p:nvSpPr>
          <p:cNvPr id="61" name="Oval 60"/>
          <p:cNvSpPr/>
          <p:nvPr/>
        </p:nvSpPr>
        <p:spPr>
          <a:xfrm>
            <a:off x="6929454" y="4786322"/>
            <a:ext cx="500066" cy="5000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#</a:t>
            </a:r>
            <a:endParaRPr lang="en-US" dirty="0"/>
          </a:p>
        </p:txBody>
      </p:sp>
      <p:grpSp>
        <p:nvGrpSpPr>
          <p:cNvPr id="3" name="Group 63"/>
          <p:cNvGrpSpPr/>
          <p:nvPr/>
        </p:nvGrpSpPr>
        <p:grpSpPr>
          <a:xfrm rot="16200000">
            <a:off x="6189433" y="4669087"/>
            <a:ext cx="489433" cy="723902"/>
            <a:chOff x="2591891" y="1844913"/>
            <a:chExt cx="3960217" cy="3168174"/>
          </a:xfrm>
        </p:grpSpPr>
        <p:sp>
          <p:nvSpPr>
            <p:cNvPr id="65" name=" 3"/>
            <p:cNvSpPr/>
            <p:nvPr/>
          </p:nvSpPr>
          <p:spPr>
            <a:xfrm>
              <a:off x="2591891" y="1844913"/>
              <a:ext cx="3960217" cy="3168174"/>
            </a:xfrm>
            <a:prstGeom prst="funnel">
              <a:avLst/>
            </a:prstGeom>
          </p:spPr>
          <p:style>
            <a:lnRef idx="1">
              <a:schemeClr val="accent2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66" name="Oval 65"/>
            <p:cNvSpPr/>
            <p:nvPr/>
          </p:nvSpPr>
          <p:spPr>
            <a:xfrm>
              <a:off x="2747473" y="1899537"/>
              <a:ext cx="3649057" cy="1474840"/>
            </a:xfrm>
            <a:prstGeom prst="ellipse">
              <a:avLst/>
            </a:prstGeom>
          </p:spPr>
          <p:style>
            <a:lnRef idx="0">
              <a:schemeClr val="accent2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50000"/>
                <a:alpha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50000"/>
                <a:alpha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</p:grpSp>
      <p:pic>
        <p:nvPicPr>
          <p:cNvPr id="1032" name="Picture 8" descr="C:\Documents and Settings\pyhama\My Documents\My Pictures\Microsoft Clip Organizer\j0417556.wmf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4643438" y="5429264"/>
            <a:ext cx="412750" cy="486999"/>
          </a:xfrm>
          <a:prstGeom prst="rect">
            <a:avLst/>
          </a:prstGeom>
          <a:noFill/>
        </p:spPr>
      </p:pic>
      <p:pic>
        <p:nvPicPr>
          <p:cNvPr id="68" name="Picture 8" descr="C:\Documents and Settings\pyhama\My Documents\My Pictures\Microsoft Clip Organizer\j0417556.wmf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1500166" y="1500174"/>
            <a:ext cx="412750" cy="486999"/>
          </a:xfrm>
          <a:prstGeom prst="rect">
            <a:avLst/>
          </a:prstGeom>
          <a:noFill/>
        </p:spPr>
      </p:pic>
      <p:pic>
        <p:nvPicPr>
          <p:cNvPr id="69" name="Picture 6" descr="C:\Documents and Settings\pyhama\My Documents\My Pictures\Microsoft Clip Organizer\j0417564.wm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500958" y="4572008"/>
            <a:ext cx="523892" cy="519753"/>
          </a:xfrm>
          <a:prstGeom prst="rect">
            <a:avLst/>
          </a:prstGeom>
          <a:noFill/>
        </p:spPr>
      </p:pic>
      <p:cxnSp>
        <p:nvCxnSpPr>
          <p:cNvPr id="51" name="Straight Arrow Connector 50"/>
          <p:cNvCxnSpPr/>
          <p:nvPr/>
        </p:nvCxnSpPr>
        <p:spPr>
          <a:xfrm>
            <a:off x="5214942" y="1643050"/>
            <a:ext cx="285752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6786578" y="1295400"/>
            <a:ext cx="13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 err="1" smtClean="0"/>
              <a:t>Aika</a:t>
            </a:r>
            <a:endParaRPr lang="en-US" dirty="0"/>
          </a:p>
        </p:txBody>
      </p:sp>
      <p:sp>
        <p:nvSpPr>
          <p:cNvPr id="49" name="Slide Number Placeholder 4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i-FI" dirty="0" smtClean="0"/>
              <a:t>Virhekorjausten myymisasenne ketterissä menetelmissä</a:t>
            </a:r>
            <a:endParaRPr lang="fi-FI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fi-FI" sz="2000" dirty="0" smtClean="0"/>
              <a:t>Virhekorjausten myymisasenne on virheen ja korjauksen merkityksen parempaa ymmärrystä</a:t>
            </a:r>
          </a:p>
          <a:p>
            <a:r>
              <a:rPr lang="fi-FI" sz="2000" dirty="0" smtClean="0"/>
              <a:t>Testaajan tulisi lisätä tietoisuutta tunnetuista avoimista asioista ja auttaa tekemään niiden korjausten suhteen oikeita valintoja</a:t>
            </a:r>
          </a:p>
          <a:p>
            <a:r>
              <a:rPr lang="fi-FI" sz="2000" dirty="0" smtClean="0"/>
              <a:t>Ketteryys sisältää idean korjauksesta </a:t>
            </a:r>
            <a:r>
              <a:rPr lang="fi-FI" sz="2000" i="1" dirty="0" smtClean="0"/>
              <a:t>nyt heti</a:t>
            </a:r>
            <a:r>
              <a:rPr lang="fi-FI" sz="2000" dirty="0" smtClean="0"/>
              <a:t> jos korjaus yleensäkään tarvitaan</a:t>
            </a:r>
          </a:p>
          <a:p>
            <a:r>
              <a:rPr lang="fi-FI" sz="2000" dirty="0" smtClean="0"/>
              <a:t>Korjausten viivästäminen myöhempään lisää kustannuksia: </a:t>
            </a:r>
            <a:r>
              <a:rPr lang="fi-FI" sz="2000" i="1" dirty="0" smtClean="0"/>
              <a:t>laatuvelalla</a:t>
            </a:r>
            <a:r>
              <a:rPr lang="fi-FI" sz="2000" dirty="0" smtClean="0"/>
              <a:t> on korko</a:t>
            </a:r>
          </a:p>
          <a:p>
            <a:pPr lvl="1"/>
            <a:r>
              <a:rPr lang="fi-FI" sz="2000" dirty="0" smtClean="0"/>
              <a:t>Epävarmuus aikatauluissa</a:t>
            </a:r>
          </a:p>
          <a:p>
            <a:pPr lvl="1"/>
            <a:r>
              <a:rPr lang="fi-FI" sz="2000" dirty="0" smtClean="0"/>
              <a:t>Hitaampi testauksen </a:t>
            </a:r>
            <a:br>
              <a:rPr lang="fi-FI" sz="2000" dirty="0" smtClean="0"/>
            </a:br>
            <a:r>
              <a:rPr lang="fi-FI" sz="2000" dirty="0" smtClean="0"/>
              <a:t>eteneminen (vältellen samojen </a:t>
            </a:r>
            <a:br>
              <a:rPr lang="fi-FI" sz="2000" dirty="0" smtClean="0"/>
            </a:br>
            <a:r>
              <a:rPr lang="fi-FI" sz="2000" dirty="0" smtClean="0"/>
              <a:t>havaintojen uudelleen raportointia)</a:t>
            </a:r>
          </a:p>
          <a:p>
            <a:pPr lvl="1"/>
            <a:r>
              <a:rPr lang="fi-FI" sz="2000" dirty="0" smtClean="0"/>
              <a:t>...</a:t>
            </a:r>
            <a:endParaRPr lang="fi-FI" sz="2000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4294967295"/>
          </p:nvPr>
        </p:nvSpPr>
        <p:spPr>
          <a:xfrm>
            <a:off x="5105400" y="4419600"/>
            <a:ext cx="3886200" cy="2133600"/>
          </a:xfr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ctr">
              <a:buNone/>
            </a:pPr>
            <a:r>
              <a:rPr lang="fi-FI" sz="1800" b="1" dirty="0" smtClean="0"/>
              <a:t>ODOTUKSIA TIIMIN JÄSENELLE TESTAUSPAINOTUKSIN</a:t>
            </a:r>
          </a:p>
          <a:p>
            <a:pPr>
              <a:buAutoNum type="arabicPeriod"/>
            </a:pPr>
            <a:r>
              <a:rPr lang="fi-FI" sz="1800" dirty="0" smtClean="0"/>
              <a:t>Puhu sidosryhmien puolesta tarpeista virhekorjauksen sisällyttämiselle</a:t>
            </a:r>
          </a:p>
          <a:p>
            <a:pPr>
              <a:buAutoNum type="arabicPeriod"/>
            </a:pPr>
            <a:r>
              <a:rPr lang="fi-FI" sz="1800" dirty="0" smtClean="0"/>
              <a:t>Korosta pysähdy-ja-korjaa -periaatetta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smtClean="0"/>
              <a:t>Pysähdy-ja-korjaa korostaminen</a:t>
            </a:r>
            <a:endParaRPr lang="fi-FI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i-FI" dirty="0" smtClean="0"/>
              <a:t>Käytä visuaalista hallintamenettelyä</a:t>
            </a:r>
          </a:p>
          <a:p>
            <a:pPr lvl="1"/>
            <a:r>
              <a:rPr lang="fi-FI" dirty="0" smtClean="0"/>
              <a:t>Värillisiä tehtäväkortteja tehtävätaululla</a:t>
            </a:r>
          </a:p>
          <a:p>
            <a:pPr lvl="1"/>
            <a:r>
              <a:rPr lang="fi-FI" dirty="0" smtClean="0"/>
              <a:t>Tehtäväkortteja värillisissä kansioissa – säilyttää myös historiatietoa</a:t>
            </a:r>
          </a:p>
          <a:p>
            <a:pPr lvl="1"/>
            <a:r>
              <a:rPr lang="fi-FI" dirty="0" smtClean="0"/>
              <a:t>Päivittäiset virhebudjetit</a:t>
            </a:r>
          </a:p>
          <a:p>
            <a:r>
              <a:rPr lang="fi-FI" dirty="0" smtClean="0"/>
              <a:t>Tekniset työkalut piilottavat merkittävää ymmärrystä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smtClean="0"/>
              <a:t>Mitä dokumentoida virheistä?</a:t>
            </a:r>
            <a:endParaRPr lang="fi-FI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i-FI" dirty="0" smtClean="0"/>
              <a:t>Korjaukselle:</a:t>
            </a:r>
          </a:p>
          <a:p>
            <a:pPr lvl="1"/>
            <a:r>
              <a:rPr lang="fi-FI" dirty="0" smtClean="0"/>
              <a:t>Keskustelulla: korjaa-nyt-heti-ja-testaan-samantien</a:t>
            </a:r>
          </a:p>
          <a:p>
            <a:pPr lvl="1"/>
            <a:r>
              <a:rPr lang="fi-FI" dirty="0" smtClean="0"/>
              <a:t>Post-it lapulla: korjaa-tosi-pian-ja-testaan-korjauksen</a:t>
            </a:r>
          </a:p>
          <a:p>
            <a:pPr lvl="1"/>
            <a:r>
              <a:rPr lang="fi-FI" dirty="0" smtClean="0"/>
              <a:t>Havaintokirjauskanta: Ei-korjata-ja-tämä-tietona-muillekin</a:t>
            </a:r>
          </a:p>
          <a:p>
            <a:r>
              <a:rPr lang="fi-FI" dirty="0" smtClean="0"/>
              <a:t>Tulevaan, analysointiin:</a:t>
            </a:r>
          </a:p>
          <a:p>
            <a:pPr lvl="1"/>
            <a:r>
              <a:rPr lang="fi-FI" dirty="0" smtClean="0"/>
              <a:t>Korjaa-ja-unohda painaa </a:t>
            </a:r>
            <a:br>
              <a:rPr lang="fi-FI" dirty="0" smtClean="0"/>
            </a:br>
            <a:r>
              <a:rPr lang="fi-FI" dirty="0" smtClean="0"/>
              <a:t>enemmän kuin kirjaamisesta </a:t>
            </a:r>
            <a:br>
              <a:rPr lang="fi-FI" dirty="0" smtClean="0"/>
            </a:br>
            <a:r>
              <a:rPr lang="fi-FI" dirty="0" smtClean="0"/>
              <a:t>saatavat hyödyt</a:t>
            </a:r>
          </a:p>
          <a:p>
            <a:pPr lvl="1"/>
            <a:r>
              <a:rPr lang="fi-FI" dirty="0" smtClean="0"/>
              <a:t>Kaksi korjausta ketterissä: </a:t>
            </a:r>
            <a:br>
              <a:rPr lang="fi-FI" dirty="0" smtClean="0"/>
            </a:br>
            <a:r>
              <a:rPr lang="fi-FI" dirty="0" smtClean="0"/>
              <a:t>virheen korjaus ja virheen </a:t>
            </a:r>
            <a:br>
              <a:rPr lang="fi-FI" dirty="0" smtClean="0"/>
            </a:br>
            <a:r>
              <a:rPr lang="fi-FI" i="1" dirty="0" smtClean="0"/>
              <a:t>alkusyyn </a:t>
            </a:r>
            <a:r>
              <a:rPr lang="fi-FI" dirty="0" smtClean="0"/>
              <a:t>korjaus</a:t>
            </a:r>
          </a:p>
        </p:txBody>
      </p:sp>
      <p:sp>
        <p:nvSpPr>
          <p:cNvPr id="4" name="Rectangle 3"/>
          <p:cNvSpPr/>
          <p:nvPr/>
        </p:nvSpPr>
        <p:spPr>
          <a:xfrm>
            <a:off x="5257800" y="3441918"/>
            <a:ext cx="3810000" cy="181588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fi-FI" sz="2800" b="1" dirty="0" smtClean="0"/>
              <a:t>Virhekynnys </a:t>
            </a:r>
            <a:r>
              <a:rPr lang="fi-FI" sz="2800" dirty="0" smtClean="0"/>
              <a:t>= havaintokirjausvälinettä käytetään kun virhettä ei ole korjattu ... kuluessa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i-FI" dirty="0" smtClean="0"/>
              <a:t>Ketterät tiimit usein jättävät havaintokirjaustietokannat väliin</a:t>
            </a:r>
            <a:endParaRPr lang="fi-FI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fi-FI" sz="2400" dirty="0" smtClean="0"/>
              <a:t>Korjaa-ja-unohda painaa enemmän kuin kirjaamisen hyödyt</a:t>
            </a:r>
          </a:p>
          <a:p>
            <a:pPr lvl="1"/>
            <a:r>
              <a:rPr lang="fi-FI" sz="2000" dirty="0" smtClean="0"/>
              <a:t>Ne kaksi korjausta: virhe ja virheen alkusyy</a:t>
            </a:r>
          </a:p>
          <a:p>
            <a:r>
              <a:rPr lang="fi-FI" sz="2400" dirty="0" smtClean="0"/>
              <a:t>Tavoite ei ole päästä eroon virhekirjausjärjestelmästä – vaan olla tarvitsematta sitä</a:t>
            </a:r>
          </a:p>
          <a:p>
            <a:r>
              <a:rPr lang="fi-FI" sz="2400" dirty="0" smtClean="0"/>
              <a:t>Ollakseen tarvitsematta vaatii kulttuurimuutoksen joka näkyy korvaavina käytäntöinä</a:t>
            </a:r>
          </a:p>
          <a:p>
            <a:pPr lvl="1"/>
            <a:r>
              <a:rPr lang="en-US" sz="2000" dirty="0" err="1" smtClean="0"/>
              <a:t>Automatisoidut</a:t>
            </a:r>
            <a:r>
              <a:rPr lang="en-US" sz="2000" dirty="0" smtClean="0"/>
              <a:t> </a:t>
            </a:r>
            <a:r>
              <a:rPr lang="en-US" sz="2000" dirty="0" err="1" smtClean="0"/>
              <a:t>testitapaukset</a:t>
            </a:r>
            <a:r>
              <a:rPr lang="en-US" sz="2000" dirty="0" smtClean="0"/>
              <a:t> </a:t>
            </a:r>
            <a:r>
              <a:rPr lang="en-US" sz="2000" dirty="0" err="1" smtClean="0"/>
              <a:t>joissa</a:t>
            </a:r>
            <a:r>
              <a:rPr lang="en-US" sz="2000" dirty="0" smtClean="0"/>
              <a:t> </a:t>
            </a:r>
            <a:r>
              <a:rPr lang="en-US" sz="2000" dirty="0" err="1" smtClean="0"/>
              <a:t>virhe</a:t>
            </a:r>
            <a:r>
              <a:rPr lang="en-US" sz="2000" dirty="0" smtClean="0"/>
              <a:t> </a:t>
            </a:r>
            <a:r>
              <a:rPr lang="en-US" sz="2000" dirty="0" err="1" smtClean="0"/>
              <a:t>toistettuna</a:t>
            </a:r>
            <a:r>
              <a:rPr lang="en-US" sz="2000" dirty="0" smtClean="0"/>
              <a:t> </a:t>
            </a:r>
            <a:r>
              <a:rPr lang="en-US" sz="2000" dirty="0" err="1" smtClean="0"/>
              <a:t>ennen</a:t>
            </a:r>
            <a:r>
              <a:rPr lang="en-US" sz="2000" dirty="0" smtClean="0"/>
              <a:t> </a:t>
            </a:r>
            <a:r>
              <a:rPr lang="en-US" sz="2000" dirty="0" err="1" smtClean="0"/>
              <a:t>korjausta</a:t>
            </a:r>
            <a:endParaRPr lang="en-US" sz="2000" dirty="0" smtClean="0"/>
          </a:p>
          <a:p>
            <a:pPr lvl="1"/>
            <a:r>
              <a:rPr lang="en-US" sz="2000" dirty="0" err="1" smtClean="0"/>
              <a:t>Korjaus</a:t>
            </a:r>
            <a:r>
              <a:rPr lang="en-US" sz="2000" dirty="0" smtClean="0"/>
              <a:t> </a:t>
            </a:r>
            <a:r>
              <a:rPr lang="en-US" sz="2000" dirty="0" err="1" smtClean="0"/>
              <a:t>saman</a:t>
            </a:r>
            <a:r>
              <a:rPr lang="en-US" sz="2000" dirty="0" smtClean="0"/>
              <a:t> </a:t>
            </a:r>
            <a:r>
              <a:rPr lang="en-US" sz="2000" dirty="0" err="1" smtClean="0"/>
              <a:t>tien</a:t>
            </a:r>
            <a:r>
              <a:rPr lang="en-US" sz="2000" dirty="0" smtClean="0"/>
              <a:t> </a:t>
            </a:r>
            <a:r>
              <a:rPr lang="en-US" sz="2000" dirty="0" err="1" smtClean="0"/>
              <a:t>ilman</a:t>
            </a:r>
            <a:r>
              <a:rPr lang="en-US" sz="2000" dirty="0" smtClean="0"/>
              <a:t> </a:t>
            </a:r>
            <a:r>
              <a:rPr lang="en-US" sz="2000" dirty="0" err="1" smtClean="0"/>
              <a:t>raportin</a:t>
            </a:r>
            <a:r>
              <a:rPr lang="en-US" sz="2000" dirty="0" smtClean="0"/>
              <a:t> </a:t>
            </a:r>
            <a:r>
              <a:rPr lang="en-US" sz="2000" dirty="0" err="1" smtClean="0"/>
              <a:t>kirjoittamista</a:t>
            </a:r>
            <a:endParaRPr lang="en-US" sz="2000" dirty="0" smtClean="0"/>
          </a:p>
          <a:p>
            <a:pPr lvl="1"/>
            <a:r>
              <a:rPr lang="en-US" sz="2000" dirty="0" err="1" smtClean="0"/>
              <a:t>Raportointi</a:t>
            </a:r>
            <a:r>
              <a:rPr lang="en-US" sz="2000" dirty="0" smtClean="0"/>
              <a:t> </a:t>
            </a:r>
            <a:r>
              <a:rPr lang="en-US" sz="2000" dirty="0" err="1" smtClean="0"/>
              <a:t>paperilla</a:t>
            </a:r>
            <a:r>
              <a:rPr lang="en-US" sz="2000" dirty="0" smtClean="0"/>
              <a:t> / </a:t>
            </a:r>
            <a:r>
              <a:rPr lang="en-US" sz="2000" dirty="0" err="1" smtClean="0"/>
              <a:t>valkotaululla</a:t>
            </a:r>
            <a:endParaRPr lang="en-US" sz="2000" dirty="0" smtClean="0"/>
          </a:p>
          <a:p>
            <a:pPr lvl="1"/>
            <a:r>
              <a:rPr lang="en-US" sz="2000" dirty="0" err="1" smtClean="0"/>
              <a:t>Kukin</a:t>
            </a:r>
            <a:r>
              <a:rPr lang="en-US" sz="2000" dirty="0" smtClean="0"/>
              <a:t> </a:t>
            </a:r>
            <a:r>
              <a:rPr lang="en-US" sz="2000" dirty="0" err="1" smtClean="0"/>
              <a:t>yksilö</a:t>
            </a:r>
            <a:r>
              <a:rPr lang="en-US" sz="2000" dirty="0" smtClean="0"/>
              <a:t> </a:t>
            </a:r>
            <a:r>
              <a:rPr lang="en-US" sz="2000" dirty="0" err="1" smtClean="0"/>
              <a:t>päättää</a:t>
            </a:r>
            <a:r>
              <a:rPr lang="en-US" sz="2000" dirty="0" smtClean="0"/>
              <a:t> </a:t>
            </a:r>
            <a:r>
              <a:rPr lang="en-US" sz="2000" dirty="0" err="1" smtClean="0"/>
              <a:t>onko</a:t>
            </a:r>
            <a:r>
              <a:rPr lang="en-US" sz="2000" dirty="0" smtClean="0"/>
              <a:t> </a:t>
            </a:r>
            <a:r>
              <a:rPr lang="en-US" sz="2000" dirty="0" err="1" smtClean="0"/>
              <a:t>korjaus</a:t>
            </a:r>
            <a:r>
              <a:rPr lang="en-US" sz="2000" dirty="0" smtClean="0"/>
              <a:t> </a:t>
            </a:r>
            <a:r>
              <a:rPr lang="en-US" sz="2000" dirty="0" err="1" smtClean="0"/>
              <a:t>tarpeellinen</a:t>
            </a:r>
            <a:endParaRPr lang="en-US" sz="2000" dirty="0" smtClean="0"/>
          </a:p>
          <a:p>
            <a:pPr lvl="1"/>
            <a:r>
              <a:rPr lang="en-US" sz="2000" dirty="0" err="1" smtClean="0"/>
              <a:t>Tunnistetaan</a:t>
            </a:r>
            <a:r>
              <a:rPr lang="en-US" sz="2000" dirty="0" smtClean="0"/>
              <a:t> </a:t>
            </a:r>
            <a:r>
              <a:rPr lang="en-US" sz="2000" dirty="0" err="1" smtClean="0"/>
              <a:t>miksi</a:t>
            </a:r>
            <a:r>
              <a:rPr lang="en-US" sz="2000" dirty="0" smtClean="0"/>
              <a:t> </a:t>
            </a:r>
            <a:r>
              <a:rPr lang="en-US" sz="2000" dirty="0" err="1" smtClean="0"/>
              <a:t>ongelmia</a:t>
            </a:r>
            <a:r>
              <a:rPr lang="en-US" sz="2000" dirty="0" smtClean="0"/>
              <a:t> </a:t>
            </a:r>
            <a:r>
              <a:rPr lang="en-US" sz="2000" dirty="0" err="1" smtClean="0"/>
              <a:t>nousee</a:t>
            </a:r>
            <a:r>
              <a:rPr lang="en-US" sz="2000" dirty="0" smtClean="0"/>
              <a:t> </a:t>
            </a:r>
            <a:r>
              <a:rPr lang="en-US" sz="2000" dirty="0" err="1" smtClean="0"/>
              <a:t>ja</a:t>
            </a:r>
            <a:r>
              <a:rPr lang="en-US" sz="2000" dirty="0" smtClean="0"/>
              <a:t> </a:t>
            </a:r>
            <a:r>
              <a:rPr lang="en-US" sz="2000" dirty="0" err="1" smtClean="0"/>
              <a:t>korjataan</a:t>
            </a:r>
            <a:r>
              <a:rPr lang="en-US" sz="2000" dirty="0" smtClean="0"/>
              <a:t> </a:t>
            </a:r>
            <a:r>
              <a:rPr lang="en-US" sz="2000" dirty="0" err="1" smtClean="0"/>
              <a:t>alkusyy</a:t>
            </a:r>
            <a:endParaRPr lang="en-US" sz="2000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i-FI" dirty="0" smtClean="0"/>
              <a:t>Havaintokirjausjärjestelminen negatiivinen vaikutus</a:t>
            </a:r>
            <a:endParaRPr lang="fi-FI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i-FI" dirty="0" smtClean="0"/>
              <a:t>Eivät kannusta / korosta yhteistyötä</a:t>
            </a:r>
          </a:p>
          <a:p>
            <a:pPr lvl="1"/>
            <a:r>
              <a:rPr lang="fi-FI" dirty="0" smtClean="0"/>
              <a:t>Korvaa suoran henkilökohtaisen viestinnän </a:t>
            </a:r>
          </a:p>
          <a:p>
            <a:pPr lvl="1"/>
            <a:r>
              <a:rPr lang="fi-FI" dirty="0" smtClean="0"/>
              <a:t>Tuo mukaan viiveen</a:t>
            </a:r>
          </a:p>
          <a:p>
            <a:r>
              <a:rPr lang="fi-FI" dirty="0" smtClean="0"/>
              <a:t>Ohjaa väärään asenteeseen: ongelmien jättäminen myöhempään </a:t>
            </a:r>
            <a:r>
              <a:rPr lang="fi-FI" u="sng" dirty="0" smtClean="0"/>
              <a:t>ei ole hyväksyttävää</a:t>
            </a:r>
            <a:endParaRPr lang="fi-FI" dirty="0" smtClean="0"/>
          </a:p>
          <a:p>
            <a:r>
              <a:rPr lang="fi-FI" dirty="0" smtClean="0"/>
              <a:t>Merkittävää ”siltä varalta” dokumentaatiota</a:t>
            </a:r>
          </a:p>
          <a:p>
            <a:pPr lvl="1"/>
            <a:r>
              <a:rPr lang="fi-FI" dirty="0" smtClean="0"/>
              <a:t>”siltä varalta ettemme tunnista toistuvia kaavoja muulla tapaa ja tästä olisi apua”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smtClean="0"/>
              <a:t>Ideoita, ajatuksia, </a:t>
            </a:r>
            <a:br>
              <a:rPr lang="fi-FI" dirty="0" smtClean="0"/>
            </a:br>
            <a:r>
              <a:rPr lang="fi-FI" dirty="0" smtClean="0"/>
              <a:t>kysymyksiä?</a:t>
            </a:r>
            <a:endParaRPr lang="fi-FI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i-FI" dirty="0"/>
          </a:p>
        </p:txBody>
      </p:sp>
      <p:pic>
        <p:nvPicPr>
          <p:cNvPr id="4" name="Picture 3" descr="C:\Documents and Settings\mpyhajar.CONFORMIQ\Application Data\Microsoft\Media Catalog\Downloaded Clips\cl1f\j0078711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71736" y="285728"/>
            <a:ext cx="1622425" cy="3933825"/>
          </a:xfrm>
          <a:prstGeom prst="rect">
            <a:avLst/>
          </a:prstGeom>
          <a:noFill/>
        </p:spPr>
      </p:pic>
      <p:pic>
        <p:nvPicPr>
          <p:cNvPr id="5" name="Picture 4" descr="C:\Documents and Settings\mpyhajar.CONFORMIQ\Application Data\Microsoft\Media Catalog\Downloaded Clips\cl1f\j0078625.wm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715140" y="2357430"/>
            <a:ext cx="1295400" cy="3933825"/>
          </a:xfrm>
          <a:prstGeom prst="rect">
            <a:avLst/>
          </a:prstGeom>
          <a:noFill/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1808</TotalTime>
  <Words>482</Words>
  <Application>Microsoft Macintosh PowerPoint</Application>
  <PresentationFormat>On-screen Show (4:3)</PresentationFormat>
  <Paragraphs>100</Paragraphs>
  <Slides>9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Havaintojen kirjaaminen ja Virheiden korjaaminen</vt:lpstr>
      <vt:lpstr>Ketterä havaintokirjaus ja -korjausmenettely</vt:lpstr>
      <vt:lpstr>Havaintojen käsittelyn prosessi</vt:lpstr>
      <vt:lpstr>Virhekorjausten myymisasenne ketterissä menetelmissä</vt:lpstr>
      <vt:lpstr>Pysähdy-ja-korjaa korostaminen</vt:lpstr>
      <vt:lpstr>Mitä dokumentoida virheistä?</vt:lpstr>
      <vt:lpstr>Ketterät tiimit usein jättävät havaintokirjaustietokannat väliin</vt:lpstr>
      <vt:lpstr>Havaintokirjausjärjestelminen negatiivinen vaikutus</vt:lpstr>
      <vt:lpstr>Ideoita, ajatuksia,  kysymyksiä?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Havaintojen kirjaaminen ja Virheiden korjaaminen</dc:title>
  <dc:creator>Maaret Pyhäjärvi</dc:creator>
  <cp:lastModifiedBy>Maaret Pyhäjärvi</cp:lastModifiedBy>
  <cp:revision>4</cp:revision>
  <dcterms:created xsi:type="dcterms:W3CDTF">2006-08-16T00:00:00Z</dcterms:created>
  <dcterms:modified xsi:type="dcterms:W3CDTF">2017-05-30T07:46:47Z</dcterms:modified>
</cp:coreProperties>
</file>