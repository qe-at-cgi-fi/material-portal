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sldIdLst>
    <p:sldId id="256" r:id="rId5"/>
    <p:sldId id="709" r:id="rId6"/>
    <p:sldId id="710" r:id="rId7"/>
    <p:sldId id="703" r:id="rId8"/>
    <p:sldId id="704" r:id="rId9"/>
    <p:sldId id="705" r:id="rId10"/>
    <p:sldId id="706" r:id="rId11"/>
    <p:sldId id="707" r:id="rId12"/>
    <p:sldId id="708" r:id="rId13"/>
    <p:sldId id="715" r:id="rId14"/>
    <p:sldId id="716" r:id="rId15"/>
    <p:sldId id="711" r:id="rId16"/>
    <p:sldId id="712" r:id="rId17"/>
    <p:sldId id="713" r:id="rId18"/>
    <p:sldId id="714" r:id="rId19"/>
    <p:sldId id="717" r:id="rId20"/>
    <p:sldId id="831" r:id="rId21"/>
    <p:sldId id="839" r:id="rId22"/>
    <p:sldId id="735" r:id="rId23"/>
    <p:sldId id="736" r:id="rId24"/>
    <p:sldId id="702" r:id="rId2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yhajarvi Maaret" initials="PM" lastIdx="1" clrIdx="0">
    <p:extLst>
      <p:ext uri="{19B8F6BF-5375-455C-9EA6-DF929625EA0E}">
        <p15:presenceInfo xmlns:p15="http://schemas.microsoft.com/office/powerpoint/2012/main" userId="S::maaret.pyhajarvi@vaisala.com::ecc851b5-bf16-4ad7-80d9-5ddb8e10cea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F99FF"/>
    <a:srgbClr val="B48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 horzBarState="maximized">
    <p:restoredLeft sz="5440" autoAdjust="0"/>
    <p:restoredTop sz="96327" autoAdjust="0"/>
  </p:normalViewPr>
  <p:slideViewPr>
    <p:cSldViewPr snapToGrid="0" snapToObjects="1">
      <p:cViewPr varScale="1">
        <p:scale>
          <a:sx n="160" d="100"/>
          <a:sy n="160" d="100"/>
        </p:scale>
        <p:origin x="76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B040096-F619-7E43-996A-8032D7F8C713}" type="datetimeFigureOut">
              <a:rPr lang="en-US" smtClean="0"/>
              <a:t>12/9/22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0C6101D-4955-2E49-AD11-CFDEC25BF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01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25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89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9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45"/>
            <a:ext cx="10363200" cy="1470025"/>
          </a:xfrm>
        </p:spPr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12/9/22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1827082"/>
            <a:ext cx="10363200" cy="1362075"/>
          </a:xfrm>
        </p:spPr>
        <p:txBody>
          <a:bodyPr anchor="t">
            <a:noAutofit/>
          </a:bodyPr>
          <a:lstStyle>
            <a:lvl1pPr algn="ctr">
              <a:defRPr sz="5400" b="1" cap="none">
                <a:latin typeface="Snell Roundhand"/>
                <a:cs typeface="Snell Roundhand"/>
              </a:defRPr>
            </a:lvl1pPr>
          </a:lstStyle>
          <a:p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Title</a:t>
            </a:r>
            <a:r>
              <a:rPr lang="fi-FI" dirty="0"/>
              <a:t>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12/9/22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12/9/22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12/9/22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12/9/22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26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7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2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12/9/22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56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12/9/22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12/9/22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12/9/22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text</a:t>
            </a:r>
            <a:r>
              <a:rPr lang="fi-FI" dirty="0"/>
              <a:t> </a:t>
            </a:r>
            <a:r>
              <a:rPr lang="fi-FI" dirty="0" err="1"/>
              <a:t>styles</a:t>
            </a:r>
            <a:endParaRPr lang="fi-FI" dirty="0"/>
          </a:p>
          <a:p>
            <a:pPr lvl="1"/>
            <a:r>
              <a:rPr lang="fi-FI" dirty="0"/>
              <a:t>Second </a:t>
            </a:r>
            <a:r>
              <a:rPr lang="fi-FI" dirty="0" err="1"/>
              <a:t>level</a:t>
            </a:r>
            <a:endParaRPr lang="fi-FI" dirty="0"/>
          </a:p>
          <a:p>
            <a:pPr lvl="2"/>
            <a:r>
              <a:rPr lang="fi-FI" dirty="0"/>
              <a:t>Third </a:t>
            </a:r>
            <a:r>
              <a:rPr lang="fi-FI" dirty="0" err="1"/>
              <a:t>level</a:t>
            </a:r>
            <a:endParaRPr lang="fi-FI" dirty="0"/>
          </a:p>
          <a:p>
            <a:pPr lvl="3"/>
            <a:r>
              <a:rPr lang="fi-FI" dirty="0" err="1"/>
              <a:t>Fourth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fi-FI" dirty="0"/>
          </a:p>
          <a:p>
            <a:pPr lvl="4"/>
            <a:r>
              <a:rPr lang="fi-FI" dirty="0" err="1"/>
              <a:t>Fifth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8" name="TextBox 7"/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9" name="Picture 8" descr="TwitterLogo_#55acee.png"/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  <p:pic>
        <p:nvPicPr>
          <p:cNvPr id="1026" name="Picture 2" descr="Mastodon icon PNG and SVG Vector Free Download">
            <a:extLst>
              <a:ext uri="{FF2B5EF4-FFF2-40B4-BE49-F238E27FC236}">
                <a16:creationId xmlns:a16="http://schemas.microsoft.com/office/drawing/2014/main" id="{6480DC6D-95BC-2685-F427-CCFF4F483C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012" y="6308728"/>
            <a:ext cx="261258" cy="27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C3EE18-3683-7A01-BAB4-FFAD7095D887}"/>
              </a:ext>
            </a:extLst>
          </p:cNvPr>
          <p:cNvSpPr txBox="1"/>
          <p:nvPr/>
        </p:nvSpPr>
        <p:spPr>
          <a:xfrm>
            <a:off x="7783848" y="6223583"/>
            <a:ext cx="209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@maaretp@mas.to </a:t>
            </a:r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jpe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C90087-8484-4648-961D-5F2491674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4" r="30156"/>
          <a:stretch/>
        </p:blipFill>
        <p:spPr bwMode="auto">
          <a:xfrm rot="16200000" flipV="1">
            <a:off x="-2596663" y="2596661"/>
            <a:ext cx="6858002" cy="166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4336" y="1263974"/>
            <a:ext cx="9290757" cy="1470025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chemeClr val="accent4"/>
                </a:solidFill>
                <a:latin typeface="KG No Matter What" panose="02000507000000020003" pitchFamily="2" charset="77"/>
                <a:cs typeface="KG Manhattan Script"/>
              </a:rPr>
              <a:t>Targeting</a:t>
            </a:r>
            <a:r>
              <a:rPr lang="en-US" sz="8000" dirty="0">
                <a:cs typeface="KG Manhattan Script"/>
              </a:rPr>
              <a:t> </a:t>
            </a:r>
            <a:br>
              <a:rPr lang="en-US" sz="8000" dirty="0">
                <a:cs typeface="KG Manhattan Script"/>
              </a:rPr>
            </a:br>
            <a:r>
              <a:rPr lang="en-US" sz="8000" dirty="0">
                <a:cs typeface="KG Manhattan Script"/>
              </a:rPr>
              <a:t>Errors of Omission</a:t>
            </a:r>
            <a:endParaRPr lang="en-US" sz="8000" dirty="0">
              <a:solidFill>
                <a:schemeClr val="accent2"/>
              </a:solidFill>
              <a:latin typeface="KG No Matter What" panose="02000507000000020003" pitchFamily="2" charset="77"/>
              <a:cs typeface="KG Manhattan Scrip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22774" y="4098563"/>
            <a:ext cx="5251666" cy="770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by Maaret Pyhäjärvi</a:t>
            </a:r>
          </a:p>
        </p:txBody>
      </p:sp>
      <p:pic>
        <p:nvPicPr>
          <p:cNvPr id="9" name="Picture 8" descr="VaisalaLogo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444" y="4727223"/>
            <a:ext cx="1592572" cy="494149"/>
          </a:xfrm>
          <a:prstGeom prst="rect">
            <a:avLst/>
          </a:prstGeom>
        </p:spPr>
      </p:pic>
      <p:pic>
        <p:nvPicPr>
          <p:cNvPr id="6" name="Picture 5" descr="FairyGodmother.jpg">
            <a:extLst>
              <a:ext uri="{FF2B5EF4-FFF2-40B4-BE49-F238E27FC236}">
                <a16:creationId xmlns:a16="http://schemas.microsoft.com/office/drawing/2014/main" id="{0A82CDBB-6184-4297-B228-71001738031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586" y="3364329"/>
            <a:ext cx="3087414" cy="301039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1787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0825FD-CA95-1EFF-639D-609C2F6C12FB}"/>
              </a:ext>
            </a:extLst>
          </p:cNvPr>
          <p:cNvSpPr txBox="1"/>
          <p:nvPr/>
        </p:nvSpPr>
        <p:spPr>
          <a:xfrm>
            <a:off x="1025913" y="2102226"/>
            <a:ext cx="1042639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="0" i="0" u="none" strike="noStrike" dirty="0">
                <a:solidFill>
                  <a:srgbClr val="0F1419"/>
                </a:solidFill>
                <a:effectLst/>
                <a:latin typeface="KG No Matter What" panose="02000507000000020003" pitchFamily="2" charset="77"/>
              </a:rPr>
              <a:t>“Your colleague is working through many tests a day, and </a:t>
            </a:r>
            <a:r>
              <a:rPr lang="en-GB" sz="5400" b="0" i="0" u="none" strike="noStrike" dirty="0">
                <a:solidFill>
                  <a:schemeClr val="accent6"/>
                </a:solidFill>
                <a:effectLst/>
                <a:latin typeface="KG No Matter What" panose="02000507000000020003" pitchFamily="2" charset="77"/>
              </a:rPr>
              <a:t>you’re not</a:t>
            </a:r>
            <a:r>
              <a:rPr lang="en-GB" sz="5400" b="0" i="0" u="none" strike="noStrike" dirty="0">
                <a:solidFill>
                  <a:srgbClr val="0F1419"/>
                </a:solidFill>
                <a:effectLst/>
                <a:latin typeface="KG No Matter What" panose="02000507000000020003" pitchFamily="2" charset="77"/>
              </a:rPr>
              <a:t>” </a:t>
            </a:r>
            <a:br>
              <a:rPr lang="en-GB" sz="4000" b="0" i="0" u="none" strike="noStrike" dirty="0">
                <a:solidFill>
                  <a:srgbClr val="0F1419"/>
                </a:solidFill>
                <a:effectLst/>
                <a:latin typeface="KG No Matter What" panose="02000507000000020003" pitchFamily="2" charset="77"/>
              </a:rPr>
            </a:br>
            <a:r>
              <a:rPr lang="en-GB" sz="4000" b="0" i="0" u="none" strike="noStrike" dirty="0">
                <a:solidFill>
                  <a:srgbClr val="0F1419"/>
                </a:solidFill>
                <a:effectLst/>
                <a:latin typeface="KG No Matter What" panose="02000507000000020003" pitchFamily="2" charset="77"/>
              </a:rPr>
              <a:t>– </a:t>
            </a:r>
            <a:r>
              <a:rPr lang="en-GB" sz="4000" b="0" i="0" u="none" strike="noStrike" dirty="0">
                <a:solidFill>
                  <a:srgbClr val="0F1419"/>
                </a:solidFill>
                <a:effectLst/>
                <a:latin typeface="+mj-lt"/>
              </a:rPr>
              <a:t>a manager</a:t>
            </a:r>
            <a:endParaRPr lang="en-FI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0137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74610F5-E96D-44C5-2928-95B5A5F44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5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4E93E-9E46-4B13-BB76-869487D50A19}"/>
              </a:ext>
            </a:extLst>
          </p:cNvPr>
          <p:cNvSpPr txBox="1"/>
          <p:nvPr/>
        </p:nvSpPr>
        <p:spPr>
          <a:xfrm>
            <a:off x="9853032" y="5398301"/>
            <a:ext cx="23389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I" altLang="en-FI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Verdana" panose="020B0604030504040204" pitchFamily="34" charset="0"/>
              </a:rPr>
              <a:t>2011.5 	 13 %</a:t>
            </a:r>
            <a:endParaRPr kumimoji="0" lang="en-FI" altLang="en-FI" sz="8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I" altLang="en-FI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Verdana" panose="020B0604030504040204" pitchFamily="34" charset="0"/>
              </a:rPr>
              <a:t>2012.9 	 1.6 %</a:t>
            </a:r>
            <a:endParaRPr kumimoji="0" lang="en-FI" altLang="en-FI" sz="8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FI" altLang="en-FI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Verdana" panose="020B0604030504040204" pitchFamily="34" charset="0"/>
              </a:rPr>
              <a:t>2013.6  1.0 %</a:t>
            </a:r>
            <a:endParaRPr kumimoji="0" lang="en-FI" altLang="en-FI" sz="8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4026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10BD99-EDE1-4343-7445-6D86C029BE0D}"/>
              </a:ext>
            </a:extLst>
          </p:cNvPr>
          <p:cNvSpPr txBox="1"/>
          <p:nvPr/>
        </p:nvSpPr>
        <p:spPr>
          <a:xfrm>
            <a:off x="2425149" y="2276059"/>
            <a:ext cx="244650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13800" dirty="0"/>
              <a:t>1 2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AE376-1972-BB03-DADF-4541685035C0}"/>
              </a:ext>
            </a:extLst>
          </p:cNvPr>
          <p:cNvSpPr txBox="1"/>
          <p:nvPr/>
        </p:nvSpPr>
        <p:spPr>
          <a:xfrm>
            <a:off x="6380921" y="2276059"/>
            <a:ext cx="244650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13800" dirty="0"/>
              <a:t>4 5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7AE32D37-3F06-4611-8CB5-6008050454B4}"/>
              </a:ext>
            </a:extLst>
          </p:cNvPr>
          <p:cNvSpPr/>
          <p:nvPr/>
        </p:nvSpPr>
        <p:spPr>
          <a:xfrm>
            <a:off x="5005091" y="1490652"/>
            <a:ext cx="1242392" cy="5371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13FE6-6ECC-58D9-42BB-DDEC0006CC1C}"/>
              </a:ext>
            </a:extLst>
          </p:cNvPr>
          <p:cNvSpPr txBox="1"/>
          <p:nvPr/>
        </p:nvSpPr>
        <p:spPr>
          <a:xfrm>
            <a:off x="3981065" y="626165"/>
            <a:ext cx="36904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000" dirty="0">
                <a:solidFill>
                  <a:schemeClr val="accent4"/>
                </a:solidFill>
                <a:latin typeface="KG No Matter What" panose="02000507000000020003" pitchFamily="2" charset="77"/>
              </a:rPr>
              <a:t>What is missing?</a:t>
            </a:r>
          </a:p>
        </p:txBody>
      </p:sp>
    </p:spTree>
    <p:extLst>
      <p:ext uri="{BB962C8B-B14F-4D97-AF65-F5344CB8AC3E}">
        <p14:creationId xmlns:p14="http://schemas.microsoft.com/office/powerpoint/2010/main" val="4199484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10BD99-EDE1-4343-7445-6D86C029BE0D}"/>
              </a:ext>
            </a:extLst>
          </p:cNvPr>
          <p:cNvSpPr txBox="1"/>
          <p:nvPr/>
        </p:nvSpPr>
        <p:spPr>
          <a:xfrm>
            <a:off x="2425149" y="2276059"/>
            <a:ext cx="244650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13800" dirty="0"/>
              <a:t>1 2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AE376-1972-BB03-DADF-4541685035C0}"/>
              </a:ext>
            </a:extLst>
          </p:cNvPr>
          <p:cNvSpPr txBox="1"/>
          <p:nvPr/>
        </p:nvSpPr>
        <p:spPr>
          <a:xfrm>
            <a:off x="6380921" y="2276059"/>
            <a:ext cx="244650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13800" dirty="0"/>
              <a:t>4 5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D8E1F7-2FDA-107D-691C-0E8FAC1474DB}"/>
              </a:ext>
            </a:extLst>
          </p:cNvPr>
          <p:cNvSpPr txBox="1"/>
          <p:nvPr/>
        </p:nvSpPr>
        <p:spPr>
          <a:xfrm>
            <a:off x="5436705" y="2156788"/>
            <a:ext cx="57259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13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50680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xt&#10;&#10;Description automatically generated">
            <a:extLst>
              <a:ext uri="{FF2B5EF4-FFF2-40B4-BE49-F238E27FC236}">
                <a16:creationId xmlns:a16="http://schemas.microsoft.com/office/drawing/2014/main" id="{83067F39-93F5-DC79-FD7B-E8BA3E0A9C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5" b="6325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7FB6B1-DB15-0036-509E-33A1C1304DB3}"/>
              </a:ext>
            </a:extLst>
          </p:cNvPr>
          <p:cNvSpPr txBox="1"/>
          <p:nvPr/>
        </p:nvSpPr>
        <p:spPr>
          <a:xfrm>
            <a:off x="7806786" y="6390563"/>
            <a:ext cx="4385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>
                <a:solidFill>
                  <a:schemeClr val="accent4"/>
                </a:solidFill>
              </a:rPr>
              <a:t>https://en.wikipedia.org/wiki/Invisible_ink</a:t>
            </a:r>
          </a:p>
        </p:txBody>
      </p:sp>
    </p:spTree>
    <p:extLst>
      <p:ext uri="{BB962C8B-B14F-4D97-AF65-F5344CB8AC3E}">
        <p14:creationId xmlns:p14="http://schemas.microsoft.com/office/powerpoint/2010/main" val="111587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29AB9245-1BEA-FCAD-0E8B-8D3BFB75BF90}"/>
              </a:ext>
            </a:extLst>
          </p:cNvPr>
          <p:cNvGrpSpPr/>
          <p:nvPr/>
        </p:nvGrpSpPr>
        <p:grpSpPr>
          <a:xfrm>
            <a:off x="297109" y="1844856"/>
            <a:ext cx="7785346" cy="923330"/>
            <a:chOff x="297109" y="1844856"/>
            <a:chExt cx="7785346" cy="92333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4D7E192-0CBA-005D-021A-9168937F89BE}"/>
                </a:ext>
              </a:extLst>
            </p:cNvPr>
            <p:cNvCxnSpPr>
              <a:cxnSpLocks/>
            </p:cNvCxnSpPr>
            <p:nvPr/>
          </p:nvCxnSpPr>
          <p:spPr>
            <a:xfrm>
              <a:off x="2795752" y="2257286"/>
              <a:ext cx="5286703" cy="0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12FD5F8-5228-9DF9-1D95-C3713B12C830}"/>
                </a:ext>
              </a:extLst>
            </p:cNvPr>
            <p:cNvSpPr txBox="1"/>
            <p:nvPr/>
          </p:nvSpPr>
          <p:spPr>
            <a:xfrm>
              <a:off x="297109" y="1844856"/>
              <a:ext cx="214129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dirty="0"/>
                <a:t>Stakeholders happy, </a:t>
              </a:r>
              <a:br>
                <a:rPr lang="en-FI" dirty="0"/>
              </a:br>
              <a:r>
                <a:rPr lang="en-FI" dirty="0"/>
                <a:t>even delighted </a:t>
              </a:r>
            </a:p>
            <a:p>
              <a:r>
                <a:rPr lang="en-FI" dirty="0"/>
                <a:t>–Quality Information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D61A9A-05FB-9411-11D7-FC2DE2C341A6}"/>
              </a:ext>
            </a:extLst>
          </p:cNvPr>
          <p:cNvGrpSpPr/>
          <p:nvPr/>
        </p:nvGrpSpPr>
        <p:grpSpPr>
          <a:xfrm>
            <a:off x="297109" y="3340642"/>
            <a:ext cx="7822135" cy="646331"/>
            <a:chOff x="297109" y="3340642"/>
            <a:chExt cx="7822135" cy="64633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8F388A-C889-BEA8-4FBB-F953ABC4BBC1}"/>
                </a:ext>
              </a:extLst>
            </p:cNvPr>
            <p:cNvCxnSpPr>
              <a:cxnSpLocks/>
            </p:cNvCxnSpPr>
            <p:nvPr/>
          </p:nvCxnSpPr>
          <p:spPr>
            <a:xfrm>
              <a:off x="2832541" y="3805126"/>
              <a:ext cx="5286703" cy="0"/>
            </a:xfrm>
            <a:prstGeom prst="line">
              <a:avLst/>
            </a:prstGeom>
            <a:ln>
              <a:solidFill>
                <a:schemeClr val="accent3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A9DD9D-5C4C-1A60-E606-92FBCDDAF26E}"/>
                </a:ext>
              </a:extLst>
            </p:cNvPr>
            <p:cNvSpPr txBox="1"/>
            <p:nvPr/>
          </p:nvSpPr>
          <p:spPr>
            <a:xfrm>
              <a:off x="297109" y="3340642"/>
              <a:ext cx="21412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dirty="0"/>
                <a:t>Good Team’s Output</a:t>
              </a:r>
            </a:p>
            <a:p>
              <a:r>
                <a:rPr lang="en-FI" dirty="0"/>
                <a:t>–Quality Information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3642417-177C-65F0-3418-E2F9D68E861C}"/>
              </a:ext>
            </a:extLst>
          </p:cNvPr>
          <p:cNvGrpSpPr/>
          <p:nvPr/>
        </p:nvGrpSpPr>
        <p:grpSpPr>
          <a:xfrm>
            <a:off x="297109" y="5217486"/>
            <a:ext cx="7822135" cy="923330"/>
            <a:chOff x="297109" y="5217486"/>
            <a:chExt cx="7822135" cy="92333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389B11C-F3B0-E464-A5E0-062F5BB980BE}"/>
                </a:ext>
              </a:extLst>
            </p:cNvPr>
            <p:cNvCxnSpPr>
              <a:cxnSpLocks/>
            </p:cNvCxnSpPr>
            <p:nvPr/>
          </p:nvCxnSpPr>
          <p:spPr>
            <a:xfrm>
              <a:off x="2832541" y="5679151"/>
              <a:ext cx="5286703" cy="0"/>
            </a:xfrm>
            <a:prstGeom prst="line">
              <a:avLst/>
            </a:prstGeom>
            <a:ln>
              <a:solidFill>
                <a:schemeClr val="accent5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5704BE-3700-DDB0-969A-4D4724FFDB9A}"/>
                </a:ext>
              </a:extLst>
            </p:cNvPr>
            <p:cNvSpPr txBox="1"/>
            <p:nvPr/>
          </p:nvSpPr>
          <p:spPr>
            <a:xfrm>
              <a:off x="297109" y="5217486"/>
              <a:ext cx="214129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dirty="0"/>
                <a:t>Less than Good </a:t>
              </a:r>
              <a:br>
                <a:rPr lang="en-FI" dirty="0"/>
              </a:br>
              <a:r>
                <a:rPr lang="en-FI" dirty="0"/>
                <a:t>Team’s Output</a:t>
              </a:r>
            </a:p>
            <a:p>
              <a:r>
                <a:rPr lang="en-FI" dirty="0"/>
                <a:t>–Quality Information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FAC6F70-6A35-0E00-CD0D-C06D5EEF6B01}"/>
              </a:ext>
            </a:extLst>
          </p:cNvPr>
          <p:cNvGrpSpPr/>
          <p:nvPr/>
        </p:nvGrpSpPr>
        <p:grpSpPr>
          <a:xfrm>
            <a:off x="4792717" y="2257286"/>
            <a:ext cx="7054575" cy="1545021"/>
            <a:chOff x="4792717" y="2257286"/>
            <a:chExt cx="7054575" cy="15450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BAC661-B4AE-F2DA-E779-6824ECD7C31C}"/>
                </a:ext>
              </a:extLst>
            </p:cNvPr>
            <p:cNvSpPr txBox="1"/>
            <p:nvPr/>
          </p:nvSpPr>
          <p:spPr>
            <a:xfrm>
              <a:off x="9670414" y="2768186"/>
              <a:ext cx="21768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sz="2800" b="1" dirty="0">
                  <a:solidFill>
                    <a:srgbClr val="00B050"/>
                  </a:solidFill>
                </a:rPr>
                <a:t>Results Gap</a:t>
              </a:r>
            </a:p>
          </p:txBody>
        </p:sp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42619699-BF7E-45A2-217B-E41CBFD8170E}"/>
                </a:ext>
              </a:extLst>
            </p:cNvPr>
            <p:cNvSpPr/>
            <p:nvPr/>
          </p:nvSpPr>
          <p:spPr>
            <a:xfrm>
              <a:off x="8439806" y="2257286"/>
              <a:ext cx="1061545" cy="1545021"/>
            </a:xfrm>
            <a:prstGeom prst="righ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B453BE-0A0B-BE4D-50F5-323EC3F028A8}"/>
                </a:ext>
              </a:extLst>
            </p:cNvPr>
            <p:cNvSpPr txBox="1"/>
            <p:nvPr/>
          </p:nvSpPr>
          <p:spPr>
            <a:xfrm>
              <a:off x="4792717" y="2846540"/>
              <a:ext cx="1010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i="1" dirty="0"/>
                <a:t>Surprise!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6432F6C-20AE-68C9-E456-F3EB515B2133}"/>
              </a:ext>
            </a:extLst>
          </p:cNvPr>
          <p:cNvGrpSpPr/>
          <p:nvPr/>
        </p:nvGrpSpPr>
        <p:grpSpPr>
          <a:xfrm>
            <a:off x="4112810" y="2215243"/>
            <a:ext cx="8015327" cy="3421860"/>
            <a:chOff x="4112810" y="2215243"/>
            <a:chExt cx="8015327" cy="3421860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0E328DCB-B33E-11DC-723D-AFCB386F7D4F}"/>
                </a:ext>
              </a:extLst>
            </p:cNvPr>
            <p:cNvSpPr/>
            <p:nvPr/>
          </p:nvSpPr>
          <p:spPr>
            <a:xfrm>
              <a:off x="8445060" y="2215243"/>
              <a:ext cx="1061545" cy="3421860"/>
            </a:xfrm>
            <a:prstGeom prst="rightBrace">
              <a:avLst>
                <a:gd name="adj1" fmla="val 8333"/>
                <a:gd name="adj2" fmla="val 68122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9B3976-BCB8-9BC3-4541-5C39EC5DFB0D}"/>
                </a:ext>
              </a:extLst>
            </p:cNvPr>
            <p:cNvSpPr txBox="1"/>
            <p:nvPr/>
          </p:nvSpPr>
          <p:spPr>
            <a:xfrm>
              <a:off x="9670413" y="4240592"/>
              <a:ext cx="2457724" cy="1138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sz="2800" dirty="0">
                  <a:solidFill>
                    <a:schemeClr val="accent6"/>
                  </a:solidFill>
                </a:rPr>
                <a:t>Results Gap</a:t>
              </a:r>
              <a:br>
                <a:rPr lang="en-FI" sz="2800" dirty="0"/>
              </a:br>
              <a:r>
                <a:rPr lang="en-FI" sz="2000" dirty="0"/>
                <a:t>on a Team that thinks </a:t>
              </a:r>
            </a:p>
            <a:p>
              <a:r>
                <a:rPr lang="en-FI" sz="2000" dirty="0"/>
                <a:t>Testers == Testing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29D106D-2D17-62D8-5FDE-5581C119F958}"/>
                </a:ext>
              </a:extLst>
            </p:cNvPr>
            <p:cNvSpPr txBox="1"/>
            <p:nvPr/>
          </p:nvSpPr>
          <p:spPr>
            <a:xfrm>
              <a:off x="4112810" y="4625312"/>
              <a:ext cx="2536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i="1" dirty="0"/>
                <a:t>Pick up the pizza boxes… 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73CBD95-0395-ABCE-EFB6-96578FDB5B26}"/>
              </a:ext>
            </a:extLst>
          </p:cNvPr>
          <p:cNvSpPr txBox="1"/>
          <p:nvPr/>
        </p:nvSpPr>
        <p:spPr>
          <a:xfrm>
            <a:off x="178676" y="350778"/>
            <a:ext cx="118661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4400" dirty="0">
                <a:latin typeface="KG No Matter What" panose="02000507000000020003" pitchFamily="2" charset="77"/>
              </a:rPr>
              <a:t>”Find (some of) What Others May Have </a:t>
            </a:r>
            <a:r>
              <a:rPr lang="fi-FI" sz="4400" dirty="0">
                <a:solidFill>
                  <a:schemeClr val="accent6"/>
                </a:solidFill>
                <a:latin typeface="KG No Matter What" panose="02000507000000020003" pitchFamily="2" charset="77"/>
              </a:rPr>
              <a:t>Missed</a:t>
            </a:r>
            <a:r>
              <a:rPr lang="fi-FI" sz="4400" dirty="0">
                <a:latin typeface="KG No Matter What" panose="02000507000000020003" pitchFamily="2" charset="77"/>
              </a:rPr>
              <a:t>”</a:t>
            </a:r>
            <a:endParaRPr lang="en-US" sz="4400" dirty="0">
              <a:latin typeface="KG No Matter What" panose="02000507000000020003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2285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C41368-C083-603C-7CD3-5E6A99633984}"/>
              </a:ext>
            </a:extLst>
          </p:cNvPr>
          <p:cNvSpPr txBox="1"/>
          <p:nvPr/>
        </p:nvSpPr>
        <p:spPr>
          <a:xfrm>
            <a:off x="2942732" y="1601901"/>
            <a:ext cx="630653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I" sz="9600" dirty="0">
                <a:solidFill>
                  <a:schemeClr val="accent2"/>
                </a:solidFill>
                <a:latin typeface="KG No Matter What" panose="02000507000000020003" pitchFamily="2" charset="77"/>
              </a:rPr>
              <a:t>1 – 2 – 3 </a:t>
            </a:r>
            <a:br>
              <a:rPr lang="en-FI" sz="4800" dirty="0"/>
            </a:br>
            <a:r>
              <a:rPr lang="en-FI" sz="4800" dirty="0"/>
              <a:t>Model to Test Coverage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9D9A6-2407-3FB8-41B0-D4557F81BA27}"/>
              </a:ext>
            </a:extLst>
          </p:cNvPr>
          <p:cNvSpPr txBox="1"/>
          <p:nvPr/>
        </p:nvSpPr>
        <p:spPr>
          <a:xfrm>
            <a:off x="4738479" y="94278"/>
            <a:ext cx="8391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dirty="0">
                <a:solidFill>
                  <a:schemeClr val="accent4"/>
                </a:solidFill>
              </a:rPr>
              <a:t>https://visible-quality.blogspot.com/2022/11/1-2-3-model-to-test-coverage.html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236187-85CC-6BDA-A847-EAE06F34B388}"/>
              </a:ext>
            </a:extLst>
          </p:cNvPr>
          <p:cNvSpPr txBox="1"/>
          <p:nvPr/>
        </p:nvSpPr>
        <p:spPr>
          <a:xfrm>
            <a:off x="5062653" y="4122235"/>
            <a:ext cx="22624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FI" sz="2400" dirty="0"/>
              <a:t>Code</a:t>
            </a:r>
          </a:p>
          <a:p>
            <a:pPr marL="342900" indent="-342900">
              <a:buAutoNum type="arabicPeriod"/>
            </a:pPr>
            <a:r>
              <a:rPr lang="en-FI" sz="2400" dirty="0"/>
              <a:t>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2BF762-7CBF-AF44-2155-167A4F69375B}"/>
              </a:ext>
            </a:extLst>
          </p:cNvPr>
          <p:cNvSpPr txBox="1"/>
          <p:nvPr/>
        </p:nvSpPr>
        <p:spPr>
          <a:xfrm>
            <a:off x="2672575" y="4122235"/>
            <a:ext cx="14253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FI" sz="2400" dirty="0"/>
              <a:t>Results</a:t>
            </a:r>
          </a:p>
          <a:p>
            <a:endParaRPr lang="en-FI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160AE4-8184-EA4B-0002-BCADBC59076F}"/>
              </a:ext>
            </a:extLst>
          </p:cNvPr>
          <p:cNvSpPr txBox="1"/>
          <p:nvPr/>
        </p:nvSpPr>
        <p:spPr>
          <a:xfrm>
            <a:off x="7876926" y="4122234"/>
            <a:ext cx="22846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FI" sz="2400" dirty="0"/>
              <a:t>Environment</a:t>
            </a:r>
          </a:p>
          <a:p>
            <a:pPr marL="342900" indent="-342900">
              <a:buAutoNum type="arabicPeriod"/>
            </a:pPr>
            <a:r>
              <a:rPr lang="en-FI" sz="2400" dirty="0"/>
              <a:t>Data</a:t>
            </a:r>
          </a:p>
          <a:p>
            <a:pPr marL="342900" indent="-342900">
              <a:buAutoNum type="arabicPeriod"/>
            </a:pPr>
            <a:r>
              <a:rPr lang="en-FI" sz="2400" dirty="0"/>
              <a:t>Parafunctional</a:t>
            </a:r>
          </a:p>
        </p:txBody>
      </p:sp>
    </p:spTree>
    <p:extLst>
      <p:ext uri="{BB962C8B-B14F-4D97-AF65-F5344CB8AC3E}">
        <p14:creationId xmlns:p14="http://schemas.microsoft.com/office/powerpoint/2010/main" val="1962315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B6D1B7C-6B20-D2FE-079E-5B81651A66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9503" y="2436813"/>
            <a:ext cx="4011613" cy="1162050"/>
          </a:xfrm>
        </p:spPr>
        <p:txBody>
          <a:bodyPr>
            <a:normAutofit/>
          </a:bodyPr>
          <a:lstStyle/>
          <a:p>
            <a:r>
              <a:rPr lang="en-US" sz="4400" b="0" dirty="0"/>
              <a:t>Negative Space</a:t>
            </a:r>
          </a:p>
        </p:txBody>
      </p:sp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id="{04C31FCB-B155-94D6-2BD3-518ECB3607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6" r="-1" b="1376"/>
          <a:stretch/>
        </p:blipFill>
        <p:spPr>
          <a:xfrm>
            <a:off x="4766733" y="273070"/>
            <a:ext cx="6815667" cy="58531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2798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86CB05-FA23-7AA9-2A50-BBDC6DF04E33}"/>
              </a:ext>
            </a:extLst>
          </p:cNvPr>
          <p:cNvSpPr txBox="1"/>
          <p:nvPr/>
        </p:nvSpPr>
        <p:spPr>
          <a:xfrm>
            <a:off x="1729409" y="1063487"/>
            <a:ext cx="8733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5400" dirty="0">
                <a:latin typeface="Gill Sans MT" panose="020B0502020104020203" pitchFamily="34" charset="77"/>
              </a:rPr>
              <a:t>We confuse </a:t>
            </a:r>
            <a:r>
              <a:rPr lang="en-FI" sz="5400" dirty="0">
                <a:solidFill>
                  <a:schemeClr val="accent5"/>
                </a:solidFill>
                <a:latin typeface="Gill Sans MT" panose="020B0502020104020203" pitchFamily="34" charset="77"/>
              </a:rPr>
              <a:t>long/detailed </a:t>
            </a:r>
            <a:r>
              <a:rPr lang="en-FI" sz="5400" dirty="0">
                <a:latin typeface="Gill Sans MT" panose="020B0502020104020203" pitchFamily="34" charset="77"/>
              </a:rPr>
              <a:t>with solid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6F065-AA0E-A185-9590-78E4EC5E366E}"/>
              </a:ext>
            </a:extLst>
          </p:cNvPr>
          <p:cNvSpPr txBox="1"/>
          <p:nvPr/>
        </p:nvSpPr>
        <p:spPr>
          <a:xfrm>
            <a:off x="2424952" y="3624689"/>
            <a:ext cx="69685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800" b="1" dirty="0">
                <a:solidFill>
                  <a:schemeClr val="accent2"/>
                </a:solidFill>
                <a:latin typeface="KG No Matter What" panose="02000507000000020003" pitchFamily="2" charset="77"/>
                <a:sym typeface="Wingdings" pitchFamily="2" charset="2"/>
              </a:rPr>
              <a:t></a:t>
            </a:r>
            <a:r>
              <a:rPr lang="en-FI" sz="4800" dirty="0">
                <a:solidFill>
                  <a:schemeClr val="accent2"/>
                </a:solidFill>
                <a:latin typeface="KG No Matter What" panose="02000507000000020003" pitchFamily="2" charset="77"/>
                <a:sym typeface="Wingdings" pitchFamily="2" charset="2"/>
              </a:rPr>
              <a:t> </a:t>
            </a:r>
            <a:r>
              <a:rPr lang="en-FI" sz="4800" dirty="0">
                <a:latin typeface="KG No Matter What" panose="02000507000000020003" pitchFamily="2" charset="77"/>
              </a:rPr>
              <a:t>Individual Review Prep</a:t>
            </a:r>
          </a:p>
        </p:txBody>
      </p:sp>
    </p:spTree>
    <p:extLst>
      <p:ext uri="{BB962C8B-B14F-4D97-AF65-F5344CB8AC3E}">
        <p14:creationId xmlns:p14="http://schemas.microsoft.com/office/powerpoint/2010/main" val="2017066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4DD295E-B6D3-E19B-2149-5BFFC0B0E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865" y="68263"/>
            <a:ext cx="9344270" cy="6073775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486069-9F81-F151-9B77-44B3B8FD68E5}"/>
              </a:ext>
            </a:extLst>
          </p:cNvPr>
          <p:cNvSpPr txBox="1"/>
          <p:nvPr/>
        </p:nvSpPr>
        <p:spPr>
          <a:xfrm rot="16200000">
            <a:off x="-2181224" y="2851254"/>
            <a:ext cx="5873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2000" dirty="0"/>
              <a:t>Testing Challenges, a paired modeling session result</a:t>
            </a:r>
            <a:br>
              <a:rPr lang="en-FI" sz="2000" dirty="0"/>
            </a:br>
            <a:r>
              <a:rPr lang="en-FI" sz="2000" dirty="0"/>
              <a:t>by Maaret Pyhäjärvi &amp; Irja Straus, 9.12.2022</a:t>
            </a:r>
          </a:p>
        </p:txBody>
      </p:sp>
    </p:spTree>
    <p:extLst>
      <p:ext uri="{BB962C8B-B14F-4D97-AF65-F5344CB8AC3E}">
        <p14:creationId xmlns:p14="http://schemas.microsoft.com/office/powerpoint/2010/main" val="2124955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86CB05-FA23-7AA9-2A50-BBDC6DF04E33}"/>
              </a:ext>
            </a:extLst>
          </p:cNvPr>
          <p:cNvSpPr txBox="1"/>
          <p:nvPr/>
        </p:nvSpPr>
        <p:spPr>
          <a:xfrm>
            <a:off x="1729409" y="1063487"/>
            <a:ext cx="8733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5400" dirty="0">
                <a:solidFill>
                  <a:schemeClr val="accent5"/>
                </a:solidFill>
                <a:latin typeface="Gill Sans MT" panose="020B0502020104020203" pitchFamily="34" charset="77"/>
              </a:rPr>
              <a:t>Developer misunderstandings </a:t>
            </a:r>
            <a:r>
              <a:rPr lang="en-FI" sz="5400" dirty="0">
                <a:latin typeface="Gill Sans MT" panose="020B0502020104020203" pitchFamily="34" charset="77"/>
              </a:rPr>
              <a:t>end up in production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6F065-AA0E-A185-9590-78E4EC5E366E}"/>
              </a:ext>
            </a:extLst>
          </p:cNvPr>
          <p:cNvSpPr txBox="1"/>
          <p:nvPr/>
        </p:nvSpPr>
        <p:spPr>
          <a:xfrm>
            <a:off x="2424952" y="3624689"/>
            <a:ext cx="77348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800" b="1" dirty="0">
                <a:solidFill>
                  <a:schemeClr val="accent2"/>
                </a:solidFill>
                <a:latin typeface="KG No Matter What" panose="02000507000000020003" pitchFamily="2" charset="77"/>
                <a:sym typeface="Wingdings" pitchFamily="2" charset="2"/>
              </a:rPr>
              <a:t></a:t>
            </a:r>
            <a:r>
              <a:rPr lang="en-FI" sz="4800" dirty="0">
                <a:solidFill>
                  <a:schemeClr val="accent2"/>
                </a:solidFill>
                <a:latin typeface="KG No Matter What" panose="02000507000000020003" pitchFamily="2" charset="77"/>
                <a:sym typeface="Wingdings" pitchFamily="2" charset="2"/>
              </a:rPr>
              <a:t> </a:t>
            </a:r>
            <a:r>
              <a:rPr lang="en-FI" sz="4800" dirty="0">
                <a:latin typeface="KG No Matter What" panose="02000507000000020003" pitchFamily="2" charset="77"/>
              </a:rPr>
              <a:t>Reverse Review Manouver</a:t>
            </a:r>
          </a:p>
        </p:txBody>
      </p:sp>
    </p:spTree>
    <p:extLst>
      <p:ext uri="{BB962C8B-B14F-4D97-AF65-F5344CB8AC3E}">
        <p14:creationId xmlns:p14="http://schemas.microsoft.com/office/powerpoint/2010/main" val="4101157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86CB05-FA23-7AA9-2A50-BBDC6DF04E33}"/>
              </a:ext>
            </a:extLst>
          </p:cNvPr>
          <p:cNvSpPr txBox="1"/>
          <p:nvPr/>
        </p:nvSpPr>
        <p:spPr>
          <a:xfrm>
            <a:off x="1729409" y="1063487"/>
            <a:ext cx="8733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5400" dirty="0">
                <a:solidFill>
                  <a:schemeClr val="accent5"/>
                </a:solidFill>
                <a:latin typeface="Gill Sans MT" panose="020B0502020104020203" pitchFamily="34" charset="77"/>
              </a:rPr>
              <a:t>Active search</a:t>
            </a:r>
            <a:r>
              <a:rPr lang="en-FI" sz="5400" dirty="0">
                <a:latin typeface="Gill Sans MT" panose="020B0502020104020203" pitchFamily="34" charset="77"/>
              </a:rPr>
              <a:t> is required to see negative space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6F065-AA0E-A185-9590-78E4EC5E366E}"/>
              </a:ext>
            </a:extLst>
          </p:cNvPr>
          <p:cNvSpPr txBox="1"/>
          <p:nvPr/>
        </p:nvSpPr>
        <p:spPr>
          <a:xfrm>
            <a:off x="3763470" y="3714141"/>
            <a:ext cx="4665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800" b="1" dirty="0">
                <a:solidFill>
                  <a:schemeClr val="accent2"/>
                </a:solidFill>
                <a:latin typeface="KG No Matter What" panose="02000507000000020003" pitchFamily="2" charset="77"/>
                <a:sym typeface="Wingdings" pitchFamily="2" charset="2"/>
              </a:rPr>
              <a:t></a:t>
            </a:r>
            <a:r>
              <a:rPr lang="en-FI" sz="4800" dirty="0">
                <a:solidFill>
                  <a:schemeClr val="accent2"/>
                </a:solidFill>
                <a:latin typeface="KG No Matter What" panose="02000507000000020003" pitchFamily="2" charset="77"/>
                <a:sym typeface="Wingdings" pitchFamily="2" charset="2"/>
              </a:rPr>
              <a:t> </a:t>
            </a:r>
            <a:r>
              <a:rPr lang="en-FI" sz="4800" dirty="0">
                <a:latin typeface="KG No Matter What" panose="02000507000000020003" pitchFamily="2" charset="77"/>
              </a:rPr>
              <a:t>Spec of Claims</a:t>
            </a:r>
          </a:p>
        </p:txBody>
      </p:sp>
    </p:spTree>
    <p:extLst>
      <p:ext uri="{BB962C8B-B14F-4D97-AF65-F5344CB8AC3E}">
        <p14:creationId xmlns:p14="http://schemas.microsoft.com/office/powerpoint/2010/main" val="2963219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86CB05-FA23-7AA9-2A50-BBDC6DF04E33}"/>
              </a:ext>
            </a:extLst>
          </p:cNvPr>
          <p:cNvSpPr txBox="1"/>
          <p:nvPr/>
        </p:nvSpPr>
        <p:spPr>
          <a:xfrm>
            <a:off x="1729409" y="1063487"/>
            <a:ext cx="8733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5400" dirty="0">
                <a:solidFill>
                  <a:schemeClr val="accent5"/>
                </a:solidFill>
                <a:latin typeface="Gill Sans MT" panose="020B0502020104020203" pitchFamily="34" charset="77"/>
              </a:rPr>
              <a:t>Pictures</a:t>
            </a:r>
            <a:r>
              <a:rPr lang="en-FI" sz="5400" dirty="0">
                <a:latin typeface="Gill Sans MT" panose="020B0502020104020203" pitchFamily="34" charset="77"/>
              </a:rPr>
              <a:t> say different things than texts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6F065-AA0E-A185-9590-78E4EC5E366E}"/>
              </a:ext>
            </a:extLst>
          </p:cNvPr>
          <p:cNvSpPr txBox="1"/>
          <p:nvPr/>
        </p:nvSpPr>
        <p:spPr>
          <a:xfrm>
            <a:off x="3431648" y="3724080"/>
            <a:ext cx="53287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800" b="1" dirty="0">
                <a:solidFill>
                  <a:schemeClr val="accent2"/>
                </a:solidFill>
                <a:latin typeface="KG No Matter What" panose="02000507000000020003" pitchFamily="2" charset="77"/>
                <a:sym typeface="Wingdings" pitchFamily="2" charset="2"/>
              </a:rPr>
              <a:t></a:t>
            </a:r>
            <a:r>
              <a:rPr lang="en-FI" sz="4800" dirty="0">
                <a:solidFill>
                  <a:schemeClr val="accent2"/>
                </a:solidFill>
                <a:latin typeface="KG No Matter What" panose="02000507000000020003" pitchFamily="2" charset="77"/>
                <a:sym typeface="Wingdings" pitchFamily="2" charset="2"/>
              </a:rPr>
              <a:t> </a:t>
            </a:r>
            <a:r>
              <a:rPr lang="en-FI" sz="4800" dirty="0">
                <a:latin typeface="KG No Matter What" panose="02000507000000020003" pitchFamily="2" charset="77"/>
              </a:rPr>
              <a:t>Visual Modeling</a:t>
            </a:r>
          </a:p>
        </p:txBody>
      </p:sp>
    </p:spTree>
    <p:extLst>
      <p:ext uri="{BB962C8B-B14F-4D97-AF65-F5344CB8AC3E}">
        <p14:creationId xmlns:p14="http://schemas.microsoft.com/office/powerpoint/2010/main" val="3163050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meline&#10;&#10;Description automatically generated">
            <a:extLst>
              <a:ext uri="{FF2B5EF4-FFF2-40B4-BE49-F238E27FC236}">
                <a16:creationId xmlns:a16="http://schemas.microsoft.com/office/drawing/2014/main" id="{CFA131F2-1C59-013C-5BD0-CEB34A6B3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347" y="68263"/>
            <a:ext cx="8899306" cy="6073775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A1B74A-FFCD-BFA3-F84F-4A27AD5024E2}"/>
              </a:ext>
            </a:extLst>
          </p:cNvPr>
          <p:cNvSpPr txBox="1"/>
          <p:nvPr/>
        </p:nvSpPr>
        <p:spPr>
          <a:xfrm rot="16200000">
            <a:off x="-2181224" y="2851254"/>
            <a:ext cx="5873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2000" dirty="0"/>
              <a:t>Exploring ChatGPT, model by Testing Dozen https://testing-dozen.github.io</a:t>
            </a:r>
          </a:p>
        </p:txBody>
      </p:sp>
    </p:spTree>
    <p:extLst>
      <p:ext uri="{BB962C8B-B14F-4D97-AF65-F5344CB8AC3E}">
        <p14:creationId xmlns:p14="http://schemas.microsoft.com/office/powerpoint/2010/main" val="975309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86CB05-FA23-7AA9-2A50-BBDC6DF04E33}"/>
              </a:ext>
            </a:extLst>
          </p:cNvPr>
          <p:cNvSpPr txBox="1"/>
          <p:nvPr/>
        </p:nvSpPr>
        <p:spPr>
          <a:xfrm>
            <a:off x="1729409" y="1172819"/>
            <a:ext cx="8733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5400" dirty="0">
                <a:solidFill>
                  <a:schemeClr val="accent5"/>
                </a:solidFill>
                <a:latin typeface="Gill Sans MT" panose="020B0502020104020203" pitchFamily="34" charset="77"/>
              </a:rPr>
              <a:t>Reference </a:t>
            </a:r>
            <a:r>
              <a:rPr lang="en-FI" sz="5400" dirty="0">
                <a:latin typeface="Gill Sans MT" panose="020B0502020104020203" pitchFamily="34" charset="77"/>
              </a:rPr>
              <a:t>helps notice change as something goes missing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6F065-AA0E-A185-9590-78E4EC5E366E}"/>
              </a:ext>
            </a:extLst>
          </p:cNvPr>
          <p:cNvSpPr txBox="1"/>
          <p:nvPr/>
        </p:nvSpPr>
        <p:spPr>
          <a:xfrm>
            <a:off x="2251689" y="3604810"/>
            <a:ext cx="82109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800" b="1" dirty="0">
                <a:solidFill>
                  <a:schemeClr val="accent2"/>
                </a:solidFill>
                <a:latin typeface="KG No Matter What" panose="02000507000000020003" pitchFamily="2" charset="77"/>
                <a:sym typeface="Wingdings" pitchFamily="2" charset="2"/>
              </a:rPr>
              <a:t></a:t>
            </a:r>
            <a:r>
              <a:rPr lang="en-FI" sz="4800" dirty="0">
                <a:solidFill>
                  <a:schemeClr val="accent2"/>
                </a:solidFill>
                <a:latin typeface="KG No Matter What" panose="02000507000000020003" pitchFamily="2" charset="77"/>
                <a:sym typeface="Wingdings" pitchFamily="2" charset="2"/>
              </a:rPr>
              <a:t> </a:t>
            </a:r>
            <a:r>
              <a:rPr lang="en-FI" sz="4800" dirty="0">
                <a:latin typeface="KG No Matter What" panose="02000507000000020003" pitchFamily="2" charset="77"/>
              </a:rPr>
              <a:t>Baselining (approval testing)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B647CE-C39E-0532-B72E-297C2E2C39B0}"/>
              </a:ext>
            </a:extLst>
          </p:cNvPr>
          <p:cNvSpPr txBox="1"/>
          <p:nvPr/>
        </p:nvSpPr>
        <p:spPr>
          <a:xfrm>
            <a:off x="6539948" y="4435807"/>
            <a:ext cx="2736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*performance, visual, claims</a:t>
            </a:r>
          </a:p>
        </p:txBody>
      </p:sp>
    </p:spTree>
    <p:extLst>
      <p:ext uri="{BB962C8B-B14F-4D97-AF65-F5344CB8AC3E}">
        <p14:creationId xmlns:p14="http://schemas.microsoft.com/office/powerpoint/2010/main" val="634458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B27F18-F085-4F76-97CD-CF75D40B2C89}"/>
              </a:ext>
            </a:extLst>
          </p:cNvPr>
          <p:cNvSpPr txBox="1"/>
          <p:nvPr/>
        </p:nvSpPr>
        <p:spPr>
          <a:xfrm>
            <a:off x="1715911" y="2585155"/>
            <a:ext cx="90204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accent4"/>
                </a:solidFill>
                <a:latin typeface="KG No Matter What" panose="02000507000000020003" pitchFamily="2" charset="0"/>
              </a:rPr>
              <a:t>Cost</a:t>
            </a:r>
            <a:r>
              <a:rPr lang="en-US" sz="7200" dirty="0">
                <a:latin typeface="KG No Matter What" panose="02000507000000020003" pitchFamily="2" charset="0"/>
              </a:rPr>
              <a:t> of Documentation?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A068F9-DAE8-431E-A030-51996B45A36A}"/>
              </a:ext>
            </a:extLst>
          </p:cNvPr>
          <p:cNvSpPr txBox="1"/>
          <p:nvPr/>
        </p:nvSpPr>
        <p:spPr>
          <a:xfrm>
            <a:off x="8602133" y="3760379"/>
            <a:ext cx="15279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writing</a:t>
            </a:r>
          </a:p>
          <a:p>
            <a:r>
              <a:rPr lang="en-US" dirty="0"/>
              <a:t>… reading</a:t>
            </a:r>
          </a:p>
          <a:p>
            <a:r>
              <a:rPr lang="en-US" dirty="0"/>
              <a:t>… maintaining</a:t>
            </a:r>
          </a:p>
        </p:txBody>
      </p:sp>
    </p:spTree>
    <p:extLst>
      <p:ext uri="{BB962C8B-B14F-4D97-AF65-F5344CB8AC3E}">
        <p14:creationId xmlns:p14="http://schemas.microsoft.com/office/powerpoint/2010/main" val="3950734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0F3C81-B9F4-BAF9-3496-97417EC63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180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BCC98D-E7FC-88F7-E2BE-594E77CED818}"/>
              </a:ext>
            </a:extLst>
          </p:cNvPr>
          <p:cNvSpPr txBox="1"/>
          <p:nvPr/>
        </p:nvSpPr>
        <p:spPr>
          <a:xfrm>
            <a:off x="8762741" y="2151727"/>
            <a:ext cx="255362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200" dirty="0">
                <a:solidFill>
                  <a:schemeClr val="bg1"/>
                </a:solidFill>
                <a:latin typeface="KG No Matter What" panose="02000507000000020003" pitchFamily="2" charset="77"/>
              </a:rPr>
              <a:t>Some Tests for integer to roman numerals program</a:t>
            </a:r>
          </a:p>
        </p:txBody>
      </p:sp>
    </p:spTree>
    <p:extLst>
      <p:ext uri="{BB962C8B-B14F-4D97-AF65-F5344CB8AC3E}">
        <p14:creationId xmlns:p14="http://schemas.microsoft.com/office/powerpoint/2010/main" val="563602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2302E0-161D-7CCE-F2FC-0D1B095CCE0F}"/>
              </a:ext>
            </a:extLst>
          </p:cNvPr>
          <p:cNvSpPr txBox="1"/>
          <p:nvPr/>
        </p:nvSpPr>
        <p:spPr>
          <a:xfrm>
            <a:off x="693684" y="1327859"/>
            <a:ext cx="11010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b="0" i="0" u="none" strike="noStrike" dirty="0">
                <a:solidFill>
                  <a:srgbClr val="0F1419"/>
                </a:solidFill>
                <a:effectLst/>
                <a:latin typeface="KG No Matter What" panose="02000507000000020003" pitchFamily="2" charset="77"/>
              </a:rPr>
              <a:t>Everything that does not need to be automated </a:t>
            </a:r>
            <a:r>
              <a:rPr lang="en-GB" sz="8000" b="0" i="0" u="none" strike="noStrike" dirty="0">
                <a:solidFill>
                  <a:schemeClr val="accent4"/>
                </a:solidFill>
                <a:effectLst/>
                <a:latin typeface="KG No Matter What" panose="02000507000000020003" pitchFamily="2" charset="77"/>
              </a:rPr>
              <a:t>gets done while automating</a:t>
            </a:r>
            <a:r>
              <a:rPr lang="en-GB" sz="8000" b="0" i="0" u="none" strike="noStrike" dirty="0">
                <a:solidFill>
                  <a:srgbClr val="0F1419"/>
                </a:solidFill>
                <a:effectLst/>
                <a:latin typeface="KG No Matter What" panose="02000507000000020003" pitchFamily="2" charset="77"/>
              </a:rPr>
              <a:t>.</a:t>
            </a:r>
            <a:endParaRPr lang="en-FI" sz="8000" dirty="0">
              <a:latin typeface="KG No Matter What" panose="02000507000000020003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BDA40B-B98D-0B47-7197-3FAF7484B83D}"/>
              </a:ext>
            </a:extLst>
          </p:cNvPr>
          <p:cNvSpPr txBox="1"/>
          <p:nvPr/>
        </p:nvSpPr>
        <p:spPr>
          <a:xfrm>
            <a:off x="5943600" y="4928845"/>
            <a:ext cx="4032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/>
              <a:t>* </a:t>
            </a:r>
            <a:r>
              <a:rPr lang="en-GB" dirty="0"/>
              <a:t>S</a:t>
            </a:r>
            <a:r>
              <a:rPr lang="en-FI" dirty="0"/>
              <a:t>ubject to how you organize for testing</a:t>
            </a:r>
          </a:p>
        </p:txBody>
      </p:sp>
    </p:spTree>
    <p:extLst>
      <p:ext uri="{BB962C8B-B14F-4D97-AF65-F5344CB8AC3E}">
        <p14:creationId xmlns:p14="http://schemas.microsoft.com/office/powerpoint/2010/main" val="2058527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4ECEC-A6B4-E7EC-63FF-086F14552A23}"/>
              </a:ext>
            </a:extLst>
          </p:cNvPr>
          <p:cNvSpPr txBox="1"/>
          <p:nvPr/>
        </p:nvSpPr>
        <p:spPr>
          <a:xfrm>
            <a:off x="882870" y="629429"/>
            <a:ext cx="105035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7200" dirty="0"/>
              <a:t>A majority of the production failures (</a:t>
            </a:r>
            <a:r>
              <a:rPr lang="en-FI" sz="7200" dirty="0">
                <a:solidFill>
                  <a:schemeClr val="accent6"/>
                </a:solidFill>
              </a:rPr>
              <a:t>77%</a:t>
            </a:r>
            <a:r>
              <a:rPr lang="en-FI" sz="7200" dirty="0"/>
              <a:t>) can be reproduced by a unit test.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DC9F5-F253-81C6-F4A0-4E07D00D4BE0}"/>
              </a:ext>
            </a:extLst>
          </p:cNvPr>
          <p:cNvSpPr txBox="1"/>
          <p:nvPr/>
        </p:nvSpPr>
        <p:spPr>
          <a:xfrm>
            <a:off x="4090604" y="5153744"/>
            <a:ext cx="7295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dirty="0">
                <a:solidFill>
                  <a:schemeClr val="bg1">
                    <a:lumMod val="75000"/>
                  </a:schemeClr>
                </a:solidFill>
              </a:rPr>
              <a:t>https://www.usenix.org/system/files/conference/osdi14/osdi14-paper-yuan.pdf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8468B-1A76-03EA-9387-09256169E03F}"/>
              </a:ext>
            </a:extLst>
          </p:cNvPr>
          <p:cNvSpPr txBox="1"/>
          <p:nvPr/>
        </p:nvSpPr>
        <p:spPr>
          <a:xfrm>
            <a:off x="4698124" y="5454132"/>
            <a:ext cx="7378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T</a:t>
            </a:r>
            <a:r>
              <a:rPr lang="en-FI" dirty="0">
                <a:solidFill>
                  <a:schemeClr val="bg1">
                    <a:lumMod val="75000"/>
                  </a:schemeClr>
                </a:solidFill>
              </a:rPr>
              <a:t>hrough https://www.slideshare.net/Kevlin/the-error-of-our-ways</a:t>
            </a:r>
          </a:p>
        </p:txBody>
      </p:sp>
    </p:spTree>
    <p:extLst>
      <p:ext uri="{BB962C8B-B14F-4D97-AF65-F5344CB8AC3E}">
        <p14:creationId xmlns:p14="http://schemas.microsoft.com/office/powerpoint/2010/main" val="3980662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Logo, company name&#10;&#10;Description automatically generated">
            <a:extLst>
              <a:ext uri="{FF2B5EF4-FFF2-40B4-BE49-F238E27FC236}">
                <a16:creationId xmlns:a16="http://schemas.microsoft.com/office/drawing/2014/main" id="{854A0A4B-2E30-48B7-9742-60083A5B38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25"/>
          <a:stretch/>
        </p:blipFill>
        <p:spPr>
          <a:xfrm>
            <a:off x="2919409" y="2198639"/>
            <a:ext cx="2114550" cy="1841234"/>
          </a:xfrm>
          <a:prstGeom prst="rect">
            <a:avLst/>
          </a:prstGeom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87CEA219-8AFB-4554-ADBB-FB7A931036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4" r="30156"/>
          <a:stretch/>
        </p:blipFill>
        <p:spPr bwMode="auto">
          <a:xfrm flipV="1">
            <a:off x="0" y="1527"/>
            <a:ext cx="12192000" cy="221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1F1B449-2966-44CC-8220-B3564B2FA22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33960" y="2319660"/>
            <a:ext cx="1543445" cy="6629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6502B3-4FFD-461F-A833-8217BB9ED1EA}"/>
              </a:ext>
            </a:extLst>
          </p:cNvPr>
          <p:cNvSpPr txBox="1"/>
          <p:nvPr/>
        </p:nvSpPr>
        <p:spPr>
          <a:xfrm>
            <a:off x="3570919" y="3794128"/>
            <a:ext cx="81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2020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CFDD0-2947-4C5C-AA84-6FDABC423187}"/>
              </a:ext>
            </a:extLst>
          </p:cNvPr>
          <p:cNvSpPr txBox="1"/>
          <p:nvPr/>
        </p:nvSpPr>
        <p:spPr>
          <a:xfrm>
            <a:off x="5687805" y="3779599"/>
            <a:ext cx="81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2016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B64645-B8ED-431F-A0F2-17DBFA31C515}"/>
              </a:ext>
            </a:extLst>
          </p:cNvPr>
          <p:cNvSpPr txBox="1"/>
          <p:nvPr/>
        </p:nvSpPr>
        <p:spPr>
          <a:xfrm>
            <a:off x="4794126" y="2966502"/>
            <a:ext cx="268585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MIATPP</a:t>
            </a:r>
            <a:r>
              <a:rPr lang="en-US" dirty="0">
                <a:latin typeface="Gill Sans MT" panose="020B0502020104020203" pitchFamily="34" charset="0"/>
              </a:rPr>
              <a:t> </a:t>
            </a:r>
            <a:br>
              <a:rPr lang="en-US" dirty="0">
                <a:latin typeface="Gill Sans MT" panose="020B0502020104020203" pitchFamily="34" charset="0"/>
              </a:rPr>
            </a:br>
            <a:r>
              <a:rPr lang="en-US" sz="1350" dirty="0">
                <a:latin typeface="Gill Sans Nova Light" panose="020B0604020202020204" pitchFamily="34" charset="0"/>
              </a:rPr>
              <a:t>Most Influential Agile Testing Professional Person</a:t>
            </a:r>
            <a:endParaRPr lang="en-US" dirty="0">
              <a:latin typeface="Gill Sans Nova Light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D680E0-9A77-4140-916C-51A66B525CBE}"/>
              </a:ext>
            </a:extLst>
          </p:cNvPr>
          <p:cNvSpPr txBox="1"/>
          <p:nvPr/>
        </p:nvSpPr>
        <p:spPr>
          <a:xfrm>
            <a:off x="5451381" y="4729812"/>
            <a:ext cx="48290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0"/>
              </a:rPr>
              <a:t>#PayToSpeak #TechVoices  </a:t>
            </a:r>
            <a:br>
              <a:rPr lang="en-US" sz="1200" dirty="0">
                <a:latin typeface="Gill Sans MT" panose="020B0502020104020203" pitchFamily="34" charset="0"/>
              </a:rPr>
            </a:br>
            <a:r>
              <a:rPr lang="en-US" sz="1200" dirty="0">
                <a:latin typeface="Gill Sans MT" panose="020B0502020104020203" pitchFamily="34" charset="0"/>
              </a:rPr>
              <a:t>#EnsembleTesting #EnsembleProgramming #StrongStylePairing  </a:t>
            </a:r>
            <a:br>
              <a:rPr lang="en-US" sz="1200" dirty="0">
                <a:latin typeface="Gill Sans MT" panose="020B0502020104020203" pitchFamily="34" charset="0"/>
              </a:rPr>
            </a:br>
            <a:r>
              <a:rPr lang="en-US" sz="1200" dirty="0">
                <a:latin typeface="Gill Sans MT" panose="020B0502020104020203" pitchFamily="34" charset="0"/>
              </a:rPr>
              <a:t>#ExploratoryTesting #TestAutomation #ContemporaryExploratoryTesting</a:t>
            </a:r>
          </a:p>
          <a:p>
            <a:r>
              <a:rPr lang="en-US" sz="1200" dirty="0">
                <a:latin typeface="Gill Sans MT" panose="020B0502020104020203" pitchFamily="34" charset="0"/>
              </a:rPr>
              <a:t>#ModernAgile</a:t>
            </a:r>
          </a:p>
          <a:p>
            <a:r>
              <a:rPr lang="en-US" sz="1200" dirty="0">
                <a:latin typeface="Gill Sans MT" panose="020B0502020104020203" pitchFamily="34" charset="0"/>
              </a:rPr>
              <a:t>#AwesomeTesters</a:t>
            </a:r>
          </a:p>
        </p:txBody>
      </p:sp>
      <p:pic>
        <p:nvPicPr>
          <p:cNvPr id="21" name="Picture 20" descr="A close up of a person&#10;&#10;Description automatically generated">
            <a:extLst>
              <a:ext uri="{FF2B5EF4-FFF2-40B4-BE49-F238E27FC236}">
                <a16:creationId xmlns:a16="http://schemas.microsoft.com/office/drawing/2014/main" id="{2C439EBB-35AD-4B75-AC4F-AA29F499EDA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557" r="30917" b="-557"/>
          <a:stretch/>
        </p:blipFill>
        <p:spPr>
          <a:xfrm>
            <a:off x="395662" y="1219514"/>
            <a:ext cx="2438600" cy="24195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1E0E0D-67BB-4528-B6CB-6F1F9682DC8B}"/>
              </a:ext>
            </a:extLst>
          </p:cNvPr>
          <p:cNvSpPr/>
          <p:nvPr/>
        </p:nvSpPr>
        <p:spPr>
          <a:xfrm>
            <a:off x="144956" y="268448"/>
            <a:ext cx="60901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KG No Matter What" panose="02000507000000020003" pitchFamily="2" charset="0"/>
                <a:ea typeface="KG Manhattan Script" charset="0"/>
                <a:cs typeface="KG Manhattan Script" charset="0"/>
              </a:rPr>
              <a:t>Maaret Pyhäjärvi </a:t>
            </a:r>
            <a:r>
              <a:rPr lang="en-US" dirty="0">
                <a:solidFill>
                  <a:schemeClr val="accent6"/>
                </a:solidFill>
                <a:latin typeface="KG No Matter What" panose="02000507000000020003" pitchFamily="2" charset="0"/>
                <a:ea typeface="KG Manhattan Script" charset="0"/>
                <a:cs typeface="KG Manhattan Script" charset="0"/>
              </a:rPr>
              <a:t>(from Finland)</a:t>
            </a:r>
            <a:endParaRPr lang="en-US" sz="4400" dirty="0">
              <a:solidFill>
                <a:schemeClr val="accent6"/>
              </a:solidFill>
              <a:latin typeface="KG No Matter What" panose="02000507000000020003" pitchFamily="2" charset="0"/>
              <a:ea typeface="KG Manhattan Script" charset="0"/>
              <a:cs typeface="KG Manhattan Script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B441B-3FE2-45AE-91C8-0C2493091641}"/>
              </a:ext>
            </a:extLst>
          </p:cNvPr>
          <p:cNvSpPr/>
          <p:nvPr/>
        </p:nvSpPr>
        <p:spPr>
          <a:xfrm>
            <a:off x="212393" y="4147420"/>
            <a:ext cx="615889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Email: maaret@iki.fi</a:t>
            </a:r>
          </a:p>
          <a:p>
            <a:r>
              <a:rPr lang="en-US" sz="2000" dirty="0"/>
              <a:t>Mastodon: @maaretp@mas.to</a:t>
            </a:r>
            <a:br>
              <a:rPr lang="en-US" sz="2000" dirty="0"/>
            </a:br>
            <a:r>
              <a:rPr lang="en-US" sz="2000" dirty="0"/>
              <a:t>Web: maaretp.com</a:t>
            </a:r>
            <a:br>
              <a:rPr lang="en-US" sz="2000" dirty="0"/>
            </a:br>
            <a:r>
              <a:rPr lang="en-US" sz="2000" dirty="0"/>
              <a:t>LinkedIn: https://www.linkedin.com/in/maaret/</a:t>
            </a:r>
          </a:p>
          <a:p>
            <a:r>
              <a:rPr lang="en-US" sz="2000" dirty="0"/>
              <a:t>Blog: visible-quality.blogspot.fi</a:t>
            </a:r>
          </a:p>
          <a:p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(please connect with me through </a:t>
            </a:r>
            <a:b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Twitter or LinkedIn)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D120F171-EB66-4D15-89A4-1331C18F3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9441" y="1690650"/>
            <a:ext cx="1275852" cy="127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CT 100 influencers list 2019 and 2020">
            <a:extLst>
              <a:ext uri="{FF2B5EF4-FFF2-40B4-BE49-F238E27FC236}">
                <a16:creationId xmlns:a16="http://schemas.microsoft.com/office/drawing/2014/main" id="{683E1077-B573-4074-8719-F8C2A0A189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770"/>
          <a:stretch/>
        </p:blipFill>
        <p:spPr bwMode="auto">
          <a:xfrm>
            <a:off x="7396849" y="2443840"/>
            <a:ext cx="1553783" cy="858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CBA6622-FF20-431C-8CB2-00646C3452B4}"/>
              </a:ext>
            </a:extLst>
          </p:cNvPr>
          <p:cNvSpPr txBox="1"/>
          <p:nvPr/>
        </p:nvSpPr>
        <p:spPr>
          <a:xfrm>
            <a:off x="7007396" y="3798801"/>
            <a:ext cx="2544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2019, 2020, 2021, 2022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9128D1-CDD5-4252-8C81-0DE3E04CABC8}"/>
              </a:ext>
            </a:extLst>
          </p:cNvPr>
          <p:cNvSpPr txBox="1"/>
          <p:nvPr/>
        </p:nvSpPr>
        <p:spPr>
          <a:xfrm>
            <a:off x="9770076" y="2878400"/>
            <a:ext cx="245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Gill Sans MT" panose="020B0502020104020203" pitchFamily="34" charset="0"/>
              </a:rPr>
              <a:t>https://exploratorytestingacademy.com</a:t>
            </a:r>
          </a:p>
        </p:txBody>
      </p:sp>
      <p:pic>
        <p:nvPicPr>
          <p:cNvPr id="1028" name="Picture 4" descr="Software Testing Finland ry, non-profit">
            <a:extLst>
              <a:ext uri="{FF2B5EF4-FFF2-40B4-BE49-F238E27FC236}">
                <a16:creationId xmlns:a16="http://schemas.microsoft.com/office/drawing/2014/main" id="{ACDB99F5-F874-46A1-8E9D-B11F2846A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2586" y="3119256"/>
            <a:ext cx="1278372" cy="127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53035E2-2B1D-4904-96E6-48FD25501EB8}"/>
              </a:ext>
            </a:extLst>
          </p:cNvPr>
          <p:cNvSpPr txBox="1"/>
          <p:nvPr/>
        </p:nvSpPr>
        <p:spPr>
          <a:xfrm>
            <a:off x="9779571" y="4287753"/>
            <a:ext cx="24507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Gill Sans MT" panose="020B0502020104020203" pitchFamily="34" charset="0"/>
              </a:rPr>
              <a:t>Ohjelmistotestaus ry</a:t>
            </a:r>
            <a:br>
              <a:rPr lang="en-US" sz="1100" dirty="0">
                <a:latin typeface="Gill Sans MT" panose="020B0502020104020203" pitchFamily="34" charset="0"/>
              </a:rPr>
            </a:br>
            <a:r>
              <a:rPr lang="en-US" sz="1100" dirty="0">
                <a:latin typeface="Gill Sans MT" panose="020B0502020104020203" pitchFamily="34" charset="0"/>
              </a:rPr>
              <a:t>https://ohjelmistotestaus.org</a:t>
            </a:r>
          </a:p>
        </p:txBody>
      </p:sp>
      <p:pic>
        <p:nvPicPr>
          <p:cNvPr id="24" name="Picture 6" descr="Techvoices - diversity in conference speaking">
            <a:extLst>
              <a:ext uri="{FF2B5EF4-FFF2-40B4-BE49-F238E27FC236}">
                <a16:creationId xmlns:a16="http://schemas.microsoft.com/office/drawing/2014/main" id="{F7933A53-A678-4906-BDE6-28F46578E7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4"/>
          <a:stretch/>
        </p:blipFill>
        <p:spPr bwMode="auto">
          <a:xfrm>
            <a:off x="10336062" y="4749241"/>
            <a:ext cx="1414896" cy="112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2ADD894-780A-47B1-B9BE-52BD8B3C3632}"/>
              </a:ext>
            </a:extLst>
          </p:cNvPr>
          <p:cNvSpPr txBox="1"/>
          <p:nvPr/>
        </p:nvSpPr>
        <p:spPr>
          <a:xfrm>
            <a:off x="9797772" y="5828386"/>
            <a:ext cx="245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Gill Sans MT" panose="020B0502020104020203" pitchFamily="34" charset="0"/>
              </a:rPr>
              <a:t>https</a:t>
            </a:r>
            <a:r>
              <a:rPr lang="en-US" sz="1100" dirty="0">
                <a:latin typeface="Gill Sans MT" panose="020B0502020104020203" pitchFamily="34" charset="0"/>
                <a:sym typeface="Wingdings" panose="05000000000000000000" pitchFamily="2" charset="2"/>
              </a:rPr>
              <a:t>://techvoices.org</a:t>
            </a:r>
            <a:endParaRPr lang="en-US" sz="11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984428"/>
      </p:ext>
    </p:extLst>
  </p:cSld>
  <p:clrMapOvr>
    <a:masterClrMapping/>
  </p:clrMapOvr>
</p:sld>
</file>

<file path=ppt/theme/theme1.xml><?xml version="1.0" encoding="utf-8"?>
<a:theme xmlns:a="http://schemas.openxmlformats.org/drawingml/2006/main" name=" Black ">
  <a:themeElements>
    <a:clrScheme name="Panton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67D70"/>
      </a:accent1>
      <a:accent2>
        <a:srgbClr val="6868AC"/>
      </a:accent2>
      <a:accent3>
        <a:srgbClr val="B3906C"/>
      </a:accent3>
      <a:accent4>
        <a:srgbClr val="D65079"/>
      </a:accent4>
      <a:accent5>
        <a:srgbClr val="E187B8"/>
      </a:accent5>
      <a:accent6>
        <a:srgbClr val="E9435E"/>
      </a:accent6>
      <a:hlink>
        <a:srgbClr val="ECC371"/>
      </a:hlink>
      <a:folHlink>
        <a:srgbClr val="85A1AC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B4FFFB81B68097479F625752AD22F278" ma:contentTypeVersion="12" ma:contentTypeDescription="Luo uusi asiakirja." ma:contentTypeScope="" ma:versionID="345e189057f810c6d491803cbb6923d0">
  <xsd:schema xmlns:xsd="http://www.w3.org/2001/XMLSchema" xmlns:xs="http://www.w3.org/2001/XMLSchema" xmlns:p="http://schemas.microsoft.com/office/2006/metadata/properties" xmlns:ns3="a11aa9f6-e4af-4104-bf81-0f6d6144281c" xmlns:ns4="bea9ce00-4873-47f9-9210-f26416c244f0" targetNamespace="http://schemas.microsoft.com/office/2006/metadata/properties" ma:root="true" ma:fieldsID="0b496fba599b43c137ead1b28b9256d3" ns3:_="" ns4:_="">
    <xsd:import namespace="a11aa9f6-e4af-4104-bf81-0f6d6144281c"/>
    <xsd:import namespace="bea9ce00-4873-47f9-9210-f26416c244f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aa9f6-e4af-4104-bf81-0f6d61442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9ce00-4873-47f9-9210-f26416c244f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Jakamisvihjeen hajautu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41DB8C8-6850-40A3-8A4F-7991EDE9EC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99ABE4-35E7-441B-ABD3-FB9BF05EAB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1aa9f6-e4af-4104-bf81-0f6d6144281c"/>
    <ds:schemaRef ds:uri="bea9ce00-4873-47f9-9210-f26416c244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351D72-567A-4D55-9BE1-0D2D9DC49BD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a11aa9f6-e4af-4104-bf81-0f6d6144281c"/>
    <ds:schemaRef ds:uri="bea9ce00-4873-47f9-9210-f26416c244f0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17004</TotalTime>
  <Words>455</Words>
  <Application>Microsoft Macintosh PowerPoint</Application>
  <PresentationFormat>Widescreen</PresentationFormat>
  <Paragraphs>76</Paragraphs>
  <Slides>21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Gill Sans MT</vt:lpstr>
      <vt:lpstr>Gill Sans Nova Light</vt:lpstr>
      <vt:lpstr>KG No Matter What</vt:lpstr>
      <vt:lpstr>Snell Roundhand</vt:lpstr>
      <vt:lpstr>Verdana</vt:lpstr>
      <vt:lpstr> Black </vt:lpstr>
      <vt:lpstr>Targeting  Errors of Omission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Negative Space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Status or Why None of My Advice Will Work for You Today</dc:title>
  <dc:creator>Pyhajarvi Maaret</dc:creator>
  <cp:lastModifiedBy>Pyhäjärvi Maaret</cp:lastModifiedBy>
  <cp:revision>265</cp:revision>
  <cp:lastPrinted>2021-09-01T18:37:22Z</cp:lastPrinted>
  <dcterms:created xsi:type="dcterms:W3CDTF">2020-12-11T16:45:29Z</dcterms:created>
  <dcterms:modified xsi:type="dcterms:W3CDTF">2022-12-10T08:38:52Z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0b42cd-dfeb-4e2e-9713-e8274ec9275c_Enabled">
    <vt:lpwstr>true</vt:lpwstr>
  </property>
  <property fmtid="{D5CDD505-2E9C-101B-9397-08002B2CF9AE}" pid="3" name="MSIP_Label_bd0b42cd-dfeb-4e2e-9713-e8274ec9275c_SetDate">
    <vt:lpwstr>2021-09-01T17:20:39Z</vt:lpwstr>
  </property>
  <property fmtid="{D5CDD505-2E9C-101B-9397-08002B2CF9AE}" pid="4" name="MSIP_Label_bd0b42cd-dfeb-4e2e-9713-e8274ec9275c_Method">
    <vt:lpwstr>Privileged</vt:lpwstr>
  </property>
  <property fmtid="{D5CDD505-2E9C-101B-9397-08002B2CF9AE}" pid="5" name="MSIP_Label_bd0b42cd-dfeb-4e2e-9713-e8274ec9275c_Name">
    <vt:lpwstr>bd0b42cd-dfeb-4e2e-9713-e8274ec9275c</vt:lpwstr>
  </property>
  <property fmtid="{D5CDD505-2E9C-101B-9397-08002B2CF9AE}" pid="6" name="MSIP_Label_bd0b42cd-dfeb-4e2e-9713-e8274ec9275c_SiteId">
    <vt:lpwstr>6d7393e0-41f5-4c2e-9b12-4c2be5da5c57</vt:lpwstr>
  </property>
  <property fmtid="{D5CDD505-2E9C-101B-9397-08002B2CF9AE}" pid="7" name="MSIP_Label_bd0b42cd-dfeb-4e2e-9713-e8274ec9275c_ActionId">
    <vt:lpwstr>fd7c5a54-2976-4306-8d7e-9415340c5d0f</vt:lpwstr>
  </property>
  <property fmtid="{D5CDD505-2E9C-101B-9397-08002B2CF9AE}" pid="8" name="MSIP_Label_bd0b42cd-dfeb-4e2e-9713-e8274ec9275c_ContentBits">
    <vt:lpwstr>0</vt:lpwstr>
  </property>
</Properties>
</file>