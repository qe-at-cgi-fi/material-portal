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Default Extension="wmf" ContentType="image/x-w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8" r:id="rId3"/>
    <p:sldId id="259" r:id="rId4"/>
    <p:sldId id="260" r:id="rId5"/>
    <p:sldId id="261" r:id="rId6"/>
    <p:sldId id="262" r:id="rId7"/>
    <p:sldId id="281" r:id="rId8"/>
    <p:sldId id="282" r:id="rId9"/>
    <p:sldId id="284" r:id="rId10"/>
    <p:sldId id="299" r:id="rId11"/>
    <p:sldId id="286" r:id="rId12"/>
    <p:sldId id="283" r:id="rId13"/>
    <p:sldId id="287" r:id="rId14"/>
    <p:sldId id="288" r:id="rId15"/>
    <p:sldId id="289" r:id="rId16"/>
    <p:sldId id="290" r:id="rId17"/>
    <p:sldId id="291" r:id="rId18"/>
    <p:sldId id="292" r:id="rId19"/>
    <p:sldId id="293" r:id="rId20"/>
    <p:sldId id="294" r:id="rId21"/>
    <p:sldId id="298" r:id="rId22"/>
    <p:sldId id="300" r:id="rId23"/>
    <p:sldId id="295" r:id="rId24"/>
    <p:sldId id="296" r:id="rId25"/>
    <p:sldId id="297" r:id="rId26"/>
    <p:sldId id="301" r:id="rId27"/>
    <p:sldId id="302" r:id="rId28"/>
    <p:sldId id="257" r:id="rId29"/>
  </p:sldIdLst>
  <p:sldSz cx="9144000" cy="6858000" type="screen4x3"/>
  <p:notesSz cx="6734175" cy="98679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83309" autoAdjust="0"/>
  </p:normalViewPr>
  <p:slideViewPr>
    <p:cSldViewPr>
      <p:cViewPr varScale="1">
        <p:scale>
          <a:sx n="75" d="100"/>
          <a:sy n="75" d="100"/>
        </p:scale>
        <p:origin x="-2064" y="-12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2856"/>
    </p:cViewPr>
  </p:sorterViewPr>
  <p:notesViewPr>
    <p:cSldViewPr>
      <p:cViewPr varScale="1">
        <p:scale>
          <a:sx n="64" d="100"/>
          <a:sy n="64" d="100"/>
        </p:scale>
        <p:origin x="-2490" y="-126"/>
      </p:cViewPr>
      <p:guideLst>
        <p:guide orient="horz" pos="3108"/>
        <p:guide pos="2121"/>
      </p:guideLst>
    </p:cSldViewPr>
  </p:notes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notesMaster" Target="notesMasters/notesMaster1.xml"/><Relationship Id="rId31" Type="http://schemas.openxmlformats.org/officeDocument/2006/relationships/printerSettings" Target="printerSettings/printerSettings1.bin"/><Relationship Id="rId32" Type="http://schemas.openxmlformats.org/officeDocument/2006/relationships/presProps" Target="presProps.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CB4015F-7FC5-4080-9E4B-A38301BC6BF2}" type="doc">
      <dgm:prSet loTypeId="urn:microsoft.com/office/officeart/2005/8/layout/cycle8" loCatId="cycle" qsTypeId="urn:microsoft.com/office/officeart/2005/8/quickstyle/simple1" qsCatId="simple" csTypeId="urn:microsoft.com/office/officeart/2005/8/colors/accent3_1" csCatId="accent3" phldr="1"/>
      <dgm:spPr/>
    </dgm:pt>
    <dgm:pt modelId="{B221D29F-3159-4061-A4AD-579A489775A5}">
      <dgm:prSet phldrT="[Text]"/>
      <dgm:spPr/>
      <dgm:t>
        <a:bodyPr/>
        <a:lstStyle/>
        <a:p>
          <a:r>
            <a:rPr lang="fi-FI" dirty="0" smtClean="0"/>
            <a:t>KEHITYSTÄ:</a:t>
          </a:r>
          <a:br>
            <a:rPr lang="fi-FI" dirty="0" smtClean="0"/>
          </a:br>
          <a:r>
            <a:rPr lang="fi-FI" dirty="0" smtClean="0"/>
            <a:t>Arkkitehtuuri, toteutustavat ja –teknologiat, rajoitteiden huomiointi</a:t>
          </a:r>
          <a:endParaRPr lang="fi-FI" dirty="0"/>
        </a:p>
      </dgm:t>
    </dgm:pt>
    <dgm:pt modelId="{2B65D97D-2AF6-46C6-85A6-DA726E8D2F5E}" type="parTrans" cxnId="{7B3E7177-5C70-47F9-8ED4-74713C560B8B}">
      <dgm:prSet/>
      <dgm:spPr/>
      <dgm:t>
        <a:bodyPr/>
        <a:lstStyle/>
        <a:p>
          <a:endParaRPr lang="fi-FI"/>
        </a:p>
      </dgm:t>
    </dgm:pt>
    <dgm:pt modelId="{1917A0F5-B4EC-42D3-96D7-35734762EE22}" type="sibTrans" cxnId="{7B3E7177-5C70-47F9-8ED4-74713C560B8B}">
      <dgm:prSet/>
      <dgm:spPr/>
      <dgm:t>
        <a:bodyPr/>
        <a:lstStyle/>
        <a:p>
          <a:endParaRPr lang="fi-FI"/>
        </a:p>
      </dgm:t>
    </dgm:pt>
    <dgm:pt modelId="{185E084B-E58A-4E05-AC13-46C8B854D156}">
      <dgm:prSet phldrT="[Text]"/>
      <dgm:spPr/>
      <dgm:t>
        <a:bodyPr/>
        <a:lstStyle/>
        <a:p>
          <a:r>
            <a:rPr lang="fi-FI" dirty="0" smtClean="0"/>
            <a:t>YHTEISTÄ: </a:t>
          </a:r>
          <a:br>
            <a:rPr lang="fi-FI" dirty="0" smtClean="0"/>
          </a:br>
          <a:r>
            <a:rPr lang="fi-FI" dirty="0" smtClean="0"/>
            <a:t>Arvot, periaatteet, puitteet, yhteistyö, organisaation rajoitteet </a:t>
          </a:r>
          <a:endParaRPr lang="fi-FI" dirty="0"/>
        </a:p>
      </dgm:t>
    </dgm:pt>
    <dgm:pt modelId="{1F700843-BF2A-48C1-8F46-89CB40325AC0}" type="parTrans" cxnId="{BFBA304A-5778-4D89-9D19-F2CB39006635}">
      <dgm:prSet/>
      <dgm:spPr/>
      <dgm:t>
        <a:bodyPr/>
        <a:lstStyle/>
        <a:p>
          <a:endParaRPr lang="fi-FI"/>
        </a:p>
      </dgm:t>
    </dgm:pt>
    <dgm:pt modelId="{E83353FA-45D1-4D33-AD3A-72DEF816F276}" type="sibTrans" cxnId="{BFBA304A-5778-4D89-9D19-F2CB39006635}">
      <dgm:prSet/>
      <dgm:spPr/>
      <dgm:t>
        <a:bodyPr/>
        <a:lstStyle/>
        <a:p>
          <a:endParaRPr lang="fi-FI"/>
        </a:p>
      </dgm:t>
    </dgm:pt>
    <dgm:pt modelId="{6294C73D-F6E3-42EA-8B88-F39472AF02CD}">
      <dgm:prSet phldrT="[Text]"/>
      <dgm:spPr/>
      <dgm:t>
        <a:bodyPr/>
        <a:lstStyle/>
        <a:p>
          <a:r>
            <a:rPr lang="fi-FI" dirty="0" smtClean="0"/>
            <a:t>TESTAUSTA:</a:t>
          </a:r>
          <a:br>
            <a:rPr lang="fi-FI" dirty="0" smtClean="0"/>
          </a:br>
          <a:r>
            <a:rPr lang="fi-FI" dirty="0" smtClean="0"/>
            <a:t>Järjestelmälaadun palautemekanismit, kyseenalaistaminen</a:t>
          </a:r>
          <a:endParaRPr lang="fi-FI" dirty="0"/>
        </a:p>
      </dgm:t>
    </dgm:pt>
    <dgm:pt modelId="{A191087A-72D1-4B6F-9480-85FA775A3E26}" type="parTrans" cxnId="{3A38E1DE-B67B-4332-A39D-A796DD78EA7D}">
      <dgm:prSet/>
      <dgm:spPr/>
      <dgm:t>
        <a:bodyPr/>
        <a:lstStyle/>
        <a:p>
          <a:endParaRPr lang="fi-FI"/>
        </a:p>
      </dgm:t>
    </dgm:pt>
    <dgm:pt modelId="{49CE606F-7A81-46C6-8D0B-AC3CD894EE83}" type="sibTrans" cxnId="{3A38E1DE-B67B-4332-A39D-A796DD78EA7D}">
      <dgm:prSet/>
      <dgm:spPr/>
      <dgm:t>
        <a:bodyPr/>
        <a:lstStyle/>
        <a:p>
          <a:endParaRPr lang="fi-FI"/>
        </a:p>
      </dgm:t>
    </dgm:pt>
    <dgm:pt modelId="{E50F5930-ED12-46FA-8106-ACC83AAEB625}" type="pres">
      <dgm:prSet presAssocID="{7CB4015F-7FC5-4080-9E4B-A38301BC6BF2}" presName="compositeShape" presStyleCnt="0">
        <dgm:presLayoutVars>
          <dgm:chMax val="7"/>
          <dgm:dir/>
          <dgm:resizeHandles val="exact"/>
        </dgm:presLayoutVars>
      </dgm:prSet>
      <dgm:spPr/>
    </dgm:pt>
    <dgm:pt modelId="{EB479232-6C1C-4C0F-83B0-84A7B9BD74BE}" type="pres">
      <dgm:prSet presAssocID="{7CB4015F-7FC5-4080-9E4B-A38301BC6BF2}" presName="wedge1" presStyleLbl="node1" presStyleIdx="0" presStyleCnt="3"/>
      <dgm:spPr/>
      <dgm:t>
        <a:bodyPr/>
        <a:lstStyle/>
        <a:p>
          <a:endParaRPr lang="fi-FI"/>
        </a:p>
      </dgm:t>
    </dgm:pt>
    <dgm:pt modelId="{B3A76AEC-4FBA-4AA7-B0C6-2CFFD839EAF8}" type="pres">
      <dgm:prSet presAssocID="{7CB4015F-7FC5-4080-9E4B-A38301BC6BF2}" presName="dummy1a" presStyleCnt="0"/>
      <dgm:spPr/>
    </dgm:pt>
    <dgm:pt modelId="{1ABA9C6B-50F3-4C6D-A3E4-190CBF7AA1F2}" type="pres">
      <dgm:prSet presAssocID="{7CB4015F-7FC5-4080-9E4B-A38301BC6BF2}" presName="dummy1b" presStyleCnt="0"/>
      <dgm:spPr/>
    </dgm:pt>
    <dgm:pt modelId="{C70B0837-FF27-453E-9CFF-62D8EFCA835A}" type="pres">
      <dgm:prSet presAssocID="{7CB4015F-7FC5-4080-9E4B-A38301BC6BF2}" presName="wedge1Tx" presStyleLbl="node1" presStyleIdx="0" presStyleCnt="3">
        <dgm:presLayoutVars>
          <dgm:chMax val="0"/>
          <dgm:chPref val="0"/>
          <dgm:bulletEnabled val="1"/>
        </dgm:presLayoutVars>
      </dgm:prSet>
      <dgm:spPr/>
      <dgm:t>
        <a:bodyPr/>
        <a:lstStyle/>
        <a:p>
          <a:endParaRPr lang="fi-FI"/>
        </a:p>
      </dgm:t>
    </dgm:pt>
    <dgm:pt modelId="{6A4F1999-EB4F-4EBC-B333-91EE51B7EB49}" type="pres">
      <dgm:prSet presAssocID="{7CB4015F-7FC5-4080-9E4B-A38301BC6BF2}" presName="wedge2" presStyleLbl="node1" presStyleIdx="1" presStyleCnt="3"/>
      <dgm:spPr/>
      <dgm:t>
        <a:bodyPr/>
        <a:lstStyle/>
        <a:p>
          <a:endParaRPr lang="fi-FI"/>
        </a:p>
      </dgm:t>
    </dgm:pt>
    <dgm:pt modelId="{F83A0829-EBFC-47FC-B3E9-D91DF927AC11}" type="pres">
      <dgm:prSet presAssocID="{7CB4015F-7FC5-4080-9E4B-A38301BC6BF2}" presName="dummy2a" presStyleCnt="0"/>
      <dgm:spPr/>
    </dgm:pt>
    <dgm:pt modelId="{6E1904FA-6727-4143-9925-87A236C8DB9F}" type="pres">
      <dgm:prSet presAssocID="{7CB4015F-7FC5-4080-9E4B-A38301BC6BF2}" presName="dummy2b" presStyleCnt="0"/>
      <dgm:spPr/>
    </dgm:pt>
    <dgm:pt modelId="{1699869A-2310-425A-8E66-C09626CE5434}" type="pres">
      <dgm:prSet presAssocID="{7CB4015F-7FC5-4080-9E4B-A38301BC6BF2}" presName="wedge2Tx" presStyleLbl="node1" presStyleIdx="1" presStyleCnt="3">
        <dgm:presLayoutVars>
          <dgm:chMax val="0"/>
          <dgm:chPref val="0"/>
          <dgm:bulletEnabled val="1"/>
        </dgm:presLayoutVars>
      </dgm:prSet>
      <dgm:spPr/>
      <dgm:t>
        <a:bodyPr/>
        <a:lstStyle/>
        <a:p>
          <a:endParaRPr lang="fi-FI"/>
        </a:p>
      </dgm:t>
    </dgm:pt>
    <dgm:pt modelId="{48153311-3B27-4CAD-AD05-B2B030114381}" type="pres">
      <dgm:prSet presAssocID="{7CB4015F-7FC5-4080-9E4B-A38301BC6BF2}" presName="wedge3" presStyleLbl="node1" presStyleIdx="2" presStyleCnt="3"/>
      <dgm:spPr/>
      <dgm:t>
        <a:bodyPr/>
        <a:lstStyle/>
        <a:p>
          <a:endParaRPr lang="fi-FI"/>
        </a:p>
      </dgm:t>
    </dgm:pt>
    <dgm:pt modelId="{EB84A5F3-B643-4D37-8931-25B4B9D7CF1E}" type="pres">
      <dgm:prSet presAssocID="{7CB4015F-7FC5-4080-9E4B-A38301BC6BF2}" presName="dummy3a" presStyleCnt="0"/>
      <dgm:spPr/>
    </dgm:pt>
    <dgm:pt modelId="{667B498B-92C9-4B03-AE1D-FF83606CE0E8}" type="pres">
      <dgm:prSet presAssocID="{7CB4015F-7FC5-4080-9E4B-A38301BC6BF2}" presName="dummy3b" presStyleCnt="0"/>
      <dgm:spPr/>
    </dgm:pt>
    <dgm:pt modelId="{3E0780AB-9C12-4B4D-98C1-1981609563FF}" type="pres">
      <dgm:prSet presAssocID="{7CB4015F-7FC5-4080-9E4B-A38301BC6BF2}" presName="wedge3Tx" presStyleLbl="node1" presStyleIdx="2" presStyleCnt="3">
        <dgm:presLayoutVars>
          <dgm:chMax val="0"/>
          <dgm:chPref val="0"/>
          <dgm:bulletEnabled val="1"/>
        </dgm:presLayoutVars>
      </dgm:prSet>
      <dgm:spPr/>
      <dgm:t>
        <a:bodyPr/>
        <a:lstStyle/>
        <a:p>
          <a:endParaRPr lang="fi-FI"/>
        </a:p>
      </dgm:t>
    </dgm:pt>
    <dgm:pt modelId="{6FE07534-A3EC-4656-BBAF-24A47B2069CF}" type="pres">
      <dgm:prSet presAssocID="{1917A0F5-B4EC-42D3-96D7-35734762EE22}" presName="arrowWedge1" presStyleLbl="fgSibTrans2D1" presStyleIdx="0" presStyleCnt="3"/>
      <dgm:spPr/>
    </dgm:pt>
    <dgm:pt modelId="{1AC91175-6607-49D9-A74A-558651E4D074}" type="pres">
      <dgm:prSet presAssocID="{E83353FA-45D1-4D33-AD3A-72DEF816F276}" presName="arrowWedge2" presStyleLbl="fgSibTrans2D1" presStyleIdx="1" presStyleCnt="3"/>
      <dgm:spPr/>
    </dgm:pt>
    <dgm:pt modelId="{D71E55E3-CA90-4CDC-B012-71027D071FD7}" type="pres">
      <dgm:prSet presAssocID="{49CE606F-7A81-46C6-8D0B-AC3CD894EE83}" presName="arrowWedge3" presStyleLbl="fgSibTrans2D1" presStyleIdx="2" presStyleCnt="3"/>
      <dgm:spPr/>
    </dgm:pt>
  </dgm:ptLst>
  <dgm:cxnLst>
    <dgm:cxn modelId="{11AB8E7D-168A-4872-A2FB-07808341680D}" type="presOf" srcId="{B221D29F-3159-4061-A4AD-579A489775A5}" destId="{C70B0837-FF27-453E-9CFF-62D8EFCA835A}" srcOrd="1" destOrd="0" presId="urn:microsoft.com/office/officeart/2005/8/layout/cycle8"/>
    <dgm:cxn modelId="{9062A411-6C6C-4840-AC81-2BFEFFC8B537}" type="presOf" srcId="{185E084B-E58A-4E05-AC13-46C8B854D156}" destId="{6A4F1999-EB4F-4EBC-B333-91EE51B7EB49}" srcOrd="0" destOrd="0" presId="urn:microsoft.com/office/officeart/2005/8/layout/cycle8"/>
    <dgm:cxn modelId="{3A38E1DE-B67B-4332-A39D-A796DD78EA7D}" srcId="{7CB4015F-7FC5-4080-9E4B-A38301BC6BF2}" destId="{6294C73D-F6E3-42EA-8B88-F39472AF02CD}" srcOrd="2" destOrd="0" parTransId="{A191087A-72D1-4B6F-9480-85FA775A3E26}" sibTransId="{49CE606F-7A81-46C6-8D0B-AC3CD894EE83}"/>
    <dgm:cxn modelId="{A81B4609-41ED-40CE-8BAC-DC79F0FC62D5}" type="presOf" srcId="{7CB4015F-7FC5-4080-9E4B-A38301BC6BF2}" destId="{E50F5930-ED12-46FA-8106-ACC83AAEB625}" srcOrd="0" destOrd="0" presId="urn:microsoft.com/office/officeart/2005/8/layout/cycle8"/>
    <dgm:cxn modelId="{95F66AD8-3FDE-4BD1-A709-C30135478725}" type="presOf" srcId="{6294C73D-F6E3-42EA-8B88-F39472AF02CD}" destId="{48153311-3B27-4CAD-AD05-B2B030114381}" srcOrd="0" destOrd="0" presId="urn:microsoft.com/office/officeart/2005/8/layout/cycle8"/>
    <dgm:cxn modelId="{BFBA304A-5778-4D89-9D19-F2CB39006635}" srcId="{7CB4015F-7FC5-4080-9E4B-A38301BC6BF2}" destId="{185E084B-E58A-4E05-AC13-46C8B854D156}" srcOrd="1" destOrd="0" parTransId="{1F700843-BF2A-48C1-8F46-89CB40325AC0}" sibTransId="{E83353FA-45D1-4D33-AD3A-72DEF816F276}"/>
    <dgm:cxn modelId="{7B3E7177-5C70-47F9-8ED4-74713C560B8B}" srcId="{7CB4015F-7FC5-4080-9E4B-A38301BC6BF2}" destId="{B221D29F-3159-4061-A4AD-579A489775A5}" srcOrd="0" destOrd="0" parTransId="{2B65D97D-2AF6-46C6-85A6-DA726E8D2F5E}" sibTransId="{1917A0F5-B4EC-42D3-96D7-35734762EE22}"/>
    <dgm:cxn modelId="{0289D6DD-E17F-4936-8232-9E92E42DA124}" type="presOf" srcId="{B221D29F-3159-4061-A4AD-579A489775A5}" destId="{EB479232-6C1C-4C0F-83B0-84A7B9BD74BE}" srcOrd="0" destOrd="0" presId="urn:microsoft.com/office/officeart/2005/8/layout/cycle8"/>
    <dgm:cxn modelId="{AAC39E1E-331B-41D3-9C73-B111E22A71E0}" type="presOf" srcId="{6294C73D-F6E3-42EA-8B88-F39472AF02CD}" destId="{3E0780AB-9C12-4B4D-98C1-1981609563FF}" srcOrd="1" destOrd="0" presId="urn:microsoft.com/office/officeart/2005/8/layout/cycle8"/>
    <dgm:cxn modelId="{2F9B491B-2DDA-438B-A660-745A1DD2C3F6}" type="presOf" srcId="{185E084B-E58A-4E05-AC13-46C8B854D156}" destId="{1699869A-2310-425A-8E66-C09626CE5434}" srcOrd="1" destOrd="0" presId="urn:microsoft.com/office/officeart/2005/8/layout/cycle8"/>
    <dgm:cxn modelId="{9F74C926-DB0A-4CA2-A7B8-1397D5E0334E}" type="presParOf" srcId="{E50F5930-ED12-46FA-8106-ACC83AAEB625}" destId="{EB479232-6C1C-4C0F-83B0-84A7B9BD74BE}" srcOrd="0" destOrd="0" presId="urn:microsoft.com/office/officeart/2005/8/layout/cycle8"/>
    <dgm:cxn modelId="{7AABF608-8B1A-4826-8F7D-FC78287519A8}" type="presParOf" srcId="{E50F5930-ED12-46FA-8106-ACC83AAEB625}" destId="{B3A76AEC-4FBA-4AA7-B0C6-2CFFD839EAF8}" srcOrd="1" destOrd="0" presId="urn:microsoft.com/office/officeart/2005/8/layout/cycle8"/>
    <dgm:cxn modelId="{02085414-278E-4227-B5C4-AE32B873C24E}" type="presParOf" srcId="{E50F5930-ED12-46FA-8106-ACC83AAEB625}" destId="{1ABA9C6B-50F3-4C6D-A3E4-190CBF7AA1F2}" srcOrd="2" destOrd="0" presId="urn:microsoft.com/office/officeart/2005/8/layout/cycle8"/>
    <dgm:cxn modelId="{B8BDBFCC-8646-46DE-8517-403BEEE0063A}" type="presParOf" srcId="{E50F5930-ED12-46FA-8106-ACC83AAEB625}" destId="{C70B0837-FF27-453E-9CFF-62D8EFCA835A}" srcOrd="3" destOrd="0" presId="urn:microsoft.com/office/officeart/2005/8/layout/cycle8"/>
    <dgm:cxn modelId="{46BB87B8-A70A-4F5C-A2AC-4EEB1DAB7D62}" type="presParOf" srcId="{E50F5930-ED12-46FA-8106-ACC83AAEB625}" destId="{6A4F1999-EB4F-4EBC-B333-91EE51B7EB49}" srcOrd="4" destOrd="0" presId="urn:microsoft.com/office/officeart/2005/8/layout/cycle8"/>
    <dgm:cxn modelId="{C6E3B718-258A-4E08-800E-758296639064}" type="presParOf" srcId="{E50F5930-ED12-46FA-8106-ACC83AAEB625}" destId="{F83A0829-EBFC-47FC-B3E9-D91DF927AC11}" srcOrd="5" destOrd="0" presId="urn:microsoft.com/office/officeart/2005/8/layout/cycle8"/>
    <dgm:cxn modelId="{9A4DE1EB-1D90-4ECB-86D7-D2143B88116D}" type="presParOf" srcId="{E50F5930-ED12-46FA-8106-ACC83AAEB625}" destId="{6E1904FA-6727-4143-9925-87A236C8DB9F}" srcOrd="6" destOrd="0" presId="urn:microsoft.com/office/officeart/2005/8/layout/cycle8"/>
    <dgm:cxn modelId="{8327DB84-503A-4156-AFE4-8F8CB712C145}" type="presParOf" srcId="{E50F5930-ED12-46FA-8106-ACC83AAEB625}" destId="{1699869A-2310-425A-8E66-C09626CE5434}" srcOrd="7" destOrd="0" presId="urn:microsoft.com/office/officeart/2005/8/layout/cycle8"/>
    <dgm:cxn modelId="{034BD6DD-AC1D-4B3E-956D-0670870A1DB7}" type="presParOf" srcId="{E50F5930-ED12-46FA-8106-ACC83AAEB625}" destId="{48153311-3B27-4CAD-AD05-B2B030114381}" srcOrd="8" destOrd="0" presId="urn:microsoft.com/office/officeart/2005/8/layout/cycle8"/>
    <dgm:cxn modelId="{FF8D1293-2BCC-4B9A-8351-B7EA34AC136C}" type="presParOf" srcId="{E50F5930-ED12-46FA-8106-ACC83AAEB625}" destId="{EB84A5F3-B643-4D37-8931-25B4B9D7CF1E}" srcOrd="9" destOrd="0" presId="urn:microsoft.com/office/officeart/2005/8/layout/cycle8"/>
    <dgm:cxn modelId="{790157C8-B3E8-4C20-A916-438979290EAC}" type="presParOf" srcId="{E50F5930-ED12-46FA-8106-ACC83AAEB625}" destId="{667B498B-92C9-4B03-AE1D-FF83606CE0E8}" srcOrd="10" destOrd="0" presId="urn:microsoft.com/office/officeart/2005/8/layout/cycle8"/>
    <dgm:cxn modelId="{3B22A9F1-FCDD-44DE-B94E-E59E63DAC6D5}" type="presParOf" srcId="{E50F5930-ED12-46FA-8106-ACC83AAEB625}" destId="{3E0780AB-9C12-4B4D-98C1-1981609563FF}" srcOrd="11" destOrd="0" presId="urn:microsoft.com/office/officeart/2005/8/layout/cycle8"/>
    <dgm:cxn modelId="{36E95662-85ED-4CB4-8472-DCB6BB523AE9}" type="presParOf" srcId="{E50F5930-ED12-46FA-8106-ACC83AAEB625}" destId="{6FE07534-A3EC-4656-BBAF-24A47B2069CF}" srcOrd="12" destOrd="0" presId="urn:microsoft.com/office/officeart/2005/8/layout/cycle8"/>
    <dgm:cxn modelId="{3A308EF3-2DFE-4718-944F-8791FD25AFDB}" type="presParOf" srcId="{E50F5930-ED12-46FA-8106-ACC83AAEB625}" destId="{1AC91175-6607-49D9-A74A-558651E4D074}" srcOrd="13" destOrd="0" presId="urn:microsoft.com/office/officeart/2005/8/layout/cycle8"/>
    <dgm:cxn modelId="{8A7721F7-A56E-4F67-882A-B008033FB9AB}" type="presParOf" srcId="{E50F5930-ED12-46FA-8106-ACC83AAEB625}" destId="{D71E55E3-CA90-4CDC-B012-71027D071FD7}" srcOrd="14"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479232-6C1C-4C0F-83B0-84A7B9BD74BE}">
      <dsp:nvSpPr>
        <dsp:cNvPr id="0" name=""/>
        <dsp:cNvSpPr/>
      </dsp:nvSpPr>
      <dsp:spPr>
        <a:xfrm>
          <a:off x="2407458" y="343616"/>
          <a:ext cx="4440586" cy="4440586"/>
        </a:xfrm>
        <a:prstGeom prst="pie">
          <a:avLst>
            <a:gd name="adj1" fmla="val 16200000"/>
            <a:gd name="adj2" fmla="val 180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fi-FI" sz="1500" kern="1200" dirty="0" smtClean="0"/>
            <a:t>KEHITYSTÄ:</a:t>
          </a:r>
          <a:br>
            <a:rPr lang="fi-FI" sz="1500" kern="1200" dirty="0" smtClean="0"/>
          </a:br>
          <a:r>
            <a:rPr lang="fi-FI" sz="1500" kern="1200" dirty="0" smtClean="0"/>
            <a:t>Arkkitehtuuri, toteutustavat ja –teknologiat, rajoitteiden huomiointi</a:t>
          </a:r>
          <a:endParaRPr lang="fi-FI" sz="1500" kern="1200" dirty="0"/>
        </a:p>
      </dsp:txBody>
      <dsp:txXfrm>
        <a:off x="4747753" y="1284598"/>
        <a:ext cx="1585923" cy="1321603"/>
      </dsp:txXfrm>
    </dsp:sp>
    <dsp:sp modelId="{6A4F1999-EB4F-4EBC-B333-91EE51B7EB49}">
      <dsp:nvSpPr>
        <dsp:cNvPr id="0" name=""/>
        <dsp:cNvSpPr/>
      </dsp:nvSpPr>
      <dsp:spPr>
        <a:xfrm>
          <a:off x="2316003" y="502209"/>
          <a:ext cx="4440586" cy="4440586"/>
        </a:xfrm>
        <a:prstGeom prst="pie">
          <a:avLst>
            <a:gd name="adj1" fmla="val 1800000"/>
            <a:gd name="adj2" fmla="val 900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fi-FI" sz="1500" kern="1200" dirty="0" smtClean="0"/>
            <a:t>YHTEISTÄ: </a:t>
          </a:r>
          <a:br>
            <a:rPr lang="fi-FI" sz="1500" kern="1200" dirty="0" smtClean="0"/>
          </a:br>
          <a:r>
            <a:rPr lang="fi-FI" sz="1500" kern="1200" dirty="0" smtClean="0"/>
            <a:t>Arvot, periaatteet, puitteet, yhteistyö, organisaation rajoitteet </a:t>
          </a:r>
          <a:endParaRPr lang="fi-FI" sz="1500" kern="1200" dirty="0"/>
        </a:p>
      </dsp:txBody>
      <dsp:txXfrm>
        <a:off x="3373286" y="3383303"/>
        <a:ext cx="2378885" cy="1163010"/>
      </dsp:txXfrm>
    </dsp:sp>
    <dsp:sp modelId="{48153311-3B27-4CAD-AD05-B2B030114381}">
      <dsp:nvSpPr>
        <dsp:cNvPr id="0" name=""/>
        <dsp:cNvSpPr/>
      </dsp:nvSpPr>
      <dsp:spPr>
        <a:xfrm>
          <a:off x="2224549" y="343616"/>
          <a:ext cx="4440586" cy="4440586"/>
        </a:xfrm>
        <a:prstGeom prst="pie">
          <a:avLst>
            <a:gd name="adj1" fmla="val 9000000"/>
            <a:gd name="adj2" fmla="val 1620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 tIns="19050" rIns="19050" bIns="19050" numCol="1" spcCol="1270" anchor="ctr" anchorCtr="0">
          <a:noAutofit/>
        </a:bodyPr>
        <a:lstStyle/>
        <a:p>
          <a:pPr lvl="0" algn="ctr" defTabSz="666750">
            <a:lnSpc>
              <a:spcPct val="90000"/>
            </a:lnSpc>
            <a:spcBef>
              <a:spcPct val="0"/>
            </a:spcBef>
            <a:spcAft>
              <a:spcPct val="35000"/>
            </a:spcAft>
          </a:pPr>
          <a:r>
            <a:rPr lang="fi-FI" sz="1500" kern="1200" dirty="0" smtClean="0"/>
            <a:t>TESTAUSTA:</a:t>
          </a:r>
          <a:br>
            <a:rPr lang="fi-FI" sz="1500" kern="1200" dirty="0" smtClean="0"/>
          </a:br>
          <a:r>
            <a:rPr lang="fi-FI" sz="1500" kern="1200" dirty="0" smtClean="0"/>
            <a:t>Järjestelmälaadun palautemekanismit, kyseenalaistaminen</a:t>
          </a:r>
          <a:endParaRPr lang="fi-FI" sz="1500" kern="1200" dirty="0"/>
        </a:p>
      </dsp:txBody>
      <dsp:txXfrm>
        <a:off x="2738916" y="1284598"/>
        <a:ext cx="1585923" cy="1321603"/>
      </dsp:txXfrm>
    </dsp:sp>
    <dsp:sp modelId="{6FE07534-A3EC-4656-BBAF-24A47B2069CF}">
      <dsp:nvSpPr>
        <dsp:cNvPr id="0" name=""/>
        <dsp:cNvSpPr/>
      </dsp:nvSpPr>
      <dsp:spPr>
        <a:xfrm>
          <a:off x="2132931" y="68723"/>
          <a:ext cx="4990372" cy="4990372"/>
        </a:xfrm>
        <a:prstGeom prst="circularArrow">
          <a:avLst>
            <a:gd name="adj1" fmla="val 5085"/>
            <a:gd name="adj2" fmla="val 327528"/>
            <a:gd name="adj3" fmla="val 1472472"/>
            <a:gd name="adj4" fmla="val 16199432"/>
            <a:gd name="adj5" fmla="val 5932"/>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AC91175-6607-49D9-A74A-558651E4D074}">
      <dsp:nvSpPr>
        <dsp:cNvPr id="0" name=""/>
        <dsp:cNvSpPr/>
      </dsp:nvSpPr>
      <dsp:spPr>
        <a:xfrm>
          <a:off x="2041110" y="227034"/>
          <a:ext cx="4990372" cy="4990372"/>
        </a:xfrm>
        <a:prstGeom prst="circularArrow">
          <a:avLst>
            <a:gd name="adj1" fmla="val 5085"/>
            <a:gd name="adj2" fmla="val 327528"/>
            <a:gd name="adj3" fmla="val 8671970"/>
            <a:gd name="adj4" fmla="val 1800502"/>
            <a:gd name="adj5" fmla="val 5932"/>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71E55E3-CA90-4CDC-B012-71027D071FD7}">
      <dsp:nvSpPr>
        <dsp:cNvPr id="0" name=""/>
        <dsp:cNvSpPr/>
      </dsp:nvSpPr>
      <dsp:spPr>
        <a:xfrm>
          <a:off x="1949289" y="68723"/>
          <a:ext cx="4990372" cy="4990372"/>
        </a:xfrm>
        <a:prstGeom prst="circularArrow">
          <a:avLst>
            <a:gd name="adj1" fmla="val 5085"/>
            <a:gd name="adj2" fmla="val 327528"/>
            <a:gd name="adj3" fmla="val 15873039"/>
            <a:gd name="adj4" fmla="val 9000000"/>
            <a:gd name="adj5" fmla="val 5932"/>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18143" cy="493395"/>
          </a:xfrm>
          <a:prstGeom prst="rect">
            <a:avLst/>
          </a:prstGeom>
        </p:spPr>
        <p:txBody>
          <a:bodyPr vert="horz" lIns="91440" tIns="45720" rIns="91440" bIns="45720" rtlCol="0"/>
          <a:lstStyle>
            <a:lvl1pPr algn="l">
              <a:defRPr sz="1200"/>
            </a:lvl1pPr>
          </a:lstStyle>
          <a:p>
            <a:endParaRPr lang="fi-FI"/>
          </a:p>
        </p:txBody>
      </p:sp>
      <p:sp>
        <p:nvSpPr>
          <p:cNvPr id="3" name="Date Placeholder 2"/>
          <p:cNvSpPr>
            <a:spLocks noGrp="1"/>
          </p:cNvSpPr>
          <p:nvPr>
            <p:ph type="dt" idx="1"/>
          </p:nvPr>
        </p:nvSpPr>
        <p:spPr>
          <a:xfrm>
            <a:off x="3814474" y="0"/>
            <a:ext cx="2918143" cy="493395"/>
          </a:xfrm>
          <a:prstGeom prst="rect">
            <a:avLst/>
          </a:prstGeom>
        </p:spPr>
        <p:txBody>
          <a:bodyPr vert="horz" lIns="91440" tIns="45720" rIns="91440" bIns="45720" rtlCol="0"/>
          <a:lstStyle>
            <a:lvl1pPr algn="r">
              <a:defRPr sz="1200"/>
            </a:lvl1pPr>
          </a:lstStyle>
          <a:p>
            <a:fld id="{36A5C55B-5751-4D85-896F-91204AA783C7}" type="datetimeFigureOut">
              <a:rPr lang="en-US" smtClean="0"/>
              <a:pPr/>
              <a:t>29/05/17</a:t>
            </a:fld>
            <a:endParaRPr lang="fi-FI"/>
          </a:p>
        </p:txBody>
      </p:sp>
      <p:sp>
        <p:nvSpPr>
          <p:cNvPr id="4" name="Slide Image Placeholder 3"/>
          <p:cNvSpPr>
            <a:spLocks noGrp="1" noRot="1" noChangeAspect="1"/>
          </p:cNvSpPr>
          <p:nvPr>
            <p:ph type="sldImg" idx="2"/>
          </p:nvPr>
        </p:nvSpPr>
        <p:spPr>
          <a:xfrm>
            <a:off x="900113" y="739775"/>
            <a:ext cx="4933950" cy="3700463"/>
          </a:xfrm>
          <a:prstGeom prst="rect">
            <a:avLst/>
          </a:prstGeom>
          <a:noFill/>
          <a:ln w="12700">
            <a:solidFill>
              <a:prstClr val="black"/>
            </a:solidFill>
          </a:ln>
        </p:spPr>
        <p:txBody>
          <a:bodyPr vert="horz" lIns="91440" tIns="45720" rIns="91440" bIns="45720" rtlCol="0" anchor="ctr"/>
          <a:lstStyle/>
          <a:p>
            <a:endParaRPr lang="fi-FI"/>
          </a:p>
        </p:txBody>
      </p:sp>
      <p:sp>
        <p:nvSpPr>
          <p:cNvPr id="5" name="Notes Placeholder 4"/>
          <p:cNvSpPr>
            <a:spLocks noGrp="1"/>
          </p:cNvSpPr>
          <p:nvPr>
            <p:ph type="body" sz="quarter" idx="3"/>
          </p:nvPr>
        </p:nvSpPr>
        <p:spPr>
          <a:xfrm>
            <a:off x="673418" y="4687253"/>
            <a:ext cx="5387340" cy="444055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6" name="Footer Placeholder 5"/>
          <p:cNvSpPr>
            <a:spLocks noGrp="1"/>
          </p:cNvSpPr>
          <p:nvPr>
            <p:ph type="ftr" sz="quarter" idx="4"/>
          </p:nvPr>
        </p:nvSpPr>
        <p:spPr>
          <a:xfrm>
            <a:off x="0" y="9372792"/>
            <a:ext cx="2918143" cy="493395"/>
          </a:xfrm>
          <a:prstGeom prst="rect">
            <a:avLst/>
          </a:prstGeom>
        </p:spPr>
        <p:txBody>
          <a:bodyPr vert="horz" lIns="91440" tIns="45720" rIns="91440" bIns="45720" rtlCol="0" anchor="b"/>
          <a:lstStyle>
            <a:lvl1pPr algn="l">
              <a:defRPr sz="1200"/>
            </a:lvl1pPr>
          </a:lstStyle>
          <a:p>
            <a:endParaRPr lang="fi-FI"/>
          </a:p>
        </p:txBody>
      </p:sp>
      <p:sp>
        <p:nvSpPr>
          <p:cNvPr id="7" name="Slide Number Placeholder 6"/>
          <p:cNvSpPr>
            <a:spLocks noGrp="1"/>
          </p:cNvSpPr>
          <p:nvPr>
            <p:ph type="sldNum" sz="quarter" idx="5"/>
          </p:nvPr>
        </p:nvSpPr>
        <p:spPr>
          <a:xfrm>
            <a:off x="3814474" y="9372792"/>
            <a:ext cx="2918143" cy="493395"/>
          </a:xfrm>
          <a:prstGeom prst="rect">
            <a:avLst/>
          </a:prstGeom>
        </p:spPr>
        <p:txBody>
          <a:bodyPr vert="horz" lIns="91440" tIns="45720" rIns="91440" bIns="45720" rtlCol="0" anchor="b"/>
          <a:lstStyle>
            <a:lvl1pPr algn="r">
              <a:defRPr sz="1200"/>
            </a:lvl1pPr>
          </a:lstStyle>
          <a:p>
            <a:fld id="{3B46C0F0-CF11-4FCF-A404-2F2FF520469E}" type="slidenum">
              <a:rPr lang="fi-FI" smtClean="0"/>
              <a:pPr/>
              <a:t>‹#›</a:t>
            </a:fld>
            <a:endParaRPr lang="fi-FI"/>
          </a:p>
        </p:txBody>
      </p:sp>
    </p:spTree>
    <p:extLst>
      <p:ext uri="{BB962C8B-B14F-4D97-AF65-F5344CB8AC3E}">
        <p14:creationId xmlns:p14="http://schemas.microsoft.com/office/powerpoint/2010/main" val="2825607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a:t>
            </a:fld>
            <a:endParaRPr lang="fi-FI"/>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6B2E4471-24CF-48D2-9D3C-6CE1D5B02152}" type="slidenum">
              <a:rPr lang="fi-FI" smtClean="0"/>
              <a:pPr/>
              <a:t>2</a:t>
            </a:fld>
            <a:endParaRPr lang="fi-FI"/>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4"/>
          </p:nvPr>
        </p:nvSpPr>
        <p:spPr>
          <a:ln/>
        </p:spPr>
        <p:txBody>
          <a:bodyPr/>
          <a:lstStyle/>
          <a:p>
            <a:r>
              <a:rPr lang="en-AU">
                <a:solidFill>
                  <a:schemeClr val="bg2"/>
                </a:solidFill>
              </a:rPr>
              <a:t>Copyright </a:t>
            </a:r>
            <a:r>
              <a:rPr lang="en-GB">
                <a:solidFill>
                  <a:schemeClr val="bg2"/>
                </a:solidFill>
              </a:rPr>
              <a:t>© 200</a:t>
            </a:r>
            <a:r>
              <a:rPr lang="fi-FI">
                <a:solidFill>
                  <a:schemeClr val="bg2"/>
                </a:solidFill>
              </a:rPr>
              <a:t>4 </a:t>
            </a:r>
            <a:r>
              <a:rPr lang="en-GB">
                <a:solidFill>
                  <a:schemeClr val="bg2"/>
                </a:solidFill>
              </a:rPr>
              <a:t>F-Secure Corporation. All rights reserved. </a:t>
            </a:r>
            <a:br>
              <a:rPr lang="en-GB">
                <a:solidFill>
                  <a:schemeClr val="bg2"/>
                </a:solidFill>
              </a:rPr>
            </a:br>
            <a:r>
              <a:rPr lang="en-AU">
                <a:solidFill>
                  <a:schemeClr val="bg2"/>
                </a:solidFill>
              </a:rPr>
              <a:t>Finland | France | Germany | Japan | Sweden | United Kingdom |  </a:t>
            </a:r>
            <a:r>
              <a:rPr lang="en-GB"/>
              <a:t>USA</a:t>
            </a:r>
            <a:endParaRPr lang="fi-FI"/>
          </a:p>
          <a:p>
            <a:r>
              <a:rPr lang="en-GB"/>
              <a:t>Tel. +358 9 2520 0700 | info@f-secure.com |</a:t>
            </a:r>
            <a:r>
              <a:rPr lang="fi-FI"/>
              <a:t> </a:t>
            </a:r>
            <a:r>
              <a:rPr lang="en-GB"/>
              <a:t>www.f-secure.com</a:t>
            </a:r>
          </a:p>
        </p:txBody>
      </p:sp>
      <p:sp>
        <p:nvSpPr>
          <p:cNvPr id="6" name="Rectangle 7"/>
          <p:cNvSpPr>
            <a:spLocks noGrp="1" noChangeArrowheads="1"/>
          </p:cNvSpPr>
          <p:nvPr>
            <p:ph type="sldNum" sz="quarter" idx="5"/>
          </p:nvPr>
        </p:nvSpPr>
        <p:spPr>
          <a:ln/>
        </p:spPr>
        <p:txBody>
          <a:bodyPr/>
          <a:lstStyle/>
          <a:p>
            <a:fld id="{CFF255D5-1858-4BCA-9FF6-70F319DAAC03}" type="slidenum">
              <a:rPr lang="en-GB"/>
              <a:pPr/>
              <a:t>3</a:t>
            </a:fld>
            <a:endParaRPr lang="en-GB"/>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6B2E4471-24CF-48D2-9D3C-6CE1D5B02152}" type="slidenum">
              <a:rPr lang="fi-FI" smtClean="0"/>
              <a:pPr/>
              <a:t>4</a:t>
            </a:fld>
            <a:endParaRPr lang="fi-FI"/>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F6FFC6A-3EB0-4D98-8761-2976D23540E4}" type="slidenum">
              <a:rPr lang="fi-FI" smtClean="0"/>
              <a:pPr/>
              <a:t>5</a:t>
            </a:fld>
            <a:endParaRPr lang="fi-FI"/>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6</a:t>
            </a:fld>
            <a:endParaRPr lang="fi-FI"/>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BCCFD434-A6D3-45D1-8809-B7AC7E1096C4}" type="slidenum">
              <a:rPr lang="fi-FI" smtClean="0"/>
              <a:pPr/>
              <a:t>7</a:t>
            </a:fld>
            <a:endParaRPr lang="fi-FI"/>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B46C0F0-CF11-4FCF-A404-2F2FF520469E}" type="slidenum">
              <a:rPr lang="fi-FI" smtClean="0"/>
              <a:pPr/>
              <a:t>8</a:t>
            </a:fld>
            <a:endParaRPr lang="fi-FI"/>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9</a:t>
            </a:fld>
            <a:endParaRPr lang="fi-FI"/>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fi-FI" dirty="0" smtClean="0"/>
              <a:t>Muistuta että suunnitelman tekeminen alkuun vie tottakai paljon aikaa. Toisekseen, suunnitelman päivittäminen vie aikaa. Pyrkimyksenä agilessa on päättää alkuun ne asiat jotka voidaan ja on tarpeen, mutta ei enempää, jättäen mahdollisimman paljon liikkumavaraa uusille suunnille. </a:t>
            </a:r>
            <a:endParaRPr lang="en-US" dirty="0" smtClean="0"/>
          </a:p>
          <a:p>
            <a:endParaRPr lang="fi-FI" dirty="0"/>
          </a:p>
        </p:txBody>
      </p:sp>
      <p:sp>
        <p:nvSpPr>
          <p:cNvPr id="4" name="Slide Number Placeholder 3"/>
          <p:cNvSpPr>
            <a:spLocks noGrp="1"/>
          </p:cNvSpPr>
          <p:nvPr>
            <p:ph type="sldNum" sz="quarter" idx="10"/>
          </p:nvPr>
        </p:nvSpPr>
        <p:spPr/>
        <p:txBody>
          <a:bodyPr/>
          <a:lstStyle/>
          <a:p>
            <a:fld id="{B4C443C2-6315-49E5-9F42-A59DB4100169}"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11</a:t>
            </a:fld>
            <a:endParaRPr lang="fi-FI"/>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12</a:t>
            </a:fld>
            <a:endParaRPr lang="fi-FI"/>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7C0CF697-E9C7-412C-B703-3A093BE15AC0}" type="slidenum">
              <a:rPr lang="fi-FI" smtClean="0"/>
              <a:pPr/>
              <a:t>13</a:t>
            </a:fld>
            <a:endParaRPr lang="fi-FI"/>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BCCFD434-A6D3-45D1-8809-B7AC7E1096C4}" type="slidenum">
              <a:rPr lang="fi-FI" smtClean="0"/>
              <a:pPr/>
              <a:t>14</a:t>
            </a:fld>
            <a:endParaRPr lang="fi-FI"/>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1F6FFC6A-3EB0-4D98-8761-2976D23540E4}" type="slidenum">
              <a:rPr lang="fi-FI" smtClean="0"/>
              <a:pPr/>
              <a:t>15</a:t>
            </a:fld>
            <a:endParaRPr lang="fi-FI"/>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fi-FI" dirty="0" smtClean="0"/>
              <a:t>Q1:</a:t>
            </a:r>
          </a:p>
          <a:p>
            <a:r>
              <a:rPr lang="fi-FI" dirty="0" smtClean="0"/>
              <a:t>Unit tests – test developer intent</a:t>
            </a:r>
          </a:p>
          <a:p>
            <a:r>
              <a:rPr lang="fi-FI" dirty="0" smtClean="0"/>
              <a:t>Component tests – test architect</a:t>
            </a:r>
            <a:r>
              <a:rPr lang="fi-FI" baseline="0" dirty="0" smtClean="0"/>
              <a:t> intent</a:t>
            </a:r>
          </a:p>
          <a:p>
            <a:r>
              <a:rPr lang="fi-FI" baseline="0" dirty="0" smtClean="0"/>
              <a:t>Internal code quality, instant feedback, built-in testability</a:t>
            </a:r>
          </a:p>
          <a:p>
            <a:r>
              <a:rPr lang="fi-FI" baseline="0" dirty="0" smtClean="0"/>
              <a:t>Q2:</a:t>
            </a:r>
          </a:p>
          <a:p>
            <a:r>
              <a:rPr lang="fi-FI" baseline="0" dirty="0" smtClean="0"/>
              <a:t>Requirements elicitation</a:t>
            </a:r>
          </a:p>
          <a:p>
            <a:r>
              <a:rPr lang="fi-FI" baseline="0" dirty="0" smtClean="0"/>
              <a:t>ATDD – Acceptance Test Driven Development, User experience through mockups, Pair testing</a:t>
            </a:r>
          </a:p>
          <a:p>
            <a:r>
              <a:rPr lang="fi-FI" baseline="0" dirty="0" smtClean="0"/>
              <a:t>Requirements for coding, customer clarity, capture examples, focus on external quality, knowing when done</a:t>
            </a:r>
          </a:p>
          <a:p>
            <a:r>
              <a:rPr lang="fi-FI" baseline="0" dirty="0" smtClean="0"/>
              <a:t>Q3:</a:t>
            </a:r>
          </a:p>
          <a:p>
            <a:r>
              <a:rPr lang="fi-FI" baseline="0" dirty="0" smtClean="0"/>
              <a:t>Informal demos</a:t>
            </a:r>
          </a:p>
          <a:p>
            <a:r>
              <a:rPr lang="fi-FI" baseline="0" dirty="0" smtClean="0"/>
              <a:t>Feedback on Q1&amp;2, actual user experience, </a:t>
            </a:r>
          </a:p>
          <a:p>
            <a:r>
              <a:rPr lang="fi-FI" baseline="0" dirty="0" smtClean="0"/>
              <a:t>Q4:</a:t>
            </a:r>
            <a:endParaRPr lang="fi-FI" dirty="0"/>
          </a:p>
        </p:txBody>
      </p:sp>
      <p:sp>
        <p:nvSpPr>
          <p:cNvPr id="4" name="Slide Number Placeholder 3"/>
          <p:cNvSpPr>
            <a:spLocks noGrp="1"/>
          </p:cNvSpPr>
          <p:nvPr>
            <p:ph type="sldNum" sz="quarter" idx="10"/>
          </p:nvPr>
        </p:nvSpPr>
        <p:spPr/>
        <p:txBody>
          <a:bodyPr/>
          <a:lstStyle/>
          <a:p>
            <a:fld id="{7C0CF697-E9C7-412C-B703-3A093BE15AC0}" type="slidenum">
              <a:rPr lang="fi-FI" smtClean="0"/>
              <a:pPr/>
              <a:t>16</a:t>
            </a:fld>
            <a:endParaRPr lang="fi-FI"/>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17</a:t>
            </a:fld>
            <a:endParaRPr lang="fi-FI"/>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49A6E2FC-B52B-4BD8-AAD9-A6179BB76FE7}" type="slidenum">
              <a:rPr lang="fi-FI" smtClean="0"/>
              <a:pPr/>
              <a:t>18</a:t>
            </a:fld>
            <a:endParaRPr lang="fi-FI"/>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2731EE68-C4D1-4B12-9A8F-C570BF2D057F}" type="slidenum">
              <a:rPr lang="fi-FI" smtClean="0"/>
              <a:pPr/>
              <a:t>19</a:t>
            </a:fld>
            <a:endParaRPr lang="fi-FI"/>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20</a:t>
            </a:fld>
            <a:endParaRPr lang="fi-FI"/>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21</a:t>
            </a:fld>
            <a:endParaRPr lang="fi-FI"/>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81592411-6CCB-4FC4-B1AE-18004BCCF375}" type="slidenum">
              <a:rPr lang="fi-FI" smtClean="0"/>
              <a:pPr/>
              <a:t>22</a:t>
            </a:fld>
            <a:endParaRPr lang="fi-FI"/>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3B46C0F0-CF11-4FCF-A404-2F2FF520469E}" type="slidenum">
              <a:rPr lang="fi-FI" smtClean="0"/>
              <a:pPr/>
              <a:t>23</a:t>
            </a:fld>
            <a:endParaRPr lang="fi-FI"/>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a:p>
        </p:txBody>
      </p:sp>
      <p:sp>
        <p:nvSpPr>
          <p:cNvPr id="4" name="Slide Number Placeholder 3"/>
          <p:cNvSpPr>
            <a:spLocks noGrp="1"/>
          </p:cNvSpPr>
          <p:nvPr>
            <p:ph type="sldNum" sz="quarter" idx="10"/>
          </p:nvPr>
        </p:nvSpPr>
        <p:spPr/>
        <p:txBody>
          <a:bodyPr/>
          <a:lstStyle/>
          <a:p>
            <a:fld id="{7C0CF697-E9C7-412C-B703-3A093BE15AC0}" type="slidenum">
              <a:rPr lang="fi-FI" smtClean="0"/>
              <a:pPr/>
              <a:t>24</a:t>
            </a:fld>
            <a:endParaRPr lang="fi-FI"/>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smtClean="0"/>
              <a:t>Think of these values from the testing point of view – what if your organizations development is</a:t>
            </a:r>
            <a:r>
              <a:rPr lang="en-GB" baseline="0" dirty="0" smtClean="0"/>
              <a:t> very much still based on plan-driven methods?</a:t>
            </a:r>
          </a:p>
          <a:p>
            <a:pPr>
              <a:buFont typeface="Arial" pitchFamily="34" charset="0"/>
              <a:buChar char="•"/>
            </a:pPr>
            <a:r>
              <a:rPr lang="en-GB" baseline="0" dirty="0" smtClean="0"/>
              <a:t>What would really prevent you from going and talking with the developer, in addition to getting the documents your process describes you should receive?</a:t>
            </a:r>
          </a:p>
          <a:p>
            <a:pPr>
              <a:buFont typeface="Arial" pitchFamily="34" charset="0"/>
              <a:buChar char="•"/>
            </a:pPr>
            <a:r>
              <a:rPr lang="en-GB" baseline="0" dirty="0" smtClean="0"/>
              <a:t>What would really prevent you from agreeing other ways of showing how far you are in testing than counting from test case documented in detail?</a:t>
            </a:r>
          </a:p>
          <a:p>
            <a:pPr>
              <a:buFont typeface="Arial" pitchFamily="34" charset="0"/>
              <a:buChar char="•"/>
            </a:pPr>
            <a:r>
              <a:rPr lang="en-GB" baseline="0" dirty="0" smtClean="0"/>
              <a:t>What would really prevent you from focusing your investment to the most relevant end-result, software with as little problems as possible, without still completely giving up on documentation that supports your work both now and in future?</a:t>
            </a:r>
          </a:p>
          <a:p>
            <a:pPr>
              <a:buFont typeface="Arial" pitchFamily="34" charset="0"/>
              <a:buChar char="•"/>
            </a:pPr>
            <a:r>
              <a:rPr lang="en-GB" baseline="0" dirty="0" smtClean="0"/>
              <a:t>What would really prevent you from finding some real customer and asking them what they think of quality that is good enough, even if the contract details requirements? </a:t>
            </a:r>
          </a:p>
          <a:p>
            <a:pPr>
              <a:buFont typeface="Arial" pitchFamily="34" charset="0"/>
              <a:buChar char="•"/>
            </a:pPr>
            <a:r>
              <a:rPr lang="en-GB" baseline="0" dirty="0" smtClean="0"/>
              <a:t>What would really prevent you from organizing your work so that every Monday, you can decide what is the next week worth using time on within your area of responsibilities?</a:t>
            </a:r>
          </a:p>
          <a:p>
            <a:pPr>
              <a:buFont typeface="Arial" pitchFamily="34" charset="0"/>
              <a:buChar char="•"/>
            </a:pPr>
            <a:endParaRPr lang="en-GB" baseline="0" dirty="0" smtClean="0"/>
          </a:p>
        </p:txBody>
      </p:sp>
      <p:sp>
        <p:nvSpPr>
          <p:cNvPr id="4" name="Slide Number Placeholder 3"/>
          <p:cNvSpPr>
            <a:spLocks noGrp="1"/>
          </p:cNvSpPr>
          <p:nvPr>
            <p:ph type="sldNum" sz="quarter" idx="10"/>
          </p:nvPr>
        </p:nvSpPr>
        <p:spPr/>
        <p:txBody>
          <a:bodyPr/>
          <a:lstStyle/>
          <a:p>
            <a:fld id="{64AC6368-C921-4798-B1A6-D8CCC015945C}"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22363" y="740092"/>
            <a:ext cx="4489450" cy="3700463"/>
          </a:xfrm>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There’s a group of people who think of </a:t>
            </a:r>
            <a:r>
              <a:rPr lang="en-US" sz="1200" i="1" kern="1200" dirty="0" smtClean="0">
                <a:solidFill>
                  <a:schemeClr val="tx1"/>
                </a:solidFill>
                <a:effectLst/>
                <a:latin typeface="+mn-lt"/>
                <a:ea typeface="+mn-ea"/>
                <a:cs typeface="+mn-cs"/>
              </a:rPr>
              <a:t>testing as creating artifacts</a:t>
            </a:r>
            <a:r>
              <a:rPr lang="en-US" sz="1200" kern="1200" dirty="0" smtClean="0">
                <a:solidFill>
                  <a:schemeClr val="tx1"/>
                </a:solidFill>
                <a:effectLst/>
                <a:latin typeface="+mn-lt"/>
                <a:ea typeface="+mn-ea"/>
                <a:cs typeface="+mn-cs"/>
              </a:rPr>
              <a:t>: test cases, test automation.  Tests are something that is used later for testing to happen again. The modern way of thinking leads this group of people to mostly consider test automation, recognizing that making people run mundane repeatable scripts isn’t the goal. With the automation artifacts, we get four types of benefits.  The tests work as </a:t>
            </a:r>
            <a:r>
              <a:rPr lang="en-US" sz="1200" i="1" kern="1200" dirty="0" smtClean="0">
                <a:solidFill>
                  <a:schemeClr val="tx1"/>
                </a:solidFill>
                <a:effectLst/>
                <a:latin typeface="+mn-lt"/>
                <a:ea typeface="+mn-ea"/>
                <a:cs typeface="+mn-cs"/>
              </a:rPr>
              <a:t>specification</a:t>
            </a:r>
            <a:r>
              <a:rPr lang="en-US" sz="1200" kern="1200" dirty="0" smtClean="0">
                <a:solidFill>
                  <a:schemeClr val="tx1"/>
                </a:solidFill>
                <a:effectLst/>
                <a:latin typeface="+mn-lt"/>
                <a:ea typeface="+mn-ea"/>
                <a:cs typeface="+mn-cs"/>
              </a:rPr>
              <a:t>, giving us a detailed example of something. The tests give us </a:t>
            </a:r>
            <a:r>
              <a:rPr lang="en-US" sz="1200" i="1" kern="1200" dirty="0" smtClean="0">
                <a:solidFill>
                  <a:schemeClr val="tx1"/>
                </a:solidFill>
                <a:effectLst/>
                <a:latin typeface="+mn-lt"/>
                <a:ea typeface="+mn-ea"/>
                <a:cs typeface="+mn-cs"/>
              </a:rPr>
              <a:t>feedback</a:t>
            </a:r>
            <a:r>
              <a:rPr lang="en-US" sz="1200" kern="1200" dirty="0" smtClean="0">
                <a:solidFill>
                  <a:schemeClr val="tx1"/>
                </a:solidFill>
                <a:effectLst/>
                <a:latin typeface="+mn-lt"/>
                <a:ea typeface="+mn-ea"/>
                <a:cs typeface="+mn-cs"/>
              </a:rPr>
              <a:t> when we’ve implemented something, to see if what we have is what we intended. The tests stay around to guard us against </a:t>
            </a:r>
            <a:r>
              <a:rPr lang="en-US" sz="1200" i="1" kern="1200" dirty="0" smtClean="0">
                <a:solidFill>
                  <a:schemeClr val="tx1"/>
                </a:solidFill>
                <a:effectLst/>
                <a:latin typeface="+mn-lt"/>
                <a:ea typeface="+mn-ea"/>
                <a:cs typeface="+mn-cs"/>
              </a:rPr>
              <a:t>regression</a:t>
            </a:r>
            <a:r>
              <a:rPr lang="en-US" sz="1200" kern="1200" dirty="0" smtClean="0">
                <a:solidFill>
                  <a:schemeClr val="tx1"/>
                </a:solidFill>
                <a:effectLst/>
                <a:latin typeface="+mn-lt"/>
                <a:ea typeface="+mn-ea"/>
                <a:cs typeface="+mn-cs"/>
              </a:rPr>
              <a:t>, us forgetting details when paying attention elsewhere. And the tests give us </a:t>
            </a:r>
            <a:r>
              <a:rPr lang="en-US" sz="1200" i="1" kern="1200" dirty="0" smtClean="0">
                <a:solidFill>
                  <a:schemeClr val="tx1"/>
                </a:solidFill>
                <a:effectLst/>
                <a:latin typeface="+mn-lt"/>
                <a:ea typeface="+mn-ea"/>
                <a:cs typeface="+mn-cs"/>
              </a:rPr>
              <a:t>granularity</a:t>
            </a:r>
            <a:r>
              <a:rPr lang="en-US" sz="1200" kern="1200" dirty="0" smtClean="0">
                <a:solidFill>
                  <a:schemeClr val="tx1"/>
                </a:solidFill>
                <a:effectLst/>
                <a:latin typeface="+mn-lt"/>
                <a:ea typeface="+mn-ea"/>
                <a:cs typeface="+mn-cs"/>
              </a:rPr>
              <a:t>, helping us see where the problem is when the tests fail.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Another group of people thinks of </a:t>
            </a:r>
            <a:r>
              <a:rPr lang="en-US" sz="1200" i="1" kern="1200" dirty="0" smtClean="0">
                <a:solidFill>
                  <a:schemeClr val="tx1"/>
                </a:solidFill>
                <a:effectLst/>
                <a:latin typeface="+mn-lt"/>
                <a:ea typeface="+mn-ea"/>
                <a:cs typeface="+mn-cs"/>
              </a:rPr>
              <a:t>testing as performance</a:t>
            </a:r>
            <a:r>
              <a:rPr lang="en-US" sz="1200" kern="1200" dirty="0" smtClean="0">
                <a:solidFill>
                  <a:schemeClr val="tx1"/>
                </a:solidFill>
                <a:effectLst/>
                <a:latin typeface="+mn-lt"/>
                <a:ea typeface="+mn-ea"/>
                <a:cs typeface="+mn-cs"/>
              </a:rPr>
              <a:t>. It’s learning in layers, to prepare for the ultimate show with all the rehearsals where continuous learning enables us to put our best performance forward towards the end. Artifacts might be useful, but they are often more of an output to document all the layers of learning rather than driving the thinking. With testing as performance, we also get four types of benefits. While this style of testing does not give us a spec, it gives us </a:t>
            </a:r>
            <a:r>
              <a:rPr lang="en-US" sz="1200" i="1" kern="1200" dirty="0" smtClean="0">
                <a:solidFill>
                  <a:schemeClr val="tx1"/>
                </a:solidFill>
                <a:effectLst/>
                <a:latin typeface="+mn-lt"/>
                <a:ea typeface="+mn-ea"/>
                <a:cs typeface="+mn-cs"/>
              </a:rPr>
              <a:t>guidance</a:t>
            </a:r>
            <a:r>
              <a:rPr lang="en-US" sz="1200" kern="1200" dirty="0" smtClean="0">
                <a:solidFill>
                  <a:schemeClr val="tx1"/>
                </a:solidFill>
                <a:effectLst/>
                <a:latin typeface="+mn-lt"/>
                <a:ea typeface="+mn-ea"/>
                <a:cs typeface="+mn-cs"/>
              </a:rPr>
              <a:t>. It’s often not a binary Yes/No, but more of a consideration if there could be a problem here. The guidance enabling us to learn about the unknown unknowns turn into specs as we make our decisions on how to react to feedback. This testing gives us </a:t>
            </a:r>
            <a:r>
              <a:rPr lang="en-US" sz="1200" i="1" kern="1200" dirty="0" smtClean="0">
                <a:solidFill>
                  <a:schemeClr val="tx1"/>
                </a:solidFill>
                <a:effectLst/>
                <a:latin typeface="+mn-lt"/>
                <a:ea typeface="+mn-ea"/>
                <a:cs typeface="+mn-cs"/>
              </a:rPr>
              <a:t>understanding</a:t>
            </a:r>
            <a:r>
              <a:rPr lang="en-US" sz="1200" kern="1200" dirty="0" smtClean="0">
                <a:solidFill>
                  <a:schemeClr val="tx1"/>
                </a:solidFill>
                <a:effectLst/>
                <a:latin typeface="+mn-lt"/>
                <a:ea typeface="+mn-ea"/>
                <a:cs typeface="+mn-cs"/>
              </a:rPr>
              <a:t>, in the wider context of use and value.  This testing gives us </a:t>
            </a:r>
            <a:r>
              <a:rPr lang="en-US" sz="1200" i="1" kern="1200" dirty="0" smtClean="0">
                <a:solidFill>
                  <a:schemeClr val="tx1"/>
                </a:solidFill>
                <a:effectLst/>
                <a:latin typeface="+mn-lt"/>
                <a:ea typeface="+mn-ea"/>
                <a:cs typeface="+mn-cs"/>
              </a:rPr>
              <a:t>models</a:t>
            </a:r>
            <a:r>
              <a:rPr lang="en-US" sz="1200" kern="1200" dirty="0" smtClean="0">
                <a:solidFill>
                  <a:schemeClr val="tx1"/>
                </a:solidFill>
                <a:effectLst/>
                <a:latin typeface="+mn-lt"/>
                <a:ea typeface="+mn-ea"/>
                <a:cs typeface="+mn-cs"/>
              </a:rPr>
              <a:t> of what the world around the application looks like, enabling us to go back to lessons we’ve learned and fast-track future learning. Finally, this testing gives us </a:t>
            </a:r>
            <a:r>
              <a:rPr lang="en-US" sz="1200" i="1" kern="1200" dirty="0" smtClean="0">
                <a:solidFill>
                  <a:schemeClr val="tx1"/>
                </a:solidFill>
                <a:effectLst/>
                <a:latin typeface="+mn-lt"/>
                <a:ea typeface="+mn-ea"/>
                <a:cs typeface="+mn-cs"/>
              </a:rPr>
              <a:t>serendipity</a:t>
            </a:r>
            <a:r>
              <a:rPr lang="en-US" sz="1200" kern="1200" dirty="0" smtClean="0">
                <a:solidFill>
                  <a:schemeClr val="tx1"/>
                </a:solidFill>
                <a:effectLst/>
                <a:latin typeface="+mn-lt"/>
                <a:ea typeface="+mn-ea"/>
                <a:cs typeface="+mn-cs"/>
              </a:rPr>
              <a:t>, lucky accidents to find many of the things that we should know of, but turn blind to assuming we know what we’re looking for.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While exploratory testing starts with the testing as performance in mind, it also generates artifacts whenever deemed useful.  </a:t>
            </a:r>
            <a:r>
              <a:rPr lang="en-US" sz="1200" kern="1200" smtClean="0">
                <a:solidFill>
                  <a:schemeClr val="tx1"/>
                </a:solidFill>
                <a:effectLst/>
                <a:latin typeface="+mn-lt"/>
                <a:ea typeface="+mn-ea"/>
                <a:cs typeface="+mn-cs"/>
              </a:rPr>
              <a:t>Testing of an API is a great way to get to the core of this difference in how we think about testing. </a:t>
            </a: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endParaRPr lang="en-US" sz="1200" kern="1200" dirty="0" smtClean="0">
              <a:solidFill>
                <a:schemeClr val="tx1"/>
              </a:solidFill>
              <a:latin typeface="+mn-lt"/>
              <a:ea typeface="+mn-ea"/>
              <a:cs typeface="+mn-cs"/>
            </a:endParaRPr>
          </a:p>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All testing may be exploratory, but some of it is focused on creating artifacts. Saying “scripting is just an approach” is belittling when scripting can be the main approach to use the powers when testing. </a:t>
            </a:r>
            <a:endParaRPr lang="en-US"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smtClean="0"/>
              <a:t>“there’s a process of knowing” – learning</a:t>
            </a:r>
          </a:p>
          <a:p>
            <a:endParaRPr lang="en-US" dirty="0" smtClean="0"/>
          </a:p>
          <a:p>
            <a:endParaRPr lang="en-US" dirty="0" smtClean="0"/>
          </a:p>
          <a:p>
            <a:r>
              <a:rPr lang="en-US" dirty="0" smtClean="0"/>
              <a:t>Does not give as regression;</a:t>
            </a:r>
            <a:r>
              <a:rPr lang="en-US" baseline="0" dirty="0" smtClean="0"/>
              <a:t> serendipity (safety against things happening randomly) / unwanted serendipity events. </a:t>
            </a:r>
          </a:p>
          <a:p>
            <a:endParaRPr lang="en-US" baseline="0" dirty="0" smtClean="0"/>
          </a:p>
          <a:p>
            <a:r>
              <a:rPr lang="en-US" dirty="0" smtClean="0"/>
              <a:t>This is what it</a:t>
            </a:r>
            <a:r>
              <a:rPr lang="en-US" baseline="0" dirty="0" smtClean="0"/>
              <a:t> is and what it could  be. There’s a direction to it, not just statement of what it is. </a:t>
            </a:r>
          </a:p>
          <a:p>
            <a:r>
              <a:rPr lang="en-US" baseline="0" dirty="0" smtClean="0"/>
              <a:t>Coaching is not just feedback, it’s pointing them to the right way. </a:t>
            </a:r>
          </a:p>
          <a:p>
            <a:endParaRPr lang="en-US" baseline="0" dirty="0" smtClean="0"/>
          </a:p>
          <a:p>
            <a:r>
              <a:rPr lang="en-US" baseline="0" dirty="0" smtClean="0"/>
              <a:t>Safety. </a:t>
            </a:r>
          </a:p>
          <a:p>
            <a:endParaRPr lang="en-US" baseline="0" dirty="0" smtClean="0"/>
          </a:p>
          <a:p>
            <a:r>
              <a:rPr lang="en-US" baseline="0" dirty="0" smtClean="0"/>
              <a:t>EXPERIENCE (the verb) rather than facts ; emotions over facts. REACTIONS. </a:t>
            </a:r>
          </a:p>
          <a:p>
            <a:endParaRPr lang="en-US" baseline="0" dirty="0" smtClean="0"/>
          </a:p>
          <a:p>
            <a:r>
              <a:rPr lang="en-US" baseline="0" dirty="0" smtClean="0"/>
              <a:t>HISTORY, Lessons learned, checklists. Modeling. </a:t>
            </a:r>
          </a:p>
          <a:p>
            <a:endParaRPr lang="en-US" baseline="0" dirty="0" smtClean="0"/>
          </a:p>
          <a:p>
            <a:r>
              <a:rPr lang="en-US" baseline="0" dirty="0" smtClean="0"/>
              <a:t>UNDERSTANDING – where you start (knowing the thing (code &amp; environment), knowing the user, knowing the problems, knowing the developers (how to help them and what they do so that you can efficiently test), knowing the hackers (weird use cases outside common ‘have you tried reading it upside down’) , knowing all stakeholders, knowing the business priorities)</a:t>
            </a:r>
          </a:p>
          <a:p>
            <a:endParaRPr lang="en-US" baseline="0" dirty="0" smtClean="0"/>
          </a:p>
          <a:p>
            <a:r>
              <a:rPr lang="en-US" baseline="0" dirty="0" smtClean="0"/>
              <a:t>Uncovering things I cannot know, giving the application a change to reveal information for me. </a:t>
            </a:r>
          </a:p>
          <a:p>
            <a:endParaRPr lang="en-US" baseline="0" dirty="0" smtClean="0"/>
          </a:p>
          <a:p>
            <a:endParaRPr lang="en-US" baseline="0" dirty="0" smtClean="0"/>
          </a:p>
          <a:p>
            <a:r>
              <a:rPr lang="en-US" baseline="0" dirty="0" smtClean="0"/>
              <a:t>This allows you to know things. </a:t>
            </a:r>
          </a:p>
          <a:p>
            <a:endParaRPr lang="en-US" baseline="0" dirty="0" smtClean="0"/>
          </a:p>
          <a:p>
            <a:r>
              <a:rPr lang="en-US" baseline="0" dirty="0" smtClean="0"/>
              <a:t> </a:t>
            </a:r>
          </a:p>
        </p:txBody>
      </p:sp>
      <p:sp>
        <p:nvSpPr>
          <p:cNvPr id="4" name="Slide Number Placeholder 3"/>
          <p:cNvSpPr>
            <a:spLocks noGrp="1"/>
          </p:cNvSpPr>
          <p:nvPr>
            <p:ph type="sldNum" sz="quarter" idx="10"/>
          </p:nvPr>
        </p:nvSpPr>
        <p:spPr/>
        <p:txBody>
          <a:bodyPr/>
          <a:lstStyle/>
          <a:p>
            <a:fld id="{DDB516CE-D814-CC47-9A3A-08F3D723435B}" type="slidenum">
              <a:rPr lang="en-US" smtClean="0"/>
              <a:t>26</a:t>
            </a:fld>
            <a:endParaRPr lang="en-US"/>
          </a:p>
        </p:txBody>
      </p:sp>
    </p:spTree>
    <p:extLst>
      <p:ext uri="{BB962C8B-B14F-4D97-AF65-F5344CB8AC3E}">
        <p14:creationId xmlns:p14="http://schemas.microsoft.com/office/powerpoint/2010/main" val="37389141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i-FI" dirty="0"/>
          </a:p>
        </p:txBody>
      </p:sp>
      <p:sp>
        <p:nvSpPr>
          <p:cNvPr id="4" name="Slide Number Placeholder 3"/>
          <p:cNvSpPr>
            <a:spLocks noGrp="1"/>
          </p:cNvSpPr>
          <p:nvPr>
            <p:ph type="sldNum" sz="quarter" idx="10"/>
          </p:nvPr>
        </p:nvSpPr>
        <p:spPr/>
        <p:txBody>
          <a:bodyPr/>
          <a:lstStyle/>
          <a:p>
            <a:fld id="{8090F80B-00F3-431D-B31E-47D2F9301A1B}" type="slidenum">
              <a:rPr lang="fi-FI" smtClean="0"/>
              <a:pPr/>
              <a:t>28</a:t>
            </a:fld>
            <a:endParaRPr lang="fi-FI"/>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576F9A1-5B7B-41B0-B2EF-EA3E0D21DABB}" type="datetime1">
              <a:rPr lang="en-US" smtClean="0"/>
              <a:pPr/>
              <a:t>29/05/17</a:t>
            </a:fld>
            <a:endParaRPr lang="en-US"/>
          </a:p>
        </p:txBody>
      </p:sp>
      <p:sp>
        <p:nvSpPr>
          <p:cNvPr id="5" name="Footer Placeholder 4"/>
          <p:cNvSpPr>
            <a:spLocks noGrp="1"/>
          </p:cNvSpPr>
          <p:nvPr>
            <p:ph type="ftr" sz="quarter" idx="11"/>
          </p:nvPr>
        </p:nvSpPr>
        <p:spPr/>
        <p:txBody>
          <a:bodyPr/>
          <a:lstStyle/>
          <a:p>
            <a:r>
              <a:rPr lang="en-US" smtClean="0"/>
              <a:t>DAY 1</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880BA82-F4B4-4033-93EE-06C8C50E3625}" type="datetime1">
              <a:rPr lang="en-US" smtClean="0"/>
              <a:pPr/>
              <a:t>29/05/17</a:t>
            </a:fld>
            <a:endParaRPr lang="en-US"/>
          </a:p>
        </p:txBody>
      </p:sp>
      <p:sp>
        <p:nvSpPr>
          <p:cNvPr id="5" name="Footer Placeholder 4"/>
          <p:cNvSpPr>
            <a:spLocks noGrp="1"/>
          </p:cNvSpPr>
          <p:nvPr>
            <p:ph type="ftr" sz="quarter" idx="11"/>
          </p:nvPr>
        </p:nvSpPr>
        <p:spPr/>
        <p:txBody>
          <a:bodyPr/>
          <a:lstStyle/>
          <a:p>
            <a:r>
              <a:rPr lang="en-US" smtClean="0"/>
              <a:t>DAY 1</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35386F6-FFAA-4DA4-B1FF-A736EC34F1EF}" type="datetime1">
              <a:rPr lang="en-US" smtClean="0"/>
              <a:pPr/>
              <a:t>29/05/17</a:t>
            </a:fld>
            <a:endParaRPr lang="en-US"/>
          </a:p>
        </p:txBody>
      </p:sp>
      <p:sp>
        <p:nvSpPr>
          <p:cNvPr id="5" name="Footer Placeholder 4"/>
          <p:cNvSpPr>
            <a:spLocks noGrp="1"/>
          </p:cNvSpPr>
          <p:nvPr>
            <p:ph type="ftr" sz="quarter" idx="11"/>
          </p:nvPr>
        </p:nvSpPr>
        <p:spPr/>
        <p:txBody>
          <a:bodyPr/>
          <a:lstStyle/>
          <a:p>
            <a:r>
              <a:rPr lang="en-US" smtClean="0"/>
              <a:t>DAY 1</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B8331F0-004F-4C37-80B9-F9C8BE59A979}" type="datetime1">
              <a:rPr lang="en-US" smtClean="0"/>
              <a:pPr/>
              <a:t>29/05/17</a:t>
            </a:fld>
            <a:endParaRPr lang="en-US"/>
          </a:p>
        </p:txBody>
      </p:sp>
      <p:sp>
        <p:nvSpPr>
          <p:cNvPr id="6" name="Footer Placeholder 5"/>
          <p:cNvSpPr>
            <a:spLocks noGrp="1"/>
          </p:cNvSpPr>
          <p:nvPr>
            <p:ph type="ftr" sz="quarter" idx="11"/>
          </p:nvPr>
        </p:nvSpPr>
        <p:spPr/>
        <p:txBody>
          <a:bodyPr/>
          <a:lstStyle/>
          <a:p>
            <a:r>
              <a:rPr lang="en-US" smtClean="0"/>
              <a:t>DAY 1</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4F550EF-6749-4630-A3CA-4F71FB89E0B7}" type="datetime1">
              <a:rPr lang="en-US" smtClean="0"/>
              <a:pPr/>
              <a:t>29/05/17</a:t>
            </a:fld>
            <a:endParaRPr lang="en-US"/>
          </a:p>
        </p:txBody>
      </p:sp>
      <p:sp>
        <p:nvSpPr>
          <p:cNvPr id="8" name="Footer Placeholder 7"/>
          <p:cNvSpPr>
            <a:spLocks noGrp="1"/>
          </p:cNvSpPr>
          <p:nvPr>
            <p:ph type="ftr" sz="quarter" idx="11"/>
          </p:nvPr>
        </p:nvSpPr>
        <p:spPr/>
        <p:txBody>
          <a:bodyPr/>
          <a:lstStyle/>
          <a:p>
            <a:r>
              <a:rPr lang="en-US" smtClean="0"/>
              <a:t>DAY 1</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447E0CB-B04F-4838-B15A-0ACCB5EB70AD}" type="datetime1">
              <a:rPr lang="en-US" smtClean="0"/>
              <a:pPr/>
              <a:t>29/05/17</a:t>
            </a:fld>
            <a:endParaRPr lang="en-US"/>
          </a:p>
        </p:txBody>
      </p:sp>
      <p:sp>
        <p:nvSpPr>
          <p:cNvPr id="4" name="Footer Placeholder 3"/>
          <p:cNvSpPr>
            <a:spLocks noGrp="1"/>
          </p:cNvSpPr>
          <p:nvPr>
            <p:ph type="ftr" sz="quarter" idx="11"/>
          </p:nvPr>
        </p:nvSpPr>
        <p:spPr/>
        <p:txBody>
          <a:bodyPr/>
          <a:lstStyle/>
          <a:p>
            <a:r>
              <a:rPr lang="en-US" smtClean="0"/>
              <a:t>DAY 1</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6FF3A0-914E-4201-9644-F38328642ABB}" type="datetime1">
              <a:rPr lang="en-US" smtClean="0"/>
              <a:pPr/>
              <a:t>29/05/17</a:t>
            </a:fld>
            <a:endParaRPr lang="en-US"/>
          </a:p>
        </p:txBody>
      </p:sp>
      <p:sp>
        <p:nvSpPr>
          <p:cNvPr id="3" name="Footer Placeholder 2"/>
          <p:cNvSpPr>
            <a:spLocks noGrp="1"/>
          </p:cNvSpPr>
          <p:nvPr>
            <p:ph type="ftr" sz="quarter" idx="11"/>
          </p:nvPr>
        </p:nvSpPr>
        <p:spPr/>
        <p:txBody>
          <a:bodyPr/>
          <a:lstStyle/>
          <a:p>
            <a:r>
              <a:rPr lang="en-US" smtClean="0"/>
              <a:t>DAY 1</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14512B3-EE47-421A-9394-C7929DD05EFA}" type="datetime1">
              <a:rPr lang="en-US" smtClean="0"/>
              <a:pPr/>
              <a:t>29/05/17</a:t>
            </a:fld>
            <a:endParaRPr lang="en-US"/>
          </a:p>
        </p:txBody>
      </p:sp>
      <p:sp>
        <p:nvSpPr>
          <p:cNvPr id="6" name="Footer Placeholder 5"/>
          <p:cNvSpPr>
            <a:spLocks noGrp="1"/>
          </p:cNvSpPr>
          <p:nvPr>
            <p:ph type="ftr" sz="quarter" idx="11"/>
          </p:nvPr>
        </p:nvSpPr>
        <p:spPr/>
        <p:txBody>
          <a:bodyPr/>
          <a:lstStyle/>
          <a:p>
            <a:r>
              <a:rPr lang="en-US" smtClean="0"/>
              <a:t>DAY 1</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45556D-CFCC-4DC0-A488-71FC61AF695E}" type="datetime1">
              <a:rPr lang="en-US" smtClean="0"/>
              <a:pPr/>
              <a:t>29/05/17</a:t>
            </a:fld>
            <a:endParaRPr lang="en-US"/>
          </a:p>
        </p:txBody>
      </p:sp>
      <p:sp>
        <p:nvSpPr>
          <p:cNvPr id="6" name="Footer Placeholder 5"/>
          <p:cNvSpPr>
            <a:spLocks noGrp="1"/>
          </p:cNvSpPr>
          <p:nvPr>
            <p:ph type="ftr" sz="quarter" idx="11"/>
          </p:nvPr>
        </p:nvSpPr>
        <p:spPr/>
        <p:txBody>
          <a:bodyPr/>
          <a:lstStyle/>
          <a:p>
            <a:r>
              <a:rPr lang="en-US" smtClean="0"/>
              <a:t>DAY 1</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1E048CD-2F14-4727-9BD8-5D647E6E1EF1}" type="datetime1">
              <a:rPr lang="en-US" smtClean="0"/>
              <a:pPr/>
              <a:t>29/05/17</a:t>
            </a:fld>
            <a:endParaRPr lang="en-US"/>
          </a:p>
        </p:txBody>
      </p:sp>
      <p:sp>
        <p:nvSpPr>
          <p:cNvPr id="5" name="Footer Placeholder 4"/>
          <p:cNvSpPr>
            <a:spLocks noGrp="1"/>
          </p:cNvSpPr>
          <p:nvPr>
            <p:ph type="ftr" sz="quarter" idx="11"/>
          </p:nvPr>
        </p:nvSpPr>
        <p:spPr/>
        <p:txBody>
          <a:bodyPr/>
          <a:lstStyle/>
          <a:p>
            <a:r>
              <a:rPr lang="en-US" smtClean="0"/>
              <a:t>DAY 1</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D0259C6-0CEF-4DD6-9684-8C356E9B1DEC}" type="datetime1">
              <a:rPr lang="en-US" smtClean="0"/>
              <a:pPr/>
              <a:t>29/05/17</a:t>
            </a:fld>
            <a:endParaRPr lang="en-US"/>
          </a:p>
        </p:txBody>
      </p:sp>
      <p:sp>
        <p:nvSpPr>
          <p:cNvPr id="5" name="Footer Placeholder 4"/>
          <p:cNvSpPr>
            <a:spLocks noGrp="1"/>
          </p:cNvSpPr>
          <p:nvPr>
            <p:ph type="ftr" sz="quarter" idx="11"/>
          </p:nvPr>
        </p:nvSpPr>
        <p:spPr/>
        <p:txBody>
          <a:bodyPr/>
          <a:lstStyle/>
          <a:p>
            <a:r>
              <a:rPr lang="en-US" smtClean="0"/>
              <a:t>DAY 1</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E101A5-C35E-47EB-8F8F-4A854F548C1C}" type="datetime1">
              <a:rPr lang="en-US" smtClean="0"/>
              <a:pPr/>
              <a:t>29/05/17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DAY 1</a:t>
            </a:r>
            <a:endParaRPr lang="en-US"/>
          </a:p>
        </p:txBody>
      </p:sp>
      <p:sp>
        <p:nvSpPr>
          <p:cNvPr id="6" name="Slide Number Placeholder 5"/>
          <p:cNvSpPr>
            <a:spLocks noGrp="1"/>
          </p:cNvSpPr>
          <p:nvPr>
            <p:ph type="sldNum" sz="quarter" idx="4"/>
          </p:nvPr>
        </p:nvSpPr>
        <p:spPr>
          <a:xfrm>
            <a:off x="0" y="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4" Type="http://schemas.openxmlformats.org/officeDocument/2006/relationships/hyperlink" Target="http://creativecommons.org/licenses/by/1.0/fi/" TargetMode="External"/><Relationship Id="rId5" Type="http://schemas.openxmlformats.org/officeDocument/2006/relationships/hyperlink" Target="http://creativecommons.org/licenses/by/1.0/fi/deed.en" TargetMode="External"/><Relationship Id="rId6" Type="http://schemas.openxmlformats.org/officeDocument/2006/relationships/image" Target="../media/image2.wmf"/><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w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6.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7.wmf"/><Relationship Id="rId4" Type="http://schemas.openxmlformats.org/officeDocument/2006/relationships/image" Target="../media/image8.wmf"/><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Testaus ja ketteryys</a:t>
            </a:r>
            <a:endParaRPr lang="fi-FI" dirty="0"/>
          </a:p>
        </p:txBody>
      </p:sp>
      <p:sp>
        <p:nvSpPr>
          <p:cNvPr id="3" name="Text Placeholder 2"/>
          <p:cNvSpPr>
            <a:spLocks noGrp="1"/>
          </p:cNvSpPr>
          <p:nvPr>
            <p:ph type="body" idx="1"/>
          </p:nvPr>
        </p:nvSpPr>
        <p:spPr/>
        <p:txBody>
          <a:bodyPr/>
          <a:lstStyle/>
          <a:p>
            <a:r>
              <a:rPr lang="fi-FI" dirty="0" smtClean="0"/>
              <a:t>Ketteryys ja testaus ei ole ihan sama kuin ketterä testaus</a:t>
            </a:r>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dirty="0"/>
          </a:p>
        </p:txBody>
      </p:sp>
      <p:grpSp>
        <p:nvGrpSpPr>
          <p:cNvPr id="4" name="Group 12"/>
          <p:cNvGrpSpPr/>
          <p:nvPr/>
        </p:nvGrpSpPr>
        <p:grpSpPr>
          <a:xfrm>
            <a:off x="4876800" y="5943600"/>
            <a:ext cx="4114800" cy="685800"/>
            <a:chOff x="838200" y="5486400"/>
            <a:chExt cx="4114800" cy="685800"/>
          </a:xfrm>
        </p:grpSpPr>
        <p:sp>
          <p:nvSpPr>
            <p:cNvPr id="12" name="Rectangle 11"/>
            <p:cNvSpPr/>
            <p:nvPr/>
          </p:nvSpPr>
          <p:spPr>
            <a:xfrm>
              <a:off x="838200" y="5486400"/>
              <a:ext cx="4114800" cy="6858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fi-FI"/>
            </a:p>
          </p:txBody>
        </p:sp>
        <p:pic>
          <p:nvPicPr>
            <p:cNvPr id="13" name="Picture 12" descr="88x31.png"/>
            <p:cNvPicPr>
              <a:picLocks noChangeAspect="1"/>
            </p:cNvPicPr>
            <p:nvPr/>
          </p:nvPicPr>
          <p:blipFill>
            <a:blip r:embed="rId3" cstate="print"/>
            <a:stretch>
              <a:fillRect/>
            </a:stretch>
          </p:blipFill>
          <p:spPr>
            <a:xfrm>
              <a:off x="939940" y="5638800"/>
              <a:ext cx="1117460" cy="393651"/>
            </a:xfrm>
            <a:prstGeom prst="rect">
              <a:avLst/>
            </a:prstGeom>
          </p:spPr>
        </p:pic>
        <p:sp>
          <p:nvSpPr>
            <p:cNvPr id="14" name="TextBox 13"/>
            <p:cNvSpPr txBox="1"/>
            <p:nvPr/>
          </p:nvSpPr>
          <p:spPr>
            <a:xfrm>
              <a:off x="2057400" y="5511225"/>
              <a:ext cx="2819400" cy="646331"/>
            </a:xfrm>
            <a:prstGeom prst="rect">
              <a:avLst/>
            </a:prstGeom>
            <a:noFill/>
          </p:spPr>
          <p:txBody>
            <a:bodyPr wrap="square" rtlCol="0">
              <a:spAutoFit/>
            </a:bodyPr>
            <a:lstStyle/>
            <a:p>
              <a:r>
                <a:rPr lang="fi-FI" sz="900" b="1" dirty="0" smtClean="0"/>
                <a:t>Erkki Pöyhönen &amp; Maaret Pyhäjärvi</a:t>
              </a:r>
            </a:p>
            <a:p>
              <a:r>
                <a:rPr lang="fi-FI" sz="900" dirty="0" smtClean="0"/>
                <a:t>Nimeä |  Attribution (Finland)</a:t>
              </a:r>
            </a:p>
            <a:p>
              <a:pPr marL="0" lvl="1"/>
              <a:r>
                <a:rPr lang="fi-FI" sz="900" dirty="0" smtClean="0">
                  <a:hlinkClick r:id="rId4"/>
                </a:rPr>
                <a:t>http://creativecommons.org/licenses/by/1.0/fi/</a:t>
              </a:r>
              <a:endParaRPr lang="fi-FI" sz="900" dirty="0" smtClean="0"/>
            </a:p>
            <a:p>
              <a:pPr marL="0" lvl="1"/>
              <a:r>
                <a:rPr lang="fi-FI" sz="900" dirty="0" smtClean="0">
                  <a:hlinkClick r:id="rId5"/>
                </a:rPr>
                <a:t>http://creativecommons.org/licenses/by/1.0/fi/deed.en</a:t>
              </a:r>
              <a:endParaRPr lang="fi-FI" sz="900" dirty="0" smtClean="0"/>
            </a:p>
          </p:txBody>
        </p:sp>
      </p:grpSp>
      <p:pic>
        <p:nvPicPr>
          <p:cNvPr id="1026" name="Picture 2" descr="C:\Documents and Settings\Maaret\My Documents\My Pictures\Microsoft Clip Organizer\j0078791.wmf"/>
          <p:cNvPicPr>
            <a:picLocks noChangeAspect="1" noChangeArrowheads="1"/>
          </p:cNvPicPr>
          <p:nvPr/>
        </p:nvPicPr>
        <p:blipFill>
          <a:blip r:embed="rId6" cstate="print"/>
          <a:srcRect/>
          <a:stretch>
            <a:fillRect/>
          </a:stretch>
        </p:blipFill>
        <p:spPr bwMode="auto">
          <a:xfrm>
            <a:off x="6477000" y="228600"/>
            <a:ext cx="2308225" cy="4569343"/>
          </a:xfrm>
          <a:prstGeom prst="rect">
            <a:avLst/>
          </a:prstGeom>
          <a:noFill/>
        </p:spPr>
      </p:pic>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r>
              <a:rPr lang="fi-FI"/>
              <a:t>Mitä testaus on?</a:t>
            </a:r>
          </a:p>
        </p:txBody>
      </p:sp>
      <p:sp>
        <p:nvSpPr>
          <p:cNvPr id="36867" name="Rectangle 3"/>
          <p:cNvSpPr>
            <a:spLocks noGrp="1" noChangeArrowheads="1"/>
          </p:cNvSpPr>
          <p:nvPr>
            <p:ph idx="1"/>
          </p:nvPr>
        </p:nvSpPr>
        <p:spPr/>
        <p:txBody>
          <a:bodyPr>
            <a:normAutofit/>
          </a:bodyPr>
          <a:lstStyle/>
          <a:p>
            <a:pPr marL="533400" indent="-533400" defTabSz="914400">
              <a:lnSpc>
                <a:spcPct val="90000"/>
              </a:lnSpc>
            </a:pPr>
            <a:r>
              <a:rPr lang="fi-FI" sz="2400" dirty="0"/>
              <a:t>Testaus on kohteen teknistä tarkastelua, jossa empiirisesti etsitään laatuun liittyvää tietoa, jolla on arvoa projektin sidosryhmille.  – Cem Kaner</a:t>
            </a:r>
          </a:p>
          <a:p>
            <a:pPr marL="533400" indent="-533400" defTabSz="914400">
              <a:lnSpc>
                <a:spcPct val="90000"/>
              </a:lnSpc>
            </a:pPr>
            <a:r>
              <a:rPr lang="fi-FI" sz="2400" dirty="0"/>
              <a:t>Sisältää:</a:t>
            </a:r>
          </a:p>
          <a:p>
            <a:pPr marL="914400" lvl="1" indent="-457200" defTabSz="914400">
              <a:lnSpc>
                <a:spcPct val="90000"/>
              </a:lnSpc>
            </a:pPr>
            <a:r>
              <a:rPr lang="fi-FI" sz="2000" dirty="0"/>
              <a:t>sen varmistamisen että testauksen kohde toimii kuten odotettu</a:t>
            </a:r>
          </a:p>
          <a:p>
            <a:pPr marL="914400" lvl="1" indent="-457200" defTabSz="914400">
              <a:lnSpc>
                <a:spcPct val="90000"/>
              </a:lnSpc>
            </a:pPr>
            <a:r>
              <a:rPr lang="fi-FI" sz="2000" dirty="0"/>
              <a:t>erojen löytämisen ja ratkaisemisen odotettujen ja todellisten tulosten välillä</a:t>
            </a:r>
          </a:p>
          <a:p>
            <a:pPr marL="914400" lvl="1" indent="-457200" defTabSz="914400">
              <a:lnSpc>
                <a:spcPct val="90000"/>
              </a:lnSpc>
            </a:pPr>
            <a:r>
              <a:rPr lang="fi-FI" sz="2000" dirty="0"/>
              <a:t>puolueettoman tiedon tarjoamisen päätöksentekoon järjestelmän tilasta laadun suhteen</a:t>
            </a:r>
          </a:p>
          <a:p>
            <a:pPr marL="914400" lvl="1" indent="-457200" defTabSz="914400">
              <a:lnSpc>
                <a:spcPct val="90000"/>
              </a:lnSpc>
            </a:pPr>
            <a:r>
              <a:rPr lang="fi-FI" sz="2000" dirty="0"/>
              <a:t>laadun parantamisen tukemisen</a:t>
            </a:r>
          </a:p>
          <a:p>
            <a:pPr marL="533400" indent="-533400" defTabSz="914400">
              <a:lnSpc>
                <a:spcPct val="90000"/>
              </a:lnSpc>
            </a:pPr>
            <a:r>
              <a:rPr lang="fi-FI" sz="2400" dirty="0"/>
              <a:t>Oleellista onnistuneelle testaukselle kuitenkin yleisesti halu nähdä virheitä</a:t>
            </a:r>
          </a:p>
        </p:txBody>
      </p:sp>
      <p:sp>
        <p:nvSpPr>
          <p:cNvPr id="5" name="Slide Number Placeholder 4"/>
          <p:cNvSpPr>
            <a:spLocks noGrp="1"/>
          </p:cNvSpPr>
          <p:nvPr>
            <p:ph type="sldNum" sz="quarter" idx="12"/>
          </p:nvPr>
        </p:nvSpPr>
        <p:spPr/>
        <p:txBody>
          <a:bodyPr/>
          <a:lstStyle/>
          <a:p>
            <a:fld id="{6EC9AE22-300D-474E-8332-298EA3086E64}" type="slidenum">
              <a:rPr lang="en-US" smtClean="0"/>
              <a:pPr/>
              <a:t>2</a:t>
            </a:fld>
            <a:endParaRPr lang="en-US"/>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fi-FI" dirty="0"/>
              <a:t>Testaus on vaikeaa </a:t>
            </a:r>
            <a:r>
              <a:rPr lang="fi-FI" dirty="0" smtClean="0"/>
              <a:t/>
            </a:r>
            <a:br>
              <a:rPr lang="fi-FI" dirty="0" smtClean="0"/>
            </a:br>
            <a:r>
              <a:rPr lang="fi-FI" sz="1200" dirty="0" smtClean="0"/>
              <a:t>Lähde</a:t>
            </a:r>
            <a:r>
              <a:rPr lang="fi-FI" sz="1200" dirty="0"/>
              <a:t>: James Bach. </a:t>
            </a:r>
            <a:endParaRPr lang="fi-FI" dirty="0"/>
          </a:p>
        </p:txBody>
      </p:sp>
      <p:sp>
        <p:nvSpPr>
          <p:cNvPr id="51203" name="Rectangle 3"/>
          <p:cNvSpPr>
            <a:spLocks noGrp="1" noChangeArrowheads="1"/>
          </p:cNvSpPr>
          <p:nvPr>
            <p:ph sz="half" idx="1"/>
          </p:nvPr>
        </p:nvSpPr>
        <p:spPr>
          <a:xfrm>
            <a:off x="941387" y="1773238"/>
            <a:ext cx="3565525" cy="4103687"/>
          </a:xfrm>
        </p:spPr>
        <p:txBody>
          <a:bodyPr>
            <a:normAutofit fontScale="92500" lnSpcReduction="20000"/>
          </a:bodyPr>
          <a:lstStyle/>
          <a:p>
            <a:r>
              <a:rPr lang="fi-FI" sz="2400" dirty="0"/>
              <a:t>Sinun on ennakoitava käyttäjän...</a:t>
            </a:r>
          </a:p>
          <a:p>
            <a:pPr lvl="1"/>
            <a:r>
              <a:rPr lang="fi-FI" sz="1800" dirty="0"/>
              <a:t>Aineisto</a:t>
            </a:r>
          </a:p>
          <a:p>
            <a:pPr lvl="1"/>
            <a:r>
              <a:rPr lang="fi-FI" sz="1800" dirty="0"/>
              <a:t>Taidot</a:t>
            </a:r>
          </a:p>
          <a:p>
            <a:pPr lvl="1"/>
            <a:r>
              <a:rPr lang="fi-FI" sz="1800" dirty="0"/>
              <a:t>Toiminta</a:t>
            </a:r>
          </a:p>
          <a:p>
            <a:pPr lvl="1"/>
            <a:r>
              <a:rPr lang="fi-FI" sz="1800" dirty="0"/>
              <a:t>Odotukset</a:t>
            </a:r>
          </a:p>
          <a:p>
            <a:pPr lvl="1"/>
            <a:r>
              <a:rPr lang="fi-FI" sz="1800" dirty="0" smtClean="0"/>
              <a:t>Ympäristö</a:t>
            </a:r>
          </a:p>
          <a:p>
            <a:r>
              <a:rPr lang="fi-FI" sz="2400" dirty="0" smtClean="0"/>
              <a:t>…tutkiaksesi tuotetta, joka on…</a:t>
            </a:r>
          </a:p>
          <a:p>
            <a:pPr lvl="1"/>
            <a:r>
              <a:rPr lang="fi-FI" sz="1800" dirty="0" smtClean="0"/>
              <a:t>Näkymätön</a:t>
            </a:r>
          </a:p>
          <a:p>
            <a:pPr lvl="1"/>
            <a:r>
              <a:rPr lang="fi-FI" sz="1800" dirty="0" smtClean="0"/>
              <a:t>Epävakaa</a:t>
            </a:r>
          </a:p>
          <a:p>
            <a:pPr lvl="1"/>
            <a:r>
              <a:rPr lang="fi-FI" sz="1800" dirty="0" smtClean="0"/>
              <a:t>Herkkä</a:t>
            </a:r>
          </a:p>
          <a:p>
            <a:pPr lvl="1"/>
            <a:r>
              <a:rPr lang="fi-FI" sz="1800" dirty="0" smtClean="0"/>
              <a:t>Monimutkainen</a:t>
            </a:r>
          </a:p>
          <a:p>
            <a:pPr lvl="1"/>
            <a:r>
              <a:rPr lang="fi-FI" sz="1800" dirty="0" smtClean="0"/>
              <a:t>Tuntematon</a:t>
            </a:r>
          </a:p>
          <a:p>
            <a:pPr lvl="1"/>
            <a:endParaRPr lang="fi-FI" sz="1800" dirty="0"/>
          </a:p>
        </p:txBody>
      </p:sp>
      <p:sp>
        <p:nvSpPr>
          <p:cNvPr id="51204" name="Rectangle 4"/>
          <p:cNvSpPr>
            <a:spLocks noGrp="1" noChangeArrowheads="1"/>
          </p:cNvSpPr>
          <p:nvPr>
            <p:ph sz="half" idx="2"/>
          </p:nvPr>
        </p:nvSpPr>
        <p:spPr>
          <a:xfrm>
            <a:off x="4648200" y="1773238"/>
            <a:ext cx="3565525" cy="4103687"/>
          </a:xfrm>
        </p:spPr>
        <p:txBody>
          <a:bodyPr>
            <a:normAutofit fontScale="92500" lnSpcReduction="20000"/>
          </a:bodyPr>
          <a:lstStyle/>
          <a:p>
            <a:r>
              <a:rPr lang="fi-FI" sz="2400" dirty="0" smtClean="0"/>
              <a:t>...käyttämällä prosessia, joka on usein...</a:t>
            </a:r>
          </a:p>
          <a:p>
            <a:pPr lvl="1"/>
            <a:r>
              <a:rPr lang="fi-FI" sz="1800" dirty="0" smtClean="0"/>
              <a:t>Loputon</a:t>
            </a:r>
          </a:p>
          <a:p>
            <a:pPr lvl="1"/>
            <a:r>
              <a:rPr lang="fi-FI" sz="1800" dirty="0" smtClean="0"/>
              <a:t>Epäselvä</a:t>
            </a:r>
          </a:p>
          <a:p>
            <a:pPr lvl="1"/>
            <a:r>
              <a:rPr lang="fi-FI" sz="1800" dirty="0" smtClean="0"/>
              <a:t>Negatiivinen</a:t>
            </a:r>
          </a:p>
          <a:p>
            <a:pPr lvl="1"/>
            <a:r>
              <a:rPr lang="fi-FI" sz="1800" dirty="0" smtClean="0"/>
              <a:t>Ikävystyttävä</a:t>
            </a:r>
          </a:p>
          <a:p>
            <a:pPr lvl="1"/>
            <a:r>
              <a:rPr lang="fi-FI" sz="1800" dirty="0" smtClean="0"/>
              <a:t>Työläs</a:t>
            </a:r>
          </a:p>
          <a:p>
            <a:r>
              <a:rPr lang="fi-FI" sz="2400" dirty="0" smtClean="0"/>
              <a:t>…löytääksesi ongelmia, jotka ovat</a:t>
            </a:r>
          </a:p>
          <a:p>
            <a:pPr lvl="1"/>
            <a:r>
              <a:rPr lang="fi-FI" sz="1800" dirty="0" smtClean="0"/>
              <a:t>Odottamattomia</a:t>
            </a:r>
          </a:p>
          <a:p>
            <a:pPr lvl="1"/>
            <a:endParaRPr lang="fi-FI" sz="1800" dirty="0"/>
          </a:p>
        </p:txBody>
      </p:sp>
      <p:sp>
        <p:nvSpPr>
          <p:cNvPr id="6" name="Slide Number Placeholder 5"/>
          <p:cNvSpPr>
            <a:spLocks noGrp="1"/>
          </p:cNvSpPr>
          <p:nvPr>
            <p:ph type="sldNum" sz="quarter" idx="12"/>
          </p:nvPr>
        </p:nvSpPr>
        <p:spPr/>
        <p:txBody>
          <a:bodyPr/>
          <a:lstStyle/>
          <a:p>
            <a:fld id="{6EC9AE22-300D-474E-8332-298EA3086E64}" type="slidenum">
              <a:rPr lang="en-US" smtClean="0"/>
              <a:pPr/>
              <a:t>3</a:t>
            </a:fld>
            <a:endParaRPr lang="en-US"/>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Rectangle 2"/>
          <p:cNvSpPr>
            <a:spLocks noGrp="1" noChangeArrowheads="1"/>
          </p:cNvSpPr>
          <p:nvPr>
            <p:ph type="title"/>
          </p:nvPr>
        </p:nvSpPr>
        <p:spPr/>
        <p:txBody>
          <a:bodyPr/>
          <a:lstStyle/>
          <a:p>
            <a:r>
              <a:rPr lang="fi-FI"/>
              <a:t>Mitä testaus ei ole</a:t>
            </a:r>
          </a:p>
        </p:txBody>
      </p:sp>
      <p:sp>
        <p:nvSpPr>
          <p:cNvPr id="315395" name="Rectangle 3"/>
          <p:cNvSpPr>
            <a:spLocks noGrp="1" noChangeArrowheads="1"/>
          </p:cNvSpPr>
          <p:nvPr>
            <p:ph idx="1"/>
          </p:nvPr>
        </p:nvSpPr>
        <p:spPr/>
        <p:txBody>
          <a:bodyPr/>
          <a:lstStyle/>
          <a:p>
            <a:r>
              <a:rPr lang="fi-FI" sz="2400"/>
              <a:t>Testaus ei ole</a:t>
            </a:r>
          </a:p>
          <a:p>
            <a:pPr lvl="1"/>
            <a:r>
              <a:rPr lang="fi-FI" sz="2000"/>
              <a:t>vaihe ohjelmistokehityksessä</a:t>
            </a:r>
          </a:p>
          <a:p>
            <a:pPr lvl="1"/>
            <a:r>
              <a:rPr lang="fi-FI" sz="2000"/>
              <a:t>toimintaa, jota vain erikseen nimetyt testaajat tekevät</a:t>
            </a:r>
          </a:p>
          <a:p>
            <a:pPr lvl="1"/>
            <a:r>
              <a:rPr lang="fi-FI" sz="2000"/>
              <a:t>sarja helppoja ja suoraviivaisia toimintoja </a:t>
            </a:r>
          </a:p>
          <a:p>
            <a:pPr lvl="1"/>
            <a:r>
              <a:rPr lang="fi-FI" sz="2000"/>
              <a:t>samojen asioiden toistamista kerta toisensa jälkeen</a:t>
            </a:r>
          </a:p>
          <a:p>
            <a:pPr lvl="1"/>
            <a:r>
              <a:rPr lang="fi-FI" sz="2000"/>
              <a:t>samanlaista erilaisissa tilanteissa ja asiayhteyksissä</a:t>
            </a:r>
          </a:p>
          <a:p>
            <a:pPr lvl="1"/>
            <a:r>
              <a:rPr lang="fi-FI" sz="2000"/>
              <a:t>vain toiminnallisuuksien läpikäymistä, vaan myös ei-toiminnallisten ominaisuuksien arviointi</a:t>
            </a:r>
          </a:p>
          <a:p>
            <a:pPr lvl="1"/>
            <a:r>
              <a:rPr lang="fi-FI" sz="2000"/>
              <a:t>vastuussa laadusta, vain laatutiedon tuottamisesta</a:t>
            </a:r>
          </a:p>
          <a:p>
            <a:pPr lvl="1"/>
            <a:r>
              <a:rPr lang="fi-FI" sz="2000"/>
              <a:t>laatutakuu ohjelmistolle</a:t>
            </a:r>
          </a:p>
        </p:txBody>
      </p:sp>
      <p:sp>
        <p:nvSpPr>
          <p:cNvPr id="4" name="Slide Number Placeholder 3"/>
          <p:cNvSpPr>
            <a:spLocks noGrp="1"/>
          </p:cNvSpPr>
          <p:nvPr>
            <p:ph type="sldNum" sz="quarter" idx="12"/>
          </p:nvPr>
        </p:nvSpPr>
        <p:spPr/>
        <p:txBody>
          <a:bodyPr/>
          <a:lstStyle/>
          <a:p>
            <a:fld id="{6EC9AE22-300D-474E-8332-298EA3086E64}" type="slidenum">
              <a:rPr lang="en-US" smtClean="0"/>
              <a:pPr/>
              <a:t>4</a:t>
            </a:fld>
            <a:endParaRPr lang="en-US"/>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fi-FI" dirty="0" smtClean="0"/>
              <a:t>Ketterän testauksen kaksi maailmaa</a:t>
            </a:r>
            <a:endParaRPr lang="fi-FI" dirty="0"/>
          </a:p>
        </p:txBody>
      </p:sp>
      <p:sp>
        <p:nvSpPr>
          <p:cNvPr id="5" name="Text Placeholder 4"/>
          <p:cNvSpPr>
            <a:spLocks noGrp="1"/>
          </p:cNvSpPr>
          <p:nvPr>
            <p:ph type="body" idx="1"/>
          </p:nvPr>
        </p:nvSpPr>
        <p:spPr/>
        <p:txBody>
          <a:bodyPr>
            <a:normAutofit fontScale="92500" lnSpcReduction="20000"/>
          </a:bodyPr>
          <a:lstStyle/>
          <a:p>
            <a:r>
              <a:rPr lang="fi-FI" dirty="0" smtClean="0"/>
              <a:t>Ketterä testaus ketterien menetelmien yhteydessä</a:t>
            </a:r>
            <a:endParaRPr lang="fi-FI" dirty="0"/>
          </a:p>
        </p:txBody>
      </p:sp>
      <p:sp>
        <p:nvSpPr>
          <p:cNvPr id="6" name="Content Placeholder 5"/>
          <p:cNvSpPr>
            <a:spLocks noGrp="1"/>
          </p:cNvSpPr>
          <p:nvPr>
            <p:ph sz="half" idx="2"/>
          </p:nvPr>
        </p:nvSpPr>
        <p:spPr/>
        <p:txBody>
          <a:bodyPr>
            <a:normAutofit/>
          </a:bodyPr>
          <a:lstStyle/>
          <a:p>
            <a:r>
              <a:rPr lang="fi-FI" dirty="0" smtClean="0"/>
              <a:t>Keskeisiä termejä:</a:t>
            </a:r>
          </a:p>
          <a:p>
            <a:pPr lvl="1"/>
            <a:r>
              <a:rPr lang="fi-FI" dirty="0" smtClean="0"/>
              <a:t>Ketteryyden julistus: arvot, periaatteet</a:t>
            </a:r>
          </a:p>
          <a:p>
            <a:pPr lvl="1"/>
            <a:r>
              <a:rPr lang="fi-FI" dirty="0" smtClean="0"/>
              <a:t>Scrum, Extreme Programming</a:t>
            </a:r>
          </a:p>
          <a:p>
            <a:r>
              <a:rPr lang="fi-FI" dirty="0" smtClean="0"/>
              <a:t>Avainkonseptit :</a:t>
            </a:r>
          </a:p>
          <a:p>
            <a:pPr lvl="1"/>
            <a:r>
              <a:rPr lang="fi-FI" dirty="0" smtClean="0"/>
              <a:t>Testaus, ei testaajat</a:t>
            </a:r>
          </a:p>
          <a:p>
            <a:pPr lvl="1"/>
            <a:r>
              <a:rPr lang="fi-FI" dirty="0" smtClean="0"/>
              <a:t>Itseohjautuvat tiimit ja tekninen erinomaisuus</a:t>
            </a:r>
          </a:p>
          <a:p>
            <a:pPr lvl="1"/>
            <a:r>
              <a:rPr lang="fi-FI" dirty="0" smtClean="0"/>
              <a:t>Arvon tuottaminen lyhyissä sykleissä, arvo = testatut ominaisuudet</a:t>
            </a:r>
          </a:p>
        </p:txBody>
      </p:sp>
      <p:sp>
        <p:nvSpPr>
          <p:cNvPr id="7" name="Text Placeholder 6"/>
          <p:cNvSpPr>
            <a:spLocks noGrp="1"/>
          </p:cNvSpPr>
          <p:nvPr>
            <p:ph type="body" sz="quarter" idx="3"/>
          </p:nvPr>
        </p:nvSpPr>
        <p:spPr/>
        <p:txBody>
          <a:bodyPr>
            <a:normAutofit fontScale="92500" lnSpcReduction="20000"/>
          </a:bodyPr>
          <a:lstStyle/>
          <a:p>
            <a:r>
              <a:rPr lang="fi-FI" dirty="0" smtClean="0"/>
              <a:t>Ketterä testaus perinteisten menetelmien yhteydessä</a:t>
            </a:r>
            <a:endParaRPr lang="fi-FI" dirty="0"/>
          </a:p>
        </p:txBody>
      </p:sp>
      <p:sp>
        <p:nvSpPr>
          <p:cNvPr id="8" name="Content Placeholder 7"/>
          <p:cNvSpPr>
            <a:spLocks noGrp="1"/>
          </p:cNvSpPr>
          <p:nvPr>
            <p:ph sz="quarter" idx="4"/>
          </p:nvPr>
        </p:nvSpPr>
        <p:spPr/>
        <p:txBody>
          <a:bodyPr>
            <a:normAutofit/>
          </a:bodyPr>
          <a:lstStyle/>
          <a:p>
            <a:r>
              <a:rPr lang="fi-FI" dirty="0" smtClean="0"/>
              <a:t>Keskeisiä termejä:</a:t>
            </a:r>
          </a:p>
          <a:p>
            <a:pPr lvl="1"/>
            <a:r>
              <a:rPr lang="fi-FI" dirty="0" smtClean="0"/>
              <a:t>Tutkiva testaus (exploratory)</a:t>
            </a:r>
          </a:p>
          <a:p>
            <a:pPr lvl="1"/>
            <a:r>
              <a:rPr lang="fi-FI" dirty="0" smtClean="0"/>
              <a:t>Nopea testaus (rapid)</a:t>
            </a:r>
          </a:p>
          <a:p>
            <a:r>
              <a:rPr lang="fi-FI" dirty="0" smtClean="0"/>
              <a:t>Avainkonseptit:</a:t>
            </a:r>
          </a:p>
          <a:p>
            <a:pPr lvl="1"/>
            <a:r>
              <a:rPr lang="fi-FI" dirty="0" smtClean="0"/>
              <a:t>Joustavuus, tilannetekijäohjautuvuus</a:t>
            </a:r>
          </a:p>
          <a:p>
            <a:pPr lvl="1"/>
            <a:r>
              <a:rPr lang="fi-FI" dirty="0" smtClean="0"/>
              <a:t>Arvon optimointi vaihtoehtoiskustannuksia ymmärtäen</a:t>
            </a:r>
          </a:p>
          <a:p>
            <a:pPr lvl="1"/>
            <a:r>
              <a:rPr lang="fi-FI" dirty="0" smtClean="0"/>
              <a:t>Testaajan taidot</a:t>
            </a:r>
          </a:p>
          <a:p>
            <a:pPr lvl="1"/>
            <a:endParaRPr lang="fi-FI" dirty="0" smtClean="0"/>
          </a:p>
          <a:p>
            <a:pPr lvl="1">
              <a:buNone/>
            </a:pPr>
            <a:endParaRPr lang="fi-FI"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fontAlgn="auto">
              <a:spcAft>
                <a:spcPts val="0"/>
              </a:spcAft>
              <a:defRPr/>
            </a:pPr>
            <a:r>
              <a:rPr lang="en-GB" dirty="0" err="1" smtClean="0"/>
              <a:t>Testaus</a:t>
            </a:r>
            <a:r>
              <a:rPr lang="en-GB" dirty="0" smtClean="0"/>
              <a:t> </a:t>
            </a:r>
            <a:r>
              <a:rPr lang="en-GB" dirty="0" err="1" smtClean="0"/>
              <a:t>perinteisesti</a:t>
            </a:r>
            <a:r>
              <a:rPr lang="en-GB" dirty="0" smtClean="0"/>
              <a:t> </a:t>
            </a:r>
            <a:r>
              <a:rPr lang="en-GB" dirty="0" err="1" smtClean="0"/>
              <a:t>projektissa</a:t>
            </a:r>
            <a:endParaRPr lang="en-US" dirty="0"/>
          </a:p>
        </p:txBody>
      </p:sp>
      <p:sp>
        <p:nvSpPr>
          <p:cNvPr id="5" name="Rectangle 4"/>
          <p:cNvSpPr/>
          <p:nvPr/>
        </p:nvSpPr>
        <p:spPr>
          <a:xfrm>
            <a:off x="214313" y="2214563"/>
            <a:ext cx="1643062"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Yleistestaus-suunnitelma</a:t>
            </a:r>
            <a:endParaRPr lang="en-US" dirty="0"/>
          </a:p>
        </p:txBody>
      </p:sp>
      <p:sp>
        <p:nvSpPr>
          <p:cNvPr id="6" name="Rectangle 5"/>
          <p:cNvSpPr/>
          <p:nvPr/>
        </p:nvSpPr>
        <p:spPr>
          <a:xfrm>
            <a:off x="2000250" y="2214563"/>
            <a:ext cx="1643063"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Testaus-suunnitelma</a:t>
            </a:r>
            <a:endParaRPr lang="en-US" dirty="0"/>
          </a:p>
        </p:txBody>
      </p:sp>
      <p:sp>
        <p:nvSpPr>
          <p:cNvPr id="7" name="Rectangle 6"/>
          <p:cNvSpPr/>
          <p:nvPr/>
        </p:nvSpPr>
        <p:spPr>
          <a:xfrm>
            <a:off x="2000250" y="3429000"/>
            <a:ext cx="1643063"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Testaus-suunnitelma</a:t>
            </a:r>
            <a:endParaRPr lang="en-US" dirty="0"/>
          </a:p>
        </p:txBody>
      </p:sp>
      <p:sp>
        <p:nvSpPr>
          <p:cNvPr id="8" name="Rectangle 7"/>
          <p:cNvSpPr/>
          <p:nvPr/>
        </p:nvSpPr>
        <p:spPr>
          <a:xfrm>
            <a:off x="2000250" y="4643438"/>
            <a:ext cx="1643063"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Testaus-suunnitelma</a:t>
            </a:r>
            <a:endParaRPr lang="en-US" dirty="0"/>
          </a:p>
        </p:txBody>
      </p:sp>
      <p:sp>
        <p:nvSpPr>
          <p:cNvPr id="60422" name="TextBox 8"/>
          <p:cNvSpPr txBox="1">
            <a:spLocks noChangeArrowheads="1"/>
          </p:cNvSpPr>
          <p:nvPr/>
        </p:nvSpPr>
        <p:spPr bwMode="auto">
          <a:xfrm>
            <a:off x="1857375" y="1844675"/>
            <a:ext cx="1958975" cy="369888"/>
          </a:xfrm>
          <a:prstGeom prst="rect">
            <a:avLst/>
          </a:prstGeom>
          <a:noFill/>
          <a:ln w="9525">
            <a:noFill/>
            <a:miter lim="800000"/>
            <a:headEnd/>
            <a:tailEnd/>
          </a:ln>
        </p:spPr>
        <p:txBody>
          <a:bodyPr>
            <a:spAutoFit/>
          </a:bodyPr>
          <a:lstStyle/>
          <a:p>
            <a:pPr algn="ctr"/>
            <a:r>
              <a:rPr lang="en-GB"/>
              <a:t>Per taso / ryhmä</a:t>
            </a:r>
            <a:endParaRPr lang="en-US"/>
          </a:p>
        </p:txBody>
      </p:sp>
      <p:sp>
        <p:nvSpPr>
          <p:cNvPr id="12" name="Rectangle 11"/>
          <p:cNvSpPr/>
          <p:nvPr/>
        </p:nvSpPr>
        <p:spPr>
          <a:xfrm>
            <a:off x="3786188" y="2214563"/>
            <a:ext cx="1643062"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Testitapausten</a:t>
            </a:r>
            <a:r>
              <a:rPr lang="en-GB" dirty="0"/>
              <a:t> </a:t>
            </a:r>
            <a:r>
              <a:rPr lang="en-GB" dirty="0" err="1"/>
              <a:t>määrittely</a:t>
            </a:r>
            <a:endParaRPr lang="en-US" dirty="0"/>
          </a:p>
        </p:txBody>
      </p:sp>
      <p:sp>
        <p:nvSpPr>
          <p:cNvPr id="13" name="Rectangle 12"/>
          <p:cNvSpPr/>
          <p:nvPr/>
        </p:nvSpPr>
        <p:spPr>
          <a:xfrm>
            <a:off x="3786188" y="3429000"/>
            <a:ext cx="1643062"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Testitapausten</a:t>
            </a:r>
            <a:r>
              <a:rPr lang="en-GB" dirty="0"/>
              <a:t> </a:t>
            </a:r>
            <a:r>
              <a:rPr lang="en-GB" dirty="0" err="1"/>
              <a:t>määrittely</a:t>
            </a:r>
            <a:endParaRPr lang="en-US" dirty="0"/>
          </a:p>
        </p:txBody>
      </p:sp>
      <p:sp>
        <p:nvSpPr>
          <p:cNvPr id="14" name="Rectangle 13"/>
          <p:cNvSpPr/>
          <p:nvPr/>
        </p:nvSpPr>
        <p:spPr>
          <a:xfrm>
            <a:off x="3786188" y="4643438"/>
            <a:ext cx="1643062"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Testitapausten</a:t>
            </a:r>
            <a:r>
              <a:rPr lang="en-GB" dirty="0"/>
              <a:t> </a:t>
            </a:r>
            <a:r>
              <a:rPr lang="en-GB" dirty="0" err="1"/>
              <a:t>määrittely</a:t>
            </a:r>
            <a:endParaRPr lang="en-US" dirty="0"/>
          </a:p>
        </p:txBody>
      </p:sp>
      <p:sp>
        <p:nvSpPr>
          <p:cNvPr id="60426" name="TextBox 14"/>
          <p:cNvSpPr txBox="1">
            <a:spLocks noChangeArrowheads="1"/>
          </p:cNvSpPr>
          <p:nvPr/>
        </p:nvSpPr>
        <p:spPr bwMode="auto">
          <a:xfrm>
            <a:off x="5214938" y="2344738"/>
            <a:ext cx="1357312" cy="584200"/>
          </a:xfrm>
          <a:prstGeom prst="rect">
            <a:avLst/>
          </a:prstGeom>
          <a:noFill/>
          <a:ln w="9525">
            <a:noFill/>
            <a:miter lim="800000"/>
            <a:headEnd/>
            <a:tailEnd/>
          </a:ln>
        </p:spPr>
        <p:txBody>
          <a:bodyPr>
            <a:spAutoFit/>
          </a:bodyPr>
          <a:lstStyle/>
          <a:p>
            <a:pPr algn="ctr"/>
            <a:r>
              <a:rPr lang="en-GB" sz="3200"/>
              <a:t>…</a:t>
            </a:r>
            <a:endParaRPr lang="en-US" sz="3200"/>
          </a:p>
        </p:txBody>
      </p:sp>
      <p:sp>
        <p:nvSpPr>
          <p:cNvPr id="60427" name="TextBox 15"/>
          <p:cNvSpPr txBox="1">
            <a:spLocks noChangeArrowheads="1"/>
          </p:cNvSpPr>
          <p:nvPr/>
        </p:nvSpPr>
        <p:spPr bwMode="auto">
          <a:xfrm>
            <a:off x="5214938" y="3559175"/>
            <a:ext cx="1357312" cy="584200"/>
          </a:xfrm>
          <a:prstGeom prst="rect">
            <a:avLst/>
          </a:prstGeom>
          <a:noFill/>
          <a:ln w="9525">
            <a:noFill/>
            <a:miter lim="800000"/>
            <a:headEnd/>
            <a:tailEnd/>
          </a:ln>
        </p:spPr>
        <p:txBody>
          <a:bodyPr>
            <a:spAutoFit/>
          </a:bodyPr>
          <a:lstStyle/>
          <a:p>
            <a:pPr algn="ctr"/>
            <a:r>
              <a:rPr lang="en-GB" sz="3200"/>
              <a:t>…</a:t>
            </a:r>
            <a:endParaRPr lang="en-US" sz="3200"/>
          </a:p>
        </p:txBody>
      </p:sp>
      <p:sp>
        <p:nvSpPr>
          <p:cNvPr id="60428" name="TextBox 16"/>
          <p:cNvSpPr txBox="1">
            <a:spLocks noChangeArrowheads="1"/>
          </p:cNvSpPr>
          <p:nvPr/>
        </p:nvSpPr>
        <p:spPr bwMode="auto">
          <a:xfrm>
            <a:off x="5214938" y="4786313"/>
            <a:ext cx="1357312" cy="584200"/>
          </a:xfrm>
          <a:prstGeom prst="rect">
            <a:avLst/>
          </a:prstGeom>
          <a:noFill/>
          <a:ln w="9525">
            <a:noFill/>
            <a:miter lim="800000"/>
            <a:headEnd/>
            <a:tailEnd/>
          </a:ln>
        </p:spPr>
        <p:txBody>
          <a:bodyPr>
            <a:spAutoFit/>
          </a:bodyPr>
          <a:lstStyle/>
          <a:p>
            <a:pPr algn="ctr"/>
            <a:r>
              <a:rPr lang="en-GB" sz="3200"/>
              <a:t>…</a:t>
            </a:r>
            <a:endParaRPr lang="en-US" sz="3200"/>
          </a:p>
        </p:txBody>
      </p:sp>
      <p:sp>
        <p:nvSpPr>
          <p:cNvPr id="18" name="Rectangle 17"/>
          <p:cNvSpPr/>
          <p:nvPr/>
        </p:nvSpPr>
        <p:spPr>
          <a:xfrm>
            <a:off x="6286500" y="2214563"/>
            <a:ext cx="1643063"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Testitapausten</a:t>
            </a:r>
            <a:r>
              <a:rPr lang="en-GB" dirty="0"/>
              <a:t> </a:t>
            </a:r>
            <a:r>
              <a:rPr lang="en-GB" dirty="0" err="1"/>
              <a:t>suoritus</a:t>
            </a:r>
            <a:endParaRPr lang="en-US" dirty="0"/>
          </a:p>
        </p:txBody>
      </p:sp>
      <p:sp>
        <p:nvSpPr>
          <p:cNvPr id="19" name="Rectangle 18"/>
          <p:cNvSpPr/>
          <p:nvPr/>
        </p:nvSpPr>
        <p:spPr>
          <a:xfrm>
            <a:off x="8153400" y="2214563"/>
            <a:ext cx="919163"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Rapor-tointi</a:t>
            </a:r>
            <a:endParaRPr lang="en-US" dirty="0"/>
          </a:p>
        </p:txBody>
      </p:sp>
      <p:sp>
        <p:nvSpPr>
          <p:cNvPr id="60431" name="TextBox 19"/>
          <p:cNvSpPr txBox="1">
            <a:spLocks noChangeArrowheads="1"/>
          </p:cNvSpPr>
          <p:nvPr/>
        </p:nvSpPr>
        <p:spPr bwMode="auto">
          <a:xfrm>
            <a:off x="3571875" y="6140450"/>
            <a:ext cx="2071688" cy="646113"/>
          </a:xfrm>
          <a:prstGeom prst="rect">
            <a:avLst/>
          </a:prstGeom>
          <a:noFill/>
          <a:ln w="9525">
            <a:noFill/>
            <a:miter lim="800000"/>
            <a:headEnd/>
            <a:tailEnd/>
          </a:ln>
        </p:spPr>
        <p:txBody>
          <a:bodyPr>
            <a:spAutoFit/>
          </a:bodyPr>
          <a:lstStyle/>
          <a:p>
            <a:pPr algn="ctr"/>
            <a:r>
              <a:rPr lang="en-GB"/>
              <a:t>Suunniteltu suuri työmäärä</a:t>
            </a:r>
            <a:endParaRPr lang="en-US"/>
          </a:p>
        </p:txBody>
      </p:sp>
      <p:sp>
        <p:nvSpPr>
          <p:cNvPr id="60432" name="TextBox 20"/>
          <p:cNvSpPr txBox="1">
            <a:spLocks noChangeArrowheads="1"/>
          </p:cNvSpPr>
          <p:nvPr/>
        </p:nvSpPr>
        <p:spPr bwMode="auto">
          <a:xfrm rot="5400000">
            <a:off x="4267995" y="5374481"/>
            <a:ext cx="785812" cy="1323975"/>
          </a:xfrm>
          <a:prstGeom prst="rect">
            <a:avLst/>
          </a:prstGeom>
          <a:noFill/>
          <a:ln w="9525">
            <a:noFill/>
            <a:miter lim="800000"/>
            <a:headEnd/>
            <a:tailEnd/>
          </a:ln>
        </p:spPr>
        <p:txBody>
          <a:bodyPr>
            <a:spAutoFit/>
          </a:bodyPr>
          <a:lstStyle/>
          <a:p>
            <a:r>
              <a:rPr lang="en-GB" sz="8000"/>
              <a:t>}</a:t>
            </a:r>
            <a:endParaRPr lang="en-US" sz="8000"/>
          </a:p>
        </p:txBody>
      </p:sp>
      <p:sp>
        <p:nvSpPr>
          <p:cNvPr id="60433" name="TextBox 21"/>
          <p:cNvSpPr txBox="1">
            <a:spLocks noChangeArrowheads="1"/>
          </p:cNvSpPr>
          <p:nvPr/>
        </p:nvSpPr>
        <p:spPr bwMode="auto">
          <a:xfrm>
            <a:off x="6000750" y="6140450"/>
            <a:ext cx="3286125" cy="646113"/>
          </a:xfrm>
          <a:prstGeom prst="rect">
            <a:avLst/>
          </a:prstGeom>
          <a:noFill/>
          <a:ln w="9525">
            <a:noFill/>
            <a:miter lim="800000"/>
            <a:headEnd/>
            <a:tailEnd/>
          </a:ln>
        </p:spPr>
        <p:txBody>
          <a:bodyPr>
            <a:spAutoFit/>
          </a:bodyPr>
          <a:lstStyle/>
          <a:p>
            <a:pPr algn="ctr"/>
            <a:r>
              <a:rPr lang="en-GB"/>
              <a:t>Laadun korjailun aiheuttama suuri työmäärä</a:t>
            </a:r>
            <a:endParaRPr lang="en-US"/>
          </a:p>
        </p:txBody>
      </p:sp>
      <p:sp>
        <p:nvSpPr>
          <p:cNvPr id="23" name="Rectangle 22"/>
          <p:cNvSpPr/>
          <p:nvPr/>
        </p:nvSpPr>
        <p:spPr>
          <a:xfrm>
            <a:off x="6286500" y="3429000"/>
            <a:ext cx="1643063"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Testitapausten</a:t>
            </a:r>
            <a:r>
              <a:rPr lang="en-GB" dirty="0"/>
              <a:t> </a:t>
            </a:r>
            <a:r>
              <a:rPr lang="en-GB" dirty="0" err="1"/>
              <a:t>suoritus</a:t>
            </a:r>
            <a:endParaRPr lang="en-US" dirty="0"/>
          </a:p>
        </p:txBody>
      </p:sp>
      <p:sp>
        <p:nvSpPr>
          <p:cNvPr id="24" name="Rectangle 23"/>
          <p:cNvSpPr/>
          <p:nvPr/>
        </p:nvSpPr>
        <p:spPr>
          <a:xfrm>
            <a:off x="6286500" y="4643438"/>
            <a:ext cx="1643063"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Testitapausten</a:t>
            </a:r>
            <a:r>
              <a:rPr lang="en-GB" dirty="0"/>
              <a:t> </a:t>
            </a:r>
            <a:r>
              <a:rPr lang="en-GB" dirty="0" err="1"/>
              <a:t>suoritus</a:t>
            </a:r>
            <a:endParaRPr lang="en-US" dirty="0"/>
          </a:p>
        </p:txBody>
      </p:sp>
      <p:sp>
        <p:nvSpPr>
          <p:cNvPr id="60436" name="TextBox 24"/>
          <p:cNvSpPr txBox="1">
            <a:spLocks noChangeArrowheads="1"/>
          </p:cNvSpPr>
          <p:nvPr/>
        </p:nvSpPr>
        <p:spPr bwMode="auto">
          <a:xfrm rot="5400000">
            <a:off x="7446962" y="5033963"/>
            <a:ext cx="785813" cy="1862138"/>
          </a:xfrm>
          <a:prstGeom prst="rect">
            <a:avLst/>
          </a:prstGeom>
          <a:noFill/>
          <a:ln w="9525">
            <a:noFill/>
            <a:miter lim="800000"/>
            <a:headEnd/>
            <a:tailEnd/>
          </a:ln>
        </p:spPr>
        <p:txBody>
          <a:bodyPr>
            <a:spAutoFit/>
          </a:bodyPr>
          <a:lstStyle/>
          <a:p>
            <a:r>
              <a:rPr lang="en-GB" sz="11500"/>
              <a:t>}</a:t>
            </a:r>
            <a:endParaRPr lang="en-US" sz="11500"/>
          </a:p>
        </p:txBody>
      </p:sp>
      <p:sp>
        <p:nvSpPr>
          <p:cNvPr id="26" name="Rectangle 25"/>
          <p:cNvSpPr/>
          <p:nvPr/>
        </p:nvSpPr>
        <p:spPr>
          <a:xfrm>
            <a:off x="8143875" y="3429000"/>
            <a:ext cx="919163"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Rapor-tointi</a:t>
            </a:r>
            <a:endParaRPr lang="en-US" dirty="0"/>
          </a:p>
        </p:txBody>
      </p:sp>
      <p:sp>
        <p:nvSpPr>
          <p:cNvPr id="27" name="Rectangle 26"/>
          <p:cNvSpPr/>
          <p:nvPr/>
        </p:nvSpPr>
        <p:spPr>
          <a:xfrm>
            <a:off x="8143875" y="4643438"/>
            <a:ext cx="919163"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Rapor-tointi</a:t>
            </a:r>
            <a:endParaRPr lang="en-US" dirty="0"/>
          </a:p>
        </p:txBody>
      </p:sp>
      <p:cxnSp>
        <p:nvCxnSpPr>
          <p:cNvPr id="29" name="Elbow Connector 28"/>
          <p:cNvCxnSpPr>
            <a:stCxn id="19" idx="0"/>
            <a:endCxn id="18" idx="0"/>
          </p:cNvCxnSpPr>
          <p:nvPr/>
        </p:nvCxnSpPr>
        <p:spPr>
          <a:xfrm rot="16200000" flipV="1">
            <a:off x="7860506" y="1461294"/>
            <a:ext cx="1588" cy="1504950"/>
          </a:xfrm>
          <a:prstGeom prst="bentConnector3">
            <a:avLst>
              <a:gd name="adj1" fmla="val 14395466"/>
            </a:avLst>
          </a:prstGeom>
          <a:ln>
            <a:tailEnd type="arrow"/>
          </a:ln>
        </p:spPr>
        <p:style>
          <a:lnRef idx="3">
            <a:schemeClr val="accent1"/>
          </a:lnRef>
          <a:fillRef idx="0">
            <a:schemeClr val="accent1"/>
          </a:fillRef>
          <a:effectRef idx="2">
            <a:schemeClr val="accent1"/>
          </a:effectRef>
          <a:fontRef idx="minor">
            <a:schemeClr val="tx1"/>
          </a:fontRef>
        </p:style>
      </p:cxnSp>
      <p:cxnSp>
        <p:nvCxnSpPr>
          <p:cNvPr id="31" name="Straight Arrow Connector 30"/>
          <p:cNvCxnSpPr>
            <a:stCxn id="18" idx="3"/>
            <a:endCxn id="19" idx="1"/>
          </p:cNvCxnSpPr>
          <p:nvPr/>
        </p:nvCxnSpPr>
        <p:spPr>
          <a:xfrm>
            <a:off x="7929563" y="2749550"/>
            <a:ext cx="223837" cy="1588"/>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8" name="Slide Number Placeholder 27"/>
          <p:cNvSpPr>
            <a:spLocks noGrp="1"/>
          </p:cNvSpPr>
          <p:nvPr>
            <p:ph type="sldNum" sz="quarter" idx="12"/>
          </p:nvPr>
        </p:nvSpPr>
        <p:spPr/>
        <p:txBody>
          <a:bodyPr/>
          <a:lstStyle/>
          <a:p>
            <a:pPr>
              <a:defRPr/>
            </a:pPr>
            <a:fld id="{9EE87814-91B5-4A67-9CED-2E17A0D07A72}" type="slidenum">
              <a:rPr lang="sv-SE"/>
              <a:pPr>
                <a:defRPr/>
              </a:pPr>
              <a:t>6</a:t>
            </a:fld>
            <a:endParaRPr lang="sv-SE"/>
          </a:p>
        </p:txBody>
      </p:sp>
      <p:sp>
        <p:nvSpPr>
          <p:cNvPr id="32" name="Rectangle 31"/>
          <p:cNvSpPr/>
          <p:nvPr/>
        </p:nvSpPr>
        <p:spPr>
          <a:xfrm>
            <a:off x="0" y="5751493"/>
            <a:ext cx="3429000" cy="954107"/>
          </a:xfrm>
          <a:prstGeom prst="rect">
            <a:avLst/>
          </a:prstGeom>
          <a:noFill/>
        </p:spPr>
        <p:txBody>
          <a:bodyPr wrap="square" lIns="91440" tIns="45720" rIns="91440" bIns="4572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a:r>
              <a:rPr lang="en-US" sz="2800" b="1" dirty="0" err="1" smtClean="0">
                <a:ln/>
                <a:solidFill>
                  <a:schemeClr val="accent3"/>
                </a:solidFill>
              </a:rPr>
              <a:t>Tätä</a:t>
            </a:r>
            <a:r>
              <a:rPr lang="en-US" sz="2800" b="1" dirty="0" smtClean="0">
                <a:ln/>
                <a:solidFill>
                  <a:schemeClr val="accent3"/>
                </a:solidFill>
              </a:rPr>
              <a:t> </a:t>
            </a:r>
            <a:r>
              <a:rPr lang="en-US" sz="2800" b="1" dirty="0" err="1" smtClean="0">
                <a:ln/>
                <a:solidFill>
                  <a:schemeClr val="accent3"/>
                </a:solidFill>
              </a:rPr>
              <a:t>tuskin</a:t>
            </a:r>
            <a:r>
              <a:rPr lang="en-US" sz="2800" b="1" dirty="0" smtClean="0">
                <a:ln/>
                <a:solidFill>
                  <a:schemeClr val="accent3"/>
                </a:solidFill>
              </a:rPr>
              <a:t> </a:t>
            </a:r>
            <a:r>
              <a:rPr lang="en-US" sz="2800" b="1" dirty="0" err="1" smtClean="0">
                <a:ln/>
                <a:solidFill>
                  <a:schemeClr val="accent3"/>
                </a:solidFill>
              </a:rPr>
              <a:t>näet</a:t>
            </a:r>
            <a:r>
              <a:rPr lang="en-US" sz="2800" b="1" dirty="0" smtClean="0">
                <a:ln/>
                <a:solidFill>
                  <a:schemeClr val="accent3"/>
                </a:solidFill>
              </a:rPr>
              <a:t> </a:t>
            </a:r>
            <a:br>
              <a:rPr lang="en-US" sz="2800" b="1" dirty="0" smtClean="0">
                <a:ln/>
                <a:solidFill>
                  <a:schemeClr val="accent3"/>
                </a:solidFill>
              </a:rPr>
            </a:br>
            <a:r>
              <a:rPr lang="en-US" sz="2800" b="1" dirty="0" err="1" smtClean="0">
                <a:ln/>
                <a:solidFill>
                  <a:schemeClr val="accent3"/>
                </a:solidFill>
              </a:rPr>
              <a:t>ketteryyden</a:t>
            </a:r>
            <a:r>
              <a:rPr lang="en-US" sz="2800" b="1" dirty="0" smtClean="0">
                <a:ln/>
                <a:solidFill>
                  <a:schemeClr val="accent3"/>
                </a:solidFill>
              </a:rPr>
              <a:t> </a:t>
            </a:r>
            <a:r>
              <a:rPr lang="en-US" sz="2800" b="1" dirty="0" err="1" smtClean="0">
                <a:ln/>
                <a:solidFill>
                  <a:schemeClr val="accent3"/>
                </a:solidFill>
              </a:rPr>
              <a:t>vallitessa</a:t>
            </a:r>
            <a:endParaRPr lang="en-US" sz="2800" b="1" dirty="0">
              <a:ln/>
              <a:solidFill>
                <a:schemeClr val="accent3"/>
              </a:solidFill>
            </a:endParaRPr>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Making Traditional Testing Flexible != Agile</a:t>
            </a:r>
            <a:endParaRPr lang="fi-FI" dirty="0"/>
          </a:p>
        </p:txBody>
      </p:sp>
      <p:sp>
        <p:nvSpPr>
          <p:cNvPr id="3" name="Content Placeholder 2"/>
          <p:cNvSpPr>
            <a:spLocks noGrp="1"/>
          </p:cNvSpPr>
          <p:nvPr>
            <p:ph idx="1"/>
          </p:nvPr>
        </p:nvSpPr>
        <p:spPr/>
        <p:txBody>
          <a:bodyPr>
            <a:normAutofit fontScale="77500" lnSpcReduction="20000"/>
          </a:bodyPr>
          <a:lstStyle/>
          <a:p>
            <a:r>
              <a:rPr lang="fi-FI" dirty="0" smtClean="0"/>
              <a:t>Goes sometimes like this:</a:t>
            </a:r>
          </a:p>
          <a:p>
            <a:pPr lvl="1"/>
            <a:r>
              <a:rPr lang="fi-FI" dirty="0" smtClean="0"/>
              <a:t>Everything is prioritized in test plans and test cases</a:t>
            </a:r>
          </a:p>
          <a:p>
            <a:pPr lvl="1"/>
            <a:r>
              <a:rPr lang="fi-FI" dirty="0" smtClean="0"/>
              <a:t>A schedule / effort buffer is negotiated on, as big as possible. Assumptions of what needs to happen before (shifting blame) and after are communicated with entry / exit criteria</a:t>
            </a:r>
          </a:p>
          <a:p>
            <a:pPr lvl="1"/>
            <a:r>
              <a:rPr lang="fi-FI" dirty="0" smtClean="0"/>
              <a:t>When flexibility is needed, drop in order of priority – if possible at that point of time</a:t>
            </a:r>
          </a:p>
          <a:p>
            <a:pPr lvl="1"/>
            <a:r>
              <a:rPr lang="fi-FI" dirty="0" smtClean="0"/>
              <a:t>When dropping work is not enough, drop the whole plan and do another plan of ”just test until we must stop”</a:t>
            </a:r>
          </a:p>
          <a:p>
            <a:pPr lvl="1"/>
            <a:r>
              <a:rPr lang="fi-FI" dirty="0" smtClean="0"/>
              <a:t>Negotiate on minimum fixes to control the regression risk for good enough quality – lower expectation and try to communicate the tradeoff of time vs. quality</a:t>
            </a:r>
          </a:p>
          <a:p>
            <a:r>
              <a:rPr lang="fi-FI" dirty="0" smtClean="0"/>
              <a:t>Flexibility in details, changing just a little, is often not enough. This is just flexibility</a:t>
            </a:r>
            <a:r>
              <a:rPr lang="fi-FI" smtClean="0"/>
              <a:t>, </a:t>
            </a:r>
            <a:r>
              <a:rPr lang="fi-FI" smtClean="0">
                <a:solidFill>
                  <a:schemeClr val="accent1"/>
                </a:solidFill>
              </a:rPr>
              <a:t>adjustment </a:t>
            </a:r>
            <a:r>
              <a:rPr lang="fi-FI" dirty="0" smtClean="0">
                <a:solidFill>
                  <a:schemeClr val="accent1"/>
                </a:solidFill>
              </a:rPr>
              <a:t>of a plan</a:t>
            </a:r>
            <a:r>
              <a:rPr lang="fi-FI" dirty="0" smtClean="0"/>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fi-FI" dirty="0" smtClean="0"/>
              <a:t>Ketterä testaus – ketterissä menetelmissä</a:t>
            </a:r>
            <a:endParaRPr lang="fi-FI" dirty="0"/>
          </a:p>
        </p:txBody>
      </p:sp>
      <p:sp>
        <p:nvSpPr>
          <p:cNvPr id="13" name="Text Placeholder 12"/>
          <p:cNvSpPr>
            <a:spLocks noGrp="1"/>
          </p:cNvSpPr>
          <p:nvPr>
            <p:ph type="body" idx="1"/>
          </p:nvPr>
        </p:nvSpPr>
        <p:spPr/>
        <p:txBody>
          <a:bodyPr/>
          <a:lstStyle/>
          <a:p>
            <a:endParaRPr lang="fi-FI"/>
          </a:p>
        </p:txBody>
      </p:sp>
      <p:pic>
        <p:nvPicPr>
          <p:cNvPr id="3074" name="Picture 2" descr="C:\Documents and Settings\Maaret\My Documents\My Pictures\Microsoft Clip Organizer\j0078747.wmf"/>
          <p:cNvPicPr>
            <a:picLocks noChangeAspect="1" noChangeArrowheads="1"/>
          </p:cNvPicPr>
          <p:nvPr/>
        </p:nvPicPr>
        <p:blipFill>
          <a:blip r:embed="rId3" cstate="print"/>
          <a:srcRect/>
          <a:stretch>
            <a:fillRect/>
          </a:stretch>
        </p:blipFill>
        <p:spPr bwMode="auto">
          <a:xfrm>
            <a:off x="7654925" y="685800"/>
            <a:ext cx="1260475" cy="5149851"/>
          </a:xfrm>
          <a:prstGeom prst="rect">
            <a:avLst/>
          </a:prstGeom>
          <a:noFill/>
        </p:spPr>
      </p:pic>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normAutofit fontScale="90000"/>
          </a:bodyPr>
          <a:lstStyle/>
          <a:p>
            <a:r>
              <a:rPr lang="fi-FI" dirty="0" smtClean="0"/>
              <a:t>Ketteryyden määritelmä julistuksen kautta</a:t>
            </a:r>
            <a:endParaRPr lang="fi-FI" dirty="0"/>
          </a:p>
        </p:txBody>
      </p:sp>
      <p:sp>
        <p:nvSpPr>
          <p:cNvPr id="13" name="Content Placeholder 12"/>
          <p:cNvSpPr>
            <a:spLocks noGrp="1"/>
          </p:cNvSpPr>
          <p:nvPr>
            <p:ph sz="half" idx="1"/>
          </p:nvPr>
        </p:nvSpPr>
        <p:spPr>
          <a:xfrm>
            <a:off x="457200" y="1600200"/>
            <a:ext cx="3733800" cy="4525963"/>
          </a:xfrm>
        </p:spPr>
        <p:txBody>
          <a:bodyPr>
            <a:normAutofit fontScale="85000" lnSpcReduction="20000"/>
          </a:bodyPr>
          <a:lstStyle/>
          <a:p>
            <a:r>
              <a:rPr lang="fi-FI" dirty="0" smtClean="0"/>
              <a:t>Ketteryys laajassa merkityksessä:</a:t>
            </a:r>
          </a:p>
          <a:p>
            <a:pPr lvl="1"/>
            <a:r>
              <a:rPr lang="fi-FI" dirty="0" smtClean="0"/>
              <a:t>Mikä tahansa ketteristä menetelmistä</a:t>
            </a:r>
          </a:p>
          <a:p>
            <a:pPr lvl="1"/>
            <a:r>
              <a:rPr lang="fi-FI" dirty="0" smtClean="0"/>
              <a:t>Periaatteet ja käytännöt omaan tilanteeseen ketteriin arvoihin pohjaten</a:t>
            </a:r>
          </a:p>
          <a:p>
            <a:r>
              <a:rPr lang="en-US" dirty="0" err="1" smtClean="0"/>
              <a:t>Ketterä</a:t>
            </a:r>
            <a:r>
              <a:rPr lang="en-US" dirty="0" smtClean="0"/>
              <a:t> </a:t>
            </a:r>
            <a:r>
              <a:rPr lang="en-US" dirty="0" err="1" smtClean="0"/>
              <a:t>testaus</a:t>
            </a:r>
            <a:r>
              <a:rPr lang="en-US" dirty="0" smtClean="0"/>
              <a:t> </a:t>
            </a:r>
            <a:r>
              <a:rPr lang="en-US" dirty="0" err="1" smtClean="0"/>
              <a:t>ei</a:t>
            </a:r>
            <a:r>
              <a:rPr lang="en-US" dirty="0" smtClean="0"/>
              <a:t> ole vain </a:t>
            </a:r>
            <a:r>
              <a:rPr lang="en-US" dirty="0" err="1" smtClean="0"/>
              <a:t>testausta</a:t>
            </a:r>
            <a:r>
              <a:rPr lang="en-US" dirty="0" smtClean="0"/>
              <a:t> </a:t>
            </a:r>
            <a:r>
              <a:rPr lang="en-US" dirty="0" err="1" smtClean="0"/>
              <a:t>ketterissä</a:t>
            </a:r>
            <a:r>
              <a:rPr lang="en-US" dirty="0" smtClean="0"/>
              <a:t> </a:t>
            </a:r>
            <a:r>
              <a:rPr lang="en-US" dirty="0" err="1" smtClean="0"/>
              <a:t>projekteissa</a:t>
            </a:r>
            <a:r>
              <a:rPr lang="en-US" dirty="0" smtClean="0"/>
              <a:t>. </a:t>
            </a:r>
            <a:r>
              <a:rPr lang="en-US" dirty="0" err="1" smtClean="0"/>
              <a:t>Jotkin</a:t>
            </a:r>
            <a:r>
              <a:rPr lang="en-US" dirty="0" smtClean="0"/>
              <a:t> </a:t>
            </a:r>
            <a:r>
              <a:rPr lang="en-US" dirty="0" err="1" smtClean="0"/>
              <a:t>testauksen</a:t>
            </a:r>
            <a:r>
              <a:rPr lang="en-US" dirty="0" smtClean="0"/>
              <a:t> </a:t>
            </a:r>
            <a:r>
              <a:rPr lang="en-US" dirty="0" err="1" smtClean="0"/>
              <a:t>lähestymistavat</a:t>
            </a:r>
            <a:r>
              <a:rPr lang="en-US" dirty="0" smtClean="0"/>
              <a:t>, </a:t>
            </a:r>
            <a:r>
              <a:rPr lang="en-US" dirty="0" err="1" smtClean="0"/>
              <a:t>kuten</a:t>
            </a:r>
            <a:r>
              <a:rPr lang="en-US" dirty="0" smtClean="0"/>
              <a:t> </a:t>
            </a:r>
            <a:r>
              <a:rPr lang="en-US" dirty="0" err="1" smtClean="0"/>
              <a:t>tutkiva</a:t>
            </a:r>
            <a:r>
              <a:rPr lang="en-US" dirty="0" smtClean="0"/>
              <a:t> </a:t>
            </a:r>
            <a:r>
              <a:rPr lang="en-US" dirty="0" err="1" smtClean="0"/>
              <a:t>testaus</a:t>
            </a:r>
            <a:r>
              <a:rPr lang="en-US" dirty="0" smtClean="0"/>
              <a:t>, </a:t>
            </a:r>
            <a:r>
              <a:rPr lang="en-US" dirty="0" err="1" smtClean="0"/>
              <a:t>ovat</a:t>
            </a:r>
            <a:r>
              <a:rPr lang="en-US" dirty="0" smtClean="0"/>
              <a:t> </a:t>
            </a:r>
            <a:r>
              <a:rPr lang="en-US" dirty="0" err="1" smtClean="0"/>
              <a:t>syntyjään</a:t>
            </a:r>
            <a:r>
              <a:rPr lang="en-US" dirty="0" smtClean="0"/>
              <a:t> </a:t>
            </a:r>
            <a:r>
              <a:rPr lang="en-US" dirty="0" err="1" smtClean="0"/>
              <a:t>ketteriä</a:t>
            </a:r>
            <a:r>
              <a:rPr lang="en-US" dirty="0" smtClean="0"/>
              <a:t>. </a:t>
            </a:r>
          </a:p>
        </p:txBody>
      </p:sp>
      <p:sp>
        <p:nvSpPr>
          <p:cNvPr id="3" name="Slide Number Placeholder 2"/>
          <p:cNvSpPr>
            <a:spLocks noGrp="1"/>
          </p:cNvSpPr>
          <p:nvPr>
            <p:ph type="sldNum" sz="quarter" idx="12"/>
          </p:nvPr>
        </p:nvSpPr>
        <p:spPr/>
        <p:txBody>
          <a:bodyPr/>
          <a:lstStyle/>
          <a:p>
            <a:fld id="{B6F15528-21DE-4FAA-801E-634DDDAF4B2B}" type="slidenum">
              <a:rPr lang="en-US" smtClean="0"/>
              <a:pPr/>
              <a:t>9</a:t>
            </a:fld>
            <a:endParaRPr lang="en-US"/>
          </a:p>
        </p:txBody>
      </p:sp>
      <p:pic>
        <p:nvPicPr>
          <p:cNvPr id="1029" name="Picture 5"/>
          <p:cNvPicPr>
            <a:picLocks noChangeAspect="1" noChangeArrowheads="1"/>
          </p:cNvPicPr>
          <p:nvPr/>
        </p:nvPicPr>
        <p:blipFill>
          <a:blip r:embed="rId3" cstate="print"/>
          <a:srcRect/>
          <a:stretch>
            <a:fillRect/>
          </a:stretch>
        </p:blipFill>
        <p:spPr bwMode="auto">
          <a:xfrm>
            <a:off x="4084484" y="1524000"/>
            <a:ext cx="5059516" cy="4953000"/>
          </a:xfrm>
          <a:prstGeom prst="rect">
            <a:avLst/>
          </a:prstGeom>
          <a:noFill/>
          <a:ln w="9525">
            <a:noFill/>
            <a:miter lim="800000"/>
            <a:headEnd/>
            <a:tailEnd/>
          </a:ln>
        </p:spPr>
      </p:pic>
      <p:sp>
        <p:nvSpPr>
          <p:cNvPr id="11" name="TextBox 10"/>
          <p:cNvSpPr txBox="1"/>
          <p:nvPr/>
        </p:nvSpPr>
        <p:spPr>
          <a:xfrm>
            <a:off x="0" y="6550223"/>
            <a:ext cx="9144000" cy="307777"/>
          </a:xfrm>
          <a:prstGeom prst="rect">
            <a:avLst/>
          </a:prstGeom>
          <a:noFill/>
        </p:spPr>
        <p:txBody>
          <a:bodyPr wrap="square" rtlCol="0">
            <a:spAutoFit/>
          </a:bodyPr>
          <a:lstStyle/>
          <a:p>
            <a:r>
              <a:rPr lang="fi-FI" sz="1400" dirty="0" smtClean="0"/>
              <a:t>Lähde: Lisa Crispin&amp;Janet Gregory, http://www.informit.com/articles/article.aspx?p=1316250 </a:t>
            </a:r>
            <a:endParaRPr lang="fi-FI" sz="1400"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normAutofit fontScale="90000"/>
          </a:bodyPr>
          <a:lstStyle/>
          <a:p>
            <a:r>
              <a:rPr lang="fi-FI" smtClean="0"/>
              <a:t>Suunnitelmaohjattu vs. ketterä – miksi?</a:t>
            </a:r>
            <a:endParaRPr lang="en-GB"/>
          </a:p>
        </p:txBody>
      </p:sp>
      <p:sp>
        <p:nvSpPr>
          <p:cNvPr id="20" name="Date Placeholder 2"/>
          <p:cNvSpPr>
            <a:spLocks noGrp="1"/>
          </p:cNvSpPr>
          <p:nvPr>
            <p:ph type="dt" sz="half" idx="10"/>
          </p:nvPr>
        </p:nvSpPr>
        <p:spPr>
          <a:xfrm>
            <a:off x="-152400" y="5170487"/>
            <a:ext cx="2133600" cy="365125"/>
          </a:xfrm>
        </p:spPr>
        <p:txBody>
          <a:bodyPr/>
          <a:lstStyle/>
          <a:p>
            <a:r>
              <a:rPr lang="fi-FI" smtClean="0"/>
              <a:t> </a:t>
            </a:r>
            <a:endParaRPr lang="en-US"/>
          </a:p>
        </p:txBody>
      </p:sp>
      <p:sp>
        <p:nvSpPr>
          <p:cNvPr id="54275" name="Text Box 3"/>
          <p:cNvSpPr txBox="1">
            <a:spLocks noChangeArrowheads="1"/>
          </p:cNvSpPr>
          <p:nvPr/>
        </p:nvSpPr>
        <p:spPr bwMode="auto">
          <a:xfrm>
            <a:off x="-152400" y="1539875"/>
            <a:ext cx="1981200" cy="396875"/>
          </a:xfrm>
          <a:prstGeom prst="rect">
            <a:avLst/>
          </a:prstGeom>
          <a:noFill/>
          <a:ln w="9525">
            <a:noFill/>
            <a:miter lim="800000"/>
            <a:headEnd/>
            <a:tailEnd/>
          </a:ln>
          <a:effectLst/>
        </p:spPr>
        <p:txBody>
          <a:bodyPr>
            <a:spAutoFit/>
          </a:bodyPr>
          <a:lstStyle/>
          <a:p>
            <a:pPr algn="ctr">
              <a:spcBef>
                <a:spcPct val="50000"/>
              </a:spcBef>
            </a:pPr>
            <a:r>
              <a:rPr lang="fi-FI" sz="2000">
                <a:latin typeface="Arial" charset="0"/>
              </a:rPr>
              <a:t>A - Alku</a:t>
            </a:r>
            <a:endParaRPr lang="en-GB" sz="2000">
              <a:latin typeface="Arial" charset="0"/>
            </a:endParaRPr>
          </a:p>
        </p:txBody>
      </p:sp>
      <p:sp>
        <p:nvSpPr>
          <p:cNvPr id="54276" name="Text Box 4"/>
          <p:cNvSpPr txBox="1">
            <a:spLocks noChangeArrowheads="1"/>
          </p:cNvSpPr>
          <p:nvPr/>
        </p:nvSpPr>
        <p:spPr bwMode="auto">
          <a:xfrm>
            <a:off x="5791200" y="1524000"/>
            <a:ext cx="2514600" cy="396875"/>
          </a:xfrm>
          <a:prstGeom prst="rect">
            <a:avLst/>
          </a:prstGeom>
          <a:noFill/>
          <a:ln w="9525">
            <a:noFill/>
            <a:miter lim="800000"/>
            <a:headEnd/>
            <a:tailEnd/>
          </a:ln>
          <a:effectLst/>
        </p:spPr>
        <p:txBody>
          <a:bodyPr>
            <a:spAutoFit/>
          </a:bodyPr>
          <a:lstStyle/>
          <a:p>
            <a:pPr algn="ctr">
              <a:spcBef>
                <a:spcPct val="50000"/>
              </a:spcBef>
            </a:pPr>
            <a:r>
              <a:rPr lang="fi-FI" sz="2000">
                <a:latin typeface="Arial" charset="0"/>
              </a:rPr>
              <a:t>B – Suunniteltu tulos</a:t>
            </a:r>
            <a:endParaRPr lang="en-GB" sz="2000">
              <a:latin typeface="Arial" charset="0"/>
            </a:endParaRPr>
          </a:p>
        </p:txBody>
      </p:sp>
      <p:sp>
        <p:nvSpPr>
          <p:cNvPr id="54277" name="Text Box 5"/>
          <p:cNvSpPr txBox="1">
            <a:spLocks noChangeArrowheads="1"/>
          </p:cNvSpPr>
          <p:nvPr/>
        </p:nvSpPr>
        <p:spPr bwMode="auto">
          <a:xfrm>
            <a:off x="5867400" y="4343400"/>
            <a:ext cx="2438400" cy="396875"/>
          </a:xfrm>
          <a:prstGeom prst="rect">
            <a:avLst/>
          </a:prstGeom>
          <a:noFill/>
          <a:ln w="9525">
            <a:noFill/>
            <a:miter lim="800000"/>
            <a:headEnd/>
            <a:tailEnd/>
          </a:ln>
          <a:effectLst/>
        </p:spPr>
        <p:txBody>
          <a:bodyPr>
            <a:spAutoFit/>
          </a:bodyPr>
          <a:lstStyle/>
          <a:p>
            <a:pPr algn="ctr">
              <a:spcBef>
                <a:spcPct val="50000"/>
              </a:spcBef>
            </a:pPr>
            <a:r>
              <a:rPr lang="fi-FI" sz="2000">
                <a:latin typeface="Arial" charset="0"/>
              </a:rPr>
              <a:t>C – Toivottu tulos</a:t>
            </a:r>
            <a:endParaRPr lang="en-GB" sz="2000">
              <a:latin typeface="Arial" charset="0"/>
            </a:endParaRPr>
          </a:p>
        </p:txBody>
      </p:sp>
      <p:sp>
        <p:nvSpPr>
          <p:cNvPr id="54278" name="Text Box 6"/>
          <p:cNvSpPr txBox="1">
            <a:spLocks noChangeArrowheads="1"/>
          </p:cNvSpPr>
          <p:nvPr/>
        </p:nvSpPr>
        <p:spPr bwMode="auto">
          <a:xfrm>
            <a:off x="228600" y="3902075"/>
            <a:ext cx="3124200" cy="274637"/>
          </a:xfrm>
          <a:prstGeom prst="rect">
            <a:avLst/>
          </a:prstGeom>
          <a:noFill/>
          <a:ln w="9525">
            <a:noFill/>
            <a:miter lim="800000"/>
            <a:headEnd/>
            <a:tailEnd/>
          </a:ln>
          <a:effectLst/>
        </p:spPr>
        <p:txBody>
          <a:bodyPr>
            <a:spAutoFit/>
          </a:bodyPr>
          <a:lstStyle/>
          <a:p>
            <a:pPr algn="r">
              <a:spcBef>
                <a:spcPct val="50000"/>
              </a:spcBef>
            </a:pPr>
            <a:endParaRPr lang="en-US" sz="1200" dirty="0"/>
          </a:p>
        </p:txBody>
      </p:sp>
      <p:sp>
        <p:nvSpPr>
          <p:cNvPr id="54279" name="Text Box 7"/>
          <p:cNvSpPr txBox="1">
            <a:spLocks noChangeArrowheads="1"/>
          </p:cNvSpPr>
          <p:nvPr/>
        </p:nvSpPr>
        <p:spPr bwMode="auto">
          <a:xfrm>
            <a:off x="5715000" y="2590800"/>
            <a:ext cx="3429000" cy="1465262"/>
          </a:xfrm>
          <a:prstGeom prst="rect">
            <a:avLst/>
          </a:prstGeom>
          <a:noFill/>
          <a:ln w="9525">
            <a:noFill/>
            <a:miter lim="800000"/>
            <a:headEnd/>
            <a:tailEnd/>
          </a:ln>
          <a:effectLst/>
        </p:spPr>
        <p:txBody>
          <a:bodyPr>
            <a:spAutoFit/>
          </a:bodyPr>
          <a:lstStyle/>
          <a:p>
            <a:pPr>
              <a:spcBef>
                <a:spcPct val="50000"/>
              </a:spcBef>
            </a:pPr>
            <a:r>
              <a:rPr lang="fi-FI" sz="1800" dirty="0">
                <a:latin typeface="Arial" charset="0"/>
              </a:rPr>
              <a:t>Äärimmäisessä ympäristössä suunnitelman seuraaminen tuottaa sovelluksen, jonka aioit tuottaa, vaan ei sovellusta jota tarvitsit.</a:t>
            </a:r>
            <a:endParaRPr lang="en-GB" sz="1800" dirty="0">
              <a:latin typeface="Arial" charset="0"/>
            </a:endParaRPr>
          </a:p>
        </p:txBody>
      </p:sp>
      <p:sp>
        <p:nvSpPr>
          <p:cNvPr id="54280" name="Line 8"/>
          <p:cNvSpPr>
            <a:spLocks noChangeShapeType="1"/>
          </p:cNvSpPr>
          <p:nvPr/>
        </p:nvSpPr>
        <p:spPr bwMode="auto">
          <a:xfrm>
            <a:off x="914400" y="2149475"/>
            <a:ext cx="6172200" cy="0"/>
          </a:xfrm>
          <a:prstGeom prst="line">
            <a:avLst/>
          </a:prstGeom>
          <a:noFill/>
          <a:ln w="38100">
            <a:solidFill>
              <a:srgbClr val="FF0000"/>
            </a:solidFill>
            <a:prstDash val="dashDot"/>
            <a:round/>
            <a:headEnd/>
            <a:tailEnd/>
          </a:ln>
          <a:effectLst/>
        </p:spPr>
        <p:txBody>
          <a:bodyPr anchor="ctr"/>
          <a:lstStyle/>
          <a:p>
            <a:endParaRPr lang="fi-FI"/>
          </a:p>
        </p:txBody>
      </p:sp>
      <p:sp>
        <p:nvSpPr>
          <p:cNvPr id="54281" name="Oval 9"/>
          <p:cNvSpPr>
            <a:spLocks noChangeArrowheads="1"/>
          </p:cNvSpPr>
          <p:nvPr/>
        </p:nvSpPr>
        <p:spPr bwMode="auto">
          <a:xfrm>
            <a:off x="685800" y="1997075"/>
            <a:ext cx="228600" cy="228600"/>
          </a:xfrm>
          <a:prstGeom prst="ellipse">
            <a:avLst/>
          </a:prstGeom>
          <a:solidFill>
            <a:schemeClr val="tx2"/>
          </a:solidFill>
          <a:ln w="9525">
            <a:solidFill>
              <a:schemeClr val="tx2"/>
            </a:solidFill>
            <a:round/>
            <a:headEnd/>
            <a:tailEnd/>
          </a:ln>
          <a:effectLst/>
        </p:spPr>
        <p:txBody>
          <a:bodyPr wrap="none" anchor="ctr"/>
          <a:lstStyle/>
          <a:p>
            <a:endParaRPr lang="fi-FI"/>
          </a:p>
        </p:txBody>
      </p:sp>
      <p:sp>
        <p:nvSpPr>
          <p:cNvPr id="54282" name="Oval 10"/>
          <p:cNvSpPr>
            <a:spLocks noChangeArrowheads="1"/>
          </p:cNvSpPr>
          <p:nvPr/>
        </p:nvSpPr>
        <p:spPr bwMode="auto">
          <a:xfrm>
            <a:off x="6934200" y="1997075"/>
            <a:ext cx="228600" cy="228600"/>
          </a:xfrm>
          <a:prstGeom prst="ellipse">
            <a:avLst/>
          </a:prstGeom>
          <a:solidFill>
            <a:schemeClr val="tx2"/>
          </a:solidFill>
          <a:ln w="9525">
            <a:solidFill>
              <a:schemeClr val="tx2"/>
            </a:solidFill>
            <a:round/>
            <a:headEnd/>
            <a:tailEnd/>
          </a:ln>
          <a:effectLst/>
        </p:spPr>
        <p:txBody>
          <a:bodyPr wrap="none" anchor="ctr"/>
          <a:lstStyle/>
          <a:p>
            <a:endParaRPr lang="fi-FI"/>
          </a:p>
        </p:txBody>
      </p:sp>
      <p:grpSp>
        <p:nvGrpSpPr>
          <p:cNvPr id="2" name="Group 11"/>
          <p:cNvGrpSpPr>
            <a:grpSpLocks/>
          </p:cNvGrpSpPr>
          <p:nvPr/>
        </p:nvGrpSpPr>
        <p:grpSpPr bwMode="auto">
          <a:xfrm>
            <a:off x="914400" y="1295400"/>
            <a:ext cx="6019800" cy="2438400"/>
            <a:chOff x="672" y="1248"/>
            <a:chExt cx="3792" cy="1536"/>
          </a:xfrm>
        </p:grpSpPr>
        <p:sp>
          <p:nvSpPr>
            <p:cNvPr id="54284" name="Line 12"/>
            <p:cNvSpPr>
              <a:spLocks noChangeShapeType="1"/>
            </p:cNvSpPr>
            <p:nvPr/>
          </p:nvSpPr>
          <p:spPr bwMode="auto">
            <a:xfrm flipV="1">
              <a:off x="672" y="1248"/>
              <a:ext cx="720" cy="480"/>
            </a:xfrm>
            <a:prstGeom prst="line">
              <a:avLst/>
            </a:prstGeom>
            <a:noFill/>
            <a:ln w="38100">
              <a:solidFill>
                <a:srgbClr val="3366FF"/>
              </a:solidFill>
              <a:round/>
              <a:headEnd/>
              <a:tailEnd/>
            </a:ln>
            <a:effectLst/>
          </p:spPr>
          <p:txBody>
            <a:bodyPr anchor="ctr"/>
            <a:lstStyle/>
            <a:p>
              <a:endParaRPr lang="fi-FI"/>
            </a:p>
          </p:txBody>
        </p:sp>
        <p:sp>
          <p:nvSpPr>
            <p:cNvPr id="54285" name="Line 13"/>
            <p:cNvSpPr>
              <a:spLocks noChangeShapeType="1"/>
            </p:cNvSpPr>
            <p:nvPr/>
          </p:nvSpPr>
          <p:spPr bwMode="auto">
            <a:xfrm>
              <a:off x="1392" y="1248"/>
              <a:ext cx="816" cy="864"/>
            </a:xfrm>
            <a:prstGeom prst="line">
              <a:avLst/>
            </a:prstGeom>
            <a:noFill/>
            <a:ln w="38100">
              <a:solidFill>
                <a:srgbClr val="3366FF"/>
              </a:solidFill>
              <a:round/>
              <a:headEnd/>
              <a:tailEnd/>
            </a:ln>
            <a:effectLst/>
          </p:spPr>
          <p:txBody>
            <a:bodyPr anchor="ctr"/>
            <a:lstStyle/>
            <a:p>
              <a:endParaRPr lang="fi-FI"/>
            </a:p>
          </p:txBody>
        </p:sp>
        <p:sp>
          <p:nvSpPr>
            <p:cNvPr id="54286" name="Line 14"/>
            <p:cNvSpPr>
              <a:spLocks noChangeShapeType="1"/>
            </p:cNvSpPr>
            <p:nvPr/>
          </p:nvSpPr>
          <p:spPr bwMode="auto">
            <a:xfrm flipV="1">
              <a:off x="2208" y="1488"/>
              <a:ext cx="528" cy="624"/>
            </a:xfrm>
            <a:prstGeom prst="line">
              <a:avLst/>
            </a:prstGeom>
            <a:noFill/>
            <a:ln w="38100">
              <a:solidFill>
                <a:srgbClr val="3366FF"/>
              </a:solidFill>
              <a:round/>
              <a:headEnd/>
              <a:tailEnd/>
            </a:ln>
            <a:effectLst/>
          </p:spPr>
          <p:txBody>
            <a:bodyPr anchor="ctr"/>
            <a:lstStyle/>
            <a:p>
              <a:endParaRPr lang="fi-FI"/>
            </a:p>
          </p:txBody>
        </p:sp>
        <p:sp>
          <p:nvSpPr>
            <p:cNvPr id="54287" name="Line 15"/>
            <p:cNvSpPr>
              <a:spLocks noChangeShapeType="1"/>
            </p:cNvSpPr>
            <p:nvPr/>
          </p:nvSpPr>
          <p:spPr bwMode="auto">
            <a:xfrm>
              <a:off x="2736" y="1488"/>
              <a:ext cx="480" cy="1296"/>
            </a:xfrm>
            <a:prstGeom prst="line">
              <a:avLst/>
            </a:prstGeom>
            <a:noFill/>
            <a:ln w="38100">
              <a:solidFill>
                <a:srgbClr val="3366FF"/>
              </a:solidFill>
              <a:round/>
              <a:headEnd/>
              <a:tailEnd/>
            </a:ln>
            <a:effectLst/>
          </p:spPr>
          <p:txBody>
            <a:bodyPr anchor="ctr"/>
            <a:lstStyle/>
            <a:p>
              <a:endParaRPr lang="fi-FI"/>
            </a:p>
          </p:txBody>
        </p:sp>
        <p:sp>
          <p:nvSpPr>
            <p:cNvPr id="54288" name="Line 16"/>
            <p:cNvSpPr>
              <a:spLocks noChangeShapeType="1"/>
            </p:cNvSpPr>
            <p:nvPr/>
          </p:nvSpPr>
          <p:spPr bwMode="auto">
            <a:xfrm flipV="1">
              <a:off x="3216" y="1680"/>
              <a:ext cx="816" cy="1104"/>
            </a:xfrm>
            <a:prstGeom prst="line">
              <a:avLst/>
            </a:prstGeom>
            <a:noFill/>
            <a:ln w="38100">
              <a:solidFill>
                <a:srgbClr val="3366FF"/>
              </a:solidFill>
              <a:round/>
              <a:headEnd/>
              <a:tailEnd/>
            </a:ln>
            <a:effectLst/>
          </p:spPr>
          <p:txBody>
            <a:bodyPr anchor="ctr"/>
            <a:lstStyle/>
            <a:p>
              <a:endParaRPr lang="fi-FI"/>
            </a:p>
          </p:txBody>
        </p:sp>
        <p:sp>
          <p:nvSpPr>
            <p:cNvPr id="54289" name="Line 17"/>
            <p:cNvSpPr>
              <a:spLocks noChangeShapeType="1"/>
            </p:cNvSpPr>
            <p:nvPr/>
          </p:nvSpPr>
          <p:spPr bwMode="auto">
            <a:xfrm>
              <a:off x="4032" y="1680"/>
              <a:ext cx="432" cy="96"/>
            </a:xfrm>
            <a:prstGeom prst="line">
              <a:avLst/>
            </a:prstGeom>
            <a:noFill/>
            <a:ln w="38100">
              <a:solidFill>
                <a:srgbClr val="3366FF"/>
              </a:solidFill>
              <a:round/>
              <a:headEnd/>
              <a:tailEnd/>
            </a:ln>
            <a:effectLst/>
          </p:spPr>
          <p:txBody>
            <a:bodyPr anchor="ctr"/>
            <a:lstStyle/>
            <a:p>
              <a:endParaRPr lang="fi-FI"/>
            </a:p>
          </p:txBody>
        </p:sp>
      </p:grpSp>
      <p:sp>
        <p:nvSpPr>
          <p:cNvPr id="54290" name="Freeform 18"/>
          <p:cNvSpPr>
            <a:spLocks/>
          </p:cNvSpPr>
          <p:nvPr/>
        </p:nvSpPr>
        <p:spPr bwMode="auto">
          <a:xfrm>
            <a:off x="784225" y="2233612"/>
            <a:ext cx="6286500" cy="2989263"/>
          </a:xfrm>
          <a:custGeom>
            <a:avLst/>
            <a:gdLst/>
            <a:ahLst/>
            <a:cxnLst>
              <a:cxn ang="0">
                <a:pos x="30" y="305"/>
              </a:cxn>
              <a:cxn ang="0">
                <a:pos x="180" y="397"/>
              </a:cxn>
              <a:cxn ang="0">
                <a:pos x="344" y="378"/>
              </a:cxn>
              <a:cxn ang="0">
                <a:pos x="494" y="373"/>
              </a:cxn>
              <a:cxn ang="0">
                <a:pos x="509" y="702"/>
              </a:cxn>
              <a:cxn ang="0">
                <a:pos x="673" y="915"/>
              </a:cxn>
              <a:cxn ang="0">
                <a:pos x="765" y="973"/>
              </a:cxn>
              <a:cxn ang="0">
                <a:pos x="819" y="1022"/>
              </a:cxn>
              <a:cxn ang="0">
                <a:pos x="915" y="1046"/>
              </a:cxn>
              <a:cxn ang="0">
                <a:pos x="1022" y="978"/>
              </a:cxn>
              <a:cxn ang="0">
                <a:pos x="1090" y="891"/>
              </a:cxn>
              <a:cxn ang="0">
                <a:pos x="1080" y="591"/>
              </a:cxn>
              <a:cxn ang="0">
                <a:pos x="1123" y="518"/>
              </a:cxn>
              <a:cxn ang="0">
                <a:pos x="1448" y="542"/>
              </a:cxn>
              <a:cxn ang="0">
                <a:pos x="1554" y="712"/>
              </a:cxn>
              <a:cxn ang="0">
                <a:pos x="1569" y="964"/>
              </a:cxn>
              <a:cxn ang="0">
                <a:pos x="1612" y="1026"/>
              </a:cxn>
              <a:cxn ang="0">
                <a:pos x="1724" y="1065"/>
              </a:cxn>
              <a:cxn ang="0">
                <a:pos x="1801" y="1114"/>
              </a:cxn>
              <a:cxn ang="0">
                <a:pos x="1903" y="1147"/>
              </a:cxn>
              <a:cxn ang="0">
                <a:pos x="2029" y="1225"/>
              </a:cxn>
              <a:cxn ang="0">
                <a:pos x="2101" y="935"/>
              </a:cxn>
              <a:cxn ang="0">
                <a:pos x="2174" y="789"/>
              </a:cxn>
              <a:cxn ang="0">
                <a:pos x="2300" y="659"/>
              </a:cxn>
              <a:cxn ang="0">
                <a:pos x="2464" y="625"/>
              </a:cxn>
              <a:cxn ang="0">
                <a:pos x="2590" y="538"/>
              </a:cxn>
              <a:cxn ang="0">
                <a:pos x="2726" y="528"/>
              </a:cxn>
              <a:cxn ang="0">
                <a:pos x="2789" y="634"/>
              </a:cxn>
              <a:cxn ang="0">
                <a:pos x="2890" y="659"/>
              </a:cxn>
              <a:cxn ang="0">
                <a:pos x="2866" y="915"/>
              </a:cxn>
              <a:cxn ang="0">
                <a:pos x="2856" y="1118"/>
              </a:cxn>
              <a:cxn ang="0">
                <a:pos x="2934" y="1273"/>
              </a:cxn>
              <a:cxn ang="0">
                <a:pos x="2919" y="1341"/>
              </a:cxn>
              <a:cxn ang="0">
                <a:pos x="3011" y="1438"/>
              </a:cxn>
              <a:cxn ang="0">
                <a:pos x="3060" y="1593"/>
              </a:cxn>
              <a:cxn ang="0">
                <a:pos x="3152" y="1675"/>
              </a:cxn>
              <a:cxn ang="0">
                <a:pos x="3224" y="1801"/>
              </a:cxn>
              <a:cxn ang="0">
                <a:pos x="3423" y="1728"/>
              </a:cxn>
              <a:cxn ang="0">
                <a:pos x="3495" y="1806"/>
              </a:cxn>
              <a:cxn ang="0">
                <a:pos x="3631" y="1883"/>
              </a:cxn>
              <a:cxn ang="0">
                <a:pos x="3761" y="1806"/>
              </a:cxn>
              <a:cxn ang="0">
                <a:pos x="3921" y="1719"/>
              </a:cxn>
              <a:cxn ang="0">
                <a:pos x="3960" y="1709"/>
              </a:cxn>
            </a:cxnLst>
            <a:rect l="0" t="0" r="r" b="b"/>
            <a:pathLst>
              <a:path w="3960" h="1883">
                <a:moveTo>
                  <a:pt x="30" y="0"/>
                </a:moveTo>
                <a:cubicBezTo>
                  <a:pt x="26" y="90"/>
                  <a:pt x="0" y="220"/>
                  <a:pt x="30" y="305"/>
                </a:cubicBezTo>
                <a:cubicBezTo>
                  <a:pt x="40" y="332"/>
                  <a:pt x="59" y="333"/>
                  <a:pt x="78" y="349"/>
                </a:cubicBezTo>
                <a:cubicBezTo>
                  <a:pt x="115" y="379"/>
                  <a:pt x="133" y="389"/>
                  <a:pt x="180" y="397"/>
                </a:cubicBezTo>
                <a:cubicBezTo>
                  <a:pt x="222" y="395"/>
                  <a:pt x="263" y="395"/>
                  <a:pt x="305" y="392"/>
                </a:cubicBezTo>
                <a:cubicBezTo>
                  <a:pt x="337" y="390"/>
                  <a:pt x="313" y="388"/>
                  <a:pt x="344" y="378"/>
                </a:cubicBezTo>
                <a:cubicBezTo>
                  <a:pt x="359" y="373"/>
                  <a:pt x="414" y="369"/>
                  <a:pt x="422" y="368"/>
                </a:cubicBezTo>
                <a:cubicBezTo>
                  <a:pt x="446" y="370"/>
                  <a:pt x="472" y="364"/>
                  <a:pt x="494" y="373"/>
                </a:cubicBezTo>
                <a:cubicBezTo>
                  <a:pt x="503" y="377"/>
                  <a:pt x="504" y="402"/>
                  <a:pt x="504" y="402"/>
                </a:cubicBezTo>
                <a:cubicBezTo>
                  <a:pt x="506" y="502"/>
                  <a:pt x="506" y="602"/>
                  <a:pt x="509" y="702"/>
                </a:cubicBezTo>
                <a:cubicBezTo>
                  <a:pt x="510" y="744"/>
                  <a:pt x="539" y="866"/>
                  <a:pt x="586" y="876"/>
                </a:cubicBezTo>
                <a:cubicBezTo>
                  <a:pt x="613" y="894"/>
                  <a:pt x="642" y="904"/>
                  <a:pt x="673" y="915"/>
                </a:cubicBezTo>
                <a:cubicBezTo>
                  <a:pt x="692" y="921"/>
                  <a:pt x="703" y="934"/>
                  <a:pt x="722" y="939"/>
                </a:cubicBezTo>
                <a:cubicBezTo>
                  <a:pt x="744" y="963"/>
                  <a:pt x="730" y="950"/>
                  <a:pt x="765" y="973"/>
                </a:cubicBezTo>
                <a:cubicBezTo>
                  <a:pt x="770" y="976"/>
                  <a:pt x="780" y="983"/>
                  <a:pt x="780" y="983"/>
                </a:cubicBezTo>
                <a:cubicBezTo>
                  <a:pt x="791" y="1000"/>
                  <a:pt x="802" y="1011"/>
                  <a:pt x="819" y="1022"/>
                </a:cubicBezTo>
                <a:cubicBezTo>
                  <a:pt x="830" y="1039"/>
                  <a:pt x="839" y="1044"/>
                  <a:pt x="857" y="1051"/>
                </a:cubicBezTo>
                <a:cubicBezTo>
                  <a:pt x="876" y="1049"/>
                  <a:pt x="896" y="1051"/>
                  <a:pt x="915" y="1046"/>
                </a:cubicBezTo>
                <a:cubicBezTo>
                  <a:pt x="959" y="1033"/>
                  <a:pt x="932" y="1030"/>
                  <a:pt x="954" y="1012"/>
                </a:cubicBezTo>
                <a:cubicBezTo>
                  <a:pt x="976" y="994"/>
                  <a:pt x="997" y="989"/>
                  <a:pt x="1022" y="978"/>
                </a:cubicBezTo>
                <a:cubicBezTo>
                  <a:pt x="1031" y="969"/>
                  <a:pt x="1043" y="963"/>
                  <a:pt x="1051" y="954"/>
                </a:cubicBezTo>
                <a:cubicBezTo>
                  <a:pt x="1067" y="935"/>
                  <a:pt x="1076" y="911"/>
                  <a:pt x="1090" y="891"/>
                </a:cubicBezTo>
                <a:cubicBezTo>
                  <a:pt x="1095" y="872"/>
                  <a:pt x="1108" y="866"/>
                  <a:pt x="1114" y="847"/>
                </a:cubicBezTo>
                <a:cubicBezTo>
                  <a:pt x="1128" y="756"/>
                  <a:pt x="1134" y="667"/>
                  <a:pt x="1080" y="591"/>
                </a:cubicBezTo>
                <a:cubicBezTo>
                  <a:pt x="1082" y="578"/>
                  <a:pt x="1082" y="565"/>
                  <a:pt x="1085" y="552"/>
                </a:cubicBezTo>
                <a:cubicBezTo>
                  <a:pt x="1089" y="536"/>
                  <a:pt x="1113" y="525"/>
                  <a:pt x="1123" y="518"/>
                </a:cubicBezTo>
                <a:cubicBezTo>
                  <a:pt x="1173" y="484"/>
                  <a:pt x="1217" y="472"/>
                  <a:pt x="1278" y="465"/>
                </a:cubicBezTo>
                <a:cubicBezTo>
                  <a:pt x="1373" y="471"/>
                  <a:pt x="1395" y="468"/>
                  <a:pt x="1448" y="542"/>
                </a:cubicBezTo>
                <a:cubicBezTo>
                  <a:pt x="1461" y="582"/>
                  <a:pt x="1495" y="627"/>
                  <a:pt x="1525" y="659"/>
                </a:cubicBezTo>
                <a:cubicBezTo>
                  <a:pt x="1532" y="679"/>
                  <a:pt x="1542" y="695"/>
                  <a:pt x="1554" y="712"/>
                </a:cubicBezTo>
                <a:cubicBezTo>
                  <a:pt x="1557" y="723"/>
                  <a:pt x="1563" y="734"/>
                  <a:pt x="1564" y="746"/>
                </a:cubicBezTo>
                <a:cubicBezTo>
                  <a:pt x="1567" y="819"/>
                  <a:pt x="1566" y="891"/>
                  <a:pt x="1569" y="964"/>
                </a:cubicBezTo>
                <a:cubicBezTo>
                  <a:pt x="1569" y="971"/>
                  <a:pt x="1578" y="1002"/>
                  <a:pt x="1583" y="1007"/>
                </a:cubicBezTo>
                <a:cubicBezTo>
                  <a:pt x="1591" y="1015"/>
                  <a:pt x="1604" y="1018"/>
                  <a:pt x="1612" y="1026"/>
                </a:cubicBezTo>
                <a:cubicBezTo>
                  <a:pt x="1616" y="1030"/>
                  <a:pt x="1633" y="1049"/>
                  <a:pt x="1641" y="1051"/>
                </a:cubicBezTo>
                <a:cubicBezTo>
                  <a:pt x="1667" y="1058"/>
                  <a:pt x="1697" y="1058"/>
                  <a:pt x="1724" y="1065"/>
                </a:cubicBezTo>
                <a:cubicBezTo>
                  <a:pt x="1755" y="1087"/>
                  <a:pt x="1719" y="1064"/>
                  <a:pt x="1758" y="1080"/>
                </a:cubicBezTo>
                <a:cubicBezTo>
                  <a:pt x="1775" y="1087"/>
                  <a:pt x="1786" y="1104"/>
                  <a:pt x="1801" y="1114"/>
                </a:cubicBezTo>
                <a:cubicBezTo>
                  <a:pt x="1816" y="1156"/>
                  <a:pt x="1797" y="1115"/>
                  <a:pt x="1888" y="1133"/>
                </a:cubicBezTo>
                <a:cubicBezTo>
                  <a:pt x="1895" y="1134"/>
                  <a:pt x="1898" y="1142"/>
                  <a:pt x="1903" y="1147"/>
                </a:cubicBezTo>
                <a:cubicBezTo>
                  <a:pt x="1936" y="1180"/>
                  <a:pt x="1942" y="1218"/>
                  <a:pt x="1966" y="1254"/>
                </a:cubicBezTo>
                <a:cubicBezTo>
                  <a:pt x="2021" y="1247"/>
                  <a:pt x="1993" y="1249"/>
                  <a:pt x="2029" y="1225"/>
                </a:cubicBezTo>
                <a:cubicBezTo>
                  <a:pt x="2059" y="1176"/>
                  <a:pt x="2053" y="1078"/>
                  <a:pt x="2067" y="1017"/>
                </a:cubicBezTo>
                <a:cubicBezTo>
                  <a:pt x="2074" y="986"/>
                  <a:pt x="2088" y="963"/>
                  <a:pt x="2101" y="935"/>
                </a:cubicBezTo>
                <a:cubicBezTo>
                  <a:pt x="2119" y="898"/>
                  <a:pt x="2126" y="849"/>
                  <a:pt x="2150" y="814"/>
                </a:cubicBezTo>
                <a:cubicBezTo>
                  <a:pt x="2157" y="805"/>
                  <a:pt x="2167" y="798"/>
                  <a:pt x="2174" y="789"/>
                </a:cubicBezTo>
                <a:cubicBezTo>
                  <a:pt x="2191" y="767"/>
                  <a:pt x="2232" y="681"/>
                  <a:pt x="2251" y="668"/>
                </a:cubicBezTo>
                <a:cubicBezTo>
                  <a:pt x="2257" y="664"/>
                  <a:pt x="2298" y="659"/>
                  <a:pt x="2300" y="659"/>
                </a:cubicBezTo>
                <a:cubicBezTo>
                  <a:pt x="2348" y="642"/>
                  <a:pt x="2276" y="666"/>
                  <a:pt x="2406" y="644"/>
                </a:cubicBezTo>
                <a:cubicBezTo>
                  <a:pt x="2426" y="641"/>
                  <a:pt x="2464" y="625"/>
                  <a:pt x="2464" y="625"/>
                </a:cubicBezTo>
                <a:cubicBezTo>
                  <a:pt x="2482" y="613"/>
                  <a:pt x="2541" y="582"/>
                  <a:pt x="2556" y="567"/>
                </a:cubicBezTo>
                <a:cubicBezTo>
                  <a:pt x="2568" y="555"/>
                  <a:pt x="2575" y="545"/>
                  <a:pt x="2590" y="538"/>
                </a:cubicBezTo>
                <a:cubicBezTo>
                  <a:pt x="2612" y="527"/>
                  <a:pt x="2640" y="526"/>
                  <a:pt x="2663" y="523"/>
                </a:cubicBezTo>
                <a:cubicBezTo>
                  <a:pt x="2684" y="525"/>
                  <a:pt x="2706" y="523"/>
                  <a:pt x="2726" y="528"/>
                </a:cubicBezTo>
                <a:cubicBezTo>
                  <a:pt x="2738" y="531"/>
                  <a:pt x="2753" y="559"/>
                  <a:pt x="2764" y="567"/>
                </a:cubicBezTo>
                <a:cubicBezTo>
                  <a:pt x="2772" y="589"/>
                  <a:pt x="2779" y="613"/>
                  <a:pt x="2789" y="634"/>
                </a:cubicBezTo>
                <a:cubicBezTo>
                  <a:pt x="2792" y="639"/>
                  <a:pt x="2792" y="648"/>
                  <a:pt x="2798" y="649"/>
                </a:cubicBezTo>
                <a:cubicBezTo>
                  <a:pt x="2828" y="656"/>
                  <a:pt x="2859" y="655"/>
                  <a:pt x="2890" y="659"/>
                </a:cubicBezTo>
                <a:cubicBezTo>
                  <a:pt x="2908" y="661"/>
                  <a:pt x="2943" y="673"/>
                  <a:pt x="2943" y="673"/>
                </a:cubicBezTo>
                <a:cubicBezTo>
                  <a:pt x="2934" y="774"/>
                  <a:pt x="2923" y="835"/>
                  <a:pt x="2866" y="915"/>
                </a:cubicBezTo>
                <a:cubicBezTo>
                  <a:pt x="2855" y="948"/>
                  <a:pt x="2839" y="977"/>
                  <a:pt x="2832" y="1012"/>
                </a:cubicBezTo>
                <a:cubicBezTo>
                  <a:pt x="2835" y="1054"/>
                  <a:pt x="2821" y="1095"/>
                  <a:pt x="2856" y="1118"/>
                </a:cubicBezTo>
                <a:cubicBezTo>
                  <a:pt x="2870" y="1138"/>
                  <a:pt x="2879" y="1160"/>
                  <a:pt x="2895" y="1177"/>
                </a:cubicBezTo>
                <a:cubicBezTo>
                  <a:pt x="2907" y="1210"/>
                  <a:pt x="2925" y="1238"/>
                  <a:pt x="2934" y="1273"/>
                </a:cubicBezTo>
                <a:cubicBezTo>
                  <a:pt x="2932" y="1286"/>
                  <a:pt x="2932" y="1299"/>
                  <a:pt x="2929" y="1312"/>
                </a:cubicBezTo>
                <a:cubicBezTo>
                  <a:pt x="2927" y="1322"/>
                  <a:pt x="2919" y="1341"/>
                  <a:pt x="2919" y="1341"/>
                </a:cubicBezTo>
                <a:cubicBezTo>
                  <a:pt x="2921" y="1365"/>
                  <a:pt x="2910" y="1398"/>
                  <a:pt x="2929" y="1414"/>
                </a:cubicBezTo>
                <a:cubicBezTo>
                  <a:pt x="2949" y="1430"/>
                  <a:pt x="2988" y="1430"/>
                  <a:pt x="3011" y="1438"/>
                </a:cubicBezTo>
                <a:cubicBezTo>
                  <a:pt x="3023" y="1472"/>
                  <a:pt x="3034" y="1506"/>
                  <a:pt x="3045" y="1540"/>
                </a:cubicBezTo>
                <a:cubicBezTo>
                  <a:pt x="3051" y="1557"/>
                  <a:pt x="3046" y="1581"/>
                  <a:pt x="3060" y="1593"/>
                </a:cubicBezTo>
                <a:cubicBezTo>
                  <a:pt x="3087" y="1616"/>
                  <a:pt x="3131" y="1600"/>
                  <a:pt x="3166" y="1602"/>
                </a:cubicBezTo>
                <a:cubicBezTo>
                  <a:pt x="3163" y="1632"/>
                  <a:pt x="3160" y="1649"/>
                  <a:pt x="3152" y="1675"/>
                </a:cubicBezTo>
                <a:cubicBezTo>
                  <a:pt x="3155" y="1743"/>
                  <a:pt x="3138" y="1768"/>
                  <a:pt x="3176" y="1806"/>
                </a:cubicBezTo>
                <a:cubicBezTo>
                  <a:pt x="3192" y="1804"/>
                  <a:pt x="3208" y="1804"/>
                  <a:pt x="3224" y="1801"/>
                </a:cubicBezTo>
                <a:cubicBezTo>
                  <a:pt x="3234" y="1799"/>
                  <a:pt x="3253" y="1791"/>
                  <a:pt x="3253" y="1791"/>
                </a:cubicBezTo>
                <a:cubicBezTo>
                  <a:pt x="3322" y="1726"/>
                  <a:pt x="3308" y="1734"/>
                  <a:pt x="3423" y="1728"/>
                </a:cubicBezTo>
                <a:cubicBezTo>
                  <a:pt x="3436" y="1730"/>
                  <a:pt x="3449" y="1728"/>
                  <a:pt x="3461" y="1733"/>
                </a:cubicBezTo>
                <a:cubicBezTo>
                  <a:pt x="3471" y="1737"/>
                  <a:pt x="3486" y="1792"/>
                  <a:pt x="3495" y="1806"/>
                </a:cubicBezTo>
                <a:cubicBezTo>
                  <a:pt x="3514" y="1834"/>
                  <a:pt x="3555" y="1859"/>
                  <a:pt x="3587" y="1864"/>
                </a:cubicBezTo>
                <a:cubicBezTo>
                  <a:pt x="3604" y="1876"/>
                  <a:pt x="3609" y="1883"/>
                  <a:pt x="3631" y="1883"/>
                </a:cubicBezTo>
                <a:cubicBezTo>
                  <a:pt x="3648" y="1883"/>
                  <a:pt x="3678" y="1856"/>
                  <a:pt x="3689" y="1849"/>
                </a:cubicBezTo>
                <a:cubicBezTo>
                  <a:pt x="3710" y="1835"/>
                  <a:pt x="3743" y="1821"/>
                  <a:pt x="3761" y="1806"/>
                </a:cubicBezTo>
                <a:cubicBezTo>
                  <a:pt x="3784" y="1787"/>
                  <a:pt x="3806" y="1772"/>
                  <a:pt x="3834" y="1762"/>
                </a:cubicBezTo>
                <a:cubicBezTo>
                  <a:pt x="3853" y="1735"/>
                  <a:pt x="3890" y="1726"/>
                  <a:pt x="3921" y="1719"/>
                </a:cubicBezTo>
                <a:cubicBezTo>
                  <a:pt x="3929" y="1717"/>
                  <a:pt x="3937" y="1716"/>
                  <a:pt x="3945" y="1714"/>
                </a:cubicBezTo>
                <a:cubicBezTo>
                  <a:pt x="3950" y="1713"/>
                  <a:pt x="3960" y="1709"/>
                  <a:pt x="3960" y="1709"/>
                </a:cubicBezTo>
              </a:path>
            </a:pathLst>
          </a:custGeom>
          <a:noFill/>
          <a:ln w="38100" cap="flat" cmpd="sng">
            <a:solidFill>
              <a:schemeClr val="accent1"/>
            </a:solidFill>
            <a:prstDash val="solid"/>
            <a:round/>
            <a:headEnd/>
            <a:tailEnd/>
          </a:ln>
          <a:effectLst/>
        </p:spPr>
        <p:txBody>
          <a:bodyPr anchor="ctr"/>
          <a:lstStyle/>
          <a:p>
            <a:endParaRPr lang="fi-FI"/>
          </a:p>
        </p:txBody>
      </p:sp>
      <p:sp>
        <p:nvSpPr>
          <p:cNvPr id="54291" name="Oval 19"/>
          <p:cNvSpPr>
            <a:spLocks noChangeArrowheads="1"/>
          </p:cNvSpPr>
          <p:nvPr/>
        </p:nvSpPr>
        <p:spPr bwMode="auto">
          <a:xfrm>
            <a:off x="7010400" y="4876800"/>
            <a:ext cx="228600" cy="228600"/>
          </a:xfrm>
          <a:prstGeom prst="ellipse">
            <a:avLst/>
          </a:prstGeom>
          <a:solidFill>
            <a:schemeClr val="tx2"/>
          </a:solidFill>
          <a:ln w="9525">
            <a:solidFill>
              <a:schemeClr val="tx2"/>
            </a:solidFill>
            <a:round/>
            <a:headEnd/>
            <a:tailEnd/>
          </a:ln>
          <a:effectLst/>
        </p:spPr>
        <p:txBody>
          <a:bodyPr wrap="none" anchor="ctr"/>
          <a:lstStyle/>
          <a:p>
            <a:endParaRPr lang="fi-FI"/>
          </a:p>
        </p:txBody>
      </p:sp>
      <p:sp>
        <p:nvSpPr>
          <p:cNvPr id="23" name="Text Box 25"/>
          <p:cNvSpPr txBox="1">
            <a:spLocks noChangeArrowheads="1"/>
          </p:cNvSpPr>
          <p:nvPr/>
        </p:nvSpPr>
        <p:spPr bwMode="auto">
          <a:xfrm>
            <a:off x="457200" y="3886200"/>
            <a:ext cx="2971800" cy="366713"/>
          </a:xfrm>
          <a:prstGeom prst="rect">
            <a:avLst/>
          </a:prstGeom>
          <a:noFill/>
          <a:ln w="9525">
            <a:noFill/>
            <a:miter lim="800000"/>
            <a:headEnd/>
            <a:tailEnd/>
          </a:ln>
          <a:effectLst/>
        </p:spPr>
        <p:txBody>
          <a:bodyPr>
            <a:spAutoFit/>
          </a:bodyPr>
          <a:lstStyle/>
          <a:p>
            <a:pPr algn="ctr" eaLnBrk="1" hangingPunct="1">
              <a:spcBef>
                <a:spcPct val="50000"/>
              </a:spcBef>
            </a:pPr>
            <a:r>
              <a:rPr lang="en-GB" dirty="0" err="1" smtClean="0"/>
              <a:t>Oleelliset</a:t>
            </a:r>
            <a:r>
              <a:rPr lang="en-GB" dirty="0" smtClean="0"/>
              <a:t> </a:t>
            </a:r>
            <a:r>
              <a:rPr lang="en-GB" dirty="0" err="1" smtClean="0"/>
              <a:t>erot</a:t>
            </a:r>
            <a:r>
              <a:rPr lang="en-GB" dirty="0" smtClean="0"/>
              <a:t>:</a:t>
            </a:r>
            <a:endParaRPr lang="en-GB" dirty="0"/>
          </a:p>
        </p:txBody>
      </p:sp>
      <p:sp>
        <p:nvSpPr>
          <p:cNvPr id="24" name="Text Box 26"/>
          <p:cNvSpPr txBox="1">
            <a:spLocks noChangeArrowheads="1"/>
          </p:cNvSpPr>
          <p:nvPr/>
        </p:nvSpPr>
        <p:spPr bwMode="auto">
          <a:xfrm>
            <a:off x="304800" y="4419600"/>
            <a:ext cx="2286000" cy="1818063"/>
          </a:xfrm>
          <a:prstGeom prst="rect">
            <a:avLst/>
          </a:prstGeom>
          <a:noFill/>
          <a:ln w="12700">
            <a:noFill/>
            <a:miter lim="800000"/>
            <a:headEnd/>
            <a:tailEnd/>
          </a:ln>
          <a:effectLst/>
        </p:spPr>
        <p:txBody>
          <a:bodyPr wrap="square" lIns="90000" tIns="46800" rIns="90000" bIns="46800">
            <a:spAutoFit/>
          </a:bodyPr>
          <a:lstStyle/>
          <a:p>
            <a:pPr algn="ctr">
              <a:spcBef>
                <a:spcPct val="50000"/>
              </a:spcBef>
            </a:pPr>
            <a:r>
              <a:rPr lang="en-GB" sz="1600" b="1" dirty="0" smtClean="0">
                <a:solidFill>
                  <a:schemeClr val="accent1"/>
                </a:solidFill>
              </a:rPr>
              <a:t>SUUNNITELMAOHJATTU</a:t>
            </a:r>
            <a:endParaRPr lang="en-GB" sz="1600" b="1" dirty="0">
              <a:solidFill>
                <a:schemeClr val="accent1"/>
              </a:solidFill>
            </a:endParaRPr>
          </a:p>
          <a:p>
            <a:pPr algn="ctr">
              <a:spcBef>
                <a:spcPct val="50000"/>
              </a:spcBef>
            </a:pPr>
            <a:r>
              <a:rPr lang="en-GB" sz="1600" dirty="0" err="1" smtClean="0">
                <a:solidFill>
                  <a:schemeClr val="accent1"/>
                </a:solidFill>
              </a:rPr>
              <a:t>Sopii</a:t>
            </a:r>
            <a:r>
              <a:rPr lang="en-GB" sz="1600" dirty="0" smtClean="0">
                <a:solidFill>
                  <a:schemeClr val="accent1"/>
                </a:solidFill>
              </a:rPr>
              <a:t> </a:t>
            </a:r>
            <a:r>
              <a:rPr lang="en-GB" sz="1600" dirty="0" err="1" smtClean="0">
                <a:solidFill>
                  <a:schemeClr val="accent1"/>
                </a:solidFill>
              </a:rPr>
              <a:t>hyvin</a:t>
            </a:r>
            <a:r>
              <a:rPr lang="en-GB" sz="1600" dirty="0" smtClean="0">
                <a:solidFill>
                  <a:schemeClr val="accent1"/>
                </a:solidFill>
              </a:rPr>
              <a:t> </a:t>
            </a:r>
            <a:r>
              <a:rPr lang="en-GB" sz="1600" dirty="0" err="1" smtClean="0">
                <a:solidFill>
                  <a:schemeClr val="accent1"/>
                </a:solidFill>
              </a:rPr>
              <a:t>ymmärrettyihin</a:t>
            </a:r>
            <a:r>
              <a:rPr lang="en-GB" sz="1600" dirty="0" smtClean="0">
                <a:solidFill>
                  <a:schemeClr val="accent1"/>
                </a:solidFill>
              </a:rPr>
              <a:t>, </a:t>
            </a:r>
            <a:r>
              <a:rPr lang="en-GB" sz="1600" dirty="0" err="1" smtClean="0">
                <a:solidFill>
                  <a:schemeClr val="accent1"/>
                </a:solidFill>
              </a:rPr>
              <a:t>toistettaviin</a:t>
            </a:r>
            <a:r>
              <a:rPr lang="en-GB" sz="1600" dirty="0" smtClean="0">
                <a:solidFill>
                  <a:schemeClr val="accent1"/>
                </a:solidFill>
              </a:rPr>
              <a:t> </a:t>
            </a:r>
            <a:r>
              <a:rPr lang="en-GB" sz="1600" dirty="0" err="1" smtClean="0">
                <a:solidFill>
                  <a:schemeClr val="accent1"/>
                </a:solidFill>
              </a:rPr>
              <a:t>prosesseihin</a:t>
            </a:r>
            <a:endParaRPr lang="en-GB" sz="1600" dirty="0" smtClean="0">
              <a:solidFill>
                <a:schemeClr val="accent1"/>
              </a:solidFill>
            </a:endParaRPr>
          </a:p>
          <a:p>
            <a:pPr algn="ctr">
              <a:spcBef>
                <a:spcPct val="50000"/>
              </a:spcBef>
            </a:pPr>
            <a:r>
              <a:rPr lang="en-GB" sz="1600" dirty="0" err="1" smtClean="0">
                <a:solidFill>
                  <a:schemeClr val="accent1"/>
                </a:solidFill>
              </a:rPr>
              <a:t>Suunnitelma</a:t>
            </a:r>
            <a:r>
              <a:rPr lang="en-GB" sz="1600" dirty="0" smtClean="0">
                <a:solidFill>
                  <a:schemeClr val="accent1"/>
                </a:solidFill>
              </a:rPr>
              <a:t> </a:t>
            </a:r>
            <a:r>
              <a:rPr lang="en-GB" sz="1600" dirty="0" err="1" smtClean="0">
                <a:solidFill>
                  <a:schemeClr val="accent1"/>
                </a:solidFill>
              </a:rPr>
              <a:t>projektin</a:t>
            </a:r>
            <a:r>
              <a:rPr lang="en-GB" sz="1600" dirty="0" smtClean="0">
                <a:solidFill>
                  <a:schemeClr val="accent1"/>
                </a:solidFill>
              </a:rPr>
              <a:t> </a:t>
            </a:r>
            <a:r>
              <a:rPr lang="en-GB" sz="1600" dirty="0" err="1" smtClean="0">
                <a:solidFill>
                  <a:schemeClr val="accent1"/>
                </a:solidFill>
              </a:rPr>
              <a:t>keskipisteenä</a:t>
            </a:r>
            <a:endParaRPr lang="en-GB" sz="1600" dirty="0">
              <a:solidFill>
                <a:schemeClr val="accent1"/>
              </a:solidFill>
            </a:endParaRPr>
          </a:p>
        </p:txBody>
      </p:sp>
      <p:sp>
        <p:nvSpPr>
          <p:cNvPr id="25" name="Text Box 27"/>
          <p:cNvSpPr txBox="1">
            <a:spLocks noChangeArrowheads="1"/>
          </p:cNvSpPr>
          <p:nvPr/>
        </p:nvSpPr>
        <p:spPr bwMode="auto">
          <a:xfrm>
            <a:off x="2895600" y="4419600"/>
            <a:ext cx="2133600" cy="1818063"/>
          </a:xfrm>
          <a:prstGeom prst="rect">
            <a:avLst/>
          </a:prstGeom>
          <a:noFill/>
          <a:ln w="12700">
            <a:noFill/>
            <a:miter lim="800000"/>
            <a:headEnd/>
            <a:tailEnd/>
          </a:ln>
          <a:effectLst/>
        </p:spPr>
        <p:txBody>
          <a:bodyPr lIns="90000" tIns="46800" rIns="90000" bIns="46800">
            <a:spAutoFit/>
          </a:bodyPr>
          <a:lstStyle/>
          <a:p>
            <a:pPr algn="ctr">
              <a:spcBef>
                <a:spcPct val="50000"/>
              </a:spcBef>
            </a:pPr>
            <a:r>
              <a:rPr lang="en-GB" sz="1600" b="1" dirty="0" smtClean="0">
                <a:solidFill>
                  <a:schemeClr val="accent2"/>
                </a:solidFill>
              </a:rPr>
              <a:t>KETTERÄ</a:t>
            </a:r>
            <a:endParaRPr lang="en-GB" sz="1600" b="1" dirty="0">
              <a:solidFill>
                <a:schemeClr val="accent2"/>
              </a:solidFill>
            </a:endParaRPr>
          </a:p>
          <a:p>
            <a:pPr algn="ctr">
              <a:spcBef>
                <a:spcPct val="50000"/>
              </a:spcBef>
            </a:pPr>
            <a:r>
              <a:rPr lang="en-GB" sz="1600" dirty="0" err="1" smtClean="0">
                <a:solidFill>
                  <a:schemeClr val="accent2"/>
                </a:solidFill>
              </a:rPr>
              <a:t>Sopii</a:t>
            </a:r>
            <a:r>
              <a:rPr lang="en-GB" sz="1600" dirty="0" smtClean="0">
                <a:solidFill>
                  <a:schemeClr val="accent2"/>
                </a:solidFill>
              </a:rPr>
              <a:t> </a:t>
            </a:r>
            <a:r>
              <a:rPr lang="en-GB" sz="1600" dirty="0" err="1" smtClean="0">
                <a:solidFill>
                  <a:schemeClr val="accent2"/>
                </a:solidFill>
              </a:rPr>
              <a:t>monimutkaisiin</a:t>
            </a:r>
            <a:r>
              <a:rPr lang="en-GB" sz="1600" dirty="0" smtClean="0">
                <a:solidFill>
                  <a:schemeClr val="accent2"/>
                </a:solidFill>
              </a:rPr>
              <a:t> </a:t>
            </a:r>
            <a:r>
              <a:rPr lang="en-GB" sz="1600" dirty="0" err="1" smtClean="0">
                <a:solidFill>
                  <a:schemeClr val="accent2"/>
                </a:solidFill>
              </a:rPr>
              <a:t>vaikeasti</a:t>
            </a:r>
            <a:r>
              <a:rPr lang="en-GB" sz="1600" dirty="0" smtClean="0">
                <a:solidFill>
                  <a:schemeClr val="accent2"/>
                </a:solidFill>
              </a:rPr>
              <a:t> </a:t>
            </a:r>
            <a:r>
              <a:rPr lang="en-GB" sz="1600" dirty="0" err="1" smtClean="0">
                <a:solidFill>
                  <a:schemeClr val="accent2"/>
                </a:solidFill>
              </a:rPr>
              <a:t>ennustettaviin</a:t>
            </a:r>
            <a:r>
              <a:rPr lang="en-GB" sz="1600" dirty="0" smtClean="0">
                <a:solidFill>
                  <a:schemeClr val="accent2"/>
                </a:solidFill>
              </a:rPr>
              <a:t> </a:t>
            </a:r>
            <a:r>
              <a:rPr lang="en-GB" sz="1600" dirty="0" err="1" smtClean="0">
                <a:solidFill>
                  <a:schemeClr val="accent2"/>
                </a:solidFill>
              </a:rPr>
              <a:t>prosesseihin</a:t>
            </a:r>
            <a:endParaRPr lang="en-GB" sz="1600" dirty="0" smtClean="0">
              <a:solidFill>
                <a:schemeClr val="accent2"/>
              </a:solidFill>
            </a:endParaRPr>
          </a:p>
          <a:p>
            <a:pPr algn="ctr">
              <a:spcBef>
                <a:spcPct val="50000"/>
              </a:spcBef>
            </a:pPr>
            <a:r>
              <a:rPr lang="en-GB" sz="1600" dirty="0" err="1" smtClean="0">
                <a:solidFill>
                  <a:schemeClr val="accent2"/>
                </a:solidFill>
              </a:rPr>
              <a:t>Tulokset</a:t>
            </a:r>
            <a:r>
              <a:rPr lang="en-GB" sz="1600" dirty="0" smtClean="0">
                <a:solidFill>
                  <a:schemeClr val="accent2"/>
                </a:solidFill>
              </a:rPr>
              <a:t> </a:t>
            </a:r>
            <a:r>
              <a:rPr lang="en-GB" sz="1600" dirty="0" err="1" smtClean="0">
                <a:solidFill>
                  <a:schemeClr val="accent2"/>
                </a:solidFill>
              </a:rPr>
              <a:t>projektin</a:t>
            </a:r>
            <a:r>
              <a:rPr lang="en-GB" sz="1600" dirty="0" smtClean="0">
                <a:solidFill>
                  <a:schemeClr val="accent2"/>
                </a:solidFill>
              </a:rPr>
              <a:t> </a:t>
            </a:r>
            <a:r>
              <a:rPr lang="en-GB" sz="1600" dirty="0" err="1" smtClean="0">
                <a:solidFill>
                  <a:schemeClr val="accent2"/>
                </a:solidFill>
              </a:rPr>
              <a:t>keskipisteenä</a:t>
            </a:r>
            <a:endParaRPr lang="en-GB" sz="1600" dirty="0">
              <a:solidFill>
                <a:schemeClr val="accent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Perinteinen vs. ketterä testaus</a:t>
            </a:r>
            <a:endParaRPr lang="fi-FI"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dirty="0"/>
          </a:p>
        </p:txBody>
      </p:sp>
      <p:pic>
        <p:nvPicPr>
          <p:cNvPr id="20482" name="Picture 2"/>
          <p:cNvPicPr>
            <a:picLocks noChangeAspect="1" noChangeArrowheads="1"/>
          </p:cNvPicPr>
          <p:nvPr/>
        </p:nvPicPr>
        <p:blipFill>
          <a:blip r:embed="rId3" cstate="print"/>
          <a:srcRect/>
          <a:stretch>
            <a:fillRect/>
          </a:stretch>
        </p:blipFill>
        <p:spPr bwMode="auto">
          <a:xfrm>
            <a:off x="1039851" y="1329538"/>
            <a:ext cx="7265949" cy="4766462"/>
          </a:xfrm>
          <a:prstGeom prst="rect">
            <a:avLst/>
          </a:prstGeom>
          <a:noFill/>
          <a:ln w="9525">
            <a:noFill/>
            <a:miter lim="800000"/>
            <a:headEnd/>
            <a:tailEnd/>
          </a:ln>
        </p:spPr>
      </p:pic>
      <p:sp>
        <p:nvSpPr>
          <p:cNvPr id="13" name="TextBox 12"/>
          <p:cNvSpPr txBox="1"/>
          <p:nvPr/>
        </p:nvSpPr>
        <p:spPr>
          <a:xfrm>
            <a:off x="0" y="6550223"/>
            <a:ext cx="9448800" cy="307777"/>
          </a:xfrm>
          <a:prstGeom prst="rect">
            <a:avLst/>
          </a:prstGeom>
          <a:noFill/>
        </p:spPr>
        <p:txBody>
          <a:bodyPr wrap="square" rtlCol="0">
            <a:spAutoFit/>
          </a:bodyPr>
          <a:lstStyle/>
          <a:p>
            <a:r>
              <a:rPr lang="fi-FI" sz="1400" dirty="0" smtClean="0"/>
              <a:t>Lähde: Lisa Crispin&amp;Janet Gregory, http://www.informit.com/articles/article.aspx?p=1316250 </a:t>
            </a:r>
            <a:endParaRPr lang="fi-FI" sz="1400" dirty="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GB" dirty="0" err="1" smtClean="0"/>
              <a:t>Projekti</a:t>
            </a:r>
            <a:r>
              <a:rPr lang="en-GB" dirty="0" smtClean="0"/>
              <a:t> </a:t>
            </a:r>
            <a:r>
              <a:rPr lang="en-GB" dirty="0" err="1" smtClean="0"/>
              <a:t>ketterillä</a:t>
            </a:r>
            <a:r>
              <a:rPr lang="en-GB" dirty="0" smtClean="0"/>
              <a:t> </a:t>
            </a:r>
            <a:r>
              <a:rPr lang="en-GB" dirty="0" err="1" smtClean="0"/>
              <a:t>arvoilla</a:t>
            </a:r>
            <a:r>
              <a:rPr lang="en-GB" dirty="0" smtClean="0"/>
              <a:t> </a:t>
            </a:r>
            <a:r>
              <a:rPr lang="en-GB" dirty="0" err="1" smtClean="0"/>
              <a:t>ja</a:t>
            </a:r>
            <a:r>
              <a:rPr lang="en-GB" dirty="0" smtClean="0"/>
              <a:t> </a:t>
            </a:r>
            <a:r>
              <a:rPr lang="en-GB" dirty="0" err="1" smtClean="0"/>
              <a:t>menetelmillä</a:t>
            </a:r>
            <a:endParaRPr lang="en-US" dirty="0"/>
          </a:p>
        </p:txBody>
      </p:sp>
      <p:sp>
        <p:nvSpPr>
          <p:cNvPr id="3" name="Rectangle 2"/>
          <p:cNvSpPr/>
          <p:nvPr/>
        </p:nvSpPr>
        <p:spPr>
          <a:xfrm>
            <a:off x="500063" y="2185988"/>
            <a:ext cx="1643062"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Tuotteen</a:t>
            </a:r>
            <a:r>
              <a:rPr lang="en-GB" dirty="0"/>
              <a:t> </a:t>
            </a:r>
            <a:r>
              <a:rPr lang="en-GB" dirty="0" err="1"/>
              <a:t>työlista</a:t>
            </a:r>
            <a:r>
              <a:rPr lang="en-GB" dirty="0"/>
              <a:t> </a:t>
            </a:r>
            <a:endParaRPr lang="en-US" dirty="0"/>
          </a:p>
        </p:txBody>
      </p:sp>
      <p:sp>
        <p:nvSpPr>
          <p:cNvPr id="5" name="Rectangle 4"/>
          <p:cNvSpPr/>
          <p:nvPr/>
        </p:nvSpPr>
        <p:spPr>
          <a:xfrm>
            <a:off x="2786063" y="2185988"/>
            <a:ext cx="1785937"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Työlistan</a:t>
            </a:r>
            <a:r>
              <a:rPr lang="en-GB" dirty="0"/>
              <a:t> </a:t>
            </a:r>
            <a:r>
              <a:rPr lang="en-GB" dirty="0" err="1"/>
              <a:t>alkio</a:t>
            </a:r>
            <a:r>
              <a:rPr lang="en-GB" dirty="0"/>
              <a:t> 1</a:t>
            </a:r>
            <a:endParaRPr lang="en-US" dirty="0"/>
          </a:p>
        </p:txBody>
      </p:sp>
      <p:sp>
        <p:nvSpPr>
          <p:cNvPr id="6" name="Rectangle 5"/>
          <p:cNvSpPr/>
          <p:nvPr/>
        </p:nvSpPr>
        <p:spPr>
          <a:xfrm>
            <a:off x="4714875" y="2185988"/>
            <a:ext cx="1785938"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Työlistan</a:t>
            </a:r>
            <a:r>
              <a:rPr lang="en-GB" dirty="0"/>
              <a:t> </a:t>
            </a:r>
            <a:r>
              <a:rPr lang="en-GB" dirty="0" err="1"/>
              <a:t>alkio</a:t>
            </a:r>
            <a:r>
              <a:rPr lang="en-GB" dirty="0"/>
              <a:t> 2</a:t>
            </a:r>
            <a:endParaRPr lang="en-US" dirty="0"/>
          </a:p>
        </p:txBody>
      </p:sp>
      <p:sp>
        <p:nvSpPr>
          <p:cNvPr id="8" name="12-Point Star 7"/>
          <p:cNvSpPr/>
          <p:nvPr/>
        </p:nvSpPr>
        <p:spPr>
          <a:xfrm>
            <a:off x="71438" y="3328988"/>
            <a:ext cx="2500312" cy="1428750"/>
          </a:xfrm>
          <a:prstGeom prst="star12">
            <a:avLst/>
          </a:prstGeom>
        </p:spPr>
        <p:style>
          <a:lnRef idx="3">
            <a:schemeClr val="lt1"/>
          </a:lnRef>
          <a:fillRef idx="1">
            <a:schemeClr val="accent6"/>
          </a:fillRef>
          <a:effectRef idx="1">
            <a:schemeClr val="accent6"/>
          </a:effectRef>
          <a:fontRef idx="minor">
            <a:schemeClr val="lt1"/>
          </a:fontRef>
        </p:style>
        <p:txBody>
          <a:bodyPr anchor="ctr"/>
          <a:lstStyle/>
          <a:p>
            <a:pPr algn="ctr" fontAlgn="auto">
              <a:spcBef>
                <a:spcPts val="0"/>
              </a:spcBef>
              <a:spcAft>
                <a:spcPts val="0"/>
              </a:spcAft>
              <a:defRPr/>
            </a:pPr>
            <a:r>
              <a:rPr lang="en-GB" sz="1600" dirty="0" err="1"/>
              <a:t>Yleistestaus-suunnitelma</a:t>
            </a:r>
            <a:endParaRPr lang="en-US" sz="1600" dirty="0"/>
          </a:p>
        </p:txBody>
      </p:sp>
      <p:sp>
        <p:nvSpPr>
          <p:cNvPr id="9" name="Rectangle 8"/>
          <p:cNvSpPr/>
          <p:nvPr/>
        </p:nvSpPr>
        <p:spPr>
          <a:xfrm>
            <a:off x="2786063" y="6186488"/>
            <a:ext cx="3714750" cy="5000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Tuotteen</a:t>
            </a:r>
            <a:r>
              <a:rPr lang="en-GB" dirty="0"/>
              <a:t> </a:t>
            </a:r>
            <a:r>
              <a:rPr lang="en-GB" dirty="0" err="1"/>
              <a:t>työlistan</a:t>
            </a:r>
            <a:r>
              <a:rPr lang="en-GB" dirty="0"/>
              <a:t> </a:t>
            </a:r>
            <a:r>
              <a:rPr lang="en-GB" dirty="0" err="1"/>
              <a:t>päivitys</a:t>
            </a:r>
            <a:endParaRPr lang="en-US" dirty="0"/>
          </a:p>
        </p:txBody>
      </p:sp>
      <p:sp>
        <p:nvSpPr>
          <p:cNvPr id="62471" name="TextBox 9"/>
          <p:cNvSpPr txBox="1">
            <a:spLocks noChangeArrowheads="1"/>
          </p:cNvSpPr>
          <p:nvPr/>
        </p:nvSpPr>
        <p:spPr bwMode="auto">
          <a:xfrm>
            <a:off x="3429000" y="1828800"/>
            <a:ext cx="2286000" cy="369888"/>
          </a:xfrm>
          <a:prstGeom prst="rect">
            <a:avLst/>
          </a:prstGeom>
          <a:noFill/>
          <a:ln w="9525">
            <a:noFill/>
            <a:miter lim="800000"/>
            <a:headEnd/>
            <a:tailEnd/>
          </a:ln>
        </p:spPr>
        <p:txBody>
          <a:bodyPr>
            <a:spAutoFit/>
          </a:bodyPr>
          <a:lstStyle/>
          <a:p>
            <a:pPr algn="ctr"/>
            <a:r>
              <a:rPr lang="en-GB"/>
              <a:t>Toimituserä</a:t>
            </a:r>
            <a:endParaRPr lang="en-US"/>
          </a:p>
        </p:txBody>
      </p:sp>
      <p:sp>
        <p:nvSpPr>
          <p:cNvPr id="62472" name="TextBox 10"/>
          <p:cNvSpPr txBox="1">
            <a:spLocks noChangeArrowheads="1"/>
          </p:cNvSpPr>
          <p:nvPr/>
        </p:nvSpPr>
        <p:spPr bwMode="auto">
          <a:xfrm>
            <a:off x="142875" y="4686300"/>
            <a:ext cx="2714625" cy="923925"/>
          </a:xfrm>
          <a:prstGeom prst="rect">
            <a:avLst/>
          </a:prstGeom>
          <a:noFill/>
          <a:ln w="9525">
            <a:noFill/>
            <a:miter lim="800000"/>
            <a:headEnd/>
            <a:tailEnd/>
          </a:ln>
        </p:spPr>
        <p:txBody>
          <a:bodyPr>
            <a:spAutoFit/>
          </a:bodyPr>
          <a:lstStyle/>
          <a:p>
            <a:r>
              <a:rPr lang="en-GB" dirty="0" err="1"/>
              <a:t>Testausympäristö</a:t>
            </a:r>
            <a:r>
              <a:rPr lang="en-GB" dirty="0"/>
              <a:t>-</a:t>
            </a:r>
            <a:br>
              <a:rPr lang="en-GB" dirty="0"/>
            </a:br>
            <a:r>
              <a:rPr lang="en-GB" dirty="0" err="1"/>
              <a:t>tarpeet</a:t>
            </a:r>
            <a:endParaRPr lang="en-GB" dirty="0"/>
          </a:p>
          <a:p>
            <a:r>
              <a:rPr lang="en-GB" dirty="0" err="1"/>
              <a:t>Rekrytoinnit</a:t>
            </a:r>
            <a:endParaRPr lang="en-US" dirty="0"/>
          </a:p>
        </p:txBody>
      </p:sp>
      <p:cxnSp>
        <p:nvCxnSpPr>
          <p:cNvPr id="13" name="Elbow Connector 12"/>
          <p:cNvCxnSpPr>
            <a:stCxn id="3" idx="3"/>
            <a:endCxn id="5" idx="1"/>
          </p:cNvCxnSpPr>
          <p:nvPr/>
        </p:nvCxnSpPr>
        <p:spPr>
          <a:xfrm>
            <a:off x="2143125" y="2720975"/>
            <a:ext cx="642938" cy="1588"/>
          </a:xfrm>
          <a:prstGeom prst="bentConnector3">
            <a:avLst>
              <a:gd name="adj1" fmla="val 50000"/>
            </a:avLst>
          </a:prstGeom>
          <a:ln>
            <a:tailEnd type="arrow"/>
          </a:ln>
        </p:spPr>
        <p:style>
          <a:lnRef idx="3">
            <a:schemeClr val="accent1"/>
          </a:lnRef>
          <a:fillRef idx="0">
            <a:schemeClr val="accent1"/>
          </a:fillRef>
          <a:effectRef idx="2">
            <a:schemeClr val="accent1"/>
          </a:effectRef>
          <a:fontRef idx="minor">
            <a:schemeClr val="tx1"/>
          </a:fontRef>
        </p:style>
      </p:cxnSp>
      <p:sp>
        <p:nvSpPr>
          <p:cNvPr id="20" name="Rectangle 19"/>
          <p:cNvSpPr/>
          <p:nvPr/>
        </p:nvSpPr>
        <p:spPr>
          <a:xfrm>
            <a:off x="2786063" y="3328988"/>
            <a:ext cx="1785937" cy="1643062"/>
          </a:xfrm>
          <a:prstGeom prst="rect">
            <a:avLst/>
          </a:prstGeom>
        </p:spPr>
        <p:style>
          <a:lnRef idx="3">
            <a:schemeClr val="lt1"/>
          </a:lnRef>
          <a:fillRef idx="1">
            <a:schemeClr val="accent5"/>
          </a:fillRef>
          <a:effectRef idx="1">
            <a:schemeClr val="accent5"/>
          </a:effectRef>
          <a:fontRef idx="minor">
            <a:schemeClr val="lt1"/>
          </a:fontRef>
        </p:style>
        <p:txBody>
          <a:bodyPr anchor="ctr"/>
          <a:lstStyle/>
          <a:p>
            <a:pPr algn="ctr" fontAlgn="auto">
              <a:spcBef>
                <a:spcPts val="0"/>
              </a:spcBef>
              <a:spcAft>
                <a:spcPts val="0"/>
              </a:spcAft>
              <a:defRPr/>
            </a:pPr>
            <a:r>
              <a:rPr lang="en-GB" sz="1600" dirty="0" err="1" smtClean="0"/>
              <a:t>Muutoskohtainen</a:t>
            </a:r>
            <a:r>
              <a:rPr lang="en-GB" sz="1600" dirty="0" smtClean="0"/>
              <a:t> </a:t>
            </a:r>
            <a:r>
              <a:rPr lang="en-GB" sz="1600" dirty="0" err="1" smtClean="0"/>
              <a:t>testaussuun-nitelma</a:t>
            </a:r>
            <a:r>
              <a:rPr lang="en-GB" sz="1600" dirty="0" smtClean="0"/>
              <a:t> </a:t>
            </a:r>
            <a:r>
              <a:rPr lang="en-GB" sz="1600" dirty="0" err="1" smtClean="0"/>
              <a:t>aika-varauksin</a:t>
            </a:r>
            <a:r>
              <a:rPr lang="en-GB" sz="1600" dirty="0" smtClean="0"/>
              <a:t> </a:t>
            </a:r>
            <a:r>
              <a:rPr lang="en-GB" sz="1600" dirty="0" err="1" smtClean="0"/>
              <a:t>toteutusvaiheen</a:t>
            </a:r>
            <a:r>
              <a:rPr lang="en-GB" sz="1600" dirty="0" smtClean="0"/>
              <a:t> </a:t>
            </a:r>
            <a:r>
              <a:rPr lang="en-GB" sz="1600" dirty="0" err="1" smtClean="0"/>
              <a:t>työlistalle</a:t>
            </a:r>
            <a:endParaRPr lang="en-US" sz="1600" dirty="0"/>
          </a:p>
        </p:txBody>
      </p:sp>
      <p:sp>
        <p:nvSpPr>
          <p:cNvPr id="23" name="Rectangle 22"/>
          <p:cNvSpPr/>
          <p:nvPr/>
        </p:nvSpPr>
        <p:spPr>
          <a:xfrm>
            <a:off x="2786063" y="5043488"/>
            <a:ext cx="1785937" cy="1071562"/>
          </a:xfrm>
          <a:prstGeom prst="rect">
            <a:avLst/>
          </a:prstGeom>
        </p:spPr>
        <p:style>
          <a:lnRef idx="3">
            <a:schemeClr val="lt1"/>
          </a:lnRef>
          <a:fillRef idx="1">
            <a:schemeClr val="accent5"/>
          </a:fillRef>
          <a:effectRef idx="1">
            <a:schemeClr val="accent5"/>
          </a:effectRef>
          <a:fontRef idx="minor">
            <a:schemeClr val="lt1"/>
          </a:fontRef>
        </p:style>
        <p:txBody>
          <a:bodyPr anchor="ctr"/>
          <a:lstStyle/>
          <a:p>
            <a:pPr algn="ctr" fontAlgn="auto">
              <a:spcBef>
                <a:spcPts val="0"/>
              </a:spcBef>
              <a:spcAft>
                <a:spcPts val="0"/>
              </a:spcAft>
              <a:defRPr/>
            </a:pPr>
            <a:r>
              <a:rPr lang="en-GB" sz="1600" dirty="0" err="1" smtClean="0"/>
              <a:t>Hyväksymistestien</a:t>
            </a:r>
            <a:r>
              <a:rPr lang="en-GB" sz="1600" dirty="0" smtClean="0"/>
              <a:t> </a:t>
            </a:r>
            <a:r>
              <a:rPr lang="en-GB" sz="1600" dirty="0" err="1" smtClean="0"/>
              <a:t>määrittely</a:t>
            </a:r>
            <a:r>
              <a:rPr lang="en-GB" sz="1600" dirty="0" smtClean="0"/>
              <a:t>, </a:t>
            </a:r>
            <a:r>
              <a:rPr lang="en-GB" sz="1600" dirty="0" err="1" smtClean="0"/>
              <a:t>automatisointi</a:t>
            </a:r>
            <a:r>
              <a:rPr lang="en-GB" sz="1600" dirty="0" smtClean="0"/>
              <a:t> </a:t>
            </a:r>
            <a:r>
              <a:rPr lang="en-GB" sz="1600" dirty="0" err="1" smtClean="0"/>
              <a:t>ja</a:t>
            </a:r>
            <a:r>
              <a:rPr lang="en-GB" sz="1600" dirty="0" smtClean="0"/>
              <a:t> </a:t>
            </a:r>
            <a:r>
              <a:rPr lang="en-GB" sz="1600" dirty="0" err="1" smtClean="0"/>
              <a:t>suoritus</a:t>
            </a:r>
            <a:endParaRPr lang="en-US" sz="1600" dirty="0"/>
          </a:p>
        </p:txBody>
      </p:sp>
      <p:sp>
        <p:nvSpPr>
          <p:cNvPr id="26" name="Rectangle 25"/>
          <p:cNvSpPr/>
          <p:nvPr/>
        </p:nvSpPr>
        <p:spPr>
          <a:xfrm>
            <a:off x="4714875" y="3328988"/>
            <a:ext cx="1785938" cy="1643062"/>
          </a:xfrm>
          <a:prstGeom prst="rect">
            <a:avLst/>
          </a:prstGeom>
        </p:spPr>
        <p:style>
          <a:lnRef idx="3">
            <a:schemeClr val="lt1"/>
          </a:lnRef>
          <a:fillRef idx="1">
            <a:schemeClr val="accent5"/>
          </a:fillRef>
          <a:effectRef idx="1">
            <a:schemeClr val="accent5"/>
          </a:effectRef>
          <a:fontRef idx="minor">
            <a:schemeClr val="lt1"/>
          </a:fontRef>
        </p:style>
        <p:txBody>
          <a:bodyPr anchor="ctr"/>
          <a:lstStyle/>
          <a:p>
            <a:pPr algn="ctr" fontAlgn="auto">
              <a:spcBef>
                <a:spcPts val="0"/>
              </a:spcBef>
              <a:spcAft>
                <a:spcPts val="0"/>
              </a:spcAft>
              <a:defRPr/>
            </a:pPr>
            <a:r>
              <a:rPr lang="en-GB" sz="1600" dirty="0" err="1" smtClean="0"/>
              <a:t>Muutoskohtainen</a:t>
            </a:r>
            <a:r>
              <a:rPr lang="en-GB" sz="1600" dirty="0" smtClean="0"/>
              <a:t> </a:t>
            </a:r>
            <a:r>
              <a:rPr lang="en-GB" sz="1600" dirty="0" err="1" smtClean="0"/>
              <a:t>testaussuun-nitelma</a:t>
            </a:r>
            <a:r>
              <a:rPr lang="en-GB" sz="1600" dirty="0" smtClean="0"/>
              <a:t> </a:t>
            </a:r>
            <a:r>
              <a:rPr lang="en-GB" sz="1600" dirty="0" err="1" smtClean="0"/>
              <a:t>aika-varauksin</a:t>
            </a:r>
            <a:r>
              <a:rPr lang="en-GB" sz="1600" dirty="0" smtClean="0"/>
              <a:t> </a:t>
            </a:r>
            <a:r>
              <a:rPr lang="en-GB" sz="1600" dirty="0" err="1"/>
              <a:t>toteutusvaiheen</a:t>
            </a:r>
            <a:r>
              <a:rPr lang="en-GB" sz="1600" dirty="0"/>
              <a:t> </a:t>
            </a:r>
            <a:r>
              <a:rPr lang="en-GB" sz="1600" dirty="0" err="1"/>
              <a:t>työlistalle</a:t>
            </a:r>
            <a:endParaRPr lang="en-US" sz="1600" dirty="0"/>
          </a:p>
        </p:txBody>
      </p:sp>
      <p:sp>
        <p:nvSpPr>
          <p:cNvPr id="27" name="Rectangle 26"/>
          <p:cNvSpPr/>
          <p:nvPr/>
        </p:nvSpPr>
        <p:spPr>
          <a:xfrm>
            <a:off x="4714875" y="5043488"/>
            <a:ext cx="1785938" cy="1071562"/>
          </a:xfrm>
          <a:prstGeom prst="rect">
            <a:avLst/>
          </a:prstGeom>
        </p:spPr>
        <p:style>
          <a:lnRef idx="3">
            <a:schemeClr val="lt1"/>
          </a:lnRef>
          <a:fillRef idx="1">
            <a:schemeClr val="accent5"/>
          </a:fillRef>
          <a:effectRef idx="1">
            <a:schemeClr val="accent5"/>
          </a:effectRef>
          <a:fontRef idx="minor">
            <a:schemeClr val="lt1"/>
          </a:fontRef>
        </p:style>
        <p:txBody>
          <a:bodyPr anchor="ctr"/>
          <a:lstStyle/>
          <a:p>
            <a:pPr algn="ctr" fontAlgn="auto">
              <a:spcBef>
                <a:spcPts val="0"/>
              </a:spcBef>
              <a:spcAft>
                <a:spcPts val="0"/>
              </a:spcAft>
              <a:defRPr/>
            </a:pPr>
            <a:r>
              <a:rPr lang="en-GB" sz="1600" dirty="0" err="1" smtClean="0"/>
              <a:t>Hyväksymistestien</a:t>
            </a:r>
            <a:r>
              <a:rPr lang="en-GB" sz="1600" dirty="0" smtClean="0"/>
              <a:t> </a:t>
            </a:r>
            <a:r>
              <a:rPr lang="en-GB" sz="1600" dirty="0" err="1"/>
              <a:t>määrittely</a:t>
            </a:r>
            <a:r>
              <a:rPr lang="en-GB" sz="1600" dirty="0"/>
              <a:t>, </a:t>
            </a:r>
            <a:r>
              <a:rPr lang="en-GB" sz="1600" dirty="0" err="1"/>
              <a:t>automatisointi</a:t>
            </a:r>
            <a:r>
              <a:rPr lang="en-GB" sz="1600" dirty="0"/>
              <a:t> </a:t>
            </a:r>
            <a:r>
              <a:rPr lang="en-GB" sz="1600" dirty="0" err="1"/>
              <a:t>ja</a:t>
            </a:r>
            <a:r>
              <a:rPr lang="en-GB" sz="1600" dirty="0"/>
              <a:t> </a:t>
            </a:r>
            <a:r>
              <a:rPr lang="en-GB" sz="1600" dirty="0" err="1"/>
              <a:t>suoritus</a:t>
            </a:r>
            <a:endParaRPr lang="en-US" sz="1600" dirty="0"/>
          </a:p>
        </p:txBody>
      </p:sp>
      <p:sp>
        <p:nvSpPr>
          <p:cNvPr id="28" name="Rectangle 27"/>
          <p:cNvSpPr/>
          <p:nvPr/>
        </p:nvSpPr>
        <p:spPr>
          <a:xfrm>
            <a:off x="7000875" y="2185988"/>
            <a:ext cx="1643063" cy="107156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fontAlgn="auto">
              <a:spcBef>
                <a:spcPts val="0"/>
              </a:spcBef>
              <a:spcAft>
                <a:spcPts val="0"/>
              </a:spcAft>
              <a:defRPr/>
            </a:pPr>
            <a:r>
              <a:rPr lang="en-GB" dirty="0" err="1"/>
              <a:t>Tuotteen</a:t>
            </a:r>
            <a:r>
              <a:rPr lang="en-GB" dirty="0"/>
              <a:t> </a:t>
            </a:r>
            <a:r>
              <a:rPr lang="en-GB" dirty="0" err="1"/>
              <a:t>työlista</a:t>
            </a:r>
            <a:r>
              <a:rPr lang="en-GB" dirty="0"/>
              <a:t> </a:t>
            </a:r>
            <a:endParaRPr lang="en-US" dirty="0"/>
          </a:p>
        </p:txBody>
      </p:sp>
      <p:cxnSp>
        <p:nvCxnSpPr>
          <p:cNvPr id="30" name="Elbow Connector 29"/>
          <p:cNvCxnSpPr>
            <a:stCxn id="6" idx="3"/>
            <a:endCxn id="28" idx="1"/>
          </p:cNvCxnSpPr>
          <p:nvPr/>
        </p:nvCxnSpPr>
        <p:spPr>
          <a:xfrm>
            <a:off x="6500813" y="2720975"/>
            <a:ext cx="500062" cy="1588"/>
          </a:xfrm>
          <a:prstGeom prst="bentConnector3">
            <a:avLst>
              <a:gd name="adj1" fmla="val 50000"/>
            </a:avLst>
          </a:prstGeom>
          <a:ln>
            <a:tailEnd type="arrow"/>
          </a:ln>
        </p:spPr>
        <p:style>
          <a:lnRef idx="3">
            <a:schemeClr val="accent4"/>
          </a:lnRef>
          <a:fillRef idx="0">
            <a:schemeClr val="accent4"/>
          </a:fillRef>
          <a:effectRef idx="2">
            <a:schemeClr val="accent4"/>
          </a:effectRef>
          <a:fontRef idx="minor">
            <a:schemeClr val="tx1"/>
          </a:fontRef>
        </p:style>
      </p:cxnSp>
      <p:cxnSp>
        <p:nvCxnSpPr>
          <p:cNvPr id="32" name="Elbow Connector 31"/>
          <p:cNvCxnSpPr>
            <a:stCxn id="9" idx="3"/>
            <a:endCxn id="28" idx="1"/>
          </p:cNvCxnSpPr>
          <p:nvPr/>
        </p:nvCxnSpPr>
        <p:spPr>
          <a:xfrm flipV="1">
            <a:off x="6500813" y="2720975"/>
            <a:ext cx="500062" cy="3716338"/>
          </a:xfrm>
          <a:prstGeom prst="bentConnector3">
            <a:avLst>
              <a:gd name="adj1" fmla="val 50000"/>
            </a:avLst>
          </a:prstGeom>
          <a:ln>
            <a:tailEnd type="arrow"/>
          </a:ln>
        </p:spPr>
        <p:style>
          <a:lnRef idx="2">
            <a:schemeClr val="accent4"/>
          </a:lnRef>
          <a:fillRef idx="0">
            <a:schemeClr val="accent4"/>
          </a:fillRef>
          <a:effectRef idx="1">
            <a:schemeClr val="accent4"/>
          </a:effectRef>
          <a:fontRef idx="minor">
            <a:schemeClr val="tx1"/>
          </a:fontRef>
        </p:style>
      </p:cxnSp>
      <p:sp>
        <p:nvSpPr>
          <p:cNvPr id="18" name="Slide Number Placeholder 17"/>
          <p:cNvSpPr>
            <a:spLocks noGrp="1"/>
          </p:cNvSpPr>
          <p:nvPr>
            <p:ph type="sldNum" sz="quarter" idx="12"/>
          </p:nvPr>
        </p:nvSpPr>
        <p:spPr/>
        <p:txBody>
          <a:bodyPr/>
          <a:lstStyle/>
          <a:p>
            <a:pPr>
              <a:defRPr/>
            </a:pPr>
            <a:fld id="{505C1A46-F732-4306-A3F4-5F8FFE4D3D26}" type="slidenum">
              <a:rPr lang="sv-SE"/>
              <a:pPr>
                <a:defRPr/>
              </a:pPr>
              <a:t>12</a:t>
            </a:fld>
            <a:endParaRPr lang="sv-SE"/>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smtClean="0"/>
              <a:t>Perinteiset testaustavat eivät toimi</a:t>
            </a:r>
            <a:endParaRPr lang="fi-FI" dirty="0"/>
          </a:p>
        </p:txBody>
      </p:sp>
      <p:sp>
        <p:nvSpPr>
          <p:cNvPr id="3" name="Content Placeholder 2"/>
          <p:cNvSpPr>
            <a:spLocks noGrp="1"/>
          </p:cNvSpPr>
          <p:nvPr>
            <p:ph sz="half" idx="1"/>
          </p:nvPr>
        </p:nvSpPr>
        <p:spPr/>
        <p:txBody>
          <a:bodyPr>
            <a:normAutofit fontScale="77500" lnSpcReduction="20000"/>
          </a:bodyPr>
          <a:lstStyle/>
          <a:p>
            <a:r>
              <a:rPr lang="fi-FI" dirty="0" smtClean="0"/>
              <a:t>Yksityiskohtainen testien suunnittelu</a:t>
            </a:r>
          </a:p>
          <a:p>
            <a:pPr lvl="1"/>
            <a:r>
              <a:rPr lang="fi-FI" dirty="0" smtClean="0"/>
              <a:t>Ei riittävästi aikaa eikä arvoa perinteisessä muodossaan</a:t>
            </a:r>
          </a:p>
          <a:p>
            <a:r>
              <a:rPr lang="fi-FI" dirty="0" smtClean="0"/>
              <a:t>Aikavälin varaaminen vain testaukselle ja sen kattavuudelle</a:t>
            </a:r>
          </a:p>
          <a:p>
            <a:pPr lvl="1"/>
            <a:r>
              <a:rPr lang="fi-FI" dirty="0" smtClean="0"/>
              <a:t>Ei aloitus ja lopetuskriteerejä, vaiheita ja tasoja, vaan jatkuvaa työtä</a:t>
            </a:r>
          </a:p>
          <a:p>
            <a:pPr lvl="1"/>
            <a:r>
              <a:rPr lang="fi-FI" dirty="0" smtClean="0"/>
              <a:t>Muutoksia tapahtuu myös testauksen aikana</a:t>
            </a:r>
          </a:p>
          <a:p>
            <a:r>
              <a:rPr lang="fi-FI" dirty="0" smtClean="0"/>
              <a:t>Muutoksen hallinta</a:t>
            </a:r>
          </a:p>
          <a:p>
            <a:pPr lvl="1"/>
            <a:r>
              <a:rPr lang="fi-FI" dirty="0" smtClean="0"/>
              <a:t>Muutoksia ei valita huolellisesti tiimin ulkopuolisten asiantuntijoiden toimesta</a:t>
            </a:r>
          </a:p>
        </p:txBody>
      </p:sp>
      <p:sp>
        <p:nvSpPr>
          <p:cNvPr id="4" name="Content Placeholder 3"/>
          <p:cNvSpPr>
            <a:spLocks noGrp="1"/>
          </p:cNvSpPr>
          <p:nvPr>
            <p:ph sz="half" idx="2"/>
          </p:nvPr>
        </p:nvSpPr>
        <p:spPr/>
        <p:txBody>
          <a:bodyPr>
            <a:normAutofit fontScale="77500" lnSpcReduction="20000"/>
          </a:bodyPr>
          <a:lstStyle/>
          <a:p>
            <a:r>
              <a:rPr lang="fi-FI" dirty="0" smtClean="0"/>
              <a:t>Määrittelyjen rooli oikeiden vastausten lähteenä laadulle</a:t>
            </a:r>
          </a:p>
          <a:p>
            <a:pPr lvl="1"/>
            <a:r>
              <a:rPr lang="fi-FI" dirty="0" smtClean="0"/>
              <a:t>Ei määrittelevää lähdettä sille mikä on riittävän hyvä, tiimi rakentaa määrittelyjä työn edetessä palasissa</a:t>
            </a:r>
          </a:p>
          <a:p>
            <a:r>
              <a:rPr lang="fi-FI" dirty="0" smtClean="0"/>
              <a:t>Testausvastaava linjaa suunnitelmia vähemmän osaaville testaajille</a:t>
            </a:r>
          </a:p>
          <a:p>
            <a:pPr lvl="1"/>
            <a:r>
              <a:rPr lang="fi-FI" dirty="0" smtClean="0"/>
              <a:t>Roolien uudelleenmäärittely</a:t>
            </a:r>
          </a:p>
          <a:p>
            <a:r>
              <a:rPr lang="fi-FI" dirty="0" smtClean="0"/>
              <a:t>Testauksen näkeminen testaajien aktiviteettina</a:t>
            </a:r>
          </a:p>
          <a:p>
            <a:pPr lvl="1"/>
            <a:r>
              <a:rPr lang="fi-FI" dirty="0" smtClean="0"/>
              <a:t>Kaikki testaavat. Vahvistava yksikkötestaus on tärkeää, mutta ei ainoa näkökulma.</a:t>
            </a:r>
            <a:endParaRPr lang="fi-FI"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a:p>
        </p:txBody>
      </p:sp>
    </p:spTree>
  </p:cSld>
  <p:clrMapOvr>
    <a:masterClrMapping/>
  </p:clrMapOvr>
  <p:transition xmlns:p14="http://schemas.microsoft.com/office/powerpoint/2010/main"/>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fi-FI" dirty="0" smtClean="0"/>
              <a:t>”Yksikkö” ja ”Hyväksymis”testauksien merkityksen vaihdos</a:t>
            </a:r>
            <a:endParaRPr lang="fi-FI" dirty="0"/>
          </a:p>
        </p:txBody>
      </p:sp>
      <p:sp>
        <p:nvSpPr>
          <p:cNvPr id="4" name="Content Placeholder 3"/>
          <p:cNvSpPr>
            <a:spLocks noGrp="1"/>
          </p:cNvSpPr>
          <p:nvPr>
            <p:ph idx="1"/>
          </p:nvPr>
        </p:nvSpPr>
        <p:spPr/>
        <p:txBody>
          <a:bodyPr>
            <a:normAutofit fontScale="70000" lnSpcReduction="20000"/>
          </a:bodyPr>
          <a:lstStyle/>
          <a:p>
            <a:r>
              <a:rPr lang="fi-FI" dirty="0" smtClean="0"/>
              <a:t>Perinteisesti:</a:t>
            </a:r>
          </a:p>
          <a:p>
            <a:pPr lvl="1"/>
            <a:r>
              <a:rPr lang="fi-FI" dirty="0" smtClean="0"/>
              <a:t>Yksikkötestaus</a:t>
            </a:r>
          </a:p>
          <a:p>
            <a:pPr lvl="2"/>
            <a:r>
              <a:rPr lang="fi-FI" dirty="0" smtClean="0"/>
              <a:t>Koodi on yksikkö</a:t>
            </a:r>
          </a:p>
          <a:p>
            <a:pPr lvl="2"/>
            <a:r>
              <a:rPr lang="fi-FI" dirty="0" smtClean="0"/>
              <a:t>Jokaisella koodipalalla on omistaja, palan testaaminen muista irrallaan on yksikkötestausta</a:t>
            </a:r>
          </a:p>
          <a:p>
            <a:pPr lvl="1"/>
            <a:r>
              <a:rPr lang="fi-FI" dirty="0" smtClean="0"/>
              <a:t>Hyväksymistestaus</a:t>
            </a:r>
          </a:p>
          <a:p>
            <a:pPr lvl="2"/>
            <a:r>
              <a:rPr lang="fi-FI" dirty="0" smtClean="0"/>
              <a:t>Jotain mitä asiakas tekee projektin lopuksi</a:t>
            </a:r>
            <a:endParaRPr lang="fi-FI" dirty="0"/>
          </a:p>
          <a:p>
            <a:r>
              <a:rPr lang="fi-FI" dirty="0" smtClean="0"/>
              <a:t>Ketterissä menetelmissä:</a:t>
            </a:r>
          </a:p>
          <a:p>
            <a:pPr lvl="1"/>
            <a:r>
              <a:rPr lang="fi-FI" dirty="0" smtClean="0"/>
              <a:t>Yksikkötestaus</a:t>
            </a:r>
          </a:p>
          <a:p>
            <a:pPr lvl="2"/>
            <a:r>
              <a:rPr lang="fi-FI" dirty="0" smtClean="0"/>
              <a:t>Yksikkö on toiminnallisuus joka koodiin toteutetaan</a:t>
            </a:r>
          </a:p>
          <a:p>
            <a:pPr lvl="2"/>
            <a:r>
              <a:rPr lang="fi-FI" dirty="0" smtClean="0"/>
              <a:t>Yhteisen koodiomistajuuden mukaantulo mahdollistaa yksiköiden laajemman ajattelun</a:t>
            </a:r>
          </a:p>
          <a:p>
            <a:pPr lvl="1"/>
            <a:r>
              <a:rPr lang="fi-FI" dirty="0" smtClean="0"/>
              <a:t>Hyväksymistestaus</a:t>
            </a:r>
          </a:p>
          <a:p>
            <a:pPr lvl="2"/>
            <a:r>
              <a:rPr lang="fi-FI" dirty="0" smtClean="0"/>
              <a:t>Mikä tahansa korkeamman tason testi järjestelmälle</a:t>
            </a:r>
          </a:p>
          <a:p>
            <a:pPr lvl="2"/>
            <a:r>
              <a:rPr lang="fi-FI" dirty="0" smtClean="0"/>
              <a:t>Jatkuva hyväksyntä julkaisua varten ideana</a:t>
            </a:r>
          </a:p>
        </p:txBody>
      </p:sp>
      <p:sp>
        <p:nvSpPr>
          <p:cNvPr id="5" name="Slide Number Placeholder 4"/>
          <p:cNvSpPr>
            <a:spLocks noGrp="1"/>
          </p:cNvSpPr>
          <p:nvPr>
            <p:ph type="sldNum" sz="quarter" idx="12"/>
          </p:nvPr>
        </p:nvSpPr>
        <p:spPr/>
        <p:txBody>
          <a:bodyPr/>
          <a:lstStyle/>
          <a:p>
            <a:fld id="{B6F15528-21DE-4FAA-801E-634DDDAF4B2B}" type="slidenum">
              <a:rPr lang="en-US" smtClean="0"/>
              <a:pPr/>
              <a:t>14</a:t>
            </a:fld>
            <a:endParaRPr lang="en-US"/>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ight Arrow 17"/>
          <p:cNvSpPr/>
          <p:nvPr/>
        </p:nvSpPr>
        <p:spPr>
          <a:xfrm>
            <a:off x="533400" y="1219200"/>
            <a:ext cx="8534400" cy="5486400"/>
          </a:xfrm>
          <a:prstGeom prst="rightArrow">
            <a:avLst>
              <a:gd name="adj1" fmla="val 50000"/>
              <a:gd name="adj2" fmla="val 35073"/>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fi-FI"/>
          </a:p>
        </p:txBody>
      </p:sp>
      <p:sp>
        <p:nvSpPr>
          <p:cNvPr id="2" name="Title 1"/>
          <p:cNvSpPr>
            <a:spLocks noGrp="1"/>
          </p:cNvSpPr>
          <p:nvPr>
            <p:ph type="title"/>
          </p:nvPr>
        </p:nvSpPr>
        <p:spPr/>
        <p:txBody>
          <a:bodyPr/>
          <a:lstStyle/>
          <a:p>
            <a:r>
              <a:rPr lang="fi-FI" dirty="0" smtClean="0"/>
              <a:t>Testiohjattu kehitystapa</a:t>
            </a:r>
            <a:endParaRPr lang="fi-FI" dirty="0"/>
          </a:p>
        </p:txBody>
      </p:sp>
      <p:sp>
        <p:nvSpPr>
          <p:cNvPr id="4" name="Rounded Rectangle 3"/>
          <p:cNvSpPr/>
          <p:nvPr/>
        </p:nvSpPr>
        <p:spPr>
          <a:xfrm>
            <a:off x="1371600" y="2895600"/>
            <a:ext cx="1510416" cy="10668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ATDD / Suunnittelu esimerkein</a:t>
            </a:r>
            <a:endParaRPr lang="fi-FI" dirty="0"/>
          </a:p>
        </p:txBody>
      </p:sp>
      <p:sp>
        <p:nvSpPr>
          <p:cNvPr id="5" name="Rounded Rectangle 4"/>
          <p:cNvSpPr/>
          <p:nvPr/>
        </p:nvSpPr>
        <p:spPr>
          <a:xfrm>
            <a:off x="3048000" y="2895600"/>
            <a:ext cx="5105400" cy="6096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Automatisoi &amp; suorita</a:t>
            </a:r>
            <a:endParaRPr lang="fi-FI" dirty="0"/>
          </a:p>
        </p:txBody>
      </p:sp>
      <p:sp>
        <p:nvSpPr>
          <p:cNvPr id="8" name="Rounded Rectangle 7"/>
          <p:cNvSpPr/>
          <p:nvPr/>
        </p:nvSpPr>
        <p:spPr>
          <a:xfrm>
            <a:off x="3098419" y="42672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9" name="Rounded Rectangle 8"/>
          <p:cNvSpPr/>
          <p:nvPr/>
        </p:nvSpPr>
        <p:spPr>
          <a:xfrm>
            <a:off x="3737749" y="42672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10" name="Rounded Rectangle 9"/>
          <p:cNvSpPr/>
          <p:nvPr/>
        </p:nvSpPr>
        <p:spPr>
          <a:xfrm>
            <a:off x="4377078" y="42672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11" name="Rounded Rectangle 10"/>
          <p:cNvSpPr/>
          <p:nvPr/>
        </p:nvSpPr>
        <p:spPr>
          <a:xfrm>
            <a:off x="5016408" y="42672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12" name="Rounded Rectangle 11"/>
          <p:cNvSpPr/>
          <p:nvPr/>
        </p:nvSpPr>
        <p:spPr>
          <a:xfrm>
            <a:off x="5655738" y="42672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13" name="Rounded Rectangle 12"/>
          <p:cNvSpPr/>
          <p:nvPr/>
        </p:nvSpPr>
        <p:spPr>
          <a:xfrm>
            <a:off x="6295067" y="42672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14" name="Rounded Rectangle 13"/>
          <p:cNvSpPr/>
          <p:nvPr/>
        </p:nvSpPr>
        <p:spPr>
          <a:xfrm>
            <a:off x="6934397" y="42672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15" name="Rounded Rectangle 14"/>
          <p:cNvSpPr/>
          <p:nvPr/>
        </p:nvSpPr>
        <p:spPr>
          <a:xfrm>
            <a:off x="7573726" y="42672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16" name="Rounded Rectangle 15"/>
          <p:cNvSpPr/>
          <p:nvPr/>
        </p:nvSpPr>
        <p:spPr>
          <a:xfrm>
            <a:off x="3046336" y="3581400"/>
            <a:ext cx="5098024" cy="3810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fi-FI" dirty="0" smtClean="0"/>
              <a:t>ATDD / Päivitykset viimeisistä opeista</a:t>
            </a:r>
            <a:endParaRPr lang="fi-FI" dirty="0"/>
          </a:p>
        </p:txBody>
      </p:sp>
      <p:cxnSp>
        <p:nvCxnSpPr>
          <p:cNvPr id="20" name="Straight Connector 19"/>
          <p:cNvCxnSpPr/>
          <p:nvPr/>
        </p:nvCxnSpPr>
        <p:spPr>
          <a:xfrm>
            <a:off x="685800" y="4114800"/>
            <a:ext cx="7458560" cy="0"/>
          </a:xfrm>
          <a:prstGeom prst="line">
            <a:avLst/>
          </a:prstGeom>
          <a:ln>
            <a:prstDash val="dash"/>
          </a:ln>
        </p:spPr>
        <p:style>
          <a:lnRef idx="3">
            <a:schemeClr val="accent2"/>
          </a:lnRef>
          <a:fillRef idx="0">
            <a:schemeClr val="accent2"/>
          </a:fillRef>
          <a:effectRef idx="2">
            <a:schemeClr val="accent2"/>
          </a:effectRef>
          <a:fontRef idx="minor">
            <a:schemeClr val="tx1"/>
          </a:fontRef>
        </p:style>
      </p:cxnSp>
      <p:sp>
        <p:nvSpPr>
          <p:cNvPr id="24" name="Rounded Rectangle 23"/>
          <p:cNvSpPr/>
          <p:nvPr/>
        </p:nvSpPr>
        <p:spPr>
          <a:xfrm>
            <a:off x="3093656" y="47244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25" name="Rounded Rectangle 24"/>
          <p:cNvSpPr/>
          <p:nvPr/>
        </p:nvSpPr>
        <p:spPr>
          <a:xfrm>
            <a:off x="3732986" y="47244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26" name="Rounded Rectangle 25"/>
          <p:cNvSpPr/>
          <p:nvPr/>
        </p:nvSpPr>
        <p:spPr>
          <a:xfrm>
            <a:off x="4372315" y="47244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27" name="Rounded Rectangle 26"/>
          <p:cNvSpPr/>
          <p:nvPr/>
        </p:nvSpPr>
        <p:spPr>
          <a:xfrm>
            <a:off x="5011645" y="47244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28" name="Rounded Rectangle 27"/>
          <p:cNvSpPr/>
          <p:nvPr/>
        </p:nvSpPr>
        <p:spPr>
          <a:xfrm>
            <a:off x="5650975" y="47244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29" name="Rounded Rectangle 28"/>
          <p:cNvSpPr/>
          <p:nvPr/>
        </p:nvSpPr>
        <p:spPr>
          <a:xfrm>
            <a:off x="6290304" y="47244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30" name="Rounded Rectangle 29"/>
          <p:cNvSpPr/>
          <p:nvPr/>
        </p:nvSpPr>
        <p:spPr>
          <a:xfrm>
            <a:off x="6929634" y="47244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31" name="Rounded Rectangle 30"/>
          <p:cNvSpPr/>
          <p:nvPr/>
        </p:nvSpPr>
        <p:spPr>
          <a:xfrm>
            <a:off x="7568963" y="4724400"/>
            <a:ext cx="575397" cy="381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TDD</a:t>
            </a:r>
            <a:endParaRPr lang="fi-FI" sz="1600" dirty="0"/>
          </a:p>
        </p:txBody>
      </p:sp>
      <p:sp>
        <p:nvSpPr>
          <p:cNvPr id="32" name="TextBox 31"/>
          <p:cNvSpPr txBox="1"/>
          <p:nvPr/>
        </p:nvSpPr>
        <p:spPr>
          <a:xfrm rot="16200000">
            <a:off x="324534" y="4363134"/>
            <a:ext cx="1143000" cy="646331"/>
          </a:xfrm>
          <a:prstGeom prst="rect">
            <a:avLst/>
          </a:prstGeom>
          <a:noFill/>
        </p:spPr>
        <p:txBody>
          <a:bodyPr wrap="square" rtlCol="0">
            <a:spAutoFit/>
          </a:bodyPr>
          <a:lstStyle/>
          <a:p>
            <a:pPr algn="ctr"/>
            <a:r>
              <a:rPr lang="fi-FI" b="1" dirty="0" smtClean="0"/>
              <a:t>YKSIKKÖ-TESTAUS</a:t>
            </a:r>
            <a:endParaRPr lang="fi-FI" b="1" dirty="0"/>
          </a:p>
        </p:txBody>
      </p:sp>
      <p:sp>
        <p:nvSpPr>
          <p:cNvPr id="33" name="TextBox 32"/>
          <p:cNvSpPr txBox="1"/>
          <p:nvPr/>
        </p:nvSpPr>
        <p:spPr>
          <a:xfrm rot="16200000">
            <a:off x="134033" y="3029635"/>
            <a:ext cx="1524001" cy="646331"/>
          </a:xfrm>
          <a:prstGeom prst="rect">
            <a:avLst/>
          </a:prstGeom>
          <a:noFill/>
        </p:spPr>
        <p:txBody>
          <a:bodyPr wrap="square" rtlCol="0">
            <a:spAutoFit/>
          </a:bodyPr>
          <a:lstStyle/>
          <a:p>
            <a:pPr algn="ctr"/>
            <a:r>
              <a:rPr lang="fi-FI" b="1" dirty="0" smtClean="0"/>
              <a:t>HYVÄKSYMIS-TESTAUS</a:t>
            </a:r>
            <a:endParaRPr lang="fi-FI" b="1" dirty="0"/>
          </a:p>
        </p:txBody>
      </p:sp>
      <p:sp>
        <p:nvSpPr>
          <p:cNvPr id="35" name="TextBox 34"/>
          <p:cNvSpPr txBox="1"/>
          <p:nvPr/>
        </p:nvSpPr>
        <p:spPr>
          <a:xfrm rot="16200000">
            <a:off x="7981266" y="3815834"/>
            <a:ext cx="1143000" cy="369332"/>
          </a:xfrm>
          <a:prstGeom prst="rect">
            <a:avLst/>
          </a:prstGeom>
          <a:noFill/>
        </p:spPr>
        <p:txBody>
          <a:bodyPr wrap="square" rtlCol="0">
            <a:spAutoFit/>
          </a:bodyPr>
          <a:lstStyle/>
          <a:p>
            <a:pPr algn="ctr"/>
            <a:r>
              <a:rPr lang="fi-FI" b="1" dirty="0" smtClean="0"/>
              <a:t>VALMIS!</a:t>
            </a:r>
            <a:endParaRPr lang="fi-FI" b="1" dirty="0"/>
          </a:p>
        </p:txBody>
      </p:sp>
      <p:sp>
        <p:nvSpPr>
          <p:cNvPr id="36" name="TextBox 35"/>
          <p:cNvSpPr txBox="1"/>
          <p:nvPr/>
        </p:nvSpPr>
        <p:spPr>
          <a:xfrm>
            <a:off x="152400" y="5562600"/>
            <a:ext cx="3581400" cy="1200329"/>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pPr algn="ctr"/>
            <a:r>
              <a:rPr lang="fi-FI" dirty="0" smtClean="0"/>
              <a:t>Voit käyttää tutkivaa testausta oppimiseen ja muuntaa oleelliset opit uusiksi hyväksymis-/yksikkötesteiksi.</a:t>
            </a:r>
          </a:p>
        </p:txBody>
      </p:sp>
      <p:sp>
        <p:nvSpPr>
          <p:cNvPr id="37" name="TextBox 36"/>
          <p:cNvSpPr txBox="1"/>
          <p:nvPr/>
        </p:nvSpPr>
        <p:spPr>
          <a:xfrm>
            <a:off x="228600" y="1371600"/>
            <a:ext cx="5181600"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fi-FI" dirty="0" smtClean="0"/>
              <a:t>Todellisella inkrementaalisella toimituksella puuttuvat hyväksymisehdot korjaantuvat: tarkastele ongelmia joita ette löytäneet ennen julkaisua. </a:t>
            </a:r>
          </a:p>
        </p:txBody>
      </p:sp>
      <p:sp>
        <p:nvSpPr>
          <p:cNvPr id="38" name="TextBox 37"/>
          <p:cNvSpPr txBox="1"/>
          <p:nvPr/>
        </p:nvSpPr>
        <p:spPr>
          <a:xfrm>
            <a:off x="3810000" y="5553670"/>
            <a:ext cx="2895600" cy="120032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algn="ctr"/>
            <a:r>
              <a:rPr lang="fi-FI" dirty="0" smtClean="0"/>
              <a:t>Käyttäjille puhumiseen kannustetaan todellisen hyväksymiskriteeristön syvälliseksi ymmärtämiseksi. </a:t>
            </a:r>
          </a:p>
        </p:txBody>
      </p:sp>
      <p:sp>
        <p:nvSpPr>
          <p:cNvPr id="34" name="Slide Number Placeholder 33"/>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Ketterän testauksen nelikenttä</a:t>
            </a:r>
            <a:endParaRPr lang="fi-FI" dirty="0"/>
          </a:p>
        </p:txBody>
      </p:sp>
      <p:graphicFrame>
        <p:nvGraphicFramePr>
          <p:cNvPr id="6" name="Content Placeholder 5"/>
          <p:cNvGraphicFramePr>
            <a:graphicFrameLocks noGrp="1"/>
          </p:cNvGraphicFramePr>
          <p:nvPr>
            <p:ph idx="1"/>
          </p:nvPr>
        </p:nvGraphicFramePr>
        <p:xfrm>
          <a:off x="457200" y="1600200"/>
          <a:ext cx="8229600" cy="4343400"/>
        </p:xfrm>
        <a:graphic>
          <a:graphicData uri="http://schemas.openxmlformats.org/drawingml/2006/table">
            <a:tbl>
              <a:tblPr firstRow="1" bandRow="1">
                <a:tableStyleId>{69CF1AB2-1976-4502-BF36-3FF5EA218861}</a:tableStyleId>
              </a:tblPr>
              <a:tblGrid>
                <a:gridCol w="4114800"/>
                <a:gridCol w="4114800"/>
              </a:tblGrid>
              <a:tr h="2171700">
                <a:tc>
                  <a:txBody>
                    <a:bodyPr/>
                    <a:lstStyle/>
                    <a:p>
                      <a:endParaRPr lang="fi-FI" dirty="0"/>
                    </a:p>
                  </a:txBody>
                  <a:tcPr/>
                </a:tc>
                <a:tc>
                  <a:txBody>
                    <a:bodyPr/>
                    <a:lstStyle/>
                    <a:p>
                      <a:endParaRPr lang="fi-FI" dirty="0"/>
                    </a:p>
                  </a:txBody>
                  <a:tcPr/>
                </a:tc>
              </a:tr>
              <a:tr h="2171700">
                <a:tc>
                  <a:txBody>
                    <a:bodyPr/>
                    <a:lstStyle/>
                    <a:p>
                      <a:endParaRPr lang="fi-FI" dirty="0"/>
                    </a:p>
                  </a:txBody>
                  <a:tcPr/>
                </a:tc>
                <a:tc>
                  <a:txBody>
                    <a:bodyPr/>
                    <a:lstStyle/>
                    <a:p>
                      <a:endParaRPr lang="fi-FI" dirty="0"/>
                    </a:p>
                  </a:txBody>
                  <a:tcPr/>
                </a:tc>
              </a:tr>
            </a:tbl>
          </a:graphicData>
        </a:graphic>
      </p:graphicFrame>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a:p>
        </p:txBody>
      </p:sp>
      <p:sp>
        <p:nvSpPr>
          <p:cNvPr id="7" name="TextBox 6"/>
          <p:cNvSpPr txBox="1"/>
          <p:nvPr/>
        </p:nvSpPr>
        <p:spPr>
          <a:xfrm>
            <a:off x="3733800" y="3886200"/>
            <a:ext cx="762000" cy="400110"/>
          </a:xfrm>
          <a:prstGeom prst="rect">
            <a:avLst/>
          </a:prstGeom>
          <a:noFill/>
        </p:spPr>
        <p:txBody>
          <a:bodyPr wrap="square" rtlCol="0">
            <a:spAutoFit/>
          </a:bodyPr>
          <a:lstStyle/>
          <a:p>
            <a:pPr algn="r"/>
            <a:r>
              <a:rPr lang="fi-FI" sz="2000" dirty="0" smtClean="0">
                <a:solidFill>
                  <a:schemeClr val="tx2"/>
                </a:solidFill>
              </a:rPr>
              <a:t>Q1</a:t>
            </a:r>
            <a:endParaRPr lang="fi-FI" sz="2000" dirty="0">
              <a:solidFill>
                <a:schemeClr val="tx2"/>
              </a:solidFill>
            </a:endParaRPr>
          </a:p>
        </p:txBody>
      </p:sp>
      <p:sp>
        <p:nvSpPr>
          <p:cNvPr id="8" name="TextBox 7"/>
          <p:cNvSpPr txBox="1"/>
          <p:nvPr/>
        </p:nvSpPr>
        <p:spPr>
          <a:xfrm>
            <a:off x="3733800" y="3276600"/>
            <a:ext cx="762000" cy="400110"/>
          </a:xfrm>
          <a:prstGeom prst="rect">
            <a:avLst/>
          </a:prstGeom>
          <a:noFill/>
        </p:spPr>
        <p:txBody>
          <a:bodyPr wrap="square" rtlCol="0">
            <a:spAutoFit/>
          </a:bodyPr>
          <a:lstStyle/>
          <a:p>
            <a:pPr algn="r"/>
            <a:r>
              <a:rPr lang="fi-FI" sz="2000" dirty="0" smtClean="0">
                <a:solidFill>
                  <a:schemeClr val="tx2"/>
                </a:solidFill>
              </a:rPr>
              <a:t>Q2</a:t>
            </a:r>
            <a:endParaRPr lang="fi-FI" sz="2000" dirty="0">
              <a:solidFill>
                <a:schemeClr val="tx2"/>
              </a:solidFill>
            </a:endParaRPr>
          </a:p>
        </p:txBody>
      </p:sp>
      <p:sp>
        <p:nvSpPr>
          <p:cNvPr id="9" name="TextBox 8"/>
          <p:cNvSpPr txBox="1"/>
          <p:nvPr/>
        </p:nvSpPr>
        <p:spPr>
          <a:xfrm>
            <a:off x="4648200" y="3886200"/>
            <a:ext cx="762000" cy="400110"/>
          </a:xfrm>
          <a:prstGeom prst="rect">
            <a:avLst/>
          </a:prstGeom>
          <a:noFill/>
        </p:spPr>
        <p:txBody>
          <a:bodyPr wrap="square" rtlCol="0">
            <a:spAutoFit/>
          </a:bodyPr>
          <a:lstStyle/>
          <a:p>
            <a:r>
              <a:rPr lang="fi-FI" sz="2000" dirty="0" smtClean="0">
                <a:solidFill>
                  <a:schemeClr val="tx2"/>
                </a:solidFill>
              </a:rPr>
              <a:t>Q4</a:t>
            </a:r>
            <a:endParaRPr lang="fi-FI" sz="2000" dirty="0">
              <a:solidFill>
                <a:schemeClr val="tx2"/>
              </a:solidFill>
            </a:endParaRPr>
          </a:p>
        </p:txBody>
      </p:sp>
      <p:sp>
        <p:nvSpPr>
          <p:cNvPr id="10" name="TextBox 9"/>
          <p:cNvSpPr txBox="1"/>
          <p:nvPr/>
        </p:nvSpPr>
        <p:spPr>
          <a:xfrm>
            <a:off x="4648200" y="3276600"/>
            <a:ext cx="762000" cy="400110"/>
          </a:xfrm>
          <a:prstGeom prst="rect">
            <a:avLst/>
          </a:prstGeom>
          <a:noFill/>
        </p:spPr>
        <p:txBody>
          <a:bodyPr wrap="square" rtlCol="0">
            <a:spAutoFit/>
          </a:bodyPr>
          <a:lstStyle/>
          <a:p>
            <a:r>
              <a:rPr lang="fi-FI" sz="2000" dirty="0" smtClean="0">
                <a:solidFill>
                  <a:schemeClr val="tx2"/>
                </a:solidFill>
              </a:rPr>
              <a:t>Q3</a:t>
            </a:r>
            <a:endParaRPr lang="fi-FI" sz="2000" dirty="0">
              <a:solidFill>
                <a:schemeClr val="tx2"/>
              </a:solidFill>
            </a:endParaRPr>
          </a:p>
        </p:txBody>
      </p:sp>
      <p:sp>
        <p:nvSpPr>
          <p:cNvPr id="11" name="TextBox 10"/>
          <p:cNvSpPr txBox="1"/>
          <p:nvPr/>
        </p:nvSpPr>
        <p:spPr>
          <a:xfrm>
            <a:off x="3790526" y="1219200"/>
            <a:ext cx="2669385" cy="369332"/>
          </a:xfrm>
          <a:prstGeom prst="rect">
            <a:avLst/>
          </a:prstGeom>
          <a:noFill/>
        </p:spPr>
        <p:txBody>
          <a:bodyPr wrap="none" rtlCol="0">
            <a:spAutoFit/>
          </a:bodyPr>
          <a:lstStyle/>
          <a:p>
            <a:r>
              <a:rPr lang="fi-FI" dirty="0" smtClean="0"/>
              <a:t>Liiketoimintasuuntautunut</a:t>
            </a:r>
            <a:endParaRPr lang="fi-FI" dirty="0"/>
          </a:p>
        </p:txBody>
      </p:sp>
      <p:sp>
        <p:nvSpPr>
          <p:cNvPr id="12" name="TextBox 11"/>
          <p:cNvSpPr txBox="1"/>
          <p:nvPr/>
        </p:nvSpPr>
        <p:spPr>
          <a:xfrm>
            <a:off x="3657600" y="5943600"/>
            <a:ext cx="2465931" cy="369332"/>
          </a:xfrm>
          <a:prstGeom prst="rect">
            <a:avLst/>
          </a:prstGeom>
          <a:noFill/>
        </p:spPr>
        <p:txBody>
          <a:bodyPr wrap="none" rtlCol="0">
            <a:spAutoFit/>
          </a:bodyPr>
          <a:lstStyle/>
          <a:p>
            <a:r>
              <a:rPr lang="fi-FI" dirty="0" smtClean="0"/>
              <a:t>Teknologiasuuntautunut</a:t>
            </a:r>
            <a:endParaRPr lang="fi-FI" dirty="0"/>
          </a:p>
        </p:txBody>
      </p:sp>
      <p:sp>
        <p:nvSpPr>
          <p:cNvPr id="13" name="TextBox 12"/>
          <p:cNvSpPr txBox="1"/>
          <p:nvPr/>
        </p:nvSpPr>
        <p:spPr>
          <a:xfrm rot="16200000">
            <a:off x="-638419" y="3772635"/>
            <a:ext cx="1821909" cy="369332"/>
          </a:xfrm>
          <a:prstGeom prst="rect">
            <a:avLst/>
          </a:prstGeom>
          <a:noFill/>
        </p:spPr>
        <p:txBody>
          <a:bodyPr wrap="none" rtlCol="0">
            <a:spAutoFit/>
          </a:bodyPr>
          <a:lstStyle/>
          <a:p>
            <a:r>
              <a:rPr lang="fi-FI" dirty="0" smtClean="0"/>
              <a:t>Tiimin tukeminen</a:t>
            </a:r>
            <a:endParaRPr lang="fi-FI" dirty="0"/>
          </a:p>
        </p:txBody>
      </p:sp>
      <p:sp>
        <p:nvSpPr>
          <p:cNvPr id="14" name="TextBox 13"/>
          <p:cNvSpPr txBox="1"/>
          <p:nvPr/>
        </p:nvSpPr>
        <p:spPr>
          <a:xfrm rot="5400000">
            <a:off x="7733210" y="3772635"/>
            <a:ext cx="2299860" cy="369332"/>
          </a:xfrm>
          <a:prstGeom prst="rect">
            <a:avLst/>
          </a:prstGeom>
          <a:noFill/>
        </p:spPr>
        <p:txBody>
          <a:bodyPr wrap="none" rtlCol="0">
            <a:spAutoFit/>
          </a:bodyPr>
          <a:lstStyle/>
          <a:p>
            <a:r>
              <a:rPr lang="fi-FI" dirty="0" smtClean="0"/>
              <a:t>Järjestelmän kritisointi</a:t>
            </a:r>
            <a:endParaRPr lang="fi-FI" dirty="0"/>
          </a:p>
        </p:txBody>
      </p:sp>
      <p:sp>
        <p:nvSpPr>
          <p:cNvPr id="15" name="TextBox 14"/>
          <p:cNvSpPr txBox="1"/>
          <p:nvPr/>
        </p:nvSpPr>
        <p:spPr>
          <a:xfrm>
            <a:off x="5181600" y="2057400"/>
            <a:ext cx="3276600" cy="1477328"/>
          </a:xfrm>
          <a:prstGeom prst="rect">
            <a:avLst/>
          </a:prstGeom>
          <a:noFill/>
        </p:spPr>
        <p:txBody>
          <a:bodyPr wrap="square" rtlCol="0">
            <a:spAutoFit/>
          </a:bodyPr>
          <a:lstStyle/>
          <a:p>
            <a:r>
              <a:rPr lang="fi-FI" dirty="0" smtClean="0"/>
              <a:t>Exploratory testing</a:t>
            </a:r>
          </a:p>
          <a:p>
            <a:r>
              <a:rPr lang="fi-FI" dirty="0" smtClean="0"/>
              <a:t>Scenarios</a:t>
            </a:r>
          </a:p>
          <a:p>
            <a:r>
              <a:rPr lang="fi-FI" dirty="0" smtClean="0"/>
              <a:t>Usability testing</a:t>
            </a:r>
          </a:p>
          <a:p>
            <a:r>
              <a:rPr lang="fi-FI" dirty="0" smtClean="0"/>
              <a:t>UAT (User acceptance testing)</a:t>
            </a:r>
          </a:p>
          <a:p>
            <a:r>
              <a:rPr lang="fi-FI" dirty="0" smtClean="0"/>
              <a:t>Alpha / beta</a:t>
            </a:r>
            <a:endParaRPr lang="fi-FI" dirty="0"/>
          </a:p>
        </p:txBody>
      </p:sp>
      <p:sp>
        <p:nvSpPr>
          <p:cNvPr id="16" name="TextBox 15"/>
          <p:cNvSpPr txBox="1"/>
          <p:nvPr/>
        </p:nvSpPr>
        <p:spPr>
          <a:xfrm>
            <a:off x="5257800" y="4419600"/>
            <a:ext cx="3276600" cy="923330"/>
          </a:xfrm>
          <a:prstGeom prst="rect">
            <a:avLst/>
          </a:prstGeom>
          <a:noFill/>
        </p:spPr>
        <p:txBody>
          <a:bodyPr wrap="square" rtlCol="0">
            <a:spAutoFit/>
          </a:bodyPr>
          <a:lstStyle/>
          <a:p>
            <a:r>
              <a:rPr lang="fi-FI" dirty="0" smtClean="0"/>
              <a:t>Performance &amp; load testing</a:t>
            </a:r>
          </a:p>
          <a:p>
            <a:r>
              <a:rPr lang="fi-FI" dirty="0" smtClean="0"/>
              <a:t>Security testing</a:t>
            </a:r>
          </a:p>
          <a:p>
            <a:r>
              <a:rPr lang="fi-FI" dirty="0" smtClean="0"/>
              <a:t>”ility” testing</a:t>
            </a:r>
            <a:endParaRPr lang="fi-FI" dirty="0"/>
          </a:p>
        </p:txBody>
      </p:sp>
      <p:sp>
        <p:nvSpPr>
          <p:cNvPr id="17" name="TextBox 16"/>
          <p:cNvSpPr txBox="1"/>
          <p:nvPr/>
        </p:nvSpPr>
        <p:spPr>
          <a:xfrm>
            <a:off x="1143000" y="4572000"/>
            <a:ext cx="3276600" cy="646331"/>
          </a:xfrm>
          <a:prstGeom prst="rect">
            <a:avLst/>
          </a:prstGeom>
          <a:noFill/>
        </p:spPr>
        <p:txBody>
          <a:bodyPr wrap="square" rtlCol="0">
            <a:spAutoFit/>
          </a:bodyPr>
          <a:lstStyle/>
          <a:p>
            <a:r>
              <a:rPr lang="fi-FI" dirty="0" smtClean="0"/>
              <a:t>Unit tests</a:t>
            </a:r>
          </a:p>
          <a:p>
            <a:r>
              <a:rPr lang="fi-FI" dirty="0" smtClean="0"/>
              <a:t>Component tests</a:t>
            </a:r>
            <a:endParaRPr lang="fi-FI" dirty="0"/>
          </a:p>
        </p:txBody>
      </p:sp>
      <p:sp>
        <p:nvSpPr>
          <p:cNvPr id="18" name="TextBox 17"/>
          <p:cNvSpPr txBox="1"/>
          <p:nvPr/>
        </p:nvSpPr>
        <p:spPr>
          <a:xfrm>
            <a:off x="1143000" y="2057400"/>
            <a:ext cx="3276600" cy="1477328"/>
          </a:xfrm>
          <a:prstGeom prst="rect">
            <a:avLst/>
          </a:prstGeom>
          <a:noFill/>
        </p:spPr>
        <p:txBody>
          <a:bodyPr wrap="square" rtlCol="0">
            <a:spAutoFit/>
          </a:bodyPr>
          <a:lstStyle/>
          <a:p>
            <a:r>
              <a:rPr lang="fi-FI" dirty="0" smtClean="0"/>
              <a:t>Functional tests</a:t>
            </a:r>
          </a:p>
          <a:p>
            <a:r>
              <a:rPr lang="fi-FI" dirty="0" smtClean="0"/>
              <a:t>Examples</a:t>
            </a:r>
          </a:p>
          <a:p>
            <a:r>
              <a:rPr lang="fi-FI" dirty="0" smtClean="0"/>
              <a:t>Story tests</a:t>
            </a:r>
          </a:p>
          <a:p>
            <a:r>
              <a:rPr lang="fi-FI" dirty="0" smtClean="0"/>
              <a:t>Prototypes</a:t>
            </a:r>
          </a:p>
          <a:p>
            <a:r>
              <a:rPr lang="fi-FI" dirty="0" smtClean="0"/>
              <a:t>Simulations</a:t>
            </a:r>
            <a:endParaRPr lang="fi-FI" dirty="0"/>
          </a:p>
        </p:txBody>
      </p:sp>
      <p:sp>
        <p:nvSpPr>
          <p:cNvPr id="19" name="Cloud 18"/>
          <p:cNvSpPr/>
          <p:nvPr/>
        </p:nvSpPr>
        <p:spPr>
          <a:xfrm>
            <a:off x="304800" y="1295400"/>
            <a:ext cx="1828800" cy="7620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Automatisoitu &amp; käsin</a:t>
            </a:r>
            <a:endParaRPr lang="fi-FI" sz="1600" dirty="0"/>
          </a:p>
        </p:txBody>
      </p:sp>
      <p:sp>
        <p:nvSpPr>
          <p:cNvPr id="20" name="Cloud 19"/>
          <p:cNvSpPr/>
          <p:nvPr/>
        </p:nvSpPr>
        <p:spPr>
          <a:xfrm>
            <a:off x="7162800" y="1295400"/>
            <a:ext cx="1828800" cy="7620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Käsin tehtävä</a:t>
            </a:r>
            <a:endParaRPr lang="fi-FI" sz="1600" dirty="0"/>
          </a:p>
        </p:txBody>
      </p:sp>
      <p:sp>
        <p:nvSpPr>
          <p:cNvPr id="21" name="Cloud 20"/>
          <p:cNvSpPr/>
          <p:nvPr/>
        </p:nvSpPr>
        <p:spPr>
          <a:xfrm>
            <a:off x="7315200" y="5638800"/>
            <a:ext cx="1828800" cy="7620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Työkalut</a:t>
            </a:r>
            <a:endParaRPr lang="fi-FI" sz="1600" dirty="0"/>
          </a:p>
        </p:txBody>
      </p:sp>
      <p:sp>
        <p:nvSpPr>
          <p:cNvPr id="22" name="Cloud 21"/>
          <p:cNvSpPr/>
          <p:nvPr/>
        </p:nvSpPr>
        <p:spPr>
          <a:xfrm>
            <a:off x="228600" y="5562600"/>
            <a:ext cx="1828800" cy="762000"/>
          </a:xfrm>
          <a:prstGeom prst="clou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1600" dirty="0" smtClean="0"/>
              <a:t>Automa-tisoitu</a:t>
            </a:r>
            <a:endParaRPr lang="fi-FI" sz="1600" dirty="0"/>
          </a:p>
        </p:txBody>
      </p:sp>
      <p:sp>
        <p:nvSpPr>
          <p:cNvPr id="24" name="TextBox 23"/>
          <p:cNvSpPr txBox="1"/>
          <p:nvPr/>
        </p:nvSpPr>
        <p:spPr>
          <a:xfrm>
            <a:off x="0" y="6550223"/>
            <a:ext cx="9448800" cy="307777"/>
          </a:xfrm>
          <a:prstGeom prst="rect">
            <a:avLst/>
          </a:prstGeom>
          <a:noFill/>
        </p:spPr>
        <p:txBody>
          <a:bodyPr wrap="square" rtlCol="0">
            <a:spAutoFit/>
          </a:bodyPr>
          <a:lstStyle/>
          <a:p>
            <a:r>
              <a:rPr lang="fi-FI" sz="1400" dirty="0" smtClean="0"/>
              <a:t>Lähde: Lisa Crispin&amp;Janet Gregory, http://www.informit.com/articles/article.aspx?p=1316250 </a:t>
            </a:r>
            <a:endParaRPr lang="fi-FI" sz="1400" dirty="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Testaajan rooli</a:t>
            </a:r>
            <a:endParaRPr lang="fi-FI" dirty="0"/>
          </a:p>
        </p:txBody>
      </p:sp>
      <p:sp>
        <p:nvSpPr>
          <p:cNvPr id="5" name="Content Placeholder 4"/>
          <p:cNvSpPr>
            <a:spLocks noGrp="1"/>
          </p:cNvSpPr>
          <p:nvPr>
            <p:ph idx="1"/>
          </p:nvPr>
        </p:nvSpPr>
        <p:spPr>
          <a:xfrm>
            <a:off x="381000" y="1524000"/>
            <a:ext cx="4800600" cy="4525963"/>
          </a:xfrm>
        </p:spPr>
        <p:txBody>
          <a:bodyPr>
            <a:normAutofit/>
          </a:bodyPr>
          <a:lstStyle/>
          <a:p>
            <a:r>
              <a:rPr lang="fi-FI" dirty="0" smtClean="0"/>
              <a:t>Auttaa tuomaan esiin piilo-oletuksia</a:t>
            </a:r>
          </a:p>
          <a:p>
            <a:r>
              <a:rPr lang="fi-FI" dirty="0" smtClean="0"/>
              <a:t>Antaa palautetta</a:t>
            </a:r>
          </a:p>
          <a:p>
            <a:r>
              <a:rPr lang="fi-FI" dirty="0" smtClean="0"/>
              <a:t>Kerää ja selkiyttää vaatimuksia</a:t>
            </a:r>
          </a:p>
          <a:p>
            <a:r>
              <a:rPr lang="fi-FI" dirty="0" smtClean="0"/>
              <a:t>Ohjaa kehitystä esimerkkien avulla</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p:sp>
        <p:nvSpPr>
          <p:cNvPr id="6" name="Oval 5"/>
          <p:cNvSpPr/>
          <p:nvPr/>
        </p:nvSpPr>
        <p:spPr>
          <a:xfrm>
            <a:off x="5181600" y="2209800"/>
            <a:ext cx="1981200" cy="1905000"/>
          </a:xfrm>
          <a:prstGeom prst="ellipse">
            <a:avLst/>
          </a:prstGeom>
          <a:solidFill>
            <a:schemeClr val="accent1">
              <a:alpha val="5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2000" dirty="0" smtClean="0"/>
              <a:t>Ohjelmoija</a:t>
            </a:r>
            <a:endParaRPr lang="fi-FI" sz="2000" dirty="0"/>
          </a:p>
        </p:txBody>
      </p:sp>
      <p:sp>
        <p:nvSpPr>
          <p:cNvPr id="7" name="Oval 6"/>
          <p:cNvSpPr/>
          <p:nvPr/>
        </p:nvSpPr>
        <p:spPr>
          <a:xfrm>
            <a:off x="6858000" y="2209800"/>
            <a:ext cx="1981200" cy="1905000"/>
          </a:xfrm>
          <a:prstGeom prst="ellipse">
            <a:avLst/>
          </a:prstGeom>
          <a:solidFill>
            <a:schemeClr val="accent4">
              <a:alpha val="5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i-FI" sz="2000" dirty="0" smtClean="0"/>
              <a:t>Sovellus-alueosaaja</a:t>
            </a:r>
            <a:endParaRPr lang="fi-FI" sz="2000" dirty="0"/>
          </a:p>
        </p:txBody>
      </p:sp>
      <p:sp>
        <p:nvSpPr>
          <p:cNvPr id="8" name="Oval 7"/>
          <p:cNvSpPr/>
          <p:nvPr/>
        </p:nvSpPr>
        <p:spPr>
          <a:xfrm>
            <a:off x="6019800" y="3505200"/>
            <a:ext cx="1981200" cy="1905000"/>
          </a:xfrm>
          <a:prstGeom prst="ellipse">
            <a:avLst/>
          </a:prstGeom>
          <a:solidFill>
            <a:schemeClr val="accent3">
              <a:alpha val="82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i-FI" sz="2000" dirty="0" smtClean="0"/>
              <a:t>Testaaja</a:t>
            </a:r>
            <a:endParaRPr lang="fi-FI" sz="2000" dirty="0"/>
          </a:p>
        </p:txBody>
      </p:sp>
      <p:sp>
        <p:nvSpPr>
          <p:cNvPr id="9" name="TextBox 8"/>
          <p:cNvSpPr txBox="1"/>
          <p:nvPr/>
        </p:nvSpPr>
        <p:spPr>
          <a:xfrm>
            <a:off x="1371600" y="5715000"/>
            <a:ext cx="3200400" cy="954107"/>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fi-FI" sz="2800" dirty="0" smtClean="0"/>
              <a:t>Test-infected: tiimit ovat testauskeskeisiä</a:t>
            </a:r>
            <a:endParaRPr lang="fi-FI" sz="2800" dirty="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Mitä ketterä testaaja tekee... Viikon työt esimerkkinä</a:t>
            </a:r>
            <a:endParaRPr lang="fi-FI" dirty="0"/>
          </a:p>
        </p:txBody>
      </p:sp>
      <p:sp>
        <p:nvSpPr>
          <p:cNvPr id="3" name="Content Placeholder 2"/>
          <p:cNvSpPr>
            <a:spLocks noGrp="1"/>
          </p:cNvSpPr>
          <p:nvPr>
            <p:ph idx="1"/>
          </p:nvPr>
        </p:nvSpPr>
        <p:spPr/>
        <p:txBody>
          <a:bodyPr>
            <a:normAutofit fontScale="77500" lnSpcReduction="20000"/>
          </a:bodyPr>
          <a:lstStyle/>
          <a:p>
            <a:r>
              <a:rPr lang="en-US" dirty="0" err="1" smtClean="0"/>
              <a:t>Kirjoita</a:t>
            </a:r>
            <a:r>
              <a:rPr lang="en-US" dirty="0" smtClean="0"/>
              <a:t> </a:t>
            </a:r>
            <a:r>
              <a:rPr lang="en-US" dirty="0" err="1" smtClean="0"/>
              <a:t>korkean</a:t>
            </a:r>
            <a:r>
              <a:rPr lang="en-US" dirty="0" smtClean="0"/>
              <a:t> </a:t>
            </a:r>
            <a:r>
              <a:rPr lang="en-US" dirty="0" err="1" smtClean="0"/>
              <a:t>tason</a:t>
            </a:r>
            <a:r>
              <a:rPr lang="en-US" dirty="0" smtClean="0"/>
              <a:t> </a:t>
            </a:r>
            <a:r>
              <a:rPr lang="en-US" dirty="0" err="1" smtClean="0"/>
              <a:t>testitapauksia</a:t>
            </a:r>
            <a:endParaRPr lang="en-US" dirty="0" smtClean="0"/>
          </a:p>
          <a:p>
            <a:r>
              <a:rPr lang="en-US" dirty="0" err="1" smtClean="0"/>
              <a:t>Automatisoi</a:t>
            </a:r>
            <a:r>
              <a:rPr lang="en-US" dirty="0" smtClean="0"/>
              <a:t> </a:t>
            </a:r>
            <a:r>
              <a:rPr lang="en-US" dirty="0" err="1" smtClean="0"/>
              <a:t>testejä</a:t>
            </a:r>
            <a:r>
              <a:rPr lang="en-US" dirty="0" smtClean="0"/>
              <a:t> </a:t>
            </a:r>
            <a:r>
              <a:rPr lang="en-US" dirty="0" err="1" smtClean="0"/>
              <a:t>FitNessellä</a:t>
            </a:r>
            <a:endParaRPr lang="en-US" dirty="0"/>
          </a:p>
          <a:p>
            <a:r>
              <a:rPr lang="en-US" dirty="0" err="1" smtClean="0"/>
              <a:t>Selvittele</a:t>
            </a:r>
            <a:r>
              <a:rPr lang="en-US" dirty="0" smtClean="0"/>
              <a:t> </a:t>
            </a:r>
            <a:r>
              <a:rPr lang="en-US" dirty="0" err="1" smtClean="0"/>
              <a:t>ongelmia</a:t>
            </a:r>
            <a:r>
              <a:rPr lang="en-US" dirty="0" smtClean="0"/>
              <a:t> </a:t>
            </a:r>
            <a:r>
              <a:rPr lang="en-US" dirty="0" err="1" smtClean="0"/>
              <a:t>Canoo</a:t>
            </a:r>
            <a:r>
              <a:rPr lang="en-US" dirty="0" smtClean="0"/>
              <a:t> </a:t>
            </a:r>
            <a:r>
              <a:rPr lang="en-US" dirty="0" err="1" smtClean="0"/>
              <a:t>WebTest</a:t>
            </a:r>
            <a:r>
              <a:rPr lang="en-US" dirty="0" smtClean="0"/>
              <a:t> GUI –</a:t>
            </a:r>
            <a:r>
              <a:rPr lang="en-US" dirty="0" err="1" smtClean="0"/>
              <a:t>työkalun</a:t>
            </a:r>
            <a:r>
              <a:rPr lang="en-US" dirty="0" smtClean="0"/>
              <a:t> </a:t>
            </a:r>
            <a:r>
              <a:rPr lang="en-US" dirty="0" err="1" smtClean="0"/>
              <a:t>ja</a:t>
            </a:r>
            <a:r>
              <a:rPr lang="en-US" dirty="0" smtClean="0"/>
              <a:t> </a:t>
            </a:r>
            <a:r>
              <a:rPr lang="en-US" dirty="0" err="1" smtClean="0"/>
              <a:t>testien</a:t>
            </a:r>
            <a:r>
              <a:rPr lang="en-US" dirty="0" smtClean="0"/>
              <a:t> </a:t>
            </a:r>
            <a:r>
              <a:rPr lang="en-US" dirty="0" err="1" smtClean="0"/>
              <a:t>osalta</a:t>
            </a:r>
            <a:endParaRPr lang="en-US" dirty="0" smtClean="0"/>
          </a:p>
          <a:p>
            <a:r>
              <a:rPr lang="en-US" dirty="0" err="1" smtClean="0"/>
              <a:t>Selvittele</a:t>
            </a:r>
            <a:r>
              <a:rPr lang="en-US" dirty="0" smtClean="0"/>
              <a:t> </a:t>
            </a:r>
            <a:r>
              <a:rPr lang="en-US" dirty="0" err="1" smtClean="0"/>
              <a:t>kolmea</a:t>
            </a:r>
            <a:r>
              <a:rPr lang="en-US" dirty="0" smtClean="0"/>
              <a:t> </a:t>
            </a:r>
            <a:r>
              <a:rPr lang="en-US" dirty="0" err="1" smtClean="0"/>
              <a:t>erillistä</a:t>
            </a:r>
            <a:r>
              <a:rPr lang="en-US" dirty="0" smtClean="0"/>
              <a:t> </a:t>
            </a:r>
            <a:r>
              <a:rPr lang="en-US" dirty="0" err="1" smtClean="0"/>
              <a:t>tuotannossa</a:t>
            </a:r>
            <a:r>
              <a:rPr lang="en-US" dirty="0" smtClean="0"/>
              <a:t> </a:t>
            </a:r>
            <a:r>
              <a:rPr lang="en-US" dirty="0" err="1" smtClean="0"/>
              <a:t>ollutta</a:t>
            </a:r>
            <a:r>
              <a:rPr lang="en-US" dirty="0" smtClean="0"/>
              <a:t> </a:t>
            </a:r>
            <a:r>
              <a:rPr lang="en-US" dirty="0" err="1" smtClean="0"/>
              <a:t>virhehavaintoa</a:t>
            </a:r>
            <a:endParaRPr lang="en-US" dirty="0" smtClean="0"/>
          </a:p>
          <a:p>
            <a:r>
              <a:rPr lang="en-US" dirty="0" err="1" smtClean="0"/>
              <a:t>Käsin</a:t>
            </a:r>
            <a:r>
              <a:rPr lang="en-US" dirty="0" smtClean="0"/>
              <a:t> </a:t>
            </a:r>
            <a:r>
              <a:rPr lang="en-US" dirty="0" err="1" smtClean="0"/>
              <a:t>tehtävä</a:t>
            </a:r>
            <a:r>
              <a:rPr lang="en-US" dirty="0" smtClean="0"/>
              <a:t> </a:t>
            </a:r>
            <a:r>
              <a:rPr lang="en-US" dirty="0" err="1" smtClean="0"/>
              <a:t>tutkiva</a:t>
            </a:r>
            <a:r>
              <a:rPr lang="en-US" dirty="0" smtClean="0"/>
              <a:t> </a:t>
            </a:r>
            <a:r>
              <a:rPr lang="en-US" dirty="0" err="1" smtClean="0"/>
              <a:t>testaus</a:t>
            </a:r>
            <a:r>
              <a:rPr lang="en-US" dirty="0" smtClean="0"/>
              <a:t> </a:t>
            </a:r>
            <a:r>
              <a:rPr lang="en-US" dirty="0" err="1" smtClean="0"/>
              <a:t>useille</a:t>
            </a:r>
            <a:r>
              <a:rPr lang="en-US" dirty="0" smtClean="0"/>
              <a:t> </a:t>
            </a:r>
            <a:r>
              <a:rPr lang="en-US" dirty="0" err="1" smtClean="0"/>
              <a:t>tarinoille</a:t>
            </a:r>
            <a:endParaRPr lang="en-US" dirty="0" smtClean="0"/>
          </a:p>
          <a:p>
            <a:r>
              <a:rPr lang="en-US" dirty="0" err="1" smtClean="0"/>
              <a:t>Osallistu</a:t>
            </a:r>
            <a:r>
              <a:rPr lang="en-US" dirty="0" smtClean="0"/>
              <a:t> </a:t>
            </a:r>
            <a:r>
              <a:rPr lang="en-US" dirty="0" err="1" smtClean="0"/>
              <a:t>työmäärien</a:t>
            </a:r>
            <a:r>
              <a:rPr lang="en-US" dirty="0" smtClean="0"/>
              <a:t> </a:t>
            </a:r>
            <a:r>
              <a:rPr lang="en-US" dirty="0" err="1" smtClean="0"/>
              <a:t>arvioinnin</a:t>
            </a:r>
            <a:r>
              <a:rPr lang="en-US" dirty="0" smtClean="0"/>
              <a:t> </a:t>
            </a:r>
            <a:r>
              <a:rPr lang="en-US" dirty="0" err="1" smtClean="0"/>
              <a:t>kokoukseen</a:t>
            </a:r>
            <a:endParaRPr lang="en-US" dirty="0"/>
          </a:p>
          <a:p>
            <a:r>
              <a:rPr lang="en-US" dirty="0" err="1" smtClean="0"/>
              <a:t>Selvittele</a:t>
            </a:r>
            <a:r>
              <a:rPr lang="en-US" dirty="0" smtClean="0"/>
              <a:t> </a:t>
            </a:r>
            <a:r>
              <a:rPr lang="en-US" dirty="0" err="1" smtClean="0"/>
              <a:t>vaatimuksia</a:t>
            </a:r>
            <a:r>
              <a:rPr lang="en-US" dirty="0" smtClean="0"/>
              <a:t> </a:t>
            </a:r>
            <a:r>
              <a:rPr lang="en-US" dirty="0" err="1" smtClean="0"/>
              <a:t>ja</a:t>
            </a:r>
            <a:r>
              <a:rPr lang="en-US" dirty="0" smtClean="0"/>
              <a:t> </a:t>
            </a:r>
            <a:r>
              <a:rPr lang="en-US" dirty="0" err="1" smtClean="0"/>
              <a:t>selkiytä</a:t>
            </a:r>
            <a:r>
              <a:rPr lang="en-US" dirty="0" smtClean="0"/>
              <a:t> </a:t>
            </a:r>
            <a:r>
              <a:rPr lang="en-US" dirty="0" err="1" smtClean="0"/>
              <a:t>niitä</a:t>
            </a:r>
            <a:r>
              <a:rPr lang="en-US" dirty="0" smtClean="0"/>
              <a:t> </a:t>
            </a:r>
            <a:r>
              <a:rPr lang="en-US" dirty="0" err="1" smtClean="0"/>
              <a:t>useiden</a:t>
            </a:r>
            <a:r>
              <a:rPr lang="en-US" dirty="0" smtClean="0"/>
              <a:t> </a:t>
            </a:r>
            <a:r>
              <a:rPr lang="en-US" dirty="0" err="1" smtClean="0"/>
              <a:t>asiakkaiden</a:t>
            </a:r>
            <a:r>
              <a:rPr lang="en-US" dirty="0" smtClean="0"/>
              <a:t> </a:t>
            </a:r>
            <a:r>
              <a:rPr lang="en-US" dirty="0" err="1" smtClean="0"/>
              <a:t>kanssa</a:t>
            </a:r>
            <a:endParaRPr lang="en-US" dirty="0"/>
          </a:p>
          <a:p>
            <a:r>
              <a:rPr lang="en-US" dirty="0" err="1" smtClean="0"/>
              <a:t>Auta</a:t>
            </a:r>
            <a:r>
              <a:rPr lang="en-US" dirty="0" smtClean="0"/>
              <a:t> </a:t>
            </a:r>
            <a:r>
              <a:rPr lang="en-US" dirty="0" err="1" smtClean="0"/>
              <a:t>tiimiä</a:t>
            </a:r>
            <a:r>
              <a:rPr lang="en-US" dirty="0" smtClean="0"/>
              <a:t> </a:t>
            </a:r>
            <a:r>
              <a:rPr lang="en-US" dirty="0" err="1" smtClean="0"/>
              <a:t>määrittämään</a:t>
            </a:r>
            <a:r>
              <a:rPr lang="en-US" dirty="0" smtClean="0"/>
              <a:t> </a:t>
            </a:r>
            <a:r>
              <a:rPr lang="en-US" dirty="0" err="1" smtClean="0"/>
              <a:t>strategia</a:t>
            </a:r>
            <a:r>
              <a:rPr lang="en-US" dirty="0" smtClean="0"/>
              <a:t> </a:t>
            </a:r>
            <a:r>
              <a:rPr lang="en-US" dirty="0" err="1" smtClean="0"/>
              <a:t>jolla</a:t>
            </a:r>
            <a:r>
              <a:rPr lang="en-US" dirty="0" smtClean="0"/>
              <a:t> </a:t>
            </a:r>
            <a:r>
              <a:rPr lang="en-US" dirty="0" err="1" smtClean="0"/>
              <a:t>parhaiten</a:t>
            </a:r>
            <a:r>
              <a:rPr lang="en-US" dirty="0" smtClean="0"/>
              <a:t> </a:t>
            </a:r>
            <a:r>
              <a:rPr lang="en-US" dirty="0" err="1" smtClean="0"/>
              <a:t>saadaan</a:t>
            </a:r>
            <a:r>
              <a:rPr lang="en-US" dirty="0" smtClean="0"/>
              <a:t> </a:t>
            </a:r>
            <a:r>
              <a:rPr lang="en-US" dirty="0" err="1" smtClean="0"/>
              <a:t>kaikki</a:t>
            </a:r>
            <a:r>
              <a:rPr lang="en-US" dirty="0" smtClean="0"/>
              <a:t> </a:t>
            </a:r>
            <a:r>
              <a:rPr lang="en-US" dirty="0" err="1" smtClean="0"/>
              <a:t>valmiiksi</a:t>
            </a:r>
            <a:r>
              <a:rPr lang="en-US" dirty="0" smtClean="0"/>
              <a:t> </a:t>
            </a:r>
            <a:r>
              <a:rPr lang="en-US" dirty="0" err="1" smtClean="0"/>
              <a:t>tässä</a:t>
            </a:r>
            <a:r>
              <a:rPr lang="en-US" dirty="0" smtClean="0"/>
              <a:t> </a:t>
            </a:r>
            <a:r>
              <a:rPr lang="en-US" dirty="0" err="1" smtClean="0"/>
              <a:t>sprintissä</a:t>
            </a:r>
            <a:endParaRPr lang="en-US"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p:sp>
        <p:nvSpPr>
          <p:cNvPr id="6" name="TextBox 5"/>
          <p:cNvSpPr txBox="1"/>
          <p:nvPr/>
        </p:nvSpPr>
        <p:spPr>
          <a:xfrm>
            <a:off x="0" y="6550223"/>
            <a:ext cx="9448800" cy="307777"/>
          </a:xfrm>
          <a:prstGeom prst="rect">
            <a:avLst/>
          </a:prstGeom>
          <a:noFill/>
        </p:spPr>
        <p:txBody>
          <a:bodyPr wrap="square" rtlCol="0">
            <a:spAutoFit/>
          </a:bodyPr>
          <a:lstStyle/>
          <a:p>
            <a:r>
              <a:rPr lang="fi-FI" sz="1400" dirty="0" smtClean="0"/>
              <a:t>Lähde: Lisa Crispin</a:t>
            </a:r>
            <a:endParaRPr lang="fi-FI" sz="1400" dirty="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XP </a:t>
            </a:r>
            <a:r>
              <a:rPr lang="en-US" dirty="0" err="1" smtClean="0"/>
              <a:t>Testaajan</a:t>
            </a:r>
            <a:r>
              <a:rPr lang="en-US" dirty="0" smtClean="0"/>
              <a:t> </a:t>
            </a:r>
            <a:r>
              <a:rPr lang="en-US" dirty="0" err="1" smtClean="0"/>
              <a:t>oikeuksien</a:t>
            </a:r>
            <a:r>
              <a:rPr lang="en-US" dirty="0" smtClean="0"/>
              <a:t> </a:t>
            </a:r>
            <a:r>
              <a:rPr lang="en-US" dirty="0" err="1" smtClean="0"/>
              <a:t>julistus</a:t>
            </a:r>
            <a:r>
              <a:rPr lang="en-US" dirty="0" smtClean="0"/>
              <a:t/>
            </a:r>
            <a:br>
              <a:rPr lang="en-US" dirty="0" smtClean="0"/>
            </a:br>
            <a:r>
              <a:rPr lang="en-US" sz="1300" dirty="0" err="1" smtClean="0"/>
              <a:t>Lähde</a:t>
            </a:r>
            <a:r>
              <a:rPr lang="en-US" sz="1300" dirty="0" smtClean="0"/>
              <a:t>: Testing Extreme Programming by Lisa Crispin and Tip House (Addison-Wesley, 2002) </a:t>
            </a:r>
            <a:endParaRPr lang="fi-FI" sz="1300" dirty="0"/>
          </a:p>
        </p:txBody>
      </p:sp>
      <p:sp>
        <p:nvSpPr>
          <p:cNvPr id="3" name="Content Placeholder 2"/>
          <p:cNvSpPr>
            <a:spLocks noGrp="1"/>
          </p:cNvSpPr>
          <p:nvPr>
            <p:ph idx="1"/>
          </p:nvPr>
        </p:nvSpPr>
        <p:spPr/>
        <p:txBody>
          <a:bodyPr>
            <a:noAutofit/>
          </a:bodyPr>
          <a:lstStyle/>
          <a:p>
            <a:r>
              <a:rPr lang="en-US" sz="2000" dirty="0" err="1" smtClean="0"/>
              <a:t>Sinulla</a:t>
            </a:r>
            <a:r>
              <a:rPr lang="en-US" sz="2000" dirty="0" smtClean="0"/>
              <a:t> on </a:t>
            </a:r>
            <a:r>
              <a:rPr lang="en-US" sz="2000" dirty="0" err="1" smtClean="0"/>
              <a:t>oikeus</a:t>
            </a:r>
            <a:r>
              <a:rPr lang="en-US" sz="2000" dirty="0" smtClean="0"/>
              <a:t> </a:t>
            </a:r>
            <a:r>
              <a:rPr lang="en-US" sz="2000" dirty="0" err="1" smtClean="0"/>
              <a:t>tuoda</a:t>
            </a:r>
            <a:r>
              <a:rPr lang="en-US" sz="2000" dirty="0" smtClean="0"/>
              <a:t> </a:t>
            </a:r>
            <a:r>
              <a:rPr lang="en-US" sz="2000" dirty="0" err="1" smtClean="0"/>
              <a:t>esiin</a:t>
            </a:r>
            <a:r>
              <a:rPr lang="en-US" sz="2000" dirty="0" smtClean="0"/>
              <a:t> </a:t>
            </a:r>
            <a:r>
              <a:rPr lang="en-US" sz="2000" dirty="0" err="1" smtClean="0"/>
              <a:t>havaintoja</a:t>
            </a:r>
            <a:r>
              <a:rPr lang="en-US" sz="2000" dirty="0" smtClean="0"/>
              <a:t> </a:t>
            </a:r>
            <a:r>
              <a:rPr lang="en-US" sz="2000" dirty="0" err="1" smtClean="0"/>
              <a:t>laatuun</a:t>
            </a:r>
            <a:r>
              <a:rPr lang="en-US" sz="2000" dirty="0" smtClean="0"/>
              <a:t> </a:t>
            </a:r>
            <a:r>
              <a:rPr lang="en-US" sz="2000" dirty="0" err="1" smtClean="0"/>
              <a:t>ja</a:t>
            </a:r>
            <a:r>
              <a:rPr lang="en-US" sz="2000" dirty="0" smtClean="0"/>
              <a:t> </a:t>
            </a:r>
            <a:r>
              <a:rPr lang="en-US" sz="2000" dirty="0" err="1" smtClean="0"/>
              <a:t>prosessiin</a:t>
            </a:r>
            <a:r>
              <a:rPr lang="en-US" sz="2000" dirty="0" smtClean="0"/>
              <a:t> </a:t>
            </a:r>
            <a:r>
              <a:rPr lang="en-US" sz="2000" dirty="0" err="1" smtClean="0"/>
              <a:t>liittyen</a:t>
            </a:r>
            <a:r>
              <a:rPr lang="en-US" sz="2000" dirty="0" smtClean="0"/>
              <a:t> </a:t>
            </a:r>
            <a:r>
              <a:rPr lang="en-US" sz="2000" dirty="0" err="1" smtClean="0"/>
              <a:t>missä</a:t>
            </a:r>
            <a:r>
              <a:rPr lang="en-US" sz="2000" dirty="0" smtClean="0"/>
              <a:t> </a:t>
            </a:r>
            <a:r>
              <a:rPr lang="en-US" sz="2000" dirty="0" err="1" smtClean="0"/>
              <a:t>tahansa</a:t>
            </a:r>
            <a:r>
              <a:rPr lang="en-US" sz="2000" dirty="0" smtClean="0"/>
              <a:t> </a:t>
            </a:r>
            <a:r>
              <a:rPr lang="en-US" sz="2000" dirty="0" err="1" smtClean="0"/>
              <a:t>vaiheessa</a:t>
            </a:r>
            <a:r>
              <a:rPr lang="en-US" sz="2000" dirty="0" smtClean="0"/>
              <a:t>.</a:t>
            </a:r>
          </a:p>
          <a:p>
            <a:r>
              <a:rPr lang="en-US" sz="2000" dirty="0" err="1" smtClean="0"/>
              <a:t>Sinulla</a:t>
            </a:r>
            <a:r>
              <a:rPr lang="en-US" sz="2000" dirty="0" smtClean="0"/>
              <a:t> on </a:t>
            </a:r>
            <a:r>
              <a:rPr lang="en-US" sz="2000" dirty="0" err="1" smtClean="0"/>
              <a:t>oikeus</a:t>
            </a:r>
            <a:r>
              <a:rPr lang="en-US" sz="2000" dirty="0" smtClean="0"/>
              <a:t> </a:t>
            </a:r>
            <a:r>
              <a:rPr lang="en-US" sz="2000" dirty="0" err="1" smtClean="0"/>
              <a:t>kysyä</a:t>
            </a:r>
            <a:r>
              <a:rPr lang="en-US" sz="2000" dirty="0" smtClean="0"/>
              <a:t> </a:t>
            </a:r>
            <a:r>
              <a:rPr lang="en-US" sz="2000" dirty="0" err="1" smtClean="0"/>
              <a:t>kysymyksiä</a:t>
            </a:r>
            <a:r>
              <a:rPr lang="en-US" sz="2000" dirty="0" smtClean="0"/>
              <a:t> </a:t>
            </a:r>
            <a:r>
              <a:rPr lang="en-US" sz="2000" dirty="0" err="1" smtClean="0"/>
              <a:t>asiakkailta</a:t>
            </a:r>
            <a:r>
              <a:rPr lang="en-US" sz="2000" dirty="0" smtClean="0"/>
              <a:t> </a:t>
            </a:r>
            <a:r>
              <a:rPr lang="en-US" sz="2000" dirty="0" err="1" smtClean="0"/>
              <a:t>ja</a:t>
            </a:r>
            <a:r>
              <a:rPr lang="en-US" sz="2000" dirty="0" smtClean="0"/>
              <a:t> </a:t>
            </a:r>
            <a:r>
              <a:rPr lang="en-US" sz="2000" dirty="0" err="1" smtClean="0"/>
              <a:t>ohjelmoijilta</a:t>
            </a:r>
            <a:r>
              <a:rPr lang="en-US" sz="2000" dirty="0" smtClean="0"/>
              <a:t> </a:t>
            </a:r>
            <a:r>
              <a:rPr lang="en-US" sz="2000" dirty="0" err="1" smtClean="0"/>
              <a:t>ja</a:t>
            </a:r>
            <a:r>
              <a:rPr lang="en-US" sz="2000" dirty="0" smtClean="0"/>
              <a:t> </a:t>
            </a:r>
            <a:r>
              <a:rPr lang="en-US" sz="2000" dirty="0" err="1" smtClean="0"/>
              <a:t>saada</a:t>
            </a:r>
            <a:r>
              <a:rPr lang="en-US" sz="2000" dirty="0" smtClean="0"/>
              <a:t> </a:t>
            </a:r>
            <a:r>
              <a:rPr lang="en-US" sz="2000" dirty="0" err="1" smtClean="0"/>
              <a:t>vastauksia</a:t>
            </a:r>
            <a:r>
              <a:rPr lang="en-US" sz="2000" dirty="0" smtClean="0"/>
              <a:t> </a:t>
            </a:r>
            <a:r>
              <a:rPr lang="en-US" sz="2000" dirty="0" err="1" smtClean="0"/>
              <a:t>kysymyksiisi</a:t>
            </a:r>
            <a:r>
              <a:rPr lang="en-US" sz="2000" dirty="0" smtClean="0"/>
              <a:t>.</a:t>
            </a:r>
          </a:p>
          <a:p>
            <a:r>
              <a:rPr lang="en-US" sz="2000" dirty="0" err="1" smtClean="0"/>
              <a:t>Sinulla</a:t>
            </a:r>
            <a:r>
              <a:rPr lang="en-US" sz="2000" dirty="0" smtClean="0"/>
              <a:t> on </a:t>
            </a:r>
            <a:r>
              <a:rPr lang="en-US" sz="2000" dirty="0" err="1" smtClean="0"/>
              <a:t>oikeus</a:t>
            </a:r>
            <a:r>
              <a:rPr lang="en-US" sz="2000" dirty="0" smtClean="0"/>
              <a:t> </a:t>
            </a:r>
            <a:r>
              <a:rPr lang="en-US" sz="2000" dirty="0" err="1" smtClean="0"/>
              <a:t>pyytää</a:t>
            </a:r>
            <a:r>
              <a:rPr lang="en-US" sz="2000" dirty="0" smtClean="0"/>
              <a:t> </a:t>
            </a:r>
            <a:r>
              <a:rPr lang="en-US" sz="2000" dirty="0" err="1" smtClean="0"/>
              <a:t>ja</a:t>
            </a:r>
            <a:r>
              <a:rPr lang="en-US" sz="2000" dirty="0" smtClean="0"/>
              <a:t> </a:t>
            </a:r>
            <a:r>
              <a:rPr lang="en-US" sz="2000" dirty="0" err="1" smtClean="0"/>
              <a:t>saada</a:t>
            </a:r>
            <a:r>
              <a:rPr lang="en-US" sz="2000" dirty="0" smtClean="0"/>
              <a:t> </a:t>
            </a:r>
            <a:r>
              <a:rPr lang="en-US" sz="2000" dirty="0" err="1" smtClean="0"/>
              <a:t>apua</a:t>
            </a:r>
            <a:r>
              <a:rPr lang="en-US" sz="2000" dirty="0" smtClean="0"/>
              <a:t> </a:t>
            </a:r>
            <a:r>
              <a:rPr lang="en-US" sz="2000" dirty="0" err="1" smtClean="0"/>
              <a:t>keneltä</a:t>
            </a:r>
            <a:r>
              <a:rPr lang="en-US" sz="2000" dirty="0" smtClean="0"/>
              <a:t> </a:t>
            </a:r>
            <a:r>
              <a:rPr lang="en-US" sz="2000" dirty="0" err="1" smtClean="0"/>
              <a:t>tahansa</a:t>
            </a:r>
            <a:r>
              <a:rPr lang="en-US" sz="2000" dirty="0" smtClean="0"/>
              <a:t> </a:t>
            </a:r>
            <a:r>
              <a:rPr lang="en-US" sz="2000" dirty="0" err="1" smtClean="0"/>
              <a:t>projektitiimiltä</a:t>
            </a:r>
            <a:r>
              <a:rPr lang="en-US" sz="2000" dirty="0" smtClean="0"/>
              <a:t>, </a:t>
            </a:r>
            <a:r>
              <a:rPr lang="en-US" sz="2000" dirty="0" err="1" smtClean="0"/>
              <a:t>mukaanlukien</a:t>
            </a:r>
            <a:r>
              <a:rPr lang="en-US" sz="2000" dirty="0" smtClean="0"/>
              <a:t> </a:t>
            </a:r>
            <a:r>
              <a:rPr lang="en-US" sz="2000" dirty="0" err="1" smtClean="0"/>
              <a:t>ohjelmoijat</a:t>
            </a:r>
            <a:r>
              <a:rPr lang="en-US" sz="2000" dirty="0" smtClean="0"/>
              <a:t>, </a:t>
            </a:r>
            <a:r>
              <a:rPr lang="en-US" sz="2000" dirty="0" err="1" smtClean="0"/>
              <a:t>esimiehet</a:t>
            </a:r>
            <a:r>
              <a:rPr lang="en-US" sz="2000" dirty="0" smtClean="0"/>
              <a:t> </a:t>
            </a:r>
            <a:r>
              <a:rPr lang="en-US" sz="2000" dirty="0" err="1" smtClean="0"/>
              <a:t>ja</a:t>
            </a:r>
            <a:r>
              <a:rPr lang="en-US" sz="2000" dirty="0" smtClean="0"/>
              <a:t> </a:t>
            </a:r>
            <a:r>
              <a:rPr lang="en-US" sz="2000" dirty="0" err="1" smtClean="0"/>
              <a:t>asiakkaat</a:t>
            </a:r>
            <a:r>
              <a:rPr lang="en-US" sz="2000" dirty="0" smtClean="0"/>
              <a:t>. </a:t>
            </a:r>
          </a:p>
          <a:p>
            <a:r>
              <a:rPr lang="en-US" sz="2000" dirty="0" err="1" smtClean="0"/>
              <a:t>Sinulla</a:t>
            </a:r>
            <a:r>
              <a:rPr lang="en-US" sz="2000" dirty="0" smtClean="0"/>
              <a:t> on </a:t>
            </a:r>
            <a:r>
              <a:rPr lang="en-US" sz="2000" dirty="0" err="1" smtClean="0"/>
              <a:t>oikeus</a:t>
            </a:r>
            <a:r>
              <a:rPr lang="en-US" sz="2000" dirty="0" smtClean="0"/>
              <a:t> </a:t>
            </a:r>
            <a:r>
              <a:rPr lang="en-US" sz="2000" dirty="0" err="1" smtClean="0"/>
              <a:t>tehdä</a:t>
            </a:r>
            <a:r>
              <a:rPr lang="en-US" sz="2000" dirty="0" smtClean="0"/>
              <a:t> </a:t>
            </a:r>
            <a:r>
              <a:rPr lang="en-US" sz="2000" dirty="0" err="1" smtClean="0"/>
              <a:t>ja</a:t>
            </a:r>
            <a:r>
              <a:rPr lang="en-US" sz="2000" dirty="0" smtClean="0"/>
              <a:t> </a:t>
            </a:r>
            <a:r>
              <a:rPr lang="en-US" sz="2000" dirty="0" err="1" smtClean="0"/>
              <a:t>päivittää</a:t>
            </a:r>
            <a:r>
              <a:rPr lang="en-US" sz="2000" dirty="0" smtClean="0"/>
              <a:t> </a:t>
            </a:r>
            <a:r>
              <a:rPr lang="en-US" sz="2000" dirty="0" err="1" smtClean="0"/>
              <a:t>omia</a:t>
            </a:r>
            <a:r>
              <a:rPr lang="en-US" sz="2000" dirty="0" smtClean="0"/>
              <a:t> </a:t>
            </a:r>
            <a:r>
              <a:rPr lang="en-US" sz="2000" dirty="0" err="1" smtClean="0"/>
              <a:t>työmääräarvioita</a:t>
            </a:r>
            <a:r>
              <a:rPr lang="en-US" sz="2000" dirty="0" smtClean="0"/>
              <a:t> </a:t>
            </a:r>
            <a:r>
              <a:rPr lang="en-US" sz="2000" dirty="0" err="1" smtClean="0"/>
              <a:t>tehtävillesi</a:t>
            </a:r>
            <a:r>
              <a:rPr lang="en-US" sz="2000" dirty="0" smtClean="0"/>
              <a:t> </a:t>
            </a:r>
            <a:r>
              <a:rPr lang="en-US" sz="2000" dirty="0" err="1" smtClean="0"/>
              <a:t>ja</a:t>
            </a:r>
            <a:r>
              <a:rPr lang="en-US" sz="2000" dirty="0" smtClean="0"/>
              <a:t> </a:t>
            </a:r>
            <a:r>
              <a:rPr lang="en-US" sz="2000" dirty="0" err="1" smtClean="0"/>
              <a:t>sisällyttää</a:t>
            </a:r>
            <a:r>
              <a:rPr lang="en-US" sz="2000" dirty="0" smtClean="0"/>
              <a:t> </a:t>
            </a:r>
            <a:r>
              <a:rPr lang="en-US" sz="2000" dirty="0" err="1" smtClean="0"/>
              <a:t>nämä</a:t>
            </a:r>
            <a:r>
              <a:rPr lang="en-US" sz="2000" dirty="0" smtClean="0"/>
              <a:t> </a:t>
            </a:r>
            <a:r>
              <a:rPr lang="en-US" sz="2000" dirty="0" err="1" smtClean="0"/>
              <a:t>tarinoiden</a:t>
            </a:r>
            <a:r>
              <a:rPr lang="en-US" sz="2000" dirty="0" smtClean="0"/>
              <a:t> </a:t>
            </a:r>
            <a:r>
              <a:rPr lang="en-US" sz="2000" dirty="0" err="1" smtClean="0"/>
              <a:t>kokonaistyömääriin</a:t>
            </a:r>
            <a:r>
              <a:rPr lang="en-US" sz="2000" dirty="0" smtClean="0"/>
              <a:t>.</a:t>
            </a:r>
          </a:p>
          <a:p>
            <a:r>
              <a:rPr lang="en-US" sz="2000" dirty="0" err="1" smtClean="0"/>
              <a:t>Sinulla</a:t>
            </a:r>
            <a:r>
              <a:rPr lang="en-US" sz="2000" dirty="0" smtClean="0"/>
              <a:t> on </a:t>
            </a:r>
            <a:r>
              <a:rPr lang="en-US" sz="2000" dirty="0" err="1" smtClean="0"/>
              <a:t>oikeus</a:t>
            </a:r>
            <a:r>
              <a:rPr lang="en-US" sz="2000" dirty="0" smtClean="0"/>
              <a:t> </a:t>
            </a:r>
            <a:r>
              <a:rPr lang="en-US" sz="2000" dirty="0" err="1" smtClean="0"/>
              <a:t>työkaluihin</a:t>
            </a:r>
            <a:r>
              <a:rPr lang="en-US" sz="2000" dirty="0" smtClean="0"/>
              <a:t> </a:t>
            </a:r>
            <a:r>
              <a:rPr lang="en-US" sz="2000" dirty="0" err="1" smtClean="0"/>
              <a:t>joita</a:t>
            </a:r>
            <a:r>
              <a:rPr lang="en-US" sz="2000" dirty="0" smtClean="0"/>
              <a:t> </a:t>
            </a:r>
            <a:r>
              <a:rPr lang="en-US" sz="2000" dirty="0" err="1" smtClean="0"/>
              <a:t>työhösi</a:t>
            </a:r>
            <a:r>
              <a:rPr lang="en-US" sz="2000" dirty="0" smtClean="0"/>
              <a:t> </a:t>
            </a:r>
            <a:r>
              <a:rPr lang="en-US" sz="2000" dirty="0" err="1" smtClean="0"/>
              <a:t>tarvitset</a:t>
            </a:r>
            <a:r>
              <a:rPr lang="en-US" sz="2000" dirty="0" smtClean="0"/>
              <a:t> </a:t>
            </a:r>
            <a:r>
              <a:rPr lang="en-US" sz="2000" dirty="0" err="1" smtClean="0"/>
              <a:t>silloin</a:t>
            </a:r>
            <a:r>
              <a:rPr lang="en-US" sz="2000" dirty="0" smtClean="0"/>
              <a:t> kun </a:t>
            </a:r>
            <a:r>
              <a:rPr lang="en-US" sz="2000" dirty="0" err="1" smtClean="0"/>
              <a:t>niitä</a:t>
            </a:r>
            <a:r>
              <a:rPr lang="en-US" sz="2000" dirty="0" smtClean="0"/>
              <a:t> </a:t>
            </a:r>
            <a:r>
              <a:rPr lang="en-US" sz="2000" dirty="0" err="1" smtClean="0"/>
              <a:t>tarvitset</a:t>
            </a:r>
            <a:r>
              <a:rPr lang="en-US" sz="2000" dirty="0" smtClean="0"/>
              <a:t>.</a:t>
            </a:r>
          </a:p>
          <a:p>
            <a:r>
              <a:rPr lang="en-US" sz="2000" dirty="0" err="1" smtClean="0"/>
              <a:t>Sinulla</a:t>
            </a:r>
            <a:r>
              <a:rPr lang="en-US" sz="2000" dirty="0" smtClean="0"/>
              <a:t> on </a:t>
            </a:r>
            <a:r>
              <a:rPr lang="en-US" sz="2000" dirty="0" err="1" smtClean="0"/>
              <a:t>oikeus</a:t>
            </a:r>
            <a:r>
              <a:rPr lang="en-US" sz="2000" dirty="0" smtClean="0"/>
              <a:t> </a:t>
            </a:r>
            <a:r>
              <a:rPr lang="en-US" sz="2000" dirty="0" err="1" smtClean="0"/>
              <a:t>odottaa</a:t>
            </a:r>
            <a:r>
              <a:rPr lang="en-US" sz="2000" dirty="0" smtClean="0"/>
              <a:t> </a:t>
            </a:r>
            <a:r>
              <a:rPr lang="en-US" sz="2000" dirty="0" err="1" smtClean="0"/>
              <a:t>projektitiimisi</a:t>
            </a:r>
            <a:r>
              <a:rPr lang="en-US" sz="2000" dirty="0" smtClean="0"/>
              <a:t>, </a:t>
            </a:r>
            <a:r>
              <a:rPr lang="en-US" sz="2000" dirty="0" err="1" smtClean="0"/>
              <a:t>ei</a:t>
            </a:r>
            <a:r>
              <a:rPr lang="en-US" sz="2000" dirty="0" smtClean="0"/>
              <a:t> vain </a:t>
            </a:r>
            <a:r>
              <a:rPr lang="en-US" sz="2000" dirty="0" err="1" smtClean="0"/>
              <a:t>itsesi</a:t>
            </a:r>
            <a:r>
              <a:rPr lang="en-US" sz="2000" dirty="0" smtClean="0"/>
              <a:t>, </a:t>
            </a:r>
            <a:r>
              <a:rPr lang="en-US" sz="2000" dirty="0" err="1" smtClean="0"/>
              <a:t>olevan</a:t>
            </a:r>
            <a:r>
              <a:rPr lang="en-US" sz="2000" dirty="0" smtClean="0"/>
              <a:t> </a:t>
            </a:r>
            <a:r>
              <a:rPr lang="en-US" sz="2000" dirty="0" err="1" smtClean="0"/>
              <a:t>vastuussa</a:t>
            </a:r>
            <a:r>
              <a:rPr lang="en-US" sz="2000" dirty="0" smtClean="0"/>
              <a:t> </a:t>
            </a:r>
            <a:r>
              <a:rPr lang="en-US" sz="2000" dirty="0" err="1" smtClean="0"/>
              <a:t>laadusta</a:t>
            </a:r>
            <a:r>
              <a:rPr lang="en-US" sz="2000" dirty="0" smtClean="0"/>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Oliko vielä muuta?</a:t>
            </a:r>
            <a:endParaRPr lang="fi-FI" dirty="0"/>
          </a:p>
        </p:txBody>
      </p:sp>
      <p:sp>
        <p:nvSpPr>
          <p:cNvPr id="3" name="Content Placeholder 2"/>
          <p:cNvSpPr>
            <a:spLocks noGrp="1"/>
          </p:cNvSpPr>
          <p:nvPr>
            <p:ph idx="1"/>
          </p:nvPr>
        </p:nvSpPr>
        <p:spPr/>
        <p:txBody>
          <a:bodyPr>
            <a:noAutofit/>
          </a:bodyPr>
          <a:lstStyle/>
          <a:p>
            <a:r>
              <a:rPr lang="fi-FI" sz="2000" dirty="0" smtClean="0"/>
              <a:t>Entä jos tiimejä järjestelmän tekemiseen on enemmän kuin yksi tiimi?</a:t>
            </a:r>
          </a:p>
          <a:p>
            <a:r>
              <a:rPr lang="fi-FI" sz="2000" dirty="0" smtClean="0"/>
              <a:t>Mitä jos olemme vasta aloittelemassa ketterien menetelmien kanssa?</a:t>
            </a:r>
          </a:p>
          <a:p>
            <a:r>
              <a:rPr lang="fi-FI" sz="2000" dirty="0" smtClean="0"/>
              <a:t>Jos käytän kaikkia näitä käytäntöjä, ollaanko me sitten ketteriä vai onko vielä jotain muutakin jota vaaditaan?</a:t>
            </a:r>
          </a:p>
          <a:p>
            <a:r>
              <a:rPr lang="fi-FI" sz="2000" dirty="0" smtClean="0"/>
              <a:t>Entäs minun työni testausvastaavana, et maininnut vielä mitä minun pitäisi tehdä?</a:t>
            </a:r>
          </a:p>
          <a:p>
            <a:r>
              <a:rPr lang="fi-FI" sz="2000" dirty="0" smtClean="0"/>
              <a:t>Kyllähän minä näin toimisin, mutta kun nuo muut... Voivatko he muuttua?</a:t>
            </a:r>
          </a:p>
          <a:p>
            <a:r>
              <a:rPr lang="fi-FI" sz="2000" dirty="0" smtClean="0"/>
              <a:t>Mitä jos emme voi tehdä (taitojen puolesta) hyväksymistestiohjattua tarinapohjaista kehitystä eikä meillä ole automaatiota testeille? Sulkeeko se ketterät menetelmät pois?</a:t>
            </a:r>
          </a:p>
          <a:p>
            <a:r>
              <a:rPr lang="fi-FI" sz="2000" dirty="0" smtClean="0"/>
              <a:t>Mitä teen testausdokumentaation ja havaintokirjausten osalta ketterien menetelmien kanssa?</a:t>
            </a:r>
          </a:p>
          <a:p>
            <a:r>
              <a:rPr lang="fi-FI" sz="2000" i="1" dirty="0" smtClean="0"/>
              <a:t>&lt;Lisää suosikkisi&gt;</a:t>
            </a:r>
            <a:endParaRPr lang="fi-FI" sz="2000" i="1"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fi-FI" dirty="0" smtClean="0"/>
              <a:t>Projektielämä käytännössä ei ole niin helppoa...</a:t>
            </a:r>
            <a:endParaRPr lang="fi-FI" dirty="0"/>
          </a:p>
        </p:txBody>
      </p:sp>
      <p:sp>
        <p:nvSpPr>
          <p:cNvPr id="6" name="Content Placeholder 5"/>
          <p:cNvSpPr>
            <a:spLocks noGrp="1"/>
          </p:cNvSpPr>
          <p:nvPr>
            <p:ph idx="1"/>
          </p:nvPr>
        </p:nvSpPr>
        <p:spPr>
          <a:xfrm>
            <a:off x="457200" y="1600200"/>
            <a:ext cx="6781800" cy="4525963"/>
          </a:xfrm>
        </p:spPr>
        <p:txBody>
          <a:bodyPr>
            <a:normAutofit fontScale="55000" lnSpcReduction="20000"/>
          </a:bodyPr>
          <a:lstStyle/>
          <a:p>
            <a:r>
              <a:rPr lang="fi-FI" dirty="0" smtClean="0"/>
              <a:t>Pitäisikö käyttää toteutusvaiheen tehtävälistaa vai tehtävätaulua?</a:t>
            </a:r>
          </a:p>
          <a:p>
            <a:r>
              <a:rPr lang="fi-FI" dirty="0" smtClean="0"/>
              <a:t>Pitäisikö testaustehtävät erottaa lainkaan meidän suunnitelmissa?</a:t>
            </a:r>
          </a:p>
          <a:p>
            <a:r>
              <a:rPr lang="fi-FI" dirty="0" smtClean="0"/>
              <a:t>Pitäisikö kaikki testit automatisoida? Millä työkalulla?</a:t>
            </a:r>
          </a:p>
          <a:p>
            <a:r>
              <a:rPr lang="fi-FI" dirty="0" smtClean="0"/>
              <a:t>Kuinka ei-testaajat tiimissä saadaan suostuteltua testaamaan?</a:t>
            </a:r>
          </a:p>
          <a:p>
            <a:r>
              <a:rPr lang="fi-FI" dirty="0" smtClean="0"/>
              <a:t>Kuinka välttää testaustyön kertyminen viimeiselle viikolle?</a:t>
            </a:r>
          </a:p>
          <a:p>
            <a:r>
              <a:rPr lang="fi-FI" dirty="0" smtClean="0"/>
              <a:t>Kuinka hoitaa havaintojen raportointi, koska tietokanta on tarpeen? Mitä, sitä ei pitäisi käyttää joissain tilanteissa?</a:t>
            </a:r>
          </a:p>
          <a:p>
            <a:r>
              <a:rPr lang="fi-FI" dirty="0" smtClean="0"/>
              <a:t>Kuinka pysyn tietoisena kokonaisuuksista siten että voin oikeasti muuttaa suuntaa tarvittaessa?</a:t>
            </a:r>
          </a:p>
          <a:p>
            <a:r>
              <a:rPr lang="fi-FI" dirty="0" smtClean="0"/>
              <a:t>Kuinka huomaan että minun pitää muuttaa jotain, mitä tahansa?</a:t>
            </a:r>
          </a:p>
          <a:p>
            <a:r>
              <a:rPr lang="fi-FI" dirty="0" smtClean="0"/>
              <a:t>Entäs tiimini testaukset silloin kun minä en ole saatavilla?</a:t>
            </a:r>
          </a:p>
          <a:p>
            <a:r>
              <a:rPr lang="fi-FI" dirty="0" smtClean="0"/>
              <a:t>Mitä 1000 koonnista minun pitäisi testata kun en ihan oikeasti voi testata niitä kaikkia?</a:t>
            </a:r>
          </a:p>
          <a:p>
            <a:r>
              <a:rPr lang="fi-FI" dirty="0" smtClean="0"/>
              <a:t>Entäs yleinen projektitoimitus, täällä kuvitellaan että kun kehitys on tehty, voidaan vaan julkaista ilman erillistä testausvaihetta?</a:t>
            </a:r>
          </a:p>
          <a:p>
            <a:r>
              <a:rPr lang="fi-FI" dirty="0" smtClean="0"/>
              <a:t>Kuinka suunnittelen työmääriä kun en vielä tiedä kaikkea mitä minulta odotetaan muutoksen osalta? </a:t>
            </a:r>
          </a:p>
          <a:p>
            <a:pPr>
              <a:buNone/>
            </a:pPr>
            <a:endParaRPr lang="fi-FI" dirty="0" smtClean="0"/>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
        <p:nvSpPr>
          <p:cNvPr id="7" name="TextBox 6"/>
          <p:cNvSpPr txBox="1"/>
          <p:nvPr/>
        </p:nvSpPr>
        <p:spPr>
          <a:xfrm>
            <a:off x="7315200" y="2743200"/>
            <a:ext cx="1676400" cy="1323439"/>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pPr algn="ctr"/>
            <a:r>
              <a:rPr lang="fi-FI" sz="2000" dirty="0" smtClean="0"/>
              <a:t>Käsittelemme päähuolen-aiheita syvemmälle. </a:t>
            </a:r>
            <a:endParaRPr lang="fi-FI" sz="2000" dirty="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i-FI" dirty="0" smtClean="0"/>
              <a:t>Ketterän testauksen vs. ketterän kehityksen kurssisisällöt</a:t>
            </a:r>
            <a:endParaRPr lang="fi-FI" dirty="0"/>
          </a:p>
        </p:txBody>
      </p:sp>
      <p:graphicFrame>
        <p:nvGraphicFramePr>
          <p:cNvPr id="4" name="Content Placeholder 3"/>
          <p:cNvGraphicFramePr>
            <a:graphicFrameLocks noGrp="1"/>
          </p:cNvGraphicFramePr>
          <p:nvPr>
            <p:ph idx="1"/>
          </p:nvPr>
        </p:nvGraphicFramePr>
        <p:xfrm>
          <a:off x="-1447800" y="1428736"/>
          <a:ext cx="9072594" cy="52864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p:cNvSpPr txBox="1"/>
          <p:nvPr/>
        </p:nvSpPr>
        <p:spPr>
          <a:xfrm>
            <a:off x="6248400" y="2222480"/>
            <a:ext cx="2514600" cy="341632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fi-FI" sz="2400" dirty="0" smtClean="0"/>
              <a:t>Ketterässä tiimissä osaamiset eivät saa henkilöityä. Joukossa voi olla oppimis-/ seuran-tapainotuksia, joka ei tarkoita että ko. henkilö olisi ainoa tekijä.</a:t>
            </a:r>
            <a:endParaRPr lang="fi-FI"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fi-FI" dirty="0" smtClean="0"/>
              <a:t>Ketterä testaus – Perinteisissä menetelmissä</a:t>
            </a:r>
            <a:endParaRPr lang="fi-FI" dirty="0"/>
          </a:p>
        </p:txBody>
      </p:sp>
      <p:sp>
        <p:nvSpPr>
          <p:cNvPr id="13" name="Text Placeholder 12"/>
          <p:cNvSpPr>
            <a:spLocks noGrp="1"/>
          </p:cNvSpPr>
          <p:nvPr>
            <p:ph type="body" idx="1"/>
          </p:nvPr>
        </p:nvSpPr>
        <p:spPr/>
        <p:txBody>
          <a:bodyPr/>
          <a:lstStyle/>
          <a:p>
            <a:endParaRPr lang="fi-FI"/>
          </a:p>
        </p:txBody>
      </p:sp>
      <p:pic>
        <p:nvPicPr>
          <p:cNvPr id="4100" name="Picture 4" descr="C:\Documents and Settings\Maaret\My Documents\My Pictures\Microsoft Clip Organizer\j0078810.wmf"/>
          <p:cNvPicPr>
            <a:picLocks noChangeAspect="1" noChangeArrowheads="1"/>
          </p:cNvPicPr>
          <p:nvPr/>
        </p:nvPicPr>
        <p:blipFill>
          <a:blip r:embed="rId3" cstate="print"/>
          <a:srcRect/>
          <a:stretch>
            <a:fillRect/>
          </a:stretch>
        </p:blipFill>
        <p:spPr bwMode="auto">
          <a:xfrm>
            <a:off x="4377763" y="438150"/>
            <a:ext cx="4405876" cy="2990850"/>
          </a:xfrm>
          <a:prstGeom prst="rect">
            <a:avLst/>
          </a:prstGeom>
          <a:noFill/>
        </p:spPr>
      </p:pic>
      <p:sp>
        <p:nvSpPr>
          <p:cNvPr id="5" name="Slide Number Placeholder 4"/>
          <p:cNvSpPr>
            <a:spLocks noGrp="1"/>
          </p:cNvSpPr>
          <p:nvPr>
            <p:ph type="sldNum" sz="quarter" idx="12"/>
          </p:nvPr>
        </p:nvSpPr>
        <p:spPr/>
        <p:txBody>
          <a:bodyPr/>
          <a:lstStyle/>
          <a:p>
            <a:fld id="{B6F15528-21DE-4FAA-801E-634DDDAF4B2B}"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GB" dirty="0" err="1" smtClean="0"/>
              <a:t>Testaus</a:t>
            </a:r>
            <a:r>
              <a:rPr lang="en-GB" dirty="0" smtClean="0"/>
              <a:t> </a:t>
            </a:r>
            <a:r>
              <a:rPr lang="en-GB" dirty="0" err="1" smtClean="0"/>
              <a:t>puoliketterästi</a:t>
            </a:r>
            <a:r>
              <a:rPr lang="en-GB" dirty="0" smtClean="0"/>
              <a:t>  </a:t>
            </a:r>
            <a:br>
              <a:rPr lang="en-GB" dirty="0" smtClean="0"/>
            </a:br>
            <a:r>
              <a:rPr lang="en-GB" sz="4000" dirty="0" err="1" smtClean="0"/>
              <a:t>testaukseen</a:t>
            </a:r>
            <a:r>
              <a:rPr lang="en-GB" sz="4000" dirty="0" smtClean="0"/>
              <a:t> </a:t>
            </a:r>
            <a:r>
              <a:rPr lang="en-GB" sz="4000" dirty="0" err="1" smtClean="0"/>
              <a:t>ketterät</a:t>
            </a:r>
            <a:r>
              <a:rPr lang="en-GB" sz="4000" dirty="0" smtClean="0"/>
              <a:t> </a:t>
            </a:r>
            <a:r>
              <a:rPr lang="en-GB" sz="4000" dirty="0" err="1" smtClean="0"/>
              <a:t>arvot</a:t>
            </a:r>
            <a:r>
              <a:rPr lang="en-GB" sz="4000" dirty="0" smtClean="0"/>
              <a:t> </a:t>
            </a:r>
            <a:r>
              <a:rPr lang="en-GB" sz="4000" dirty="0" err="1" smtClean="0"/>
              <a:t>ja</a:t>
            </a:r>
            <a:r>
              <a:rPr lang="en-GB" sz="4000" dirty="0" smtClean="0"/>
              <a:t> </a:t>
            </a:r>
            <a:r>
              <a:rPr lang="en-GB" sz="4000" dirty="0" err="1" smtClean="0"/>
              <a:t>menetelmät</a:t>
            </a:r>
            <a:endParaRPr lang="en-US" dirty="0"/>
          </a:p>
        </p:txBody>
      </p:sp>
      <p:sp>
        <p:nvSpPr>
          <p:cNvPr id="3" name="Rectangle 2"/>
          <p:cNvSpPr/>
          <p:nvPr/>
        </p:nvSpPr>
        <p:spPr>
          <a:xfrm>
            <a:off x="214313" y="2286000"/>
            <a:ext cx="1643062"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Yleistestaus-suunnitelma</a:t>
            </a:r>
            <a:endParaRPr lang="en-US" dirty="0"/>
          </a:p>
        </p:txBody>
      </p:sp>
      <p:sp>
        <p:nvSpPr>
          <p:cNvPr id="5" name="Rectangle 4"/>
          <p:cNvSpPr/>
          <p:nvPr/>
        </p:nvSpPr>
        <p:spPr>
          <a:xfrm>
            <a:off x="2000250" y="2286000"/>
            <a:ext cx="1643063"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Testaus-suunnitelma</a:t>
            </a:r>
            <a:endParaRPr lang="en-US" dirty="0"/>
          </a:p>
        </p:txBody>
      </p:sp>
      <p:sp>
        <p:nvSpPr>
          <p:cNvPr id="61444" name="TextBox 5"/>
          <p:cNvSpPr txBox="1">
            <a:spLocks noChangeArrowheads="1"/>
          </p:cNvSpPr>
          <p:nvPr/>
        </p:nvSpPr>
        <p:spPr bwMode="auto">
          <a:xfrm>
            <a:off x="1857375" y="1916113"/>
            <a:ext cx="1958975" cy="369887"/>
          </a:xfrm>
          <a:prstGeom prst="rect">
            <a:avLst/>
          </a:prstGeom>
          <a:noFill/>
          <a:ln w="9525">
            <a:noFill/>
            <a:miter lim="800000"/>
            <a:headEnd/>
            <a:tailEnd/>
          </a:ln>
        </p:spPr>
        <p:txBody>
          <a:bodyPr>
            <a:spAutoFit/>
          </a:bodyPr>
          <a:lstStyle/>
          <a:p>
            <a:pPr algn="ctr"/>
            <a:r>
              <a:rPr lang="en-GB"/>
              <a:t>Per taso / ryhmä</a:t>
            </a:r>
            <a:endParaRPr lang="en-US"/>
          </a:p>
        </p:txBody>
      </p:sp>
      <p:sp>
        <p:nvSpPr>
          <p:cNvPr id="7" name="Rectangle 6"/>
          <p:cNvSpPr/>
          <p:nvPr/>
        </p:nvSpPr>
        <p:spPr>
          <a:xfrm>
            <a:off x="3786188" y="2286000"/>
            <a:ext cx="1643062"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Aikarajausten</a:t>
            </a:r>
            <a:r>
              <a:rPr lang="en-GB" dirty="0"/>
              <a:t> </a:t>
            </a:r>
            <a:r>
              <a:rPr lang="en-GB" dirty="0" err="1"/>
              <a:t>aluekohdis-taminen</a:t>
            </a:r>
            <a:endParaRPr lang="en-US" dirty="0"/>
          </a:p>
        </p:txBody>
      </p:sp>
      <p:sp>
        <p:nvSpPr>
          <p:cNvPr id="61446" name="TextBox 7"/>
          <p:cNvSpPr txBox="1">
            <a:spLocks noChangeArrowheads="1"/>
          </p:cNvSpPr>
          <p:nvPr/>
        </p:nvSpPr>
        <p:spPr bwMode="auto">
          <a:xfrm>
            <a:off x="5214938" y="2416175"/>
            <a:ext cx="1357312" cy="584200"/>
          </a:xfrm>
          <a:prstGeom prst="rect">
            <a:avLst/>
          </a:prstGeom>
          <a:noFill/>
          <a:ln w="9525">
            <a:noFill/>
            <a:miter lim="800000"/>
            <a:headEnd/>
            <a:tailEnd/>
          </a:ln>
        </p:spPr>
        <p:txBody>
          <a:bodyPr>
            <a:spAutoFit/>
          </a:bodyPr>
          <a:lstStyle/>
          <a:p>
            <a:pPr algn="ctr"/>
            <a:r>
              <a:rPr lang="en-GB" sz="3200"/>
              <a:t>…</a:t>
            </a:r>
            <a:endParaRPr lang="en-US" sz="3200"/>
          </a:p>
        </p:txBody>
      </p:sp>
      <p:sp>
        <p:nvSpPr>
          <p:cNvPr id="9" name="Rectangle 8"/>
          <p:cNvSpPr/>
          <p:nvPr/>
        </p:nvSpPr>
        <p:spPr>
          <a:xfrm>
            <a:off x="6143625" y="2286000"/>
            <a:ext cx="1357313"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Testien</a:t>
            </a:r>
            <a:r>
              <a:rPr lang="en-GB" dirty="0"/>
              <a:t> </a:t>
            </a:r>
            <a:r>
              <a:rPr lang="en-GB" dirty="0" err="1"/>
              <a:t>suoritus</a:t>
            </a:r>
            <a:r>
              <a:rPr lang="en-GB" dirty="0"/>
              <a:t> </a:t>
            </a:r>
            <a:r>
              <a:rPr lang="en-GB" dirty="0" err="1"/>
              <a:t>alue/aika-varaus</a:t>
            </a:r>
            <a:r>
              <a:rPr lang="en-GB" dirty="0"/>
              <a:t> 1</a:t>
            </a:r>
            <a:endParaRPr lang="en-US" dirty="0"/>
          </a:p>
        </p:txBody>
      </p:sp>
      <p:sp>
        <p:nvSpPr>
          <p:cNvPr id="10" name="Rectangle 9"/>
          <p:cNvSpPr/>
          <p:nvPr/>
        </p:nvSpPr>
        <p:spPr>
          <a:xfrm>
            <a:off x="7715250" y="2286000"/>
            <a:ext cx="1285875"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Kattavuus-arviointi</a:t>
            </a:r>
            <a:endParaRPr lang="en-US" dirty="0"/>
          </a:p>
        </p:txBody>
      </p:sp>
      <p:cxnSp>
        <p:nvCxnSpPr>
          <p:cNvPr id="12" name="Straight Arrow Connector 11"/>
          <p:cNvCxnSpPr>
            <a:stCxn id="9" idx="3"/>
            <a:endCxn id="10" idx="1"/>
          </p:cNvCxnSpPr>
          <p:nvPr/>
        </p:nvCxnSpPr>
        <p:spPr>
          <a:xfrm>
            <a:off x="7500938" y="2820988"/>
            <a:ext cx="214312" cy="1587"/>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3" name="Rectangle 22"/>
          <p:cNvSpPr/>
          <p:nvPr/>
        </p:nvSpPr>
        <p:spPr>
          <a:xfrm>
            <a:off x="7715250" y="3571875"/>
            <a:ext cx="1285875" cy="10715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Lisää</a:t>
            </a:r>
            <a:r>
              <a:rPr lang="en-GB" dirty="0"/>
              <a:t> </a:t>
            </a:r>
            <a:r>
              <a:rPr lang="en-GB" dirty="0" err="1"/>
              <a:t>aikavarauksia</a:t>
            </a:r>
            <a:r>
              <a:rPr lang="en-GB" dirty="0"/>
              <a:t> </a:t>
            </a:r>
            <a:r>
              <a:rPr lang="en-GB" dirty="0" err="1"/>
              <a:t>alueelle</a:t>
            </a:r>
            <a:endParaRPr lang="en-US" dirty="0"/>
          </a:p>
        </p:txBody>
      </p:sp>
      <p:sp>
        <p:nvSpPr>
          <p:cNvPr id="24" name="Rectangle 23"/>
          <p:cNvSpPr/>
          <p:nvPr/>
        </p:nvSpPr>
        <p:spPr>
          <a:xfrm>
            <a:off x="6143625" y="4929188"/>
            <a:ext cx="1357313"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Testien</a:t>
            </a:r>
            <a:r>
              <a:rPr lang="en-GB" dirty="0"/>
              <a:t> </a:t>
            </a:r>
            <a:r>
              <a:rPr lang="en-GB" dirty="0" err="1"/>
              <a:t>suoritus</a:t>
            </a:r>
            <a:r>
              <a:rPr lang="en-GB" dirty="0"/>
              <a:t> </a:t>
            </a:r>
            <a:r>
              <a:rPr lang="en-GB" dirty="0" err="1"/>
              <a:t>alue/aika-rajaus</a:t>
            </a:r>
            <a:r>
              <a:rPr lang="en-GB" dirty="0"/>
              <a:t> 2</a:t>
            </a:r>
            <a:endParaRPr lang="en-US" dirty="0"/>
          </a:p>
        </p:txBody>
      </p:sp>
      <p:cxnSp>
        <p:nvCxnSpPr>
          <p:cNvPr id="26" name="Elbow Connector 25"/>
          <p:cNvCxnSpPr>
            <a:stCxn id="10" idx="2"/>
            <a:endCxn id="23" idx="0"/>
          </p:cNvCxnSpPr>
          <p:nvPr/>
        </p:nvCxnSpPr>
        <p:spPr>
          <a:xfrm rot="5400000">
            <a:off x="8251032" y="3464719"/>
            <a:ext cx="215900" cy="1587"/>
          </a:xfrm>
          <a:prstGeom prst="bentConnector3">
            <a:avLst>
              <a:gd name="adj1" fmla="val 50000"/>
            </a:avLst>
          </a:prstGeom>
          <a:ln>
            <a:tailEnd type="arrow"/>
          </a:ln>
        </p:spPr>
        <p:style>
          <a:lnRef idx="3">
            <a:schemeClr val="accent1"/>
          </a:lnRef>
          <a:fillRef idx="0">
            <a:schemeClr val="accent1"/>
          </a:fillRef>
          <a:effectRef idx="2">
            <a:schemeClr val="accent1"/>
          </a:effectRef>
          <a:fontRef idx="minor">
            <a:schemeClr val="tx1"/>
          </a:fontRef>
        </p:style>
      </p:cxnSp>
      <p:sp>
        <p:nvSpPr>
          <p:cNvPr id="27" name="Rectangle 26"/>
          <p:cNvSpPr/>
          <p:nvPr/>
        </p:nvSpPr>
        <p:spPr>
          <a:xfrm>
            <a:off x="7715250" y="4929188"/>
            <a:ext cx="1285875" cy="10715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GB" dirty="0" err="1"/>
              <a:t>Kattavuus-arviointi</a:t>
            </a:r>
            <a:endParaRPr lang="en-US" dirty="0"/>
          </a:p>
        </p:txBody>
      </p:sp>
      <p:cxnSp>
        <p:nvCxnSpPr>
          <p:cNvPr id="28" name="Straight Arrow Connector 27"/>
          <p:cNvCxnSpPr>
            <a:endCxn id="27" idx="1"/>
          </p:cNvCxnSpPr>
          <p:nvPr/>
        </p:nvCxnSpPr>
        <p:spPr>
          <a:xfrm>
            <a:off x="7500938" y="5465763"/>
            <a:ext cx="214312" cy="1587"/>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29" name="Oval 28"/>
          <p:cNvSpPr/>
          <p:nvPr/>
        </p:nvSpPr>
        <p:spPr>
          <a:xfrm>
            <a:off x="8215313" y="6286500"/>
            <a:ext cx="285750" cy="2857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cxnSp>
        <p:nvCxnSpPr>
          <p:cNvPr id="31" name="Straight Arrow Connector 30"/>
          <p:cNvCxnSpPr>
            <a:stCxn id="27" idx="2"/>
            <a:endCxn id="29" idx="0"/>
          </p:cNvCxnSpPr>
          <p:nvPr/>
        </p:nvCxnSpPr>
        <p:spPr>
          <a:xfrm rot="16200000" flipH="1">
            <a:off x="8215313" y="6143625"/>
            <a:ext cx="285750" cy="0"/>
          </a:xfrm>
          <a:prstGeom prst="straightConnector1">
            <a:avLst/>
          </a:prstGeom>
          <a:ln>
            <a:tailEnd type="arrow"/>
          </a:ln>
        </p:spPr>
        <p:style>
          <a:lnRef idx="3">
            <a:schemeClr val="accent1"/>
          </a:lnRef>
          <a:fillRef idx="0">
            <a:schemeClr val="accent1"/>
          </a:fillRef>
          <a:effectRef idx="2">
            <a:schemeClr val="accent1"/>
          </a:effectRef>
          <a:fontRef idx="minor">
            <a:schemeClr val="tx1"/>
          </a:fontRef>
        </p:style>
      </p:cxnSp>
      <p:sp>
        <p:nvSpPr>
          <p:cNvPr id="61457" name="TextBox 31"/>
          <p:cNvSpPr txBox="1">
            <a:spLocks noChangeArrowheads="1"/>
          </p:cNvSpPr>
          <p:nvPr/>
        </p:nvSpPr>
        <p:spPr bwMode="auto">
          <a:xfrm>
            <a:off x="3571875" y="6140450"/>
            <a:ext cx="2071688" cy="646113"/>
          </a:xfrm>
          <a:prstGeom prst="rect">
            <a:avLst/>
          </a:prstGeom>
          <a:noFill/>
          <a:ln w="9525">
            <a:noFill/>
            <a:miter lim="800000"/>
            <a:headEnd/>
            <a:tailEnd/>
          </a:ln>
        </p:spPr>
        <p:txBody>
          <a:bodyPr>
            <a:spAutoFit/>
          </a:bodyPr>
          <a:lstStyle/>
          <a:p>
            <a:pPr algn="ctr"/>
            <a:r>
              <a:rPr lang="en-GB"/>
              <a:t>Suunniteltu pieni työmäärä</a:t>
            </a:r>
            <a:endParaRPr lang="en-US"/>
          </a:p>
        </p:txBody>
      </p:sp>
      <p:sp>
        <p:nvSpPr>
          <p:cNvPr id="61458" name="TextBox 32"/>
          <p:cNvSpPr txBox="1">
            <a:spLocks noChangeArrowheads="1"/>
          </p:cNvSpPr>
          <p:nvPr/>
        </p:nvSpPr>
        <p:spPr bwMode="auto">
          <a:xfrm rot="5400000">
            <a:off x="4267995" y="5374481"/>
            <a:ext cx="785812" cy="1323975"/>
          </a:xfrm>
          <a:prstGeom prst="rect">
            <a:avLst/>
          </a:prstGeom>
          <a:noFill/>
          <a:ln w="9525">
            <a:noFill/>
            <a:miter lim="800000"/>
            <a:headEnd/>
            <a:tailEnd/>
          </a:ln>
        </p:spPr>
        <p:txBody>
          <a:bodyPr>
            <a:spAutoFit/>
          </a:bodyPr>
          <a:lstStyle/>
          <a:p>
            <a:r>
              <a:rPr lang="en-GB" sz="8000"/>
              <a:t>}</a:t>
            </a:r>
            <a:endParaRPr lang="en-US" sz="8000"/>
          </a:p>
        </p:txBody>
      </p:sp>
      <p:sp>
        <p:nvSpPr>
          <p:cNvPr id="34" name="Rectangle 33"/>
          <p:cNvSpPr/>
          <p:nvPr/>
        </p:nvSpPr>
        <p:spPr>
          <a:xfrm>
            <a:off x="214282" y="4214818"/>
            <a:ext cx="2714644" cy="2357454"/>
          </a:xfrm>
          <a:prstGeom prst="rect">
            <a:avLst/>
          </a:prstGeom>
        </p:spPr>
        <p:style>
          <a:lnRef idx="1">
            <a:schemeClr val="dk1"/>
          </a:lnRef>
          <a:fillRef idx="2">
            <a:schemeClr val="dk1"/>
          </a:fillRef>
          <a:effectRef idx="1">
            <a:schemeClr val="dk1"/>
          </a:effectRef>
          <a:fontRef idx="minor">
            <a:schemeClr val="dk1"/>
          </a:fontRef>
        </p:style>
        <p:txBody>
          <a:bodyPr anchor="ctr"/>
          <a:lstStyle/>
          <a:p>
            <a:pPr algn="ctr" fontAlgn="auto">
              <a:spcBef>
                <a:spcPts val="0"/>
              </a:spcBef>
              <a:spcAft>
                <a:spcPts val="0"/>
              </a:spcAft>
              <a:defRPr/>
            </a:pPr>
            <a:r>
              <a:rPr lang="en-GB" b="1" dirty="0"/>
              <a:t>Idea</a:t>
            </a:r>
            <a:r>
              <a:rPr lang="en-GB" dirty="0"/>
              <a:t>: </a:t>
            </a:r>
            <a:br>
              <a:rPr lang="en-GB" dirty="0"/>
            </a:br>
            <a:r>
              <a:rPr lang="en-GB" dirty="0" err="1"/>
              <a:t>sijoitetaan</a:t>
            </a:r>
            <a:r>
              <a:rPr lang="en-GB" dirty="0"/>
              <a:t> </a:t>
            </a:r>
            <a:r>
              <a:rPr lang="en-GB" dirty="0" err="1"/>
              <a:t>suunnitteluaikakin</a:t>
            </a:r>
            <a:r>
              <a:rPr lang="en-GB" dirty="0"/>
              <a:t> </a:t>
            </a:r>
            <a:r>
              <a:rPr lang="en-GB" dirty="0" err="1"/>
              <a:t>ajankohtaan</a:t>
            </a:r>
            <a:r>
              <a:rPr lang="en-GB" dirty="0"/>
              <a:t> </a:t>
            </a:r>
            <a:r>
              <a:rPr lang="en-GB" dirty="0" err="1"/>
              <a:t>jossa</a:t>
            </a:r>
            <a:r>
              <a:rPr lang="en-GB" dirty="0"/>
              <a:t> </a:t>
            </a:r>
            <a:r>
              <a:rPr lang="en-GB" dirty="0" err="1"/>
              <a:t>tiedetään</a:t>
            </a:r>
            <a:r>
              <a:rPr lang="en-GB" dirty="0"/>
              <a:t> </a:t>
            </a:r>
            <a:r>
              <a:rPr lang="en-GB" dirty="0" err="1"/>
              <a:t>mahdollisimman</a:t>
            </a:r>
            <a:r>
              <a:rPr lang="en-GB" dirty="0"/>
              <a:t> </a:t>
            </a:r>
            <a:r>
              <a:rPr lang="en-GB" dirty="0" err="1"/>
              <a:t>paljon</a:t>
            </a:r>
            <a:endParaRPr lang="en-US" dirty="0"/>
          </a:p>
        </p:txBody>
      </p:sp>
      <p:sp>
        <p:nvSpPr>
          <p:cNvPr id="21" name="Slide Number Placeholder 20"/>
          <p:cNvSpPr>
            <a:spLocks noGrp="1"/>
          </p:cNvSpPr>
          <p:nvPr>
            <p:ph type="sldNum" sz="quarter" idx="12"/>
          </p:nvPr>
        </p:nvSpPr>
        <p:spPr/>
        <p:txBody>
          <a:bodyPr/>
          <a:lstStyle/>
          <a:p>
            <a:pPr>
              <a:defRPr/>
            </a:pPr>
            <a:fld id="{BF5CF4AC-C759-48FF-8690-91203C8CB0B2}" type="slidenum">
              <a:rPr lang="sv-SE"/>
              <a:pPr>
                <a:defRPr/>
              </a:pPr>
              <a:t>24</a:t>
            </a:fld>
            <a:endParaRPr lang="sv-SE"/>
          </a:p>
        </p:txBody>
      </p:sp>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Voiko</a:t>
            </a:r>
            <a:r>
              <a:rPr lang="en-GB" dirty="0" smtClean="0"/>
              <a:t> </a:t>
            </a:r>
            <a:r>
              <a:rPr lang="en-GB" dirty="0" err="1" smtClean="0"/>
              <a:t>testaus</a:t>
            </a:r>
            <a:r>
              <a:rPr lang="en-GB" dirty="0" smtClean="0"/>
              <a:t> </a:t>
            </a:r>
            <a:r>
              <a:rPr lang="en-GB" dirty="0" err="1" smtClean="0"/>
              <a:t>yksin</a:t>
            </a:r>
            <a:r>
              <a:rPr lang="en-GB" dirty="0" smtClean="0"/>
              <a:t> olla </a:t>
            </a:r>
            <a:r>
              <a:rPr lang="en-GB" dirty="0" err="1" smtClean="0"/>
              <a:t>ketterää</a:t>
            </a:r>
            <a:r>
              <a:rPr lang="en-GB" dirty="0" smtClean="0"/>
              <a:t>?</a:t>
            </a:r>
            <a:endParaRPr lang="en-US" dirty="0"/>
          </a:p>
        </p:txBody>
      </p:sp>
      <p:sp>
        <p:nvSpPr>
          <p:cNvPr id="3" name="Content Placeholder 2"/>
          <p:cNvSpPr>
            <a:spLocks noGrp="1"/>
          </p:cNvSpPr>
          <p:nvPr>
            <p:ph idx="1"/>
          </p:nvPr>
        </p:nvSpPr>
        <p:spPr/>
        <p:txBody>
          <a:bodyPr>
            <a:normAutofit fontScale="77500" lnSpcReduction="20000"/>
          </a:bodyPr>
          <a:lstStyle/>
          <a:p>
            <a:r>
              <a:rPr lang="en-GB" dirty="0" err="1" smtClean="0"/>
              <a:t>Tarkastele</a:t>
            </a:r>
            <a:r>
              <a:rPr lang="en-GB" dirty="0" smtClean="0"/>
              <a:t> </a:t>
            </a:r>
            <a:r>
              <a:rPr lang="en-GB" dirty="0" err="1" smtClean="0"/>
              <a:t>arvoja</a:t>
            </a:r>
            <a:endParaRPr lang="en-GB" dirty="0" smtClean="0"/>
          </a:p>
          <a:p>
            <a:pPr lvl="1"/>
            <a:r>
              <a:rPr lang="en-GB" b="1" dirty="0" smtClean="0"/>
              <a:t>Individuals and interactions </a:t>
            </a:r>
            <a:r>
              <a:rPr lang="en-GB" dirty="0" smtClean="0"/>
              <a:t>over processes and tools</a:t>
            </a:r>
          </a:p>
          <a:p>
            <a:pPr lvl="1"/>
            <a:r>
              <a:rPr lang="en-GB" b="1" dirty="0" smtClean="0"/>
              <a:t>Working software </a:t>
            </a:r>
            <a:r>
              <a:rPr lang="en-GB" dirty="0" smtClean="0"/>
              <a:t>over comprehensive documentation</a:t>
            </a:r>
          </a:p>
          <a:p>
            <a:pPr lvl="1"/>
            <a:r>
              <a:rPr lang="en-GB" b="1" dirty="0" smtClean="0"/>
              <a:t>Customer collaboration </a:t>
            </a:r>
            <a:r>
              <a:rPr lang="en-GB" dirty="0" smtClean="0"/>
              <a:t>over contract negotiation</a:t>
            </a:r>
          </a:p>
          <a:p>
            <a:pPr lvl="1"/>
            <a:r>
              <a:rPr lang="en-GB" b="1" dirty="0" smtClean="0"/>
              <a:t>Responding to change </a:t>
            </a:r>
            <a:r>
              <a:rPr lang="en-GB" dirty="0" smtClean="0"/>
              <a:t>over following a plan</a:t>
            </a:r>
          </a:p>
          <a:p>
            <a:endParaRPr lang="en-GB" dirty="0" smtClean="0"/>
          </a:p>
          <a:p>
            <a:r>
              <a:rPr lang="en-GB" dirty="0" err="1" smtClean="0"/>
              <a:t>Ajattele</a:t>
            </a:r>
            <a:r>
              <a:rPr lang="en-GB" dirty="0" smtClean="0"/>
              <a:t> </a:t>
            </a:r>
            <a:r>
              <a:rPr lang="en-GB" b="1" i="1" dirty="0" err="1" smtClean="0"/>
              <a:t>joustavaa</a:t>
            </a:r>
            <a:r>
              <a:rPr lang="en-GB" b="1" i="1" dirty="0" smtClean="0"/>
              <a:t> </a:t>
            </a:r>
            <a:r>
              <a:rPr lang="en-GB" b="1" i="1" dirty="0" err="1" smtClean="0"/>
              <a:t>kaikilla</a:t>
            </a:r>
            <a:r>
              <a:rPr lang="en-GB" b="1" i="1" dirty="0" smtClean="0"/>
              <a:t> </a:t>
            </a:r>
            <a:r>
              <a:rPr lang="en-GB" b="1" i="1" dirty="0" err="1" smtClean="0"/>
              <a:t>tasoilla</a:t>
            </a:r>
            <a:r>
              <a:rPr lang="en-GB" b="1" i="1" dirty="0" smtClean="0"/>
              <a:t>: </a:t>
            </a:r>
            <a:r>
              <a:rPr lang="en-GB" b="1" i="1" dirty="0" err="1" smtClean="0"/>
              <a:t>strategiat</a:t>
            </a:r>
            <a:r>
              <a:rPr lang="en-GB" b="1" i="1" dirty="0" smtClean="0"/>
              <a:t>, </a:t>
            </a:r>
            <a:r>
              <a:rPr lang="en-GB" b="1" i="1" dirty="0" err="1" smtClean="0"/>
              <a:t>suunnitelmat</a:t>
            </a:r>
            <a:r>
              <a:rPr lang="en-GB" b="1" i="1" dirty="0" smtClean="0"/>
              <a:t>, </a:t>
            </a:r>
            <a:r>
              <a:rPr lang="en-GB" b="1" i="1" dirty="0" err="1" smtClean="0"/>
              <a:t>testitapaukset</a:t>
            </a:r>
            <a:endParaRPr lang="en-GB" b="1" i="1" dirty="0" smtClean="0"/>
          </a:p>
          <a:p>
            <a:pPr lvl="1"/>
            <a:r>
              <a:rPr lang="en-GB" dirty="0" err="1" smtClean="0"/>
              <a:t>Testauksen</a:t>
            </a:r>
            <a:r>
              <a:rPr lang="en-GB" dirty="0" smtClean="0"/>
              <a:t> </a:t>
            </a:r>
            <a:r>
              <a:rPr lang="en-GB" dirty="0" err="1" smtClean="0"/>
              <a:t>täytyy</a:t>
            </a:r>
            <a:r>
              <a:rPr lang="en-GB" dirty="0" smtClean="0"/>
              <a:t> </a:t>
            </a:r>
            <a:r>
              <a:rPr lang="en-GB" dirty="0" err="1" smtClean="0"/>
              <a:t>aina</a:t>
            </a:r>
            <a:r>
              <a:rPr lang="en-GB" dirty="0" smtClean="0"/>
              <a:t> </a:t>
            </a:r>
            <a:r>
              <a:rPr lang="en-GB" dirty="0" err="1" smtClean="0"/>
              <a:t>vastata</a:t>
            </a:r>
            <a:r>
              <a:rPr lang="en-GB" dirty="0" smtClean="0"/>
              <a:t> </a:t>
            </a:r>
            <a:r>
              <a:rPr lang="en-GB" dirty="0" err="1" smtClean="0"/>
              <a:t>muutokseen</a:t>
            </a:r>
            <a:endParaRPr lang="en-GB" dirty="0" smtClean="0"/>
          </a:p>
          <a:p>
            <a:pPr lvl="1"/>
            <a:r>
              <a:rPr lang="en-GB" dirty="0" err="1" smtClean="0"/>
              <a:t>Aina</a:t>
            </a:r>
            <a:r>
              <a:rPr lang="en-GB" dirty="0" smtClean="0"/>
              <a:t> kun </a:t>
            </a:r>
            <a:r>
              <a:rPr lang="en-GB" dirty="0" err="1" smtClean="0"/>
              <a:t>aika</a:t>
            </a:r>
            <a:r>
              <a:rPr lang="en-GB" dirty="0" smtClean="0"/>
              <a:t> </a:t>
            </a:r>
            <a:r>
              <a:rPr lang="en-GB" dirty="0" err="1" smtClean="0"/>
              <a:t>testaukselle</a:t>
            </a:r>
            <a:r>
              <a:rPr lang="en-GB" dirty="0" smtClean="0"/>
              <a:t> </a:t>
            </a:r>
            <a:r>
              <a:rPr lang="en-GB" dirty="0" err="1" smtClean="0"/>
              <a:t>loppuu</a:t>
            </a:r>
            <a:r>
              <a:rPr lang="en-GB" dirty="0" smtClean="0"/>
              <a:t>, </a:t>
            </a:r>
            <a:r>
              <a:rPr lang="en-GB" dirty="0" err="1" smtClean="0"/>
              <a:t>siihen</a:t>
            </a:r>
            <a:r>
              <a:rPr lang="en-GB" dirty="0" smtClean="0"/>
              <a:t> </a:t>
            </a:r>
            <a:r>
              <a:rPr lang="en-GB" dirty="0" err="1" smtClean="0"/>
              <a:t>mennessä</a:t>
            </a:r>
            <a:r>
              <a:rPr lang="en-GB" dirty="0" smtClean="0"/>
              <a:t> </a:t>
            </a:r>
            <a:r>
              <a:rPr lang="en-GB" dirty="0" err="1" smtClean="0"/>
              <a:t>olisi</a:t>
            </a:r>
            <a:r>
              <a:rPr lang="en-GB" dirty="0" smtClean="0"/>
              <a:t> </a:t>
            </a:r>
            <a:r>
              <a:rPr lang="en-GB" dirty="0" err="1" smtClean="0"/>
              <a:t>pitänyt</a:t>
            </a:r>
            <a:r>
              <a:rPr lang="en-GB" dirty="0" smtClean="0"/>
              <a:t> </a:t>
            </a:r>
            <a:r>
              <a:rPr lang="en-GB" dirty="0" err="1" smtClean="0"/>
              <a:t>tehdä</a:t>
            </a:r>
            <a:r>
              <a:rPr lang="en-GB" dirty="0" smtClean="0"/>
              <a:t> </a:t>
            </a:r>
            <a:r>
              <a:rPr lang="en-GB" dirty="0" err="1" smtClean="0"/>
              <a:t>parasta</a:t>
            </a:r>
            <a:r>
              <a:rPr lang="en-GB" dirty="0" smtClean="0"/>
              <a:t> </a:t>
            </a:r>
            <a:r>
              <a:rPr lang="en-GB" dirty="0" err="1" smtClean="0"/>
              <a:t>mahdollista</a:t>
            </a:r>
            <a:r>
              <a:rPr lang="en-GB" dirty="0" smtClean="0"/>
              <a:t> </a:t>
            </a:r>
            <a:r>
              <a:rPr lang="en-GB" dirty="0" err="1" smtClean="0"/>
              <a:t>testausta</a:t>
            </a:r>
            <a:r>
              <a:rPr lang="en-GB" dirty="0" smtClean="0"/>
              <a:t> </a:t>
            </a:r>
            <a:r>
              <a:rPr lang="en-GB" dirty="0" err="1" smtClean="0"/>
              <a:t>käytetyllä</a:t>
            </a:r>
            <a:r>
              <a:rPr lang="en-GB" dirty="0" smtClean="0"/>
              <a:t> </a:t>
            </a:r>
            <a:r>
              <a:rPr lang="en-GB" dirty="0" err="1" smtClean="0"/>
              <a:t>ajalla</a:t>
            </a:r>
            <a:endParaRPr lang="en-GB" dirty="0" smtClean="0"/>
          </a:p>
          <a:p>
            <a:pPr lvl="1"/>
            <a:r>
              <a:rPr lang="en-GB" dirty="0" err="1" smtClean="0"/>
              <a:t>Kuinka</a:t>
            </a:r>
            <a:r>
              <a:rPr lang="en-GB" dirty="0" smtClean="0"/>
              <a:t> </a:t>
            </a:r>
            <a:r>
              <a:rPr lang="en-GB" dirty="0" err="1" smtClean="0"/>
              <a:t>helppoa</a:t>
            </a:r>
            <a:r>
              <a:rPr lang="en-GB" dirty="0" smtClean="0"/>
              <a:t> on olla </a:t>
            </a:r>
            <a:r>
              <a:rPr lang="en-GB" dirty="0" err="1" smtClean="0"/>
              <a:t>joustava</a:t>
            </a:r>
            <a:r>
              <a:rPr lang="en-GB" dirty="0" smtClean="0"/>
              <a:t> </a:t>
            </a:r>
            <a:r>
              <a:rPr lang="en-GB" dirty="0" err="1" smtClean="0"/>
              <a:t>ja</a:t>
            </a:r>
            <a:r>
              <a:rPr lang="en-GB" dirty="0" smtClean="0"/>
              <a:t> </a:t>
            </a:r>
            <a:r>
              <a:rPr lang="en-GB" dirty="0" err="1" smtClean="0"/>
              <a:t>uusia</a:t>
            </a:r>
            <a:r>
              <a:rPr lang="en-GB" dirty="0" smtClean="0"/>
              <a:t> </a:t>
            </a:r>
            <a:r>
              <a:rPr lang="en-GB" dirty="0" err="1" smtClean="0"/>
              <a:t>suunnitelmat</a:t>
            </a:r>
            <a:r>
              <a:rPr lang="en-GB" dirty="0" smtClean="0"/>
              <a:t> </a:t>
            </a:r>
            <a:r>
              <a:rPr lang="en-GB" dirty="0" err="1" smtClean="0"/>
              <a:t>säännöllisesti</a:t>
            </a:r>
            <a:r>
              <a:rPr lang="en-GB" dirty="0" smtClean="0"/>
              <a:t> </a:t>
            </a:r>
            <a:r>
              <a:rPr lang="en-GB" dirty="0" err="1" smtClean="0"/>
              <a:t>perustuen</a:t>
            </a:r>
            <a:r>
              <a:rPr lang="en-GB" dirty="0" smtClean="0"/>
              <a:t> </a:t>
            </a:r>
            <a:r>
              <a:rPr lang="en-GB" dirty="0" err="1" smtClean="0"/>
              <a:t>oppimiseen</a:t>
            </a:r>
            <a:r>
              <a:rPr lang="en-GB" dirty="0" smtClean="0"/>
              <a:t>?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p Arrow 6"/>
          <p:cNvSpPr/>
          <p:nvPr/>
        </p:nvSpPr>
        <p:spPr>
          <a:xfrm>
            <a:off x="1297408" y="1615631"/>
            <a:ext cx="1036968" cy="3539545"/>
          </a:xfrm>
          <a:prstGeom prst="upArrow">
            <a:avLst/>
          </a:prstGeom>
          <a:gradFill>
            <a:gsLst>
              <a:gs pos="99000">
                <a:schemeClr val="accent1">
                  <a:shade val="51000"/>
                  <a:satMod val="130000"/>
                </a:schemeClr>
              </a:gs>
              <a:gs pos="100000">
                <a:schemeClr val="accent1">
                  <a:shade val="93000"/>
                  <a:satMod val="130000"/>
                </a:schemeClr>
              </a:gs>
              <a:gs pos="53000">
                <a:schemeClr val="accent1">
                  <a:shade val="94000"/>
                  <a:satMod val="135000"/>
                </a:schemeClr>
              </a:gs>
              <a:gs pos="19000">
                <a:schemeClr val="bg1"/>
              </a:gs>
            </a:gsLst>
          </a:gradFill>
          <a:ln>
            <a:noFill/>
          </a:ln>
        </p:spPr>
        <p:style>
          <a:lnRef idx="1">
            <a:schemeClr val="accent1"/>
          </a:lnRef>
          <a:fillRef idx="3">
            <a:schemeClr val="accent1"/>
          </a:fillRef>
          <a:effectRef idx="2">
            <a:schemeClr val="accent1"/>
          </a:effectRef>
          <a:fontRef idx="minor">
            <a:schemeClr val="lt1"/>
          </a:fontRef>
        </p:style>
        <p:txBody>
          <a:bodyPr lIns="91412" tIns="45704" rIns="91412" bIns="45704" rtlCol="0" anchor="ctr"/>
          <a:lstStyle/>
          <a:p>
            <a:pPr algn="ctr"/>
            <a:endParaRPr lang="en-US" dirty="0"/>
          </a:p>
        </p:txBody>
      </p:sp>
      <p:sp>
        <p:nvSpPr>
          <p:cNvPr id="8" name="Up Arrow 7"/>
          <p:cNvSpPr/>
          <p:nvPr/>
        </p:nvSpPr>
        <p:spPr>
          <a:xfrm rot="10800000">
            <a:off x="6710789" y="1708631"/>
            <a:ext cx="1036968" cy="4525962"/>
          </a:xfrm>
          <a:prstGeom prst="upArrow">
            <a:avLst/>
          </a:prstGeom>
          <a:gradFill>
            <a:gsLst>
              <a:gs pos="99000">
                <a:schemeClr val="accent1">
                  <a:shade val="51000"/>
                  <a:satMod val="130000"/>
                </a:schemeClr>
              </a:gs>
              <a:gs pos="100000">
                <a:schemeClr val="accent1">
                  <a:shade val="93000"/>
                  <a:satMod val="130000"/>
                </a:schemeClr>
              </a:gs>
              <a:gs pos="53000">
                <a:schemeClr val="accent1">
                  <a:shade val="94000"/>
                  <a:satMod val="135000"/>
                </a:schemeClr>
              </a:gs>
              <a:gs pos="19000">
                <a:schemeClr val="bg1"/>
              </a:gs>
            </a:gsLst>
          </a:gradFill>
          <a:ln>
            <a:noFill/>
          </a:ln>
        </p:spPr>
        <p:style>
          <a:lnRef idx="1">
            <a:schemeClr val="accent1"/>
          </a:lnRef>
          <a:fillRef idx="3">
            <a:schemeClr val="accent1"/>
          </a:fillRef>
          <a:effectRef idx="2">
            <a:schemeClr val="accent1"/>
          </a:effectRef>
          <a:fontRef idx="minor">
            <a:schemeClr val="lt1"/>
          </a:fontRef>
        </p:style>
        <p:txBody>
          <a:bodyPr lIns="91412" tIns="45704" rIns="91412" bIns="45704" rtlCol="0" anchor="ctr"/>
          <a:lstStyle/>
          <a:p>
            <a:pPr algn="ctr"/>
            <a:endParaRPr lang="en-US" dirty="0"/>
          </a:p>
        </p:txBody>
      </p:sp>
      <p:sp>
        <p:nvSpPr>
          <p:cNvPr id="4" name="Title 3"/>
          <p:cNvSpPr>
            <a:spLocks noGrp="1"/>
          </p:cNvSpPr>
          <p:nvPr>
            <p:ph type="title"/>
          </p:nvPr>
        </p:nvSpPr>
        <p:spPr/>
        <p:txBody>
          <a:bodyPr>
            <a:normAutofit/>
          </a:bodyPr>
          <a:lstStyle/>
          <a:p>
            <a:r>
              <a:rPr lang="en-US" sz="5400" dirty="0" smtClean="0">
                <a:solidFill>
                  <a:schemeClr val="accent2">
                    <a:lumMod val="60000"/>
                    <a:lumOff val="40000"/>
                  </a:schemeClr>
                </a:solidFill>
                <a:latin typeface="KG Manhattan Script" charset="0"/>
                <a:ea typeface="KG Manhattan Script" charset="0"/>
                <a:cs typeface="KG Manhattan Script" charset="0"/>
              </a:rPr>
              <a:t>What Testing gives Us</a:t>
            </a:r>
            <a:endParaRPr lang="en-US" sz="5400" dirty="0"/>
          </a:p>
        </p:txBody>
      </p:sp>
      <p:sp>
        <p:nvSpPr>
          <p:cNvPr id="5" name="TextBox 4"/>
          <p:cNvSpPr txBox="1"/>
          <p:nvPr/>
        </p:nvSpPr>
        <p:spPr>
          <a:xfrm rot="16200000">
            <a:off x="932140" y="2548648"/>
            <a:ext cx="1751294" cy="477021"/>
          </a:xfrm>
          <a:prstGeom prst="rect">
            <a:avLst/>
          </a:prstGeom>
          <a:noFill/>
        </p:spPr>
        <p:txBody>
          <a:bodyPr wrap="none" lIns="91412" tIns="45704" rIns="91412" bIns="45704" rtlCol="0">
            <a:spAutoFit/>
          </a:bodyPr>
          <a:lstStyle/>
          <a:p>
            <a:r>
              <a:rPr lang="en-US" sz="2500" dirty="0"/>
              <a:t>Unit Testing</a:t>
            </a:r>
          </a:p>
        </p:txBody>
      </p:sp>
      <p:sp>
        <p:nvSpPr>
          <p:cNvPr id="6" name="TextBox 5"/>
          <p:cNvSpPr txBox="1"/>
          <p:nvPr/>
        </p:nvSpPr>
        <p:spPr>
          <a:xfrm rot="16200000">
            <a:off x="5839103" y="4316191"/>
            <a:ext cx="2701355" cy="477021"/>
          </a:xfrm>
          <a:prstGeom prst="rect">
            <a:avLst/>
          </a:prstGeom>
          <a:noFill/>
        </p:spPr>
        <p:txBody>
          <a:bodyPr wrap="none" lIns="91412" tIns="45704" rIns="91412" bIns="45704" rtlCol="0">
            <a:spAutoFit/>
          </a:bodyPr>
          <a:lstStyle/>
          <a:p>
            <a:r>
              <a:rPr lang="en-US" sz="2500" dirty="0"/>
              <a:t>Exploratory Testing</a:t>
            </a:r>
          </a:p>
        </p:txBody>
      </p:sp>
      <p:sp>
        <p:nvSpPr>
          <p:cNvPr id="17" name="TextBox 16"/>
          <p:cNvSpPr txBox="1"/>
          <p:nvPr/>
        </p:nvSpPr>
        <p:spPr>
          <a:xfrm>
            <a:off x="2154096" y="2147283"/>
            <a:ext cx="2274925" cy="1815849"/>
          </a:xfrm>
          <a:prstGeom prst="rect">
            <a:avLst/>
          </a:prstGeom>
          <a:noFill/>
        </p:spPr>
        <p:txBody>
          <a:bodyPr wrap="none" lIns="91412" tIns="45704" rIns="91412" bIns="45704" rtlCol="0">
            <a:spAutoFit/>
          </a:bodyPr>
          <a:lstStyle/>
          <a:p>
            <a:r>
              <a:rPr lang="en-US" sz="2800" dirty="0"/>
              <a:t>SPEC</a:t>
            </a:r>
          </a:p>
          <a:p>
            <a:r>
              <a:rPr lang="en-US" sz="2800" dirty="0"/>
              <a:t>FEEDBACK</a:t>
            </a:r>
          </a:p>
          <a:p>
            <a:r>
              <a:rPr lang="en-US" sz="2800" dirty="0"/>
              <a:t>REGRESSION</a:t>
            </a:r>
          </a:p>
          <a:p>
            <a:r>
              <a:rPr lang="en-US" sz="2800" dirty="0"/>
              <a:t>GRANULARITY</a:t>
            </a:r>
          </a:p>
        </p:txBody>
      </p:sp>
      <p:sp>
        <p:nvSpPr>
          <p:cNvPr id="18" name="TextBox 17"/>
          <p:cNvSpPr txBox="1"/>
          <p:nvPr/>
        </p:nvSpPr>
        <p:spPr>
          <a:xfrm>
            <a:off x="3174859" y="3829390"/>
            <a:ext cx="3749878" cy="1815849"/>
          </a:xfrm>
          <a:prstGeom prst="rect">
            <a:avLst/>
          </a:prstGeom>
          <a:noFill/>
        </p:spPr>
        <p:txBody>
          <a:bodyPr wrap="square" lIns="91412" tIns="45704" rIns="91412" bIns="45704" rtlCol="0">
            <a:spAutoFit/>
          </a:bodyPr>
          <a:lstStyle/>
          <a:p>
            <a:pPr algn="r"/>
            <a:r>
              <a:rPr lang="en-US" sz="2800" dirty="0"/>
              <a:t>GUIDANCE</a:t>
            </a:r>
          </a:p>
          <a:p>
            <a:pPr algn="r"/>
            <a:r>
              <a:rPr lang="en-US" sz="2800" dirty="0"/>
              <a:t>UNDERSTANDING</a:t>
            </a:r>
          </a:p>
          <a:p>
            <a:pPr algn="r"/>
            <a:r>
              <a:rPr lang="en-US" sz="2800" dirty="0"/>
              <a:t>MODELS</a:t>
            </a:r>
          </a:p>
          <a:p>
            <a:pPr algn="r"/>
            <a:r>
              <a:rPr lang="en-US" sz="2800" dirty="0"/>
              <a:t>SERENDIPITY</a:t>
            </a:r>
          </a:p>
        </p:txBody>
      </p:sp>
      <p:sp>
        <p:nvSpPr>
          <p:cNvPr id="19" name="TextBox 18"/>
          <p:cNvSpPr txBox="1"/>
          <p:nvPr/>
        </p:nvSpPr>
        <p:spPr>
          <a:xfrm>
            <a:off x="759536" y="5123148"/>
            <a:ext cx="2154092" cy="1384962"/>
          </a:xfrm>
          <a:prstGeom prst="rect">
            <a:avLst/>
          </a:prstGeom>
          <a:noFill/>
        </p:spPr>
        <p:txBody>
          <a:bodyPr wrap="square" lIns="91412" tIns="45704" rIns="91412" bIns="45704" rtlCol="0">
            <a:spAutoFit/>
          </a:bodyPr>
          <a:lstStyle/>
          <a:p>
            <a:pPr algn="ctr"/>
            <a:r>
              <a:rPr lang="en-US" sz="2800" dirty="0">
                <a:solidFill>
                  <a:schemeClr val="accent6"/>
                </a:solidFill>
              </a:rPr>
              <a:t>Testing as artifact creation</a:t>
            </a:r>
          </a:p>
        </p:txBody>
      </p:sp>
      <p:sp>
        <p:nvSpPr>
          <p:cNvPr id="20" name="TextBox 19"/>
          <p:cNvSpPr txBox="1"/>
          <p:nvPr/>
        </p:nvSpPr>
        <p:spPr>
          <a:xfrm>
            <a:off x="6178882" y="1216825"/>
            <a:ext cx="2154092" cy="954075"/>
          </a:xfrm>
          <a:prstGeom prst="rect">
            <a:avLst/>
          </a:prstGeom>
          <a:noFill/>
        </p:spPr>
        <p:txBody>
          <a:bodyPr wrap="square" lIns="91412" tIns="45704" rIns="91412" bIns="45704" rtlCol="0">
            <a:spAutoFit/>
          </a:bodyPr>
          <a:lstStyle/>
          <a:p>
            <a:pPr algn="ctr"/>
            <a:r>
              <a:rPr lang="en-US" sz="2800" dirty="0">
                <a:solidFill>
                  <a:schemeClr val="accent6"/>
                </a:solidFill>
              </a:rPr>
              <a:t>Testing as performance</a:t>
            </a:r>
          </a:p>
        </p:txBody>
      </p:sp>
    </p:spTree>
    <p:extLst>
      <p:ext uri="{BB962C8B-B14F-4D97-AF65-F5344CB8AC3E}">
        <p14:creationId xmlns:p14="http://schemas.microsoft.com/office/powerpoint/2010/main" val="1384619810"/>
      </p:ext>
    </p:extLst>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62325" y="1511748"/>
            <a:ext cx="1490199" cy="646331"/>
          </a:xfrm>
          <a:prstGeom prst="rect">
            <a:avLst/>
          </a:prstGeom>
          <a:noFill/>
        </p:spPr>
        <p:txBody>
          <a:bodyPr wrap="none" rtlCol="0">
            <a:spAutoFit/>
          </a:bodyPr>
          <a:lstStyle/>
          <a:p>
            <a:pPr algn="ctr"/>
            <a:r>
              <a:rPr lang="en-US" dirty="0" smtClean="0"/>
              <a:t>Before </a:t>
            </a:r>
            <a:br>
              <a:rPr lang="en-US" dirty="0" smtClean="0"/>
            </a:br>
            <a:r>
              <a:rPr lang="en-US" dirty="0" smtClean="0"/>
              <a:t>implementing</a:t>
            </a:r>
            <a:endParaRPr lang="en-US" dirty="0"/>
          </a:p>
        </p:txBody>
      </p:sp>
      <p:sp>
        <p:nvSpPr>
          <p:cNvPr id="5" name="TextBox 4"/>
          <p:cNvSpPr txBox="1"/>
          <p:nvPr/>
        </p:nvSpPr>
        <p:spPr>
          <a:xfrm>
            <a:off x="3970199" y="1511748"/>
            <a:ext cx="1490199" cy="646331"/>
          </a:xfrm>
          <a:prstGeom prst="rect">
            <a:avLst/>
          </a:prstGeom>
          <a:noFill/>
        </p:spPr>
        <p:txBody>
          <a:bodyPr wrap="none" rtlCol="0">
            <a:spAutoFit/>
          </a:bodyPr>
          <a:lstStyle/>
          <a:p>
            <a:pPr algn="ctr"/>
            <a:r>
              <a:rPr lang="en-US" dirty="0" smtClean="0"/>
              <a:t>While </a:t>
            </a:r>
            <a:br>
              <a:rPr lang="en-US" dirty="0" smtClean="0"/>
            </a:br>
            <a:r>
              <a:rPr lang="en-US" dirty="0" smtClean="0"/>
              <a:t>implementing</a:t>
            </a:r>
            <a:endParaRPr lang="en-US" dirty="0"/>
          </a:p>
        </p:txBody>
      </p:sp>
      <p:sp>
        <p:nvSpPr>
          <p:cNvPr id="6" name="TextBox 5"/>
          <p:cNvSpPr txBox="1"/>
          <p:nvPr/>
        </p:nvSpPr>
        <p:spPr>
          <a:xfrm>
            <a:off x="5740426" y="1511748"/>
            <a:ext cx="1219918" cy="646331"/>
          </a:xfrm>
          <a:prstGeom prst="rect">
            <a:avLst/>
          </a:prstGeom>
          <a:noFill/>
        </p:spPr>
        <p:txBody>
          <a:bodyPr wrap="none" rtlCol="0">
            <a:spAutoFit/>
          </a:bodyPr>
          <a:lstStyle/>
          <a:p>
            <a:pPr algn="ctr"/>
            <a:r>
              <a:rPr lang="en-US" dirty="0" smtClean="0"/>
              <a:t>Before </a:t>
            </a:r>
            <a:br>
              <a:rPr lang="en-US" dirty="0" smtClean="0"/>
            </a:br>
            <a:r>
              <a:rPr lang="en-US" dirty="0" smtClean="0"/>
              <a:t>production</a:t>
            </a:r>
            <a:endParaRPr lang="en-US" dirty="0"/>
          </a:p>
        </p:txBody>
      </p:sp>
      <p:sp>
        <p:nvSpPr>
          <p:cNvPr id="9" name="TextBox 8"/>
          <p:cNvSpPr txBox="1"/>
          <p:nvPr/>
        </p:nvSpPr>
        <p:spPr>
          <a:xfrm>
            <a:off x="7367423" y="1511748"/>
            <a:ext cx="1219918" cy="646331"/>
          </a:xfrm>
          <a:prstGeom prst="rect">
            <a:avLst/>
          </a:prstGeom>
          <a:noFill/>
        </p:spPr>
        <p:txBody>
          <a:bodyPr wrap="none" rtlCol="0">
            <a:spAutoFit/>
          </a:bodyPr>
          <a:lstStyle/>
          <a:p>
            <a:pPr algn="ctr"/>
            <a:r>
              <a:rPr lang="en-US" dirty="0" smtClean="0"/>
              <a:t>While in </a:t>
            </a:r>
            <a:br>
              <a:rPr lang="en-US" dirty="0" smtClean="0"/>
            </a:br>
            <a:r>
              <a:rPr lang="en-US" dirty="0" smtClean="0"/>
              <a:t>production</a:t>
            </a:r>
            <a:endParaRPr lang="en-US" dirty="0"/>
          </a:p>
        </p:txBody>
      </p:sp>
      <p:sp>
        <p:nvSpPr>
          <p:cNvPr id="10" name="TextBox 9"/>
          <p:cNvSpPr txBox="1"/>
          <p:nvPr/>
        </p:nvSpPr>
        <p:spPr>
          <a:xfrm>
            <a:off x="236342" y="2526543"/>
            <a:ext cx="1687556" cy="646331"/>
          </a:xfrm>
          <a:prstGeom prst="rect">
            <a:avLst/>
          </a:prstGeom>
          <a:noFill/>
        </p:spPr>
        <p:txBody>
          <a:bodyPr wrap="none" rtlCol="0">
            <a:spAutoFit/>
          </a:bodyPr>
          <a:lstStyle/>
          <a:p>
            <a:pPr algn="r"/>
            <a:r>
              <a:rPr lang="en-US" dirty="0" smtClean="0"/>
              <a:t>Testing as </a:t>
            </a:r>
            <a:br>
              <a:rPr lang="en-US" dirty="0" smtClean="0"/>
            </a:br>
            <a:r>
              <a:rPr lang="en-US" dirty="0" smtClean="0"/>
              <a:t>artifact creation</a:t>
            </a:r>
            <a:endParaRPr lang="en-US" dirty="0"/>
          </a:p>
        </p:txBody>
      </p:sp>
      <p:sp>
        <p:nvSpPr>
          <p:cNvPr id="11" name="TextBox 10"/>
          <p:cNvSpPr txBox="1"/>
          <p:nvPr/>
        </p:nvSpPr>
        <p:spPr>
          <a:xfrm>
            <a:off x="236342" y="3462938"/>
            <a:ext cx="1703762" cy="923330"/>
          </a:xfrm>
          <a:prstGeom prst="rect">
            <a:avLst/>
          </a:prstGeom>
          <a:noFill/>
        </p:spPr>
        <p:txBody>
          <a:bodyPr wrap="none" rtlCol="0">
            <a:spAutoFit/>
          </a:bodyPr>
          <a:lstStyle/>
          <a:p>
            <a:pPr algn="r"/>
            <a:r>
              <a:rPr lang="en-US" dirty="0" smtClean="0"/>
              <a:t>Testing as</a:t>
            </a:r>
            <a:br>
              <a:rPr lang="en-US" dirty="0" smtClean="0"/>
            </a:br>
            <a:r>
              <a:rPr lang="en-US" dirty="0" smtClean="0"/>
              <a:t>performance </a:t>
            </a:r>
            <a:br>
              <a:rPr lang="en-US" dirty="0" smtClean="0"/>
            </a:br>
            <a:r>
              <a:rPr lang="en-US" dirty="0" smtClean="0"/>
              <a:t>(exploration)</a:t>
            </a:r>
            <a:endParaRPr lang="en-US" dirty="0"/>
          </a:p>
        </p:txBody>
      </p:sp>
      <p:sp>
        <p:nvSpPr>
          <p:cNvPr id="19" name="TextBox 18"/>
          <p:cNvSpPr txBox="1"/>
          <p:nvPr/>
        </p:nvSpPr>
        <p:spPr>
          <a:xfrm>
            <a:off x="625860" y="5802307"/>
            <a:ext cx="7979111" cy="369332"/>
          </a:xfrm>
          <a:prstGeom prst="rect">
            <a:avLst/>
          </a:prstGeom>
          <a:noFill/>
        </p:spPr>
        <p:txBody>
          <a:bodyPr wrap="square" rtlCol="0">
            <a:spAutoFit/>
          </a:bodyPr>
          <a:lstStyle/>
          <a:p>
            <a:pPr algn="ctr"/>
            <a:r>
              <a:rPr lang="en-US" i="1" dirty="0" smtClean="0">
                <a:solidFill>
                  <a:srgbClr val="4F81BD"/>
                </a:solidFill>
              </a:rPr>
              <a:t>Ways to think of testing peak at different moments with regards to adding a capability</a:t>
            </a:r>
            <a:endParaRPr lang="en-US" i="1" dirty="0">
              <a:solidFill>
                <a:srgbClr val="4F81BD"/>
              </a:solidFill>
            </a:endParaRPr>
          </a:p>
        </p:txBody>
      </p:sp>
      <p:sp>
        <p:nvSpPr>
          <p:cNvPr id="26" name="TextBox 25"/>
          <p:cNvSpPr txBox="1"/>
          <p:nvPr/>
        </p:nvSpPr>
        <p:spPr>
          <a:xfrm>
            <a:off x="936130" y="4925663"/>
            <a:ext cx="899142" cy="369332"/>
          </a:xfrm>
          <a:prstGeom prst="rect">
            <a:avLst/>
          </a:prstGeom>
          <a:noFill/>
        </p:spPr>
        <p:txBody>
          <a:bodyPr wrap="none" rtlCol="0">
            <a:spAutoFit/>
          </a:bodyPr>
          <a:lstStyle/>
          <a:p>
            <a:pPr algn="r"/>
            <a:r>
              <a:rPr lang="en-US" dirty="0" smtClean="0"/>
              <a:t>TOTALS</a:t>
            </a:r>
            <a:endParaRPr lang="en-US" dirty="0"/>
          </a:p>
        </p:txBody>
      </p:sp>
      <p:cxnSp>
        <p:nvCxnSpPr>
          <p:cNvPr id="28" name="Straight Connector 27"/>
          <p:cNvCxnSpPr/>
          <p:nvPr/>
        </p:nvCxnSpPr>
        <p:spPr>
          <a:xfrm>
            <a:off x="2443766" y="4452777"/>
            <a:ext cx="6161205" cy="0"/>
          </a:xfrm>
          <a:prstGeom prst="line">
            <a:avLst/>
          </a:prstGeom>
          <a:ln>
            <a:solidFill>
              <a:srgbClr val="FE8637"/>
            </a:solidFill>
            <a:prstDash val="dot"/>
          </a:ln>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a:off x="4519665" y="3884720"/>
            <a:ext cx="382654" cy="356239"/>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Isosceles Triangle 29"/>
          <p:cNvSpPr/>
          <p:nvPr/>
        </p:nvSpPr>
        <p:spPr>
          <a:xfrm>
            <a:off x="6105498" y="2794526"/>
            <a:ext cx="382654" cy="356239"/>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Isosceles Triangle 30"/>
          <p:cNvSpPr/>
          <p:nvPr/>
        </p:nvSpPr>
        <p:spPr>
          <a:xfrm>
            <a:off x="7767293" y="2794526"/>
            <a:ext cx="382654" cy="356239"/>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Isosceles Triangle 31"/>
          <p:cNvSpPr/>
          <p:nvPr/>
        </p:nvSpPr>
        <p:spPr>
          <a:xfrm>
            <a:off x="2770457" y="2676998"/>
            <a:ext cx="525401" cy="495876"/>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Isosceles Triangle 32"/>
          <p:cNvSpPr/>
          <p:nvPr/>
        </p:nvSpPr>
        <p:spPr>
          <a:xfrm>
            <a:off x="6041190" y="3729403"/>
            <a:ext cx="525401" cy="495876"/>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Isosceles Triangle 33"/>
          <p:cNvSpPr/>
          <p:nvPr/>
        </p:nvSpPr>
        <p:spPr>
          <a:xfrm>
            <a:off x="4396823" y="2526543"/>
            <a:ext cx="699701" cy="672702"/>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Isosceles Triangle 34"/>
          <p:cNvSpPr/>
          <p:nvPr/>
        </p:nvSpPr>
        <p:spPr>
          <a:xfrm>
            <a:off x="2722901" y="3548369"/>
            <a:ext cx="699701" cy="672702"/>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Isosceles Triangle 35"/>
          <p:cNvSpPr/>
          <p:nvPr/>
        </p:nvSpPr>
        <p:spPr>
          <a:xfrm>
            <a:off x="7612295" y="3568257"/>
            <a:ext cx="699701" cy="672702"/>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Isosceles Triangle 36"/>
          <p:cNvSpPr/>
          <p:nvPr/>
        </p:nvSpPr>
        <p:spPr>
          <a:xfrm>
            <a:off x="2539156" y="4709433"/>
            <a:ext cx="1149866" cy="1054689"/>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Title 40"/>
          <p:cNvSpPr>
            <a:spLocks noGrp="1"/>
          </p:cNvSpPr>
          <p:nvPr>
            <p:ph type="title"/>
          </p:nvPr>
        </p:nvSpPr>
        <p:spPr/>
        <p:txBody>
          <a:bodyPr>
            <a:normAutofit/>
          </a:bodyPr>
          <a:lstStyle/>
          <a:p>
            <a:r>
              <a:rPr lang="en-US" sz="5400" dirty="0" smtClean="0">
                <a:solidFill>
                  <a:schemeClr val="accent2">
                    <a:lumMod val="60000"/>
                    <a:lumOff val="40000"/>
                  </a:schemeClr>
                </a:solidFill>
                <a:latin typeface="KG Manhattan Script" charset="0"/>
                <a:ea typeface="KG Manhattan Script" charset="0"/>
                <a:cs typeface="KG Manhattan Script" charset="0"/>
              </a:rPr>
              <a:t>Testing is Everywhere!</a:t>
            </a:r>
            <a:endParaRPr lang="en-US" sz="5400" dirty="0">
              <a:solidFill>
                <a:schemeClr val="accent2">
                  <a:lumMod val="60000"/>
                  <a:lumOff val="40000"/>
                </a:schemeClr>
              </a:solidFill>
              <a:latin typeface="KG Manhattan Script" charset="0"/>
              <a:ea typeface="KG Manhattan Script" charset="0"/>
              <a:cs typeface="KG Manhattan Script" charset="0"/>
            </a:endParaRPr>
          </a:p>
        </p:txBody>
      </p:sp>
      <p:sp>
        <p:nvSpPr>
          <p:cNvPr id="43" name="Isosceles Triangle 42"/>
          <p:cNvSpPr/>
          <p:nvPr/>
        </p:nvSpPr>
        <p:spPr>
          <a:xfrm>
            <a:off x="6041190" y="5075948"/>
            <a:ext cx="699701" cy="672702"/>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Isosceles Triangle 43"/>
          <p:cNvSpPr/>
          <p:nvPr/>
        </p:nvSpPr>
        <p:spPr>
          <a:xfrm>
            <a:off x="4308731" y="4910419"/>
            <a:ext cx="900333" cy="833452"/>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Isosceles Triangle 44"/>
          <p:cNvSpPr/>
          <p:nvPr/>
        </p:nvSpPr>
        <p:spPr>
          <a:xfrm>
            <a:off x="7556356" y="4926494"/>
            <a:ext cx="900333" cy="833452"/>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9103457"/>
      </p:ext>
    </p:extLst>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smtClean="0"/>
              <a:t>Ideoita, ajatuksia, </a:t>
            </a:r>
            <a:br>
              <a:rPr lang="fi-FI" dirty="0" smtClean="0"/>
            </a:br>
            <a:r>
              <a:rPr lang="fi-FI" dirty="0" smtClean="0"/>
              <a:t>kysymyksiä?</a:t>
            </a:r>
            <a:endParaRPr lang="fi-FI" dirty="0"/>
          </a:p>
        </p:txBody>
      </p:sp>
      <p:sp>
        <p:nvSpPr>
          <p:cNvPr id="3" name="Text Placeholder 2"/>
          <p:cNvSpPr>
            <a:spLocks noGrp="1"/>
          </p:cNvSpPr>
          <p:nvPr>
            <p:ph type="body" idx="1"/>
          </p:nvPr>
        </p:nvSpPr>
        <p:spPr/>
        <p:txBody>
          <a:bodyPr/>
          <a:lstStyle/>
          <a:p>
            <a:endParaRPr lang="fi-FI" dirty="0"/>
          </a:p>
        </p:txBody>
      </p:sp>
      <p:pic>
        <p:nvPicPr>
          <p:cNvPr id="4" name="Picture 3" descr="C:\Documents and Settings\mpyhajar.CONFORMIQ\Application Data\Microsoft\Media Catalog\Downloaded Clips\cl1f\j0078711.wmf"/>
          <p:cNvPicPr>
            <a:picLocks noChangeAspect="1" noChangeArrowheads="1"/>
          </p:cNvPicPr>
          <p:nvPr/>
        </p:nvPicPr>
        <p:blipFill>
          <a:blip r:embed="rId3" cstate="print"/>
          <a:srcRect/>
          <a:stretch>
            <a:fillRect/>
          </a:stretch>
        </p:blipFill>
        <p:spPr bwMode="auto">
          <a:xfrm>
            <a:off x="2571736" y="285728"/>
            <a:ext cx="1622425" cy="3933825"/>
          </a:xfrm>
          <a:prstGeom prst="rect">
            <a:avLst/>
          </a:prstGeom>
          <a:noFill/>
        </p:spPr>
      </p:pic>
      <p:pic>
        <p:nvPicPr>
          <p:cNvPr id="5" name="Picture 4" descr="C:\Documents and Settings\mpyhajar.CONFORMIQ\Application Data\Microsoft\Media Catalog\Downloaded Clips\cl1f\j0078625.wmf"/>
          <p:cNvPicPr>
            <a:picLocks noChangeAspect="1" noChangeArrowheads="1"/>
          </p:cNvPicPr>
          <p:nvPr/>
        </p:nvPicPr>
        <p:blipFill>
          <a:blip r:embed="rId4" cstate="print"/>
          <a:srcRect/>
          <a:stretch>
            <a:fillRect/>
          </a:stretch>
        </p:blipFill>
        <p:spPr bwMode="auto">
          <a:xfrm>
            <a:off x="6715140" y="2357430"/>
            <a:ext cx="1295400" cy="3933825"/>
          </a:xfrm>
          <a:prstGeom prst="rect">
            <a:avLst/>
          </a:prstGeom>
          <a:noFill/>
        </p:spPr>
      </p:pic>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dirty="0"/>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Theme">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1837</TotalTime>
  <Words>2192</Words>
  <Application>Microsoft Macintosh PowerPoint</Application>
  <PresentationFormat>On-screen Show (4:3)</PresentationFormat>
  <Paragraphs>420</Paragraphs>
  <Slides>28</Slides>
  <Notes>27</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Testaus ja ketteryys</vt:lpstr>
      <vt:lpstr>Mitä testaus on?</vt:lpstr>
      <vt:lpstr>Testaus on vaikeaa  Lähde: James Bach. </vt:lpstr>
      <vt:lpstr>Mitä testaus ei ole</vt:lpstr>
      <vt:lpstr>Ketterän testauksen kaksi maailmaa</vt:lpstr>
      <vt:lpstr>Testaus perinteisesti projektissa</vt:lpstr>
      <vt:lpstr>Making Traditional Testing Flexible != Agile</vt:lpstr>
      <vt:lpstr>Ketterä testaus – ketterissä menetelmissä</vt:lpstr>
      <vt:lpstr>Ketteryyden määritelmä julistuksen kautta</vt:lpstr>
      <vt:lpstr>Suunnitelmaohjattu vs. ketterä – miksi?</vt:lpstr>
      <vt:lpstr>Perinteinen vs. ketterä testaus</vt:lpstr>
      <vt:lpstr>Projekti ketterillä arvoilla ja menetelmillä</vt:lpstr>
      <vt:lpstr>Perinteiset testaustavat eivät toimi</vt:lpstr>
      <vt:lpstr>”Yksikkö” ja ”Hyväksymis”testauksien merkityksen vaihdos</vt:lpstr>
      <vt:lpstr>Testiohjattu kehitystapa</vt:lpstr>
      <vt:lpstr>Ketterän testauksen nelikenttä</vt:lpstr>
      <vt:lpstr>Testaajan rooli</vt:lpstr>
      <vt:lpstr>Mitä ketterä testaaja tekee... Viikon työt esimerkkinä</vt:lpstr>
      <vt:lpstr>XP Testaajan oikeuksien julistus Lähde: Testing Extreme Programming by Lisa Crispin and Tip House (Addison-Wesley, 2002) </vt:lpstr>
      <vt:lpstr>Oliko vielä muuta?</vt:lpstr>
      <vt:lpstr>Projektielämä käytännössä ei ole niin helppoa...</vt:lpstr>
      <vt:lpstr>Ketterän testauksen vs. ketterän kehityksen kurssisisällöt</vt:lpstr>
      <vt:lpstr>Ketterä testaus – Perinteisissä menetelmissä</vt:lpstr>
      <vt:lpstr>Testaus puoliketterästi   testaukseen ketterät arvot ja menetelmät</vt:lpstr>
      <vt:lpstr>Voiko testaus yksin olla ketterää?</vt:lpstr>
      <vt:lpstr>What Testing gives Us</vt:lpstr>
      <vt:lpstr>Testing is Everywhere!</vt:lpstr>
      <vt:lpstr>Ideoita, ajatuksia,  kysymyksiä?</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Havaintojen kirjaaminen ja Virheiden korjaaminen</dc:title>
  <dc:creator>Maaret Pyhäjärvi</dc:creator>
  <cp:lastModifiedBy>Maaret Pyhäjärvi</cp:lastModifiedBy>
  <cp:revision>36</cp:revision>
  <dcterms:created xsi:type="dcterms:W3CDTF">2006-08-16T00:00:00Z</dcterms:created>
  <dcterms:modified xsi:type="dcterms:W3CDTF">2017-05-29T07:21:20Z</dcterms:modified>
</cp:coreProperties>
</file>