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Default Extension="wmf" ContentType="image/x-w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98" r:id="rId3"/>
    <p:sldId id="299" r:id="rId4"/>
    <p:sldId id="300" r:id="rId5"/>
    <p:sldId id="277" r:id="rId6"/>
    <p:sldId id="278" r:id="rId7"/>
    <p:sldId id="279" r:id="rId8"/>
    <p:sldId id="280" r:id="rId9"/>
    <p:sldId id="281" r:id="rId10"/>
    <p:sldId id="282" r:id="rId11"/>
    <p:sldId id="283" r:id="rId12"/>
    <p:sldId id="284" r:id="rId13"/>
    <p:sldId id="285" r:id="rId14"/>
    <p:sldId id="286" r:id="rId15"/>
    <p:sldId id="287" r:id="rId16"/>
    <p:sldId id="288" r:id="rId17"/>
    <p:sldId id="289" r:id="rId18"/>
    <p:sldId id="290" r:id="rId19"/>
    <p:sldId id="291" r:id="rId20"/>
    <p:sldId id="292" r:id="rId21"/>
    <p:sldId id="293" r:id="rId22"/>
    <p:sldId id="294" r:id="rId23"/>
    <p:sldId id="295" r:id="rId24"/>
    <p:sldId id="296" r:id="rId25"/>
    <p:sldId id="297" r:id="rId26"/>
    <p:sldId id="257" r:id="rId27"/>
  </p:sldIdLst>
  <p:sldSz cx="9144000" cy="6858000" type="screen4x3"/>
  <p:notesSz cx="6734175" cy="98679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7770" autoAdjust="0"/>
  </p:normalViewPr>
  <p:slideViewPr>
    <p:cSldViewPr>
      <p:cViewPr varScale="1">
        <p:scale>
          <a:sx n="71" d="100"/>
          <a:sy n="71" d="100"/>
        </p:scale>
        <p:origin x="-1320" y="-10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64" d="100"/>
          <a:sy n="64" d="100"/>
        </p:scale>
        <p:origin x="-2490" y="-126"/>
      </p:cViewPr>
      <p:guideLst>
        <p:guide orient="horz" pos="3108"/>
        <p:guide pos="2121"/>
      </p:guideLst>
    </p:cSldViewPr>
  </p:notes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interSettings" Target="printerSettings/printerSettings1.bin"/><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8143" cy="493395"/>
          </a:xfrm>
          <a:prstGeom prst="rect">
            <a:avLst/>
          </a:prstGeom>
        </p:spPr>
        <p:txBody>
          <a:bodyPr vert="horz" lIns="91440" tIns="45720" rIns="91440" bIns="45720" rtlCol="0"/>
          <a:lstStyle>
            <a:lvl1pPr algn="l">
              <a:defRPr sz="1200"/>
            </a:lvl1pPr>
          </a:lstStyle>
          <a:p>
            <a:endParaRPr lang="fi-FI"/>
          </a:p>
        </p:txBody>
      </p:sp>
      <p:sp>
        <p:nvSpPr>
          <p:cNvPr id="3" name="Date Placeholder 2"/>
          <p:cNvSpPr>
            <a:spLocks noGrp="1"/>
          </p:cNvSpPr>
          <p:nvPr>
            <p:ph type="dt" idx="1"/>
          </p:nvPr>
        </p:nvSpPr>
        <p:spPr>
          <a:xfrm>
            <a:off x="3814474" y="0"/>
            <a:ext cx="2918143" cy="493395"/>
          </a:xfrm>
          <a:prstGeom prst="rect">
            <a:avLst/>
          </a:prstGeom>
        </p:spPr>
        <p:txBody>
          <a:bodyPr vert="horz" lIns="91440" tIns="45720" rIns="91440" bIns="45720" rtlCol="0"/>
          <a:lstStyle>
            <a:lvl1pPr algn="r">
              <a:defRPr sz="1200"/>
            </a:lvl1pPr>
          </a:lstStyle>
          <a:p>
            <a:fld id="{36A5C55B-5751-4D85-896F-91204AA783C7}" type="datetimeFigureOut">
              <a:rPr lang="en-US" smtClean="0"/>
              <a:pPr/>
              <a:t>30/05/17</a:t>
            </a:fld>
            <a:endParaRPr lang="fi-FI"/>
          </a:p>
        </p:txBody>
      </p:sp>
      <p:sp>
        <p:nvSpPr>
          <p:cNvPr id="4" name="Slide Image Placeholder 3"/>
          <p:cNvSpPr>
            <a:spLocks noGrp="1" noRot="1" noChangeAspect="1"/>
          </p:cNvSpPr>
          <p:nvPr>
            <p:ph type="sldImg" idx="2"/>
          </p:nvPr>
        </p:nvSpPr>
        <p:spPr>
          <a:xfrm>
            <a:off x="900113" y="739775"/>
            <a:ext cx="4933950" cy="3700463"/>
          </a:xfrm>
          <a:prstGeom prst="rect">
            <a:avLst/>
          </a:prstGeom>
          <a:noFill/>
          <a:ln w="12700">
            <a:solidFill>
              <a:prstClr val="black"/>
            </a:solidFill>
          </a:ln>
        </p:spPr>
        <p:txBody>
          <a:bodyPr vert="horz" lIns="91440" tIns="45720" rIns="91440" bIns="45720" rtlCol="0" anchor="ctr"/>
          <a:lstStyle/>
          <a:p>
            <a:endParaRPr lang="fi-FI"/>
          </a:p>
        </p:txBody>
      </p:sp>
      <p:sp>
        <p:nvSpPr>
          <p:cNvPr id="5" name="Notes Placeholder 4"/>
          <p:cNvSpPr>
            <a:spLocks noGrp="1"/>
          </p:cNvSpPr>
          <p:nvPr>
            <p:ph type="body" sz="quarter" idx="3"/>
          </p:nvPr>
        </p:nvSpPr>
        <p:spPr>
          <a:xfrm>
            <a:off x="673418" y="4687253"/>
            <a:ext cx="5387340" cy="4440555"/>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i-FI"/>
          </a:p>
        </p:txBody>
      </p:sp>
      <p:sp>
        <p:nvSpPr>
          <p:cNvPr id="6" name="Footer Placeholder 5"/>
          <p:cNvSpPr>
            <a:spLocks noGrp="1"/>
          </p:cNvSpPr>
          <p:nvPr>
            <p:ph type="ftr" sz="quarter" idx="4"/>
          </p:nvPr>
        </p:nvSpPr>
        <p:spPr>
          <a:xfrm>
            <a:off x="0" y="9372792"/>
            <a:ext cx="2918143" cy="493395"/>
          </a:xfrm>
          <a:prstGeom prst="rect">
            <a:avLst/>
          </a:prstGeom>
        </p:spPr>
        <p:txBody>
          <a:bodyPr vert="horz" lIns="91440" tIns="45720" rIns="91440" bIns="45720" rtlCol="0" anchor="b"/>
          <a:lstStyle>
            <a:lvl1pPr algn="l">
              <a:defRPr sz="1200"/>
            </a:lvl1pPr>
          </a:lstStyle>
          <a:p>
            <a:endParaRPr lang="fi-FI"/>
          </a:p>
        </p:txBody>
      </p:sp>
      <p:sp>
        <p:nvSpPr>
          <p:cNvPr id="7" name="Slide Number Placeholder 6"/>
          <p:cNvSpPr>
            <a:spLocks noGrp="1"/>
          </p:cNvSpPr>
          <p:nvPr>
            <p:ph type="sldNum" sz="quarter" idx="5"/>
          </p:nvPr>
        </p:nvSpPr>
        <p:spPr>
          <a:xfrm>
            <a:off x="3814474" y="9372792"/>
            <a:ext cx="2918143" cy="493395"/>
          </a:xfrm>
          <a:prstGeom prst="rect">
            <a:avLst/>
          </a:prstGeom>
        </p:spPr>
        <p:txBody>
          <a:bodyPr vert="horz" lIns="91440" tIns="45720" rIns="91440" bIns="45720" rtlCol="0" anchor="b"/>
          <a:lstStyle>
            <a:lvl1pPr algn="r">
              <a:defRPr sz="1200"/>
            </a:lvl1pPr>
          </a:lstStyle>
          <a:p>
            <a:fld id="{3B46C0F0-CF11-4FCF-A404-2F2FF520469E}" type="slidenum">
              <a:rPr lang="fi-FI" smtClean="0"/>
              <a:pPr/>
              <a:t>‹#›</a:t>
            </a:fld>
            <a:endParaRPr lang="fi-FI"/>
          </a:p>
        </p:txBody>
      </p:sp>
    </p:spTree>
    <p:extLst>
      <p:ext uri="{BB962C8B-B14F-4D97-AF65-F5344CB8AC3E}">
        <p14:creationId xmlns:p14="http://schemas.microsoft.com/office/powerpoint/2010/main" val="3247431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a:t>
            </a:fld>
            <a:endParaRPr lang="fi-FI"/>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2</a:t>
            </a:fld>
            <a:endParaRPr lang="fi-FI"/>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3</a:t>
            </a:fld>
            <a:endParaRPr lang="fi-FI"/>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AE0F8D-3206-4D5B-B2F7-877BD0B838A5}" type="slidenum">
              <a:rPr lang="fi-FI" smtClean="0"/>
              <a:pPr/>
              <a:t>4</a:t>
            </a:fld>
            <a:endParaRPr lang="fi-FI"/>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598AE16-88A3-481B-8AE6-F1A024092AC6}" type="slidenum">
              <a:rPr lang="en-GB"/>
              <a:pPr/>
              <a:t>5</a:t>
            </a:fld>
            <a:endParaRPr lang="en-GB" dirty="0"/>
          </a:p>
        </p:txBody>
      </p:sp>
      <p:sp>
        <p:nvSpPr>
          <p:cNvPr id="1544194" name="Rectangle 2"/>
          <p:cNvSpPr>
            <a:spLocks noGrp="1" noRot="1" noChangeAspect="1" noChangeArrowheads="1" noTextEdit="1"/>
          </p:cNvSpPr>
          <p:nvPr>
            <p:ph type="sldImg"/>
          </p:nvPr>
        </p:nvSpPr>
        <p:spPr>
          <a:ln/>
        </p:spPr>
      </p:sp>
      <p:sp>
        <p:nvSpPr>
          <p:cNvPr id="1544195" name="Rectangle 3"/>
          <p:cNvSpPr>
            <a:spLocks noGrp="1" noChangeArrowheads="1"/>
          </p:cNvSpPr>
          <p:nvPr>
            <p:ph type="body" idx="1"/>
          </p:nvPr>
        </p:nvSpPr>
        <p:spPr/>
        <p:txBody>
          <a:bodyPr/>
          <a:lstStyle/>
          <a:p>
            <a:r>
              <a:rPr lang="en-US" dirty="0"/>
              <a:t>Esimerkki: erittäin hyvä yksikkötestaus agile-projektissa, ei lisäarvoa testaajan tekemälle automatisoinnille; koska olisi? </a:t>
            </a:r>
            <a:endParaRPr lang="en-GB"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C0B0DD4-5B3D-4AFE-8A3F-6CD9C6499DB0}" type="slidenum">
              <a:rPr lang="en-GB"/>
              <a:pPr/>
              <a:t>6</a:t>
            </a:fld>
            <a:endParaRPr lang="en-GB" dirty="0"/>
          </a:p>
        </p:txBody>
      </p:sp>
      <p:sp>
        <p:nvSpPr>
          <p:cNvPr id="1542146" name="Rectangle 2"/>
          <p:cNvSpPr>
            <a:spLocks noGrp="1" noRot="1" noChangeAspect="1" noChangeArrowheads="1" noTextEdit="1"/>
          </p:cNvSpPr>
          <p:nvPr>
            <p:ph type="sldImg"/>
          </p:nvPr>
        </p:nvSpPr>
        <p:spPr>
          <a:ln/>
        </p:spPr>
      </p:sp>
      <p:sp>
        <p:nvSpPr>
          <p:cNvPr id="1542147" name="Rectangle 3"/>
          <p:cNvSpPr>
            <a:spLocks noGrp="1" noChangeArrowheads="1"/>
          </p:cNvSpPr>
          <p:nvPr>
            <p:ph type="body" idx="1"/>
          </p:nvPr>
        </p:nvSpPr>
        <p:spPr/>
        <p:txBody>
          <a:bodyPr/>
          <a:lstStyle/>
          <a:p>
            <a:r>
              <a:rPr lang="fi-FI"/>
              <a:t>tähän palataan myöhemmin, kun käydään yksityiskohtaisemmin regressio-olettamaa testauksen perustana ja koska se pitää paikkansa. </a:t>
            </a:r>
          </a:p>
          <a:p>
            <a:endParaRPr lang="fi-FI"/>
          </a:p>
          <a:p>
            <a:r>
              <a:rPr lang="fi-FI"/>
              <a:t>Ensimmäiselle kaksi tapaa rakentaa automaatiota: automatisoidaan bugiraportteja vastaan tai automatisoidaan osa testitapauksista. </a:t>
            </a:r>
          </a:p>
          <a:p>
            <a:endParaRPr lang="fi-FI"/>
          </a:p>
          <a:p>
            <a:r>
              <a:rPr lang="fi-FI"/>
              <a:t>Monet automaation lupaukset liittyvät nimenomaan ensimmäiseen.</a:t>
            </a:r>
          </a:p>
          <a:p>
            <a:endParaRPr lang="fi-FI"/>
          </a:p>
          <a:p>
            <a:r>
              <a:rPr lang="fi-FI" sz="1000"/>
              <a:t>variation to tests – some people resist</a:t>
            </a:r>
          </a:p>
          <a:p>
            <a:r>
              <a:rPr lang="fi-FI" sz="1000"/>
              <a:t>Fear:</a:t>
            </a:r>
          </a:p>
          <a:p>
            <a:pPr lvl="1"/>
            <a:r>
              <a:rPr lang="en-GB" sz="1000" dirty="0"/>
              <a:t>At some point you run tests, but don’t find bugs since its not there yet</a:t>
            </a:r>
          </a:p>
          <a:p>
            <a:pPr lvl="1"/>
            <a:r>
              <a:rPr lang="en-GB" sz="1000" dirty="0"/>
              <a:t>You don’t run the same test again</a:t>
            </a:r>
          </a:p>
          <a:p>
            <a:pPr lvl="1"/>
            <a:r>
              <a:rPr lang="en-GB" sz="1000" dirty="0"/>
              <a:t>“How could you miss that bug, it is obvious”</a:t>
            </a:r>
          </a:p>
          <a:p>
            <a:pPr lvl="1"/>
            <a:r>
              <a:rPr lang="en-GB" sz="1000" dirty="0"/>
              <a:t>You had the test, you knew how to use it, you just didn’t do it recently enough</a:t>
            </a:r>
          </a:p>
          <a:p>
            <a:pPr lvl="1"/>
            <a:r>
              <a:rPr lang="en-GB" sz="1000" dirty="0"/>
              <a:t>So that you make sure don’t miss those bugs, you’ll never find any of these other ones? – that’s the </a:t>
            </a:r>
            <a:r>
              <a:rPr lang="en-GB" sz="1000" dirty="0" err="1"/>
              <a:t>tradeoff</a:t>
            </a:r>
            <a:endParaRPr lang="en-GB" sz="1000"/>
          </a:p>
          <a:p>
            <a:pPr lvl="1"/>
            <a:r>
              <a:rPr lang="en-GB" sz="1000"/>
              <a:t>Fear is not a good basis for engineering, and covering your back, is a tacks, not a design principle</a:t>
            </a:r>
          </a:p>
          <a:p>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7</a:t>
            </a:fld>
            <a:endParaRPr lang="fi-FI"/>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AB710D5-4114-4C5A-A568-A74D224EC659}" type="slidenum">
              <a:rPr lang="fi-FI" smtClean="0"/>
              <a:pPr/>
              <a:t>8</a:t>
            </a:fld>
            <a:endParaRPr lang="fi-FI"/>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9</a:t>
            </a:fld>
            <a:endParaRPr lang="fi-FI"/>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10</a:t>
            </a:fld>
            <a:endParaRPr lang="fi-FI"/>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72BFB3E-F26F-420F-A23D-2FA33773AB56}" type="slidenum">
              <a:rPr lang="en-GB"/>
              <a:pPr/>
              <a:t>11</a:t>
            </a:fld>
            <a:endParaRPr lang="en-GB"/>
          </a:p>
        </p:txBody>
      </p:sp>
      <p:sp>
        <p:nvSpPr>
          <p:cNvPr id="1526786" name="Rectangle 2"/>
          <p:cNvSpPr>
            <a:spLocks noGrp="1" noRot="1" noChangeAspect="1" noChangeArrowheads="1" noTextEdit="1"/>
          </p:cNvSpPr>
          <p:nvPr>
            <p:ph type="sldImg"/>
          </p:nvPr>
        </p:nvSpPr>
        <p:spPr>
          <a:ln/>
        </p:spPr>
      </p:sp>
      <p:sp>
        <p:nvSpPr>
          <p:cNvPr id="1526787" name="Rectangle 3"/>
          <p:cNvSpPr>
            <a:spLocks noGrp="1" noChangeArrowheads="1"/>
          </p:cNvSpPr>
          <p:nvPr>
            <p:ph type="body" idx="1"/>
          </p:nvPr>
        </p:nvSpPr>
        <p:spPr/>
        <p:txBody>
          <a:bodyPr/>
          <a:lstStyle/>
          <a:p>
            <a:r>
              <a:rPr lang="en-US"/>
              <a:t>Essentially: should automation find bugs? How many per effort unit compared to manual test execution. Opportunity costs!</a:t>
            </a:r>
            <a:endParaRPr 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12</a:t>
            </a:fld>
            <a:endParaRPr lang="fi-FI"/>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fi-FI" dirty="0" smtClean="0"/>
              <a:t>Canoo</a:t>
            </a:r>
            <a:r>
              <a:rPr lang="fi-FI" baseline="0" dirty="0" smtClean="0"/>
              <a:t> WebTest</a:t>
            </a:r>
          </a:p>
          <a:p>
            <a:r>
              <a:rPr lang="fi-FI" baseline="0" dirty="0" smtClean="0"/>
              <a:t>Fit, Fitnesse</a:t>
            </a:r>
          </a:p>
          <a:p>
            <a:r>
              <a:rPr lang="fi-FI" baseline="0" dirty="0" smtClean="0"/>
              <a:t>Robot</a:t>
            </a:r>
          </a:p>
          <a:p>
            <a:r>
              <a:rPr lang="fi-FI" baseline="0" dirty="0" smtClean="0"/>
              <a:t>Twist</a:t>
            </a:r>
            <a:endParaRPr lang="fi-FI" dirty="0"/>
          </a:p>
        </p:txBody>
      </p:sp>
      <p:sp>
        <p:nvSpPr>
          <p:cNvPr id="4" name="Slide Number Placeholder 3"/>
          <p:cNvSpPr>
            <a:spLocks noGrp="1"/>
          </p:cNvSpPr>
          <p:nvPr>
            <p:ph type="sldNum" sz="quarter" idx="10"/>
          </p:nvPr>
        </p:nvSpPr>
        <p:spPr/>
        <p:txBody>
          <a:bodyPr/>
          <a:lstStyle/>
          <a:p>
            <a:fld id="{0DACF068-AF77-436E-9D70-4C9BB722695D}" type="slidenum">
              <a:rPr lang="fi-FI" smtClean="0"/>
              <a:pPr/>
              <a:t>13</a:t>
            </a:fld>
            <a:endParaRPr lang="fi-FI"/>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14</a:t>
            </a:fld>
            <a:endParaRPr lang="fi-FI"/>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15</a:t>
            </a:fld>
            <a:endParaRPr lang="fi-FI"/>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148FE7B-5C99-4E7E-A5B5-3F30E9A96E67}" type="slidenum">
              <a:rPr lang="en-GB"/>
              <a:pPr/>
              <a:t>16</a:t>
            </a:fld>
            <a:endParaRPr lang="en-GB"/>
          </a:p>
        </p:txBody>
      </p:sp>
      <p:sp>
        <p:nvSpPr>
          <p:cNvPr id="1531906" name="Rectangle 2"/>
          <p:cNvSpPr>
            <a:spLocks noGrp="1" noRot="1" noChangeAspect="1" noChangeArrowheads="1" noTextEdit="1"/>
          </p:cNvSpPr>
          <p:nvPr>
            <p:ph type="sldImg"/>
          </p:nvPr>
        </p:nvSpPr>
        <p:spPr>
          <a:ln/>
        </p:spPr>
      </p:sp>
      <p:sp>
        <p:nvSpPr>
          <p:cNvPr id="1531907" name="Rectangle 3"/>
          <p:cNvSpPr>
            <a:spLocks noGrp="1" noChangeArrowheads="1"/>
          </p:cNvSpPr>
          <p:nvPr>
            <p:ph type="body" idx="1"/>
          </p:nvPr>
        </p:nvSpPr>
        <p:spPr/>
        <p:txBody>
          <a:bodyPr/>
          <a:lstStyle/>
          <a:p>
            <a:r>
              <a:rPr lang="en-GB"/>
              <a:t>Note: other process improvement activities are just as good candidates as automation in many cases. </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17</a:t>
            </a:fld>
            <a:endParaRPr lang="fi-FI"/>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18</a:t>
            </a:fld>
            <a:endParaRPr lang="fi-FI"/>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00B7E2A-7A02-40CA-99A4-3112313967C3}" type="slidenum">
              <a:rPr lang="en-GB"/>
              <a:pPr/>
              <a:t>19</a:t>
            </a:fld>
            <a:endParaRPr lang="en-GB"/>
          </a:p>
        </p:txBody>
      </p:sp>
      <p:sp>
        <p:nvSpPr>
          <p:cNvPr id="1533954" name="Rectangle 2"/>
          <p:cNvSpPr>
            <a:spLocks noGrp="1" noRot="1" noChangeAspect="1" noChangeArrowheads="1" noTextEdit="1"/>
          </p:cNvSpPr>
          <p:nvPr>
            <p:ph type="sldImg"/>
          </p:nvPr>
        </p:nvSpPr>
        <p:spPr>
          <a:ln/>
        </p:spPr>
      </p:sp>
      <p:sp>
        <p:nvSpPr>
          <p:cNvPr id="1533955" name="Rectangle 3"/>
          <p:cNvSpPr>
            <a:spLocks noGrp="1" noChangeArrowheads="1"/>
          </p:cNvSpPr>
          <p:nvPr>
            <p:ph type="body" idx="1"/>
          </p:nvPr>
        </p:nvSpPr>
        <p:spPr/>
        <p:txBody>
          <a:bodyPr/>
          <a:lstStyle/>
          <a:p>
            <a:r>
              <a:rPr lang="fi-FI" b="1" dirty="0"/>
              <a:t>1. Testaus on ”sarja toimintoja”</a:t>
            </a:r>
            <a:endParaRPr lang="en-GB" dirty="0"/>
          </a:p>
          <a:p>
            <a:r>
              <a:rPr lang="fi-FI" dirty="0"/>
              <a:t>Itse asiassa, testaus on vuorovaikutusta, jota rytmittää ohjelmiston arviointi. Vaikka on hyödyllistä tunnistaa sarja toimintoja joita käydään läpi, on myös tärkeää ymmärtää että testauksen jättäminen tälle tasolle luo liian kevyen joukon testejä. Monet vuorovaikutuksista ovat niin monimutkaisia, moniselitteisiä ja muuttuvia että niitä ei voida kuvata järkevästi etukäteen.</a:t>
            </a:r>
          </a:p>
          <a:p>
            <a:r>
              <a:rPr lang="fi-FI" dirty="0"/>
              <a:t> </a:t>
            </a:r>
            <a:endParaRPr lang="en-GB" dirty="0"/>
          </a:p>
          <a:p>
            <a:r>
              <a:rPr lang="fi-FI" b="1" dirty="0"/>
              <a:t>2. Testaus tarkoittaa samojen asioiden toistamista kerta toisensa jälkeen</a:t>
            </a:r>
            <a:endParaRPr lang="en-GB" dirty="0"/>
          </a:p>
          <a:p>
            <a:r>
              <a:rPr lang="fi-FI" dirty="0"/>
              <a:t>Jos testitapauksella ei alkujaan löydy virhettä, on todennäköistä että sillä ei koskaan löydy virhettä ellei järjestelmään ilmaannu uutta virhettä. Jos testeissä on vaihtelevuutta, kuten yleensä käsin testatessa on, myös jo olemassa olevien virheiden paljastuminen on mahdollista uusien syntyneiden lisäksi. Bach raportoi Borlandin kehityksessä useiden automatisointivuosien jälkeen yli 80 % virheistä löytyneen edelleen käsin tehtävillä testeillä. Erittäin toistettavat testit voivat itse asiassa minimoida mahdollisuuden löytää tärkeitä ongelmia, vähän niinkuin se että kävelisi miinakentällä toisen jalanjäljissä minimoisi mahdollisuuden räjäyttää miina.</a:t>
            </a:r>
            <a:endParaRPr lang="en-GB" dirty="0"/>
          </a:p>
          <a:p>
            <a:r>
              <a:rPr lang="fi-FI" dirty="0"/>
              <a:t> </a:t>
            </a:r>
            <a:endParaRPr lang="en-GB" dirty="0"/>
          </a:p>
          <a:p>
            <a:r>
              <a:rPr lang="fi-FI" b="1" dirty="0"/>
              <a:t>3. Voimme automatisoida testauksen toiminnot</a:t>
            </a:r>
            <a:endParaRPr lang="en-GB" dirty="0"/>
          </a:p>
          <a:p>
            <a:r>
              <a:rPr lang="fi-FI" dirty="0"/>
              <a:t>Jotkut asiat ovat vaikeita koneelle, mutta helppoja ihmisille. Erityisesti testauksen tulosten arviointi ”onko tämä oikein” on moniulotteista ja kaikkia ulottuvuuksia ei voi automatisoida. Eikä välttämättä edes ajattele ennen kuin niihin törmää käytännössä.       </a:t>
            </a:r>
            <a:endParaRPr lang="en-GB" dirty="0"/>
          </a:p>
          <a:p>
            <a:r>
              <a:rPr lang="fi-FI" b="1" dirty="0"/>
              <a:t> </a:t>
            </a:r>
          </a:p>
          <a:p>
            <a:r>
              <a:rPr lang="fi-FI" b="1" dirty="0"/>
              <a:t>4. Automatisoitu testi on nopeampi koska se ei tarvitse ihmisen puuttumista asiaan</a:t>
            </a:r>
          </a:p>
          <a:p>
            <a:r>
              <a:rPr lang="fi-FI" dirty="0"/>
              <a:t>Kaikki automatisoidut testit vaativat ihmisen puuttumista asiaan, ainakin rikkinäisten testien korjaamisessa ja tulosten analysoinnissa – onko virhe testissä vai testattavassa sovelluksessa.</a:t>
            </a:r>
          </a:p>
          <a:p>
            <a:r>
              <a:rPr lang="fi-FI" dirty="0"/>
              <a:t> </a:t>
            </a:r>
            <a:endParaRPr lang="en-GB" dirty="0"/>
          </a:p>
          <a:p>
            <a:r>
              <a:rPr lang="fi-FI" b="1" dirty="0"/>
              <a:t>5. Automaatio vähentää ihmisten tekemiä virheitä</a:t>
            </a:r>
            <a:endParaRPr lang="en-GB" dirty="0"/>
          </a:p>
          <a:p>
            <a:r>
              <a:rPr lang="fi-FI" dirty="0"/>
              <a:t>Automaatio vähentää joitain virheitä, mutta toisaalta luo toisenlaisia virheitä. Automaatiolla voi päästä eroon virheistä joita ihmiset tekevät kun annetaan tehtäväksi lista yksinkertaisia ja puuduttavia tehtäviä. Ihmisillä on ainakin periaatteessa paremmat mahdollisuudet käyttää järkeään samalla ja ajatella niissäkin ulottuvuuksissa joita ei ole tullut automatisoitua.</a:t>
            </a:r>
            <a:endParaRPr lang="en-GB" dirty="0"/>
          </a:p>
          <a:p>
            <a:r>
              <a:rPr lang="fi-FI" dirty="0"/>
              <a:t> </a:t>
            </a:r>
            <a:endParaRPr lang="en-GB" dirty="0"/>
          </a:p>
          <a:p>
            <a:r>
              <a:rPr lang="fi-FI" b="1" dirty="0"/>
              <a:t>6. Käsin tehtävän ja automatisoidun testauksen kuluja ja hyötyjä voidaan järkevästi verrata</a:t>
            </a:r>
          </a:p>
          <a:p>
            <a:r>
              <a:rPr lang="fi-FI" dirty="0"/>
              <a:t>Käsin testaaminen ja automatisoitu testaaminen ovat hyvin erilaisia prosesseja eivätkä kaksi tapaa suorittaa sama prosessi – ihminen kykenee näkemään asioita moniulotteisesti samaa prosessia suorittaessaan ja tämä ero on merkittävä. Niillä on tapana löytää erilaisia virheitä. Niinpä suora vertailu on mahdollista, mutta merkityksetöntä. Tasan samoja testejä tuskin tehtäisiin käsin tai välttämättä olisi oikeasti tarpeenkaan tehdä käsin. Automaatio on osa moniulotteista hyvää testausstrategiaa.</a:t>
            </a:r>
            <a:endParaRPr lang="en-GB" dirty="0"/>
          </a:p>
          <a:p>
            <a:r>
              <a:rPr lang="fi-FI" dirty="0"/>
              <a:t> </a:t>
            </a:r>
            <a:endParaRPr lang="en-GB" dirty="0"/>
          </a:p>
          <a:p>
            <a:r>
              <a:rPr lang="fi-FI" b="1" dirty="0"/>
              <a:t>7. Automaatio johtaa merkittäviin resurssikustannussäästöihin</a:t>
            </a:r>
            <a:endParaRPr lang="en-GB" dirty="0"/>
          </a:p>
          <a:p>
            <a:r>
              <a:rPr lang="fi-FI" dirty="0"/>
              <a:t>Automaation kustannus muodostuu automaation kehittämisestä, käyttämisestä, ylläpitämisestä ja automaation aiheuttaminen uusien tehtävien tekemisen kustannuksesta (testitapauksien tarkempi dokumentointi, automaation testaaminen ja dokumentointi, tulosten läpikäynti, muutosten analysointi automaatiovaikutusmielessä, jaetun automaatiotestijakson kehittämisen koordinointi, testien toimivuus useissa ympäristöissä). Jäljelle jää edelleen paljon käsin tehtävää testausta. Automaatiolla ei yleensä vähennetä työtä.</a:t>
            </a:r>
          </a:p>
          <a:p>
            <a:r>
              <a:rPr lang="fi-FI" dirty="0"/>
              <a:t> </a:t>
            </a:r>
            <a:endParaRPr lang="en-GB" dirty="0"/>
          </a:p>
          <a:p>
            <a:r>
              <a:rPr lang="fi-FI" b="1" dirty="0"/>
              <a:t>8. Automaatio ei vaikuta heikentävästi testausprojektiin</a:t>
            </a:r>
            <a:endParaRPr lang="en-GB" dirty="0"/>
          </a:p>
          <a:p>
            <a:r>
              <a:rPr lang="fi-FI" dirty="0"/>
              <a:t>On vaarallista automatisoida jotain mitä ei ymmärretä. Testausstrategia ja automaation osuus siinä pitää ymmärtää ennen automaatiota, tai tekninen ihmetys saattaa peittää alleen todellisen tavoitteen eli sovelluksen testaamisen. Vanhoja testejä edellisiltä kehittäjiltä ei uskalleta heittää pois, vaan niitä korjaillaan puolisokkona, koska ne saattavat olla oleellisia.</a:t>
            </a:r>
          </a:p>
          <a:p>
            <a:endParaRPr lang="en-GB"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20</a:t>
            </a:fld>
            <a:endParaRPr lang="fi-FI"/>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21</a:t>
            </a:fld>
            <a:endParaRPr lang="fi-FI"/>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22</a:t>
            </a:fld>
            <a:endParaRPr lang="fi-FI"/>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23</a:t>
            </a:fld>
            <a:endParaRPr lang="fi-FI"/>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49A6E2FC-B52B-4BD8-AAD9-A6179BB76FE7}" type="slidenum">
              <a:rPr lang="fi-FI" smtClean="0"/>
              <a:pPr/>
              <a:t>24</a:t>
            </a:fld>
            <a:endParaRPr lang="fi-FI"/>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fi-FI" dirty="0" smtClean="0"/>
              <a:t>Esim. keskustelu kolleegan kanssa, joka jatkuvasti inttää että jokainen esimerkki jonka sanon voidaan automatisoida ja vielä ihan kohtuullisessa ajassa. Ei halua yksinkertaisesti hyväksyä että automatisoitu testi ei tee samoja asioita, ja että minun</a:t>
            </a:r>
            <a:r>
              <a:rPr lang="fi-FI" baseline="0" dirty="0" smtClean="0"/>
              <a:t> kantani on että joskus sillä on väliä ja joskus ei. </a:t>
            </a:r>
            <a:endParaRPr lang="fi-FI" dirty="0"/>
          </a:p>
        </p:txBody>
      </p:sp>
      <p:sp>
        <p:nvSpPr>
          <p:cNvPr id="4" name="Slide Number Placeholder 3"/>
          <p:cNvSpPr>
            <a:spLocks noGrp="1"/>
          </p:cNvSpPr>
          <p:nvPr>
            <p:ph type="sldNum" sz="quarter" idx="10"/>
          </p:nvPr>
        </p:nvSpPr>
        <p:spPr/>
        <p:txBody>
          <a:bodyPr/>
          <a:lstStyle/>
          <a:p>
            <a:fld id="{9AF9B353-392B-46F2-9B1B-C1643CD15ECE}" type="slidenum">
              <a:rPr lang="fi-FI" smtClean="0"/>
              <a:pPr/>
              <a:t>25</a:t>
            </a:fld>
            <a:endParaRPr lang="fi-FI"/>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8090F80B-00F3-431D-B31E-47D2F9301A1B}" type="slidenum">
              <a:rPr lang="fi-FI" smtClean="0"/>
              <a:pPr/>
              <a:t>26</a:t>
            </a:fld>
            <a:endParaRPr lang="fi-FI"/>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CF3364A-9C91-431E-8A41-72064A7324C3}" type="datetime1">
              <a:rPr lang="en-US" smtClean="0"/>
              <a:pPr/>
              <a:t>30/05/17</a:t>
            </a:fld>
            <a:endParaRPr lang="en-US"/>
          </a:p>
        </p:txBody>
      </p:sp>
      <p:sp>
        <p:nvSpPr>
          <p:cNvPr id="5" name="Footer Placeholder 4"/>
          <p:cNvSpPr>
            <a:spLocks noGrp="1"/>
          </p:cNvSpPr>
          <p:nvPr>
            <p:ph type="ftr" sz="quarter" idx="11"/>
          </p:nvPr>
        </p:nvSpPr>
        <p:spPr/>
        <p:txBody>
          <a:bodyPr/>
          <a:lstStyle/>
          <a:p>
            <a:r>
              <a:rPr lang="en-US" smtClean="0"/>
              <a:t>DAY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68C143D-0312-437A-BBFE-B66185CC9ABE}" type="datetime1">
              <a:rPr lang="en-US" smtClean="0"/>
              <a:pPr/>
              <a:t>30/05/17</a:t>
            </a:fld>
            <a:endParaRPr lang="en-US"/>
          </a:p>
        </p:txBody>
      </p:sp>
      <p:sp>
        <p:nvSpPr>
          <p:cNvPr id="5" name="Footer Placeholder 4"/>
          <p:cNvSpPr>
            <a:spLocks noGrp="1"/>
          </p:cNvSpPr>
          <p:nvPr>
            <p:ph type="ftr" sz="quarter" idx="11"/>
          </p:nvPr>
        </p:nvSpPr>
        <p:spPr/>
        <p:txBody>
          <a:bodyPr/>
          <a:lstStyle/>
          <a:p>
            <a:r>
              <a:rPr lang="en-US" smtClean="0"/>
              <a:t>DAY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5F67AD7-ABDF-4579-8C30-FEB1EDA69648}" type="datetime1">
              <a:rPr lang="en-US" smtClean="0"/>
              <a:pPr/>
              <a:t>30/05/17</a:t>
            </a:fld>
            <a:endParaRPr lang="en-US"/>
          </a:p>
        </p:txBody>
      </p:sp>
      <p:sp>
        <p:nvSpPr>
          <p:cNvPr id="5" name="Footer Placeholder 4"/>
          <p:cNvSpPr>
            <a:spLocks noGrp="1"/>
          </p:cNvSpPr>
          <p:nvPr>
            <p:ph type="ftr" sz="quarter" idx="11"/>
          </p:nvPr>
        </p:nvSpPr>
        <p:spPr/>
        <p:txBody>
          <a:bodyPr/>
          <a:lstStyle/>
          <a:p>
            <a:r>
              <a:rPr lang="en-US" smtClean="0"/>
              <a:t>DAY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B624BEA-BECE-4E83-AFF2-FD2743B2315F}" type="datetime1">
              <a:rPr lang="en-US" smtClean="0"/>
              <a:pPr/>
              <a:t>30/05/17</a:t>
            </a:fld>
            <a:endParaRPr lang="en-US"/>
          </a:p>
        </p:txBody>
      </p:sp>
      <p:sp>
        <p:nvSpPr>
          <p:cNvPr id="6" name="Footer Placeholder 5"/>
          <p:cNvSpPr>
            <a:spLocks noGrp="1"/>
          </p:cNvSpPr>
          <p:nvPr>
            <p:ph type="ftr" sz="quarter" idx="11"/>
          </p:nvPr>
        </p:nvSpPr>
        <p:spPr/>
        <p:txBody>
          <a:bodyPr/>
          <a:lstStyle/>
          <a:p>
            <a:r>
              <a:rPr lang="en-US" smtClean="0"/>
              <a:t>DAY 2</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B31C975-FB60-4BB7-9106-8C4E7CBEADD8}" type="datetime1">
              <a:rPr lang="en-US" smtClean="0"/>
              <a:pPr/>
              <a:t>30/05/17</a:t>
            </a:fld>
            <a:endParaRPr lang="en-US"/>
          </a:p>
        </p:txBody>
      </p:sp>
      <p:sp>
        <p:nvSpPr>
          <p:cNvPr id="8" name="Footer Placeholder 7"/>
          <p:cNvSpPr>
            <a:spLocks noGrp="1"/>
          </p:cNvSpPr>
          <p:nvPr>
            <p:ph type="ftr" sz="quarter" idx="11"/>
          </p:nvPr>
        </p:nvSpPr>
        <p:spPr/>
        <p:txBody>
          <a:bodyPr/>
          <a:lstStyle/>
          <a:p>
            <a:r>
              <a:rPr lang="en-US" smtClean="0"/>
              <a:t>DAY 2</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B9C704B-01EA-4BEB-B093-86E709178268}" type="datetime1">
              <a:rPr lang="en-US" smtClean="0"/>
              <a:pPr/>
              <a:t>30/05/17</a:t>
            </a:fld>
            <a:endParaRPr lang="en-US"/>
          </a:p>
        </p:txBody>
      </p:sp>
      <p:sp>
        <p:nvSpPr>
          <p:cNvPr id="4" name="Footer Placeholder 3"/>
          <p:cNvSpPr>
            <a:spLocks noGrp="1"/>
          </p:cNvSpPr>
          <p:nvPr>
            <p:ph type="ftr" sz="quarter" idx="11"/>
          </p:nvPr>
        </p:nvSpPr>
        <p:spPr/>
        <p:txBody>
          <a:bodyPr/>
          <a:lstStyle/>
          <a:p>
            <a:r>
              <a:rPr lang="en-US" smtClean="0"/>
              <a:t>DAY 2</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548E72-DF0E-4098-BEF7-3ADA8E16125F}" type="datetime1">
              <a:rPr lang="en-US" smtClean="0"/>
              <a:pPr/>
              <a:t>30/05/17</a:t>
            </a:fld>
            <a:endParaRPr lang="en-US"/>
          </a:p>
        </p:txBody>
      </p:sp>
      <p:sp>
        <p:nvSpPr>
          <p:cNvPr id="3" name="Footer Placeholder 2"/>
          <p:cNvSpPr>
            <a:spLocks noGrp="1"/>
          </p:cNvSpPr>
          <p:nvPr>
            <p:ph type="ftr" sz="quarter" idx="11"/>
          </p:nvPr>
        </p:nvSpPr>
        <p:spPr/>
        <p:txBody>
          <a:bodyPr/>
          <a:lstStyle/>
          <a:p>
            <a:r>
              <a:rPr lang="en-US" smtClean="0"/>
              <a:t>DAY 2</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CEAC4FE-A412-4083-A912-4E80710505D9}" type="datetime1">
              <a:rPr lang="en-US" smtClean="0"/>
              <a:pPr/>
              <a:t>30/05/17</a:t>
            </a:fld>
            <a:endParaRPr lang="en-US"/>
          </a:p>
        </p:txBody>
      </p:sp>
      <p:sp>
        <p:nvSpPr>
          <p:cNvPr id="6" name="Footer Placeholder 5"/>
          <p:cNvSpPr>
            <a:spLocks noGrp="1"/>
          </p:cNvSpPr>
          <p:nvPr>
            <p:ph type="ftr" sz="quarter" idx="11"/>
          </p:nvPr>
        </p:nvSpPr>
        <p:spPr/>
        <p:txBody>
          <a:bodyPr/>
          <a:lstStyle/>
          <a:p>
            <a:r>
              <a:rPr lang="en-US" smtClean="0"/>
              <a:t>DAY 2</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31FEDD-401B-450D-A299-08FCA219C9EB}" type="datetime1">
              <a:rPr lang="en-US" smtClean="0"/>
              <a:pPr/>
              <a:t>30/05/17</a:t>
            </a:fld>
            <a:endParaRPr lang="en-US"/>
          </a:p>
        </p:txBody>
      </p:sp>
      <p:sp>
        <p:nvSpPr>
          <p:cNvPr id="6" name="Footer Placeholder 5"/>
          <p:cNvSpPr>
            <a:spLocks noGrp="1"/>
          </p:cNvSpPr>
          <p:nvPr>
            <p:ph type="ftr" sz="quarter" idx="11"/>
          </p:nvPr>
        </p:nvSpPr>
        <p:spPr/>
        <p:txBody>
          <a:bodyPr/>
          <a:lstStyle/>
          <a:p>
            <a:r>
              <a:rPr lang="en-US" smtClean="0"/>
              <a:t>DAY 2</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342CBB3-8562-4DED-B5C8-3B3E31FF360E}" type="datetime1">
              <a:rPr lang="en-US" smtClean="0"/>
              <a:pPr/>
              <a:t>30/05/17</a:t>
            </a:fld>
            <a:endParaRPr lang="en-US"/>
          </a:p>
        </p:txBody>
      </p:sp>
      <p:sp>
        <p:nvSpPr>
          <p:cNvPr id="5" name="Footer Placeholder 4"/>
          <p:cNvSpPr>
            <a:spLocks noGrp="1"/>
          </p:cNvSpPr>
          <p:nvPr>
            <p:ph type="ftr" sz="quarter" idx="11"/>
          </p:nvPr>
        </p:nvSpPr>
        <p:spPr/>
        <p:txBody>
          <a:bodyPr/>
          <a:lstStyle/>
          <a:p>
            <a:r>
              <a:rPr lang="en-US" smtClean="0"/>
              <a:t>DAY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B81223F-C27D-46A3-B00D-2248724BEB74}" type="datetime1">
              <a:rPr lang="en-US" smtClean="0"/>
              <a:pPr/>
              <a:t>30/05/17</a:t>
            </a:fld>
            <a:endParaRPr lang="en-US"/>
          </a:p>
        </p:txBody>
      </p:sp>
      <p:sp>
        <p:nvSpPr>
          <p:cNvPr id="5" name="Footer Placeholder 4"/>
          <p:cNvSpPr>
            <a:spLocks noGrp="1"/>
          </p:cNvSpPr>
          <p:nvPr>
            <p:ph type="ftr" sz="quarter" idx="11"/>
          </p:nvPr>
        </p:nvSpPr>
        <p:spPr/>
        <p:txBody>
          <a:bodyPr/>
          <a:lstStyle/>
          <a:p>
            <a:r>
              <a:rPr lang="en-US" smtClean="0"/>
              <a:t>DAY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FA4817-595C-446F-AB97-9285BDC08E7E}" type="datetime1">
              <a:rPr lang="en-US" smtClean="0"/>
              <a:pPr/>
              <a:t>30/05/17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DAY 2</a:t>
            </a:r>
            <a:endParaRPr lang="en-US"/>
          </a:p>
        </p:txBody>
      </p:sp>
      <p:sp>
        <p:nvSpPr>
          <p:cNvPr id="6" name="Slide Number Placeholder 5"/>
          <p:cNvSpPr>
            <a:spLocks noGrp="1"/>
          </p:cNvSpPr>
          <p:nvPr>
            <p:ph type="sldNum" sz="quarter" idx="4"/>
          </p:nvPr>
        </p:nvSpPr>
        <p:spPr>
          <a:xfrm>
            <a:off x="0" y="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hyperlink" Target="http://creativecommons.org/licenses/by/1.0/fi/" TargetMode="External"/><Relationship Id="rId5" Type="http://schemas.openxmlformats.org/officeDocument/2006/relationships/hyperlink" Target="http://creativecommons.org/licenses/by/1.0/fi/deed.en" TargetMode="External"/><Relationship Id="rId6" Type="http://schemas.openxmlformats.org/officeDocument/2006/relationships/image" Target="../media/image2.wmf"/><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5.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image" Target="../media/image6.wmf"/><Relationship Id="rId4" Type="http://schemas.openxmlformats.org/officeDocument/2006/relationships/image" Target="../media/image7.wmf"/><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Testauksen automatisointi</a:t>
            </a:r>
            <a:endParaRPr lang="fi-FI" dirty="0"/>
          </a:p>
        </p:txBody>
      </p:sp>
      <p:sp>
        <p:nvSpPr>
          <p:cNvPr id="3" name="Text Placeholder 2"/>
          <p:cNvSpPr>
            <a:spLocks noGrp="1"/>
          </p:cNvSpPr>
          <p:nvPr>
            <p:ph type="body" idx="1"/>
          </p:nvPr>
        </p:nvSpPr>
        <p:spPr/>
        <p:txBody>
          <a:bodyPr/>
          <a:lstStyle/>
          <a:p>
            <a:r>
              <a:rPr lang="fi-FI" dirty="0" smtClean="0"/>
              <a:t>...</a:t>
            </a:r>
            <a:endParaRPr lang="fi-FI"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dirty="0"/>
          </a:p>
        </p:txBody>
      </p:sp>
      <p:grpSp>
        <p:nvGrpSpPr>
          <p:cNvPr id="4" name="Group 12"/>
          <p:cNvGrpSpPr/>
          <p:nvPr/>
        </p:nvGrpSpPr>
        <p:grpSpPr>
          <a:xfrm>
            <a:off x="4876800" y="5943600"/>
            <a:ext cx="4114800" cy="685800"/>
            <a:chOff x="838200" y="5486400"/>
            <a:chExt cx="4114800" cy="685800"/>
          </a:xfrm>
        </p:grpSpPr>
        <p:sp>
          <p:nvSpPr>
            <p:cNvPr id="12" name="Rectangle 11"/>
            <p:cNvSpPr/>
            <p:nvPr/>
          </p:nvSpPr>
          <p:spPr>
            <a:xfrm>
              <a:off x="838200" y="5486400"/>
              <a:ext cx="4114800" cy="6858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fi-FI"/>
            </a:p>
          </p:txBody>
        </p:sp>
        <p:pic>
          <p:nvPicPr>
            <p:cNvPr id="13" name="Picture 12" descr="88x31.png"/>
            <p:cNvPicPr>
              <a:picLocks noChangeAspect="1"/>
            </p:cNvPicPr>
            <p:nvPr/>
          </p:nvPicPr>
          <p:blipFill>
            <a:blip r:embed="rId3" cstate="print"/>
            <a:stretch>
              <a:fillRect/>
            </a:stretch>
          </p:blipFill>
          <p:spPr>
            <a:xfrm>
              <a:off x="939940" y="5638800"/>
              <a:ext cx="1117460" cy="393651"/>
            </a:xfrm>
            <a:prstGeom prst="rect">
              <a:avLst/>
            </a:prstGeom>
          </p:spPr>
        </p:pic>
        <p:sp>
          <p:nvSpPr>
            <p:cNvPr id="14" name="TextBox 13"/>
            <p:cNvSpPr txBox="1"/>
            <p:nvPr/>
          </p:nvSpPr>
          <p:spPr>
            <a:xfrm>
              <a:off x="2057400" y="5511225"/>
              <a:ext cx="2819400" cy="646331"/>
            </a:xfrm>
            <a:prstGeom prst="rect">
              <a:avLst/>
            </a:prstGeom>
            <a:noFill/>
          </p:spPr>
          <p:txBody>
            <a:bodyPr wrap="square" rtlCol="0">
              <a:spAutoFit/>
            </a:bodyPr>
            <a:lstStyle/>
            <a:p>
              <a:r>
                <a:rPr lang="fi-FI" sz="900" b="1" dirty="0" smtClean="0"/>
                <a:t>Erkki Pöyhönen &amp; Maaret Pyhäjärvi</a:t>
              </a:r>
            </a:p>
            <a:p>
              <a:r>
                <a:rPr lang="fi-FI" sz="900" dirty="0" smtClean="0"/>
                <a:t>Nimeä |  Attribution (Finland)</a:t>
              </a:r>
            </a:p>
            <a:p>
              <a:pPr marL="0" lvl="1"/>
              <a:r>
                <a:rPr lang="fi-FI" sz="900" dirty="0" smtClean="0">
                  <a:hlinkClick r:id="rId4"/>
                </a:rPr>
                <a:t>http://creativecommons.org/licenses/by/1.0/fi/</a:t>
              </a:r>
              <a:endParaRPr lang="fi-FI" sz="900" dirty="0" smtClean="0"/>
            </a:p>
            <a:p>
              <a:pPr marL="0" lvl="1"/>
              <a:r>
                <a:rPr lang="fi-FI" sz="900" dirty="0" smtClean="0">
                  <a:hlinkClick r:id="rId5"/>
                </a:rPr>
                <a:t>http://creativecommons.org/licenses/by/1.0/fi/deed.en</a:t>
              </a:r>
              <a:endParaRPr lang="fi-FI" sz="900" dirty="0" smtClean="0"/>
            </a:p>
          </p:txBody>
        </p:sp>
      </p:grpSp>
      <p:pic>
        <p:nvPicPr>
          <p:cNvPr id="15" name="Picture 2" descr="C:\Documents and Settings\Maaret\My Documents\My Pictures\Microsoft Clip Organizer\j0078626.wmf"/>
          <p:cNvPicPr>
            <a:picLocks noChangeAspect="1" noChangeArrowheads="1"/>
          </p:cNvPicPr>
          <p:nvPr/>
        </p:nvPicPr>
        <p:blipFill>
          <a:blip r:embed="rId6" cstate="print"/>
          <a:srcRect/>
          <a:stretch>
            <a:fillRect/>
          </a:stretch>
        </p:blipFill>
        <p:spPr bwMode="auto">
          <a:xfrm>
            <a:off x="5334000" y="381000"/>
            <a:ext cx="2673350" cy="3752850"/>
          </a:xfrm>
          <a:prstGeom prst="rect">
            <a:avLst/>
          </a:prstGeom>
          <a:noFill/>
        </p:spPr>
      </p:pic>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Test Automation in an Agile Fashion</a:t>
            </a:r>
            <a:endParaRPr lang="fi-FI" dirty="0"/>
          </a:p>
        </p:txBody>
      </p:sp>
      <p:sp>
        <p:nvSpPr>
          <p:cNvPr id="3" name="Content Placeholder 2"/>
          <p:cNvSpPr>
            <a:spLocks noGrp="1"/>
          </p:cNvSpPr>
          <p:nvPr>
            <p:ph idx="1"/>
          </p:nvPr>
        </p:nvSpPr>
        <p:spPr/>
        <p:txBody>
          <a:bodyPr>
            <a:normAutofit fontScale="92500" lnSpcReduction="20000"/>
          </a:bodyPr>
          <a:lstStyle/>
          <a:p>
            <a:r>
              <a:rPr lang="fi-FI" dirty="0" smtClean="0"/>
              <a:t>Test automation is an essential part of the agile development methods</a:t>
            </a:r>
          </a:p>
          <a:p>
            <a:r>
              <a:rPr lang="fi-FI" dirty="0" smtClean="0"/>
              <a:t>Some rules of thumb</a:t>
            </a:r>
          </a:p>
          <a:p>
            <a:pPr lvl="1"/>
            <a:r>
              <a:rPr lang="fi-FI" dirty="0" smtClean="0"/>
              <a:t>Don’t accept long feedback loops – if you can find a problem with unit testing, don’t wait for the acceptance test run</a:t>
            </a:r>
          </a:p>
          <a:p>
            <a:pPr lvl="1"/>
            <a:r>
              <a:rPr lang="fi-FI" dirty="0" smtClean="0"/>
              <a:t>Don’t accept delay in feedback with respect to change</a:t>
            </a:r>
          </a:p>
          <a:p>
            <a:pPr lvl="1"/>
            <a:r>
              <a:rPr lang="fi-FI" dirty="0" smtClean="0"/>
              <a:t>Manual regression testing is wasting your efforts</a:t>
            </a:r>
          </a:p>
          <a:p>
            <a:r>
              <a:rPr lang="fi-FI" dirty="0" smtClean="0"/>
              <a:t>Creating test automation is a development effort and requires programming skills and concepts to remain maintainable</a:t>
            </a:r>
          </a:p>
          <a:p>
            <a:endParaRPr lang="fi-FI" dirty="0" smtClean="0"/>
          </a:p>
          <a:p>
            <a:pPr lvl="1"/>
            <a:endParaRPr lang="fi-FI" dirty="0" smtClean="0"/>
          </a:p>
        </p:txBody>
      </p:sp>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Coping with Continuous Integration</a:t>
            </a:r>
            <a:endParaRPr lang="fi-FI" dirty="0"/>
          </a:p>
        </p:txBody>
      </p:sp>
      <p:sp>
        <p:nvSpPr>
          <p:cNvPr id="5" name="Content Placeholder 4"/>
          <p:cNvSpPr>
            <a:spLocks noGrp="1"/>
          </p:cNvSpPr>
          <p:nvPr>
            <p:ph sz="half" idx="1"/>
          </p:nvPr>
        </p:nvSpPr>
        <p:spPr/>
        <p:txBody>
          <a:bodyPr>
            <a:normAutofit fontScale="70000" lnSpcReduction="20000"/>
          </a:bodyPr>
          <a:lstStyle/>
          <a:p>
            <a:r>
              <a:rPr lang="fi-FI" dirty="0" smtClean="0"/>
              <a:t>As a tester, I was taught</a:t>
            </a:r>
          </a:p>
          <a:p>
            <a:pPr lvl="1"/>
            <a:r>
              <a:rPr lang="fi-FI" dirty="0" smtClean="0"/>
              <a:t>Control changes </a:t>
            </a:r>
            <a:r>
              <a:rPr lang="fi-FI" dirty="0" smtClean="0">
                <a:sym typeface="Wingdings" pitchFamily="2" charset="2"/>
              </a:rPr>
              <a:t> every change requires extensive regression testing</a:t>
            </a:r>
          </a:p>
          <a:p>
            <a:pPr lvl="1"/>
            <a:r>
              <a:rPr lang="fi-FI" dirty="0" smtClean="0">
                <a:sym typeface="Wingdings" pitchFamily="2" charset="2"/>
              </a:rPr>
              <a:t>Control builds  get further with testing the build I’m working with now</a:t>
            </a:r>
          </a:p>
          <a:p>
            <a:r>
              <a:rPr lang="fi-FI" dirty="0" smtClean="0">
                <a:sym typeface="Wingdings" pitchFamily="2" charset="2"/>
              </a:rPr>
              <a:t>For a long time, I personally believed continuous integration could not work</a:t>
            </a:r>
          </a:p>
          <a:p>
            <a:pPr lvl="1"/>
            <a:r>
              <a:rPr lang="fi-FI" dirty="0" smtClean="0">
                <a:sym typeface="Wingdings" pitchFamily="2" charset="2"/>
              </a:rPr>
              <a:t>From avoiding new builds to regular (system) integration  was a significant step</a:t>
            </a:r>
          </a:p>
          <a:p>
            <a:r>
              <a:rPr lang="fi-FI" dirty="0" smtClean="0"/>
              <a:t>The most common test management tools are not too good with continuos flow of builds</a:t>
            </a:r>
            <a:endParaRPr lang="fi-FI" dirty="0"/>
          </a:p>
        </p:txBody>
      </p:sp>
      <p:sp>
        <p:nvSpPr>
          <p:cNvPr id="6" name="Content Placeholder 5"/>
          <p:cNvSpPr>
            <a:spLocks noGrp="1"/>
          </p:cNvSpPr>
          <p:nvPr>
            <p:ph sz="half" idx="2"/>
          </p:nvPr>
        </p:nvSpPr>
        <p:spPr/>
        <p:txBody>
          <a:bodyPr>
            <a:normAutofit fontScale="70000" lnSpcReduction="20000"/>
          </a:bodyPr>
          <a:lstStyle/>
          <a:p>
            <a:r>
              <a:rPr lang="fi-FI" dirty="0" smtClean="0"/>
              <a:t>Some important realizations</a:t>
            </a:r>
          </a:p>
          <a:p>
            <a:pPr lvl="1"/>
            <a:r>
              <a:rPr lang="fi-FI" dirty="0" smtClean="0"/>
              <a:t>Small change and its impact to quality is more localizable</a:t>
            </a:r>
          </a:p>
          <a:p>
            <a:pPr lvl="1"/>
            <a:r>
              <a:rPr lang="fi-FI" dirty="0" smtClean="0"/>
              <a:t>Even if you stop getting changes on your testing environment, most likely the changes are still happening, you just get to see them later</a:t>
            </a:r>
          </a:p>
          <a:p>
            <a:pPr lvl="1"/>
            <a:r>
              <a:rPr lang="fi-FI" dirty="0" smtClean="0"/>
              <a:t>You don’t have to test everything, not even everything marked priority 1 (highest), even on the last build. Confidence can be built over time with close collaboration of the team members changing the code.</a:t>
            </a:r>
          </a:p>
          <a:p>
            <a:pPr lvl="1"/>
            <a:r>
              <a:rPr lang="fi-FI" dirty="0" smtClean="0"/>
              <a:t>Build automation is essential test automation: building trust on getting the intended contents into the build in a repeatable fashion</a:t>
            </a:r>
          </a:p>
          <a:p>
            <a:pPr lvl="1"/>
            <a:endParaRPr lang="fi-FI"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22" name="Rectangle 2"/>
          <p:cNvSpPr>
            <a:spLocks noChangeArrowheads="1"/>
          </p:cNvSpPr>
          <p:nvPr/>
        </p:nvSpPr>
        <p:spPr bwMode="auto">
          <a:xfrm>
            <a:off x="5334000" y="2414614"/>
            <a:ext cx="3581400" cy="1295400"/>
          </a:xfrm>
          <a:prstGeom prst="rect">
            <a:avLst/>
          </a:prstGeom>
          <a:solidFill>
            <a:schemeClr val="bg2">
              <a:alpha val="50000"/>
            </a:schemeClr>
          </a:solidFill>
          <a:ln w="12700">
            <a:noFill/>
            <a:miter lim="800000"/>
            <a:headEnd/>
            <a:tailEnd/>
          </a:ln>
          <a:effectLst/>
        </p:spPr>
        <p:txBody>
          <a:bodyPr wrap="none" lIns="90000" tIns="46800" rIns="90000" bIns="46800" anchor="ctr"/>
          <a:lstStyle/>
          <a:p>
            <a:endParaRPr lang="en-US" dirty="0"/>
          </a:p>
        </p:txBody>
      </p:sp>
      <p:sp>
        <p:nvSpPr>
          <p:cNvPr id="1259523" name="Rectangle 3"/>
          <p:cNvSpPr>
            <a:spLocks noGrp="1" noChangeArrowheads="1"/>
          </p:cNvSpPr>
          <p:nvPr>
            <p:ph type="title"/>
          </p:nvPr>
        </p:nvSpPr>
        <p:spPr/>
        <p:txBody>
          <a:bodyPr>
            <a:normAutofit fontScale="90000"/>
          </a:bodyPr>
          <a:lstStyle/>
          <a:p>
            <a:r>
              <a:rPr lang="fi-FI" dirty="0" smtClean="0"/>
              <a:t>Example: Building Various Systems from a Product Line</a:t>
            </a:r>
            <a:endParaRPr lang="en-GB" dirty="0"/>
          </a:p>
        </p:txBody>
      </p:sp>
      <p:sp>
        <p:nvSpPr>
          <p:cNvPr id="1259524" name="Oval 4"/>
          <p:cNvSpPr>
            <a:spLocks noChangeArrowheads="1"/>
          </p:cNvSpPr>
          <p:nvPr/>
        </p:nvSpPr>
        <p:spPr bwMode="auto">
          <a:xfrm>
            <a:off x="914400" y="2948014"/>
            <a:ext cx="838200" cy="457200"/>
          </a:xfrm>
          <a:prstGeom prst="ellipse">
            <a:avLst/>
          </a:prstGeom>
          <a:solidFill>
            <a:schemeClr val="folHlink"/>
          </a:solidFill>
          <a:ln w="12700">
            <a:noFill/>
            <a:round/>
            <a:headEnd/>
            <a:tailEnd/>
          </a:ln>
          <a:effectLst/>
        </p:spPr>
        <p:txBody>
          <a:bodyPr wrap="none" lIns="90000" tIns="46800" rIns="90000" bIns="46800" anchor="ctr"/>
          <a:lstStyle/>
          <a:p>
            <a:pPr algn="ctr"/>
            <a:endParaRPr lang="en-US" sz="1600" dirty="0">
              <a:solidFill>
                <a:schemeClr val="bg1"/>
              </a:solidFill>
            </a:endParaRPr>
          </a:p>
        </p:txBody>
      </p:sp>
      <p:sp>
        <p:nvSpPr>
          <p:cNvPr id="1259525" name="Oval 5"/>
          <p:cNvSpPr>
            <a:spLocks noChangeArrowheads="1"/>
          </p:cNvSpPr>
          <p:nvPr/>
        </p:nvSpPr>
        <p:spPr bwMode="auto">
          <a:xfrm>
            <a:off x="1295400" y="3481414"/>
            <a:ext cx="838200" cy="457200"/>
          </a:xfrm>
          <a:prstGeom prst="ellipse">
            <a:avLst/>
          </a:prstGeom>
          <a:solidFill>
            <a:schemeClr val="hlink"/>
          </a:solidFill>
          <a:ln w="12700">
            <a:noFill/>
            <a:round/>
            <a:headEnd/>
            <a:tailEnd/>
          </a:ln>
          <a:effectLst/>
        </p:spPr>
        <p:txBody>
          <a:bodyPr wrap="none" lIns="90000" tIns="46800" rIns="90000" bIns="46800" anchor="ctr"/>
          <a:lstStyle/>
          <a:p>
            <a:pPr algn="ctr"/>
            <a:endParaRPr lang="en-US" sz="1600" dirty="0">
              <a:solidFill>
                <a:schemeClr val="bg1"/>
              </a:solidFill>
            </a:endParaRPr>
          </a:p>
        </p:txBody>
      </p:sp>
      <p:sp>
        <p:nvSpPr>
          <p:cNvPr id="1259526" name="Oval 6"/>
          <p:cNvSpPr>
            <a:spLocks noChangeArrowheads="1"/>
          </p:cNvSpPr>
          <p:nvPr/>
        </p:nvSpPr>
        <p:spPr bwMode="auto">
          <a:xfrm>
            <a:off x="1905000" y="3024214"/>
            <a:ext cx="838200" cy="457200"/>
          </a:xfrm>
          <a:prstGeom prst="ellipse">
            <a:avLst/>
          </a:prstGeom>
          <a:solidFill>
            <a:schemeClr val="folHlink"/>
          </a:solidFill>
          <a:ln w="12700">
            <a:noFill/>
            <a:round/>
            <a:headEnd/>
            <a:tailEnd/>
          </a:ln>
          <a:effectLst/>
        </p:spPr>
        <p:txBody>
          <a:bodyPr wrap="none" lIns="90000" tIns="46800" rIns="90000" bIns="46800" anchor="ctr"/>
          <a:lstStyle/>
          <a:p>
            <a:pPr algn="ctr"/>
            <a:endParaRPr lang="en-US" sz="1600" dirty="0">
              <a:solidFill>
                <a:schemeClr val="bg1"/>
              </a:solidFill>
            </a:endParaRPr>
          </a:p>
        </p:txBody>
      </p:sp>
      <p:sp>
        <p:nvSpPr>
          <p:cNvPr id="1259527" name="Oval 7"/>
          <p:cNvSpPr>
            <a:spLocks noChangeArrowheads="1"/>
          </p:cNvSpPr>
          <p:nvPr/>
        </p:nvSpPr>
        <p:spPr bwMode="auto">
          <a:xfrm>
            <a:off x="1447800" y="2490814"/>
            <a:ext cx="838200" cy="457200"/>
          </a:xfrm>
          <a:prstGeom prst="ellipse">
            <a:avLst/>
          </a:prstGeom>
          <a:solidFill>
            <a:schemeClr val="folHlink"/>
          </a:solidFill>
          <a:ln w="12700">
            <a:noFill/>
            <a:round/>
            <a:headEnd/>
            <a:tailEnd/>
          </a:ln>
          <a:effectLst/>
        </p:spPr>
        <p:txBody>
          <a:bodyPr wrap="none" lIns="90000" tIns="46800" rIns="90000" bIns="46800" anchor="ctr"/>
          <a:lstStyle/>
          <a:p>
            <a:pPr algn="ctr"/>
            <a:endParaRPr lang="en-US" sz="1600" dirty="0">
              <a:solidFill>
                <a:schemeClr val="bg1"/>
              </a:solidFill>
            </a:endParaRPr>
          </a:p>
        </p:txBody>
      </p:sp>
      <p:sp>
        <p:nvSpPr>
          <p:cNvPr id="1259528" name="Oval 8"/>
          <p:cNvSpPr>
            <a:spLocks noChangeArrowheads="1"/>
          </p:cNvSpPr>
          <p:nvPr/>
        </p:nvSpPr>
        <p:spPr bwMode="auto">
          <a:xfrm>
            <a:off x="2362200" y="2567014"/>
            <a:ext cx="838200" cy="457200"/>
          </a:xfrm>
          <a:prstGeom prst="ellipse">
            <a:avLst/>
          </a:prstGeom>
          <a:solidFill>
            <a:schemeClr val="folHlink"/>
          </a:solidFill>
          <a:ln w="12700">
            <a:noFill/>
            <a:round/>
            <a:headEnd/>
            <a:tailEnd/>
          </a:ln>
          <a:effectLst/>
        </p:spPr>
        <p:txBody>
          <a:bodyPr wrap="none" lIns="90000" tIns="46800" rIns="90000" bIns="46800" anchor="ctr"/>
          <a:lstStyle/>
          <a:p>
            <a:pPr algn="ctr"/>
            <a:endParaRPr lang="en-US" sz="1600" dirty="0">
              <a:solidFill>
                <a:schemeClr val="bg1"/>
              </a:solidFill>
            </a:endParaRPr>
          </a:p>
        </p:txBody>
      </p:sp>
      <p:sp>
        <p:nvSpPr>
          <p:cNvPr id="1259529" name="Oval 9"/>
          <p:cNvSpPr>
            <a:spLocks noChangeArrowheads="1"/>
          </p:cNvSpPr>
          <p:nvPr/>
        </p:nvSpPr>
        <p:spPr bwMode="auto">
          <a:xfrm>
            <a:off x="2819400" y="3024214"/>
            <a:ext cx="838200" cy="457200"/>
          </a:xfrm>
          <a:prstGeom prst="ellipse">
            <a:avLst/>
          </a:prstGeom>
          <a:solidFill>
            <a:schemeClr val="folHlink"/>
          </a:solidFill>
          <a:ln w="12700">
            <a:noFill/>
            <a:round/>
            <a:headEnd/>
            <a:tailEnd/>
          </a:ln>
          <a:effectLst/>
        </p:spPr>
        <p:txBody>
          <a:bodyPr wrap="none" lIns="90000" tIns="46800" rIns="90000" bIns="46800" anchor="ctr"/>
          <a:lstStyle/>
          <a:p>
            <a:pPr algn="ctr"/>
            <a:endParaRPr lang="en-US" sz="1600" dirty="0">
              <a:solidFill>
                <a:schemeClr val="bg1"/>
              </a:solidFill>
            </a:endParaRPr>
          </a:p>
        </p:txBody>
      </p:sp>
      <p:sp>
        <p:nvSpPr>
          <p:cNvPr id="1259530" name="Oval 10"/>
          <p:cNvSpPr>
            <a:spLocks noChangeArrowheads="1"/>
          </p:cNvSpPr>
          <p:nvPr/>
        </p:nvSpPr>
        <p:spPr bwMode="auto">
          <a:xfrm>
            <a:off x="2286000" y="3557614"/>
            <a:ext cx="838200" cy="457200"/>
          </a:xfrm>
          <a:prstGeom prst="ellipse">
            <a:avLst/>
          </a:prstGeom>
          <a:solidFill>
            <a:schemeClr val="folHlink"/>
          </a:solidFill>
          <a:ln w="12700">
            <a:noFill/>
            <a:round/>
            <a:headEnd/>
            <a:tailEnd/>
          </a:ln>
          <a:effectLst/>
        </p:spPr>
        <p:txBody>
          <a:bodyPr wrap="none" lIns="90000" tIns="46800" rIns="90000" bIns="46800" anchor="ctr"/>
          <a:lstStyle/>
          <a:p>
            <a:pPr algn="ctr"/>
            <a:endParaRPr lang="en-US" sz="1600" dirty="0">
              <a:solidFill>
                <a:schemeClr val="bg1"/>
              </a:solidFill>
            </a:endParaRPr>
          </a:p>
        </p:txBody>
      </p:sp>
      <p:sp>
        <p:nvSpPr>
          <p:cNvPr id="1259531" name="Oval 11"/>
          <p:cNvSpPr>
            <a:spLocks noChangeArrowheads="1"/>
          </p:cNvSpPr>
          <p:nvPr/>
        </p:nvSpPr>
        <p:spPr bwMode="auto">
          <a:xfrm>
            <a:off x="381000" y="3862414"/>
            <a:ext cx="838200" cy="457200"/>
          </a:xfrm>
          <a:prstGeom prst="ellipse">
            <a:avLst/>
          </a:prstGeom>
          <a:solidFill>
            <a:schemeClr val="accent2"/>
          </a:solidFill>
          <a:ln w="12700">
            <a:noFill/>
            <a:round/>
            <a:headEnd/>
            <a:tailEnd/>
          </a:ln>
          <a:effectLst/>
        </p:spPr>
        <p:txBody>
          <a:bodyPr wrap="none" lIns="90000" tIns="46800" rIns="90000" bIns="46800" anchor="ctr"/>
          <a:lstStyle/>
          <a:p>
            <a:pPr algn="ctr"/>
            <a:endParaRPr lang="en-US" sz="1600" dirty="0">
              <a:solidFill>
                <a:schemeClr val="bg1"/>
              </a:solidFill>
            </a:endParaRPr>
          </a:p>
        </p:txBody>
      </p:sp>
      <p:sp>
        <p:nvSpPr>
          <p:cNvPr id="1259532" name="Oval 12"/>
          <p:cNvSpPr>
            <a:spLocks noChangeArrowheads="1"/>
          </p:cNvSpPr>
          <p:nvPr/>
        </p:nvSpPr>
        <p:spPr bwMode="auto">
          <a:xfrm>
            <a:off x="152400" y="4319614"/>
            <a:ext cx="838200" cy="457200"/>
          </a:xfrm>
          <a:prstGeom prst="ellipse">
            <a:avLst/>
          </a:prstGeom>
          <a:solidFill>
            <a:schemeClr val="accent2"/>
          </a:solidFill>
          <a:ln w="12700">
            <a:noFill/>
            <a:round/>
            <a:headEnd/>
            <a:tailEnd/>
          </a:ln>
          <a:effectLst/>
        </p:spPr>
        <p:txBody>
          <a:bodyPr wrap="none" lIns="90000" tIns="46800" rIns="90000" bIns="46800" anchor="ctr"/>
          <a:lstStyle/>
          <a:p>
            <a:pPr algn="ctr"/>
            <a:endParaRPr lang="en-US" sz="1600" dirty="0">
              <a:solidFill>
                <a:schemeClr val="bg1"/>
              </a:solidFill>
            </a:endParaRPr>
          </a:p>
        </p:txBody>
      </p:sp>
      <p:sp>
        <p:nvSpPr>
          <p:cNvPr id="1259533" name="Oval 13"/>
          <p:cNvSpPr>
            <a:spLocks noChangeArrowheads="1"/>
          </p:cNvSpPr>
          <p:nvPr/>
        </p:nvSpPr>
        <p:spPr bwMode="auto">
          <a:xfrm>
            <a:off x="990600" y="4243414"/>
            <a:ext cx="838200" cy="457200"/>
          </a:xfrm>
          <a:prstGeom prst="ellipse">
            <a:avLst/>
          </a:prstGeom>
          <a:solidFill>
            <a:schemeClr val="accent2"/>
          </a:solidFill>
          <a:ln w="12700">
            <a:noFill/>
            <a:round/>
            <a:headEnd/>
            <a:tailEnd/>
          </a:ln>
          <a:effectLst/>
        </p:spPr>
        <p:txBody>
          <a:bodyPr wrap="none" lIns="90000" tIns="46800" rIns="90000" bIns="46800" anchor="ctr"/>
          <a:lstStyle/>
          <a:p>
            <a:pPr algn="ctr"/>
            <a:endParaRPr lang="en-US" sz="1600" dirty="0">
              <a:solidFill>
                <a:schemeClr val="bg1"/>
              </a:solidFill>
            </a:endParaRPr>
          </a:p>
        </p:txBody>
      </p:sp>
      <p:sp>
        <p:nvSpPr>
          <p:cNvPr id="1259534" name="Oval 14"/>
          <p:cNvSpPr>
            <a:spLocks noChangeArrowheads="1"/>
          </p:cNvSpPr>
          <p:nvPr/>
        </p:nvSpPr>
        <p:spPr bwMode="auto">
          <a:xfrm>
            <a:off x="1676400" y="3938614"/>
            <a:ext cx="838200" cy="457200"/>
          </a:xfrm>
          <a:prstGeom prst="ellipse">
            <a:avLst/>
          </a:prstGeom>
          <a:solidFill>
            <a:schemeClr val="hlink"/>
          </a:solidFill>
          <a:ln w="12700">
            <a:noFill/>
            <a:round/>
            <a:headEnd/>
            <a:tailEnd/>
          </a:ln>
          <a:effectLst/>
        </p:spPr>
        <p:txBody>
          <a:bodyPr wrap="none" lIns="90000" tIns="46800" rIns="90000" bIns="46800" anchor="ctr"/>
          <a:lstStyle/>
          <a:p>
            <a:pPr algn="ctr"/>
            <a:endParaRPr lang="en-US" sz="1600" dirty="0">
              <a:solidFill>
                <a:schemeClr val="bg1"/>
              </a:solidFill>
            </a:endParaRPr>
          </a:p>
        </p:txBody>
      </p:sp>
      <p:sp>
        <p:nvSpPr>
          <p:cNvPr id="1259535" name="Text Box 15"/>
          <p:cNvSpPr txBox="1">
            <a:spLocks noChangeArrowheads="1"/>
          </p:cNvSpPr>
          <p:nvPr/>
        </p:nvSpPr>
        <p:spPr bwMode="auto">
          <a:xfrm>
            <a:off x="152400" y="1805014"/>
            <a:ext cx="2209800" cy="581025"/>
          </a:xfrm>
          <a:prstGeom prst="rect">
            <a:avLst/>
          </a:prstGeom>
          <a:noFill/>
          <a:ln w="12700">
            <a:noFill/>
            <a:miter lim="800000"/>
            <a:headEnd/>
            <a:tailEnd/>
          </a:ln>
          <a:effectLst/>
        </p:spPr>
        <p:txBody>
          <a:bodyPr lIns="90000" tIns="46800" rIns="90000" bIns="46800">
            <a:spAutoFit/>
          </a:bodyPr>
          <a:lstStyle/>
          <a:p>
            <a:pPr algn="ctr">
              <a:spcBef>
                <a:spcPct val="50000"/>
              </a:spcBef>
            </a:pPr>
            <a:r>
              <a:rPr lang="fi-FI" sz="1600" b="1" dirty="0"/>
              <a:t>COMPONENTS TO </a:t>
            </a:r>
            <a:br>
              <a:rPr lang="fi-FI" sz="1600" b="1" dirty="0"/>
            </a:br>
            <a:r>
              <a:rPr lang="fi-FI" sz="1600" b="1" dirty="0"/>
              <a:t>APPLICATIONS</a:t>
            </a:r>
            <a:endParaRPr lang="en-GB" sz="1600" b="1" dirty="0"/>
          </a:p>
        </p:txBody>
      </p:sp>
      <p:sp>
        <p:nvSpPr>
          <p:cNvPr id="1259536" name="Text Box 16"/>
          <p:cNvSpPr txBox="1">
            <a:spLocks noChangeArrowheads="1"/>
          </p:cNvSpPr>
          <p:nvPr/>
        </p:nvSpPr>
        <p:spPr bwMode="auto">
          <a:xfrm>
            <a:off x="228600" y="5005414"/>
            <a:ext cx="2209800" cy="825500"/>
          </a:xfrm>
          <a:prstGeom prst="rect">
            <a:avLst/>
          </a:prstGeom>
          <a:noFill/>
          <a:ln w="12700">
            <a:noFill/>
            <a:miter lim="800000"/>
            <a:headEnd/>
            <a:tailEnd/>
          </a:ln>
          <a:effectLst/>
        </p:spPr>
        <p:txBody>
          <a:bodyPr lIns="90000" tIns="46800" rIns="90000" bIns="46800">
            <a:spAutoFit/>
          </a:bodyPr>
          <a:lstStyle/>
          <a:p>
            <a:pPr algn="ctr">
              <a:spcBef>
                <a:spcPct val="50000"/>
              </a:spcBef>
            </a:pPr>
            <a:r>
              <a:rPr lang="fi-FI" sz="1600" b="1" dirty="0"/>
              <a:t>APPLICATIONS TO</a:t>
            </a:r>
            <a:br>
              <a:rPr lang="fi-FI" sz="1600" b="1" dirty="0"/>
            </a:br>
            <a:r>
              <a:rPr lang="fi-FI" sz="1600" b="1" dirty="0"/>
              <a:t>ARCHITECTURAL FRAMES</a:t>
            </a:r>
            <a:endParaRPr lang="en-GB" sz="1600" b="1" dirty="0"/>
          </a:p>
        </p:txBody>
      </p:sp>
      <p:sp>
        <p:nvSpPr>
          <p:cNvPr id="1259537" name="AutoShape 17"/>
          <p:cNvSpPr>
            <a:spLocks noChangeArrowheads="1"/>
          </p:cNvSpPr>
          <p:nvPr/>
        </p:nvSpPr>
        <p:spPr bwMode="auto">
          <a:xfrm>
            <a:off x="152400" y="5919814"/>
            <a:ext cx="1295400" cy="838200"/>
          </a:xfrm>
          <a:prstGeom prst="roundRect">
            <a:avLst>
              <a:gd name="adj" fmla="val 16667"/>
            </a:avLst>
          </a:prstGeom>
          <a:noFill/>
          <a:ln w="76200">
            <a:solidFill>
              <a:schemeClr val="accent1"/>
            </a:solidFill>
            <a:round/>
            <a:headEnd/>
            <a:tailEnd/>
          </a:ln>
          <a:effectLst/>
        </p:spPr>
        <p:txBody>
          <a:bodyPr wrap="none" lIns="90000" tIns="46800" rIns="90000" bIns="46800" anchor="ctr"/>
          <a:lstStyle/>
          <a:p>
            <a:endParaRPr lang="en-US" dirty="0"/>
          </a:p>
        </p:txBody>
      </p:sp>
      <p:sp>
        <p:nvSpPr>
          <p:cNvPr id="1259538" name="AutoShape 18"/>
          <p:cNvSpPr>
            <a:spLocks noChangeArrowheads="1"/>
          </p:cNvSpPr>
          <p:nvPr/>
        </p:nvSpPr>
        <p:spPr bwMode="auto">
          <a:xfrm>
            <a:off x="1600200" y="5919814"/>
            <a:ext cx="1295400" cy="838200"/>
          </a:xfrm>
          <a:prstGeom prst="roundRect">
            <a:avLst>
              <a:gd name="adj" fmla="val 16667"/>
            </a:avLst>
          </a:prstGeom>
          <a:noFill/>
          <a:ln w="76200">
            <a:solidFill>
              <a:schemeClr val="accent1"/>
            </a:solidFill>
            <a:round/>
            <a:headEnd/>
            <a:tailEnd/>
          </a:ln>
          <a:effectLst/>
        </p:spPr>
        <p:txBody>
          <a:bodyPr wrap="none" lIns="90000" tIns="46800" rIns="90000" bIns="46800" anchor="ctr"/>
          <a:lstStyle/>
          <a:p>
            <a:endParaRPr lang="en-US" dirty="0"/>
          </a:p>
        </p:txBody>
      </p:sp>
      <p:sp>
        <p:nvSpPr>
          <p:cNvPr id="1259539" name="AutoShape 19"/>
          <p:cNvSpPr>
            <a:spLocks noChangeArrowheads="1"/>
          </p:cNvSpPr>
          <p:nvPr/>
        </p:nvSpPr>
        <p:spPr bwMode="auto">
          <a:xfrm>
            <a:off x="3048000" y="5919814"/>
            <a:ext cx="1295400" cy="838200"/>
          </a:xfrm>
          <a:prstGeom prst="roundRect">
            <a:avLst>
              <a:gd name="adj" fmla="val 16667"/>
            </a:avLst>
          </a:prstGeom>
          <a:noFill/>
          <a:ln w="76200">
            <a:solidFill>
              <a:schemeClr val="accent1"/>
            </a:solidFill>
            <a:round/>
            <a:headEnd/>
            <a:tailEnd/>
          </a:ln>
          <a:effectLst/>
        </p:spPr>
        <p:txBody>
          <a:bodyPr wrap="none" lIns="90000" tIns="46800" rIns="90000" bIns="46800" anchor="ctr"/>
          <a:lstStyle/>
          <a:p>
            <a:endParaRPr lang="en-US" dirty="0"/>
          </a:p>
        </p:txBody>
      </p:sp>
      <p:sp>
        <p:nvSpPr>
          <p:cNvPr id="1259540" name="Rectangle 20"/>
          <p:cNvSpPr>
            <a:spLocks noChangeArrowheads="1"/>
          </p:cNvSpPr>
          <p:nvPr/>
        </p:nvSpPr>
        <p:spPr bwMode="auto">
          <a:xfrm>
            <a:off x="3505200" y="2186014"/>
            <a:ext cx="457200" cy="685800"/>
          </a:xfrm>
          <a:prstGeom prst="rect">
            <a:avLst/>
          </a:prstGeom>
          <a:solidFill>
            <a:schemeClr val="bg2"/>
          </a:solidFill>
          <a:ln w="12700">
            <a:solidFill>
              <a:schemeClr val="accent1"/>
            </a:solidFill>
            <a:miter lim="800000"/>
            <a:headEnd/>
            <a:tailEnd/>
          </a:ln>
          <a:effectLst/>
        </p:spPr>
        <p:txBody>
          <a:bodyPr wrap="none" lIns="90000" tIns="46800" rIns="90000" bIns="46800" anchor="ctr"/>
          <a:lstStyle/>
          <a:p>
            <a:endParaRPr lang="en-US" dirty="0"/>
          </a:p>
        </p:txBody>
      </p:sp>
      <p:sp>
        <p:nvSpPr>
          <p:cNvPr id="1259541" name="Rectangle 21"/>
          <p:cNvSpPr>
            <a:spLocks noChangeArrowheads="1"/>
          </p:cNvSpPr>
          <p:nvPr/>
        </p:nvSpPr>
        <p:spPr bwMode="auto">
          <a:xfrm>
            <a:off x="3657600" y="2338414"/>
            <a:ext cx="457200" cy="685800"/>
          </a:xfrm>
          <a:prstGeom prst="rect">
            <a:avLst/>
          </a:prstGeom>
          <a:solidFill>
            <a:schemeClr val="bg2"/>
          </a:solidFill>
          <a:ln w="12700">
            <a:solidFill>
              <a:schemeClr val="accent1"/>
            </a:solidFill>
            <a:miter lim="800000"/>
            <a:headEnd/>
            <a:tailEnd/>
          </a:ln>
          <a:effectLst/>
        </p:spPr>
        <p:txBody>
          <a:bodyPr wrap="none" lIns="90000" tIns="46800" rIns="90000" bIns="46800" anchor="ctr"/>
          <a:lstStyle/>
          <a:p>
            <a:endParaRPr lang="en-US" dirty="0"/>
          </a:p>
        </p:txBody>
      </p:sp>
      <p:sp>
        <p:nvSpPr>
          <p:cNvPr id="1259542" name="Rectangle 22"/>
          <p:cNvSpPr>
            <a:spLocks noChangeArrowheads="1"/>
          </p:cNvSpPr>
          <p:nvPr/>
        </p:nvSpPr>
        <p:spPr bwMode="auto">
          <a:xfrm>
            <a:off x="3810000" y="2490814"/>
            <a:ext cx="457200" cy="685800"/>
          </a:xfrm>
          <a:prstGeom prst="rect">
            <a:avLst/>
          </a:prstGeom>
          <a:solidFill>
            <a:schemeClr val="bg2"/>
          </a:solidFill>
          <a:ln w="12700">
            <a:solidFill>
              <a:schemeClr val="accent1"/>
            </a:solidFill>
            <a:miter lim="800000"/>
            <a:headEnd/>
            <a:tailEnd/>
          </a:ln>
          <a:effectLst/>
        </p:spPr>
        <p:txBody>
          <a:bodyPr wrap="none" lIns="90000" tIns="46800" rIns="90000" bIns="46800" anchor="ctr"/>
          <a:lstStyle/>
          <a:p>
            <a:endParaRPr lang="en-US" dirty="0"/>
          </a:p>
        </p:txBody>
      </p:sp>
      <p:sp>
        <p:nvSpPr>
          <p:cNvPr id="1259543" name="Rectangle 23"/>
          <p:cNvSpPr>
            <a:spLocks noChangeArrowheads="1"/>
          </p:cNvSpPr>
          <p:nvPr/>
        </p:nvSpPr>
        <p:spPr bwMode="auto">
          <a:xfrm>
            <a:off x="3962400" y="2643214"/>
            <a:ext cx="457200" cy="685800"/>
          </a:xfrm>
          <a:prstGeom prst="rect">
            <a:avLst/>
          </a:prstGeom>
          <a:solidFill>
            <a:schemeClr val="bg2"/>
          </a:solidFill>
          <a:ln w="12700">
            <a:solidFill>
              <a:schemeClr val="accent1"/>
            </a:solidFill>
            <a:miter lim="800000"/>
            <a:headEnd/>
            <a:tailEnd/>
          </a:ln>
          <a:effectLst/>
        </p:spPr>
        <p:txBody>
          <a:bodyPr wrap="none" lIns="90000" tIns="46800" rIns="90000" bIns="46800" anchor="ctr"/>
          <a:lstStyle/>
          <a:p>
            <a:endParaRPr lang="en-US" dirty="0"/>
          </a:p>
        </p:txBody>
      </p:sp>
      <p:sp>
        <p:nvSpPr>
          <p:cNvPr id="1259544" name="Text Box 24"/>
          <p:cNvSpPr txBox="1">
            <a:spLocks noChangeArrowheads="1"/>
          </p:cNvSpPr>
          <p:nvPr/>
        </p:nvSpPr>
        <p:spPr bwMode="auto">
          <a:xfrm>
            <a:off x="2819400" y="1957414"/>
            <a:ext cx="2209800" cy="279180"/>
          </a:xfrm>
          <a:prstGeom prst="rect">
            <a:avLst/>
          </a:prstGeom>
          <a:noFill/>
          <a:ln w="12700">
            <a:noFill/>
            <a:miter lim="800000"/>
            <a:headEnd/>
            <a:tailEnd/>
          </a:ln>
          <a:effectLst/>
        </p:spPr>
        <p:txBody>
          <a:bodyPr lIns="90000" tIns="46800" rIns="90000" bIns="46800">
            <a:spAutoFit/>
          </a:bodyPr>
          <a:lstStyle/>
          <a:p>
            <a:pPr algn="ctr">
              <a:spcBef>
                <a:spcPct val="50000"/>
              </a:spcBef>
            </a:pPr>
            <a:r>
              <a:rPr lang="fi-FI" sz="1200" b="1" dirty="0"/>
              <a:t>customizations</a:t>
            </a:r>
            <a:endParaRPr lang="en-GB" sz="1200" b="1" dirty="0"/>
          </a:p>
        </p:txBody>
      </p:sp>
      <p:sp>
        <p:nvSpPr>
          <p:cNvPr id="1259545" name="Rectangle 25"/>
          <p:cNvSpPr>
            <a:spLocks noChangeArrowheads="1"/>
          </p:cNvSpPr>
          <p:nvPr/>
        </p:nvSpPr>
        <p:spPr bwMode="auto">
          <a:xfrm>
            <a:off x="3657600" y="3557614"/>
            <a:ext cx="457200" cy="685800"/>
          </a:xfrm>
          <a:prstGeom prst="rect">
            <a:avLst/>
          </a:prstGeom>
          <a:solidFill>
            <a:schemeClr val="tx2"/>
          </a:solidFill>
          <a:ln w="12700">
            <a:solidFill>
              <a:schemeClr val="accent1"/>
            </a:solidFill>
            <a:miter lim="800000"/>
            <a:headEnd/>
            <a:tailEnd/>
          </a:ln>
          <a:effectLst/>
        </p:spPr>
        <p:txBody>
          <a:bodyPr wrap="none" lIns="90000" tIns="46800" rIns="90000" bIns="46800" anchor="ctr"/>
          <a:lstStyle/>
          <a:p>
            <a:endParaRPr lang="en-US" dirty="0"/>
          </a:p>
        </p:txBody>
      </p:sp>
      <p:sp>
        <p:nvSpPr>
          <p:cNvPr id="1259546" name="Rectangle 26"/>
          <p:cNvSpPr>
            <a:spLocks noChangeArrowheads="1"/>
          </p:cNvSpPr>
          <p:nvPr/>
        </p:nvSpPr>
        <p:spPr bwMode="auto">
          <a:xfrm>
            <a:off x="3810000" y="3710014"/>
            <a:ext cx="457200" cy="685800"/>
          </a:xfrm>
          <a:prstGeom prst="rect">
            <a:avLst/>
          </a:prstGeom>
          <a:solidFill>
            <a:schemeClr val="tx2"/>
          </a:solidFill>
          <a:ln w="12700">
            <a:solidFill>
              <a:schemeClr val="accent1"/>
            </a:solidFill>
            <a:miter lim="800000"/>
            <a:headEnd/>
            <a:tailEnd/>
          </a:ln>
          <a:effectLst/>
        </p:spPr>
        <p:txBody>
          <a:bodyPr wrap="none" lIns="90000" tIns="46800" rIns="90000" bIns="46800" anchor="ctr"/>
          <a:lstStyle/>
          <a:p>
            <a:endParaRPr lang="en-US" dirty="0"/>
          </a:p>
        </p:txBody>
      </p:sp>
      <p:sp>
        <p:nvSpPr>
          <p:cNvPr id="1259547" name="Rectangle 27"/>
          <p:cNvSpPr>
            <a:spLocks noChangeArrowheads="1"/>
          </p:cNvSpPr>
          <p:nvPr/>
        </p:nvSpPr>
        <p:spPr bwMode="auto">
          <a:xfrm>
            <a:off x="3962400" y="3862414"/>
            <a:ext cx="457200" cy="685800"/>
          </a:xfrm>
          <a:prstGeom prst="rect">
            <a:avLst/>
          </a:prstGeom>
          <a:solidFill>
            <a:schemeClr val="tx2"/>
          </a:solidFill>
          <a:ln w="12700">
            <a:solidFill>
              <a:schemeClr val="accent1"/>
            </a:solidFill>
            <a:miter lim="800000"/>
            <a:headEnd/>
            <a:tailEnd/>
          </a:ln>
          <a:effectLst/>
        </p:spPr>
        <p:txBody>
          <a:bodyPr wrap="none" lIns="90000" tIns="46800" rIns="90000" bIns="46800" anchor="ctr"/>
          <a:lstStyle/>
          <a:p>
            <a:endParaRPr lang="en-US" dirty="0"/>
          </a:p>
        </p:txBody>
      </p:sp>
      <p:sp>
        <p:nvSpPr>
          <p:cNvPr id="1259548" name="Rectangle 28"/>
          <p:cNvSpPr>
            <a:spLocks noChangeArrowheads="1"/>
          </p:cNvSpPr>
          <p:nvPr/>
        </p:nvSpPr>
        <p:spPr bwMode="auto">
          <a:xfrm>
            <a:off x="4114800" y="4014814"/>
            <a:ext cx="457200" cy="685800"/>
          </a:xfrm>
          <a:prstGeom prst="rect">
            <a:avLst/>
          </a:prstGeom>
          <a:solidFill>
            <a:schemeClr val="tx2"/>
          </a:solidFill>
          <a:ln w="12700">
            <a:solidFill>
              <a:schemeClr val="accent1"/>
            </a:solidFill>
            <a:miter lim="800000"/>
            <a:headEnd/>
            <a:tailEnd/>
          </a:ln>
          <a:effectLst/>
        </p:spPr>
        <p:txBody>
          <a:bodyPr wrap="none" lIns="90000" tIns="46800" rIns="90000" bIns="46800" anchor="ctr"/>
          <a:lstStyle/>
          <a:p>
            <a:endParaRPr lang="en-US" dirty="0"/>
          </a:p>
        </p:txBody>
      </p:sp>
      <p:sp>
        <p:nvSpPr>
          <p:cNvPr id="1259549" name="Text Box 29"/>
          <p:cNvSpPr txBox="1">
            <a:spLocks noChangeArrowheads="1"/>
          </p:cNvSpPr>
          <p:nvPr/>
        </p:nvSpPr>
        <p:spPr bwMode="auto">
          <a:xfrm>
            <a:off x="2971800" y="3329014"/>
            <a:ext cx="2209800" cy="279180"/>
          </a:xfrm>
          <a:prstGeom prst="rect">
            <a:avLst/>
          </a:prstGeom>
          <a:noFill/>
          <a:ln w="12700">
            <a:noFill/>
            <a:miter lim="800000"/>
            <a:headEnd/>
            <a:tailEnd/>
          </a:ln>
          <a:effectLst/>
        </p:spPr>
        <p:txBody>
          <a:bodyPr lIns="90000" tIns="46800" rIns="90000" bIns="46800">
            <a:spAutoFit/>
          </a:bodyPr>
          <a:lstStyle/>
          <a:p>
            <a:pPr algn="ctr">
              <a:spcBef>
                <a:spcPct val="50000"/>
              </a:spcBef>
            </a:pPr>
            <a:r>
              <a:rPr lang="fi-FI" sz="1200" b="1" dirty="0"/>
              <a:t>configurations</a:t>
            </a:r>
            <a:endParaRPr lang="en-GB" sz="1200" b="1" dirty="0"/>
          </a:p>
        </p:txBody>
      </p:sp>
      <p:sp>
        <p:nvSpPr>
          <p:cNvPr id="1259550" name="AutoShape 30"/>
          <p:cNvSpPr>
            <a:spLocks noChangeArrowheads="1"/>
          </p:cNvSpPr>
          <p:nvPr/>
        </p:nvSpPr>
        <p:spPr bwMode="auto">
          <a:xfrm rot="9455265">
            <a:off x="2133600" y="4319614"/>
            <a:ext cx="1133475" cy="1066800"/>
          </a:xfrm>
          <a:custGeom>
            <a:avLst/>
            <a:gdLst>
              <a:gd name="G0" fmla="+- 8880698 0 0"/>
              <a:gd name="G1" fmla="+- -11796480 0 0"/>
              <a:gd name="G2" fmla="+- 8880698 0 -11796480"/>
              <a:gd name="G3" fmla="+- 10800 0 0"/>
              <a:gd name="G4" fmla="+- 0 0 8880698"/>
              <a:gd name="T0" fmla="*/ 360 256 1"/>
              <a:gd name="T1" fmla="*/ 0 256 1"/>
              <a:gd name="G5" fmla="+- G2 T0 T1"/>
              <a:gd name="G6" fmla="?: G2 G2 G5"/>
              <a:gd name="G7" fmla="+- 0 0 G6"/>
              <a:gd name="G8" fmla="+- 6849 0 0"/>
              <a:gd name="G9" fmla="+- 0 0 -11796480"/>
              <a:gd name="G10" fmla="+- 6849 0 2700"/>
              <a:gd name="G11" fmla="cos G10 8880698"/>
              <a:gd name="G12" fmla="sin G10 8880698"/>
              <a:gd name="G13" fmla="cos 13500 8880698"/>
              <a:gd name="G14" fmla="sin 13500 8880698"/>
              <a:gd name="G15" fmla="+- G11 10800 0"/>
              <a:gd name="G16" fmla="+- G12 10800 0"/>
              <a:gd name="G17" fmla="+- G13 10800 0"/>
              <a:gd name="G18" fmla="+- G14 10800 0"/>
              <a:gd name="G19" fmla="*/ 6849 1 2"/>
              <a:gd name="G20" fmla="+- G19 5400 0"/>
              <a:gd name="G21" fmla="cos G20 8880698"/>
              <a:gd name="G22" fmla="sin G20 8880698"/>
              <a:gd name="G23" fmla="+- G21 10800 0"/>
              <a:gd name="G24" fmla="+- G12 G23 G22"/>
              <a:gd name="G25" fmla="+- G22 G23 G11"/>
              <a:gd name="G26" fmla="cos 10800 8880698"/>
              <a:gd name="G27" fmla="sin 10800 8880698"/>
              <a:gd name="G28" fmla="cos 6849 8880698"/>
              <a:gd name="G29" fmla="sin 6849 8880698"/>
              <a:gd name="G30" fmla="+- G26 10800 0"/>
              <a:gd name="G31" fmla="+- G27 10800 0"/>
              <a:gd name="G32" fmla="+- G28 10800 0"/>
              <a:gd name="G33" fmla="+- G29 10800 0"/>
              <a:gd name="G34" fmla="+- G19 5400 0"/>
              <a:gd name="G35" fmla="cos G34 -11796480"/>
              <a:gd name="G36" fmla="sin G34 -11796480"/>
              <a:gd name="G37" fmla="+/ -11796480 8880698 2"/>
              <a:gd name="T2" fmla="*/ 180 256 1"/>
              <a:gd name="T3" fmla="*/ 0 256 1"/>
              <a:gd name="G38" fmla="+- G37 T2 T3"/>
              <a:gd name="G39" fmla="?: G2 G37 G38"/>
              <a:gd name="G40" fmla="cos 10800 G39"/>
              <a:gd name="G41" fmla="sin 10800 G39"/>
              <a:gd name="G42" fmla="cos 6849 G39"/>
              <a:gd name="G43" fmla="sin 6849 G39"/>
              <a:gd name="G44" fmla="+- G40 10800 0"/>
              <a:gd name="G45" fmla="+- G41 10800 0"/>
              <a:gd name="G46" fmla="+- G42 10800 0"/>
              <a:gd name="G47" fmla="+- G43 10800 0"/>
              <a:gd name="G48" fmla="+- G35 10800 0"/>
              <a:gd name="G49" fmla="+- G36 10800 0"/>
              <a:gd name="T4" fmla="*/ 20796 w 21600"/>
              <a:gd name="T5" fmla="*/ 6711 h 21600"/>
              <a:gd name="T6" fmla="*/ 1975 w 21600"/>
              <a:gd name="T7" fmla="*/ 10800 h 21600"/>
              <a:gd name="T8" fmla="*/ 17139 w 21600"/>
              <a:gd name="T9" fmla="*/ 8207 h 21600"/>
              <a:gd name="T10" fmla="*/ 1169 w 21600"/>
              <a:gd name="T11" fmla="*/ 20260 h 21600"/>
              <a:gd name="T12" fmla="*/ 1227 w 21600"/>
              <a:gd name="T13" fmla="*/ 13648 h 21600"/>
              <a:gd name="T14" fmla="*/ 7840 w 21600"/>
              <a:gd name="T15" fmla="*/ 13707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5914" y="15599"/>
                </a:moveTo>
                <a:cubicBezTo>
                  <a:pt x="7201" y="16910"/>
                  <a:pt x="8962" y="17649"/>
                  <a:pt x="10800" y="17649"/>
                </a:cubicBezTo>
                <a:cubicBezTo>
                  <a:pt x="14582" y="17649"/>
                  <a:pt x="17649" y="14582"/>
                  <a:pt x="17649" y="10800"/>
                </a:cubicBezTo>
                <a:cubicBezTo>
                  <a:pt x="17649" y="7017"/>
                  <a:pt x="14582" y="3951"/>
                  <a:pt x="10800" y="3951"/>
                </a:cubicBezTo>
                <a:cubicBezTo>
                  <a:pt x="7017" y="3951"/>
                  <a:pt x="3951" y="7017"/>
                  <a:pt x="3951" y="10800"/>
                </a:cubicBezTo>
                <a:lnTo>
                  <a:pt x="0" y="10800"/>
                </a:lnTo>
                <a:cubicBezTo>
                  <a:pt x="0" y="4835"/>
                  <a:pt x="4835" y="0"/>
                  <a:pt x="10800" y="0"/>
                </a:cubicBezTo>
                <a:cubicBezTo>
                  <a:pt x="16764" y="0"/>
                  <a:pt x="21600" y="4835"/>
                  <a:pt x="21600" y="10800"/>
                </a:cubicBezTo>
                <a:cubicBezTo>
                  <a:pt x="21600" y="16764"/>
                  <a:pt x="16764" y="21600"/>
                  <a:pt x="10800" y="21600"/>
                </a:cubicBezTo>
                <a:cubicBezTo>
                  <a:pt x="7902" y="21600"/>
                  <a:pt x="5126" y="20435"/>
                  <a:pt x="3095" y="18368"/>
                </a:cubicBezTo>
                <a:lnTo>
                  <a:pt x="1169" y="20260"/>
                </a:lnTo>
                <a:lnTo>
                  <a:pt x="1227" y="13648"/>
                </a:lnTo>
                <a:lnTo>
                  <a:pt x="7840" y="13707"/>
                </a:lnTo>
                <a:lnTo>
                  <a:pt x="5914" y="15599"/>
                </a:lnTo>
                <a:close/>
              </a:path>
            </a:pathLst>
          </a:custGeom>
          <a:solidFill>
            <a:schemeClr val="accent2">
              <a:alpha val="50000"/>
            </a:schemeClr>
          </a:solidFill>
          <a:ln w="12700">
            <a:noFill/>
            <a:miter lim="800000"/>
            <a:headEnd/>
            <a:tailEnd/>
          </a:ln>
          <a:effectLst/>
        </p:spPr>
        <p:txBody>
          <a:bodyPr wrap="none" lIns="90000" tIns="46800" rIns="90000" bIns="46800" anchor="ctr"/>
          <a:lstStyle/>
          <a:p>
            <a:endParaRPr lang="en-US" dirty="0"/>
          </a:p>
        </p:txBody>
      </p:sp>
      <p:sp>
        <p:nvSpPr>
          <p:cNvPr id="1259551" name="Text Box 31"/>
          <p:cNvSpPr txBox="1">
            <a:spLocks noChangeArrowheads="1"/>
          </p:cNvSpPr>
          <p:nvPr/>
        </p:nvSpPr>
        <p:spPr bwMode="auto">
          <a:xfrm>
            <a:off x="1600200" y="4624414"/>
            <a:ext cx="2209800" cy="463846"/>
          </a:xfrm>
          <a:prstGeom prst="rect">
            <a:avLst/>
          </a:prstGeom>
          <a:noFill/>
          <a:ln w="12700">
            <a:noFill/>
            <a:miter lim="800000"/>
            <a:headEnd/>
            <a:tailEnd/>
          </a:ln>
          <a:effectLst/>
        </p:spPr>
        <p:txBody>
          <a:bodyPr lIns="90000" tIns="46800" rIns="90000" bIns="46800">
            <a:spAutoFit/>
          </a:bodyPr>
          <a:lstStyle/>
          <a:p>
            <a:pPr algn="ctr">
              <a:spcBef>
                <a:spcPct val="50000"/>
              </a:spcBef>
            </a:pPr>
            <a:r>
              <a:rPr lang="fi-FI" sz="1200" b="1" dirty="0"/>
              <a:t>New</a:t>
            </a:r>
            <a:br>
              <a:rPr lang="fi-FI" sz="1200" b="1" dirty="0"/>
            </a:br>
            <a:r>
              <a:rPr lang="fi-FI" sz="1200" b="1" dirty="0"/>
              <a:t>features</a:t>
            </a:r>
            <a:endParaRPr lang="en-GB" sz="1200" b="1" dirty="0"/>
          </a:p>
        </p:txBody>
      </p:sp>
      <p:sp>
        <p:nvSpPr>
          <p:cNvPr id="1259552" name="AutoShape 32"/>
          <p:cNvSpPr>
            <a:spLocks noChangeArrowheads="1"/>
          </p:cNvSpPr>
          <p:nvPr/>
        </p:nvSpPr>
        <p:spPr bwMode="auto">
          <a:xfrm>
            <a:off x="4724400" y="2567014"/>
            <a:ext cx="609600" cy="3505200"/>
          </a:xfrm>
          <a:prstGeom prst="rightArrow">
            <a:avLst>
              <a:gd name="adj1" fmla="val 50000"/>
              <a:gd name="adj2" fmla="val 25000"/>
            </a:avLst>
          </a:prstGeom>
          <a:solidFill>
            <a:schemeClr val="accent2"/>
          </a:solidFill>
          <a:ln w="12700">
            <a:noFill/>
            <a:miter lim="800000"/>
            <a:headEnd/>
            <a:tailEnd/>
          </a:ln>
          <a:effectLst/>
        </p:spPr>
        <p:txBody>
          <a:bodyPr wrap="none" lIns="90000" tIns="46800" rIns="90000" bIns="46800" anchor="ctr"/>
          <a:lstStyle/>
          <a:p>
            <a:endParaRPr lang="en-US" dirty="0"/>
          </a:p>
        </p:txBody>
      </p:sp>
      <p:sp>
        <p:nvSpPr>
          <p:cNvPr id="1259553" name="Text Box 33"/>
          <p:cNvSpPr txBox="1">
            <a:spLocks noChangeArrowheads="1"/>
          </p:cNvSpPr>
          <p:nvPr/>
        </p:nvSpPr>
        <p:spPr bwMode="auto">
          <a:xfrm>
            <a:off x="6019800" y="1833589"/>
            <a:ext cx="2209800" cy="581025"/>
          </a:xfrm>
          <a:prstGeom prst="rect">
            <a:avLst/>
          </a:prstGeom>
          <a:noFill/>
          <a:ln w="12700">
            <a:noFill/>
            <a:miter lim="800000"/>
            <a:headEnd/>
            <a:tailEnd/>
          </a:ln>
          <a:effectLst/>
        </p:spPr>
        <p:txBody>
          <a:bodyPr lIns="90000" tIns="46800" rIns="90000" bIns="46800">
            <a:spAutoFit/>
          </a:bodyPr>
          <a:lstStyle/>
          <a:p>
            <a:pPr algn="ctr">
              <a:spcBef>
                <a:spcPct val="50000"/>
              </a:spcBef>
            </a:pPr>
            <a:r>
              <a:rPr lang="fi-FI" sz="1600" b="1" dirty="0"/>
              <a:t>BUILD READINESS</a:t>
            </a:r>
            <a:br>
              <a:rPr lang="fi-FI" sz="1600" b="1" dirty="0"/>
            </a:br>
            <a:r>
              <a:rPr lang="fi-FI" sz="1600" b="1" dirty="0"/>
              <a:t>STATES</a:t>
            </a:r>
            <a:endParaRPr lang="en-GB" sz="1600" b="1" dirty="0"/>
          </a:p>
        </p:txBody>
      </p:sp>
      <p:sp>
        <p:nvSpPr>
          <p:cNvPr id="1259554" name="Oval 34"/>
          <p:cNvSpPr>
            <a:spLocks noChangeArrowheads="1"/>
          </p:cNvSpPr>
          <p:nvPr/>
        </p:nvSpPr>
        <p:spPr bwMode="auto">
          <a:xfrm>
            <a:off x="533400" y="2490814"/>
            <a:ext cx="838200" cy="457200"/>
          </a:xfrm>
          <a:prstGeom prst="ellipse">
            <a:avLst/>
          </a:prstGeom>
          <a:solidFill>
            <a:schemeClr val="folHlink"/>
          </a:solidFill>
          <a:ln w="12700">
            <a:noFill/>
            <a:round/>
            <a:headEnd/>
            <a:tailEnd/>
          </a:ln>
          <a:effectLst/>
        </p:spPr>
        <p:txBody>
          <a:bodyPr wrap="none" lIns="90000" tIns="46800" rIns="90000" bIns="46800" anchor="ctr"/>
          <a:lstStyle/>
          <a:p>
            <a:pPr algn="ctr"/>
            <a:endParaRPr lang="en-US" sz="1600" dirty="0">
              <a:solidFill>
                <a:schemeClr val="bg1"/>
              </a:solidFill>
            </a:endParaRPr>
          </a:p>
        </p:txBody>
      </p:sp>
      <p:sp>
        <p:nvSpPr>
          <p:cNvPr id="1259555" name="Oval 35"/>
          <p:cNvSpPr>
            <a:spLocks noChangeArrowheads="1"/>
          </p:cNvSpPr>
          <p:nvPr/>
        </p:nvSpPr>
        <p:spPr bwMode="auto">
          <a:xfrm>
            <a:off x="152400" y="3329014"/>
            <a:ext cx="838200" cy="457200"/>
          </a:xfrm>
          <a:prstGeom prst="ellipse">
            <a:avLst/>
          </a:prstGeom>
          <a:solidFill>
            <a:schemeClr val="folHlink"/>
          </a:solidFill>
          <a:ln w="12700">
            <a:noFill/>
            <a:round/>
            <a:headEnd/>
            <a:tailEnd/>
          </a:ln>
          <a:effectLst/>
        </p:spPr>
        <p:txBody>
          <a:bodyPr wrap="none" lIns="90000" tIns="46800" rIns="90000" bIns="46800" anchor="ctr"/>
          <a:lstStyle/>
          <a:p>
            <a:pPr algn="ctr"/>
            <a:endParaRPr lang="en-US" sz="1600" dirty="0">
              <a:solidFill>
                <a:schemeClr val="bg1"/>
              </a:solidFill>
            </a:endParaRPr>
          </a:p>
        </p:txBody>
      </p:sp>
      <p:sp>
        <p:nvSpPr>
          <p:cNvPr id="1259556" name="Text Box 36"/>
          <p:cNvSpPr txBox="1">
            <a:spLocks noChangeArrowheads="1"/>
          </p:cNvSpPr>
          <p:nvPr/>
        </p:nvSpPr>
        <p:spPr bwMode="auto">
          <a:xfrm>
            <a:off x="5486400" y="2567014"/>
            <a:ext cx="2209800" cy="279180"/>
          </a:xfrm>
          <a:prstGeom prst="rect">
            <a:avLst/>
          </a:prstGeom>
          <a:noFill/>
          <a:ln w="12700">
            <a:noFill/>
            <a:miter lim="800000"/>
            <a:headEnd/>
            <a:tailEnd/>
          </a:ln>
          <a:effectLst/>
        </p:spPr>
        <p:txBody>
          <a:bodyPr lIns="90000" tIns="46800" rIns="90000" bIns="46800">
            <a:spAutoFit/>
          </a:bodyPr>
          <a:lstStyle/>
          <a:p>
            <a:pPr algn="l">
              <a:spcBef>
                <a:spcPct val="50000"/>
              </a:spcBef>
            </a:pPr>
            <a:r>
              <a:rPr lang="fi-FI" sz="1200" b="1" dirty="0"/>
              <a:t>”release-ready baseline”</a:t>
            </a:r>
            <a:endParaRPr lang="en-GB" sz="1200" b="1" dirty="0"/>
          </a:p>
        </p:txBody>
      </p:sp>
      <p:sp>
        <p:nvSpPr>
          <p:cNvPr id="1259557" name="Text Box 37"/>
          <p:cNvSpPr txBox="1">
            <a:spLocks noChangeArrowheads="1"/>
          </p:cNvSpPr>
          <p:nvPr/>
        </p:nvSpPr>
        <p:spPr bwMode="auto">
          <a:xfrm>
            <a:off x="5486400" y="3643314"/>
            <a:ext cx="3657600" cy="279180"/>
          </a:xfrm>
          <a:prstGeom prst="rect">
            <a:avLst/>
          </a:prstGeom>
          <a:noFill/>
          <a:ln w="12700">
            <a:noFill/>
            <a:miter lim="800000"/>
            <a:headEnd/>
            <a:tailEnd/>
          </a:ln>
          <a:effectLst/>
        </p:spPr>
        <p:txBody>
          <a:bodyPr lIns="90000" tIns="46800" rIns="90000" bIns="46800">
            <a:spAutoFit/>
          </a:bodyPr>
          <a:lstStyle/>
          <a:p>
            <a:pPr algn="l">
              <a:spcBef>
                <a:spcPct val="50000"/>
              </a:spcBef>
            </a:pPr>
            <a:r>
              <a:rPr lang="fi-FI" sz="1200" b="1" dirty="0"/>
              <a:t>”release-preparing baseline”</a:t>
            </a:r>
            <a:endParaRPr lang="en-GB" sz="1200" b="1" dirty="0"/>
          </a:p>
        </p:txBody>
      </p:sp>
      <p:sp>
        <p:nvSpPr>
          <p:cNvPr id="1259558" name="Text Box 38"/>
          <p:cNvSpPr txBox="1">
            <a:spLocks noChangeArrowheads="1"/>
          </p:cNvSpPr>
          <p:nvPr/>
        </p:nvSpPr>
        <p:spPr bwMode="auto">
          <a:xfrm>
            <a:off x="5486400" y="4643446"/>
            <a:ext cx="2209800" cy="279180"/>
          </a:xfrm>
          <a:prstGeom prst="rect">
            <a:avLst/>
          </a:prstGeom>
          <a:noFill/>
          <a:ln w="12700">
            <a:noFill/>
            <a:miter lim="800000"/>
            <a:headEnd/>
            <a:tailEnd/>
          </a:ln>
          <a:effectLst/>
        </p:spPr>
        <p:txBody>
          <a:bodyPr lIns="90000" tIns="46800" rIns="90000" bIns="46800">
            <a:spAutoFit/>
          </a:bodyPr>
          <a:lstStyle/>
          <a:p>
            <a:pPr algn="l">
              <a:spcBef>
                <a:spcPct val="50000"/>
              </a:spcBef>
            </a:pPr>
            <a:r>
              <a:rPr lang="fi-FI" sz="1200" b="1" dirty="0"/>
              <a:t>”incremental baseline”</a:t>
            </a:r>
            <a:endParaRPr lang="en-GB" sz="1200" b="1" dirty="0"/>
          </a:p>
        </p:txBody>
      </p:sp>
      <p:sp>
        <p:nvSpPr>
          <p:cNvPr id="1259559" name="Rectangle 39"/>
          <p:cNvSpPr>
            <a:spLocks noChangeArrowheads="1"/>
          </p:cNvSpPr>
          <p:nvPr/>
        </p:nvSpPr>
        <p:spPr bwMode="auto">
          <a:xfrm>
            <a:off x="5562600" y="2917852"/>
            <a:ext cx="609600" cy="685800"/>
          </a:xfrm>
          <a:prstGeom prst="rect">
            <a:avLst/>
          </a:prstGeom>
          <a:solidFill>
            <a:schemeClr val="tx1"/>
          </a:solidFill>
          <a:ln w="12700">
            <a:noFill/>
            <a:miter lim="800000"/>
            <a:headEnd/>
            <a:tailEnd/>
          </a:ln>
          <a:effectLst/>
        </p:spPr>
        <p:txBody>
          <a:bodyPr wrap="none" lIns="90000" tIns="46800" rIns="90000" bIns="46800" anchor="ctr"/>
          <a:lstStyle/>
          <a:p>
            <a:endParaRPr lang="en-US" dirty="0"/>
          </a:p>
        </p:txBody>
      </p:sp>
      <p:sp>
        <p:nvSpPr>
          <p:cNvPr id="1259560" name="Rectangle 40"/>
          <p:cNvSpPr>
            <a:spLocks noChangeArrowheads="1"/>
          </p:cNvSpPr>
          <p:nvPr/>
        </p:nvSpPr>
        <p:spPr bwMode="auto">
          <a:xfrm>
            <a:off x="6324600" y="2917852"/>
            <a:ext cx="609600" cy="685800"/>
          </a:xfrm>
          <a:prstGeom prst="rect">
            <a:avLst/>
          </a:prstGeom>
          <a:solidFill>
            <a:schemeClr val="tx1"/>
          </a:solidFill>
          <a:ln w="12700">
            <a:noFill/>
            <a:miter lim="800000"/>
            <a:headEnd/>
            <a:tailEnd/>
          </a:ln>
          <a:effectLst/>
        </p:spPr>
        <p:txBody>
          <a:bodyPr wrap="none" lIns="90000" tIns="46800" rIns="90000" bIns="46800" anchor="ctr"/>
          <a:lstStyle/>
          <a:p>
            <a:endParaRPr lang="en-US" dirty="0"/>
          </a:p>
        </p:txBody>
      </p:sp>
      <p:sp>
        <p:nvSpPr>
          <p:cNvPr id="1259561" name="Rectangle 41"/>
          <p:cNvSpPr>
            <a:spLocks noChangeArrowheads="1"/>
          </p:cNvSpPr>
          <p:nvPr/>
        </p:nvSpPr>
        <p:spPr bwMode="auto">
          <a:xfrm>
            <a:off x="7086600" y="2917852"/>
            <a:ext cx="609600" cy="685800"/>
          </a:xfrm>
          <a:prstGeom prst="rect">
            <a:avLst/>
          </a:prstGeom>
          <a:solidFill>
            <a:schemeClr val="tx1"/>
          </a:solidFill>
          <a:ln w="12700">
            <a:noFill/>
            <a:miter lim="800000"/>
            <a:headEnd/>
            <a:tailEnd/>
          </a:ln>
          <a:effectLst/>
        </p:spPr>
        <p:txBody>
          <a:bodyPr wrap="none" lIns="90000" tIns="46800" rIns="90000" bIns="46800" anchor="ctr"/>
          <a:lstStyle/>
          <a:p>
            <a:endParaRPr lang="en-US" dirty="0"/>
          </a:p>
        </p:txBody>
      </p:sp>
      <p:sp>
        <p:nvSpPr>
          <p:cNvPr id="1259562" name="Rectangle 42"/>
          <p:cNvSpPr>
            <a:spLocks noChangeArrowheads="1"/>
          </p:cNvSpPr>
          <p:nvPr/>
        </p:nvSpPr>
        <p:spPr bwMode="auto">
          <a:xfrm>
            <a:off x="7848600" y="2917852"/>
            <a:ext cx="609600" cy="685800"/>
          </a:xfrm>
          <a:prstGeom prst="rect">
            <a:avLst/>
          </a:prstGeom>
          <a:solidFill>
            <a:schemeClr val="tx1"/>
          </a:solidFill>
          <a:ln w="12700">
            <a:noFill/>
            <a:miter lim="800000"/>
            <a:headEnd/>
            <a:tailEnd/>
          </a:ln>
          <a:effectLst/>
        </p:spPr>
        <p:txBody>
          <a:bodyPr wrap="none" lIns="90000" tIns="46800" rIns="90000" bIns="46800" anchor="ctr"/>
          <a:lstStyle/>
          <a:p>
            <a:endParaRPr lang="en-US" dirty="0"/>
          </a:p>
        </p:txBody>
      </p:sp>
      <p:sp>
        <p:nvSpPr>
          <p:cNvPr id="1259563" name="Rectangle 43"/>
          <p:cNvSpPr>
            <a:spLocks noChangeArrowheads="1"/>
          </p:cNvSpPr>
          <p:nvPr/>
        </p:nvSpPr>
        <p:spPr bwMode="auto">
          <a:xfrm>
            <a:off x="5562600" y="3994152"/>
            <a:ext cx="609600" cy="685800"/>
          </a:xfrm>
          <a:prstGeom prst="rect">
            <a:avLst/>
          </a:prstGeom>
          <a:solidFill>
            <a:schemeClr val="tx1"/>
          </a:solidFill>
          <a:ln w="12700">
            <a:noFill/>
            <a:miter lim="800000"/>
            <a:headEnd/>
            <a:tailEnd/>
          </a:ln>
          <a:effectLst/>
        </p:spPr>
        <p:txBody>
          <a:bodyPr wrap="none" lIns="90000" tIns="46800" rIns="90000" bIns="46800" anchor="ctr"/>
          <a:lstStyle/>
          <a:p>
            <a:endParaRPr lang="en-US" dirty="0"/>
          </a:p>
        </p:txBody>
      </p:sp>
      <p:sp>
        <p:nvSpPr>
          <p:cNvPr id="1259564" name="Rectangle 44"/>
          <p:cNvSpPr>
            <a:spLocks noChangeArrowheads="1"/>
          </p:cNvSpPr>
          <p:nvPr/>
        </p:nvSpPr>
        <p:spPr bwMode="auto">
          <a:xfrm>
            <a:off x="6324600" y="3994152"/>
            <a:ext cx="609600" cy="685800"/>
          </a:xfrm>
          <a:prstGeom prst="rect">
            <a:avLst/>
          </a:prstGeom>
          <a:solidFill>
            <a:schemeClr val="tx1"/>
          </a:solidFill>
          <a:ln w="12700">
            <a:noFill/>
            <a:miter lim="800000"/>
            <a:headEnd/>
            <a:tailEnd/>
          </a:ln>
          <a:effectLst/>
        </p:spPr>
        <p:txBody>
          <a:bodyPr wrap="none" lIns="90000" tIns="46800" rIns="90000" bIns="46800" anchor="ctr"/>
          <a:lstStyle/>
          <a:p>
            <a:endParaRPr lang="en-US" dirty="0"/>
          </a:p>
        </p:txBody>
      </p:sp>
      <p:sp>
        <p:nvSpPr>
          <p:cNvPr id="1259565" name="Rectangle 45"/>
          <p:cNvSpPr>
            <a:spLocks noChangeArrowheads="1"/>
          </p:cNvSpPr>
          <p:nvPr/>
        </p:nvSpPr>
        <p:spPr bwMode="auto">
          <a:xfrm>
            <a:off x="7086600" y="3994152"/>
            <a:ext cx="609600" cy="685800"/>
          </a:xfrm>
          <a:prstGeom prst="rect">
            <a:avLst/>
          </a:prstGeom>
          <a:solidFill>
            <a:schemeClr val="tx1"/>
          </a:solidFill>
          <a:ln w="12700">
            <a:noFill/>
            <a:miter lim="800000"/>
            <a:headEnd/>
            <a:tailEnd/>
          </a:ln>
          <a:effectLst/>
        </p:spPr>
        <p:txBody>
          <a:bodyPr wrap="none" lIns="90000" tIns="46800" rIns="90000" bIns="46800" anchor="ctr"/>
          <a:lstStyle/>
          <a:p>
            <a:endParaRPr lang="en-US" dirty="0"/>
          </a:p>
        </p:txBody>
      </p:sp>
      <p:sp>
        <p:nvSpPr>
          <p:cNvPr id="1259566" name="Rectangle 46"/>
          <p:cNvSpPr>
            <a:spLocks noChangeArrowheads="1"/>
          </p:cNvSpPr>
          <p:nvPr/>
        </p:nvSpPr>
        <p:spPr bwMode="auto">
          <a:xfrm>
            <a:off x="7848600" y="3994152"/>
            <a:ext cx="609600" cy="685800"/>
          </a:xfrm>
          <a:prstGeom prst="rect">
            <a:avLst/>
          </a:prstGeom>
          <a:solidFill>
            <a:schemeClr val="tx1"/>
          </a:solidFill>
          <a:ln w="12700">
            <a:noFill/>
            <a:miter lim="800000"/>
            <a:headEnd/>
            <a:tailEnd/>
          </a:ln>
          <a:effectLst/>
        </p:spPr>
        <p:txBody>
          <a:bodyPr wrap="none" lIns="90000" tIns="46800" rIns="90000" bIns="46800" anchor="ctr"/>
          <a:lstStyle/>
          <a:p>
            <a:endParaRPr lang="en-US" dirty="0"/>
          </a:p>
        </p:txBody>
      </p:sp>
      <p:sp>
        <p:nvSpPr>
          <p:cNvPr id="1259567" name="Rectangle 47"/>
          <p:cNvSpPr>
            <a:spLocks noChangeArrowheads="1"/>
          </p:cNvSpPr>
          <p:nvPr/>
        </p:nvSpPr>
        <p:spPr bwMode="auto">
          <a:xfrm>
            <a:off x="5562600" y="5040321"/>
            <a:ext cx="609600" cy="685800"/>
          </a:xfrm>
          <a:prstGeom prst="rect">
            <a:avLst/>
          </a:prstGeom>
          <a:solidFill>
            <a:schemeClr val="tx1"/>
          </a:solidFill>
          <a:ln w="12700">
            <a:noFill/>
            <a:miter lim="800000"/>
            <a:headEnd/>
            <a:tailEnd/>
          </a:ln>
          <a:effectLst/>
        </p:spPr>
        <p:txBody>
          <a:bodyPr wrap="none" lIns="90000" tIns="46800" rIns="90000" bIns="46800" anchor="ctr"/>
          <a:lstStyle/>
          <a:p>
            <a:endParaRPr lang="en-US" dirty="0"/>
          </a:p>
        </p:txBody>
      </p:sp>
      <p:sp>
        <p:nvSpPr>
          <p:cNvPr id="1259568" name="Rectangle 48"/>
          <p:cNvSpPr>
            <a:spLocks noChangeArrowheads="1"/>
          </p:cNvSpPr>
          <p:nvPr/>
        </p:nvSpPr>
        <p:spPr bwMode="auto">
          <a:xfrm>
            <a:off x="6324600" y="5040321"/>
            <a:ext cx="609600" cy="685800"/>
          </a:xfrm>
          <a:prstGeom prst="rect">
            <a:avLst/>
          </a:prstGeom>
          <a:solidFill>
            <a:schemeClr val="tx1"/>
          </a:solidFill>
          <a:ln w="12700">
            <a:noFill/>
            <a:miter lim="800000"/>
            <a:headEnd/>
            <a:tailEnd/>
          </a:ln>
          <a:effectLst/>
        </p:spPr>
        <p:txBody>
          <a:bodyPr wrap="none" lIns="90000" tIns="46800" rIns="90000" bIns="46800" anchor="ctr"/>
          <a:lstStyle/>
          <a:p>
            <a:endParaRPr lang="en-US" dirty="0"/>
          </a:p>
        </p:txBody>
      </p:sp>
      <p:sp>
        <p:nvSpPr>
          <p:cNvPr id="1259569" name="Rectangle 49"/>
          <p:cNvSpPr>
            <a:spLocks noChangeArrowheads="1"/>
          </p:cNvSpPr>
          <p:nvPr/>
        </p:nvSpPr>
        <p:spPr bwMode="auto">
          <a:xfrm>
            <a:off x="7086600" y="5040321"/>
            <a:ext cx="609600" cy="685800"/>
          </a:xfrm>
          <a:prstGeom prst="rect">
            <a:avLst/>
          </a:prstGeom>
          <a:solidFill>
            <a:schemeClr val="tx1"/>
          </a:solidFill>
          <a:ln w="12700">
            <a:noFill/>
            <a:miter lim="800000"/>
            <a:headEnd/>
            <a:tailEnd/>
          </a:ln>
          <a:effectLst/>
        </p:spPr>
        <p:txBody>
          <a:bodyPr wrap="none" lIns="90000" tIns="46800" rIns="90000" bIns="46800" anchor="ctr"/>
          <a:lstStyle/>
          <a:p>
            <a:endParaRPr lang="en-US" dirty="0"/>
          </a:p>
        </p:txBody>
      </p:sp>
      <p:sp>
        <p:nvSpPr>
          <p:cNvPr id="1259570" name="Rectangle 50"/>
          <p:cNvSpPr>
            <a:spLocks noChangeArrowheads="1"/>
          </p:cNvSpPr>
          <p:nvPr/>
        </p:nvSpPr>
        <p:spPr bwMode="auto">
          <a:xfrm>
            <a:off x="7848600" y="5040321"/>
            <a:ext cx="609600" cy="685800"/>
          </a:xfrm>
          <a:prstGeom prst="rect">
            <a:avLst/>
          </a:prstGeom>
          <a:solidFill>
            <a:schemeClr val="tx1"/>
          </a:solidFill>
          <a:ln w="12700">
            <a:noFill/>
            <a:miter lim="800000"/>
            <a:headEnd/>
            <a:tailEnd/>
          </a:ln>
          <a:effectLst/>
        </p:spPr>
        <p:txBody>
          <a:bodyPr wrap="none" lIns="90000" tIns="46800" rIns="90000" bIns="46800" anchor="ctr"/>
          <a:lstStyle/>
          <a:p>
            <a:endParaRPr lang="en-US" dirty="0"/>
          </a:p>
        </p:txBody>
      </p:sp>
      <p:sp>
        <p:nvSpPr>
          <p:cNvPr id="1259571" name="AutoShape 51"/>
          <p:cNvSpPr>
            <a:spLocks noChangeArrowheads="1"/>
          </p:cNvSpPr>
          <p:nvPr/>
        </p:nvSpPr>
        <p:spPr bwMode="auto">
          <a:xfrm>
            <a:off x="5715000" y="4872046"/>
            <a:ext cx="304800" cy="228600"/>
          </a:xfrm>
          <a:prstGeom prst="upArrow">
            <a:avLst>
              <a:gd name="adj1" fmla="val 50000"/>
              <a:gd name="adj2" fmla="val 25000"/>
            </a:avLst>
          </a:prstGeom>
          <a:solidFill>
            <a:schemeClr val="hlink"/>
          </a:solidFill>
          <a:ln w="12700">
            <a:noFill/>
            <a:miter lim="800000"/>
            <a:headEnd/>
            <a:tailEnd/>
          </a:ln>
          <a:effectLst/>
        </p:spPr>
        <p:txBody>
          <a:bodyPr wrap="none" lIns="90000" tIns="46800" rIns="90000" bIns="46800" anchor="ctr"/>
          <a:lstStyle/>
          <a:p>
            <a:endParaRPr lang="en-US" dirty="0"/>
          </a:p>
        </p:txBody>
      </p:sp>
      <p:sp>
        <p:nvSpPr>
          <p:cNvPr id="1259572" name="AutoShape 52"/>
          <p:cNvSpPr>
            <a:spLocks noChangeArrowheads="1"/>
          </p:cNvSpPr>
          <p:nvPr/>
        </p:nvSpPr>
        <p:spPr bwMode="auto">
          <a:xfrm>
            <a:off x="7239000" y="4872046"/>
            <a:ext cx="304800" cy="228600"/>
          </a:xfrm>
          <a:prstGeom prst="upArrow">
            <a:avLst>
              <a:gd name="adj1" fmla="val 50000"/>
              <a:gd name="adj2" fmla="val 25000"/>
            </a:avLst>
          </a:prstGeom>
          <a:solidFill>
            <a:schemeClr val="hlink"/>
          </a:solidFill>
          <a:ln w="12700">
            <a:noFill/>
            <a:miter lim="800000"/>
            <a:headEnd/>
            <a:tailEnd/>
          </a:ln>
          <a:effectLst/>
        </p:spPr>
        <p:txBody>
          <a:bodyPr wrap="none" lIns="90000" tIns="46800" rIns="90000" bIns="46800" anchor="ctr"/>
          <a:lstStyle/>
          <a:p>
            <a:endParaRPr lang="en-US" dirty="0"/>
          </a:p>
        </p:txBody>
      </p:sp>
      <p:sp>
        <p:nvSpPr>
          <p:cNvPr id="1259573" name="AutoShape 53"/>
          <p:cNvSpPr>
            <a:spLocks noChangeArrowheads="1"/>
          </p:cNvSpPr>
          <p:nvPr/>
        </p:nvSpPr>
        <p:spPr bwMode="auto">
          <a:xfrm>
            <a:off x="7239000" y="3871914"/>
            <a:ext cx="304800" cy="228600"/>
          </a:xfrm>
          <a:prstGeom prst="upArrow">
            <a:avLst>
              <a:gd name="adj1" fmla="val 50000"/>
              <a:gd name="adj2" fmla="val 25000"/>
            </a:avLst>
          </a:prstGeom>
          <a:solidFill>
            <a:schemeClr val="hlink"/>
          </a:solidFill>
          <a:ln w="12700">
            <a:noFill/>
            <a:miter lim="800000"/>
            <a:headEnd/>
            <a:tailEnd/>
          </a:ln>
          <a:effectLst/>
        </p:spPr>
        <p:txBody>
          <a:bodyPr wrap="none" lIns="90000" tIns="46800" rIns="90000" bIns="46800" anchor="ctr"/>
          <a:lstStyle/>
          <a:p>
            <a:endParaRPr lang="en-US" dirty="0"/>
          </a:p>
        </p:txBody>
      </p:sp>
      <p:sp>
        <p:nvSpPr>
          <p:cNvPr id="1259574" name="AutoShape 54"/>
          <p:cNvSpPr>
            <a:spLocks noChangeArrowheads="1"/>
          </p:cNvSpPr>
          <p:nvPr/>
        </p:nvSpPr>
        <p:spPr bwMode="auto">
          <a:xfrm>
            <a:off x="8001000" y="3871914"/>
            <a:ext cx="304800" cy="228600"/>
          </a:xfrm>
          <a:prstGeom prst="upArrow">
            <a:avLst>
              <a:gd name="adj1" fmla="val 50000"/>
              <a:gd name="adj2" fmla="val 25000"/>
            </a:avLst>
          </a:prstGeom>
          <a:solidFill>
            <a:schemeClr val="hlink"/>
          </a:solidFill>
          <a:ln w="12700">
            <a:noFill/>
            <a:miter lim="800000"/>
            <a:headEnd/>
            <a:tailEnd/>
          </a:ln>
          <a:effectLst/>
        </p:spPr>
        <p:txBody>
          <a:bodyPr wrap="none" lIns="90000" tIns="46800" rIns="90000" bIns="46800" anchor="ctr"/>
          <a:lstStyle/>
          <a:p>
            <a:endParaRPr lang="en-US" dirty="0"/>
          </a:p>
        </p:txBody>
      </p:sp>
      <p:sp>
        <p:nvSpPr>
          <p:cNvPr id="1259575" name="Text Box 55"/>
          <p:cNvSpPr txBox="1">
            <a:spLocks noChangeArrowheads="1"/>
          </p:cNvSpPr>
          <p:nvPr/>
        </p:nvSpPr>
        <p:spPr bwMode="auto">
          <a:xfrm>
            <a:off x="2895600" y="4700614"/>
            <a:ext cx="2209800" cy="463846"/>
          </a:xfrm>
          <a:prstGeom prst="rect">
            <a:avLst/>
          </a:prstGeom>
          <a:noFill/>
          <a:ln w="12700">
            <a:noFill/>
            <a:miter lim="800000"/>
            <a:headEnd/>
            <a:tailEnd/>
          </a:ln>
          <a:effectLst/>
        </p:spPr>
        <p:txBody>
          <a:bodyPr lIns="90000" tIns="46800" rIns="90000" bIns="46800">
            <a:spAutoFit/>
          </a:bodyPr>
          <a:lstStyle/>
          <a:p>
            <a:pPr algn="ctr">
              <a:spcBef>
                <a:spcPct val="50000"/>
              </a:spcBef>
            </a:pPr>
            <a:r>
              <a:rPr lang="fi-FI" sz="1200" b="1" dirty="0"/>
              <a:t>service </a:t>
            </a:r>
            <a:br>
              <a:rPr lang="fi-FI" sz="1200" b="1" dirty="0"/>
            </a:br>
            <a:r>
              <a:rPr lang="fi-FI" sz="1200" b="1" dirty="0"/>
              <a:t>components</a:t>
            </a:r>
            <a:endParaRPr lang="en-GB" sz="1200" b="1" dirty="0"/>
          </a:p>
        </p:txBody>
      </p:sp>
      <p:sp>
        <p:nvSpPr>
          <p:cNvPr id="1259576" name="AutoShape 56"/>
          <p:cNvSpPr>
            <a:spLocks noChangeArrowheads="1"/>
          </p:cNvSpPr>
          <p:nvPr/>
        </p:nvSpPr>
        <p:spPr bwMode="auto">
          <a:xfrm>
            <a:off x="3505200" y="5386414"/>
            <a:ext cx="304800" cy="304800"/>
          </a:xfrm>
          <a:prstGeom prst="star5">
            <a:avLst/>
          </a:prstGeom>
          <a:solidFill>
            <a:schemeClr val="accent2"/>
          </a:solidFill>
          <a:ln w="12700">
            <a:noFill/>
            <a:miter lim="800000"/>
            <a:headEnd/>
            <a:tailEnd/>
          </a:ln>
          <a:effectLst/>
        </p:spPr>
        <p:txBody>
          <a:bodyPr wrap="none" lIns="90000" tIns="46800" rIns="90000" bIns="46800" anchor="ctr"/>
          <a:lstStyle/>
          <a:p>
            <a:endParaRPr lang="en-US" dirty="0"/>
          </a:p>
        </p:txBody>
      </p:sp>
      <p:sp>
        <p:nvSpPr>
          <p:cNvPr id="1259577" name="AutoShape 57"/>
          <p:cNvSpPr>
            <a:spLocks noChangeArrowheads="1"/>
          </p:cNvSpPr>
          <p:nvPr/>
        </p:nvSpPr>
        <p:spPr bwMode="auto">
          <a:xfrm>
            <a:off x="3733800" y="5234014"/>
            <a:ext cx="304800" cy="304800"/>
          </a:xfrm>
          <a:prstGeom prst="star5">
            <a:avLst/>
          </a:prstGeom>
          <a:solidFill>
            <a:schemeClr val="accent2"/>
          </a:solidFill>
          <a:ln w="12700">
            <a:noFill/>
            <a:miter lim="800000"/>
            <a:headEnd/>
            <a:tailEnd/>
          </a:ln>
          <a:effectLst/>
        </p:spPr>
        <p:txBody>
          <a:bodyPr wrap="none" lIns="90000" tIns="46800" rIns="90000" bIns="46800" anchor="ctr"/>
          <a:lstStyle/>
          <a:p>
            <a:endParaRPr lang="en-US" dirty="0"/>
          </a:p>
        </p:txBody>
      </p:sp>
      <p:sp>
        <p:nvSpPr>
          <p:cNvPr id="1259578" name="AutoShape 58"/>
          <p:cNvSpPr>
            <a:spLocks noChangeArrowheads="1"/>
          </p:cNvSpPr>
          <p:nvPr/>
        </p:nvSpPr>
        <p:spPr bwMode="auto">
          <a:xfrm>
            <a:off x="3886200" y="5462614"/>
            <a:ext cx="304800" cy="304800"/>
          </a:xfrm>
          <a:prstGeom prst="star5">
            <a:avLst/>
          </a:prstGeom>
          <a:solidFill>
            <a:schemeClr val="accent2"/>
          </a:solidFill>
          <a:ln w="12700">
            <a:noFill/>
            <a:miter lim="800000"/>
            <a:headEnd/>
            <a:tailEnd/>
          </a:ln>
          <a:effectLst/>
        </p:spPr>
        <p:txBody>
          <a:bodyPr wrap="none" lIns="90000" tIns="46800" rIns="90000" bIns="46800" anchor="ctr"/>
          <a:lstStyle/>
          <a:p>
            <a:endParaRPr lang="en-US" dirty="0"/>
          </a:p>
        </p:txBody>
      </p:sp>
      <p:sp>
        <p:nvSpPr>
          <p:cNvPr id="1259579" name="AutoShape 59"/>
          <p:cNvSpPr>
            <a:spLocks noChangeArrowheads="1"/>
          </p:cNvSpPr>
          <p:nvPr/>
        </p:nvSpPr>
        <p:spPr bwMode="auto">
          <a:xfrm>
            <a:off x="4038600" y="5157814"/>
            <a:ext cx="304800" cy="304800"/>
          </a:xfrm>
          <a:prstGeom prst="star5">
            <a:avLst/>
          </a:prstGeom>
          <a:solidFill>
            <a:schemeClr val="accent2"/>
          </a:solidFill>
          <a:ln w="12700">
            <a:noFill/>
            <a:miter lim="800000"/>
            <a:headEnd/>
            <a:tailEnd/>
          </a:ln>
          <a:effectLst/>
        </p:spPr>
        <p:txBody>
          <a:bodyPr wrap="none" lIns="90000" tIns="46800" rIns="90000" bIns="46800" anchor="ctr"/>
          <a:lstStyle/>
          <a:p>
            <a:endParaRPr lang="en-US" dirty="0"/>
          </a:p>
        </p:txBody>
      </p:sp>
      <p:sp>
        <p:nvSpPr>
          <p:cNvPr id="1259580" name="AutoShape 60"/>
          <p:cNvSpPr>
            <a:spLocks noChangeArrowheads="1"/>
          </p:cNvSpPr>
          <p:nvPr/>
        </p:nvSpPr>
        <p:spPr bwMode="auto">
          <a:xfrm>
            <a:off x="4191000" y="5386414"/>
            <a:ext cx="304800" cy="304800"/>
          </a:xfrm>
          <a:prstGeom prst="star5">
            <a:avLst/>
          </a:prstGeom>
          <a:solidFill>
            <a:schemeClr val="accent2"/>
          </a:solidFill>
          <a:ln w="12700">
            <a:noFill/>
            <a:miter lim="800000"/>
            <a:headEnd/>
            <a:tailEnd/>
          </a:ln>
          <a:effectLst/>
        </p:spPr>
        <p:txBody>
          <a:bodyPr wrap="none" lIns="90000" tIns="46800" rIns="90000" bIns="46800" anchor="ctr"/>
          <a:lstStyle/>
          <a:p>
            <a:endParaRPr lang="en-US" dirty="0"/>
          </a:p>
        </p:txBody>
      </p:sp>
      <p:sp>
        <p:nvSpPr>
          <p:cNvPr id="1259581" name="AutoShape 61"/>
          <p:cNvSpPr>
            <a:spLocks noChangeArrowheads="1"/>
          </p:cNvSpPr>
          <p:nvPr/>
        </p:nvSpPr>
        <p:spPr bwMode="auto">
          <a:xfrm>
            <a:off x="3352800" y="5157814"/>
            <a:ext cx="304800" cy="304800"/>
          </a:xfrm>
          <a:prstGeom prst="star5">
            <a:avLst/>
          </a:prstGeom>
          <a:solidFill>
            <a:schemeClr val="accent2"/>
          </a:solidFill>
          <a:ln w="12700">
            <a:noFill/>
            <a:miter lim="800000"/>
            <a:headEnd/>
            <a:tailEnd/>
          </a:ln>
          <a:effectLst/>
        </p:spPr>
        <p:txBody>
          <a:bodyPr wrap="none" lIns="90000" tIns="46800" rIns="90000" bIns="46800" anchor="ctr"/>
          <a:lstStyle/>
          <a:p>
            <a:endParaRPr lang="en-US" dirty="0"/>
          </a:p>
        </p:txBody>
      </p:sp>
      <p:sp>
        <p:nvSpPr>
          <p:cNvPr id="1259582" name="Text Box 62"/>
          <p:cNvSpPr txBox="1">
            <a:spLocks noChangeArrowheads="1"/>
          </p:cNvSpPr>
          <p:nvPr/>
        </p:nvSpPr>
        <p:spPr bwMode="auto">
          <a:xfrm>
            <a:off x="5486400" y="5726130"/>
            <a:ext cx="2209800" cy="279180"/>
          </a:xfrm>
          <a:prstGeom prst="rect">
            <a:avLst/>
          </a:prstGeom>
          <a:noFill/>
          <a:ln w="12700">
            <a:noFill/>
            <a:miter lim="800000"/>
            <a:headEnd/>
            <a:tailEnd/>
          </a:ln>
          <a:effectLst/>
        </p:spPr>
        <p:txBody>
          <a:bodyPr lIns="90000" tIns="46800" rIns="90000" bIns="46800">
            <a:spAutoFit/>
          </a:bodyPr>
          <a:lstStyle/>
          <a:p>
            <a:pPr algn="l">
              <a:spcBef>
                <a:spcPct val="50000"/>
              </a:spcBef>
            </a:pPr>
            <a:r>
              <a:rPr lang="fi-FI" sz="1200" b="1" dirty="0"/>
              <a:t>”private baseline”</a:t>
            </a:r>
            <a:endParaRPr lang="en-GB" sz="1200" b="1" dirty="0"/>
          </a:p>
        </p:txBody>
      </p:sp>
      <p:sp>
        <p:nvSpPr>
          <p:cNvPr id="1259583" name="Rectangle 63"/>
          <p:cNvSpPr>
            <a:spLocks noChangeArrowheads="1"/>
          </p:cNvSpPr>
          <p:nvPr/>
        </p:nvSpPr>
        <p:spPr bwMode="auto">
          <a:xfrm>
            <a:off x="5562600" y="6097605"/>
            <a:ext cx="609600" cy="685800"/>
          </a:xfrm>
          <a:prstGeom prst="rect">
            <a:avLst/>
          </a:prstGeom>
          <a:solidFill>
            <a:schemeClr val="tx1"/>
          </a:solidFill>
          <a:ln w="12700">
            <a:noFill/>
            <a:miter lim="800000"/>
            <a:headEnd/>
            <a:tailEnd/>
          </a:ln>
          <a:effectLst/>
        </p:spPr>
        <p:txBody>
          <a:bodyPr wrap="none" lIns="90000" tIns="46800" rIns="90000" bIns="46800" anchor="ctr"/>
          <a:lstStyle/>
          <a:p>
            <a:endParaRPr lang="en-US" dirty="0"/>
          </a:p>
        </p:txBody>
      </p:sp>
      <p:sp>
        <p:nvSpPr>
          <p:cNvPr id="1259584" name="Rectangle 64"/>
          <p:cNvSpPr>
            <a:spLocks noChangeArrowheads="1"/>
          </p:cNvSpPr>
          <p:nvPr/>
        </p:nvSpPr>
        <p:spPr bwMode="auto">
          <a:xfrm>
            <a:off x="6324600" y="6097605"/>
            <a:ext cx="609600" cy="685800"/>
          </a:xfrm>
          <a:prstGeom prst="rect">
            <a:avLst/>
          </a:prstGeom>
          <a:solidFill>
            <a:schemeClr val="tx1"/>
          </a:solidFill>
          <a:ln w="12700">
            <a:noFill/>
            <a:miter lim="800000"/>
            <a:headEnd/>
            <a:tailEnd/>
          </a:ln>
          <a:effectLst/>
        </p:spPr>
        <p:txBody>
          <a:bodyPr wrap="none" lIns="90000" tIns="46800" rIns="90000" bIns="46800" anchor="ctr"/>
          <a:lstStyle/>
          <a:p>
            <a:endParaRPr lang="en-US" dirty="0"/>
          </a:p>
        </p:txBody>
      </p:sp>
      <p:sp>
        <p:nvSpPr>
          <p:cNvPr id="1259585" name="AutoShape 65"/>
          <p:cNvSpPr>
            <a:spLocks noChangeArrowheads="1"/>
          </p:cNvSpPr>
          <p:nvPr/>
        </p:nvSpPr>
        <p:spPr bwMode="auto">
          <a:xfrm>
            <a:off x="6477000" y="5929330"/>
            <a:ext cx="304800" cy="228600"/>
          </a:xfrm>
          <a:prstGeom prst="upArrow">
            <a:avLst>
              <a:gd name="adj1" fmla="val 50000"/>
              <a:gd name="adj2" fmla="val 25000"/>
            </a:avLst>
          </a:prstGeom>
          <a:solidFill>
            <a:schemeClr val="hlink"/>
          </a:solidFill>
          <a:ln w="12700">
            <a:noFill/>
            <a:miter lim="800000"/>
            <a:headEnd/>
            <a:tailEnd/>
          </a:ln>
          <a:effectLst/>
        </p:spPr>
        <p:txBody>
          <a:bodyPr wrap="none" lIns="90000" tIns="46800" rIns="90000" bIns="46800" anchor="ctr"/>
          <a:lstStyle/>
          <a:p>
            <a:endParaRPr lang="en-US" dirty="0"/>
          </a:p>
        </p:txBody>
      </p:sp>
      <p:sp>
        <p:nvSpPr>
          <p:cNvPr id="1259586" name="Text Box 66"/>
          <p:cNvSpPr txBox="1">
            <a:spLocks noChangeArrowheads="1"/>
          </p:cNvSpPr>
          <p:nvPr/>
        </p:nvSpPr>
        <p:spPr bwMode="auto">
          <a:xfrm rot="5400000">
            <a:off x="8161338" y="2940076"/>
            <a:ext cx="1143000" cy="244475"/>
          </a:xfrm>
          <a:prstGeom prst="rect">
            <a:avLst/>
          </a:prstGeom>
          <a:noFill/>
          <a:ln w="12700">
            <a:noFill/>
            <a:miter lim="800000"/>
            <a:headEnd/>
            <a:tailEnd/>
          </a:ln>
          <a:effectLst/>
        </p:spPr>
        <p:txBody>
          <a:bodyPr lIns="90000" tIns="46800" rIns="90000" bIns="46800">
            <a:spAutoFit/>
          </a:bodyPr>
          <a:lstStyle/>
          <a:p>
            <a:pPr>
              <a:spcBef>
                <a:spcPct val="50000"/>
              </a:spcBef>
            </a:pPr>
            <a:r>
              <a:rPr lang="en-GB" sz="1000" b="1" dirty="0"/>
              <a:t>MAINTENANCE</a:t>
            </a:r>
          </a:p>
        </p:txBody>
      </p:sp>
      <p:sp>
        <p:nvSpPr>
          <p:cNvPr id="68" name="Slide Number Placeholder 67"/>
          <p:cNvSpPr>
            <a:spLocks noGrp="1"/>
          </p:cNvSpPr>
          <p:nvPr>
            <p:ph type="sldNum" sz="quarter" idx="12"/>
          </p:nvPr>
        </p:nvSpPr>
        <p:spPr/>
        <p:txBody>
          <a:bodyPr/>
          <a:lstStyle/>
          <a:p>
            <a:fld id="{227F0B53-9592-4779-891F-997228E46E01}" type="slidenum">
              <a:rPr lang="sv-SE" smtClean="0"/>
              <a:pPr/>
              <a:t>4</a:t>
            </a:fld>
            <a:endParaRPr lang="sv-SE"/>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3170" name="Rectangle 2"/>
          <p:cNvSpPr>
            <a:spLocks noChangeArrowheads="1"/>
          </p:cNvSpPr>
          <p:nvPr/>
        </p:nvSpPr>
        <p:spPr bwMode="auto">
          <a:xfrm>
            <a:off x="533400" y="2640036"/>
            <a:ext cx="2057400" cy="381000"/>
          </a:xfrm>
          <a:prstGeom prst="rect">
            <a:avLst/>
          </a:prstGeom>
          <a:solidFill>
            <a:schemeClr val="bg1"/>
          </a:solidFill>
          <a:ln w="9525">
            <a:solidFill>
              <a:schemeClr val="tx1"/>
            </a:solidFill>
            <a:miter lim="800000"/>
            <a:headEnd/>
            <a:tailEnd/>
          </a:ln>
          <a:effectLst/>
        </p:spPr>
        <p:txBody>
          <a:bodyPr wrap="none" anchor="ctr"/>
          <a:lstStyle/>
          <a:p>
            <a:endParaRPr lang="en-US" dirty="0"/>
          </a:p>
        </p:txBody>
      </p:sp>
      <p:sp>
        <p:nvSpPr>
          <p:cNvPr id="1543171" name="Rectangle 3"/>
          <p:cNvSpPr>
            <a:spLocks noGrp="1" noChangeArrowheads="1"/>
          </p:cNvSpPr>
          <p:nvPr>
            <p:ph type="title"/>
          </p:nvPr>
        </p:nvSpPr>
        <p:spPr/>
        <p:txBody>
          <a:bodyPr>
            <a:normAutofit/>
          </a:bodyPr>
          <a:lstStyle/>
          <a:p>
            <a:r>
              <a:rPr lang="en-US" dirty="0"/>
              <a:t>Differences in Levels of Automating</a:t>
            </a:r>
            <a:endParaRPr lang="en-GB" dirty="0"/>
          </a:p>
        </p:txBody>
      </p:sp>
      <p:sp>
        <p:nvSpPr>
          <p:cNvPr id="1543172" name="Line 4"/>
          <p:cNvSpPr>
            <a:spLocks noChangeShapeType="1"/>
          </p:cNvSpPr>
          <p:nvPr/>
        </p:nvSpPr>
        <p:spPr bwMode="auto">
          <a:xfrm>
            <a:off x="2819400" y="2335236"/>
            <a:ext cx="0" cy="3962400"/>
          </a:xfrm>
          <a:prstGeom prst="line">
            <a:avLst/>
          </a:prstGeom>
          <a:noFill/>
          <a:ln w="9525">
            <a:solidFill>
              <a:schemeClr val="hlink"/>
            </a:solidFill>
            <a:prstDash val="sysDot"/>
            <a:round/>
            <a:headEnd/>
            <a:tailEnd/>
          </a:ln>
          <a:effectLst/>
        </p:spPr>
        <p:txBody>
          <a:bodyPr/>
          <a:lstStyle/>
          <a:p>
            <a:endParaRPr lang="en-US" dirty="0"/>
          </a:p>
        </p:txBody>
      </p:sp>
      <p:sp>
        <p:nvSpPr>
          <p:cNvPr id="1543173" name="Line 5"/>
          <p:cNvSpPr>
            <a:spLocks noChangeShapeType="1"/>
          </p:cNvSpPr>
          <p:nvPr/>
        </p:nvSpPr>
        <p:spPr bwMode="auto">
          <a:xfrm>
            <a:off x="6096000" y="2335236"/>
            <a:ext cx="0" cy="3962400"/>
          </a:xfrm>
          <a:prstGeom prst="line">
            <a:avLst/>
          </a:prstGeom>
          <a:noFill/>
          <a:ln w="9525">
            <a:solidFill>
              <a:schemeClr val="hlink"/>
            </a:solidFill>
            <a:prstDash val="sysDot"/>
            <a:round/>
            <a:headEnd/>
            <a:tailEnd/>
          </a:ln>
          <a:effectLst/>
        </p:spPr>
        <p:txBody>
          <a:bodyPr/>
          <a:lstStyle/>
          <a:p>
            <a:endParaRPr lang="en-US" dirty="0"/>
          </a:p>
        </p:txBody>
      </p:sp>
      <p:sp>
        <p:nvSpPr>
          <p:cNvPr id="1543174" name="Text Box 6"/>
          <p:cNvSpPr txBox="1">
            <a:spLocks noChangeArrowheads="1"/>
          </p:cNvSpPr>
          <p:nvPr/>
        </p:nvSpPr>
        <p:spPr bwMode="auto">
          <a:xfrm>
            <a:off x="304800" y="1866904"/>
            <a:ext cx="2362200" cy="581025"/>
          </a:xfrm>
          <a:prstGeom prst="rect">
            <a:avLst/>
          </a:prstGeom>
          <a:noFill/>
          <a:ln w="9525">
            <a:noFill/>
            <a:miter lim="800000"/>
            <a:headEnd/>
            <a:tailEnd/>
          </a:ln>
          <a:effectLst/>
        </p:spPr>
        <p:txBody>
          <a:bodyPr>
            <a:spAutoFit/>
          </a:bodyPr>
          <a:lstStyle/>
          <a:p>
            <a:pPr algn="ctr" eaLnBrk="1" hangingPunct="1">
              <a:spcBef>
                <a:spcPct val="50000"/>
              </a:spcBef>
            </a:pPr>
            <a:r>
              <a:rPr lang="en-US" sz="1600" b="1" dirty="0"/>
              <a:t>Graphical User Interface (GUI)</a:t>
            </a:r>
            <a:endParaRPr lang="en-GB" sz="1600" b="1" dirty="0"/>
          </a:p>
        </p:txBody>
      </p:sp>
      <p:sp>
        <p:nvSpPr>
          <p:cNvPr id="1543175" name="Text Box 7"/>
          <p:cNvSpPr txBox="1">
            <a:spLocks noChangeArrowheads="1"/>
          </p:cNvSpPr>
          <p:nvPr/>
        </p:nvSpPr>
        <p:spPr bwMode="auto">
          <a:xfrm>
            <a:off x="3124200" y="1866904"/>
            <a:ext cx="2743200" cy="581025"/>
          </a:xfrm>
          <a:prstGeom prst="rect">
            <a:avLst/>
          </a:prstGeom>
          <a:noFill/>
          <a:ln w="9525">
            <a:noFill/>
            <a:miter lim="800000"/>
            <a:headEnd/>
            <a:tailEnd/>
          </a:ln>
          <a:effectLst/>
        </p:spPr>
        <p:txBody>
          <a:bodyPr>
            <a:spAutoFit/>
          </a:bodyPr>
          <a:lstStyle/>
          <a:p>
            <a:pPr algn="ctr" eaLnBrk="1" hangingPunct="1">
              <a:spcBef>
                <a:spcPct val="50000"/>
              </a:spcBef>
            </a:pPr>
            <a:r>
              <a:rPr lang="en-US" sz="1600" b="1" dirty="0"/>
              <a:t>Application Programming Interface (API)</a:t>
            </a:r>
            <a:endParaRPr lang="en-GB" sz="1600" b="1" dirty="0"/>
          </a:p>
        </p:txBody>
      </p:sp>
      <p:sp>
        <p:nvSpPr>
          <p:cNvPr id="1543176" name="Text Box 8"/>
          <p:cNvSpPr txBox="1">
            <a:spLocks noChangeArrowheads="1"/>
          </p:cNvSpPr>
          <p:nvPr/>
        </p:nvSpPr>
        <p:spPr bwMode="auto">
          <a:xfrm>
            <a:off x="6096000" y="1866904"/>
            <a:ext cx="2743200" cy="336550"/>
          </a:xfrm>
          <a:prstGeom prst="rect">
            <a:avLst/>
          </a:prstGeom>
          <a:noFill/>
          <a:ln w="9525">
            <a:noFill/>
            <a:miter lim="800000"/>
            <a:headEnd/>
            <a:tailEnd/>
          </a:ln>
          <a:effectLst/>
        </p:spPr>
        <p:txBody>
          <a:bodyPr>
            <a:spAutoFit/>
          </a:bodyPr>
          <a:lstStyle/>
          <a:p>
            <a:pPr algn="ctr" eaLnBrk="1" hangingPunct="1">
              <a:spcBef>
                <a:spcPct val="50000"/>
              </a:spcBef>
            </a:pPr>
            <a:r>
              <a:rPr lang="en-US" sz="1600" b="1" dirty="0"/>
              <a:t>Unit Testing Framework</a:t>
            </a:r>
            <a:endParaRPr lang="en-GB" sz="1600" b="1" dirty="0"/>
          </a:p>
        </p:txBody>
      </p:sp>
      <p:sp>
        <p:nvSpPr>
          <p:cNvPr id="1543177" name="Rectangle 9"/>
          <p:cNvSpPr>
            <a:spLocks noChangeArrowheads="1"/>
          </p:cNvSpPr>
          <p:nvPr/>
        </p:nvSpPr>
        <p:spPr bwMode="auto">
          <a:xfrm>
            <a:off x="838200" y="2716236"/>
            <a:ext cx="228600" cy="228600"/>
          </a:xfrm>
          <a:prstGeom prst="rect">
            <a:avLst/>
          </a:prstGeom>
          <a:solidFill>
            <a:schemeClr val="accent1"/>
          </a:solidFill>
          <a:ln w="9525">
            <a:solidFill>
              <a:schemeClr val="tx1"/>
            </a:solidFill>
            <a:miter lim="800000"/>
            <a:headEnd/>
            <a:tailEnd/>
          </a:ln>
          <a:effectLst/>
        </p:spPr>
        <p:txBody>
          <a:bodyPr wrap="none" anchor="ctr"/>
          <a:lstStyle/>
          <a:p>
            <a:endParaRPr lang="en-US" dirty="0"/>
          </a:p>
        </p:txBody>
      </p:sp>
      <p:sp>
        <p:nvSpPr>
          <p:cNvPr id="1543178" name="Rectangle 10"/>
          <p:cNvSpPr>
            <a:spLocks noChangeArrowheads="1"/>
          </p:cNvSpPr>
          <p:nvPr/>
        </p:nvSpPr>
        <p:spPr bwMode="auto">
          <a:xfrm>
            <a:off x="1143000" y="2716236"/>
            <a:ext cx="228600" cy="228600"/>
          </a:xfrm>
          <a:prstGeom prst="rect">
            <a:avLst/>
          </a:prstGeom>
          <a:solidFill>
            <a:schemeClr val="accent1"/>
          </a:solidFill>
          <a:ln w="9525">
            <a:solidFill>
              <a:schemeClr val="tx1"/>
            </a:solidFill>
            <a:miter lim="800000"/>
            <a:headEnd/>
            <a:tailEnd/>
          </a:ln>
          <a:effectLst/>
        </p:spPr>
        <p:txBody>
          <a:bodyPr wrap="none" anchor="ctr"/>
          <a:lstStyle/>
          <a:p>
            <a:endParaRPr lang="en-US" dirty="0"/>
          </a:p>
        </p:txBody>
      </p:sp>
      <p:sp>
        <p:nvSpPr>
          <p:cNvPr id="1543179" name="Rectangle 11"/>
          <p:cNvSpPr>
            <a:spLocks noChangeArrowheads="1"/>
          </p:cNvSpPr>
          <p:nvPr/>
        </p:nvSpPr>
        <p:spPr bwMode="auto">
          <a:xfrm>
            <a:off x="1447800" y="2716236"/>
            <a:ext cx="228600" cy="228600"/>
          </a:xfrm>
          <a:prstGeom prst="rect">
            <a:avLst/>
          </a:prstGeom>
          <a:solidFill>
            <a:schemeClr val="accent1"/>
          </a:solidFill>
          <a:ln w="9525">
            <a:solidFill>
              <a:schemeClr val="tx1"/>
            </a:solidFill>
            <a:miter lim="800000"/>
            <a:headEnd/>
            <a:tailEnd/>
          </a:ln>
          <a:effectLst/>
        </p:spPr>
        <p:txBody>
          <a:bodyPr wrap="none" anchor="ctr"/>
          <a:lstStyle/>
          <a:p>
            <a:endParaRPr lang="en-US" dirty="0"/>
          </a:p>
        </p:txBody>
      </p:sp>
      <p:sp>
        <p:nvSpPr>
          <p:cNvPr id="1543180" name="Rectangle 12"/>
          <p:cNvSpPr>
            <a:spLocks noChangeArrowheads="1"/>
          </p:cNvSpPr>
          <p:nvPr/>
        </p:nvSpPr>
        <p:spPr bwMode="auto">
          <a:xfrm>
            <a:off x="1752600" y="2716236"/>
            <a:ext cx="228600" cy="228600"/>
          </a:xfrm>
          <a:prstGeom prst="rect">
            <a:avLst/>
          </a:prstGeom>
          <a:solidFill>
            <a:schemeClr val="accent1"/>
          </a:solidFill>
          <a:ln w="9525">
            <a:solidFill>
              <a:schemeClr val="tx1"/>
            </a:solidFill>
            <a:miter lim="800000"/>
            <a:headEnd/>
            <a:tailEnd/>
          </a:ln>
          <a:effectLst/>
        </p:spPr>
        <p:txBody>
          <a:bodyPr wrap="none" anchor="ctr"/>
          <a:lstStyle/>
          <a:p>
            <a:endParaRPr lang="en-US" dirty="0"/>
          </a:p>
        </p:txBody>
      </p:sp>
      <p:sp>
        <p:nvSpPr>
          <p:cNvPr id="1543181" name="Rectangle 13"/>
          <p:cNvSpPr>
            <a:spLocks noChangeArrowheads="1"/>
          </p:cNvSpPr>
          <p:nvPr/>
        </p:nvSpPr>
        <p:spPr bwMode="auto">
          <a:xfrm>
            <a:off x="2057400" y="2716236"/>
            <a:ext cx="228600" cy="228600"/>
          </a:xfrm>
          <a:prstGeom prst="rect">
            <a:avLst/>
          </a:prstGeom>
          <a:solidFill>
            <a:schemeClr val="accent1"/>
          </a:solidFill>
          <a:ln w="9525">
            <a:solidFill>
              <a:schemeClr val="tx1"/>
            </a:solidFill>
            <a:miter lim="800000"/>
            <a:headEnd/>
            <a:tailEnd/>
          </a:ln>
          <a:effectLst/>
        </p:spPr>
        <p:txBody>
          <a:bodyPr wrap="none" anchor="ctr"/>
          <a:lstStyle/>
          <a:p>
            <a:endParaRPr lang="en-US" dirty="0"/>
          </a:p>
        </p:txBody>
      </p:sp>
      <p:grpSp>
        <p:nvGrpSpPr>
          <p:cNvPr id="2" name="Group 14"/>
          <p:cNvGrpSpPr>
            <a:grpSpLocks/>
          </p:cNvGrpSpPr>
          <p:nvPr/>
        </p:nvGrpSpPr>
        <p:grpSpPr bwMode="auto">
          <a:xfrm>
            <a:off x="762000" y="3554436"/>
            <a:ext cx="1752600" cy="1447800"/>
            <a:chOff x="480" y="1872"/>
            <a:chExt cx="1104" cy="912"/>
          </a:xfrm>
        </p:grpSpPr>
        <p:grpSp>
          <p:nvGrpSpPr>
            <p:cNvPr id="3" name="Group 15"/>
            <p:cNvGrpSpPr>
              <a:grpSpLocks/>
            </p:cNvGrpSpPr>
            <p:nvPr/>
          </p:nvGrpSpPr>
          <p:grpSpPr bwMode="auto">
            <a:xfrm>
              <a:off x="480" y="1872"/>
              <a:ext cx="1104" cy="912"/>
              <a:chOff x="528" y="1680"/>
              <a:chExt cx="672" cy="552"/>
            </a:xfrm>
          </p:grpSpPr>
          <p:sp>
            <p:nvSpPr>
              <p:cNvPr id="1543184" name="Rectangle 16"/>
              <p:cNvSpPr>
                <a:spLocks noChangeArrowheads="1"/>
              </p:cNvSpPr>
              <p:nvPr/>
            </p:nvSpPr>
            <p:spPr bwMode="auto">
              <a:xfrm>
                <a:off x="528" y="1728"/>
                <a:ext cx="144" cy="144"/>
              </a:xfrm>
              <a:prstGeom prst="rect">
                <a:avLst/>
              </a:prstGeom>
              <a:solidFill>
                <a:schemeClr val="folHlink"/>
              </a:solidFill>
              <a:ln w="9525">
                <a:solidFill>
                  <a:schemeClr val="tx1"/>
                </a:solidFill>
                <a:miter lim="800000"/>
                <a:headEnd/>
                <a:tailEnd/>
              </a:ln>
              <a:effectLst/>
            </p:spPr>
            <p:txBody>
              <a:bodyPr wrap="none" anchor="ctr"/>
              <a:lstStyle/>
              <a:p>
                <a:endParaRPr lang="en-US" dirty="0"/>
              </a:p>
            </p:txBody>
          </p:sp>
          <p:sp>
            <p:nvSpPr>
              <p:cNvPr id="1543185" name="Rectangle 17"/>
              <p:cNvSpPr>
                <a:spLocks noChangeArrowheads="1"/>
              </p:cNvSpPr>
              <p:nvPr/>
            </p:nvSpPr>
            <p:spPr bwMode="auto">
              <a:xfrm>
                <a:off x="720" y="1872"/>
                <a:ext cx="144" cy="144"/>
              </a:xfrm>
              <a:prstGeom prst="rect">
                <a:avLst/>
              </a:prstGeom>
              <a:solidFill>
                <a:schemeClr val="folHlink"/>
              </a:solidFill>
              <a:ln w="9525">
                <a:solidFill>
                  <a:schemeClr val="tx1"/>
                </a:solidFill>
                <a:miter lim="800000"/>
                <a:headEnd/>
                <a:tailEnd/>
              </a:ln>
              <a:effectLst/>
            </p:spPr>
            <p:txBody>
              <a:bodyPr wrap="none" anchor="ctr"/>
              <a:lstStyle/>
              <a:p>
                <a:endParaRPr lang="en-US" dirty="0"/>
              </a:p>
            </p:txBody>
          </p:sp>
          <p:sp>
            <p:nvSpPr>
              <p:cNvPr id="1543186" name="Rectangle 18"/>
              <p:cNvSpPr>
                <a:spLocks noChangeArrowheads="1"/>
              </p:cNvSpPr>
              <p:nvPr/>
            </p:nvSpPr>
            <p:spPr bwMode="auto">
              <a:xfrm>
                <a:off x="864" y="1680"/>
                <a:ext cx="144" cy="144"/>
              </a:xfrm>
              <a:prstGeom prst="rect">
                <a:avLst/>
              </a:prstGeom>
              <a:solidFill>
                <a:schemeClr val="folHlink"/>
              </a:solidFill>
              <a:ln w="9525">
                <a:solidFill>
                  <a:schemeClr val="tx1"/>
                </a:solidFill>
                <a:miter lim="800000"/>
                <a:headEnd/>
                <a:tailEnd/>
              </a:ln>
              <a:effectLst/>
            </p:spPr>
            <p:txBody>
              <a:bodyPr wrap="none" anchor="ctr"/>
              <a:lstStyle/>
              <a:p>
                <a:endParaRPr lang="en-US" dirty="0"/>
              </a:p>
            </p:txBody>
          </p:sp>
          <p:sp>
            <p:nvSpPr>
              <p:cNvPr id="1543187" name="Rectangle 19"/>
              <p:cNvSpPr>
                <a:spLocks noChangeArrowheads="1"/>
              </p:cNvSpPr>
              <p:nvPr/>
            </p:nvSpPr>
            <p:spPr bwMode="auto">
              <a:xfrm>
                <a:off x="1056" y="1872"/>
                <a:ext cx="144" cy="144"/>
              </a:xfrm>
              <a:prstGeom prst="rect">
                <a:avLst/>
              </a:prstGeom>
              <a:solidFill>
                <a:schemeClr val="folHlink"/>
              </a:solidFill>
              <a:ln w="9525">
                <a:solidFill>
                  <a:schemeClr val="tx1"/>
                </a:solidFill>
                <a:miter lim="800000"/>
                <a:headEnd/>
                <a:tailEnd/>
              </a:ln>
              <a:effectLst/>
            </p:spPr>
            <p:txBody>
              <a:bodyPr wrap="none" anchor="ctr"/>
              <a:lstStyle/>
              <a:p>
                <a:endParaRPr lang="en-US" dirty="0"/>
              </a:p>
            </p:txBody>
          </p:sp>
          <p:sp>
            <p:nvSpPr>
              <p:cNvPr id="1543188" name="Rectangle 20"/>
              <p:cNvSpPr>
                <a:spLocks noChangeArrowheads="1"/>
              </p:cNvSpPr>
              <p:nvPr/>
            </p:nvSpPr>
            <p:spPr bwMode="auto">
              <a:xfrm>
                <a:off x="864" y="2088"/>
                <a:ext cx="144" cy="144"/>
              </a:xfrm>
              <a:prstGeom prst="rect">
                <a:avLst/>
              </a:prstGeom>
              <a:solidFill>
                <a:schemeClr val="folHlink"/>
              </a:solidFill>
              <a:ln w="9525">
                <a:solidFill>
                  <a:schemeClr val="tx1"/>
                </a:solidFill>
                <a:miter lim="800000"/>
                <a:headEnd/>
                <a:tailEnd/>
              </a:ln>
              <a:effectLst/>
            </p:spPr>
            <p:txBody>
              <a:bodyPr wrap="none" anchor="ctr"/>
              <a:lstStyle/>
              <a:p>
                <a:endParaRPr lang="en-US" dirty="0"/>
              </a:p>
            </p:txBody>
          </p:sp>
          <p:sp>
            <p:nvSpPr>
              <p:cNvPr id="1543189" name="Rectangle 21"/>
              <p:cNvSpPr>
                <a:spLocks noChangeArrowheads="1"/>
              </p:cNvSpPr>
              <p:nvPr/>
            </p:nvSpPr>
            <p:spPr bwMode="auto">
              <a:xfrm>
                <a:off x="528" y="2088"/>
                <a:ext cx="144" cy="144"/>
              </a:xfrm>
              <a:prstGeom prst="rect">
                <a:avLst/>
              </a:prstGeom>
              <a:solidFill>
                <a:schemeClr val="folHlink"/>
              </a:solidFill>
              <a:ln w="9525">
                <a:solidFill>
                  <a:schemeClr val="tx1"/>
                </a:solidFill>
                <a:miter lim="800000"/>
                <a:headEnd/>
                <a:tailEnd/>
              </a:ln>
              <a:effectLst/>
            </p:spPr>
            <p:txBody>
              <a:bodyPr wrap="none" anchor="ctr"/>
              <a:lstStyle/>
              <a:p>
                <a:endParaRPr lang="en-US" dirty="0"/>
              </a:p>
            </p:txBody>
          </p:sp>
          <p:cxnSp>
            <p:nvCxnSpPr>
              <p:cNvPr id="1543190" name="AutoShape 22"/>
              <p:cNvCxnSpPr>
                <a:cxnSpLocks noChangeShapeType="1"/>
                <a:stCxn id="1543185" idx="1"/>
                <a:endCxn id="1543189" idx="0"/>
              </p:cNvCxnSpPr>
              <p:nvPr/>
            </p:nvCxnSpPr>
            <p:spPr bwMode="auto">
              <a:xfrm rot="10800000" flipV="1">
                <a:off x="600" y="1944"/>
                <a:ext cx="120" cy="144"/>
              </a:xfrm>
              <a:prstGeom prst="bentConnector2">
                <a:avLst/>
              </a:prstGeom>
              <a:noFill/>
              <a:ln w="9525">
                <a:solidFill>
                  <a:schemeClr val="tx1"/>
                </a:solidFill>
                <a:miter lim="800000"/>
                <a:headEnd/>
                <a:tailEnd/>
              </a:ln>
              <a:effectLst/>
            </p:spPr>
          </p:cxnSp>
          <p:cxnSp>
            <p:nvCxnSpPr>
              <p:cNvPr id="1543191" name="AutoShape 23"/>
              <p:cNvCxnSpPr>
                <a:cxnSpLocks noChangeShapeType="1"/>
                <a:stCxn id="1543185" idx="0"/>
                <a:endCxn id="1543186" idx="1"/>
              </p:cNvCxnSpPr>
              <p:nvPr/>
            </p:nvCxnSpPr>
            <p:spPr bwMode="auto">
              <a:xfrm rot="16200000">
                <a:off x="768" y="1776"/>
                <a:ext cx="120" cy="72"/>
              </a:xfrm>
              <a:prstGeom prst="bentConnector2">
                <a:avLst/>
              </a:prstGeom>
              <a:noFill/>
              <a:ln w="9525">
                <a:solidFill>
                  <a:schemeClr val="tx1"/>
                </a:solidFill>
                <a:miter lim="800000"/>
                <a:headEnd/>
                <a:tailEnd/>
              </a:ln>
              <a:effectLst/>
            </p:spPr>
          </p:cxnSp>
          <p:cxnSp>
            <p:nvCxnSpPr>
              <p:cNvPr id="1543192" name="AutoShape 24"/>
              <p:cNvCxnSpPr>
                <a:cxnSpLocks noChangeShapeType="1"/>
                <a:stCxn id="1543185" idx="3"/>
                <a:endCxn id="1543187" idx="1"/>
              </p:cNvCxnSpPr>
              <p:nvPr/>
            </p:nvCxnSpPr>
            <p:spPr bwMode="auto">
              <a:xfrm>
                <a:off x="864" y="1944"/>
                <a:ext cx="192" cy="0"/>
              </a:xfrm>
              <a:prstGeom prst="straightConnector1">
                <a:avLst/>
              </a:prstGeom>
              <a:noFill/>
              <a:ln w="9525">
                <a:solidFill>
                  <a:schemeClr val="tx1"/>
                </a:solidFill>
                <a:round/>
                <a:headEnd/>
                <a:tailEnd/>
              </a:ln>
              <a:effectLst/>
            </p:spPr>
          </p:cxnSp>
          <p:cxnSp>
            <p:nvCxnSpPr>
              <p:cNvPr id="1543193" name="AutoShape 25"/>
              <p:cNvCxnSpPr>
                <a:cxnSpLocks noChangeShapeType="1"/>
                <a:stCxn id="1543187" idx="2"/>
                <a:endCxn id="1543188" idx="3"/>
              </p:cNvCxnSpPr>
              <p:nvPr/>
            </p:nvCxnSpPr>
            <p:spPr bwMode="auto">
              <a:xfrm rot="5400000">
                <a:off x="996" y="2028"/>
                <a:ext cx="144" cy="120"/>
              </a:xfrm>
              <a:prstGeom prst="bentConnector2">
                <a:avLst/>
              </a:prstGeom>
              <a:noFill/>
              <a:ln w="9525">
                <a:solidFill>
                  <a:schemeClr val="tx1"/>
                </a:solidFill>
                <a:miter lim="800000"/>
                <a:headEnd/>
                <a:tailEnd/>
              </a:ln>
              <a:effectLst/>
            </p:spPr>
          </p:cxnSp>
          <p:cxnSp>
            <p:nvCxnSpPr>
              <p:cNvPr id="1543194" name="AutoShape 26"/>
              <p:cNvCxnSpPr>
                <a:cxnSpLocks noChangeShapeType="1"/>
                <a:stCxn id="1543184" idx="1"/>
                <a:endCxn id="1543189" idx="1"/>
              </p:cNvCxnSpPr>
              <p:nvPr/>
            </p:nvCxnSpPr>
            <p:spPr bwMode="auto">
              <a:xfrm rot="10800000" flipH="1" flipV="1">
                <a:off x="528" y="1800"/>
                <a:ext cx="1" cy="360"/>
              </a:xfrm>
              <a:prstGeom prst="bentConnector3">
                <a:avLst>
                  <a:gd name="adj1" fmla="val -14400000"/>
                </a:avLst>
              </a:prstGeom>
              <a:noFill/>
              <a:ln w="9525">
                <a:solidFill>
                  <a:schemeClr val="tx1"/>
                </a:solidFill>
                <a:miter lim="800000"/>
                <a:headEnd/>
                <a:tailEnd/>
              </a:ln>
              <a:effectLst/>
            </p:spPr>
          </p:cxnSp>
        </p:grpSp>
        <p:sp>
          <p:nvSpPr>
            <p:cNvPr id="1543195" name="Oval 27"/>
            <p:cNvSpPr>
              <a:spLocks noChangeArrowheads="1"/>
            </p:cNvSpPr>
            <p:nvPr/>
          </p:nvSpPr>
          <p:spPr bwMode="auto">
            <a:xfrm>
              <a:off x="528" y="2064"/>
              <a:ext cx="96" cy="96"/>
            </a:xfrm>
            <a:prstGeom prst="ellipse">
              <a:avLst/>
            </a:prstGeom>
            <a:gradFill rotWithShape="0">
              <a:gsLst>
                <a:gs pos="0">
                  <a:srgbClr val="FFFFFF"/>
                </a:gs>
                <a:gs pos="100000">
                  <a:schemeClr val="hlink"/>
                </a:gs>
              </a:gsLst>
              <a:path path="shape">
                <a:fillToRect l="50000" t="50000" r="50000" b="50000"/>
              </a:path>
            </a:gradFill>
            <a:ln w="9525">
              <a:noFill/>
              <a:round/>
              <a:headEnd/>
              <a:tailEnd/>
            </a:ln>
            <a:effectLst/>
          </p:spPr>
          <p:txBody>
            <a:bodyPr wrap="none" anchor="ctr"/>
            <a:lstStyle/>
            <a:p>
              <a:endParaRPr lang="en-US" dirty="0"/>
            </a:p>
          </p:txBody>
        </p:sp>
        <p:sp>
          <p:nvSpPr>
            <p:cNvPr id="1543196" name="Oval 28"/>
            <p:cNvSpPr>
              <a:spLocks noChangeArrowheads="1"/>
            </p:cNvSpPr>
            <p:nvPr/>
          </p:nvSpPr>
          <p:spPr bwMode="auto">
            <a:xfrm>
              <a:off x="624" y="1968"/>
              <a:ext cx="96" cy="96"/>
            </a:xfrm>
            <a:prstGeom prst="ellipse">
              <a:avLst/>
            </a:prstGeom>
            <a:gradFill rotWithShape="0">
              <a:gsLst>
                <a:gs pos="0">
                  <a:srgbClr val="FFFFFF"/>
                </a:gs>
                <a:gs pos="100000">
                  <a:schemeClr val="hlink"/>
                </a:gs>
              </a:gsLst>
              <a:path path="shape">
                <a:fillToRect l="50000" t="50000" r="50000" b="50000"/>
              </a:path>
            </a:gradFill>
            <a:ln w="9525">
              <a:noFill/>
              <a:round/>
              <a:headEnd/>
              <a:tailEnd/>
            </a:ln>
            <a:effectLst/>
          </p:spPr>
          <p:txBody>
            <a:bodyPr wrap="none" anchor="ctr"/>
            <a:lstStyle/>
            <a:p>
              <a:endParaRPr lang="en-US" dirty="0"/>
            </a:p>
          </p:txBody>
        </p:sp>
        <p:sp>
          <p:nvSpPr>
            <p:cNvPr id="1543197" name="Oval 29"/>
            <p:cNvSpPr>
              <a:spLocks noChangeArrowheads="1"/>
            </p:cNvSpPr>
            <p:nvPr/>
          </p:nvSpPr>
          <p:spPr bwMode="auto">
            <a:xfrm>
              <a:off x="816" y="2256"/>
              <a:ext cx="96" cy="96"/>
            </a:xfrm>
            <a:prstGeom prst="ellipse">
              <a:avLst/>
            </a:prstGeom>
            <a:gradFill rotWithShape="0">
              <a:gsLst>
                <a:gs pos="0">
                  <a:srgbClr val="FFFFFF"/>
                </a:gs>
                <a:gs pos="100000">
                  <a:schemeClr val="hlink"/>
                </a:gs>
              </a:gsLst>
              <a:path path="shape">
                <a:fillToRect l="50000" t="50000" r="50000" b="50000"/>
              </a:path>
            </a:gradFill>
            <a:ln w="9525">
              <a:noFill/>
              <a:round/>
              <a:headEnd/>
              <a:tailEnd/>
            </a:ln>
            <a:effectLst/>
          </p:spPr>
          <p:txBody>
            <a:bodyPr wrap="none" anchor="ctr"/>
            <a:lstStyle/>
            <a:p>
              <a:endParaRPr lang="en-US" dirty="0"/>
            </a:p>
          </p:txBody>
        </p:sp>
        <p:sp>
          <p:nvSpPr>
            <p:cNvPr id="1543198" name="Oval 30"/>
            <p:cNvSpPr>
              <a:spLocks noChangeArrowheads="1"/>
            </p:cNvSpPr>
            <p:nvPr/>
          </p:nvSpPr>
          <p:spPr bwMode="auto">
            <a:xfrm>
              <a:off x="1152" y="1920"/>
              <a:ext cx="96" cy="96"/>
            </a:xfrm>
            <a:prstGeom prst="ellipse">
              <a:avLst/>
            </a:prstGeom>
            <a:gradFill rotWithShape="0">
              <a:gsLst>
                <a:gs pos="0">
                  <a:srgbClr val="FFFFFF"/>
                </a:gs>
                <a:gs pos="100000">
                  <a:schemeClr val="hlink"/>
                </a:gs>
              </a:gsLst>
              <a:path path="shape">
                <a:fillToRect l="50000" t="50000" r="50000" b="50000"/>
              </a:path>
            </a:gradFill>
            <a:ln w="9525">
              <a:noFill/>
              <a:round/>
              <a:headEnd/>
              <a:tailEnd/>
            </a:ln>
            <a:effectLst/>
          </p:spPr>
          <p:txBody>
            <a:bodyPr wrap="none" anchor="ctr"/>
            <a:lstStyle/>
            <a:p>
              <a:endParaRPr lang="en-US" dirty="0"/>
            </a:p>
          </p:txBody>
        </p:sp>
        <p:sp>
          <p:nvSpPr>
            <p:cNvPr id="1543199" name="Oval 31"/>
            <p:cNvSpPr>
              <a:spLocks noChangeArrowheads="1"/>
            </p:cNvSpPr>
            <p:nvPr/>
          </p:nvSpPr>
          <p:spPr bwMode="auto">
            <a:xfrm>
              <a:off x="1056" y="2016"/>
              <a:ext cx="96" cy="96"/>
            </a:xfrm>
            <a:prstGeom prst="ellipse">
              <a:avLst/>
            </a:prstGeom>
            <a:gradFill rotWithShape="0">
              <a:gsLst>
                <a:gs pos="0">
                  <a:srgbClr val="FFFFFF"/>
                </a:gs>
                <a:gs pos="100000">
                  <a:schemeClr val="hlink"/>
                </a:gs>
              </a:gsLst>
              <a:path path="shape">
                <a:fillToRect l="50000" t="50000" r="50000" b="50000"/>
              </a:path>
            </a:gradFill>
            <a:ln w="9525">
              <a:noFill/>
              <a:round/>
              <a:headEnd/>
              <a:tailEnd/>
            </a:ln>
            <a:effectLst/>
          </p:spPr>
          <p:txBody>
            <a:bodyPr wrap="none" anchor="ctr"/>
            <a:lstStyle/>
            <a:p>
              <a:endParaRPr lang="en-US" dirty="0"/>
            </a:p>
          </p:txBody>
        </p:sp>
        <p:sp>
          <p:nvSpPr>
            <p:cNvPr id="1543200" name="Oval 32"/>
            <p:cNvSpPr>
              <a:spLocks noChangeArrowheads="1"/>
            </p:cNvSpPr>
            <p:nvPr/>
          </p:nvSpPr>
          <p:spPr bwMode="auto">
            <a:xfrm>
              <a:off x="624" y="2688"/>
              <a:ext cx="96" cy="96"/>
            </a:xfrm>
            <a:prstGeom prst="ellipse">
              <a:avLst/>
            </a:prstGeom>
            <a:gradFill rotWithShape="0">
              <a:gsLst>
                <a:gs pos="0">
                  <a:srgbClr val="FFFFFF"/>
                </a:gs>
                <a:gs pos="100000">
                  <a:schemeClr val="hlink"/>
                </a:gs>
              </a:gsLst>
              <a:path path="shape">
                <a:fillToRect l="50000" t="50000" r="50000" b="50000"/>
              </a:path>
            </a:gradFill>
            <a:ln w="9525">
              <a:noFill/>
              <a:round/>
              <a:headEnd/>
              <a:tailEnd/>
            </a:ln>
            <a:effectLst/>
          </p:spPr>
          <p:txBody>
            <a:bodyPr wrap="none" anchor="ctr"/>
            <a:lstStyle/>
            <a:p>
              <a:endParaRPr lang="en-US" dirty="0"/>
            </a:p>
          </p:txBody>
        </p:sp>
        <p:sp>
          <p:nvSpPr>
            <p:cNvPr id="1543201" name="Oval 33"/>
            <p:cNvSpPr>
              <a:spLocks noChangeArrowheads="1"/>
            </p:cNvSpPr>
            <p:nvPr/>
          </p:nvSpPr>
          <p:spPr bwMode="auto">
            <a:xfrm>
              <a:off x="528" y="2592"/>
              <a:ext cx="96" cy="96"/>
            </a:xfrm>
            <a:prstGeom prst="ellipse">
              <a:avLst/>
            </a:prstGeom>
            <a:gradFill rotWithShape="0">
              <a:gsLst>
                <a:gs pos="0">
                  <a:srgbClr val="FFFFFF"/>
                </a:gs>
                <a:gs pos="100000">
                  <a:schemeClr val="hlink"/>
                </a:gs>
              </a:gsLst>
              <a:path path="shape">
                <a:fillToRect l="50000" t="50000" r="50000" b="50000"/>
              </a:path>
            </a:gradFill>
            <a:ln w="9525">
              <a:noFill/>
              <a:round/>
              <a:headEnd/>
              <a:tailEnd/>
            </a:ln>
            <a:effectLst/>
          </p:spPr>
          <p:txBody>
            <a:bodyPr wrap="none" anchor="ctr"/>
            <a:lstStyle/>
            <a:p>
              <a:endParaRPr lang="en-US" dirty="0"/>
            </a:p>
          </p:txBody>
        </p:sp>
        <p:sp>
          <p:nvSpPr>
            <p:cNvPr id="1543202" name="Oval 34"/>
            <p:cNvSpPr>
              <a:spLocks noChangeArrowheads="1"/>
            </p:cNvSpPr>
            <p:nvPr/>
          </p:nvSpPr>
          <p:spPr bwMode="auto">
            <a:xfrm>
              <a:off x="1392" y="2208"/>
              <a:ext cx="96" cy="96"/>
            </a:xfrm>
            <a:prstGeom prst="ellipse">
              <a:avLst/>
            </a:prstGeom>
            <a:gradFill rotWithShape="0">
              <a:gsLst>
                <a:gs pos="0">
                  <a:srgbClr val="FFFFFF"/>
                </a:gs>
                <a:gs pos="100000">
                  <a:schemeClr val="hlink"/>
                </a:gs>
              </a:gsLst>
              <a:path path="shape">
                <a:fillToRect l="50000" t="50000" r="50000" b="50000"/>
              </a:path>
            </a:gradFill>
            <a:ln w="9525">
              <a:noFill/>
              <a:round/>
              <a:headEnd/>
              <a:tailEnd/>
            </a:ln>
            <a:effectLst/>
          </p:spPr>
          <p:txBody>
            <a:bodyPr wrap="none" anchor="ctr"/>
            <a:lstStyle/>
            <a:p>
              <a:endParaRPr lang="en-US" dirty="0"/>
            </a:p>
          </p:txBody>
        </p:sp>
        <p:sp>
          <p:nvSpPr>
            <p:cNvPr id="1543203" name="Oval 35"/>
            <p:cNvSpPr>
              <a:spLocks noChangeArrowheads="1"/>
            </p:cNvSpPr>
            <p:nvPr/>
          </p:nvSpPr>
          <p:spPr bwMode="auto">
            <a:xfrm>
              <a:off x="1104" y="2640"/>
              <a:ext cx="96" cy="96"/>
            </a:xfrm>
            <a:prstGeom prst="ellipse">
              <a:avLst/>
            </a:prstGeom>
            <a:gradFill rotWithShape="0">
              <a:gsLst>
                <a:gs pos="0">
                  <a:srgbClr val="FFFFFF"/>
                </a:gs>
                <a:gs pos="100000">
                  <a:schemeClr val="hlink"/>
                </a:gs>
              </a:gsLst>
              <a:path path="shape">
                <a:fillToRect l="50000" t="50000" r="50000" b="50000"/>
              </a:path>
            </a:gradFill>
            <a:ln w="9525">
              <a:noFill/>
              <a:round/>
              <a:headEnd/>
              <a:tailEnd/>
            </a:ln>
            <a:effectLst/>
          </p:spPr>
          <p:txBody>
            <a:bodyPr wrap="none" anchor="ctr"/>
            <a:lstStyle/>
            <a:p>
              <a:endParaRPr lang="en-US" dirty="0"/>
            </a:p>
          </p:txBody>
        </p:sp>
      </p:grpSp>
      <p:sp>
        <p:nvSpPr>
          <p:cNvPr id="1543204" name="Rectangle 36"/>
          <p:cNvSpPr>
            <a:spLocks noChangeArrowheads="1"/>
          </p:cNvSpPr>
          <p:nvPr/>
        </p:nvSpPr>
        <p:spPr bwMode="auto">
          <a:xfrm>
            <a:off x="3429000" y="2640036"/>
            <a:ext cx="2057400" cy="381000"/>
          </a:xfrm>
          <a:prstGeom prst="rect">
            <a:avLst/>
          </a:prstGeom>
          <a:solidFill>
            <a:schemeClr val="bg1"/>
          </a:solidFill>
          <a:ln w="9525">
            <a:solidFill>
              <a:schemeClr val="tx1"/>
            </a:solidFill>
            <a:miter lim="800000"/>
            <a:headEnd/>
            <a:tailEnd/>
          </a:ln>
          <a:effectLst/>
        </p:spPr>
        <p:txBody>
          <a:bodyPr wrap="none" anchor="ctr"/>
          <a:lstStyle/>
          <a:p>
            <a:endParaRPr lang="en-US" dirty="0"/>
          </a:p>
        </p:txBody>
      </p:sp>
      <p:sp>
        <p:nvSpPr>
          <p:cNvPr id="1543205" name="Rectangle 37"/>
          <p:cNvSpPr>
            <a:spLocks noChangeArrowheads="1"/>
          </p:cNvSpPr>
          <p:nvPr/>
        </p:nvSpPr>
        <p:spPr bwMode="auto">
          <a:xfrm>
            <a:off x="3733800" y="2716236"/>
            <a:ext cx="228600" cy="228600"/>
          </a:xfrm>
          <a:prstGeom prst="rect">
            <a:avLst/>
          </a:prstGeom>
          <a:solidFill>
            <a:schemeClr val="accent1"/>
          </a:solidFill>
          <a:ln w="9525">
            <a:solidFill>
              <a:schemeClr val="tx1"/>
            </a:solidFill>
            <a:miter lim="800000"/>
            <a:headEnd/>
            <a:tailEnd/>
          </a:ln>
          <a:effectLst/>
        </p:spPr>
        <p:txBody>
          <a:bodyPr wrap="none" anchor="ctr"/>
          <a:lstStyle/>
          <a:p>
            <a:endParaRPr lang="en-US" dirty="0"/>
          </a:p>
        </p:txBody>
      </p:sp>
      <p:sp>
        <p:nvSpPr>
          <p:cNvPr id="1543206" name="Rectangle 38"/>
          <p:cNvSpPr>
            <a:spLocks noChangeArrowheads="1"/>
          </p:cNvSpPr>
          <p:nvPr/>
        </p:nvSpPr>
        <p:spPr bwMode="auto">
          <a:xfrm>
            <a:off x="4038600" y="2716236"/>
            <a:ext cx="228600" cy="228600"/>
          </a:xfrm>
          <a:prstGeom prst="rect">
            <a:avLst/>
          </a:prstGeom>
          <a:solidFill>
            <a:schemeClr val="accent1"/>
          </a:solidFill>
          <a:ln w="9525">
            <a:solidFill>
              <a:schemeClr val="tx1"/>
            </a:solidFill>
            <a:miter lim="800000"/>
            <a:headEnd/>
            <a:tailEnd/>
          </a:ln>
          <a:effectLst/>
        </p:spPr>
        <p:txBody>
          <a:bodyPr wrap="none" anchor="ctr"/>
          <a:lstStyle/>
          <a:p>
            <a:endParaRPr lang="en-US" dirty="0"/>
          </a:p>
        </p:txBody>
      </p:sp>
      <p:sp>
        <p:nvSpPr>
          <p:cNvPr id="1543207" name="Rectangle 39"/>
          <p:cNvSpPr>
            <a:spLocks noChangeArrowheads="1"/>
          </p:cNvSpPr>
          <p:nvPr/>
        </p:nvSpPr>
        <p:spPr bwMode="auto">
          <a:xfrm>
            <a:off x="4343400" y="2716236"/>
            <a:ext cx="228600" cy="228600"/>
          </a:xfrm>
          <a:prstGeom prst="rect">
            <a:avLst/>
          </a:prstGeom>
          <a:solidFill>
            <a:schemeClr val="accent1"/>
          </a:solidFill>
          <a:ln w="9525">
            <a:solidFill>
              <a:schemeClr val="tx1"/>
            </a:solidFill>
            <a:miter lim="800000"/>
            <a:headEnd/>
            <a:tailEnd/>
          </a:ln>
          <a:effectLst/>
        </p:spPr>
        <p:txBody>
          <a:bodyPr wrap="none" anchor="ctr"/>
          <a:lstStyle/>
          <a:p>
            <a:endParaRPr lang="en-US" dirty="0"/>
          </a:p>
        </p:txBody>
      </p:sp>
      <p:sp>
        <p:nvSpPr>
          <p:cNvPr id="1543208" name="Rectangle 40"/>
          <p:cNvSpPr>
            <a:spLocks noChangeArrowheads="1"/>
          </p:cNvSpPr>
          <p:nvPr/>
        </p:nvSpPr>
        <p:spPr bwMode="auto">
          <a:xfrm>
            <a:off x="4648200" y="2716236"/>
            <a:ext cx="228600" cy="228600"/>
          </a:xfrm>
          <a:prstGeom prst="rect">
            <a:avLst/>
          </a:prstGeom>
          <a:solidFill>
            <a:schemeClr val="accent1"/>
          </a:solidFill>
          <a:ln w="9525">
            <a:solidFill>
              <a:schemeClr val="tx1"/>
            </a:solidFill>
            <a:miter lim="800000"/>
            <a:headEnd/>
            <a:tailEnd/>
          </a:ln>
          <a:effectLst/>
        </p:spPr>
        <p:txBody>
          <a:bodyPr wrap="none" anchor="ctr"/>
          <a:lstStyle/>
          <a:p>
            <a:endParaRPr lang="en-US" dirty="0"/>
          </a:p>
        </p:txBody>
      </p:sp>
      <p:sp>
        <p:nvSpPr>
          <p:cNvPr id="1543209" name="Rectangle 41"/>
          <p:cNvSpPr>
            <a:spLocks noChangeArrowheads="1"/>
          </p:cNvSpPr>
          <p:nvPr/>
        </p:nvSpPr>
        <p:spPr bwMode="auto">
          <a:xfrm>
            <a:off x="4953000" y="2716236"/>
            <a:ext cx="228600" cy="228600"/>
          </a:xfrm>
          <a:prstGeom prst="rect">
            <a:avLst/>
          </a:prstGeom>
          <a:solidFill>
            <a:schemeClr val="accent1"/>
          </a:solidFill>
          <a:ln w="9525">
            <a:solidFill>
              <a:schemeClr val="tx1"/>
            </a:solidFill>
            <a:miter lim="800000"/>
            <a:headEnd/>
            <a:tailEnd/>
          </a:ln>
          <a:effectLst/>
        </p:spPr>
        <p:txBody>
          <a:bodyPr wrap="none" anchor="ctr"/>
          <a:lstStyle/>
          <a:p>
            <a:endParaRPr lang="en-US" dirty="0"/>
          </a:p>
        </p:txBody>
      </p:sp>
      <p:grpSp>
        <p:nvGrpSpPr>
          <p:cNvPr id="4" name="Group 42"/>
          <p:cNvGrpSpPr>
            <a:grpSpLocks/>
          </p:cNvGrpSpPr>
          <p:nvPr/>
        </p:nvGrpSpPr>
        <p:grpSpPr bwMode="auto">
          <a:xfrm>
            <a:off x="3657600" y="3554436"/>
            <a:ext cx="1752600" cy="1447800"/>
            <a:chOff x="480" y="1872"/>
            <a:chExt cx="1104" cy="912"/>
          </a:xfrm>
        </p:grpSpPr>
        <p:grpSp>
          <p:nvGrpSpPr>
            <p:cNvPr id="5" name="Group 43"/>
            <p:cNvGrpSpPr>
              <a:grpSpLocks/>
            </p:cNvGrpSpPr>
            <p:nvPr/>
          </p:nvGrpSpPr>
          <p:grpSpPr bwMode="auto">
            <a:xfrm>
              <a:off x="480" y="1872"/>
              <a:ext cx="1104" cy="912"/>
              <a:chOff x="528" y="1680"/>
              <a:chExt cx="672" cy="552"/>
            </a:xfrm>
          </p:grpSpPr>
          <p:sp>
            <p:nvSpPr>
              <p:cNvPr id="1543212" name="Rectangle 44"/>
              <p:cNvSpPr>
                <a:spLocks noChangeArrowheads="1"/>
              </p:cNvSpPr>
              <p:nvPr/>
            </p:nvSpPr>
            <p:spPr bwMode="auto">
              <a:xfrm>
                <a:off x="528" y="1728"/>
                <a:ext cx="144" cy="144"/>
              </a:xfrm>
              <a:prstGeom prst="rect">
                <a:avLst/>
              </a:prstGeom>
              <a:solidFill>
                <a:schemeClr val="folHlink"/>
              </a:solidFill>
              <a:ln w="9525">
                <a:solidFill>
                  <a:schemeClr val="tx1"/>
                </a:solidFill>
                <a:miter lim="800000"/>
                <a:headEnd/>
                <a:tailEnd/>
              </a:ln>
              <a:effectLst/>
            </p:spPr>
            <p:txBody>
              <a:bodyPr wrap="none" anchor="ctr"/>
              <a:lstStyle/>
              <a:p>
                <a:endParaRPr lang="en-US" dirty="0"/>
              </a:p>
            </p:txBody>
          </p:sp>
          <p:sp>
            <p:nvSpPr>
              <p:cNvPr id="1543213" name="Rectangle 45"/>
              <p:cNvSpPr>
                <a:spLocks noChangeArrowheads="1"/>
              </p:cNvSpPr>
              <p:nvPr/>
            </p:nvSpPr>
            <p:spPr bwMode="auto">
              <a:xfrm>
                <a:off x="720" y="1872"/>
                <a:ext cx="144" cy="144"/>
              </a:xfrm>
              <a:prstGeom prst="rect">
                <a:avLst/>
              </a:prstGeom>
              <a:solidFill>
                <a:schemeClr val="folHlink"/>
              </a:solidFill>
              <a:ln w="9525">
                <a:solidFill>
                  <a:schemeClr val="tx1"/>
                </a:solidFill>
                <a:miter lim="800000"/>
                <a:headEnd/>
                <a:tailEnd/>
              </a:ln>
              <a:effectLst/>
            </p:spPr>
            <p:txBody>
              <a:bodyPr wrap="none" anchor="ctr"/>
              <a:lstStyle/>
              <a:p>
                <a:endParaRPr lang="en-US" dirty="0"/>
              </a:p>
            </p:txBody>
          </p:sp>
          <p:sp>
            <p:nvSpPr>
              <p:cNvPr id="1543214" name="Rectangle 46"/>
              <p:cNvSpPr>
                <a:spLocks noChangeArrowheads="1"/>
              </p:cNvSpPr>
              <p:nvPr/>
            </p:nvSpPr>
            <p:spPr bwMode="auto">
              <a:xfrm>
                <a:off x="864" y="1680"/>
                <a:ext cx="144" cy="144"/>
              </a:xfrm>
              <a:prstGeom prst="rect">
                <a:avLst/>
              </a:prstGeom>
              <a:solidFill>
                <a:schemeClr val="folHlink"/>
              </a:solidFill>
              <a:ln w="9525">
                <a:solidFill>
                  <a:schemeClr val="tx1"/>
                </a:solidFill>
                <a:miter lim="800000"/>
                <a:headEnd/>
                <a:tailEnd/>
              </a:ln>
              <a:effectLst/>
            </p:spPr>
            <p:txBody>
              <a:bodyPr wrap="none" anchor="ctr"/>
              <a:lstStyle/>
              <a:p>
                <a:endParaRPr lang="en-US" dirty="0"/>
              </a:p>
            </p:txBody>
          </p:sp>
          <p:sp>
            <p:nvSpPr>
              <p:cNvPr id="1543215" name="Rectangle 47"/>
              <p:cNvSpPr>
                <a:spLocks noChangeArrowheads="1"/>
              </p:cNvSpPr>
              <p:nvPr/>
            </p:nvSpPr>
            <p:spPr bwMode="auto">
              <a:xfrm>
                <a:off x="1056" y="1872"/>
                <a:ext cx="144" cy="144"/>
              </a:xfrm>
              <a:prstGeom prst="rect">
                <a:avLst/>
              </a:prstGeom>
              <a:solidFill>
                <a:schemeClr val="folHlink"/>
              </a:solidFill>
              <a:ln w="9525">
                <a:solidFill>
                  <a:schemeClr val="tx1"/>
                </a:solidFill>
                <a:miter lim="800000"/>
                <a:headEnd/>
                <a:tailEnd/>
              </a:ln>
              <a:effectLst/>
            </p:spPr>
            <p:txBody>
              <a:bodyPr wrap="none" anchor="ctr"/>
              <a:lstStyle/>
              <a:p>
                <a:endParaRPr lang="en-US" dirty="0"/>
              </a:p>
            </p:txBody>
          </p:sp>
          <p:sp>
            <p:nvSpPr>
              <p:cNvPr id="1543216" name="Rectangle 48"/>
              <p:cNvSpPr>
                <a:spLocks noChangeArrowheads="1"/>
              </p:cNvSpPr>
              <p:nvPr/>
            </p:nvSpPr>
            <p:spPr bwMode="auto">
              <a:xfrm>
                <a:off x="864" y="2088"/>
                <a:ext cx="144" cy="144"/>
              </a:xfrm>
              <a:prstGeom prst="rect">
                <a:avLst/>
              </a:prstGeom>
              <a:solidFill>
                <a:schemeClr val="folHlink"/>
              </a:solidFill>
              <a:ln w="9525">
                <a:solidFill>
                  <a:schemeClr val="tx1"/>
                </a:solidFill>
                <a:miter lim="800000"/>
                <a:headEnd/>
                <a:tailEnd/>
              </a:ln>
              <a:effectLst/>
            </p:spPr>
            <p:txBody>
              <a:bodyPr wrap="none" anchor="ctr"/>
              <a:lstStyle/>
              <a:p>
                <a:endParaRPr lang="en-US" dirty="0"/>
              </a:p>
            </p:txBody>
          </p:sp>
          <p:sp>
            <p:nvSpPr>
              <p:cNvPr id="1543217" name="Rectangle 49"/>
              <p:cNvSpPr>
                <a:spLocks noChangeArrowheads="1"/>
              </p:cNvSpPr>
              <p:nvPr/>
            </p:nvSpPr>
            <p:spPr bwMode="auto">
              <a:xfrm>
                <a:off x="528" y="2088"/>
                <a:ext cx="144" cy="144"/>
              </a:xfrm>
              <a:prstGeom prst="rect">
                <a:avLst/>
              </a:prstGeom>
              <a:solidFill>
                <a:schemeClr val="folHlink"/>
              </a:solidFill>
              <a:ln w="9525">
                <a:solidFill>
                  <a:schemeClr val="tx1"/>
                </a:solidFill>
                <a:miter lim="800000"/>
                <a:headEnd/>
                <a:tailEnd/>
              </a:ln>
              <a:effectLst/>
            </p:spPr>
            <p:txBody>
              <a:bodyPr wrap="none" anchor="ctr"/>
              <a:lstStyle/>
              <a:p>
                <a:endParaRPr lang="en-US" dirty="0"/>
              </a:p>
            </p:txBody>
          </p:sp>
          <p:cxnSp>
            <p:nvCxnSpPr>
              <p:cNvPr id="1543218" name="AutoShape 50"/>
              <p:cNvCxnSpPr>
                <a:cxnSpLocks noChangeShapeType="1"/>
                <a:stCxn id="1543213" idx="1"/>
                <a:endCxn id="1543217" idx="0"/>
              </p:cNvCxnSpPr>
              <p:nvPr/>
            </p:nvCxnSpPr>
            <p:spPr bwMode="auto">
              <a:xfrm rot="10800000" flipV="1">
                <a:off x="600" y="1944"/>
                <a:ext cx="120" cy="144"/>
              </a:xfrm>
              <a:prstGeom prst="bentConnector2">
                <a:avLst/>
              </a:prstGeom>
              <a:noFill/>
              <a:ln w="9525">
                <a:solidFill>
                  <a:schemeClr val="tx1"/>
                </a:solidFill>
                <a:miter lim="800000"/>
                <a:headEnd/>
                <a:tailEnd/>
              </a:ln>
              <a:effectLst/>
            </p:spPr>
          </p:cxnSp>
          <p:cxnSp>
            <p:nvCxnSpPr>
              <p:cNvPr id="1543219" name="AutoShape 51"/>
              <p:cNvCxnSpPr>
                <a:cxnSpLocks noChangeShapeType="1"/>
                <a:stCxn id="1543213" idx="0"/>
                <a:endCxn id="1543214" idx="1"/>
              </p:cNvCxnSpPr>
              <p:nvPr/>
            </p:nvCxnSpPr>
            <p:spPr bwMode="auto">
              <a:xfrm rot="16200000">
                <a:off x="768" y="1776"/>
                <a:ext cx="120" cy="72"/>
              </a:xfrm>
              <a:prstGeom prst="bentConnector2">
                <a:avLst/>
              </a:prstGeom>
              <a:noFill/>
              <a:ln w="9525">
                <a:solidFill>
                  <a:schemeClr val="tx1"/>
                </a:solidFill>
                <a:miter lim="800000"/>
                <a:headEnd/>
                <a:tailEnd/>
              </a:ln>
              <a:effectLst/>
            </p:spPr>
          </p:cxnSp>
          <p:cxnSp>
            <p:nvCxnSpPr>
              <p:cNvPr id="1543220" name="AutoShape 52"/>
              <p:cNvCxnSpPr>
                <a:cxnSpLocks noChangeShapeType="1"/>
                <a:stCxn id="1543213" idx="3"/>
                <a:endCxn id="1543215" idx="1"/>
              </p:cNvCxnSpPr>
              <p:nvPr/>
            </p:nvCxnSpPr>
            <p:spPr bwMode="auto">
              <a:xfrm>
                <a:off x="864" y="1944"/>
                <a:ext cx="192" cy="0"/>
              </a:xfrm>
              <a:prstGeom prst="straightConnector1">
                <a:avLst/>
              </a:prstGeom>
              <a:noFill/>
              <a:ln w="9525">
                <a:solidFill>
                  <a:schemeClr val="tx1"/>
                </a:solidFill>
                <a:round/>
                <a:headEnd/>
                <a:tailEnd/>
              </a:ln>
              <a:effectLst/>
            </p:spPr>
          </p:cxnSp>
          <p:cxnSp>
            <p:nvCxnSpPr>
              <p:cNvPr id="1543221" name="AutoShape 53"/>
              <p:cNvCxnSpPr>
                <a:cxnSpLocks noChangeShapeType="1"/>
                <a:stCxn id="1543215" idx="2"/>
                <a:endCxn id="1543216" idx="3"/>
              </p:cNvCxnSpPr>
              <p:nvPr/>
            </p:nvCxnSpPr>
            <p:spPr bwMode="auto">
              <a:xfrm rot="5400000">
                <a:off x="996" y="2028"/>
                <a:ext cx="144" cy="120"/>
              </a:xfrm>
              <a:prstGeom prst="bentConnector2">
                <a:avLst/>
              </a:prstGeom>
              <a:noFill/>
              <a:ln w="9525">
                <a:solidFill>
                  <a:schemeClr val="tx1"/>
                </a:solidFill>
                <a:miter lim="800000"/>
                <a:headEnd/>
                <a:tailEnd/>
              </a:ln>
              <a:effectLst/>
            </p:spPr>
          </p:cxnSp>
          <p:cxnSp>
            <p:nvCxnSpPr>
              <p:cNvPr id="1543222" name="AutoShape 54"/>
              <p:cNvCxnSpPr>
                <a:cxnSpLocks noChangeShapeType="1"/>
                <a:stCxn id="1543212" idx="1"/>
                <a:endCxn id="1543217" idx="1"/>
              </p:cNvCxnSpPr>
              <p:nvPr/>
            </p:nvCxnSpPr>
            <p:spPr bwMode="auto">
              <a:xfrm rot="10800000" flipH="1" flipV="1">
                <a:off x="528" y="1800"/>
                <a:ext cx="1" cy="360"/>
              </a:xfrm>
              <a:prstGeom prst="bentConnector3">
                <a:avLst>
                  <a:gd name="adj1" fmla="val -14400000"/>
                </a:avLst>
              </a:prstGeom>
              <a:noFill/>
              <a:ln w="9525">
                <a:solidFill>
                  <a:schemeClr val="tx1"/>
                </a:solidFill>
                <a:miter lim="800000"/>
                <a:headEnd/>
                <a:tailEnd/>
              </a:ln>
              <a:effectLst/>
            </p:spPr>
          </p:cxnSp>
        </p:grpSp>
        <p:sp>
          <p:nvSpPr>
            <p:cNvPr id="1543223" name="Oval 55"/>
            <p:cNvSpPr>
              <a:spLocks noChangeArrowheads="1"/>
            </p:cNvSpPr>
            <p:nvPr/>
          </p:nvSpPr>
          <p:spPr bwMode="auto">
            <a:xfrm>
              <a:off x="528" y="2064"/>
              <a:ext cx="96" cy="96"/>
            </a:xfrm>
            <a:prstGeom prst="ellipse">
              <a:avLst/>
            </a:prstGeom>
            <a:gradFill rotWithShape="0">
              <a:gsLst>
                <a:gs pos="0">
                  <a:srgbClr val="FFFFFF"/>
                </a:gs>
                <a:gs pos="100000">
                  <a:schemeClr val="hlink"/>
                </a:gs>
              </a:gsLst>
              <a:path path="shape">
                <a:fillToRect l="50000" t="50000" r="50000" b="50000"/>
              </a:path>
            </a:gradFill>
            <a:ln w="9525">
              <a:noFill/>
              <a:round/>
              <a:headEnd/>
              <a:tailEnd/>
            </a:ln>
            <a:effectLst/>
          </p:spPr>
          <p:txBody>
            <a:bodyPr wrap="none" anchor="ctr"/>
            <a:lstStyle/>
            <a:p>
              <a:endParaRPr lang="en-US" dirty="0"/>
            </a:p>
          </p:txBody>
        </p:sp>
        <p:sp>
          <p:nvSpPr>
            <p:cNvPr id="1543224" name="Oval 56"/>
            <p:cNvSpPr>
              <a:spLocks noChangeArrowheads="1"/>
            </p:cNvSpPr>
            <p:nvPr/>
          </p:nvSpPr>
          <p:spPr bwMode="auto">
            <a:xfrm>
              <a:off x="624" y="1968"/>
              <a:ext cx="96" cy="96"/>
            </a:xfrm>
            <a:prstGeom prst="ellipse">
              <a:avLst/>
            </a:prstGeom>
            <a:gradFill rotWithShape="0">
              <a:gsLst>
                <a:gs pos="0">
                  <a:srgbClr val="FFFFFF"/>
                </a:gs>
                <a:gs pos="100000">
                  <a:schemeClr val="hlink"/>
                </a:gs>
              </a:gsLst>
              <a:path path="shape">
                <a:fillToRect l="50000" t="50000" r="50000" b="50000"/>
              </a:path>
            </a:gradFill>
            <a:ln w="9525">
              <a:noFill/>
              <a:round/>
              <a:headEnd/>
              <a:tailEnd/>
            </a:ln>
            <a:effectLst/>
          </p:spPr>
          <p:txBody>
            <a:bodyPr wrap="none" anchor="ctr"/>
            <a:lstStyle/>
            <a:p>
              <a:endParaRPr lang="en-US" dirty="0"/>
            </a:p>
          </p:txBody>
        </p:sp>
        <p:sp>
          <p:nvSpPr>
            <p:cNvPr id="1543225" name="Oval 57"/>
            <p:cNvSpPr>
              <a:spLocks noChangeArrowheads="1"/>
            </p:cNvSpPr>
            <p:nvPr/>
          </p:nvSpPr>
          <p:spPr bwMode="auto">
            <a:xfrm>
              <a:off x="816" y="2256"/>
              <a:ext cx="96" cy="96"/>
            </a:xfrm>
            <a:prstGeom prst="ellipse">
              <a:avLst/>
            </a:prstGeom>
            <a:gradFill rotWithShape="0">
              <a:gsLst>
                <a:gs pos="0">
                  <a:srgbClr val="FFFFFF"/>
                </a:gs>
                <a:gs pos="100000">
                  <a:schemeClr val="hlink"/>
                </a:gs>
              </a:gsLst>
              <a:path path="shape">
                <a:fillToRect l="50000" t="50000" r="50000" b="50000"/>
              </a:path>
            </a:gradFill>
            <a:ln w="9525">
              <a:noFill/>
              <a:round/>
              <a:headEnd/>
              <a:tailEnd/>
            </a:ln>
            <a:effectLst/>
          </p:spPr>
          <p:txBody>
            <a:bodyPr wrap="none" anchor="ctr"/>
            <a:lstStyle/>
            <a:p>
              <a:endParaRPr lang="en-US" dirty="0"/>
            </a:p>
          </p:txBody>
        </p:sp>
        <p:sp>
          <p:nvSpPr>
            <p:cNvPr id="1543226" name="Oval 58"/>
            <p:cNvSpPr>
              <a:spLocks noChangeArrowheads="1"/>
            </p:cNvSpPr>
            <p:nvPr/>
          </p:nvSpPr>
          <p:spPr bwMode="auto">
            <a:xfrm>
              <a:off x="1152" y="1920"/>
              <a:ext cx="96" cy="96"/>
            </a:xfrm>
            <a:prstGeom prst="ellipse">
              <a:avLst/>
            </a:prstGeom>
            <a:gradFill rotWithShape="0">
              <a:gsLst>
                <a:gs pos="0">
                  <a:srgbClr val="FFFFFF"/>
                </a:gs>
                <a:gs pos="100000">
                  <a:schemeClr val="hlink"/>
                </a:gs>
              </a:gsLst>
              <a:path path="shape">
                <a:fillToRect l="50000" t="50000" r="50000" b="50000"/>
              </a:path>
            </a:gradFill>
            <a:ln w="9525">
              <a:noFill/>
              <a:round/>
              <a:headEnd/>
              <a:tailEnd/>
            </a:ln>
            <a:effectLst/>
          </p:spPr>
          <p:txBody>
            <a:bodyPr wrap="none" anchor="ctr"/>
            <a:lstStyle/>
            <a:p>
              <a:endParaRPr lang="en-US" dirty="0"/>
            </a:p>
          </p:txBody>
        </p:sp>
        <p:sp>
          <p:nvSpPr>
            <p:cNvPr id="1543227" name="Oval 59"/>
            <p:cNvSpPr>
              <a:spLocks noChangeArrowheads="1"/>
            </p:cNvSpPr>
            <p:nvPr/>
          </p:nvSpPr>
          <p:spPr bwMode="auto">
            <a:xfrm>
              <a:off x="1056" y="2016"/>
              <a:ext cx="96" cy="96"/>
            </a:xfrm>
            <a:prstGeom prst="ellipse">
              <a:avLst/>
            </a:prstGeom>
            <a:gradFill rotWithShape="0">
              <a:gsLst>
                <a:gs pos="0">
                  <a:srgbClr val="FFFFFF"/>
                </a:gs>
                <a:gs pos="100000">
                  <a:schemeClr val="hlink"/>
                </a:gs>
              </a:gsLst>
              <a:path path="shape">
                <a:fillToRect l="50000" t="50000" r="50000" b="50000"/>
              </a:path>
            </a:gradFill>
            <a:ln w="9525">
              <a:noFill/>
              <a:round/>
              <a:headEnd/>
              <a:tailEnd/>
            </a:ln>
            <a:effectLst/>
          </p:spPr>
          <p:txBody>
            <a:bodyPr wrap="none" anchor="ctr"/>
            <a:lstStyle/>
            <a:p>
              <a:endParaRPr lang="en-US" dirty="0"/>
            </a:p>
          </p:txBody>
        </p:sp>
        <p:sp>
          <p:nvSpPr>
            <p:cNvPr id="1543228" name="Oval 60"/>
            <p:cNvSpPr>
              <a:spLocks noChangeArrowheads="1"/>
            </p:cNvSpPr>
            <p:nvPr/>
          </p:nvSpPr>
          <p:spPr bwMode="auto">
            <a:xfrm>
              <a:off x="624" y="2688"/>
              <a:ext cx="96" cy="96"/>
            </a:xfrm>
            <a:prstGeom prst="ellipse">
              <a:avLst/>
            </a:prstGeom>
            <a:gradFill rotWithShape="0">
              <a:gsLst>
                <a:gs pos="0">
                  <a:srgbClr val="FFFFFF"/>
                </a:gs>
                <a:gs pos="100000">
                  <a:schemeClr val="hlink"/>
                </a:gs>
              </a:gsLst>
              <a:path path="shape">
                <a:fillToRect l="50000" t="50000" r="50000" b="50000"/>
              </a:path>
            </a:gradFill>
            <a:ln w="9525">
              <a:noFill/>
              <a:round/>
              <a:headEnd/>
              <a:tailEnd/>
            </a:ln>
            <a:effectLst/>
          </p:spPr>
          <p:txBody>
            <a:bodyPr wrap="none" anchor="ctr"/>
            <a:lstStyle/>
            <a:p>
              <a:endParaRPr lang="en-US" dirty="0"/>
            </a:p>
          </p:txBody>
        </p:sp>
        <p:sp>
          <p:nvSpPr>
            <p:cNvPr id="1543229" name="Oval 61"/>
            <p:cNvSpPr>
              <a:spLocks noChangeArrowheads="1"/>
            </p:cNvSpPr>
            <p:nvPr/>
          </p:nvSpPr>
          <p:spPr bwMode="auto">
            <a:xfrm>
              <a:off x="528" y="2592"/>
              <a:ext cx="96" cy="96"/>
            </a:xfrm>
            <a:prstGeom prst="ellipse">
              <a:avLst/>
            </a:prstGeom>
            <a:gradFill rotWithShape="0">
              <a:gsLst>
                <a:gs pos="0">
                  <a:srgbClr val="FFFFFF"/>
                </a:gs>
                <a:gs pos="100000">
                  <a:schemeClr val="hlink"/>
                </a:gs>
              </a:gsLst>
              <a:path path="shape">
                <a:fillToRect l="50000" t="50000" r="50000" b="50000"/>
              </a:path>
            </a:gradFill>
            <a:ln w="9525">
              <a:noFill/>
              <a:round/>
              <a:headEnd/>
              <a:tailEnd/>
            </a:ln>
            <a:effectLst/>
          </p:spPr>
          <p:txBody>
            <a:bodyPr wrap="none" anchor="ctr"/>
            <a:lstStyle/>
            <a:p>
              <a:endParaRPr lang="en-US" dirty="0"/>
            </a:p>
          </p:txBody>
        </p:sp>
        <p:sp>
          <p:nvSpPr>
            <p:cNvPr id="1543230" name="Oval 62"/>
            <p:cNvSpPr>
              <a:spLocks noChangeArrowheads="1"/>
            </p:cNvSpPr>
            <p:nvPr/>
          </p:nvSpPr>
          <p:spPr bwMode="auto">
            <a:xfrm>
              <a:off x="1392" y="2208"/>
              <a:ext cx="96" cy="96"/>
            </a:xfrm>
            <a:prstGeom prst="ellipse">
              <a:avLst/>
            </a:prstGeom>
            <a:gradFill rotWithShape="0">
              <a:gsLst>
                <a:gs pos="0">
                  <a:srgbClr val="FFFFFF"/>
                </a:gs>
                <a:gs pos="100000">
                  <a:schemeClr val="hlink"/>
                </a:gs>
              </a:gsLst>
              <a:path path="shape">
                <a:fillToRect l="50000" t="50000" r="50000" b="50000"/>
              </a:path>
            </a:gradFill>
            <a:ln w="9525">
              <a:noFill/>
              <a:round/>
              <a:headEnd/>
              <a:tailEnd/>
            </a:ln>
            <a:effectLst/>
          </p:spPr>
          <p:txBody>
            <a:bodyPr wrap="none" anchor="ctr"/>
            <a:lstStyle/>
            <a:p>
              <a:endParaRPr lang="en-US" dirty="0"/>
            </a:p>
          </p:txBody>
        </p:sp>
        <p:sp>
          <p:nvSpPr>
            <p:cNvPr id="1543231" name="Oval 63"/>
            <p:cNvSpPr>
              <a:spLocks noChangeArrowheads="1"/>
            </p:cNvSpPr>
            <p:nvPr/>
          </p:nvSpPr>
          <p:spPr bwMode="auto">
            <a:xfrm>
              <a:off x="1104" y="2640"/>
              <a:ext cx="96" cy="96"/>
            </a:xfrm>
            <a:prstGeom prst="ellipse">
              <a:avLst/>
            </a:prstGeom>
            <a:gradFill rotWithShape="0">
              <a:gsLst>
                <a:gs pos="0">
                  <a:srgbClr val="FFFFFF"/>
                </a:gs>
                <a:gs pos="100000">
                  <a:schemeClr val="hlink"/>
                </a:gs>
              </a:gsLst>
              <a:path path="shape">
                <a:fillToRect l="50000" t="50000" r="50000" b="50000"/>
              </a:path>
            </a:gradFill>
            <a:ln w="9525">
              <a:noFill/>
              <a:round/>
              <a:headEnd/>
              <a:tailEnd/>
            </a:ln>
            <a:effectLst/>
          </p:spPr>
          <p:txBody>
            <a:bodyPr wrap="none" anchor="ctr"/>
            <a:lstStyle/>
            <a:p>
              <a:endParaRPr lang="en-US" dirty="0"/>
            </a:p>
          </p:txBody>
        </p:sp>
      </p:grpSp>
      <p:sp>
        <p:nvSpPr>
          <p:cNvPr id="1543232" name="Rectangle 64"/>
          <p:cNvSpPr>
            <a:spLocks noChangeArrowheads="1"/>
          </p:cNvSpPr>
          <p:nvPr/>
        </p:nvSpPr>
        <p:spPr bwMode="auto">
          <a:xfrm>
            <a:off x="6477000" y="2640036"/>
            <a:ext cx="2057400" cy="381000"/>
          </a:xfrm>
          <a:prstGeom prst="rect">
            <a:avLst/>
          </a:prstGeom>
          <a:solidFill>
            <a:schemeClr val="bg1"/>
          </a:solidFill>
          <a:ln w="9525">
            <a:solidFill>
              <a:schemeClr val="tx1"/>
            </a:solidFill>
            <a:miter lim="800000"/>
            <a:headEnd/>
            <a:tailEnd/>
          </a:ln>
          <a:effectLst/>
        </p:spPr>
        <p:txBody>
          <a:bodyPr wrap="none" anchor="ctr"/>
          <a:lstStyle/>
          <a:p>
            <a:endParaRPr lang="en-US" dirty="0"/>
          </a:p>
        </p:txBody>
      </p:sp>
      <p:sp>
        <p:nvSpPr>
          <p:cNvPr id="1543233" name="Rectangle 65"/>
          <p:cNvSpPr>
            <a:spLocks noChangeArrowheads="1"/>
          </p:cNvSpPr>
          <p:nvPr/>
        </p:nvSpPr>
        <p:spPr bwMode="auto">
          <a:xfrm>
            <a:off x="6781800" y="2716236"/>
            <a:ext cx="228600" cy="228600"/>
          </a:xfrm>
          <a:prstGeom prst="rect">
            <a:avLst/>
          </a:prstGeom>
          <a:solidFill>
            <a:schemeClr val="accent1"/>
          </a:solidFill>
          <a:ln w="9525">
            <a:solidFill>
              <a:schemeClr val="tx1"/>
            </a:solidFill>
            <a:miter lim="800000"/>
            <a:headEnd/>
            <a:tailEnd/>
          </a:ln>
          <a:effectLst/>
        </p:spPr>
        <p:txBody>
          <a:bodyPr wrap="none" anchor="ctr"/>
          <a:lstStyle/>
          <a:p>
            <a:endParaRPr lang="en-US" dirty="0"/>
          </a:p>
        </p:txBody>
      </p:sp>
      <p:sp>
        <p:nvSpPr>
          <p:cNvPr id="1543234" name="Rectangle 66"/>
          <p:cNvSpPr>
            <a:spLocks noChangeArrowheads="1"/>
          </p:cNvSpPr>
          <p:nvPr/>
        </p:nvSpPr>
        <p:spPr bwMode="auto">
          <a:xfrm>
            <a:off x="7086600" y="2716236"/>
            <a:ext cx="228600" cy="228600"/>
          </a:xfrm>
          <a:prstGeom prst="rect">
            <a:avLst/>
          </a:prstGeom>
          <a:solidFill>
            <a:schemeClr val="accent1"/>
          </a:solidFill>
          <a:ln w="9525">
            <a:solidFill>
              <a:schemeClr val="tx1"/>
            </a:solidFill>
            <a:miter lim="800000"/>
            <a:headEnd/>
            <a:tailEnd/>
          </a:ln>
          <a:effectLst/>
        </p:spPr>
        <p:txBody>
          <a:bodyPr wrap="none" anchor="ctr"/>
          <a:lstStyle/>
          <a:p>
            <a:endParaRPr lang="en-US" dirty="0"/>
          </a:p>
        </p:txBody>
      </p:sp>
      <p:sp>
        <p:nvSpPr>
          <p:cNvPr id="1543235" name="Rectangle 67"/>
          <p:cNvSpPr>
            <a:spLocks noChangeArrowheads="1"/>
          </p:cNvSpPr>
          <p:nvPr/>
        </p:nvSpPr>
        <p:spPr bwMode="auto">
          <a:xfrm>
            <a:off x="7391400" y="2716236"/>
            <a:ext cx="228600" cy="228600"/>
          </a:xfrm>
          <a:prstGeom prst="rect">
            <a:avLst/>
          </a:prstGeom>
          <a:solidFill>
            <a:schemeClr val="accent1"/>
          </a:solidFill>
          <a:ln w="9525">
            <a:solidFill>
              <a:schemeClr val="tx1"/>
            </a:solidFill>
            <a:miter lim="800000"/>
            <a:headEnd/>
            <a:tailEnd/>
          </a:ln>
          <a:effectLst/>
        </p:spPr>
        <p:txBody>
          <a:bodyPr wrap="none" anchor="ctr"/>
          <a:lstStyle/>
          <a:p>
            <a:endParaRPr lang="en-US" dirty="0"/>
          </a:p>
        </p:txBody>
      </p:sp>
      <p:sp>
        <p:nvSpPr>
          <p:cNvPr id="1543236" name="Rectangle 68"/>
          <p:cNvSpPr>
            <a:spLocks noChangeArrowheads="1"/>
          </p:cNvSpPr>
          <p:nvPr/>
        </p:nvSpPr>
        <p:spPr bwMode="auto">
          <a:xfrm>
            <a:off x="7696200" y="2716236"/>
            <a:ext cx="228600" cy="228600"/>
          </a:xfrm>
          <a:prstGeom prst="rect">
            <a:avLst/>
          </a:prstGeom>
          <a:solidFill>
            <a:schemeClr val="accent1"/>
          </a:solidFill>
          <a:ln w="9525">
            <a:solidFill>
              <a:schemeClr val="tx1"/>
            </a:solidFill>
            <a:miter lim="800000"/>
            <a:headEnd/>
            <a:tailEnd/>
          </a:ln>
          <a:effectLst/>
        </p:spPr>
        <p:txBody>
          <a:bodyPr wrap="none" anchor="ctr"/>
          <a:lstStyle/>
          <a:p>
            <a:endParaRPr lang="en-US" dirty="0"/>
          </a:p>
        </p:txBody>
      </p:sp>
      <p:sp>
        <p:nvSpPr>
          <p:cNvPr id="1543237" name="Rectangle 69"/>
          <p:cNvSpPr>
            <a:spLocks noChangeArrowheads="1"/>
          </p:cNvSpPr>
          <p:nvPr/>
        </p:nvSpPr>
        <p:spPr bwMode="auto">
          <a:xfrm>
            <a:off x="8001000" y="2716236"/>
            <a:ext cx="228600" cy="228600"/>
          </a:xfrm>
          <a:prstGeom prst="rect">
            <a:avLst/>
          </a:prstGeom>
          <a:solidFill>
            <a:schemeClr val="accent1"/>
          </a:solidFill>
          <a:ln w="9525">
            <a:solidFill>
              <a:schemeClr val="tx1"/>
            </a:solidFill>
            <a:miter lim="800000"/>
            <a:headEnd/>
            <a:tailEnd/>
          </a:ln>
          <a:effectLst/>
        </p:spPr>
        <p:txBody>
          <a:bodyPr wrap="none" anchor="ctr"/>
          <a:lstStyle/>
          <a:p>
            <a:endParaRPr lang="en-US" dirty="0"/>
          </a:p>
        </p:txBody>
      </p:sp>
      <p:grpSp>
        <p:nvGrpSpPr>
          <p:cNvPr id="6" name="Group 70"/>
          <p:cNvGrpSpPr>
            <a:grpSpLocks/>
          </p:cNvGrpSpPr>
          <p:nvPr/>
        </p:nvGrpSpPr>
        <p:grpSpPr bwMode="auto">
          <a:xfrm>
            <a:off x="6705600" y="3554436"/>
            <a:ext cx="1752600" cy="1447800"/>
            <a:chOff x="480" y="1872"/>
            <a:chExt cx="1104" cy="912"/>
          </a:xfrm>
        </p:grpSpPr>
        <p:grpSp>
          <p:nvGrpSpPr>
            <p:cNvPr id="7" name="Group 71"/>
            <p:cNvGrpSpPr>
              <a:grpSpLocks/>
            </p:cNvGrpSpPr>
            <p:nvPr/>
          </p:nvGrpSpPr>
          <p:grpSpPr bwMode="auto">
            <a:xfrm>
              <a:off x="480" y="1872"/>
              <a:ext cx="1104" cy="912"/>
              <a:chOff x="528" y="1680"/>
              <a:chExt cx="672" cy="552"/>
            </a:xfrm>
          </p:grpSpPr>
          <p:sp>
            <p:nvSpPr>
              <p:cNvPr id="1543240" name="Rectangle 72"/>
              <p:cNvSpPr>
                <a:spLocks noChangeArrowheads="1"/>
              </p:cNvSpPr>
              <p:nvPr/>
            </p:nvSpPr>
            <p:spPr bwMode="auto">
              <a:xfrm>
                <a:off x="528" y="1728"/>
                <a:ext cx="144" cy="144"/>
              </a:xfrm>
              <a:prstGeom prst="rect">
                <a:avLst/>
              </a:prstGeom>
              <a:solidFill>
                <a:schemeClr val="folHlink"/>
              </a:solidFill>
              <a:ln w="9525">
                <a:solidFill>
                  <a:schemeClr val="tx1"/>
                </a:solidFill>
                <a:miter lim="800000"/>
                <a:headEnd/>
                <a:tailEnd/>
              </a:ln>
              <a:effectLst/>
            </p:spPr>
            <p:txBody>
              <a:bodyPr wrap="none" anchor="ctr"/>
              <a:lstStyle/>
              <a:p>
                <a:endParaRPr lang="en-US" dirty="0"/>
              </a:p>
            </p:txBody>
          </p:sp>
          <p:sp>
            <p:nvSpPr>
              <p:cNvPr id="1543241" name="Rectangle 73"/>
              <p:cNvSpPr>
                <a:spLocks noChangeArrowheads="1"/>
              </p:cNvSpPr>
              <p:nvPr/>
            </p:nvSpPr>
            <p:spPr bwMode="auto">
              <a:xfrm>
                <a:off x="720" y="1872"/>
                <a:ext cx="144" cy="144"/>
              </a:xfrm>
              <a:prstGeom prst="rect">
                <a:avLst/>
              </a:prstGeom>
              <a:solidFill>
                <a:schemeClr val="folHlink"/>
              </a:solidFill>
              <a:ln w="9525">
                <a:solidFill>
                  <a:schemeClr val="tx1"/>
                </a:solidFill>
                <a:miter lim="800000"/>
                <a:headEnd/>
                <a:tailEnd/>
              </a:ln>
              <a:effectLst/>
            </p:spPr>
            <p:txBody>
              <a:bodyPr wrap="none" anchor="ctr"/>
              <a:lstStyle/>
              <a:p>
                <a:endParaRPr lang="en-US" dirty="0"/>
              </a:p>
            </p:txBody>
          </p:sp>
          <p:sp>
            <p:nvSpPr>
              <p:cNvPr id="1543242" name="Rectangle 74"/>
              <p:cNvSpPr>
                <a:spLocks noChangeArrowheads="1"/>
              </p:cNvSpPr>
              <p:nvPr/>
            </p:nvSpPr>
            <p:spPr bwMode="auto">
              <a:xfrm>
                <a:off x="864" y="1680"/>
                <a:ext cx="144" cy="144"/>
              </a:xfrm>
              <a:prstGeom prst="rect">
                <a:avLst/>
              </a:prstGeom>
              <a:solidFill>
                <a:schemeClr val="folHlink"/>
              </a:solidFill>
              <a:ln w="9525">
                <a:solidFill>
                  <a:schemeClr val="tx1"/>
                </a:solidFill>
                <a:miter lim="800000"/>
                <a:headEnd/>
                <a:tailEnd/>
              </a:ln>
              <a:effectLst/>
            </p:spPr>
            <p:txBody>
              <a:bodyPr wrap="none" anchor="ctr"/>
              <a:lstStyle/>
              <a:p>
                <a:endParaRPr lang="en-US" dirty="0"/>
              </a:p>
            </p:txBody>
          </p:sp>
          <p:sp>
            <p:nvSpPr>
              <p:cNvPr id="1543243" name="Rectangle 75"/>
              <p:cNvSpPr>
                <a:spLocks noChangeArrowheads="1"/>
              </p:cNvSpPr>
              <p:nvPr/>
            </p:nvSpPr>
            <p:spPr bwMode="auto">
              <a:xfrm>
                <a:off x="1056" y="1872"/>
                <a:ext cx="144" cy="144"/>
              </a:xfrm>
              <a:prstGeom prst="rect">
                <a:avLst/>
              </a:prstGeom>
              <a:solidFill>
                <a:schemeClr val="folHlink"/>
              </a:solidFill>
              <a:ln w="9525">
                <a:solidFill>
                  <a:schemeClr val="tx1"/>
                </a:solidFill>
                <a:miter lim="800000"/>
                <a:headEnd/>
                <a:tailEnd/>
              </a:ln>
              <a:effectLst/>
            </p:spPr>
            <p:txBody>
              <a:bodyPr wrap="none" anchor="ctr"/>
              <a:lstStyle/>
              <a:p>
                <a:endParaRPr lang="en-US" dirty="0"/>
              </a:p>
            </p:txBody>
          </p:sp>
          <p:sp>
            <p:nvSpPr>
              <p:cNvPr id="1543244" name="Rectangle 76"/>
              <p:cNvSpPr>
                <a:spLocks noChangeArrowheads="1"/>
              </p:cNvSpPr>
              <p:nvPr/>
            </p:nvSpPr>
            <p:spPr bwMode="auto">
              <a:xfrm>
                <a:off x="864" y="2088"/>
                <a:ext cx="144" cy="144"/>
              </a:xfrm>
              <a:prstGeom prst="rect">
                <a:avLst/>
              </a:prstGeom>
              <a:solidFill>
                <a:schemeClr val="folHlink"/>
              </a:solidFill>
              <a:ln w="9525">
                <a:solidFill>
                  <a:schemeClr val="tx1"/>
                </a:solidFill>
                <a:miter lim="800000"/>
                <a:headEnd/>
                <a:tailEnd/>
              </a:ln>
              <a:effectLst/>
            </p:spPr>
            <p:txBody>
              <a:bodyPr wrap="none" anchor="ctr"/>
              <a:lstStyle/>
              <a:p>
                <a:endParaRPr lang="en-US" dirty="0"/>
              </a:p>
            </p:txBody>
          </p:sp>
          <p:sp>
            <p:nvSpPr>
              <p:cNvPr id="1543245" name="Rectangle 77"/>
              <p:cNvSpPr>
                <a:spLocks noChangeArrowheads="1"/>
              </p:cNvSpPr>
              <p:nvPr/>
            </p:nvSpPr>
            <p:spPr bwMode="auto">
              <a:xfrm>
                <a:off x="528" y="2088"/>
                <a:ext cx="144" cy="144"/>
              </a:xfrm>
              <a:prstGeom prst="rect">
                <a:avLst/>
              </a:prstGeom>
              <a:solidFill>
                <a:schemeClr val="folHlink"/>
              </a:solidFill>
              <a:ln w="9525">
                <a:solidFill>
                  <a:schemeClr val="tx1"/>
                </a:solidFill>
                <a:miter lim="800000"/>
                <a:headEnd/>
                <a:tailEnd/>
              </a:ln>
              <a:effectLst/>
            </p:spPr>
            <p:txBody>
              <a:bodyPr wrap="none" anchor="ctr"/>
              <a:lstStyle/>
              <a:p>
                <a:endParaRPr lang="en-US" dirty="0"/>
              </a:p>
            </p:txBody>
          </p:sp>
          <p:cxnSp>
            <p:nvCxnSpPr>
              <p:cNvPr id="1543246" name="AutoShape 78"/>
              <p:cNvCxnSpPr>
                <a:cxnSpLocks noChangeShapeType="1"/>
                <a:stCxn id="1543241" idx="1"/>
                <a:endCxn id="1543245" idx="0"/>
              </p:cNvCxnSpPr>
              <p:nvPr/>
            </p:nvCxnSpPr>
            <p:spPr bwMode="auto">
              <a:xfrm rot="10800000" flipV="1">
                <a:off x="600" y="1944"/>
                <a:ext cx="120" cy="144"/>
              </a:xfrm>
              <a:prstGeom prst="bentConnector2">
                <a:avLst/>
              </a:prstGeom>
              <a:noFill/>
              <a:ln w="9525">
                <a:solidFill>
                  <a:schemeClr val="tx1"/>
                </a:solidFill>
                <a:miter lim="800000"/>
                <a:headEnd/>
                <a:tailEnd/>
              </a:ln>
              <a:effectLst/>
            </p:spPr>
          </p:cxnSp>
          <p:cxnSp>
            <p:nvCxnSpPr>
              <p:cNvPr id="1543247" name="AutoShape 79"/>
              <p:cNvCxnSpPr>
                <a:cxnSpLocks noChangeShapeType="1"/>
                <a:stCxn id="1543241" idx="0"/>
                <a:endCxn id="1543242" idx="1"/>
              </p:cNvCxnSpPr>
              <p:nvPr/>
            </p:nvCxnSpPr>
            <p:spPr bwMode="auto">
              <a:xfrm rot="16200000">
                <a:off x="768" y="1776"/>
                <a:ext cx="120" cy="72"/>
              </a:xfrm>
              <a:prstGeom prst="bentConnector2">
                <a:avLst/>
              </a:prstGeom>
              <a:noFill/>
              <a:ln w="9525">
                <a:solidFill>
                  <a:schemeClr val="tx1"/>
                </a:solidFill>
                <a:miter lim="800000"/>
                <a:headEnd/>
                <a:tailEnd/>
              </a:ln>
              <a:effectLst/>
            </p:spPr>
          </p:cxnSp>
          <p:cxnSp>
            <p:nvCxnSpPr>
              <p:cNvPr id="1543248" name="AutoShape 80"/>
              <p:cNvCxnSpPr>
                <a:cxnSpLocks noChangeShapeType="1"/>
                <a:stCxn id="1543241" idx="3"/>
                <a:endCxn id="1543243" idx="1"/>
              </p:cNvCxnSpPr>
              <p:nvPr/>
            </p:nvCxnSpPr>
            <p:spPr bwMode="auto">
              <a:xfrm>
                <a:off x="864" y="1944"/>
                <a:ext cx="192" cy="0"/>
              </a:xfrm>
              <a:prstGeom prst="straightConnector1">
                <a:avLst/>
              </a:prstGeom>
              <a:noFill/>
              <a:ln w="9525">
                <a:solidFill>
                  <a:schemeClr val="tx1"/>
                </a:solidFill>
                <a:round/>
                <a:headEnd/>
                <a:tailEnd/>
              </a:ln>
              <a:effectLst/>
            </p:spPr>
          </p:cxnSp>
          <p:cxnSp>
            <p:nvCxnSpPr>
              <p:cNvPr id="1543249" name="AutoShape 81"/>
              <p:cNvCxnSpPr>
                <a:cxnSpLocks noChangeShapeType="1"/>
                <a:stCxn id="1543243" idx="2"/>
                <a:endCxn id="1543244" idx="3"/>
              </p:cNvCxnSpPr>
              <p:nvPr/>
            </p:nvCxnSpPr>
            <p:spPr bwMode="auto">
              <a:xfrm rot="5400000">
                <a:off x="996" y="2028"/>
                <a:ext cx="144" cy="120"/>
              </a:xfrm>
              <a:prstGeom prst="bentConnector2">
                <a:avLst/>
              </a:prstGeom>
              <a:noFill/>
              <a:ln w="9525">
                <a:solidFill>
                  <a:schemeClr val="tx1"/>
                </a:solidFill>
                <a:miter lim="800000"/>
                <a:headEnd/>
                <a:tailEnd/>
              </a:ln>
              <a:effectLst/>
            </p:spPr>
          </p:cxnSp>
          <p:cxnSp>
            <p:nvCxnSpPr>
              <p:cNvPr id="1543250" name="AutoShape 82"/>
              <p:cNvCxnSpPr>
                <a:cxnSpLocks noChangeShapeType="1"/>
                <a:stCxn id="1543240" idx="1"/>
                <a:endCxn id="1543245" idx="1"/>
              </p:cNvCxnSpPr>
              <p:nvPr/>
            </p:nvCxnSpPr>
            <p:spPr bwMode="auto">
              <a:xfrm rot="10800000" flipH="1" flipV="1">
                <a:off x="528" y="1800"/>
                <a:ext cx="1" cy="360"/>
              </a:xfrm>
              <a:prstGeom prst="bentConnector3">
                <a:avLst>
                  <a:gd name="adj1" fmla="val -14400000"/>
                </a:avLst>
              </a:prstGeom>
              <a:noFill/>
              <a:ln w="9525">
                <a:solidFill>
                  <a:schemeClr val="tx1"/>
                </a:solidFill>
                <a:miter lim="800000"/>
                <a:headEnd/>
                <a:tailEnd/>
              </a:ln>
              <a:effectLst/>
            </p:spPr>
          </p:cxnSp>
        </p:grpSp>
        <p:sp>
          <p:nvSpPr>
            <p:cNvPr id="1543251" name="Oval 83"/>
            <p:cNvSpPr>
              <a:spLocks noChangeArrowheads="1"/>
            </p:cNvSpPr>
            <p:nvPr/>
          </p:nvSpPr>
          <p:spPr bwMode="auto">
            <a:xfrm>
              <a:off x="528" y="2064"/>
              <a:ext cx="96" cy="96"/>
            </a:xfrm>
            <a:prstGeom prst="ellipse">
              <a:avLst/>
            </a:prstGeom>
            <a:gradFill rotWithShape="0">
              <a:gsLst>
                <a:gs pos="0">
                  <a:srgbClr val="FFFFFF"/>
                </a:gs>
                <a:gs pos="100000">
                  <a:schemeClr val="hlink"/>
                </a:gs>
              </a:gsLst>
              <a:path path="shape">
                <a:fillToRect l="50000" t="50000" r="50000" b="50000"/>
              </a:path>
            </a:gradFill>
            <a:ln w="9525">
              <a:noFill/>
              <a:round/>
              <a:headEnd/>
              <a:tailEnd/>
            </a:ln>
            <a:effectLst/>
          </p:spPr>
          <p:txBody>
            <a:bodyPr wrap="none" anchor="ctr"/>
            <a:lstStyle/>
            <a:p>
              <a:endParaRPr lang="en-US" dirty="0"/>
            </a:p>
          </p:txBody>
        </p:sp>
        <p:sp>
          <p:nvSpPr>
            <p:cNvPr id="1543252" name="Oval 84"/>
            <p:cNvSpPr>
              <a:spLocks noChangeArrowheads="1"/>
            </p:cNvSpPr>
            <p:nvPr/>
          </p:nvSpPr>
          <p:spPr bwMode="auto">
            <a:xfrm>
              <a:off x="624" y="1968"/>
              <a:ext cx="96" cy="96"/>
            </a:xfrm>
            <a:prstGeom prst="ellipse">
              <a:avLst/>
            </a:prstGeom>
            <a:gradFill rotWithShape="0">
              <a:gsLst>
                <a:gs pos="0">
                  <a:srgbClr val="FFFFFF"/>
                </a:gs>
                <a:gs pos="100000">
                  <a:schemeClr val="hlink"/>
                </a:gs>
              </a:gsLst>
              <a:path path="shape">
                <a:fillToRect l="50000" t="50000" r="50000" b="50000"/>
              </a:path>
            </a:gradFill>
            <a:ln w="9525">
              <a:noFill/>
              <a:round/>
              <a:headEnd/>
              <a:tailEnd/>
            </a:ln>
            <a:effectLst/>
          </p:spPr>
          <p:txBody>
            <a:bodyPr wrap="none" anchor="ctr"/>
            <a:lstStyle/>
            <a:p>
              <a:endParaRPr lang="en-US" dirty="0"/>
            </a:p>
          </p:txBody>
        </p:sp>
        <p:sp>
          <p:nvSpPr>
            <p:cNvPr id="1543253" name="Oval 85"/>
            <p:cNvSpPr>
              <a:spLocks noChangeArrowheads="1"/>
            </p:cNvSpPr>
            <p:nvPr/>
          </p:nvSpPr>
          <p:spPr bwMode="auto">
            <a:xfrm>
              <a:off x="816" y="2256"/>
              <a:ext cx="96" cy="96"/>
            </a:xfrm>
            <a:prstGeom prst="ellipse">
              <a:avLst/>
            </a:prstGeom>
            <a:gradFill rotWithShape="0">
              <a:gsLst>
                <a:gs pos="0">
                  <a:srgbClr val="FFFFFF"/>
                </a:gs>
                <a:gs pos="100000">
                  <a:schemeClr val="hlink"/>
                </a:gs>
              </a:gsLst>
              <a:path path="shape">
                <a:fillToRect l="50000" t="50000" r="50000" b="50000"/>
              </a:path>
            </a:gradFill>
            <a:ln w="9525">
              <a:noFill/>
              <a:round/>
              <a:headEnd/>
              <a:tailEnd/>
            </a:ln>
            <a:effectLst/>
          </p:spPr>
          <p:txBody>
            <a:bodyPr wrap="none" anchor="ctr"/>
            <a:lstStyle/>
            <a:p>
              <a:endParaRPr lang="en-US" dirty="0"/>
            </a:p>
          </p:txBody>
        </p:sp>
        <p:sp>
          <p:nvSpPr>
            <p:cNvPr id="1543254" name="Oval 86"/>
            <p:cNvSpPr>
              <a:spLocks noChangeArrowheads="1"/>
            </p:cNvSpPr>
            <p:nvPr/>
          </p:nvSpPr>
          <p:spPr bwMode="auto">
            <a:xfrm>
              <a:off x="1152" y="1920"/>
              <a:ext cx="96" cy="96"/>
            </a:xfrm>
            <a:prstGeom prst="ellipse">
              <a:avLst/>
            </a:prstGeom>
            <a:gradFill rotWithShape="0">
              <a:gsLst>
                <a:gs pos="0">
                  <a:srgbClr val="FFFFFF"/>
                </a:gs>
                <a:gs pos="100000">
                  <a:schemeClr val="hlink"/>
                </a:gs>
              </a:gsLst>
              <a:path path="shape">
                <a:fillToRect l="50000" t="50000" r="50000" b="50000"/>
              </a:path>
            </a:gradFill>
            <a:ln w="9525">
              <a:noFill/>
              <a:round/>
              <a:headEnd/>
              <a:tailEnd/>
            </a:ln>
            <a:effectLst/>
          </p:spPr>
          <p:txBody>
            <a:bodyPr wrap="none" anchor="ctr"/>
            <a:lstStyle/>
            <a:p>
              <a:endParaRPr lang="en-US" dirty="0"/>
            </a:p>
          </p:txBody>
        </p:sp>
        <p:sp>
          <p:nvSpPr>
            <p:cNvPr id="1543255" name="Oval 87"/>
            <p:cNvSpPr>
              <a:spLocks noChangeArrowheads="1"/>
            </p:cNvSpPr>
            <p:nvPr/>
          </p:nvSpPr>
          <p:spPr bwMode="auto">
            <a:xfrm>
              <a:off x="1056" y="2016"/>
              <a:ext cx="96" cy="96"/>
            </a:xfrm>
            <a:prstGeom prst="ellipse">
              <a:avLst/>
            </a:prstGeom>
            <a:gradFill rotWithShape="0">
              <a:gsLst>
                <a:gs pos="0">
                  <a:srgbClr val="FFFFFF"/>
                </a:gs>
                <a:gs pos="100000">
                  <a:schemeClr val="hlink"/>
                </a:gs>
              </a:gsLst>
              <a:path path="shape">
                <a:fillToRect l="50000" t="50000" r="50000" b="50000"/>
              </a:path>
            </a:gradFill>
            <a:ln w="9525">
              <a:noFill/>
              <a:round/>
              <a:headEnd/>
              <a:tailEnd/>
            </a:ln>
            <a:effectLst/>
          </p:spPr>
          <p:txBody>
            <a:bodyPr wrap="none" anchor="ctr"/>
            <a:lstStyle/>
            <a:p>
              <a:endParaRPr lang="en-US" dirty="0"/>
            </a:p>
          </p:txBody>
        </p:sp>
        <p:sp>
          <p:nvSpPr>
            <p:cNvPr id="1543256" name="Oval 88"/>
            <p:cNvSpPr>
              <a:spLocks noChangeArrowheads="1"/>
            </p:cNvSpPr>
            <p:nvPr/>
          </p:nvSpPr>
          <p:spPr bwMode="auto">
            <a:xfrm>
              <a:off x="624" y="2688"/>
              <a:ext cx="96" cy="96"/>
            </a:xfrm>
            <a:prstGeom prst="ellipse">
              <a:avLst/>
            </a:prstGeom>
            <a:gradFill rotWithShape="0">
              <a:gsLst>
                <a:gs pos="0">
                  <a:srgbClr val="FFFFFF"/>
                </a:gs>
                <a:gs pos="100000">
                  <a:schemeClr val="hlink"/>
                </a:gs>
              </a:gsLst>
              <a:path path="shape">
                <a:fillToRect l="50000" t="50000" r="50000" b="50000"/>
              </a:path>
            </a:gradFill>
            <a:ln w="9525">
              <a:noFill/>
              <a:round/>
              <a:headEnd/>
              <a:tailEnd/>
            </a:ln>
            <a:effectLst/>
          </p:spPr>
          <p:txBody>
            <a:bodyPr wrap="none" anchor="ctr"/>
            <a:lstStyle/>
            <a:p>
              <a:endParaRPr lang="en-US" dirty="0"/>
            </a:p>
          </p:txBody>
        </p:sp>
        <p:sp>
          <p:nvSpPr>
            <p:cNvPr id="1543257" name="Oval 89"/>
            <p:cNvSpPr>
              <a:spLocks noChangeArrowheads="1"/>
            </p:cNvSpPr>
            <p:nvPr/>
          </p:nvSpPr>
          <p:spPr bwMode="auto">
            <a:xfrm>
              <a:off x="528" y="2592"/>
              <a:ext cx="96" cy="96"/>
            </a:xfrm>
            <a:prstGeom prst="ellipse">
              <a:avLst/>
            </a:prstGeom>
            <a:gradFill rotWithShape="0">
              <a:gsLst>
                <a:gs pos="0">
                  <a:srgbClr val="FFFFFF"/>
                </a:gs>
                <a:gs pos="100000">
                  <a:schemeClr val="hlink"/>
                </a:gs>
              </a:gsLst>
              <a:path path="shape">
                <a:fillToRect l="50000" t="50000" r="50000" b="50000"/>
              </a:path>
            </a:gradFill>
            <a:ln w="9525">
              <a:noFill/>
              <a:round/>
              <a:headEnd/>
              <a:tailEnd/>
            </a:ln>
            <a:effectLst/>
          </p:spPr>
          <p:txBody>
            <a:bodyPr wrap="none" anchor="ctr"/>
            <a:lstStyle/>
            <a:p>
              <a:endParaRPr lang="en-US" dirty="0"/>
            </a:p>
          </p:txBody>
        </p:sp>
        <p:sp>
          <p:nvSpPr>
            <p:cNvPr id="1543258" name="Oval 90"/>
            <p:cNvSpPr>
              <a:spLocks noChangeArrowheads="1"/>
            </p:cNvSpPr>
            <p:nvPr/>
          </p:nvSpPr>
          <p:spPr bwMode="auto">
            <a:xfrm>
              <a:off x="1392" y="2208"/>
              <a:ext cx="96" cy="96"/>
            </a:xfrm>
            <a:prstGeom prst="ellipse">
              <a:avLst/>
            </a:prstGeom>
            <a:gradFill rotWithShape="0">
              <a:gsLst>
                <a:gs pos="0">
                  <a:srgbClr val="FFFFFF"/>
                </a:gs>
                <a:gs pos="100000">
                  <a:schemeClr val="hlink"/>
                </a:gs>
              </a:gsLst>
              <a:path path="shape">
                <a:fillToRect l="50000" t="50000" r="50000" b="50000"/>
              </a:path>
            </a:gradFill>
            <a:ln w="9525">
              <a:noFill/>
              <a:round/>
              <a:headEnd/>
              <a:tailEnd/>
            </a:ln>
            <a:effectLst/>
          </p:spPr>
          <p:txBody>
            <a:bodyPr wrap="none" anchor="ctr"/>
            <a:lstStyle/>
            <a:p>
              <a:endParaRPr lang="en-US" dirty="0"/>
            </a:p>
          </p:txBody>
        </p:sp>
        <p:sp>
          <p:nvSpPr>
            <p:cNvPr id="1543259" name="Oval 91"/>
            <p:cNvSpPr>
              <a:spLocks noChangeArrowheads="1"/>
            </p:cNvSpPr>
            <p:nvPr/>
          </p:nvSpPr>
          <p:spPr bwMode="auto">
            <a:xfrm>
              <a:off x="1104" y="2640"/>
              <a:ext cx="96" cy="96"/>
            </a:xfrm>
            <a:prstGeom prst="ellipse">
              <a:avLst/>
            </a:prstGeom>
            <a:gradFill rotWithShape="0">
              <a:gsLst>
                <a:gs pos="0">
                  <a:srgbClr val="FFFFFF"/>
                </a:gs>
                <a:gs pos="100000">
                  <a:schemeClr val="hlink"/>
                </a:gs>
              </a:gsLst>
              <a:path path="shape">
                <a:fillToRect l="50000" t="50000" r="50000" b="50000"/>
              </a:path>
            </a:gradFill>
            <a:ln w="9525">
              <a:noFill/>
              <a:round/>
              <a:headEnd/>
              <a:tailEnd/>
            </a:ln>
            <a:effectLst/>
          </p:spPr>
          <p:txBody>
            <a:bodyPr wrap="none" anchor="ctr"/>
            <a:lstStyle/>
            <a:p>
              <a:endParaRPr lang="en-US" dirty="0"/>
            </a:p>
          </p:txBody>
        </p:sp>
      </p:grpSp>
      <p:sp>
        <p:nvSpPr>
          <p:cNvPr id="1543260" name="Text Box 92"/>
          <p:cNvSpPr txBox="1">
            <a:spLocks noChangeArrowheads="1"/>
          </p:cNvSpPr>
          <p:nvPr/>
        </p:nvSpPr>
        <p:spPr bwMode="auto">
          <a:xfrm>
            <a:off x="304800" y="5230836"/>
            <a:ext cx="2362200" cy="830997"/>
          </a:xfrm>
          <a:prstGeom prst="rect">
            <a:avLst/>
          </a:prstGeom>
          <a:noFill/>
          <a:ln w="9525">
            <a:noFill/>
            <a:miter lim="800000"/>
            <a:headEnd/>
            <a:tailEnd/>
          </a:ln>
          <a:effectLst/>
        </p:spPr>
        <p:txBody>
          <a:bodyPr>
            <a:spAutoFit/>
          </a:bodyPr>
          <a:lstStyle/>
          <a:p>
            <a:pPr algn="ctr" eaLnBrk="1" hangingPunct="1">
              <a:spcBef>
                <a:spcPct val="50000"/>
              </a:spcBef>
            </a:pPr>
            <a:r>
              <a:rPr lang="en-US" sz="1600" dirty="0"/>
              <a:t>When significant part of functionality available in user interface.</a:t>
            </a:r>
          </a:p>
        </p:txBody>
      </p:sp>
      <p:sp>
        <p:nvSpPr>
          <p:cNvPr id="1543261" name="Text Box 93"/>
          <p:cNvSpPr txBox="1">
            <a:spLocks noChangeArrowheads="1"/>
          </p:cNvSpPr>
          <p:nvPr/>
        </p:nvSpPr>
        <p:spPr bwMode="auto">
          <a:xfrm>
            <a:off x="2971800" y="5230836"/>
            <a:ext cx="2971800" cy="1069975"/>
          </a:xfrm>
          <a:prstGeom prst="rect">
            <a:avLst/>
          </a:prstGeom>
          <a:noFill/>
          <a:ln w="9525">
            <a:noFill/>
            <a:miter lim="800000"/>
            <a:headEnd/>
            <a:tailEnd/>
          </a:ln>
          <a:effectLst/>
        </p:spPr>
        <p:txBody>
          <a:bodyPr>
            <a:spAutoFit/>
          </a:bodyPr>
          <a:lstStyle/>
          <a:p>
            <a:pPr algn="ctr" eaLnBrk="1" hangingPunct="1">
              <a:spcBef>
                <a:spcPct val="50000"/>
              </a:spcBef>
            </a:pPr>
            <a:r>
              <a:rPr lang="en-US" sz="1600" dirty="0"/>
              <a:t>When functionality is available from below GUI or from side (components / modules and their interfaces)</a:t>
            </a:r>
            <a:endParaRPr lang="en-GB" sz="1600" dirty="0"/>
          </a:p>
        </p:txBody>
      </p:sp>
      <p:sp>
        <p:nvSpPr>
          <p:cNvPr id="1543262" name="Text Box 94"/>
          <p:cNvSpPr txBox="1">
            <a:spLocks noChangeArrowheads="1"/>
          </p:cNvSpPr>
          <p:nvPr/>
        </p:nvSpPr>
        <p:spPr bwMode="auto">
          <a:xfrm>
            <a:off x="6248400" y="5230836"/>
            <a:ext cx="2362200" cy="825500"/>
          </a:xfrm>
          <a:prstGeom prst="rect">
            <a:avLst/>
          </a:prstGeom>
          <a:noFill/>
          <a:ln w="9525">
            <a:noFill/>
            <a:miter lim="800000"/>
            <a:headEnd/>
            <a:tailEnd/>
          </a:ln>
          <a:effectLst/>
        </p:spPr>
        <p:txBody>
          <a:bodyPr>
            <a:spAutoFit/>
          </a:bodyPr>
          <a:lstStyle/>
          <a:p>
            <a:pPr algn="ctr" eaLnBrk="1" hangingPunct="1">
              <a:spcBef>
                <a:spcPct val="50000"/>
              </a:spcBef>
            </a:pPr>
            <a:r>
              <a:rPr lang="en-US" sz="1600" dirty="0"/>
              <a:t>When each unit can be used to catch the problems</a:t>
            </a:r>
            <a:endParaRPr lang="en-GB" sz="1600" dirty="0"/>
          </a:p>
        </p:txBody>
      </p:sp>
      <p:sp>
        <p:nvSpPr>
          <p:cNvPr id="1543263" name="Line 95"/>
          <p:cNvSpPr>
            <a:spLocks noChangeShapeType="1"/>
          </p:cNvSpPr>
          <p:nvPr/>
        </p:nvSpPr>
        <p:spPr bwMode="auto">
          <a:xfrm flipV="1">
            <a:off x="6629400" y="4926036"/>
            <a:ext cx="228600" cy="304800"/>
          </a:xfrm>
          <a:prstGeom prst="line">
            <a:avLst/>
          </a:prstGeom>
          <a:noFill/>
          <a:ln w="38100">
            <a:solidFill>
              <a:srgbClr val="FF9933"/>
            </a:solidFill>
            <a:round/>
            <a:headEnd/>
            <a:tailEnd type="triangle" w="med" len="med"/>
          </a:ln>
          <a:effectLst/>
        </p:spPr>
        <p:txBody>
          <a:bodyPr/>
          <a:lstStyle/>
          <a:p>
            <a:endParaRPr lang="en-US" dirty="0"/>
          </a:p>
        </p:txBody>
      </p:sp>
      <p:sp>
        <p:nvSpPr>
          <p:cNvPr id="1543264" name="Line 96"/>
          <p:cNvSpPr>
            <a:spLocks noChangeShapeType="1"/>
          </p:cNvSpPr>
          <p:nvPr/>
        </p:nvSpPr>
        <p:spPr bwMode="auto">
          <a:xfrm>
            <a:off x="1524000" y="2259036"/>
            <a:ext cx="0" cy="381000"/>
          </a:xfrm>
          <a:prstGeom prst="line">
            <a:avLst/>
          </a:prstGeom>
          <a:noFill/>
          <a:ln w="38100">
            <a:solidFill>
              <a:srgbClr val="FF9933"/>
            </a:solidFill>
            <a:round/>
            <a:headEnd/>
            <a:tailEnd type="triangle" w="med" len="med"/>
          </a:ln>
          <a:effectLst/>
        </p:spPr>
        <p:txBody>
          <a:bodyPr/>
          <a:lstStyle/>
          <a:p>
            <a:endParaRPr lang="en-US" dirty="0"/>
          </a:p>
        </p:txBody>
      </p:sp>
      <p:sp>
        <p:nvSpPr>
          <p:cNvPr id="1543265" name="Line 97"/>
          <p:cNvSpPr>
            <a:spLocks noChangeShapeType="1"/>
          </p:cNvSpPr>
          <p:nvPr/>
        </p:nvSpPr>
        <p:spPr bwMode="auto">
          <a:xfrm>
            <a:off x="4419600" y="3021036"/>
            <a:ext cx="0" cy="381000"/>
          </a:xfrm>
          <a:prstGeom prst="line">
            <a:avLst/>
          </a:prstGeom>
          <a:noFill/>
          <a:ln w="38100">
            <a:solidFill>
              <a:srgbClr val="FF9933"/>
            </a:solidFill>
            <a:round/>
            <a:headEnd/>
            <a:tailEnd type="triangle" w="med" len="med"/>
          </a:ln>
          <a:effectLst/>
        </p:spPr>
        <p:txBody>
          <a:bodyPr/>
          <a:lstStyle/>
          <a:p>
            <a:endParaRPr lang="en-US" dirty="0"/>
          </a:p>
        </p:txBody>
      </p:sp>
      <p:sp>
        <p:nvSpPr>
          <p:cNvPr id="1543266" name="Line 98"/>
          <p:cNvSpPr>
            <a:spLocks noChangeShapeType="1"/>
          </p:cNvSpPr>
          <p:nvPr/>
        </p:nvSpPr>
        <p:spPr bwMode="auto">
          <a:xfrm>
            <a:off x="3124200" y="3402036"/>
            <a:ext cx="2743200" cy="0"/>
          </a:xfrm>
          <a:prstGeom prst="line">
            <a:avLst/>
          </a:prstGeom>
          <a:noFill/>
          <a:ln w="38100">
            <a:solidFill>
              <a:schemeClr val="accent2"/>
            </a:solidFill>
            <a:prstDash val="dash"/>
            <a:round/>
            <a:headEnd/>
            <a:tailEnd/>
          </a:ln>
          <a:effectLst/>
        </p:spPr>
        <p:txBody>
          <a:bodyPr/>
          <a:lstStyle/>
          <a:p>
            <a:endParaRPr lang="en-US" dirty="0"/>
          </a:p>
        </p:txBody>
      </p:sp>
      <p:sp>
        <p:nvSpPr>
          <p:cNvPr id="1543267" name="Line 99"/>
          <p:cNvSpPr>
            <a:spLocks noChangeShapeType="1"/>
          </p:cNvSpPr>
          <p:nvPr/>
        </p:nvSpPr>
        <p:spPr bwMode="auto">
          <a:xfrm>
            <a:off x="304800" y="6450036"/>
            <a:ext cx="5791200" cy="0"/>
          </a:xfrm>
          <a:prstGeom prst="line">
            <a:avLst/>
          </a:prstGeom>
          <a:noFill/>
          <a:ln w="28575">
            <a:solidFill>
              <a:srgbClr val="FF3300"/>
            </a:solidFill>
            <a:round/>
            <a:headEnd type="triangle" w="med" len="med"/>
            <a:tailEnd type="triangle" w="med" len="med"/>
          </a:ln>
          <a:effectLst/>
        </p:spPr>
        <p:txBody>
          <a:bodyPr/>
          <a:lstStyle/>
          <a:p>
            <a:endParaRPr lang="en-US" dirty="0"/>
          </a:p>
        </p:txBody>
      </p:sp>
      <p:sp>
        <p:nvSpPr>
          <p:cNvPr id="1543268" name="Text Box 100"/>
          <p:cNvSpPr txBox="1">
            <a:spLocks noChangeArrowheads="1"/>
          </p:cNvSpPr>
          <p:nvPr/>
        </p:nvSpPr>
        <p:spPr bwMode="auto">
          <a:xfrm>
            <a:off x="1676400" y="6450036"/>
            <a:ext cx="2286000" cy="336550"/>
          </a:xfrm>
          <a:prstGeom prst="rect">
            <a:avLst/>
          </a:prstGeom>
          <a:noFill/>
          <a:ln w="9525">
            <a:noFill/>
            <a:miter lim="800000"/>
            <a:headEnd/>
            <a:tailEnd/>
          </a:ln>
          <a:effectLst/>
        </p:spPr>
        <p:txBody>
          <a:bodyPr>
            <a:spAutoFit/>
          </a:bodyPr>
          <a:lstStyle/>
          <a:p>
            <a:pPr algn="ctr" eaLnBrk="1" hangingPunct="1">
              <a:spcBef>
                <a:spcPct val="50000"/>
              </a:spcBef>
            </a:pPr>
            <a:r>
              <a:rPr lang="en-US" sz="1600" dirty="0">
                <a:solidFill>
                  <a:srgbClr val="FF3300"/>
                </a:solidFill>
              </a:rPr>
              <a:t>“tester territory”</a:t>
            </a:r>
            <a:endParaRPr lang="en-GB" sz="1600" dirty="0">
              <a:solidFill>
                <a:srgbClr val="FF3300"/>
              </a:solidFill>
            </a:endParaRPr>
          </a:p>
        </p:txBody>
      </p:sp>
      <p:sp>
        <p:nvSpPr>
          <p:cNvPr id="1543269" name="Line 101"/>
          <p:cNvSpPr>
            <a:spLocks noChangeShapeType="1"/>
          </p:cNvSpPr>
          <p:nvPr/>
        </p:nvSpPr>
        <p:spPr bwMode="auto">
          <a:xfrm>
            <a:off x="6172200" y="6450036"/>
            <a:ext cx="2743200" cy="0"/>
          </a:xfrm>
          <a:prstGeom prst="line">
            <a:avLst/>
          </a:prstGeom>
          <a:noFill/>
          <a:ln w="28575">
            <a:solidFill>
              <a:srgbClr val="00FF00"/>
            </a:solidFill>
            <a:round/>
            <a:headEnd type="triangle" w="med" len="med"/>
            <a:tailEnd type="triangle" w="med" len="med"/>
          </a:ln>
          <a:effectLst/>
        </p:spPr>
        <p:txBody>
          <a:bodyPr/>
          <a:lstStyle/>
          <a:p>
            <a:endParaRPr lang="en-US" dirty="0"/>
          </a:p>
        </p:txBody>
      </p:sp>
      <p:sp>
        <p:nvSpPr>
          <p:cNvPr id="1543270" name="Text Box 102"/>
          <p:cNvSpPr txBox="1">
            <a:spLocks noChangeArrowheads="1"/>
          </p:cNvSpPr>
          <p:nvPr/>
        </p:nvSpPr>
        <p:spPr bwMode="auto">
          <a:xfrm>
            <a:off x="6400800" y="6450036"/>
            <a:ext cx="2286000" cy="336550"/>
          </a:xfrm>
          <a:prstGeom prst="rect">
            <a:avLst/>
          </a:prstGeom>
          <a:noFill/>
          <a:ln w="9525">
            <a:noFill/>
            <a:miter lim="800000"/>
            <a:headEnd/>
            <a:tailEnd/>
          </a:ln>
          <a:effectLst/>
        </p:spPr>
        <p:txBody>
          <a:bodyPr>
            <a:spAutoFit/>
          </a:bodyPr>
          <a:lstStyle/>
          <a:p>
            <a:pPr algn="ctr" eaLnBrk="1" hangingPunct="1">
              <a:spcBef>
                <a:spcPct val="50000"/>
              </a:spcBef>
            </a:pPr>
            <a:r>
              <a:rPr lang="en-US" sz="1600" dirty="0">
                <a:solidFill>
                  <a:srgbClr val="00FF00"/>
                </a:solidFill>
              </a:rPr>
              <a:t>“developer territory”</a:t>
            </a:r>
            <a:endParaRPr lang="en-GB" sz="1600" dirty="0">
              <a:solidFill>
                <a:srgbClr val="00FF00"/>
              </a:solidFill>
            </a:endParaRPr>
          </a:p>
        </p:txBody>
      </p:sp>
      <p:sp>
        <p:nvSpPr>
          <p:cNvPr id="103" name="Slide Number Placeholder 102"/>
          <p:cNvSpPr>
            <a:spLocks noGrp="1"/>
          </p:cNvSpPr>
          <p:nvPr>
            <p:ph type="sldNum" sz="quarter" idx="12"/>
          </p:nvPr>
        </p:nvSpPr>
        <p:spPr/>
        <p:txBody>
          <a:bodyPr/>
          <a:lstStyle/>
          <a:p>
            <a:fld id="{B6F15528-21DE-4FAA-801E-634DDDAF4B2B}" type="slidenum">
              <a:rPr lang="en-US" smtClean="0"/>
              <a:pPr/>
              <a:t>5</a:t>
            </a:fld>
            <a:endParaRPr lang="en-US" dirty="0"/>
          </a:p>
        </p:txBody>
      </p:sp>
    </p:spTree>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1122" name="Oval 2"/>
          <p:cNvSpPr>
            <a:spLocks noChangeArrowheads="1"/>
          </p:cNvSpPr>
          <p:nvPr/>
        </p:nvSpPr>
        <p:spPr bwMode="auto">
          <a:xfrm>
            <a:off x="4953000" y="2762272"/>
            <a:ext cx="2209800" cy="2133600"/>
          </a:xfrm>
          <a:prstGeom prst="ellipse">
            <a:avLst/>
          </a:prstGeom>
          <a:gradFill rotWithShape="0">
            <a:gsLst>
              <a:gs pos="0">
                <a:srgbClr val="FFFFFF"/>
              </a:gs>
              <a:gs pos="100000">
                <a:srgbClr val="FF9933"/>
              </a:gs>
            </a:gsLst>
            <a:path path="shape">
              <a:fillToRect l="50000" t="50000" r="50000" b="50000"/>
            </a:path>
          </a:gradFill>
          <a:ln w="9525">
            <a:noFill/>
            <a:round/>
            <a:headEnd/>
            <a:tailEnd/>
          </a:ln>
          <a:effectLst/>
        </p:spPr>
        <p:txBody>
          <a:bodyPr wrap="none" anchor="ctr"/>
          <a:lstStyle/>
          <a:p>
            <a:endParaRPr lang="en-US" dirty="0"/>
          </a:p>
        </p:txBody>
      </p:sp>
      <p:sp>
        <p:nvSpPr>
          <p:cNvPr id="1541123" name="Rectangle 3"/>
          <p:cNvSpPr>
            <a:spLocks noGrp="1" noChangeArrowheads="1"/>
          </p:cNvSpPr>
          <p:nvPr>
            <p:ph type="title"/>
          </p:nvPr>
        </p:nvSpPr>
        <p:spPr/>
        <p:txBody>
          <a:bodyPr>
            <a:normAutofit fontScale="90000"/>
          </a:bodyPr>
          <a:lstStyle/>
          <a:p>
            <a:r>
              <a:rPr lang="en-GB" dirty="0"/>
              <a:t>From View of Testing to Two Kinds of Automation</a:t>
            </a:r>
          </a:p>
        </p:txBody>
      </p:sp>
      <p:sp>
        <p:nvSpPr>
          <p:cNvPr id="1541124" name="Line 4"/>
          <p:cNvSpPr>
            <a:spLocks noChangeShapeType="1"/>
          </p:cNvSpPr>
          <p:nvPr/>
        </p:nvSpPr>
        <p:spPr bwMode="auto">
          <a:xfrm>
            <a:off x="4572000" y="1924072"/>
            <a:ext cx="0" cy="4114800"/>
          </a:xfrm>
          <a:prstGeom prst="line">
            <a:avLst/>
          </a:prstGeom>
          <a:noFill/>
          <a:ln w="9525">
            <a:solidFill>
              <a:schemeClr val="tx1"/>
            </a:solidFill>
            <a:prstDash val="dash"/>
            <a:round/>
            <a:headEnd/>
            <a:tailEnd/>
          </a:ln>
          <a:effectLst/>
        </p:spPr>
        <p:txBody>
          <a:bodyPr/>
          <a:lstStyle/>
          <a:p>
            <a:endParaRPr lang="en-US" dirty="0"/>
          </a:p>
        </p:txBody>
      </p:sp>
      <p:sp>
        <p:nvSpPr>
          <p:cNvPr id="1541125" name="Text Box 5"/>
          <p:cNvSpPr txBox="1">
            <a:spLocks noChangeArrowheads="1"/>
          </p:cNvSpPr>
          <p:nvPr/>
        </p:nvSpPr>
        <p:spPr bwMode="auto">
          <a:xfrm>
            <a:off x="685800" y="1847872"/>
            <a:ext cx="3657600" cy="336550"/>
          </a:xfrm>
          <a:prstGeom prst="rect">
            <a:avLst/>
          </a:prstGeom>
          <a:noFill/>
          <a:ln w="9525">
            <a:noFill/>
            <a:miter lim="800000"/>
            <a:headEnd/>
            <a:tailEnd/>
          </a:ln>
          <a:effectLst/>
        </p:spPr>
        <p:txBody>
          <a:bodyPr>
            <a:spAutoFit/>
          </a:bodyPr>
          <a:lstStyle/>
          <a:p>
            <a:pPr algn="ctr" eaLnBrk="1" hangingPunct="1">
              <a:spcBef>
                <a:spcPct val="50000"/>
              </a:spcBef>
            </a:pPr>
            <a:r>
              <a:rPr lang="en-US" sz="1600" b="1" dirty="0"/>
              <a:t>Regression test automation</a:t>
            </a:r>
            <a:endParaRPr lang="en-GB" sz="1600" b="1" dirty="0"/>
          </a:p>
        </p:txBody>
      </p:sp>
      <p:sp>
        <p:nvSpPr>
          <p:cNvPr id="1541126" name="Text Box 6"/>
          <p:cNvSpPr txBox="1">
            <a:spLocks noChangeArrowheads="1"/>
          </p:cNvSpPr>
          <p:nvPr/>
        </p:nvSpPr>
        <p:spPr bwMode="auto">
          <a:xfrm>
            <a:off x="5029200" y="1876447"/>
            <a:ext cx="3657600" cy="336550"/>
          </a:xfrm>
          <a:prstGeom prst="rect">
            <a:avLst/>
          </a:prstGeom>
          <a:noFill/>
          <a:ln w="9525">
            <a:noFill/>
            <a:miter lim="800000"/>
            <a:headEnd/>
            <a:tailEnd/>
          </a:ln>
          <a:effectLst/>
        </p:spPr>
        <p:txBody>
          <a:bodyPr>
            <a:spAutoFit/>
          </a:bodyPr>
          <a:lstStyle/>
          <a:p>
            <a:pPr algn="ctr" eaLnBrk="1" hangingPunct="1">
              <a:spcBef>
                <a:spcPct val="50000"/>
              </a:spcBef>
            </a:pPr>
            <a:r>
              <a:rPr lang="en-US" sz="1600" b="1" dirty="0"/>
              <a:t>Extending automation</a:t>
            </a:r>
            <a:endParaRPr lang="en-GB" sz="1600" b="1" dirty="0"/>
          </a:p>
        </p:txBody>
      </p:sp>
      <p:sp>
        <p:nvSpPr>
          <p:cNvPr id="1541127" name="Text Box 7"/>
          <p:cNvSpPr txBox="1">
            <a:spLocks noChangeArrowheads="1"/>
          </p:cNvSpPr>
          <p:nvPr/>
        </p:nvSpPr>
        <p:spPr bwMode="auto">
          <a:xfrm>
            <a:off x="304800" y="5013347"/>
            <a:ext cx="3886200" cy="1558925"/>
          </a:xfrm>
          <a:prstGeom prst="rect">
            <a:avLst/>
          </a:prstGeom>
          <a:noFill/>
          <a:ln w="9525">
            <a:noFill/>
            <a:miter lim="800000"/>
            <a:headEnd/>
            <a:tailEnd/>
          </a:ln>
          <a:effectLst/>
        </p:spPr>
        <p:txBody>
          <a:bodyPr>
            <a:spAutoFit/>
          </a:bodyPr>
          <a:lstStyle/>
          <a:p>
            <a:pPr algn="ctr" eaLnBrk="1" hangingPunct="1">
              <a:spcBef>
                <a:spcPct val="50000"/>
              </a:spcBef>
            </a:pPr>
            <a:r>
              <a:rPr lang="en-US" sz="1600" i="1" dirty="0"/>
              <a:t>Are there cheaper ways of noticing if parts broke?</a:t>
            </a:r>
            <a:endParaRPr lang="fi-FI" sz="1600"/>
          </a:p>
          <a:p>
            <a:pPr algn="ctr" eaLnBrk="1" hangingPunct="1">
              <a:spcBef>
                <a:spcPct val="50000"/>
              </a:spcBef>
              <a:buFont typeface="Wingdings" pitchFamily="2" charset="2"/>
              <a:buChar char="à"/>
            </a:pPr>
            <a:r>
              <a:rPr lang="fi-FI" sz="1600">
                <a:sym typeface="Wingdings" pitchFamily="2" charset="2"/>
              </a:rPr>
              <a:t>Configuration management</a:t>
            </a:r>
          </a:p>
          <a:p>
            <a:pPr algn="ctr" eaLnBrk="1" hangingPunct="1">
              <a:spcBef>
                <a:spcPct val="50000"/>
              </a:spcBef>
              <a:buFont typeface="Wingdings" pitchFamily="2" charset="2"/>
              <a:buChar char="à"/>
            </a:pPr>
            <a:r>
              <a:rPr lang="en-GB" sz="1600" dirty="0"/>
              <a:t>Unit test automation as “change detector”</a:t>
            </a:r>
          </a:p>
        </p:txBody>
      </p:sp>
      <p:sp>
        <p:nvSpPr>
          <p:cNvPr id="1541128" name="Text Box 8"/>
          <p:cNvSpPr txBox="1">
            <a:spLocks noChangeArrowheads="1"/>
          </p:cNvSpPr>
          <p:nvPr/>
        </p:nvSpPr>
        <p:spPr bwMode="auto">
          <a:xfrm>
            <a:off x="4876800" y="4972072"/>
            <a:ext cx="3886200" cy="1192213"/>
          </a:xfrm>
          <a:prstGeom prst="rect">
            <a:avLst/>
          </a:prstGeom>
          <a:noFill/>
          <a:ln w="9525">
            <a:noFill/>
            <a:miter lim="800000"/>
            <a:headEnd/>
            <a:tailEnd/>
          </a:ln>
          <a:effectLst/>
        </p:spPr>
        <p:txBody>
          <a:bodyPr>
            <a:spAutoFit/>
          </a:bodyPr>
          <a:lstStyle/>
          <a:p>
            <a:pPr algn="ctr" eaLnBrk="1" hangingPunct="1">
              <a:spcBef>
                <a:spcPct val="50000"/>
              </a:spcBef>
            </a:pPr>
            <a:r>
              <a:rPr lang="en-US" sz="1600" i="1" dirty="0"/>
              <a:t>Are there problem types that are important but difficult if not impossible to find manually?</a:t>
            </a:r>
          </a:p>
          <a:p>
            <a:pPr algn="ctr" eaLnBrk="1" hangingPunct="1">
              <a:spcBef>
                <a:spcPct val="50000"/>
              </a:spcBef>
              <a:buFont typeface="Wingdings" pitchFamily="2" charset="2"/>
              <a:buChar char="à"/>
            </a:pPr>
            <a:r>
              <a:rPr lang="fi-FI" sz="1600">
                <a:sym typeface="Wingdings" pitchFamily="2" charset="2"/>
              </a:rPr>
              <a:t> Extending test automation</a:t>
            </a:r>
          </a:p>
        </p:txBody>
      </p:sp>
      <p:sp>
        <p:nvSpPr>
          <p:cNvPr id="1541129" name="Oval 9"/>
          <p:cNvSpPr>
            <a:spLocks noChangeArrowheads="1"/>
          </p:cNvSpPr>
          <p:nvPr/>
        </p:nvSpPr>
        <p:spPr bwMode="auto">
          <a:xfrm>
            <a:off x="1981200" y="2876572"/>
            <a:ext cx="1676400" cy="1638300"/>
          </a:xfrm>
          <a:prstGeom prst="ellipse">
            <a:avLst/>
          </a:prstGeom>
          <a:gradFill rotWithShape="0">
            <a:gsLst>
              <a:gs pos="0">
                <a:schemeClr val="bg1"/>
              </a:gs>
              <a:gs pos="100000">
                <a:schemeClr val="accent1"/>
              </a:gs>
            </a:gsLst>
            <a:path path="shape">
              <a:fillToRect l="50000" t="50000" r="50000" b="50000"/>
            </a:path>
          </a:gradFill>
          <a:ln w="9525">
            <a:noFill/>
            <a:round/>
            <a:headEnd/>
            <a:tailEnd/>
          </a:ln>
          <a:effectLst/>
        </p:spPr>
        <p:txBody>
          <a:bodyPr wrap="none" anchor="ctr"/>
          <a:lstStyle/>
          <a:p>
            <a:endParaRPr lang="en-US" dirty="0"/>
          </a:p>
        </p:txBody>
      </p:sp>
      <p:sp>
        <p:nvSpPr>
          <p:cNvPr id="1541130" name="Oval 10"/>
          <p:cNvSpPr>
            <a:spLocks noChangeArrowheads="1"/>
          </p:cNvSpPr>
          <p:nvPr/>
        </p:nvSpPr>
        <p:spPr bwMode="auto">
          <a:xfrm>
            <a:off x="2133600" y="3067072"/>
            <a:ext cx="990600" cy="990600"/>
          </a:xfrm>
          <a:prstGeom prst="ellipse">
            <a:avLst/>
          </a:prstGeom>
          <a:gradFill rotWithShape="0">
            <a:gsLst>
              <a:gs pos="0">
                <a:srgbClr val="FFFFFF"/>
              </a:gs>
              <a:gs pos="100000">
                <a:schemeClr val="hlink"/>
              </a:gs>
            </a:gsLst>
            <a:path path="shape">
              <a:fillToRect l="50000" t="50000" r="50000" b="50000"/>
            </a:path>
          </a:gradFill>
          <a:ln w="9525">
            <a:noFill/>
            <a:round/>
            <a:headEnd/>
            <a:tailEnd/>
          </a:ln>
          <a:effectLst/>
        </p:spPr>
        <p:txBody>
          <a:bodyPr wrap="none" anchor="ctr"/>
          <a:lstStyle/>
          <a:p>
            <a:endParaRPr lang="en-US" dirty="0"/>
          </a:p>
        </p:txBody>
      </p:sp>
      <p:sp>
        <p:nvSpPr>
          <p:cNvPr id="1541131" name="Oval 11"/>
          <p:cNvSpPr>
            <a:spLocks noChangeArrowheads="1"/>
          </p:cNvSpPr>
          <p:nvPr/>
        </p:nvSpPr>
        <p:spPr bwMode="auto">
          <a:xfrm>
            <a:off x="5105400" y="2914672"/>
            <a:ext cx="1676400" cy="1638300"/>
          </a:xfrm>
          <a:prstGeom prst="ellipse">
            <a:avLst/>
          </a:prstGeom>
          <a:gradFill rotWithShape="0">
            <a:gsLst>
              <a:gs pos="0">
                <a:schemeClr val="bg1"/>
              </a:gs>
              <a:gs pos="100000">
                <a:schemeClr val="accent1"/>
              </a:gs>
            </a:gsLst>
            <a:path path="shape">
              <a:fillToRect l="50000" t="50000" r="50000" b="50000"/>
            </a:path>
          </a:gradFill>
          <a:ln w="9525">
            <a:noFill/>
            <a:round/>
            <a:headEnd/>
            <a:tailEnd/>
          </a:ln>
          <a:effectLst/>
        </p:spPr>
        <p:txBody>
          <a:bodyPr wrap="none" anchor="ctr"/>
          <a:lstStyle/>
          <a:p>
            <a:endParaRPr lang="en-US" dirty="0"/>
          </a:p>
        </p:txBody>
      </p:sp>
      <p:sp>
        <p:nvSpPr>
          <p:cNvPr id="1541132" name="Line 12"/>
          <p:cNvSpPr>
            <a:spLocks noChangeShapeType="1"/>
          </p:cNvSpPr>
          <p:nvPr/>
        </p:nvSpPr>
        <p:spPr bwMode="auto">
          <a:xfrm>
            <a:off x="1905000" y="3067072"/>
            <a:ext cx="609600" cy="457200"/>
          </a:xfrm>
          <a:prstGeom prst="line">
            <a:avLst/>
          </a:prstGeom>
          <a:noFill/>
          <a:ln w="9525">
            <a:solidFill>
              <a:schemeClr val="tx1"/>
            </a:solidFill>
            <a:round/>
            <a:headEnd/>
            <a:tailEnd type="triangle" w="med" len="med"/>
          </a:ln>
          <a:effectLst/>
        </p:spPr>
        <p:txBody>
          <a:bodyPr/>
          <a:lstStyle/>
          <a:p>
            <a:endParaRPr lang="en-US" dirty="0"/>
          </a:p>
        </p:txBody>
      </p:sp>
      <p:sp>
        <p:nvSpPr>
          <p:cNvPr id="1541133" name="Text Box 13"/>
          <p:cNvSpPr txBox="1">
            <a:spLocks noChangeArrowheads="1"/>
          </p:cNvSpPr>
          <p:nvPr/>
        </p:nvSpPr>
        <p:spPr bwMode="auto">
          <a:xfrm>
            <a:off x="304800" y="2606697"/>
            <a:ext cx="1600200" cy="825500"/>
          </a:xfrm>
          <a:prstGeom prst="rect">
            <a:avLst/>
          </a:prstGeom>
          <a:noFill/>
          <a:ln w="9525">
            <a:noFill/>
            <a:miter lim="800000"/>
            <a:headEnd/>
            <a:tailEnd/>
          </a:ln>
          <a:effectLst/>
        </p:spPr>
        <p:txBody>
          <a:bodyPr>
            <a:spAutoFit/>
          </a:bodyPr>
          <a:lstStyle/>
          <a:p>
            <a:pPr algn="ctr" eaLnBrk="1" hangingPunct="1">
              <a:spcBef>
                <a:spcPct val="50000"/>
              </a:spcBef>
            </a:pPr>
            <a:r>
              <a:rPr lang="en-US" sz="1600" dirty="0"/>
              <a:t>Choosing a subset of tests already passed</a:t>
            </a:r>
            <a:endParaRPr lang="en-GB" sz="1600" dirty="0"/>
          </a:p>
        </p:txBody>
      </p:sp>
      <p:sp>
        <p:nvSpPr>
          <p:cNvPr id="1541134" name="Text Box 14"/>
          <p:cNvSpPr txBox="1">
            <a:spLocks noChangeArrowheads="1"/>
          </p:cNvSpPr>
          <p:nvPr/>
        </p:nvSpPr>
        <p:spPr bwMode="auto">
          <a:xfrm>
            <a:off x="7391400" y="2762272"/>
            <a:ext cx="1600200" cy="1314450"/>
          </a:xfrm>
          <a:prstGeom prst="rect">
            <a:avLst/>
          </a:prstGeom>
          <a:noFill/>
          <a:ln w="9525">
            <a:noFill/>
            <a:miter lim="800000"/>
            <a:headEnd/>
            <a:tailEnd/>
          </a:ln>
          <a:effectLst/>
        </p:spPr>
        <p:txBody>
          <a:bodyPr>
            <a:spAutoFit/>
          </a:bodyPr>
          <a:lstStyle/>
          <a:p>
            <a:pPr algn="ctr" eaLnBrk="1" hangingPunct="1">
              <a:spcBef>
                <a:spcPct val="50000"/>
              </a:spcBef>
            </a:pPr>
            <a:r>
              <a:rPr lang="en-US" sz="1600" dirty="0"/>
              <a:t>Find test ideas that with automation can compliment other tests</a:t>
            </a:r>
            <a:endParaRPr lang="en-GB" sz="1600" dirty="0"/>
          </a:p>
        </p:txBody>
      </p:sp>
      <p:sp>
        <p:nvSpPr>
          <p:cNvPr id="1541135" name="Line 15"/>
          <p:cNvSpPr>
            <a:spLocks noChangeShapeType="1"/>
          </p:cNvSpPr>
          <p:nvPr/>
        </p:nvSpPr>
        <p:spPr bwMode="auto">
          <a:xfrm flipH="1">
            <a:off x="6934200" y="3143272"/>
            <a:ext cx="533400" cy="381000"/>
          </a:xfrm>
          <a:prstGeom prst="line">
            <a:avLst/>
          </a:prstGeom>
          <a:noFill/>
          <a:ln w="9525">
            <a:solidFill>
              <a:schemeClr val="tx1"/>
            </a:solidFill>
            <a:round/>
            <a:headEnd/>
            <a:tailEnd type="triangle" w="med" len="med"/>
          </a:ln>
          <a:effectLst/>
        </p:spPr>
        <p:txBody>
          <a:bodyPr/>
          <a:lstStyle/>
          <a:p>
            <a:endParaRPr lang="en-US" dirty="0"/>
          </a:p>
        </p:txBody>
      </p:sp>
      <p:sp>
        <p:nvSpPr>
          <p:cNvPr id="16" name="Slide Number Placeholder 15"/>
          <p:cNvSpPr>
            <a:spLocks noGrp="1"/>
          </p:cNvSpPr>
          <p:nvPr>
            <p:ph type="sldNum" sz="quarter" idx="12"/>
          </p:nvPr>
        </p:nvSpPr>
        <p:spPr/>
        <p:txBody>
          <a:bodyPr/>
          <a:lstStyle/>
          <a:p>
            <a:fld id="{B6F15528-21DE-4FAA-801E-634DDDAF4B2B}" type="slidenum">
              <a:rPr lang="en-US" smtClean="0"/>
              <a:pPr/>
              <a:t>6</a:t>
            </a:fld>
            <a:endParaRPr lang="en-US" dirty="0"/>
          </a:p>
        </p:txBody>
      </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9858" name="Line 2"/>
          <p:cNvSpPr>
            <a:spLocks noChangeShapeType="1"/>
          </p:cNvSpPr>
          <p:nvPr/>
        </p:nvSpPr>
        <p:spPr bwMode="auto">
          <a:xfrm flipV="1">
            <a:off x="1154113" y="2120900"/>
            <a:ext cx="0" cy="3597275"/>
          </a:xfrm>
          <a:prstGeom prst="line">
            <a:avLst/>
          </a:prstGeom>
          <a:noFill/>
          <a:ln w="19050">
            <a:solidFill>
              <a:schemeClr val="tx1"/>
            </a:solidFill>
            <a:round/>
            <a:headEnd/>
            <a:tailEnd type="triangle" w="med" len="med"/>
          </a:ln>
          <a:effectLst/>
        </p:spPr>
        <p:txBody>
          <a:bodyPr/>
          <a:lstStyle/>
          <a:p>
            <a:endParaRPr lang="en-US"/>
          </a:p>
        </p:txBody>
      </p:sp>
      <p:sp>
        <p:nvSpPr>
          <p:cNvPr id="1529859" name="Line 3"/>
          <p:cNvSpPr>
            <a:spLocks noChangeShapeType="1"/>
          </p:cNvSpPr>
          <p:nvPr/>
        </p:nvSpPr>
        <p:spPr bwMode="auto">
          <a:xfrm>
            <a:off x="1150938" y="5718175"/>
            <a:ext cx="5186362" cy="0"/>
          </a:xfrm>
          <a:prstGeom prst="line">
            <a:avLst/>
          </a:prstGeom>
          <a:noFill/>
          <a:ln w="19050">
            <a:solidFill>
              <a:schemeClr val="tx1"/>
            </a:solidFill>
            <a:round/>
            <a:headEnd/>
            <a:tailEnd type="triangle" w="med" len="med"/>
          </a:ln>
          <a:effectLst/>
        </p:spPr>
        <p:txBody>
          <a:bodyPr/>
          <a:lstStyle/>
          <a:p>
            <a:endParaRPr lang="en-US"/>
          </a:p>
        </p:txBody>
      </p:sp>
      <p:sp>
        <p:nvSpPr>
          <p:cNvPr id="1529860" name="Text Box 4"/>
          <p:cNvSpPr txBox="1">
            <a:spLocks noChangeArrowheads="1"/>
          </p:cNvSpPr>
          <p:nvPr/>
        </p:nvSpPr>
        <p:spPr bwMode="auto">
          <a:xfrm>
            <a:off x="1225550" y="2193925"/>
            <a:ext cx="1822450" cy="641350"/>
          </a:xfrm>
          <a:prstGeom prst="rect">
            <a:avLst/>
          </a:prstGeom>
          <a:noFill/>
          <a:ln w="9525">
            <a:noFill/>
            <a:miter lim="800000"/>
            <a:headEnd/>
            <a:tailEnd/>
          </a:ln>
          <a:effectLst/>
        </p:spPr>
        <p:txBody>
          <a:bodyPr>
            <a:spAutoFit/>
          </a:bodyPr>
          <a:lstStyle/>
          <a:p>
            <a:pPr algn="l" eaLnBrk="1" hangingPunct="1"/>
            <a:r>
              <a:rPr lang="fi-FI" b="1" dirty="0">
                <a:solidFill>
                  <a:srgbClr val="000000"/>
                </a:solidFill>
              </a:rPr>
              <a:t>No of </a:t>
            </a:r>
            <a:r>
              <a:rPr lang="fi-FI" b="1" dirty="0" err="1">
                <a:solidFill>
                  <a:srgbClr val="000000"/>
                </a:solidFill>
              </a:rPr>
              <a:t>tests</a:t>
            </a:r>
            <a:r>
              <a:rPr lang="fi-FI" b="1" dirty="0">
                <a:solidFill>
                  <a:srgbClr val="000000"/>
                </a:solidFill>
              </a:rPr>
              <a:t> </a:t>
            </a:r>
            <a:r>
              <a:rPr lang="fi-FI" b="1" dirty="0" err="1">
                <a:solidFill>
                  <a:srgbClr val="000000"/>
                </a:solidFill>
              </a:rPr>
              <a:t>needed</a:t>
            </a:r>
            <a:endParaRPr lang="en-US" b="1" dirty="0">
              <a:solidFill>
                <a:srgbClr val="000000"/>
              </a:solidFill>
            </a:endParaRPr>
          </a:p>
        </p:txBody>
      </p:sp>
      <p:sp>
        <p:nvSpPr>
          <p:cNvPr id="1529861" name="Text Box 5"/>
          <p:cNvSpPr txBox="1">
            <a:spLocks noChangeArrowheads="1"/>
          </p:cNvSpPr>
          <p:nvPr/>
        </p:nvSpPr>
        <p:spPr bwMode="auto">
          <a:xfrm>
            <a:off x="5181600" y="5715000"/>
            <a:ext cx="2016125" cy="641350"/>
          </a:xfrm>
          <a:prstGeom prst="rect">
            <a:avLst/>
          </a:prstGeom>
          <a:noFill/>
          <a:ln w="9525">
            <a:noFill/>
            <a:miter lim="800000"/>
            <a:headEnd/>
            <a:tailEnd/>
          </a:ln>
          <a:effectLst/>
        </p:spPr>
        <p:txBody>
          <a:bodyPr>
            <a:spAutoFit/>
          </a:bodyPr>
          <a:lstStyle/>
          <a:p>
            <a:pPr algn="l" eaLnBrk="1" hangingPunct="1"/>
            <a:r>
              <a:rPr lang="fi-FI" b="1" dirty="0">
                <a:solidFill>
                  <a:srgbClr val="000000"/>
                </a:solidFill>
              </a:rPr>
              <a:t>System </a:t>
            </a:r>
            <a:r>
              <a:rPr lang="fi-FI" b="1" dirty="0" err="1">
                <a:solidFill>
                  <a:srgbClr val="000000"/>
                </a:solidFill>
              </a:rPr>
              <a:t>complexity</a:t>
            </a:r>
            <a:endParaRPr lang="en-US" b="1" dirty="0">
              <a:solidFill>
                <a:srgbClr val="000000"/>
              </a:solidFill>
            </a:endParaRPr>
          </a:p>
        </p:txBody>
      </p:sp>
      <p:sp>
        <p:nvSpPr>
          <p:cNvPr id="1529862" name="Rectangle 6"/>
          <p:cNvSpPr>
            <a:spLocks noGrp="1" noChangeArrowheads="1"/>
          </p:cNvSpPr>
          <p:nvPr>
            <p:ph type="title"/>
          </p:nvPr>
        </p:nvSpPr>
        <p:spPr/>
        <p:txBody>
          <a:bodyPr>
            <a:normAutofit fontScale="90000"/>
          </a:bodyPr>
          <a:lstStyle/>
          <a:p>
            <a:r>
              <a:rPr lang="fi-FI"/>
              <a:t>Automation is Only Part of the Solution</a:t>
            </a:r>
            <a:endParaRPr lang="en-US"/>
          </a:p>
        </p:txBody>
      </p:sp>
      <p:sp>
        <p:nvSpPr>
          <p:cNvPr id="1529863" name="Freeform 7"/>
          <p:cNvSpPr>
            <a:spLocks/>
          </p:cNvSpPr>
          <p:nvPr/>
        </p:nvSpPr>
        <p:spPr bwMode="auto">
          <a:xfrm>
            <a:off x="1371600" y="2133600"/>
            <a:ext cx="4191000" cy="3276600"/>
          </a:xfrm>
          <a:custGeom>
            <a:avLst/>
            <a:gdLst/>
            <a:ahLst/>
            <a:cxnLst>
              <a:cxn ang="0">
                <a:pos x="2208" y="0"/>
              </a:cxn>
              <a:cxn ang="0">
                <a:pos x="2640" y="48"/>
              </a:cxn>
              <a:cxn ang="0">
                <a:pos x="2640" y="96"/>
              </a:cxn>
              <a:cxn ang="0">
                <a:pos x="2640" y="192"/>
              </a:cxn>
              <a:cxn ang="0">
                <a:pos x="2592" y="336"/>
              </a:cxn>
              <a:cxn ang="0">
                <a:pos x="2544" y="528"/>
              </a:cxn>
              <a:cxn ang="0">
                <a:pos x="2496" y="624"/>
              </a:cxn>
              <a:cxn ang="0">
                <a:pos x="2400" y="816"/>
              </a:cxn>
              <a:cxn ang="0">
                <a:pos x="2208" y="1104"/>
              </a:cxn>
              <a:cxn ang="0">
                <a:pos x="2016" y="1344"/>
              </a:cxn>
              <a:cxn ang="0">
                <a:pos x="1728" y="1584"/>
              </a:cxn>
              <a:cxn ang="0">
                <a:pos x="1392" y="1728"/>
              </a:cxn>
              <a:cxn ang="0">
                <a:pos x="960" y="1872"/>
              </a:cxn>
              <a:cxn ang="0">
                <a:pos x="288" y="2016"/>
              </a:cxn>
              <a:cxn ang="0">
                <a:pos x="0" y="2064"/>
              </a:cxn>
              <a:cxn ang="0">
                <a:pos x="672" y="1920"/>
              </a:cxn>
              <a:cxn ang="0">
                <a:pos x="816" y="1872"/>
              </a:cxn>
              <a:cxn ang="0">
                <a:pos x="1008" y="1776"/>
              </a:cxn>
              <a:cxn ang="0">
                <a:pos x="1152" y="1680"/>
              </a:cxn>
              <a:cxn ang="0">
                <a:pos x="1344" y="1536"/>
              </a:cxn>
              <a:cxn ang="0">
                <a:pos x="1632" y="1296"/>
              </a:cxn>
              <a:cxn ang="0">
                <a:pos x="1872" y="960"/>
              </a:cxn>
              <a:cxn ang="0">
                <a:pos x="2112" y="480"/>
              </a:cxn>
              <a:cxn ang="0">
                <a:pos x="2208" y="0"/>
              </a:cxn>
            </a:cxnLst>
            <a:rect l="0" t="0" r="r" b="b"/>
            <a:pathLst>
              <a:path w="2640" h="2064">
                <a:moveTo>
                  <a:pt x="2208" y="0"/>
                </a:moveTo>
                <a:lnTo>
                  <a:pt x="2640" y="48"/>
                </a:lnTo>
                <a:lnTo>
                  <a:pt x="2640" y="96"/>
                </a:lnTo>
                <a:lnTo>
                  <a:pt x="2640" y="192"/>
                </a:lnTo>
                <a:lnTo>
                  <a:pt x="2592" y="336"/>
                </a:lnTo>
                <a:lnTo>
                  <a:pt x="2544" y="528"/>
                </a:lnTo>
                <a:lnTo>
                  <a:pt x="2496" y="624"/>
                </a:lnTo>
                <a:lnTo>
                  <a:pt x="2400" y="816"/>
                </a:lnTo>
                <a:lnTo>
                  <a:pt x="2208" y="1104"/>
                </a:lnTo>
                <a:lnTo>
                  <a:pt x="2016" y="1344"/>
                </a:lnTo>
                <a:lnTo>
                  <a:pt x="1728" y="1584"/>
                </a:lnTo>
                <a:lnTo>
                  <a:pt x="1392" y="1728"/>
                </a:lnTo>
                <a:lnTo>
                  <a:pt x="960" y="1872"/>
                </a:lnTo>
                <a:lnTo>
                  <a:pt x="288" y="2016"/>
                </a:lnTo>
                <a:lnTo>
                  <a:pt x="0" y="2064"/>
                </a:lnTo>
                <a:lnTo>
                  <a:pt x="672" y="1920"/>
                </a:lnTo>
                <a:lnTo>
                  <a:pt x="816" y="1872"/>
                </a:lnTo>
                <a:lnTo>
                  <a:pt x="1008" y="1776"/>
                </a:lnTo>
                <a:lnTo>
                  <a:pt x="1152" y="1680"/>
                </a:lnTo>
                <a:lnTo>
                  <a:pt x="1344" y="1536"/>
                </a:lnTo>
                <a:lnTo>
                  <a:pt x="1632" y="1296"/>
                </a:lnTo>
                <a:lnTo>
                  <a:pt x="1872" y="960"/>
                </a:lnTo>
                <a:lnTo>
                  <a:pt x="2112" y="480"/>
                </a:lnTo>
                <a:lnTo>
                  <a:pt x="2208" y="0"/>
                </a:lnTo>
                <a:close/>
              </a:path>
            </a:pathLst>
          </a:custGeom>
          <a:gradFill rotWithShape="0">
            <a:gsLst>
              <a:gs pos="0">
                <a:srgbClr val="FFFF66"/>
              </a:gs>
              <a:gs pos="100000">
                <a:srgbClr val="FFFF66">
                  <a:gamma/>
                  <a:shade val="46275"/>
                  <a:invGamma/>
                </a:srgbClr>
              </a:gs>
            </a:gsLst>
            <a:lin ang="5400000" scaled="1"/>
          </a:gradFill>
          <a:ln w="12700" cap="flat" cmpd="sng">
            <a:noFill/>
            <a:prstDash val="solid"/>
            <a:round/>
            <a:headEnd/>
            <a:tailEnd/>
          </a:ln>
          <a:effectLst/>
        </p:spPr>
        <p:txBody>
          <a:bodyPr lIns="0" tIns="0" rIns="90000" bIns="46800">
            <a:spAutoFit/>
          </a:bodyPr>
          <a:lstStyle/>
          <a:p>
            <a:endParaRPr lang="en-US"/>
          </a:p>
        </p:txBody>
      </p:sp>
      <p:sp>
        <p:nvSpPr>
          <p:cNvPr id="1529864" name="Arc 8"/>
          <p:cNvSpPr>
            <a:spLocks/>
          </p:cNvSpPr>
          <p:nvPr/>
        </p:nvSpPr>
        <p:spPr bwMode="auto">
          <a:xfrm flipV="1">
            <a:off x="971550" y="1974850"/>
            <a:ext cx="3889375" cy="3441700"/>
          </a:xfrm>
          <a:custGeom>
            <a:avLst/>
            <a:gdLst>
              <a:gd name="G0" fmla="+- 0 0 0"/>
              <a:gd name="G1" fmla="+- 21502 0 0"/>
              <a:gd name="G2" fmla="+- 21600 0 0"/>
              <a:gd name="T0" fmla="*/ 2055 w 21600"/>
              <a:gd name="T1" fmla="*/ 0 h 21502"/>
              <a:gd name="T2" fmla="*/ 21600 w 21600"/>
              <a:gd name="T3" fmla="*/ 21502 h 21502"/>
              <a:gd name="T4" fmla="*/ 0 w 21600"/>
              <a:gd name="T5" fmla="*/ 21502 h 21502"/>
            </a:gdLst>
            <a:ahLst/>
            <a:cxnLst>
              <a:cxn ang="0">
                <a:pos x="T0" y="T1"/>
              </a:cxn>
              <a:cxn ang="0">
                <a:pos x="T2" y="T3"/>
              </a:cxn>
              <a:cxn ang="0">
                <a:pos x="T4" y="T5"/>
              </a:cxn>
            </a:cxnLst>
            <a:rect l="0" t="0" r="r" b="b"/>
            <a:pathLst>
              <a:path w="21600" h="21502" fill="none" extrusionOk="0">
                <a:moveTo>
                  <a:pt x="2055" y="-1"/>
                </a:moveTo>
                <a:cubicBezTo>
                  <a:pt x="13137" y="1059"/>
                  <a:pt x="21600" y="10368"/>
                  <a:pt x="21600" y="21502"/>
                </a:cubicBezTo>
              </a:path>
              <a:path w="21600" h="21502" stroke="0" extrusionOk="0">
                <a:moveTo>
                  <a:pt x="2055" y="-1"/>
                </a:moveTo>
                <a:cubicBezTo>
                  <a:pt x="13137" y="1059"/>
                  <a:pt x="21600" y="10368"/>
                  <a:pt x="21600" y="21502"/>
                </a:cubicBezTo>
                <a:lnTo>
                  <a:pt x="0" y="21502"/>
                </a:lnTo>
                <a:close/>
              </a:path>
            </a:pathLst>
          </a:custGeom>
          <a:noFill/>
          <a:ln w="57150">
            <a:solidFill>
              <a:schemeClr val="tx1"/>
            </a:solidFill>
            <a:round/>
            <a:headEnd/>
            <a:tailEnd/>
          </a:ln>
          <a:effectLst/>
        </p:spPr>
        <p:txBody>
          <a:bodyPr wrap="none" anchor="ctr"/>
          <a:lstStyle/>
          <a:p>
            <a:endParaRPr lang="en-US"/>
          </a:p>
        </p:txBody>
      </p:sp>
      <p:sp>
        <p:nvSpPr>
          <p:cNvPr id="1529865" name="Text Box 9"/>
          <p:cNvSpPr txBox="1">
            <a:spLocks noChangeArrowheads="1"/>
          </p:cNvSpPr>
          <p:nvPr/>
        </p:nvSpPr>
        <p:spPr bwMode="auto">
          <a:xfrm>
            <a:off x="6559550" y="1981200"/>
            <a:ext cx="2736850" cy="2169825"/>
          </a:xfrm>
          <a:prstGeom prst="rect">
            <a:avLst/>
          </a:prstGeom>
          <a:noFill/>
          <a:ln w="9525">
            <a:noFill/>
            <a:miter lim="800000"/>
            <a:headEnd/>
            <a:tailEnd/>
          </a:ln>
          <a:effectLst/>
        </p:spPr>
        <p:txBody>
          <a:bodyPr>
            <a:spAutoFit/>
          </a:bodyPr>
          <a:lstStyle/>
          <a:p>
            <a:pPr algn="l" eaLnBrk="1" hangingPunct="1">
              <a:spcBef>
                <a:spcPct val="50000"/>
              </a:spcBef>
            </a:pPr>
            <a:r>
              <a:rPr lang="fi-FI" b="1" dirty="0" err="1">
                <a:solidFill>
                  <a:schemeClr val="accent2"/>
                </a:solidFill>
              </a:rPr>
              <a:t>Smarter</a:t>
            </a:r>
            <a:r>
              <a:rPr lang="fi-FI" b="1" dirty="0">
                <a:solidFill>
                  <a:schemeClr val="accent2"/>
                </a:solidFill>
              </a:rPr>
              <a:t> </a:t>
            </a:r>
            <a:r>
              <a:rPr lang="fi-FI" b="1" dirty="0" err="1">
                <a:solidFill>
                  <a:schemeClr val="accent2"/>
                </a:solidFill>
              </a:rPr>
              <a:t>testing</a:t>
            </a:r>
            <a:r>
              <a:rPr lang="fi-FI" b="1" dirty="0">
                <a:solidFill>
                  <a:schemeClr val="accent2"/>
                </a:solidFill>
              </a:rPr>
              <a:t/>
            </a:r>
            <a:br>
              <a:rPr lang="fi-FI" b="1" dirty="0">
                <a:solidFill>
                  <a:schemeClr val="accent2"/>
                </a:solidFill>
              </a:rPr>
            </a:br>
            <a:r>
              <a:rPr lang="en-US" dirty="0">
                <a:solidFill>
                  <a:schemeClr val="accent2"/>
                </a:solidFill>
              </a:rPr>
              <a:t>“Why would you keep all the practices for developing these types of applications the same?”</a:t>
            </a:r>
          </a:p>
          <a:p>
            <a:pPr algn="l" eaLnBrk="1" hangingPunct="1">
              <a:spcBef>
                <a:spcPct val="50000"/>
              </a:spcBef>
            </a:pPr>
            <a:endParaRPr lang="en-US" dirty="0">
              <a:solidFill>
                <a:schemeClr val="accent2"/>
              </a:solidFill>
            </a:endParaRPr>
          </a:p>
        </p:txBody>
      </p:sp>
      <p:sp>
        <p:nvSpPr>
          <p:cNvPr id="1529866" name="Freeform 10"/>
          <p:cNvSpPr>
            <a:spLocks/>
          </p:cNvSpPr>
          <p:nvPr/>
        </p:nvSpPr>
        <p:spPr bwMode="auto">
          <a:xfrm>
            <a:off x="4197350" y="2133600"/>
            <a:ext cx="1757363" cy="2517775"/>
          </a:xfrm>
          <a:custGeom>
            <a:avLst/>
            <a:gdLst/>
            <a:ahLst/>
            <a:cxnLst>
              <a:cxn ang="0">
                <a:pos x="0" y="1586"/>
              </a:cxn>
              <a:cxn ang="0">
                <a:pos x="524" y="1536"/>
              </a:cxn>
              <a:cxn ang="0">
                <a:pos x="504" y="1504"/>
              </a:cxn>
              <a:cxn ang="0">
                <a:pos x="860" y="1488"/>
              </a:cxn>
              <a:cxn ang="0">
                <a:pos x="1052" y="1440"/>
              </a:cxn>
              <a:cxn ang="0">
                <a:pos x="1100" y="1392"/>
              </a:cxn>
              <a:cxn ang="0">
                <a:pos x="1089" y="1400"/>
              </a:cxn>
              <a:cxn ang="0">
                <a:pos x="1098" y="1386"/>
              </a:cxn>
              <a:cxn ang="0">
                <a:pos x="1107" y="1355"/>
              </a:cxn>
              <a:cxn ang="0">
                <a:pos x="908" y="0"/>
              </a:cxn>
              <a:cxn ang="0">
                <a:pos x="908" y="192"/>
              </a:cxn>
              <a:cxn ang="0">
                <a:pos x="860" y="432"/>
              </a:cxn>
              <a:cxn ang="0">
                <a:pos x="812" y="576"/>
              </a:cxn>
              <a:cxn ang="0">
                <a:pos x="620" y="912"/>
              </a:cxn>
              <a:cxn ang="0">
                <a:pos x="428" y="1152"/>
              </a:cxn>
              <a:cxn ang="0">
                <a:pos x="236" y="1392"/>
              </a:cxn>
              <a:cxn ang="0">
                <a:pos x="0" y="1586"/>
              </a:cxn>
            </a:cxnLst>
            <a:rect l="0" t="0" r="r" b="b"/>
            <a:pathLst>
              <a:path w="1107" h="1586">
                <a:moveTo>
                  <a:pt x="0" y="1586"/>
                </a:moveTo>
                <a:cubicBezTo>
                  <a:pt x="175" y="1569"/>
                  <a:pt x="351" y="1564"/>
                  <a:pt x="524" y="1536"/>
                </a:cubicBezTo>
                <a:cubicBezTo>
                  <a:pt x="536" y="1534"/>
                  <a:pt x="504" y="1504"/>
                  <a:pt x="504" y="1504"/>
                </a:cubicBezTo>
                <a:lnTo>
                  <a:pt x="860" y="1488"/>
                </a:lnTo>
                <a:lnTo>
                  <a:pt x="1052" y="1440"/>
                </a:lnTo>
                <a:cubicBezTo>
                  <a:pt x="1068" y="1424"/>
                  <a:pt x="1085" y="1409"/>
                  <a:pt x="1100" y="1392"/>
                </a:cubicBezTo>
                <a:cubicBezTo>
                  <a:pt x="1103" y="1389"/>
                  <a:pt x="1090" y="1404"/>
                  <a:pt x="1089" y="1400"/>
                </a:cubicBezTo>
                <a:cubicBezTo>
                  <a:pt x="1087" y="1395"/>
                  <a:pt x="1095" y="1391"/>
                  <a:pt x="1098" y="1386"/>
                </a:cubicBezTo>
                <a:cubicBezTo>
                  <a:pt x="1101" y="1376"/>
                  <a:pt x="1107" y="1365"/>
                  <a:pt x="1107" y="1355"/>
                </a:cubicBezTo>
                <a:lnTo>
                  <a:pt x="908" y="0"/>
                </a:lnTo>
                <a:lnTo>
                  <a:pt x="908" y="192"/>
                </a:lnTo>
                <a:lnTo>
                  <a:pt x="860" y="432"/>
                </a:lnTo>
                <a:lnTo>
                  <a:pt x="812" y="576"/>
                </a:lnTo>
                <a:lnTo>
                  <a:pt x="620" y="912"/>
                </a:lnTo>
                <a:lnTo>
                  <a:pt x="428" y="1152"/>
                </a:lnTo>
                <a:lnTo>
                  <a:pt x="236" y="1392"/>
                </a:lnTo>
                <a:lnTo>
                  <a:pt x="0" y="1586"/>
                </a:lnTo>
                <a:close/>
              </a:path>
            </a:pathLst>
          </a:custGeom>
          <a:gradFill rotWithShape="0">
            <a:gsLst>
              <a:gs pos="0">
                <a:srgbClr val="66FFCC"/>
              </a:gs>
              <a:gs pos="100000">
                <a:srgbClr val="66FFCC">
                  <a:gamma/>
                  <a:shade val="46275"/>
                  <a:invGamma/>
                </a:srgbClr>
              </a:gs>
            </a:gsLst>
            <a:lin ang="5400000" scaled="1"/>
          </a:gradFill>
          <a:ln w="12700" cap="flat" cmpd="sng">
            <a:noFill/>
            <a:prstDash val="solid"/>
            <a:round/>
            <a:headEnd/>
            <a:tailEnd/>
          </a:ln>
          <a:effectLst/>
        </p:spPr>
        <p:txBody>
          <a:bodyPr lIns="0" tIns="0" rIns="90000" bIns="46800">
            <a:spAutoFit/>
          </a:bodyPr>
          <a:lstStyle/>
          <a:p>
            <a:endParaRPr lang="en-US"/>
          </a:p>
        </p:txBody>
      </p:sp>
      <p:sp>
        <p:nvSpPr>
          <p:cNvPr id="1529867" name="Freeform 11"/>
          <p:cNvSpPr>
            <a:spLocks/>
          </p:cNvSpPr>
          <p:nvPr/>
        </p:nvSpPr>
        <p:spPr bwMode="auto">
          <a:xfrm>
            <a:off x="1447800" y="1981200"/>
            <a:ext cx="4191000" cy="3429000"/>
          </a:xfrm>
          <a:custGeom>
            <a:avLst/>
            <a:gdLst/>
            <a:ahLst/>
            <a:cxnLst>
              <a:cxn ang="0">
                <a:pos x="0" y="2160"/>
              </a:cxn>
              <a:cxn ang="0">
                <a:pos x="672" y="2016"/>
              </a:cxn>
              <a:cxn ang="0">
                <a:pos x="1200" y="1824"/>
              </a:cxn>
              <a:cxn ang="0">
                <a:pos x="1488" y="1680"/>
              </a:cxn>
              <a:cxn ang="0">
                <a:pos x="1824" y="1344"/>
              </a:cxn>
              <a:cxn ang="0">
                <a:pos x="2208" y="672"/>
              </a:cxn>
              <a:cxn ang="0">
                <a:pos x="2304" y="0"/>
              </a:cxn>
            </a:cxnLst>
            <a:rect l="0" t="0" r="r" b="b"/>
            <a:pathLst>
              <a:path w="2304" h="2160">
                <a:moveTo>
                  <a:pt x="0" y="2160"/>
                </a:moveTo>
                <a:cubicBezTo>
                  <a:pt x="236" y="2116"/>
                  <a:pt x="472" y="2072"/>
                  <a:pt x="672" y="2016"/>
                </a:cubicBezTo>
                <a:cubicBezTo>
                  <a:pt x="872" y="1960"/>
                  <a:pt x="1064" y="1880"/>
                  <a:pt x="1200" y="1824"/>
                </a:cubicBezTo>
                <a:cubicBezTo>
                  <a:pt x="1336" y="1768"/>
                  <a:pt x="1384" y="1760"/>
                  <a:pt x="1488" y="1680"/>
                </a:cubicBezTo>
                <a:cubicBezTo>
                  <a:pt x="1592" y="1600"/>
                  <a:pt x="1704" y="1512"/>
                  <a:pt x="1824" y="1344"/>
                </a:cubicBezTo>
                <a:cubicBezTo>
                  <a:pt x="1944" y="1176"/>
                  <a:pt x="2128" y="896"/>
                  <a:pt x="2208" y="672"/>
                </a:cubicBezTo>
                <a:cubicBezTo>
                  <a:pt x="2288" y="448"/>
                  <a:pt x="2296" y="224"/>
                  <a:pt x="2304" y="0"/>
                </a:cubicBezTo>
              </a:path>
            </a:pathLst>
          </a:custGeom>
          <a:noFill/>
          <a:ln w="57150" cap="flat" cmpd="sng">
            <a:solidFill>
              <a:schemeClr val="accent2"/>
            </a:solidFill>
            <a:prstDash val="solid"/>
            <a:round/>
            <a:headEnd/>
            <a:tailEnd/>
          </a:ln>
          <a:effectLst/>
        </p:spPr>
        <p:txBody>
          <a:bodyPr lIns="0" tIns="0" rIns="90000" bIns="46800">
            <a:spAutoFit/>
          </a:bodyPr>
          <a:lstStyle/>
          <a:p>
            <a:endParaRPr lang="en-US"/>
          </a:p>
        </p:txBody>
      </p:sp>
      <p:sp>
        <p:nvSpPr>
          <p:cNvPr id="1529868" name="Freeform 12"/>
          <p:cNvSpPr>
            <a:spLocks/>
          </p:cNvSpPr>
          <p:nvPr/>
        </p:nvSpPr>
        <p:spPr bwMode="auto">
          <a:xfrm>
            <a:off x="1371600" y="1981200"/>
            <a:ext cx="4191000" cy="3429000"/>
          </a:xfrm>
          <a:custGeom>
            <a:avLst/>
            <a:gdLst/>
            <a:ahLst/>
            <a:cxnLst>
              <a:cxn ang="0">
                <a:pos x="0" y="2160"/>
              </a:cxn>
              <a:cxn ang="0">
                <a:pos x="672" y="2016"/>
              </a:cxn>
              <a:cxn ang="0">
                <a:pos x="1200" y="1824"/>
              </a:cxn>
              <a:cxn ang="0">
                <a:pos x="1488" y="1680"/>
              </a:cxn>
              <a:cxn ang="0">
                <a:pos x="1824" y="1344"/>
              </a:cxn>
              <a:cxn ang="0">
                <a:pos x="2208" y="672"/>
              </a:cxn>
              <a:cxn ang="0">
                <a:pos x="2304" y="0"/>
              </a:cxn>
            </a:cxnLst>
            <a:rect l="0" t="0" r="r" b="b"/>
            <a:pathLst>
              <a:path w="2304" h="2160">
                <a:moveTo>
                  <a:pt x="0" y="2160"/>
                </a:moveTo>
                <a:cubicBezTo>
                  <a:pt x="236" y="2116"/>
                  <a:pt x="472" y="2072"/>
                  <a:pt x="672" y="2016"/>
                </a:cubicBezTo>
                <a:cubicBezTo>
                  <a:pt x="872" y="1960"/>
                  <a:pt x="1064" y="1880"/>
                  <a:pt x="1200" y="1824"/>
                </a:cubicBezTo>
                <a:cubicBezTo>
                  <a:pt x="1336" y="1768"/>
                  <a:pt x="1384" y="1760"/>
                  <a:pt x="1488" y="1680"/>
                </a:cubicBezTo>
                <a:cubicBezTo>
                  <a:pt x="1592" y="1600"/>
                  <a:pt x="1704" y="1512"/>
                  <a:pt x="1824" y="1344"/>
                </a:cubicBezTo>
                <a:cubicBezTo>
                  <a:pt x="1944" y="1176"/>
                  <a:pt x="2128" y="896"/>
                  <a:pt x="2208" y="672"/>
                </a:cubicBezTo>
                <a:cubicBezTo>
                  <a:pt x="2288" y="448"/>
                  <a:pt x="2296" y="224"/>
                  <a:pt x="2304" y="0"/>
                </a:cubicBezTo>
              </a:path>
            </a:pathLst>
          </a:custGeom>
          <a:noFill/>
          <a:ln w="57150" cap="flat" cmpd="sng">
            <a:solidFill>
              <a:schemeClr val="hlink"/>
            </a:solidFill>
            <a:prstDash val="solid"/>
            <a:round/>
            <a:headEnd/>
            <a:tailEnd/>
          </a:ln>
          <a:effectLst/>
        </p:spPr>
        <p:txBody>
          <a:bodyPr lIns="0" tIns="0" rIns="90000" bIns="46800">
            <a:spAutoFit/>
          </a:bodyPr>
          <a:lstStyle/>
          <a:p>
            <a:endParaRPr lang="en-US"/>
          </a:p>
        </p:txBody>
      </p:sp>
      <p:sp>
        <p:nvSpPr>
          <p:cNvPr id="1529869" name="Line 13"/>
          <p:cNvSpPr>
            <a:spLocks noChangeShapeType="1"/>
          </p:cNvSpPr>
          <p:nvPr/>
        </p:nvSpPr>
        <p:spPr bwMode="auto">
          <a:xfrm flipV="1">
            <a:off x="1225550" y="4421188"/>
            <a:ext cx="4859338" cy="585787"/>
          </a:xfrm>
          <a:prstGeom prst="line">
            <a:avLst/>
          </a:prstGeom>
          <a:noFill/>
          <a:ln w="57150">
            <a:solidFill>
              <a:schemeClr val="tx1"/>
            </a:solidFill>
            <a:round/>
            <a:headEnd/>
            <a:tailEnd/>
          </a:ln>
          <a:effectLst/>
        </p:spPr>
        <p:txBody>
          <a:bodyPr/>
          <a:lstStyle/>
          <a:p>
            <a:endParaRPr lang="en-US"/>
          </a:p>
        </p:txBody>
      </p:sp>
      <p:sp>
        <p:nvSpPr>
          <p:cNvPr id="1529870" name="Line 14"/>
          <p:cNvSpPr>
            <a:spLocks noChangeShapeType="1"/>
          </p:cNvSpPr>
          <p:nvPr/>
        </p:nvSpPr>
        <p:spPr bwMode="auto">
          <a:xfrm flipH="1">
            <a:off x="5029200" y="2209800"/>
            <a:ext cx="1516063" cy="571500"/>
          </a:xfrm>
          <a:prstGeom prst="line">
            <a:avLst/>
          </a:prstGeom>
          <a:noFill/>
          <a:ln w="12700">
            <a:solidFill>
              <a:schemeClr val="tx1"/>
            </a:solidFill>
            <a:round/>
            <a:headEnd/>
            <a:tailEnd type="triangle" w="med" len="med"/>
          </a:ln>
          <a:effectLst/>
        </p:spPr>
        <p:txBody>
          <a:bodyPr/>
          <a:lstStyle/>
          <a:p>
            <a:endParaRPr lang="en-US"/>
          </a:p>
        </p:txBody>
      </p:sp>
      <p:sp>
        <p:nvSpPr>
          <p:cNvPr id="1529871" name="Text Box 15"/>
          <p:cNvSpPr txBox="1">
            <a:spLocks noChangeArrowheads="1"/>
          </p:cNvSpPr>
          <p:nvPr/>
        </p:nvSpPr>
        <p:spPr bwMode="auto">
          <a:xfrm>
            <a:off x="6559550" y="3962400"/>
            <a:ext cx="2736850" cy="1754326"/>
          </a:xfrm>
          <a:prstGeom prst="rect">
            <a:avLst/>
          </a:prstGeom>
          <a:noFill/>
          <a:ln w="9525">
            <a:noFill/>
            <a:miter lim="800000"/>
            <a:headEnd/>
            <a:tailEnd/>
          </a:ln>
          <a:effectLst/>
        </p:spPr>
        <p:txBody>
          <a:bodyPr>
            <a:spAutoFit/>
          </a:bodyPr>
          <a:lstStyle/>
          <a:p>
            <a:pPr algn="l" eaLnBrk="1" hangingPunct="1">
              <a:spcBef>
                <a:spcPct val="50000"/>
              </a:spcBef>
            </a:pPr>
            <a:r>
              <a:rPr lang="fi-FI" b="1" dirty="0" err="1">
                <a:solidFill>
                  <a:schemeClr val="accent2"/>
                </a:solidFill>
              </a:rPr>
              <a:t>Smarter</a:t>
            </a:r>
            <a:r>
              <a:rPr lang="fi-FI" b="1" dirty="0">
                <a:solidFill>
                  <a:schemeClr val="accent2"/>
                </a:solidFill>
              </a:rPr>
              <a:t> </a:t>
            </a:r>
            <a:r>
              <a:rPr lang="fi-FI" b="1" dirty="0" err="1">
                <a:solidFill>
                  <a:schemeClr val="accent2"/>
                </a:solidFill>
              </a:rPr>
              <a:t>automation</a:t>
            </a:r>
            <a:r>
              <a:rPr lang="fi-FI" b="1" dirty="0">
                <a:solidFill>
                  <a:schemeClr val="accent2"/>
                </a:solidFill>
              </a:rPr>
              <a:t/>
            </a:r>
            <a:br>
              <a:rPr lang="fi-FI" b="1" dirty="0">
                <a:solidFill>
                  <a:schemeClr val="accent2"/>
                </a:solidFill>
              </a:rPr>
            </a:br>
            <a:r>
              <a:rPr lang="en-US" dirty="0">
                <a:solidFill>
                  <a:schemeClr val="accent2"/>
                </a:solidFill>
              </a:rPr>
              <a:t>“Not just regression testing, but ability to extend testing capabilities with automation”</a:t>
            </a:r>
          </a:p>
        </p:txBody>
      </p:sp>
      <p:sp>
        <p:nvSpPr>
          <p:cNvPr id="1529872" name="Line 16"/>
          <p:cNvSpPr>
            <a:spLocks noChangeShapeType="1"/>
          </p:cNvSpPr>
          <p:nvPr/>
        </p:nvSpPr>
        <p:spPr bwMode="auto">
          <a:xfrm flipH="1" flipV="1">
            <a:off x="5486400" y="3733800"/>
            <a:ext cx="990600" cy="685800"/>
          </a:xfrm>
          <a:prstGeom prst="line">
            <a:avLst/>
          </a:prstGeom>
          <a:noFill/>
          <a:ln w="12700">
            <a:solidFill>
              <a:schemeClr val="tx1"/>
            </a:solidFill>
            <a:round/>
            <a:headEnd/>
            <a:tailEnd type="triangle" w="med" len="med"/>
          </a:ln>
          <a:effectLst/>
        </p:spPr>
        <p:txBody>
          <a:bodyPr/>
          <a:lstStyle/>
          <a:p>
            <a:endParaRPr lang="en-US"/>
          </a:p>
        </p:txBody>
      </p:sp>
      <p:sp>
        <p:nvSpPr>
          <p:cNvPr id="17" name="Slide Number Placeholder 16"/>
          <p:cNvSpPr>
            <a:spLocks noGrp="1"/>
          </p:cNvSpPr>
          <p:nvPr>
            <p:ph type="sldNum" sz="quarter" idx="12"/>
          </p:nvPr>
        </p:nvSpPr>
        <p:spPr/>
        <p:txBody>
          <a:bodyPr/>
          <a:lstStyle/>
          <a:p>
            <a:fld id="{B6F15528-21DE-4FAA-801E-634DDDAF4B2B}" type="slidenum">
              <a:rPr lang="en-US" smtClean="0"/>
              <a:pPr/>
              <a:t>7</a:t>
            </a:fld>
            <a:endParaRPr lang="en-US"/>
          </a:p>
        </p:txBody>
      </p:sp>
    </p:spTree>
  </p:cSld>
  <p:clrMapOvr>
    <a:masterClrMapping/>
  </p:clrMapOvr>
  <p:transition xmlns:p14="http://schemas.microsoft.com/office/powerpoint/2010/main">
    <p:fade/>
  </p:transition>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Think about this</a:t>
            </a:r>
            <a:endParaRPr lang="fi-FI" dirty="0"/>
          </a:p>
        </p:txBody>
      </p:sp>
      <p:sp>
        <p:nvSpPr>
          <p:cNvPr id="3" name="Content Placeholder 2"/>
          <p:cNvSpPr>
            <a:spLocks noGrp="1"/>
          </p:cNvSpPr>
          <p:nvPr>
            <p:ph idx="1"/>
          </p:nvPr>
        </p:nvSpPr>
        <p:spPr/>
        <p:txBody>
          <a:bodyPr/>
          <a:lstStyle/>
          <a:p>
            <a:r>
              <a:rPr lang="en-US" dirty="0" smtClean="0"/>
              <a:t>There's another way to accomplish the goal of automating a higher percentage of tests:  the organization could perform fewer manual tests.  In fact, you could achieve 100% test automation by automating one test, and doing no other tests at all.</a:t>
            </a:r>
          </a:p>
          <a:p>
            <a:endParaRPr lang="fi-FI"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8</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fi-FI" dirty="0" smtClean="0"/>
              <a:t>Integral Role of Test Automation in Agile</a:t>
            </a:r>
            <a:endParaRPr lang="fi-FI" dirty="0"/>
          </a:p>
        </p:txBody>
      </p:sp>
      <p:sp>
        <p:nvSpPr>
          <p:cNvPr id="7" name="Content Placeholder 6"/>
          <p:cNvSpPr>
            <a:spLocks noGrp="1"/>
          </p:cNvSpPr>
          <p:nvPr>
            <p:ph idx="1"/>
          </p:nvPr>
        </p:nvSpPr>
        <p:spPr/>
        <p:txBody>
          <a:bodyPr>
            <a:normAutofit fontScale="77500" lnSpcReduction="20000"/>
          </a:bodyPr>
          <a:lstStyle/>
          <a:p>
            <a:r>
              <a:rPr lang="fi-FI" dirty="0" smtClean="0"/>
              <a:t>A lot of people believe agile without extensive automation is impossible</a:t>
            </a:r>
          </a:p>
          <a:p>
            <a:r>
              <a:rPr lang="fi-FI" dirty="0" smtClean="0"/>
              <a:t>However, extensive automation can be done in many ways</a:t>
            </a:r>
          </a:p>
          <a:p>
            <a:pPr lvl="1"/>
            <a:r>
              <a:rPr lang="fi-FI" dirty="0" smtClean="0"/>
              <a:t>Extensive is not ”all is automated”</a:t>
            </a:r>
          </a:p>
          <a:p>
            <a:pPr lvl="1"/>
            <a:r>
              <a:rPr lang="fi-FI" dirty="0" smtClean="0"/>
              <a:t>Extensive does not mean all ”traditional tester work” is automated</a:t>
            </a:r>
          </a:p>
          <a:p>
            <a:pPr lvl="1"/>
            <a:r>
              <a:rPr lang="fi-FI" dirty="0" smtClean="0"/>
              <a:t>Excellent examples of unit testing expanding to certain quality concerns and enabling leaving some ”traditional” stuff untested on system level</a:t>
            </a:r>
          </a:p>
          <a:p>
            <a:r>
              <a:rPr lang="fi-FI" dirty="0" smtClean="0"/>
              <a:t>Repeatability makes people tired. First, think if repeatability is necessary. Then, automate, on a level as low as possible. Test automation is not tester work, it is </a:t>
            </a:r>
            <a:r>
              <a:rPr lang="fi-FI" u="sng" dirty="0" smtClean="0"/>
              <a:t>team</a:t>
            </a:r>
            <a:r>
              <a:rPr lang="fi-FI" dirty="0" smtClean="0"/>
              <a:t> work. </a:t>
            </a:r>
            <a:endParaRPr lang="fi-FI"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9</a:t>
            </a:fld>
            <a:endParaRPr lang="en-US" dirty="0"/>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8596" name="Rectangle 4"/>
          <p:cNvSpPr>
            <a:spLocks noGrp="1" noChangeArrowheads="1"/>
          </p:cNvSpPr>
          <p:nvPr>
            <p:ph type="title"/>
          </p:nvPr>
        </p:nvSpPr>
        <p:spPr/>
        <p:txBody>
          <a:bodyPr>
            <a:normAutofit fontScale="90000"/>
          </a:bodyPr>
          <a:lstStyle/>
          <a:p>
            <a:r>
              <a:rPr lang="en-GB" dirty="0" smtClean="0"/>
              <a:t>Fast </a:t>
            </a:r>
            <a:r>
              <a:rPr lang="en-GB" dirty="0"/>
              <a:t>Delivery </a:t>
            </a:r>
            <a:r>
              <a:rPr lang="en-GB" dirty="0" smtClean="0"/>
              <a:t>Cycles Need Test Automation</a:t>
            </a:r>
            <a:endParaRPr lang="en-GB" dirty="0"/>
          </a:p>
        </p:txBody>
      </p:sp>
      <p:sp>
        <p:nvSpPr>
          <p:cNvPr id="1518597" name="Rectangle 5"/>
          <p:cNvSpPr>
            <a:spLocks noGrp="1" noChangeArrowheads="1"/>
          </p:cNvSpPr>
          <p:nvPr>
            <p:ph idx="1"/>
          </p:nvPr>
        </p:nvSpPr>
        <p:spPr>
          <a:xfrm>
            <a:off x="457200" y="1882808"/>
            <a:ext cx="7086600" cy="4572000"/>
          </a:xfrm>
        </p:spPr>
        <p:txBody>
          <a:bodyPr>
            <a:normAutofit/>
          </a:bodyPr>
          <a:lstStyle/>
          <a:p>
            <a:pPr>
              <a:lnSpc>
                <a:spcPct val="110000"/>
              </a:lnSpc>
            </a:pPr>
            <a:r>
              <a:rPr lang="en-GB" sz="1800" dirty="0"/>
              <a:t>Each increment adds to the amount of supported </a:t>
            </a:r>
            <a:r>
              <a:rPr lang="en-GB" sz="1800" dirty="0" smtClean="0"/>
              <a:t/>
            </a:r>
            <a:br>
              <a:rPr lang="en-GB" sz="1800" dirty="0" smtClean="0"/>
            </a:br>
            <a:r>
              <a:rPr lang="en-GB" sz="1800" dirty="0" smtClean="0"/>
              <a:t>features and </a:t>
            </a:r>
            <a:r>
              <a:rPr lang="en-GB" sz="1800" dirty="0"/>
              <a:t>aspects in the program – what was there should </a:t>
            </a:r>
            <a:r>
              <a:rPr lang="en-GB" sz="1800" dirty="0" smtClean="0"/>
              <a:t>not </a:t>
            </a:r>
            <a:r>
              <a:rPr lang="en-GB" sz="1800" dirty="0"/>
              <a:t>vanish</a:t>
            </a:r>
          </a:p>
          <a:p>
            <a:pPr>
              <a:lnSpc>
                <a:spcPct val="110000"/>
              </a:lnSpc>
            </a:pPr>
            <a:r>
              <a:rPr lang="en-GB" sz="1800" dirty="0"/>
              <a:t>More to support </a:t>
            </a:r>
            <a:r>
              <a:rPr lang="en-GB" sz="1800" dirty="0">
                <a:sym typeface="Wingdings" pitchFamily="2" charset="2"/>
              </a:rPr>
              <a:t> more to test</a:t>
            </a:r>
          </a:p>
          <a:p>
            <a:pPr>
              <a:lnSpc>
                <a:spcPct val="110000"/>
              </a:lnSpc>
            </a:pPr>
            <a:r>
              <a:rPr lang="en-GB" sz="1800" dirty="0">
                <a:sym typeface="Wingdings" pitchFamily="2" charset="2"/>
              </a:rPr>
              <a:t>Especially challenging </a:t>
            </a:r>
            <a:r>
              <a:rPr lang="en-GB" sz="1800" dirty="0" smtClean="0">
                <a:sym typeface="Wingdings" pitchFamily="2" charset="2"/>
              </a:rPr>
              <a:t>in my experience are features that </a:t>
            </a:r>
            <a:r>
              <a:rPr lang="en-GB" sz="1800" dirty="0">
                <a:sym typeface="Wingdings" pitchFamily="2" charset="2"/>
              </a:rPr>
              <a:t>don’t require code changes </a:t>
            </a:r>
            <a:r>
              <a:rPr lang="en-GB" sz="1800" dirty="0" smtClean="0">
                <a:sym typeface="Wingdings" pitchFamily="2" charset="2"/>
              </a:rPr>
              <a:t>by </a:t>
            </a:r>
            <a:r>
              <a:rPr lang="en-GB" sz="1800" dirty="0">
                <a:sym typeface="Wingdings" pitchFamily="2" charset="2"/>
              </a:rPr>
              <a:t>design</a:t>
            </a:r>
          </a:p>
          <a:p>
            <a:pPr lvl="1">
              <a:lnSpc>
                <a:spcPct val="90000"/>
              </a:lnSpc>
            </a:pPr>
            <a:r>
              <a:rPr lang="en-GB" sz="1600" dirty="0"/>
              <a:t>Add operating system support: e.g. </a:t>
            </a:r>
            <a:r>
              <a:rPr lang="en-GB" sz="1600" dirty="0" err="1"/>
              <a:t>WinXP</a:t>
            </a:r>
            <a:r>
              <a:rPr lang="en-GB" sz="1600" dirty="0"/>
              <a:t> supported, include </a:t>
            </a:r>
            <a:r>
              <a:rPr lang="en-GB" sz="1600" dirty="0" err="1"/>
              <a:t>WinXP</a:t>
            </a:r>
            <a:r>
              <a:rPr lang="en-GB" sz="1600" dirty="0"/>
              <a:t> Media </a:t>
            </a:r>
            <a:r>
              <a:rPr lang="en-GB" sz="1600" dirty="0" err="1"/>
              <a:t>Center</a:t>
            </a:r>
            <a:r>
              <a:rPr lang="en-GB" sz="1600" dirty="0"/>
              <a:t> Ed.</a:t>
            </a:r>
          </a:p>
          <a:p>
            <a:pPr lvl="1">
              <a:lnSpc>
                <a:spcPct val="90000"/>
              </a:lnSpc>
            </a:pPr>
            <a:r>
              <a:rPr lang="en-GB" sz="1600" dirty="0"/>
              <a:t>Add support for post-release published 3</a:t>
            </a:r>
            <a:r>
              <a:rPr lang="en-GB" sz="1600" baseline="30000" dirty="0"/>
              <a:t>rd</a:t>
            </a:r>
            <a:r>
              <a:rPr lang="en-GB" sz="1600" dirty="0"/>
              <a:t> party software, e.g. Internet Explorer 8</a:t>
            </a:r>
          </a:p>
          <a:p>
            <a:pPr lvl="1">
              <a:lnSpc>
                <a:spcPct val="90000"/>
              </a:lnSpc>
            </a:pPr>
            <a:r>
              <a:rPr lang="en-GB" sz="1600" dirty="0"/>
              <a:t>Add support for new language, e.g. Korean in addition to 3*Chinese and Japanese</a:t>
            </a:r>
          </a:p>
          <a:p>
            <a:pPr>
              <a:lnSpc>
                <a:spcPct val="110000"/>
              </a:lnSpc>
            </a:pPr>
            <a:r>
              <a:rPr lang="en-GB" sz="1800" b="1" dirty="0"/>
              <a:t>With a lot to test, the amount of testing work that will leak increases unless majority of this type of testing can be automated</a:t>
            </a:r>
          </a:p>
        </p:txBody>
      </p:sp>
      <p:grpSp>
        <p:nvGrpSpPr>
          <p:cNvPr id="2" name="Group 19"/>
          <p:cNvGrpSpPr>
            <a:grpSpLocks/>
          </p:cNvGrpSpPr>
          <p:nvPr/>
        </p:nvGrpSpPr>
        <p:grpSpPr bwMode="auto">
          <a:xfrm>
            <a:off x="6527800" y="1443039"/>
            <a:ext cx="2540000" cy="2200275"/>
            <a:chOff x="528" y="1536"/>
            <a:chExt cx="1600" cy="1386"/>
          </a:xfrm>
        </p:grpSpPr>
        <p:grpSp>
          <p:nvGrpSpPr>
            <p:cNvPr id="3" name="Group 13"/>
            <p:cNvGrpSpPr>
              <a:grpSpLocks/>
            </p:cNvGrpSpPr>
            <p:nvPr/>
          </p:nvGrpSpPr>
          <p:grpSpPr bwMode="auto">
            <a:xfrm>
              <a:off x="1225" y="1906"/>
              <a:ext cx="903" cy="1016"/>
              <a:chOff x="886" y="2079"/>
              <a:chExt cx="650" cy="701"/>
            </a:xfrm>
          </p:grpSpPr>
          <p:sp>
            <p:nvSpPr>
              <p:cNvPr id="1518606" name="Freeform 14"/>
              <p:cNvSpPr>
                <a:spLocks/>
              </p:cNvSpPr>
              <p:nvPr/>
            </p:nvSpPr>
            <p:spPr bwMode="auto">
              <a:xfrm>
                <a:off x="886" y="2079"/>
                <a:ext cx="650" cy="701"/>
              </a:xfrm>
              <a:custGeom>
                <a:avLst/>
                <a:gdLst/>
                <a:ahLst/>
                <a:cxnLst>
                  <a:cxn ang="0">
                    <a:pos x="154" y="86"/>
                  </a:cxn>
                  <a:cxn ang="0">
                    <a:pos x="63" y="140"/>
                  </a:cxn>
                  <a:cxn ang="0">
                    <a:pos x="31" y="188"/>
                  </a:cxn>
                  <a:cxn ang="0">
                    <a:pos x="20" y="204"/>
                  </a:cxn>
                  <a:cxn ang="0">
                    <a:pos x="68" y="326"/>
                  </a:cxn>
                  <a:cxn ang="0">
                    <a:pos x="36" y="529"/>
                  </a:cxn>
                  <a:cxn ang="0">
                    <a:pos x="52" y="566"/>
                  </a:cxn>
                  <a:cxn ang="0">
                    <a:pos x="250" y="604"/>
                  </a:cxn>
                  <a:cxn ang="0">
                    <a:pos x="298" y="646"/>
                  </a:cxn>
                  <a:cxn ang="0">
                    <a:pos x="319" y="678"/>
                  </a:cxn>
                  <a:cxn ang="0">
                    <a:pos x="324" y="694"/>
                  </a:cxn>
                  <a:cxn ang="0">
                    <a:pos x="420" y="673"/>
                  </a:cxn>
                  <a:cxn ang="0">
                    <a:pos x="527" y="630"/>
                  </a:cxn>
                  <a:cxn ang="0">
                    <a:pos x="559" y="598"/>
                  </a:cxn>
                  <a:cxn ang="0">
                    <a:pos x="612" y="540"/>
                  </a:cxn>
                  <a:cxn ang="0">
                    <a:pos x="650" y="476"/>
                  </a:cxn>
                  <a:cxn ang="0">
                    <a:pos x="623" y="321"/>
                  </a:cxn>
                  <a:cxn ang="0">
                    <a:pos x="559" y="49"/>
                  </a:cxn>
                  <a:cxn ang="0">
                    <a:pos x="527" y="33"/>
                  </a:cxn>
                  <a:cxn ang="0">
                    <a:pos x="495" y="12"/>
                  </a:cxn>
                  <a:cxn ang="0">
                    <a:pos x="404" y="22"/>
                  </a:cxn>
                  <a:cxn ang="0">
                    <a:pos x="388" y="54"/>
                  </a:cxn>
                  <a:cxn ang="0">
                    <a:pos x="202" y="60"/>
                  </a:cxn>
                  <a:cxn ang="0">
                    <a:pos x="170" y="65"/>
                  </a:cxn>
                  <a:cxn ang="0">
                    <a:pos x="154" y="86"/>
                  </a:cxn>
                </a:cxnLst>
                <a:rect l="0" t="0" r="r" b="b"/>
                <a:pathLst>
                  <a:path w="650" h="701">
                    <a:moveTo>
                      <a:pt x="154" y="86"/>
                    </a:moveTo>
                    <a:cubicBezTo>
                      <a:pt x="117" y="96"/>
                      <a:pt x="94" y="119"/>
                      <a:pt x="63" y="140"/>
                    </a:cubicBezTo>
                    <a:cubicBezTo>
                      <a:pt x="38" y="177"/>
                      <a:pt x="49" y="161"/>
                      <a:pt x="31" y="188"/>
                    </a:cubicBezTo>
                    <a:cubicBezTo>
                      <a:pt x="27" y="193"/>
                      <a:pt x="20" y="204"/>
                      <a:pt x="20" y="204"/>
                    </a:cubicBezTo>
                    <a:cubicBezTo>
                      <a:pt x="0" y="289"/>
                      <a:pt x="13" y="292"/>
                      <a:pt x="68" y="326"/>
                    </a:cubicBezTo>
                    <a:cubicBezTo>
                      <a:pt x="90" y="386"/>
                      <a:pt x="46" y="468"/>
                      <a:pt x="36" y="529"/>
                    </a:cubicBezTo>
                    <a:cubicBezTo>
                      <a:pt x="42" y="541"/>
                      <a:pt x="43" y="556"/>
                      <a:pt x="52" y="566"/>
                    </a:cubicBezTo>
                    <a:cubicBezTo>
                      <a:pt x="101" y="616"/>
                      <a:pt x="194" y="602"/>
                      <a:pt x="250" y="604"/>
                    </a:cubicBezTo>
                    <a:cubicBezTo>
                      <a:pt x="279" y="622"/>
                      <a:pt x="262" y="610"/>
                      <a:pt x="298" y="646"/>
                    </a:cubicBezTo>
                    <a:cubicBezTo>
                      <a:pt x="307" y="655"/>
                      <a:pt x="319" y="678"/>
                      <a:pt x="319" y="678"/>
                    </a:cubicBezTo>
                    <a:cubicBezTo>
                      <a:pt x="321" y="683"/>
                      <a:pt x="319" y="693"/>
                      <a:pt x="324" y="694"/>
                    </a:cubicBezTo>
                    <a:cubicBezTo>
                      <a:pt x="353" y="701"/>
                      <a:pt x="392" y="682"/>
                      <a:pt x="420" y="673"/>
                    </a:cubicBezTo>
                    <a:cubicBezTo>
                      <a:pt x="465" y="644"/>
                      <a:pt x="473" y="638"/>
                      <a:pt x="527" y="630"/>
                    </a:cubicBezTo>
                    <a:cubicBezTo>
                      <a:pt x="566" y="573"/>
                      <a:pt x="501" y="664"/>
                      <a:pt x="559" y="598"/>
                    </a:cubicBezTo>
                    <a:cubicBezTo>
                      <a:pt x="581" y="572"/>
                      <a:pt x="583" y="558"/>
                      <a:pt x="612" y="540"/>
                    </a:cubicBezTo>
                    <a:cubicBezTo>
                      <a:pt x="630" y="513"/>
                      <a:pt x="638" y="507"/>
                      <a:pt x="650" y="476"/>
                    </a:cubicBezTo>
                    <a:cubicBezTo>
                      <a:pt x="643" y="423"/>
                      <a:pt x="633" y="373"/>
                      <a:pt x="623" y="321"/>
                    </a:cubicBezTo>
                    <a:cubicBezTo>
                      <a:pt x="622" y="284"/>
                      <a:pt x="643" y="75"/>
                      <a:pt x="559" y="49"/>
                    </a:cubicBezTo>
                    <a:cubicBezTo>
                      <a:pt x="498" y="7"/>
                      <a:pt x="584" y="64"/>
                      <a:pt x="527" y="33"/>
                    </a:cubicBezTo>
                    <a:cubicBezTo>
                      <a:pt x="516" y="27"/>
                      <a:pt x="495" y="12"/>
                      <a:pt x="495" y="12"/>
                    </a:cubicBezTo>
                    <a:cubicBezTo>
                      <a:pt x="465" y="14"/>
                      <a:pt x="426" y="0"/>
                      <a:pt x="404" y="22"/>
                    </a:cubicBezTo>
                    <a:cubicBezTo>
                      <a:pt x="398" y="28"/>
                      <a:pt x="401" y="53"/>
                      <a:pt x="388" y="54"/>
                    </a:cubicBezTo>
                    <a:cubicBezTo>
                      <a:pt x="326" y="61"/>
                      <a:pt x="264" y="58"/>
                      <a:pt x="202" y="60"/>
                    </a:cubicBezTo>
                    <a:cubicBezTo>
                      <a:pt x="191" y="62"/>
                      <a:pt x="180" y="61"/>
                      <a:pt x="170" y="65"/>
                    </a:cubicBezTo>
                    <a:cubicBezTo>
                      <a:pt x="111" y="89"/>
                      <a:pt x="135" y="86"/>
                      <a:pt x="154" y="86"/>
                    </a:cubicBezTo>
                    <a:close/>
                  </a:path>
                </a:pathLst>
              </a:cu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lIns="90000" tIns="46800" rIns="90000" bIns="46800"/>
              <a:lstStyle/>
              <a:p>
                <a:endParaRPr lang="en-US"/>
              </a:p>
            </p:txBody>
          </p:sp>
          <p:sp>
            <p:nvSpPr>
              <p:cNvPr id="1518607" name="Text Box 15"/>
              <p:cNvSpPr txBox="1">
                <a:spLocks noChangeArrowheads="1"/>
              </p:cNvSpPr>
              <p:nvPr/>
            </p:nvSpPr>
            <p:spPr bwMode="auto">
              <a:xfrm>
                <a:off x="960" y="2160"/>
                <a:ext cx="527" cy="252"/>
              </a:xfrm>
              <a:prstGeom prst="rect">
                <a:avLst/>
              </a:prstGeom>
              <a:noFill/>
              <a:ln w="12700">
                <a:noFill/>
                <a:miter lim="800000"/>
                <a:headEnd/>
                <a:tailEnd/>
              </a:ln>
              <a:effectLst/>
            </p:spPr>
            <p:txBody>
              <a:bodyPr lIns="90000" tIns="46800" rIns="90000" bIns="46800">
                <a:spAutoFit/>
              </a:bodyPr>
              <a:lstStyle/>
              <a:p>
                <a:pPr algn="ctr">
                  <a:spcBef>
                    <a:spcPct val="50000"/>
                  </a:spcBef>
                </a:pPr>
                <a:r>
                  <a:rPr lang="fi-FI" sz="1600" dirty="0">
                    <a:solidFill>
                      <a:schemeClr val="bg1"/>
                    </a:solidFill>
                  </a:rPr>
                  <a:t>work ”not done”</a:t>
                </a:r>
                <a:endParaRPr lang="en-GB" sz="1600" dirty="0">
                  <a:solidFill>
                    <a:schemeClr val="bg1"/>
                  </a:solidFill>
                </a:endParaRPr>
              </a:p>
            </p:txBody>
          </p:sp>
        </p:grpSp>
        <p:sp>
          <p:nvSpPr>
            <p:cNvPr id="1518608" name="Rectangle 16"/>
            <p:cNvSpPr>
              <a:spLocks noChangeArrowheads="1"/>
            </p:cNvSpPr>
            <p:nvPr/>
          </p:nvSpPr>
          <p:spPr bwMode="auto">
            <a:xfrm>
              <a:off x="528" y="1536"/>
              <a:ext cx="1400" cy="487"/>
            </a:xfrm>
            <a:prstGeom prst="rect">
              <a:avLst/>
            </a:prstGeom>
            <a:solidFill>
              <a:schemeClr val="accent2"/>
            </a:solidFill>
            <a:ln w="12700">
              <a:noFill/>
              <a:miter lim="800000"/>
              <a:headEnd/>
              <a:tailEnd/>
            </a:ln>
            <a:effectLst/>
          </p:spPr>
          <p:txBody>
            <a:bodyPr wrap="none" lIns="90000" tIns="46800" rIns="90000" bIns="46800" anchor="ctr"/>
            <a:lstStyle/>
            <a:p>
              <a:pPr algn="ctr"/>
              <a:r>
                <a:rPr lang="fi-FI" sz="1600">
                  <a:solidFill>
                    <a:schemeClr val="bg1"/>
                  </a:solidFill>
                </a:rPr>
                <a:t>increment</a:t>
              </a:r>
              <a:endParaRPr lang="en-GB" sz="1600">
                <a:solidFill>
                  <a:schemeClr val="bg1"/>
                </a:solidFill>
              </a:endParaRPr>
            </a:p>
          </p:txBody>
        </p:sp>
      </p:grpSp>
      <p:sp>
        <p:nvSpPr>
          <p:cNvPr id="9" name="Slide Number Placeholder 8"/>
          <p:cNvSpPr>
            <a:spLocks noGrp="1"/>
          </p:cNvSpPr>
          <p:nvPr>
            <p:ph type="sldNum" sz="quarter" idx="12"/>
          </p:nvPr>
        </p:nvSpPr>
        <p:spPr/>
        <p:txBody>
          <a:bodyPr/>
          <a:lstStyle/>
          <a:p>
            <a:fld id="{B6F15528-21DE-4FAA-801E-634DDDAF4B2B}" type="slidenum">
              <a:rPr lang="en-US" smtClean="0"/>
              <a:pPr/>
              <a:t>10</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62" name="Rectangle 2"/>
          <p:cNvSpPr>
            <a:spLocks noGrp="1" noChangeArrowheads="1"/>
          </p:cNvSpPr>
          <p:nvPr>
            <p:ph type="title"/>
          </p:nvPr>
        </p:nvSpPr>
        <p:spPr/>
        <p:txBody>
          <a:bodyPr>
            <a:normAutofit fontScale="90000"/>
          </a:bodyPr>
          <a:lstStyle/>
          <a:p>
            <a:r>
              <a:rPr lang="en-US"/>
              <a:t>Discuss: Good Testing, Good Automation</a:t>
            </a:r>
            <a:endParaRPr lang="en-GB"/>
          </a:p>
        </p:txBody>
      </p:sp>
      <p:sp>
        <p:nvSpPr>
          <p:cNvPr id="1525763" name="Rectangle 3"/>
          <p:cNvSpPr>
            <a:spLocks noGrp="1" noChangeArrowheads="1"/>
          </p:cNvSpPr>
          <p:nvPr>
            <p:ph type="body" idx="1"/>
          </p:nvPr>
        </p:nvSpPr>
        <p:spPr/>
        <p:txBody>
          <a:bodyPr/>
          <a:lstStyle/>
          <a:p>
            <a:r>
              <a:rPr lang="en-US" sz="2400"/>
              <a:t>What are the characteristics you would associate with good testing?</a:t>
            </a:r>
          </a:p>
          <a:p>
            <a:endParaRPr lang="en-US" sz="2400"/>
          </a:p>
          <a:p>
            <a:r>
              <a:rPr lang="en-US" sz="2400"/>
              <a:t>What are the characteristics you would associate with good test automation?</a:t>
            </a:r>
            <a:endParaRPr lang="en-GB" sz="2400"/>
          </a:p>
        </p:txBody>
      </p:sp>
      <p:sp>
        <p:nvSpPr>
          <p:cNvPr id="4" name="Slide Number Placeholder 3"/>
          <p:cNvSpPr>
            <a:spLocks noGrp="1"/>
          </p:cNvSpPr>
          <p:nvPr>
            <p:ph type="sldNum" sz="quarter" idx="12"/>
          </p:nvPr>
        </p:nvSpPr>
        <p:spPr/>
        <p:txBody>
          <a:bodyPr/>
          <a:lstStyle/>
          <a:p>
            <a:fld id="{B6F15528-21DE-4FAA-801E-634DDDAF4B2B}" type="slidenum">
              <a:rPr lang="en-US" smtClean="0"/>
              <a:pPr/>
              <a:t>11</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fi-FI" dirty="0" smtClean="0"/>
              <a:t>Three Types of Agile Test Automation</a:t>
            </a:r>
            <a:endParaRPr lang="fi-FI"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12</a:t>
            </a:fld>
            <a:endParaRPr lang="en-US" dirty="0"/>
          </a:p>
        </p:txBody>
      </p:sp>
      <p:sp>
        <p:nvSpPr>
          <p:cNvPr id="8" name="Sun 7"/>
          <p:cNvSpPr/>
          <p:nvPr/>
        </p:nvSpPr>
        <p:spPr>
          <a:xfrm>
            <a:off x="990600" y="3810000"/>
            <a:ext cx="2286000" cy="2209800"/>
          </a:xfrm>
          <a:prstGeom prst="sun">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i-FI" dirty="0" smtClean="0"/>
              <a:t>TDD</a:t>
            </a:r>
            <a:endParaRPr lang="fi-FI" dirty="0"/>
          </a:p>
        </p:txBody>
      </p:sp>
      <p:sp>
        <p:nvSpPr>
          <p:cNvPr id="9" name="Sun 8"/>
          <p:cNvSpPr/>
          <p:nvPr/>
        </p:nvSpPr>
        <p:spPr>
          <a:xfrm>
            <a:off x="3733800" y="1752600"/>
            <a:ext cx="2286000" cy="2209800"/>
          </a:xfrm>
          <a:prstGeom prst="su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ATDD</a:t>
            </a:r>
            <a:endParaRPr lang="fi-FI" dirty="0"/>
          </a:p>
        </p:txBody>
      </p:sp>
      <p:sp>
        <p:nvSpPr>
          <p:cNvPr id="10" name="Sun 9"/>
          <p:cNvSpPr/>
          <p:nvPr/>
        </p:nvSpPr>
        <p:spPr>
          <a:xfrm>
            <a:off x="6096000" y="4114800"/>
            <a:ext cx="2286000" cy="2209800"/>
          </a:xfrm>
          <a:prstGeom prst="sun">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fi-FI" dirty="0" smtClean="0"/>
              <a:t>AT</a:t>
            </a:r>
            <a:endParaRPr lang="fi-FI" dirty="0"/>
          </a:p>
        </p:txBody>
      </p:sp>
      <p:sp>
        <p:nvSpPr>
          <p:cNvPr id="11" name="TextBox 10"/>
          <p:cNvSpPr txBox="1"/>
          <p:nvPr/>
        </p:nvSpPr>
        <p:spPr>
          <a:xfrm>
            <a:off x="5791200" y="1695271"/>
            <a:ext cx="3200400" cy="830997"/>
          </a:xfrm>
          <a:prstGeom prst="rect">
            <a:avLst/>
          </a:prstGeom>
          <a:noFill/>
        </p:spPr>
        <p:txBody>
          <a:bodyPr wrap="square" rtlCol="0">
            <a:spAutoFit/>
          </a:bodyPr>
          <a:lstStyle/>
          <a:p>
            <a:pPr algn="ctr"/>
            <a:r>
              <a:rPr lang="fi-FI" sz="1600" dirty="0" smtClean="0"/>
              <a:t>System/Acceptance –level automation done with Executable Requirements -approach</a:t>
            </a:r>
            <a:endParaRPr lang="fi-FI" sz="1600" dirty="0"/>
          </a:p>
        </p:txBody>
      </p:sp>
      <p:sp>
        <p:nvSpPr>
          <p:cNvPr id="12" name="TextBox 11"/>
          <p:cNvSpPr txBox="1"/>
          <p:nvPr/>
        </p:nvSpPr>
        <p:spPr>
          <a:xfrm>
            <a:off x="4419600" y="4495800"/>
            <a:ext cx="2133600" cy="584775"/>
          </a:xfrm>
          <a:prstGeom prst="rect">
            <a:avLst/>
          </a:prstGeom>
          <a:noFill/>
        </p:spPr>
        <p:txBody>
          <a:bodyPr wrap="square" rtlCol="0">
            <a:spAutoFit/>
          </a:bodyPr>
          <a:lstStyle/>
          <a:p>
            <a:pPr algn="ctr"/>
            <a:r>
              <a:rPr lang="fi-FI" sz="1600" dirty="0" smtClean="0"/>
              <a:t>Other high-level automated testing</a:t>
            </a:r>
            <a:endParaRPr lang="fi-FI" sz="1600" dirty="0"/>
          </a:p>
        </p:txBody>
      </p:sp>
      <p:sp>
        <p:nvSpPr>
          <p:cNvPr id="13" name="TextBox 12"/>
          <p:cNvSpPr txBox="1"/>
          <p:nvPr/>
        </p:nvSpPr>
        <p:spPr>
          <a:xfrm>
            <a:off x="2209800" y="5867400"/>
            <a:ext cx="2514600" cy="830997"/>
          </a:xfrm>
          <a:prstGeom prst="rect">
            <a:avLst/>
          </a:prstGeom>
          <a:noFill/>
        </p:spPr>
        <p:txBody>
          <a:bodyPr wrap="square" rtlCol="0">
            <a:spAutoFit/>
          </a:bodyPr>
          <a:lstStyle/>
          <a:p>
            <a:pPr algn="ctr"/>
            <a:r>
              <a:rPr lang="fi-FI" sz="1600" dirty="0" smtClean="0"/>
              <a:t>Automated unit tests that are done test-first – before implementing the feature</a:t>
            </a:r>
            <a:endParaRPr lang="fi-FI" sz="1600" dirty="0"/>
          </a:p>
        </p:txBody>
      </p:sp>
      <p:sp>
        <p:nvSpPr>
          <p:cNvPr id="14" name="TextBox 13"/>
          <p:cNvSpPr txBox="1"/>
          <p:nvPr/>
        </p:nvSpPr>
        <p:spPr>
          <a:xfrm>
            <a:off x="6781800" y="2743200"/>
            <a:ext cx="1447800" cy="523220"/>
          </a:xfrm>
          <a:prstGeom prst="rect">
            <a:avLst/>
          </a:prstGeom>
          <a:noFill/>
        </p:spPr>
        <p:txBody>
          <a:bodyPr wrap="square" rtlCol="0">
            <a:spAutoFit/>
          </a:bodyPr>
          <a:lstStyle/>
          <a:p>
            <a:pPr algn="ctr"/>
            <a:r>
              <a:rPr lang="fi-FI" sz="1400" dirty="0" smtClean="0">
                <a:solidFill>
                  <a:srgbClr val="FF0000"/>
                </a:solidFill>
              </a:rPr>
              <a:t>Note: many levels to ”accept”</a:t>
            </a:r>
            <a:endParaRPr lang="fi-FI" sz="1400" dirty="0">
              <a:solidFill>
                <a:srgbClr val="FF0000"/>
              </a:solidFill>
            </a:endParaRP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fi-FI" dirty="0" smtClean="0"/>
              <a:t>Example: Web Testing Automation Tools</a:t>
            </a:r>
            <a:endParaRPr lang="fi-FI" dirty="0"/>
          </a:p>
        </p:txBody>
      </p:sp>
      <p:sp>
        <p:nvSpPr>
          <p:cNvPr id="5" name="Rectangle 4"/>
          <p:cNvSpPr/>
          <p:nvPr/>
        </p:nvSpPr>
        <p:spPr>
          <a:xfrm>
            <a:off x="71406" y="1928802"/>
            <a:ext cx="1643074" cy="8572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Web Server</a:t>
            </a:r>
            <a:endParaRPr lang="fi-FI" dirty="0"/>
          </a:p>
        </p:txBody>
      </p:sp>
      <p:sp>
        <p:nvSpPr>
          <p:cNvPr id="6" name="Rectangle 5"/>
          <p:cNvSpPr/>
          <p:nvPr/>
        </p:nvSpPr>
        <p:spPr>
          <a:xfrm>
            <a:off x="71406" y="4143380"/>
            <a:ext cx="1643074" cy="8572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Web Browser</a:t>
            </a:r>
            <a:endParaRPr lang="fi-FI" dirty="0"/>
          </a:p>
        </p:txBody>
      </p:sp>
      <p:sp>
        <p:nvSpPr>
          <p:cNvPr id="7" name="Rectangle 6"/>
          <p:cNvSpPr/>
          <p:nvPr/>
        </p:nvSpPr>
        <p:spPr>
          <a:xfrm>
            <a:off x="2214547" y="4143380"/>
            <a:ext cx="1643074" cy="857256"/>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fi-FI" dirty="0" smtClean="0"/>
              <a:t>Automation </a:t>
            </a:r>
          </a:p>
          <a:p>
            <a:pPr algn="ctr"/>
            <a:r>
              <a:rPr lang="fi-FI" dirty="0" smtClean="0"/>
              <a:t>Library</a:t>
            </a:r>
            <a:endParaRPr lang="fi-FI" dirty="0"/>
          </a:p>
        </p:txBody>
      </p:sp>
      <p:sp>
        <p:nvSpPr>
          <p:cNvPr id="8" name="Left-Right Arrow 7"/>
          <p:cNvSpPr/>
          <p:nvPr/>
        </p:nvSpPr>
        <p:spPr>
          <a:xfrm rot="16200000">
            <a:off x="321438" y="3107528"/>
            <a:ext cx="1143008" cy="64294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900" dirty="0" smtClean="0"/>
              <a:t>HTTP/HTML</a:t>
            </a:r>
            <a:endParaRPr lang="fi-FI" sz="900" dirty="0"/>
          </a:p>
        </p:txBody>
      </p:sp>
      <p:sp>
        <p:nvSpPr>
          <p:cNvPr id="9" name="Rectangle 8"/>
          <p:cNvSpPr/>
          <p:nvPr/>
        </p:nvSpPr>
        <p:spPr>
          <a:xfrm>
            <a:off x="4357686" y="1928802"/>
            <a:ext cx="1643074" cy="8572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Web Server</a:t>
            </a:r>
            <a:endParaRPr lang="fi-FI" dirty="0"/>
          </a:p>
        </p:txBody>
      </p:sp>
      <p:sp>
        <p:nvSpPr>
          <p:cNvPr id="10" name="Rectangle 9"/>
          <p:cNvSpPr/>
          <p:nvPr/>
        </p:nvSpPr>
        <p:spPr>
          <a:xfrm>
            <a:off x="4357686" y="4143380"/>
            <a:ext cx="1643074" cy="8572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Web Browser</a:t>
            </a:r>
            <a:endParaRPr lang="fi-FI" dirty="0"/>
          </a:p>
        </p:txBody>
      </p:sp>
      <p:sp>
        <p:nvSpPr>
          <p:cNvPr id="11" name="Rectangle 10"/>
          <p:cNvSpPr/>
          <p:nvPr/>
        </p:nvSpPr>
        <p:spPr>
          <a:xfrm>
            <a:off x="7429520" y="4143380"/>
            <a:ext cx="1643074" cy="857256"/>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fi-FI" dirty="0" smtClean="0"/>
              <a:t>Automation </a:t>
            </a:r>
          </a:p>
          <a:p>
            <a:pPr algn="ctr"/>
            <a:r>
              <a:rPr lang="fi-FI" dirty="0" smtClean="0"/>
              <a:t>Library</a:t>
            </a:r>
            <a:endParaRPr lang="fi-FI" dirty="0"/>
          </a:p>
        </p:txBody>
      </p:sp>
      <p:sp>
        <p:nvSpPr>
          <p:cNvPr id="12" name="Left-Right Arrow 11"/>
          <p:cNvSpPr/>
          <p:nvPr/>
        </p:nvSpPr>
        <p:spPr>
          <a:xfrm rot="16200000">
            <a:off x="4607718" y="3107528"/>
            <a:ext cx="1143008" cy="64294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900" dirty="0" smtClean="0"/>
              <a:t>HTTP/HTML</a:t>
            </a:r>
            <a:endParaRPr lang="fi-FI" sz="900" dirty="0"/>
          </a:p>
        </p:txBody>
      </p:sp>
      <p:cxnSp>
        <p:nvCxnSpPr>
          <p:cNvPr id="14" name="Straight Connector 13"/>
          <p:cNvCxnSpPr/>
          <p:nvPr/>
        </p:nvCxnSpPr>
        <p:spPr>
          <a:xfrm rot="16200000" flipH="1">
            <a:off x="1893077" y="4107658"/>
            <a:ext cx="4357717" cy="3"/>
          </a:xfrm>
          <a:prstGeom prst="line">
            <a:avLst/>
          </a:prstGeom>
        </p:spPr>
        <p:style>
          <a:lnRef idx="3">
            <a:schemeClr val="accent1"/>
          </a:lnRef>
          <a:fillRef idx="0">
            <a:schemeClr val="accent1"/>
          </a:fillRef>
          <a:effectRef idx="2">
            <a:schemeClr val="accent1"/>
          </a:effectRef>
          <a:fontRef idx="minor">
            <a:schemeClr val="tx1"/>
          </a:fontRef>
        </p:style>
      </p:cxnSp>
      <p:sp>
        <p:nvSpPr>
          <p:cNvPr id="19" name="Left-Right Arrow 18"/>
          <p:cNvSpPr/>
          <p:nvPr/>
        </p:nvSpPr>
        <p:spPr>
          <a:xfrm rot="2172976">
            <a:off x="1436808" y="3133050"/>
            <a:ext cx="1143008" cy="642942"/>
          </a:xfrm>
          <a:prstGeom prst="leftRightArrow">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fi-FI" sz="900" dirty="0" smtClean="0"/>
              <a:t>HTTP/HTML</a:t>
            </a:r>
            <a:endParaRPr lang="fi-FI" sz="900" dirty="0"/>
          </a:p>
        </p:txBody>
      </p:sp>
      <p:sp>
        <p:nvSpPr>
          <p:cNvPr id="20" name="Left-Right Arrow 19"/>
          <p:cNvSpPr/>
          <p:nvPr/>
        </p:nvSpPr>
        <p:spPr>
          <a:xfrm>
            <a:off x="6072198" y="4286256"/>
            <a:ext cx="1250165" cy="642942"/>
          </a:xfrm>
          <a:prstGeom prst="leftRightArrow">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fi-FI" sz="900" dirty="0" smtClean="0"/>
              <a:t>Automation interface</a:t>
            </a:r>
            <a:endParaRPr lang="fi-FI" sz="900" dirty="0"/>
          </a:p>
        </p:txBody>
      </p:sp>
      <p:sp>
        <p:nvSpPr>
          <p:cNvPr id="21" name="TextBox 20"/>
          <p:cNvSpPr txBox="1"/>
          <p:nvPr/>
        </p:nvSpPr>
        <p:spPr>
          <a:xfrm>
            <a:off x="285720" y="5357826"/>
            <a:ext cx="3643338" cy="923330"/>
          </a:xfrm>
          <a:prstGeom prst="rect">
            <a:avLst/>
          </a:prstGeom>
          <a:noFill/>
        </p:spPr>
        <p:txBody>
          <a:bodyPr wrap="square" rtlCol="0">
            <a:spAutoFit/>
          </a:bodyPr>
          <a:lstStyle/>
          <a:p>
            <a:r>
              <a:rPr lang="fi-FI" b="1" dirty="0" smtClean="0"/>
              <a:t>Simulation (protocol drivers)</a:t>
            </a:r>
          </a:p>
          <a:p>
            <a:r>
              <a:rPr lang="fi-FI" dirty="0" smtClean="0"/>
              <a:t>Access the server like a web browser would</a:t>
            </a:r>
            <a:endParaRPr lang="fi-FI" dirty="0"/>
          </a:p>
        </p:txBody>
      </p:sp>
      <p:sp>
        <p:nvSpPr>
          <p:cNvPr id="22" name="TextBox 21"/>
          <p:cNvSpPr txBox="1"/>
          <p:nvPr/>
        </p:nvSpPr>
        <p:spPr>
          <a:xfrm>
            <a:off x="4357686" y="5357826"/>
            <a:ext cx="3643338" cy="923330"/>
          </a:xfrm>
          <a:prstGeom prst="rect">
            <a:avLst/>
          </a:prstGeom>
          <a:noFill/>
        </p:spPr>
        <p:txBody>
          <a:bodyPr wrap="square" rtlCol="0">
            <a:spAutoFit/>
          </a:bodyPr>
          <a:lstStyle/>
          <a:p>
            <a:r>
              <a:rPr lang="fi-FI" b="1" dirty="0" smtClean="0"/>
              <a:t>Automation (browser drivers)</a:t>
            </a:r>
          </a:p>
          <a:p>
            <a:r>
              <a:rPr lang="fi-FI" dirty="0" smtClean="0"/>
              <a:t>Drive the browser with automation interfaces</a:t>
            </a:r>
            <a:endParaRPr lang="fi-FI" dirty="0"/>
          </a:p>
        </p:txBody>
      </p:sp>
      <p:sp>
        <p:nvSpPr>
          <p:cNvPr id="23" name="TextBox 22"/>
          <p:cNvSpPr txBox="1"/>
          <p:nvPr/>
        </p:nvSpPr>
        <p:spPr>
          <a:xfrm>
            <a:off x="6572264" y="1285860"/>
            <a:ext cx="2428892" cy="187743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fi-FI" dirty="0" smtClean="0"/>
              <a:t>Functional testing: Better browser simulation</a:t>
            </a:r>
          </a:p>
          <a:p>
            <a:endParaRPr lang="fi-FI" sz="800" dirty="0" smtClean="0"/>
          </a:p>
          <a:p>
            <a:r>
              <a:rPr lang="fi-FI" dirty="0" smtClean="0"/>
              <a:t>Load testing:</a:t>
            </a:r>
          </a:p>
          <a:p>
            <a:r>
              <a:rPr lang="fi-FI" dirty="0" smtClean="0"/>
              <a:t>Better support for concurrent testing</a:t>
            </a:r>
            <a:endParaRPr lang="fi-FI" dirty="0"/>
          </a:p>
        </p:txBody>
      </p:sp>
      <p:sp>
        <p:nvSpPr>
          <p:cNvPr id="17" name="Slide Number Placeholder 16"/>
          <p:cNvSpPr>
            <a:spLocks noGrp="1"/>
          </p:cNvSpPr>
          <p:nvPr>
            <p:ph type="sldNum" sz="quarter" idx="12"/>
          </p:nvPr>
        </p:nvSpPr>
        <p:spPr/>
        <p:txBody>
          <a:bodyPr/>
          <a:lstStyle/>
          <a:p>
            <a:fld id="{B6F15528-21DE-4FAA-801E-634DDDAF4B2B}" type="slidenum">
              <a:rPr lang="en-US" smtClean="0"/>
              <a:pPr/>
              <a:t>13</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Regression testing</a:t>
            </a:r>
            <a:endParaRPr lang="fi-FI" dirty="0"/>
          </a:p>
        </p:txBody>
      </p:sp>
      <p:sp>
        <p:nvSpPr>
          <p:cNvPr id="3" name="Content Placeholder 2"/>
          <p:cNvSpPr>
            <a:spLocks noGrp="1"/>
          </p:cNvSpPr>
          <p:nvPr>
            <p:ph idx="1"/>
          </p:nvPr>
        </p:nvSpPr>
        <p:spPr/>
        <p:txBody>
          <a:bodyPr>
            <a:normAutofit fontScale="85000" lnSpcReduction="20000"/>
          </a:bodyPr>
          <a:lstStyle/>
          <a:p>
            <a:r>
              <a:rPr lang="fi-FI" dirty="0" smtClean="0"/>
              <a:t>While unit-level automated regression testing is excellent, it is not sufficient alone</a:t>
            </a:r>
          </a:p>
          <a:p>
            <a:r>
              <a:rPr lang="fi-FI" dirty="0" smtClean="0"/>
              <a:t>Two approaches in addition on system level</a:t>
            </a:r>
          </a:p>
          <a:p>
            <a:pPr lvl="1"/>
            <a:r>
              <a:rPr lang="fi-FI" dirty="0" smtClean="0"/>
              <a:t>Risk-based manual regression testing: knowing parts and their relationships helps in focusing</a:t>
            </a:r>
          </a:p>
          <a:p>
            <a:pPr lvl="1"/>
            <a:r>
              <a:rPr lang="fi-FI" dirty="0" smtClean="0"/>
              <a:t>Automated user-level acceptance testing: As much as feasible, still not the only approach, thinking always required</a:t>
            </a:r>
          </a:p>
          <a:p>
            <a:r>
              <a:rPr lang="fi-FI" dirty="0" smtClean="0"/>
              <a:t>You don’t necessarily need to do full regression testing in every iteration</a:t>
            </a:r>
          </a:p>
          <a:p>
            <a:pPr lvl="1"/>
            <a:r>
              <a:rPr lang="fi-FI" dirty="0" smtClean="0"/>
              <a:t>Running parts of full regression test in cycles: if I test this today, next time I will choose differently</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0644" name="Rectangle 4"/>
          <p:cNvSpPr>
            <a:spLocks noGrp="1" noChangeArrowheads="1"/>
          </p:cNvSpPr>
          <p:nvPr>
            <p:ph type="title"/>
          </p:nvPr>
        </p:nvSpPr>
        <p:spPr/>
        <p:txBody>
          <a:bodyPr>
            <a:normAutofit fontScale="90000"/>
          </a:bodyPr>
          <a:lstStyle/>
          <a:p>
            <a:r>
              <a:rPr lang="en-GB"/>
              <a:t>Possibilities and Limitations of Automation</a:t>
            </a:r>
          </a:p>
        </p:txBody>
      </p:sp>
      <p:sp>
        <p:nvSpPr>
          <p:cNvPr id="1520645" name="Rectangle 5"/>
          <p:cNvSpPr>
            <a:spLocks noGrp="1" noChangeArrowheads="1"/>
          </p:cNvSpPr>
          <p:nvPr>
            <p:ph type="body" idx="1"/>
          </p:nvPr>
        </p:nvSpPr>
        <p:spPr/>
        <p:txBody>
          <a:bodyPr>
            <a:normAutofit fontScale="70000" lnSpcReduction="20000"/>
          </a:bodyPr>
          <a:lstStyle/>
          <a:p>
            <a:pPr>
              <a:lnSpc>
                <a:spcPct val="110000"/>
              </a:lnSpc>
            </a:pPr>
            <a:r>
              <a:rPr lang="en-GB" dirty="0"/>
              <a:t>Not all testing can be automated</a:t>
            </a:r>
          </a:p>
          <a:p>
            <a:pPr>
              <a:lnSpc>
                <a:spcPct val="110000"/>
              </a:lnSpc>
            </a:pPr>
            <a:r>
              <a:rPr lang="en-GB" dirty="0"/>
              <a:t>Not all testing that can be automated, should be automated</a:t>
            </a:r>
          </a:p>
          <a:p>
            <a:pPr>
              <a:lnSpc>
                <a:spcPct val="110000"/>
              </a:lnSpc>
            </a:pPr>
            <a:r>
              <a:rPr lang="en-GB" dirty="0"/>
              <a:t>What should be automated, may not be easy to automate even though possible</a:t>
            </a:r>
          </a:p>
          <a:p>
            <a:pPr>
              <a:lnSpc>
                <a:spcPct val="110000"/>
              </a:lnSpc>
            </a:pPr>
            <a:endParaRPr lang="en-GB" dirty="0"/>
          </a:p>
          <a:p>
            <a:pPr>
              <a:lnSpc>
                <a:spcPct val="110000"/>
              </a:lnSpc>
            </a:pPr>
            <a:r>
              <a:rPr lang="en-GB" dirty="0"/>
              <a:t>Automation is just not the same as a person looking at software</a:t>
            </a:r>
          </a:p>
          <a:p>
            <a:pPr>
              <a:lnSpc>
                <a:spcPct val="110000"/>
              </a:lnSpc>
            </a:pPr>
            <a:r>
              <a:rPr lang="en-GB" dirty="0"/>
              <a:t>Then again, person asleep doing testing is not as </a:t>
            </a:r>
            <a:br>
              <a:rPr lang="en-GB" dirty="0"/>
            </a:br>
            <a:r>
              <a:rPr lang="en-GB" dirty="0"/>
              <a:t>good as automation that is at least awake to the </a:t>
            </a:r>
            <a:br>
              <a:rPr lang="en-GB" dirty="0"/>
            </a:br>
            <a:r>
              <a:rPr lang="en-GB" dirty="0"/>
              <a:t>implemented level</a:t>
            </a:r>
          </a:p>
          <a:p>
            <a:pPr>
              <a:lnSpc>
                <a:spcPct val="110000"/>
              </a:lnSpc>
            </a:pPr>
            <a:r>
              <a:rPr lang="en-GB" dirty="0"/>
              <a:t>Be smart – avoid doing simple and repetitive tests </a:t>
            </a:r>
            <a:br>
              <a:rPr lang="en-GB" dirty="0"/>
            </a:br>
            <a:r>
              <a:rPr lang="en-GB" dirty="0"/>
              <a:t>manually. </a:t>
            </a:r>
          </a:p>
        </p:txBody>
      </p:sp>
      <p:pic>
        <p:nvPicPr>
          <p:cNvPr id="1520646" name="Picture 6"/>
          <p:cNvPicPr>
            <a:picLocks noChangeAspect="1" noChangeArrowheads="1"/>
          </p:cNvPicPr>
          <p:nvPr/>
        </p:nvPicPr>
        <p:blipFill>
          <a:blip r:embed="rId3" cstate="print"/>
          <a:srcRect/>
          <a:stretch>
            <a:fillRect/>
          </a:stretch>
        </p:blipFill>
        <p:spPr bwMode="auto">
          <a:xfrm>
            <a:off x="7315200" y="5105400"/>
            <a:ext cx="1741488" cy="1648441"/>
          </a:xfrm>
          <a:prstGeom prst="rect">
            <a:avLst/>
          </a:prstGeom>
          <a:noFill/>
          <a:ln w="12700">
            <a:noFill/>
            <a:miter lim="800000"/>
            <a:headEnd/>
            <a:tailEnd/>
          </a:ln>
          <a:effectLst/>
        </p:spPr>
      </p:pic>
      <p:sp>
        <p:nvSpPr>
          <p:cNvPr id="5" name="Slide Number Placeholder 4"/>
          <p:cNvSpPr>
            <a:spLocks noGrp="1"/>
          </p:cNvSpPr>
          <p:nvPr>
            <p:ph type="sldNum" sz="quarter" idx="12"/>
          </p:nvPr>
        </p:nvSpPr>
        <p:spPr/>
        <p:txBody>
          <a:bodyPr/>
          <a:lstStyle/>
          <a:p>
            <a:fld id="{B6F15528-21DE-4FAA-801E-634DDDAF4B2B}" type="slidenum">
              <a:rPr lang="en-US" smtClean="0"/>
              <a:pPr/>
              <a:t>15</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0885" name="Rectangle 5"/>
          <p:cNvSpPr>
            <a:spLocks noGrp="1" noChangeArrowheads="1"/>
          </p:cNvSpPr>
          <p:nvPr>
            <p:ph type="title"/>
          </p:nvPr>
        </p:nvSpPr>
        <p:spPr/>
        <p:txBody>
          <a:bodyPr>
            <a:normAutofit fontScale="90000"/>
          </a:bodyPr>
          <a:lstStyle/>
          <a:p>
            <a:r>
              <a:rPr lang="en-US"/>
              <a:t>What Problem Are You Solving with Automation?</a:t>
            </a:r>
            <a:endParaRPr lang="en-GB"/>
          </a:p>
        </p:txBody>
      </p:sp>
      <p:sp>
        <p:nvSpPr>
          <p:cNvPr id="1530886" name="Rectangle 6"/>
          <p:cNvSpPr>
            <a:spLocks noGrp="1" noChangeArrowheads="1"/>
          </p:cNvSpPr>
          <p:nvPr>
            <p:ph type="body" idx="1"/>
          </p:nvPr>
        </p:nvSpPr>
        <p:spPr/>
        <p:txBody>
          <a:bodyPr>
            <a:normAutofit/>
          </a:bodyPr>
          <a:lstStyle/>
          <a:p>
            <a:r>
              <a:rPr lang="en-US" sz="2800" dirty="0"/>
              <a:t>Is it that:</a:t>
            </a:r>
          </a:p>
          <a:p>
            <a:pPr lvl="1"/>
            <a:r>
              <a:rPr lang="en-GB" sz="2400" dirty="0"/>
              <a:t>Manual tests take too much </a:t>
            </a:r>
            <a:r>
              <a:rPr lang="en-GB" sz="2400" dirty="0" smtClean="0"/>
              <a:t>effort</a:t>
            </a:r>
            <a:endParaRPr lang="en-GB" sz="2400" dirty="0"/>
          </a:p>
          <a:p>
            <a:pPr lvl="1"/>
            <a:r>
              <a:rPr lang="en-GB" sz="2400" dirty="0"/>
              <a:t>There’s never time for proper regression testing</a:t>
            </a:r>
          </a:p>
          <a:p>
            <a:pPr lvl="1"/>
            <a:r>
              <a:rPr lang="en-GB" sz="2400" dirty="0"/>
              <a:t>Bugs are missed in test design</a:t>
            </a:r>
          </a:p>
          <a:p>
            <a:pPr lvl="1"/>
            <a:r>
              <a:rPr lang="en-GB" sz="2400" dirty="0"/>
              <a:t>Testing is perceived as boring</a:t>
            </a:r>
          </a:p>
          <a:p>
            <a:pPr lvl="1"/>
            <a:r>
              <a:rPr lang="en-GB" sz="2400" dirty="0"/>
              <a:t>Too many faults found in testing</a:t>
            </a:r>
          </a:p>
          <a:p>
            <a:pPr lvl="1"/>
            <a:r>
              <a:rPr lang="en-GB" sz="2400" dirty="0"/>
              <a:t>Too many faults found after testing</a:t>
            </a:r>
          </a:p>
          <a:p>
            <a:pPr lvl="1"/>
            <a:r>
              <a:rPr lang="en-GB" sz="2400" dirty="0"/>
              <a:t>Can’t get a raise or higher status unless you automate (or become a manager)</a:t>
            </a:r>
          </a:p>
        </p:txBody>
      </p:sp>
      <p:sp>
        <p:nvSpPr>
          <p:cNvPr id="1530884" name="Rectangle 4"/>
          <p:cNvSpPr>
            <a:spLocks noChangeArrowheads="1"/>
          </p:cNvSpPr>
          <p:nvPr/>
        </p:nvSpPr>
        <p:spPr bwMode="auto">
          <a:xfrm>
            <a:off x="1905000" y="5876948"/>
            <a:ext cx="5334000" cy="83820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r>
              <a:rPr lang="en-US" dirty="0">
                <a:solidFill>
                  <a:schemeClr val="bg1"/>
                </a:solidFill>
              </a:rPr>
              <a:t>Tool may be one or partial solution, consider investigating also other possibilities. </a:t>
            </a:r>
            <a:endParaRPr lang="en-GB" dirty="0">
              <a:solidFill>
                <a:schemeClr val="bg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16</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0098" name="Rectangle 2"/>
          <p:cNvSpPr>
            <a:spLocks noGrp="1" noChangeArrowheads="1"/>
          </p:cNvSpPr>
          <p:nvPr>
            <p:ph type="title"/>
          </p:nvPr>
        </p:nvSpPr>
        <p:spPr/>
        <p:txBody>
          <a:bodyPr>
            <a:normAutofit fontScale="90000"/>
          </a:bodyPr>
          <a:lstStyle/>
          <a:p>
            <a:r>
              <a:rPr lang="fi-FI"/>
              <a:t>Costs Calculations Have Always Two Sides</a:t>
            </a:r>
            <a:endParaRPr lang="en-GB"/>
          </a:p>
        </p:txBody>
      </p:sp>
      <p:sp>
        <p:nvSpPr>
          <p:cNvPr id="1540099" name="Rectangle 3"/>
          <p:cNvSpPr>
            <a:spLocks noChangeArrowheads="1"/>
          </p:cNvSpPr>
          <p:nvPr/>
        </p:nvSpPr>
        <p:spPr bwMode="auto">
          <a:xfrm>
            <a:off x="1600200" y="2051072"/>
            <a:ext cx="2819400" cy="3657600"/>
          </a:xfrm>
          <a:prstGeom prst="rect">
            <a:avLst/>
          </a:prstGeom>
          <a:solidFill>
            <a:schemeClr val="accent1"/>
          </a:solidFill>
          <a:ln w="9525">
            <a:noFill/>
            <a:miter lim="800000"/>
            <a:headEnd/>
            <a:tailEnd/>
          </a:ln>
          <a:effectLst>
            <a:outerShdw dist="107763" dir="18900000" algn="ctr" rotWithShape="0">
              <a:schemeClr val="bg2"/>
            </a:outerShdw>
          </a:effectLst>
        </p:spPr>
        <p:txBody>
          <a:bodyPr anchor="ctr"/>
          <a:lstStyle/>
          <a:p>
            <a:pPr algn="ctr" eaLnBrk="1" hangingPunct="1"/>
            <a:r>
              <a:rPr lang="fi-FI" sz="2400" b="1">
                <a:solidFill>
                  <a:schemeClr val="bg1"/>
                </a:solidFill>
              </a:rPr>
              <a:t>Bookkeeping Cost</a:t>
            </a:r>
          </a:p>
          <a:p>
            <a:pPr algn="ctr" eaLnBrk="1" hangingPunct="1"/>
            <a:endParaRPr lang="fi-FI" sz="2000" b="1">
              <a:solidFill>
                <a:schemeClr val="bg1"/>
              </a:solidFill>
            </a:endParaRPr>
          </a:p>
          <a:p>
            <a:pPr algn="ctr" eaLnBrk="1" hangingPunct="1"/>
            <a:r>
              <a:rPr lang="fi-FI" sz="2000">
                <a:solidFill>
                  <a:schemeClr val="bg1"/>
                </a:solidFill>
              </a:rPr>
              <a:t>”how much it costs”</a:t>
            </a:r>
            <a:endParaRPr lang="en-GB" sz="2000">
              <a:solidFill>
                <a:schemeClr val="bg1"/>
              </a:solidFill>
            </a:endParaRPr>
          </a:p>
        </p:txBody>
      </p:sp>
      <p:sp>
        <p:nvSpPr>
          <p:cNvPr id="1540100" name="Rectangle 4"/>
          <p:cNvSpPr>
            <a:spLocks noChangeArrowheads="1"/>
          </p:cNvSpPr>
          <p:nvPr/>
        </p:nvSpPr>
        <p:spPr bwMode="auto">
          <a:xfrm>
            <a:off x="4800600" y="2051072"/>
            <a:ext cx="2819400" cy="3657600"/>
          </a:xfrm>
          <a:prstGeom prst="rect">
            <a:avLst/>
          </a:prstGeom>
          <a:solidFill>
            <a:schemeClr val="accent1"/>
          </a:solidFill>
          <a:ln w="9525">
            <a:noFill/>
            <a:miter lim="800000"/>
            <a:headEnd/>
            <a:tailEnd/>
          </a:ln>
          <a:effectLst>
            <a:outerShdw dist="107763" dir="18900000" algn="ctr" rotWithShape="0">
              <a:schemeClr val="bg2"/>
            </a:outerShdw>
          </a:effectLst>
        </p:spPr>
        <p:txBody>
          <a:bodyPr anchor="ctr"/>
          <a:lstStyle/>
          <a:p>
            <a:pPr algn="ctr" eaLnBrk="1" hangingPunct="1"/>
            <a:r>
              <a:rPr lang="fi-FI" sz="2400" b="1">
                <a:solidFill>
                  <a:schemeClr val="bg1"/>
                </a:solidFill>
              </a:rPr>
              <a:t>Opportunity Cost</a:t>
            </a:r>
          </a:p>
          <a:p>
            <a:pPr algn="ctr" eaLnBrk="1" hangingPunct="1"/>
            <a:endParaRPr lang="fi-FI" sz="2000">
              <a:solidFill>
                <a:schemeClr val="bg1"/>
              </a:solidFill>
            </a:endParaRPr>
          </a:p>
          <a:p>
            <a:pPr algn="ctr" eaLnBrk="1" hangingPunct="1"/>
            <a:r>
              <a:rPr lang="fi-FI" sz="2000">
                <a:solidFill>
                  <a:schemeClr val="bg1"/>
                </a:solidFill>
              </a:rPr>
              <a:t>”what you don’t get when the money is invested as it is”</a:t>
            </a:r>
            <a:endParaRPr lang="en-GB" sz="2000">
              <a:solidFill>
                <a:schemeClr val="bg1"/>
              </a:solidFill>
            </a:endParaRPr>
          </a:p>
        </p:txBody>
      </p:sp>
      <p:sp>
        <p:nvSpPr>
          <p:cNvPr id="1540101" name="Rectangle 5"/>
          <p:cNvSpPr>
            <a:spLocks noChangeArrowheads="1"/>
          </p:cNvSpPr>
          <p:nvPr/>
        </p:nvSpPr>
        <p:spPr bwMode="auto">
          <a:xfrm>
            <a:off x="2133600" y="5861072"/>
            <a:ext cx="5210175" cy="711200"/>
          </a:xfrm>
          <a:prstGeom prst="rect">
            <a:avLst/>
          </a:prstGeom>
          <a:solidFill>
            <a:schemeClr val="bg1"/>
          </a:solidFill>
          <a:ln w="9525">
            <a:solidFill>
              <a:schemeClr val="accent2"/>
            </a:solidFill>
            <a:miter lim="800000"/>
            <a:headEnd/>
            <a:tailEnd/>
          </a:ln>
          <a:effectLst>
            <a:outerShdw dist="107763" dir="18900000" algn="ctr" rotWithShape="0">
              <a:schemeClr val="bg2"/>
            </a:outerShdw>
          </a:effectLst>
        </p:spPr>
        <p:txBody>
          <a:bodyPr>
            <a:spAutoFit/>
          </a:bodyPr>
          <a:lstStyle/>
          <a:p>
            <a:pPr algn="ctr" eaLnBrk="1" hangingPunct="1"/>
            <a:r>
              <a:rPr lang="en-GB" sz="2000"/>
              <a:t>Consider: which problems remain not found while working on automation?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fi-FI" dirty="0" smtClean="0"/>
              <a:t>A Reminder on Nature of Test Automation</a:t>
            </a:r>
            <a:endParaRPr lang="fi-FI" dirty="0"/>
          </a:p>
        </p:txBody>
      </p:sp>
      <p:sp>
        <p:nvSpPr>
          <p:cNvPr id="7" name="Content Placeholder 6"/>
          <p:cNvSpPr>
            <a:spLocks noGrp="1"/>
          </p:cNvSpPr>
          <p:nvPr>
            <p:ph idx="1"/>
          </p:nvPr>
        </p:nvSpPr>
        <p:spPr/>
        <p:txBody>
          <a:bodyPr/>
          <a:lstStyle/>
          <a:p>
            <a:r>
              <a:rPr lang="en-US" dirty="0" smtClean="0"/>
              <a:t>Automated tests are software. </a:t>
            </a:r>
          </a:p>
          <a:p>
            <a:r>
              <a:rPr lang="en-US" dirty="0" smtClean="0"/>
              <a:t>Therefore, test automation is software development. </a:t>
            </a:r>
          </a:p>
          <a:p>
            <a:r>
              <a:rPr lang="en-US" dirty="0" smtClean="0"/>
              <a:t>As with other software development efforts, most of the cost of test automation occurs during maintenance after the tests are first written.</a:t>
            </a:r>
          </a:p>
          <a:p>
            <a:endParaRPr lang="fi-FI"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18</a:t>
            </a:fld>
            <a:endParaRPr lang="en-US" dirty="0"/>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2933" name="Rectangle 5"/>
          <p:cNvSpPr>
            <a:spLocks noGrp="1" noChangeArrowheads="1"/>
          </p:cNvSpPr>
          <p:nvPr>
            <p:ph type="title"/>
          </p:nvPr>
        </p:nvSpPr>
        <p:spPr/>
        <p:txBody>
          <a:bodyPr>
            <a:normAutofit fontScale="90000"/>
          </a:bodyPr>
          <a:lstStyle/>
          <a:p>
            <a:r>
              <a:rPr lang="fi-FI"/>
              <a:t>Wrong Assumptions on Test Automation </a:t>
            </a:r>
            <a:br>
              <a:rPr lang="fi-FI"/>
            </a:br>
            <a:r>
              <a:rPr lang="fi-FI" sz="1800"/>
              <a:t>Source: Bach, James. 1999. Test Automation Snake Oil</a:t>
            </a:r>
          </a:p>
        </p:txBody>
      </p:sp>
      <p:sp>
        <p:nvSpPr>
          <p:cNvPr id="1532934" name="Rectangle 6"/>
          <p:cNvSpPr>
            <a:spLocks noGrp="1" noChangeArrowheads="1"/>
          </p:cNvSpPr>
          <p:nvPr>
            <p:ph sz="half" idx="1"/>
          </p:nvPr>
        </p:nvSpPr>
        <p:spPr/>
        <p:txBody>
          <a:bodyPr/>
          <a:lstStyle/>
          <a:p>
            <a:r>
              <a:rPr lang="fi-FI" sz="2000" dirty="0"/>
              <a:t>Testing is a ”sequence of actions”.</a:t>
            </a:r>
          </a:p>
          <a:p>
            <a:r>
              <a:rPr lang="fi-FI" sz="2000" dirty="0"/>
              <a:t>Testing means repeating same things over and over again.</a:t>
            </a:r>
          </a:p>
          <a:p>
            <a:r>
              <a:rPr lang="fi-FI" sz="2000" dirty="0"/>
              <a:t>We can automate testing functions. </a:t>
            </a:r>
          </a:p>
          <a:p>
            <a:r>
              <a:rPr lang="fi-FI" sz="2000" dirty="0"/>
              <a:t>Automated test is faster because it does not require human intervention.</a:t>
            </a:r>
          </a:p>
        </p:txBody>
      </p:sp>
      <p:sp>
        <p:nvSpPr>
          <p:cNvPr id="1532935" name="Rectangle 7"/>
          <p:cNvSpPr>
            <a:spLocks noGrp="1" noChangeArrowheads="1"/>
          </p:cNvSpPr>
          <p:nvPr>
            <p:ph sz="half" idx="2"/>
          </p:nvPr>
        </p:nvSpPr>
        <p:spPr/>
        <p:txBody>
          <a:bodyPr>
            <a:noAutofit/>
          </a:bodyPr>
          <a:lstStyle/>
          <a:p>
            <a:r>
              <a:rPr lang="fi-FI" sz="2000"/>
              <a:t>Automation diminishes the number of errors made by people. </a:t>
            </a:r>
          </a:p>
          <a:p>
            <a:r>
              <a:rPr lang="fi-FI" sz="2000"/>
              <a:t>Manual and automated testing costs and benefits can be directly compared. </a:t>
            </a:r>
          </a:p>
          <a:p>
            <a:r>
              <a:rPr lang="fi-FI" sz="2000"/>
              <a:t>Automation results in significant cost savings. </a:t>
            </a:r>
          </a:p>
          <a:p>
            <a:r>
              <a:rPr lang="fi-FI" sz="2000"/>
              <a:t>Automation does not have a negative impact on the testing project. </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19</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9074" name="Rectangle 2"/>
          <p:cNvSpPr>
            <a:spLocks noGrp="1" noChangeArrowheads="1"/>
          </p:cNvSpPr>
          <p:nvPr>
            <p:ph type="title"/>
          </p:nvPr>
        </p:nvSpPr>
        <p:spPr/>
        <p:txBody>
          <a:bodyPr>
            <a:normAutofit fontScale="90000"/>
          </a:bodyPr>
          <a:lstStyle/>
          <a:p>
            <a:r>
              <a:rPr lang="en-GB" dirty="0"/>
              <a:t>Lessons Learned on </a:t>
            </a:r>
            <a:r>
              <a:rPr lang="en-GB" dirty="0" smtClean="0"/>
              <a:t>Success </a:t>
            </a:r>
            <a:r>
              <a:rPr lang="en-GB" dirty="0"/>
              <a:t>with Automation</a:t>
            </a:r>
          </a:p>
        </p:txBody>
      </p:sp>
      <p:sp>
        <p:nvSpPr>
          <p:cNvPr id="1539075" name="Rectangle 3"/>
          <p:cNvSpPr>
            <a:spLocks noGrp="1" noChangeArrowheads="1"/>
          </p:cNvSpPr>
          <p:nvPr>
            <p:ph idx="1"/>
          </p:nvPr>
        </p:nvSpPr>
        <p:spPr/>
        <p:txBody>
          <a:bodyPr>
            <a:normAutofit/>
          </a:bodyPr>
          <a:lstStyle/>
          <a:p>
            <a:pPr marL="381000" indent="-381000">
              <a:lnSpc>
                <a:spcPct val="110000"/>
              </a:lnSpc>
              <a:buFont typeface="Times" pitchFamily="18" charset="0"/>
              <a:buAutoNum type="arabicPeriod"/>
            </a:pPr>
            <a:r>
              <a:rPr lang="en-GB" sz="1800"/>
              <a:t>On-time investment with possibility to focus</a:t>
            </a:r>
          </a:p>
          <a:p>
            <a:pPr marL="533400" lvl="1" indent="-342900">
              <a:lnSpc>
                <a:spcPct val="90000"/>
              </a:lnSpc>
            </a:pPr>
            <a:r>
              <a:rPr lang="en-GB" sz="1600"/>
              <a:t>Automation is not a side-project, although small tools can be that</a:t>
            </a:r>
          </a:p>
          <a:p>
            <a:pPr marL="533400" lvl="1" indent="-342900">
              <a:lnSpc>
                <a:spcPct val="90000"/>
              </a:lnSpc>
            </a:pPr>
            <a:r>
              <a:rPr lang="en-GB" sz="1600"/>
              <a:t>Must be possible to start ahead before the need of automation’s existence is pressing</a:t>
            </a:r>
          </a:p>
          <a:p>
            <a:pPr marL="381000" indent="-381000">
              <a:lnSpc>
                <a:spcPct val="110000"/>
              </a:lnSpc>
              <a:buFont typeface="Times" pitchFamily="18" charset="0"/>
              <a:buAutoNum type="arabicPeriod"/>
            </a:pPr>
            <a:r>
              <a:rPr lang="en-GB" sz="1800"/>
              <a:t>Right skills in the people working on automation</a:t>
            </a:r>
          </a:p>
          <a:p>
            <a:pPr marL="533400" lvl="1" indent="-342900">
              <a:lnSpc>
                <a:spcPct val="90000"/>
              </a:lnSpc>
            </a:pPr>
            <a:r>
              <a:rPr lang="en-GB" sz="1600"/>
              <a:t>If you don’t yet know how to test, easily turns into “another 10 test cases automated that don’t find bugs but do testing”</a:t>
            </a:r>
          </a:p>
          <a:p>
            <a:pPr marL="533400" lvl="1" indent="-342900">
              <a:lnSpc>
                <a:spcPct val="90000"/>
              </a:lnSpc>
            </a:pPr>
            <a:r>
              <a:rPr lang="en-GB" sz="1600"/>
              <a:t>Can the people doing automation notice cost of implementing and maintaining exceeds benefits or do you need a “Automation product owner” </a:t>
            </a:r>
          </a:p>
          <a:p>
            <a:pPr marL="381000" indent="-381000">
              <a:lnSpc>
                <a:spcPct val="110000"/>
              </a:lnSpc>
              <a:buFont typeface="Times" pitchFamily="18" charset="0"/>
              <a:buAutoNum type="arabicPeriod"/>
            </a:pPr>
            <a:r>
              <a:rPr lang="en-GB" sz="1800"/>
              <a:t>Incremental development with continuous demos of provided testing value</a:t>
            </a:r>
          </a:p>
          <a:p>
            <a:pPr marL="533400" lvl="1" indent="-342900">
              <a:lnSpc>
                <a:spcPct val="90000"/>
              </a:lnSpc>
            </a:pPr>
            <a:r>
              <a:rPr lang="en-GB" sz="1600"/>
              <a:t>What ever was done can be used now, as it was needed now or soon</a:t>
            </a:r>
          </a:p>
          <a:p>
            <a:pPr marL="533400" lvl="1" indent="-342900">
              <a:lnSpc>
                <a:spcPct val="90000"/>
              </a:lnSpc>
            </a:pPr>
            <a:r>
              <a:rPr lang="en-GB" sz="1600"/>
              <a:t>Cutting away endless efforts of implementing and maintaining</a:t>
            </a:r>
          </a:p>
          <a:p>
            <a:pPr marL="533400" lvl="1" indent="-342900">
              <a:lnSpc>
                <a:spcPct val="90000"/>
              </a:lnSpc>
            </a:pPr>
            <a:r>
              <a:rPr lang="en-GB" sz="1600"/>
              <a:t>Visibility helps avoid doing same tests manually</a:t>
            </a:r>
          </a:p>
          <a:p>
            <a:pPr marL="533400" lvl="1" indent="-342900">
              <a:lnSpc>
                <a:spcPct val="90000"/>
              </a:lnSpc>
            </a:pPr>
            <a:r>
              <a:rPr lang="en-GB" sz="1600"/>
              <a:t>Note: easy automations are usually anyway included in the left manual tests too, consider where is the value</a:t>
            </a:r>
          </a:p>
        </p:txBody>
      </p:sp>
      <p:pic>
        <p:nvPicPr>
          <p:cNvPr id="1539076" name="Picture 4"/>
          <p:cNvPicPr>
            <a:picLocks noChangeAspect="1" noChangeArrowheads="1"/>
          </p:cNvPicPr>
          <p:nvPr/>
        </p:nvPicPr>
        <p:blipFill>
          <a:blip r:embed="rId3" cstate="print"/>
          <a:srcRect/>
          <a:stretch>
            <a:fillRect/>
          </a:stretch>
        </p:blipFill>
        <p:spPr bwMode="auto">
          <a:xfrm>
            <a:off x="7696200" y="990048"/>
            <a:ext cx="1404934" cy="1372152"/>
          </a:xfrm>
          <a:prstGeom prst="rect">
            <a:avLst/>
          </a:prstGeom>
          <a:noFill/>
          <a:ln w="12700">
            <a:noFill/>
            <a:miter lim="800000"/>
            <a:headEnd/>
            <a:tailEnd/>
          </a:ln>
          <a:effectLst/>
        </p:spPr>
      </p:pic>
      <p:sp>
        <p:nvSpPr>
          <p:cNvPr id="5" name="Slide Number Placeholder 4"/>
          <p:cNvSpPr>
            <a:spLocks noGrp="1"/>
          </p:cNvSpPr>
          <p:nvPr>
            <p:ph type="sldNum" sz="quarter" idx="12"/>
          </p:nvPr>
        </p:nvSpPr>
        <p:spPr/>
        <p:txBody>
          <a:bodyPr/>
          <a:lstStyle/>
          <a:p>
            <a:fld id="{B6F15528-21DE-4FAA-801E-634DDDAF4B2B}" type="slidenum">
              <a:rPr lang="en-US" smtClean="0"/>
              <a:pPr/>
              <a:t>20</a:t>
            </a:fld>
            <a:endParaRPr lang="en-US"/>
          </a:p>
        </p:txBody>
      </p:sp>
    </p:spTree>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46242" name="Rectangle 2"/>
          <p:cNvSpPr>
            <a:spLocks noGrp="1" noChangeArrowheads="1"/>
          </p:cNvSpPr>
          <p:nvPr>
            <p:ph type="title"/>
          </p:nvPr>
        </p:nvSpPr>
        <p:spPr/>
        <p:txBody>
          <a:bodyPr>
            <a:normAutofit fontScale="90000"/>
          </a:bodyPr>
          <a:lstStyle/>
          <a:p>
            <a:r>
              <a:rPr lang="en-GB"/>
              <a:t>Observation from Automation Efforts in Agile Teams</a:t>
            </a:r>
          </a:p>
        </p:txBody>
      </p:sp>
      <p:sp>
        <p:nvSpPr>
          <p:cNvPr id="1546243" name="Rectangle 3"/>
          <p:cNvSpPr>
            <a:spLocks noGrp="1" noChangeArrowheads="1"/>
          </p:cNvSpPr>
          <p:nvPr>
            <p:ph idx="1"/>
          </p:nvPr>
        </p:nvSpPr>
        <p:spPr/>
        <p:txBody>
          <a:bodyPr>
            <a:noAutofit/>
          </a:bodyPr>
          <a:lstStyle/>
          <a:p>
            <a:r>
              <a:rPr lang="en-GB" sz="2800" dirty="0"/>
              <a:t>Teams would prefer being somewhat self-contained: communication adds to overhead</a:t>
            </a:r>
          </a:p>
          <a:p>
            <a:r>
              <a:rPr lang="en-GB" sz="2800" dirty="0"/>
              <a:t>Easy to go towards re-implementing the wheel, even the conceptually same tests for same component may be automated in several locations. E.g. three teams did same tests, fourth noticed as they had no capability to automate within available resourcing</a:t>
            </a:r>
          </a:p>
          <a:p>
            <a:r>
              <a:rPr lang="en-GB" sz="2800" dirty="0"/>
              <a:t>Different automation support structures selected to teams, knowledge sharing needs time and support and harmonizing all may not be possible</a:t>
            </a:r>
          </a:p>
        </p:txBody>
      </p:sp>
      <p:pic>
        <p:nvPicPr>
          <p:cNvPr id="1546244" name="Picture 4"/>
          <p:cNvPicPr>
            <a:picLocks noChangeAspect="1" noChangeArrowheads="1"/>
          </p:cNvPicPr>
          <p:nvPr/>
        </p:nvPicPr>
        <p:blipFill>
          <a:blip r:embed="rId3" cstate="print"/>
          <a:srcRect/>
          <a:stretch>
            <a:fillRect/>
          </a:stretch>
        </p:blipFill>
        <p:spPr bwMode="auto">
          <a:xfrm>
            <a:off x="7072330" y="5642766"/>
            <a:ext cx="1722437" cy="1215234"/>
          </a:xfrm>
          <a:prstGeom prst="rect">
            <a:avLst/>
          </a:prstGeom>
          <a:noFill/>
          <a:ln w="12700">
            <a:noFill/>
            <a:miter lim="800000"/>
            <a:headEnd/>
            <a:tailEnd/>
          </a:ln>
          <a:effectLst/>
        </p:spPr>
      </p:pic>
      <p:sp>
        <p:nvSpPr>
          <p:cNvPr id="5" name="Slide Number Placeholder 4"/>
          <p:cNvSpPr>
            <a:spLocks noGrp="1"/>
          </p:cNvSpPr>
          <p:nvPr>
            <p:ph type="sldNum" sz="quarter" idx="12"/>
          </p:nvPr>
        </p:nvSpPr>
        <p:spPr/>
        <p:txBody>
          <a:bodyPr/>
          <a:lstStyle/>
          <a:p>
            <a:fld id="{B6F15528-21DE-4FAA-801E-634DDDAF4B2B}" type="slidenum">
              <a:rPr lang="en-US" smtClean="0"/>
              <a:pPr/>
              <a:t>21</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19620" name="Rectangle 4"/>
          <p:cNvSpPr>
            <a:spLocks noGrp="1" noChangeArrowheads="1"/>
          </p:cNvSpPr>
          <p:nvPr>
            <p:ph type="title"/>
          </p:nvPr>
        </p:nvSpPr>
        <p:spPr/>
        <p:txBody>
          <a:bodyPr>
            <a:noAutofit/>
          </a:bodyPr>
          <a:lstStyle/>
          <a:p>
            <a:r>
              <a:rPr lang="en-GB" sz="3200" dirty="0"/>
              <a:t>Including Test Automation Efforts with Other Agile Testing and Development</a:t>
            </a:r>
          </a:p>
        </p:txBody>
      </p:sp>
      <p:sp>
        <p:nvSpPr>
          <p:cNvPr id="1519621" name="Rectangle 5"/>
          <p:cNvSpPr>
            <a:spLocks noGrp="1" noChangeArrowheads="1"/>
          </p:cNvSpPr>
          <p:nvPr>
            <p:ph idx="1"/>
          </p:nvPr>
        </p:nvSpPr>
        <p:spPr/>
        <p:txBody>
          <a:bodyPr>
            <a:noAutofit/>
          </a:bodyPr>
          <a:lstStyle/>
          <a:p>
            <a:r>
              <a:rPr lang="en-US" sz="2000" dirty="0"/>
              <a:t>Consider</a:t>
            </a:r>
            <a:endParaRPr lang="fi-FI" sz="2000" dirty="0"/>
          </a:p>
          <a:p>
            <a:pPr lvl="1"/>
            <a:r>
              <a:rPr lang="en-GB" sz="2000" dirty="0"/>
              <a:t>Test Automation “in a silo”, separate person or a team</a:t>
            </a:r>
          </a:p>
          <a:p>
            <a:pPr lvl="1"/>
            <a:r>
              <a:rPr lang="en-GB" sz="2000" dirty="0"/>
              <a:t>Test Automation as everyone’s task or at least every team’s task</a:t>
            </a:r>
          </a:p>
          <a:p>
            <a:pPr lvl="1"/>
            <a:r>
              <a:rPr lang="en-GB" sz="2000" dirty="0"/>
              <a:t>Test Automation as goal of a sprint every now and then</a:t>
            </a:r>
          </a:p>
          <a:p>
            <a:pPr lvl="1"/>
            <a:r>
              <a:rPr lang="en-GB" sz="2000" dirty="0"/>
              <a:t>Test Automation as Community of Practice with representatives from teams, occasional cross-team automation weeks</a:t>
            </a:r>
          </a:p>
          <a:p>
            <a:r>
              <a:rPr lang="en-GB" sz="2000" dirty="0"/>
              <a:t>Seems different structures work for different teams</a:t>
            </a:r>
          </a:p>
          <a:p>
            <a:pPr lvl="1"/>
            <a:r>
              <a:rPr lang="en-GB" sz="2000" dirty="0"/>
              <a:t>Creating and maintaining the infrastructure usually requires specialized skills and knowledge in automation</a:t>
            </a:r>
          </a:p>
          <a:p>
            <a:pPr lvl="1"/>
            <a:r>
              <a:rPr lang="en-GB" sz="2000" dirty="0"/>
              <a:t>Automation must be integrated with the testing tasks or there is both automated and manual for the same target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22</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Regression Automation Tools Suited For Agile</a:t>
            </a:r>
            <a:endParaRPr lang="fi-FI" dirty="0"/>
          </a:p>
        </p:txBody>
      </p:sp>
      <p:sp>
        <p:nvSpPr>
          <p:cNvPr id="3" name="Content Placeholder 2"/>
          <p:cNvSpPr>
            <a:spLocks noGrp="1"/>
          </p:cNvSpPr>
          <p:nvPr>
            <p:ph idx="1"/>
          </p:nvPr>
        </p:nvSpPr>
        <p:spPr/>
        <p:txBody>
          <a:bodyPr>
            <a:normAutofit fontScale="92500" lnSpcReduction="10000"/>
          </a:bodyPr>
          <a:lstStyle/>
          <a:p>
            <a:r>
              <a:rPr lang="fi-FI" dirty="0" smtClean="0"/>
              <a:t>Tool should support use for team as a whole, not just by the tester</a:t>
            </a:r>
          </a:p>
          <a:p>
            <a:pPr lvl="1"/>
            <a:r>
              <a:rPr lang="fi-FI" dirty="0" smtClean="0"/>
              <a:t>Preventive licencing schemes</a:t>
            </a:r>
          </a:p>
          <a:p>
            <a:r>
              <a:rPr lang="fi-FI" dirty="0" smtClean="0"/>
              <a:t>Integration with source control </a:t>
            </a:r>
          </a:p>
          <a:p>
            <a:pPr lvl="1"/>
            <a:r>
              <a:rPr lang="fi-FI" dirty="0" smtClean="0"/>
              <a:t>Tests are code too</a:t>
            </a:r>
          </a:p>
          <a:p>
            <a:r>
              <a:rPr lang="fi-FI" dirty="0" smtClean="0"/>
              <a:t>Integration with continuous integration</a:t>
            </a:r>
          </a:p>
          <a:p>
            <a:pPr lvl="1"/>
            <a:r>
              <a:rPr lang="fi-FI" dirty="0" smtClean="0"/>
              <a:t>no manual intervention when a change is made and tested</a:t>
            </a:r>
          </a:p>
          <a:p>
            <a:r>
              <a:rPr lang="fi-FI" dirty="0" smtClean="0"/>
              <a:t>Agile teams are building their own test tools and releasing them as open-source for others to use</a:t>
            </a:r>
            <a:endParaRPr lang="fi-FI"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23</a:t>
            </a:fld>
            <a:endParaRPr lang="en-US"/>
          </a:p>
        </p:txBody>
      </p:sp>
    </p:spTree>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t>"How can I get tests automated with back-to-back, short iterations? I don't have time".</a:t>
            </a:r>
            <a:endParaRPr lang="fi-FI" sz="3200" dirty="0"/>
          </a:p>
        </p:txBody>
      </p:sp>
      <p:sp>
        <p:nvSpPr>
          <p:cNvPr id="3" name="Content Placeholder 2"/>
          <p:cNvSpPr>
            <a:spLocks noGrp="1"/>
          </p:cNvSpPr>
          <p:nvPr>
            <p:ph idx="1"/>
          </p:nvPr>
        </p:nvSpPr>
        <p:spPr/>
        <p:txBody>
          <a:bodyPr>
            <a:noAutofit/>
          </a:bodyPr>
          <a:lstStyle/>
          <a:p>
            <a:r>
              <a:rPr lang="en-US" sz="2000" dirty="0"/>
              <a:t>The whole development team, not only the testers, needs to tackle test automation.</a:t>
            </a:r>
            <a:endParaRPr lang="en-US" sz="2000" dirty="0" smtClean="0"/>
          </a:p>
          <a:p>
            <a:r>
              <a:rPr lang="en-US" sz="2000" dirty="0"/>
              <a:t>Start by implementing a continuous integration and build process so you have a way to run your tests automatically, and get quick feedback from them.</a:t>
            </a:r>
            <a:br>
              <a:rPr lang="en-US" sz="2000" dirty="0"/>
            </a:br>
            <a:endParaRPr lang="en-US" sz="2000" dirty="0" smtClean="0"/>
          </a:p>
          <a:p>
            <a:r>
              <a:rPr lang="en-US" sz="2000" dirty="0"/>
              <a:t>Unit tests have the best ROI, so start test automation efforts there. For legacy code, try a lightweight automation tool and do simple smoke tests that don't have a lot of logic in them and are easy to maintain. You'll be surprised how many regression bugs they find.</a:t>
            </a:r>
            <a:endParaRPr lang="en-US" sz="2000" dirty="0" smtClean="0"/>
          </a:p>
          <a:p>
            <a:r>
              <a:rPr lang="en-US" sz="2000" dirty="0"/>
              <a:t>Cut down the scope of work your development team commits to in each iteration so you make sure there is time to finish all test automation tasks. Don't put them off until the next iteration - that's the road to perdition.</a:t>
            </a:r>
            <a:endParaRPr lang="en-US" sz="2000" dirty="0" smtClean="0"/>
          </a:p>
          <a:p>
            <a:r>
              <a:rPr lang="en-US" sz="2000" dirty="0"/>
              <a:t>Repeat this mantra, write it on your story board or whiteboard: No story is done until it's tested! This includes automating regression tests for it too!</a:t>
            </a:r>
            <a:endParaRPr lang="en-US" sz="2000" dirty="0" smtClean="0"/>
          </a:p>
          <a:p>
            <a:endParaRPr lang="fi-FI" sz="20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24</a:t>
            </a:fld>
            <a:endParaRPr lang="en-US"/>
          </a:p>
        </p:txBody>
      </p:sp>
    </p:spTree>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Agile and Full Automation Debate</a:t>
            </a:r>
            <a:endParaRPr lang="fi-FI" dirty="0"/>
          </a:p>
        </p:txBody>
      </p:sp>
      <p:sp>
        <p:nvSpPr>
          <p:cNvPr id="3" name="Content Placeholder 2"/>
          <p:cNvSpPr>
            <a:spLocks noGrp="1"/>
          </p:cNvSpPr>
          <p:nvPr>
            <p:ph idx="1"/>
          </p:nvPr>
        </p:nvSpPr>
        <p:spPr/>
        <p:txBody>
          <a:bodyPr>
            <a:normAutofit fontScale="92500"/>
          </a:bodyPr>
          <a:lstStyle/>
          <a:p>
            <a:r>
              <a:rPr lang="fi-FI" dirty="0" smtClean="0"/>
              <a:t>Automation experts within agile say that you can and mostly should automate all tests</a:t>
            </a:r>
          </a:p>
          <a:p>
            <a:r>
              <a:rPr lang="fi-FI" dirty="0" smtClean="0"/>
              <a:t>For people like me, that already inflicts a bias towards not wanting to come up with so much to test, as it falls down to dumbing my idea down to a level where I eventually have to claim the automated test is the same as I had in mind</a:t>
            </a:r>
          </a:p>
          <a:p>
            <a:r>
              <a:rPr lang="fi-FI" dirty="0" smtClean="0"/>
              <a:t>”Requirements-oriented” approach, what you can’t describe is left out. </a:t>
            </a:r>
            <a:endParaRPr lang="fi-FI"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25</a:t>
            </a:fld>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Ideoita, ajatuksia, </a:t>
            </a:r>
            <a:br>
              <a:rPr lang="fi-FI" dirty="0" smtClean="0"/>
            </a:br>
            <a:r>
              <a:rPr lang="fi-FI" dirty="0" smtClean="0"/>
              <a:t>kysymyksiä?</a:t>
            </a:r>
            <a:endParaRPr lang="fi-FI" dirty="0"/>
          </a:p>
        </p:txBody>
      </p:sp>
      <p:sp>
        <p:nvSpPr>
          <p:cNvPr id="3" name="Text Placeholder 2"/>
          <p:cNvSpPr>
            <a:spLocks noGrp="1"/>
          </p:cNvSpPr>
          <p:nvPr>
            <p:ph type="body" idx="1"/>
          </p:nvPr>
        </p:nvSpPr>
        <p:spPr/>
        <p:txBody>
          <a:bodyPr/>
          <a:lstStyle/>
          <a:p>
            <a:endParaRPr lang="fi-FI" dirty="0"/>
          </a:p>
        </p:txBody>
      </p:sp>
      <p:pic>
        <p:nvPicPr>
          <p:cNvPr id="4" name="Picture 3" descr="C:\Documents and Settings\mpyhajar.CONFORMIQ\Application Data\Microsoft\Media Catalog\Downloaded Clips\cl1f\j0078711.wmf"/>
          <p:cNvPicPr>
            <a:picLocks noChangeAspect="1" noChangeArrowheads="1"/>
          </p:cNvPicPr>
          <p:nvPr/>
        </p:nvPicPr>
        <p:blipFill>
          <a:blip r:embed="rId3" cstate="print"/>
          <a:srcRect/>
          <a:stretch>
            <a:fillRect/>
          </a:stretch>
        </p:blipFill>
        <p:spPr bwMode="auto">
          <a:xfrm>
            <a:off x="2571736" y="285728"/>
            <a:ext cx="1622425" cy="3933825"/>
          </a:xfrm>
          <a:prstGeom prst="rect">
            <a:avLst/>
          </a:prstGeom>
          <a:noFill/>
        </p:spPr>
      </p:pic>
      <p:pic>
        <p:nvPicPr>
          <p:cNvPr id="5" name="Picture 4" descr="C:\Documents and Settings\mpyhajar.CONFORMIQ\Application Data\Microsoft\Media Catalog\Downloaded Clips\cl1f\j0078625.wmf"/>
          <p:cNvPicPr>
            <a:picLocks noChangeAspect="1" noChangeArrowheads="1"/>
          </p:cNvPicPr>
          <p:nvPr/>
        </p:nvPicPr>
        <p:blipFill>
          <a:blip r:embed="rId4" cstate="print"/>
          <a:srcRect/>
          <a:stretch>
            <a:fillRect/>
          </a:stretch>
        </p:blipFill>
        <p:spPr bwMode="auto">
          <a:xfrm>
            <a:off x="6715140" y="2357430"/>
            <a:ext cx="1295400" cy="3933825"/>
          </a:xfrm>
          <a:prstGeom prst="rect">
            <a:avLst/>
          </a:prstGeom>
          <a:noFill/>
        </p:spPr>
      </p:pic>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dirty="0"/>
          </a:p>
        </p:txBody>
      </p:sp>
    </p:spTree>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Theme">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1880</TotalTime>
  <Words>2149</Words>
  <Application>Microsoft Macintosh PowerPoint</Application>
  <PresentationFormat>On-screen Show (4:3)</PresentationFormat>
  <Paragraphs>301</Paragraphs>
  <Slides>26</Slides>
  <Notes>26</Notes>
  <HiddenSlides>7</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Testauksen automatisointi</vt:lpstr>
      <vt:lpstr>Test Automation in an Agile Fashion</vt:lpstr>
      <vt:lpstr>Coping with Continuous Integration</vt:lpstr>
      <vt:lpstr>Example: Building Various Systems from a Product Line</vt:lpstr>
      <vt:lpstr>Differences in Levels of Automating</vt:lpstr>
      <vt:lpstr>From View of Testing to Two Kinds of Automation</vt:lpstr>
      <vt:lpstr>Automation is Only Part of the Solution</vt:lpstr>
      <vt:lpstr>Think about this</vt:lpstr>
      <vt:lpstr>Integral Role of Test Automation in Agile</vt:lpstr>
      <vt:lpstr>Fast Delivery Cycles Need Test Automation</vt:lpstr>
      <vt:lpstr>Discuss: Good Testing, Good Automation</vt:lpstr>
      <vt:lpstr>Three Types of Agile Test Automation</vt:lpstr>
      <vt:lpstr>Example: Web Testing Automation Tools</vt:lpstr>
      <vt:lpstr>Regression testing</vt:lpstr>
      <vt:lpstr>Possibilities and Limitations of Automation</vt:lpstr>
      <vt:lpstr>What Problem Are You Solving with Automation?</vt:lpstr>
      <vt:lpstr>Costs Calculations Have Always Two Sides</vt:lpstr>
      <vt:lpstr>A Reminder on Nature of Test Automation</vt:lpstr>
      <vt:lpstr>Wrong Assumptions on Test Automation  Source: Bach, James. 1999. Test Automation Snake Oil</vt:lpstr>
      <vt:lpstr>Lessons Learned on Success with Automation</vt:lpstr>
      <vt:lpstr>Observation from Automation Efforts in Agile Teams</vt:lpstr>
      <vt:lpstr>Including Test Automation Efforts with Other Agile Testing and Development</vt:lpstr>
      <vt:lpstr>Regression Automation Tools Suited For Agile</vt:lpstr>
      <vt:lpstr>"How can I get tests automated with back-to-back, short iterations? I don't have time".</vt:lpstr>
      <vt:lpstr>Agile and Full Automation Debate</vt:lpstr>
      <vt:lpstr>Ideoita, ajatuksia,  kysymyksiä?</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Havaintojen kirjaaminen ja Virheiden korjaaminen</dc:title>
  <dc:creator>Maaret Pyhäjärvi</dc:creator>
  <cp:lastModifiedBy>Maaret Pyhäjärvi</cp:lastModifiedBy>
  <cp:revision>20</cp:revision>
  <dcterms:created xsi:type="dcterms:W3CDTF">2006-08-16T00:00:00Z</dcterms:created>
  <dcterms:modified xsi:type="dcterms:W3CDTF">2017-05-30T06:50:04Z</dcterms:modified>
</cp:coreProperties>
</file>