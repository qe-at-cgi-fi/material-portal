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97" r:id="rId3"/>
    <p:sldId id="296" r:id="rId4"/>
    <p:sldId id="298" r:id="rId5"/>
    <p:sldId id="300" r:id="rId6"/>
    <p:sldId id="332" r:id="rId7"/>
    <p:sldId id="331" r:id="rId8"/>
    <p:sldId id="335" r:id="rId9"/>
    <p:sldId id="336" r:id="rId10"/>
    <p:sldId id="342" r:id="rId11"/>
    <p:sldId id="333" r:id="rId12"/>
    <p:sldId id="337" r:id="rId13"/>
    <p:sldId id="338" r:id="rId14"/>
    <p:sldId id="350" r:id="rId15"/>
    <p:sldId id="339" r:id="rId16"/>
    <p:sldId id="340" r:id="rId17"/>
    <p:sldId id="341" r:id="rId18"/>
    <p:sldId id="347" r:id="rId19"/>
    <p:sldId id="274" r:id="rId20"/>
    <p:sldId id="263" r:id="rId21"/>
    <p:sldId id="343" r:id="rId22"/>
    <p:sldId id="344" r:id="rId23"/>
    <p:sldId id="294" r:id="rId24"/>
    <p:sldId id="334" r:id="rId25"/>
    <p:sldId id="345" r:id="rId26"/>
    <p:sldId id="346" r:id="rId27"/>
    <p:sldId id="257" r:id="rId28"/>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09" autoAdjust="0"/>
  </p:normalViewPr>
  <p:slideViewPr>
    <p:cSldViewPr>
      <p:cViewPr varScale="1">
        <p:scale>
          <a:sx n="167" d="100"/>
          <a:sy n="167" d="100"/>
        </p:scale>
        <p:origin x="-2008" y="-10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4" d="100"/>
          <a:sy n="64" d="100"/>
        </p:scale>
        <p:origin x="-2490" y="-126"/>
      </p:cViewPr>
      <p:guideLst>
        <p:guide orient="horz" pos="3108"/>
        <p:guide pos="2121"/>
      </p:guideLst>
    </p:cSldViewPr>
  </p:notes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printerSettings" Target="printerSettings/printerSettings1.bin"/><Relationship Id="rId31" Type="http://schemas.openxmlformats.org/officeDocument/2006/relationships/presProps" Target="presProps.xml"/><Relationship Id="rId32" Type="http://schemas.openxmlformats.org/officeDocument/2006/relationships/viewProps" Target="view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heme" Target="theme/theme1.xml"/><Relationship Id="rId34"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30/05/17</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extLst>
      <p:ext uri="{BB962C8B-B14F-4D97-AF65-F5344CB8AC3E}">
        <p14:creationId xmlns:p14="http://schemas.microsoft.com/office/powerpoint/2010/main" val="1853496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a:t>
            </a:fld>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baseline="0" dirty="0" smtClean="0"/>
              <a:t>Basic vs. advanced concepts</a:t>
            </a:r>
            <a:endParaRPr lang="fi-FI" b="1" dirty="0" smtClean="0"/>
          </a:p>
          <a:p>
            <a:endParaRPr lang="fi-FI"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i-FI" dirty="0" smtClean="0"/>
              <a:t>Perinteinen testaaja</a:t>
            </a:r>
            <a:r>
              <a:rPr lang="fi-FI" baseline="0" dirty="0" smtClean="0"/>
              <a:t> yhdistelmä PO team member with test emphasis rooleja... </a:t>
            </a:r>
            <a:endParaRPr lang="fi-FI" baseline="0" smtClean="0"/>
          </a:p>
          <a:p>
            <a:endParaRPr lang="fi-FI" dirty="0"/>
          </a:p>
        </p:txBody>
      </p:sp>
      <p:sp>
        <p:nvSpPr>
          <p:cNvPr id="4" name="Slide Number Placeholder 3"/>
          <p:cNvSpPr>
            <a:spLocks noGrp="1"/>
          </p:cNvSpPr>
          <p:nvPr>
            <p:ph type="sldNum" sz="quarter" idx="10"/>
          </p:nvPr>
        </p:nvSpPr>
        <p:spPr/>
        <p:txBody>
          <a:bodyPr/>
          <a:lstStyle/>
          <a:p>
            <a:fld id="{B830C2CD-670E-42F8-9548-303C8DB7B926}" type="slidenum">
              <a:rPr lang="fi-FI" smtClean="0"/>
              <a:pPr/>
              <a:t>3</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4</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5</a:t>
            </a:fld>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090F80B-00F3-431D-B31E-47D2F9301A1B}" type="slidenum">
              <a:rPr lang="fi-FI" smtClean="0"/>
              <a:pPr/>
              <a:t>6</a:t>
            </a:fld>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7</a:t>
            </a:fld>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8</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090F80B-00F3-431D-B31E-47D2F9301A1B}" type="slidenum">
              <a:rPr lang="fi-FI" smtClean="0"/>
              <a:pPr/>
              <a:t>9</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3FC8F7-96F3-42C1-9A51-47D0F12A84D4}" type="slidenum">
              <a:rPr lang="en-GB"/>
              <a:pPr/>
              <a:t>10</a:t>
            </a:fld>
            <a:endParaRPr lang="en-GB"/>
          </a:p>
        </p:txBody>
      </p:sp>
      <p:sp>
        <p:nvSpPr>
          <p:cNvPr id="1478658" name="Rectangle 2"/>
          <p:cNvSpPr>
            <a:spLocks noGrp="1" noRot="1" noChangeAspect="1" noChangeArrowheads="1" noTextEdit="1"/>
          </p:cNvSpPr>
          <p:nvPr>
            <p:ph type="sldImg"/>
          </p:nvPr>
        </p:nvSpPr>
        <p:spPr>
          <a:ln/>
        </p:spPr>
      </p:sp>
      <p:sp>
        <p:nvSpPr>
          <p:cNvPr id="1478659" name="Rectangle 3"/>
          <p:cNvSpPr>
            <a:spLocks noGrp="1" noChangeArrowheads="1"/>
          </p:cNvSpPr>
          <p:nvPr>
            <p:ph type="body" idx="1"/>
          </p:nvPr>
        </p:nvSpPr>
        <p:spPr/>
        <p:txBody>
          <a:bodyPr/>
          <a:lstStyle/>
          <a:p>
            <a:r>
              <a:rPr lang="en-US">
                <a:latin typeface="Trebuchet MS" pitchFamily="34" charset="0"/>
                <a:cs typeface="Times New Roman" pitchFamily="18" charset="0"/>
              </a:rPr>
              <a:t>Skill: </a:t>
            </a:r>
            <a:endParaRPr lang="en-GB">
              <a:latin typeface="Trebuchet MS" pitchFamily="34" charset="0"/>
              <a:cs typeface="Times New Roman" pitchFamily="18" charset="0"/>
            </a:endParaRPr>
          </a:p>
          <a:p>
            <a:pPr>
              <a:buFontTx/>
              <a:buChar char="-"/>
            </a:pPr>
            <a:r>
              <a:rPr lang="en-GB">
                <a:latin typeface="Trebuchet MS" pitchFamily="34" charset="0"/>
                <a:cs typeface="Times New Roman" pitchFamily="18" charset="0"/>
              </a:rPr>
              <a:t>the ability to use one's knowledge effectively and readily in execution or performance</a:t>
            </a:r>
          </a:p>
          <a:p>
            <a:pPr>
              <a:buFontTx/>
              <a:buChar char="-"/>
            </a:pPr>
            <a:r>
              <a:rPr lang="en-GB">
                <a:latin typeface="Trebuchet MS" pitchFamily="34" charset="0"/>
                <a:cs typeface="Times New Roman" pitchFamily="18" charset="0"/>
              </a:rPr>
              <a:t>a learned power of doing something competently </a:t>
            </a:r>
            <a:r>
              <a:rPr lang="en-GB" b="1">
                <a:latin typeface="Trebuchet MS" pitchFamily="34" charset="0"/>
                <a:cs typeface="Times New Roman" pitchFamily="18" charset="0"/>
              </a:rPr>
              <a:t>:</a:t>
            </a:r>
            <a:r>
              <a:rPr lang="en-GB">
                <a:latin typeface="Trebuchet MS" pitchFamily="34" charset="0"/>
                <a:cs typeface="Times New Roman" pitchFamily="18" charset="0"/>
              </a:rPr>
              <a:t> a developed aptitude or ability</a:t>
            </a:r>
            <a:r>
              <a:rPr lang="en-GB"/>
              <a:t> </a:t>
            </a:r>
          </a:p>
          <a:p>
            <a:pPr>
              <a:buFontTx/>
              <a:buChar char="-"/>
            </a:pPr>
            <a:endParaRPr lang="fi-FI"/>
          </a:p>
          <a:p>
            <a:endParaRPr lang="fi-FI"/>
          </a:p>
          <a:p>
            <a:r>
              <a:rPr lang="fi-FI"/>
              <a:t>Korosta: lopulta hyvin samanlaista osaamista odotetaan testaajilta ja kehittäjiltä, vastaavasti projektipäälliköiltä ja testauspäälliköiltä. Ydin on kuitenkin erilainen ja ytimessä on asioiden erilainen korostaminen. </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9FE77189-BB34-47CB-8E5C-A9B32E54A8C7}" type="slidenum">
              <a:rPr lang="en-GB"/>
              <a:pPr fontAlgn="base">
                <a:spcBef>
                  <a:spcPct val="0"/>
                </a:spcBef>
                <a:spcAft>
                  <a:spcPct val="0"/>
                </a:spcAft>
              </a:pPr>
              <a:t>11</a:t>
            </a:fld>
            <a:endParaRPr lang="en-GB"/>
          </a:p>
        </p:txBody>
      </p:sp>
      <p:sp>
        <p:nvSpPr>
          <p:cNvPr id="512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12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fi-FI" smtClean="0"/>
              <a:t>Specialist</a:t>
            </a:r>
          </a:p>
          <a:p>
            <a:pPr lvl="1">
              <a:spcBef>
                <a:spcPct val="0"/>
              </a:spcBef>
            </a:pPr>
            <a:r>
              <a:rPr lang="fi-FI" smtClean="0"/>
              <a:t>Deep understanding of some areas</a:t>
            </a:r>
          </a:p>
          <a:p>
            <a:pPr>
              <a:spcBef>
                <a:spcPct val="0"/>
              </a:spcBef>
            </a:pPr>
            <a:r>
              <a:rPr lang="fi-FI" sz="1000" smtClean="0"/>
              <a:t>Get up to speed quickly</a:t>
            </a:r>
          </a:p>
          <a:p>
            <a:pPr lvl="1">
              <a:spcBef>
                <a:spcPct val="0"/>
              </a:spcBef>
            </a:pPr>
            <a:r>
              <a:rPr lang="fi-FI" sz="1000" smtClean="0"/>
              <a:t>Able to make judgements even though subject at hand not mastered</a:t>
            </a:r>
          </a:p>
          <a:p>
            <a:pPr>
              <a:spcBef>
                <a:spcPct val="0"/>
              </a:spcBef>
            </a:pPr>
            <a:r>
              <a:rPr lang="fi-FI" sz="1000" smtClean="0"/>
              <a:t>Generalist</a:t>
            </a:r>
          </a:p>
          <a:p>
            <a:pPr lvl="1">
              <a:spcBef>
                <a:spcPct val="0"/>
              </a:spcBef>
            </a:pPr>
            <a:r>
              <a:rPr lang="fi-FI" sz="1000" smtClean="0"/>
              <a:t>Broad understanding of many areas</a:t>
            </a:r>
          </a:p>
          <a:p>
            <a:pPr>
              <a:spcBef>
                <a:spcPct val="0"/>
              </a:spcBef>
            </a:pPr>
            <a:r>
              <a:rPr lang="fi-FI" sz="1000" smtClean="0"/>
              <a:t>Domain knowledge</a:t>
            </a:r>
          </a:p>
          <a:p>
            <a:pPr lvl="1">
              <a:spcBef>
                <a:spcPct val="0"/>
              </a:spcBef>
            </a:pPr>
            <a:r>
              <a:rPr lang="fi-FI" sz="1000" smtClean="0"/>
              <a:t>User’s knowledge</a:t>
            </a:r>
          </a:p>
          <a:p>
            <a:pPr>
              <a:spcBef>
                <a:spcPct val="0"/>
              </a:spcBef>
            </a:pPr>
            <a:r>
              <a:rPr lang="fi-FI" sz="1000" smtClean="0"/>
              <a:t>Ignorance is important</a:t>
            </a:r>
          </a:p>
          <a:p>
            <a:pPr lvl="1">
              <a:spcBef>
                <a:spcPct val="0"/>
              </a:spcBef>
            </a:pPr>
            <a:r>
              <a:rPr lang="fi-FI" sz="1000" smtClean="0"/>
              <a:t>Gaining and combining superficial knowledge</a:t>
            </a:r>
            <a:endParaRPr lang="en-GB" sz="1000" smtClean="0"/>
          </a:p>
          <a:p>
            <a:pPr>
              <a:spcBef>
                <a:spcPct val="0"/>
              </a:spcBef>
            </a:pPr>
            <a:endParaRPr lang="en-GB"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12</a:t>
            </a:fld>
            <a:endParaRPr lang="fi-FI"/>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13</a:t>
            </a:fld>
            <a:endParaRPr lang="fi-FI"/>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14</a:t>
            </a:fld>
            <a:endParaRPr lang="fi-FI"/>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15</a:t>
            </a:fld>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BCCFD434-A6D3-45D1-8809-B7AC7E1096C4}" type="slidenum">
              <a:rPr lang="fi-FI" smtClean="0"/>
              <a:pPr/>
              <a:t>16</a:t>
            </a:fld>
            <a:endParaRPr lang="fi-FI"/>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Note: Majority of gurus</a:t>
            </a:r>
            <a:r>
              <a:rPr lang="fi-FI" baseline="0" dirty="0" smtClean="0"/>
              <a:t> land in technically oriented basket – with excellent business / communication skills too. </a:t>
            </a:r>
            <a:endParaRPr lang="fi-FI" dirty="0"/>
          </a:p>
        </p:txBody>
      </p:sp>
      <p:sp>
        <p:nvSpPr>
          <p:cNvPr id="4" name="Slide Number Placeholder 3"/>
          <p:cNvSpPr>
            <a:spLocks noGrp="1"/>
          </p:cNvSpPr>
          <p:nvPr>
            <p:ph type="sldNum" sz="quarter" idx="10"/>
          </p:nvPr>
        </p:nvSpPr>
        <p:spPr/>
        <p:txBody>
          <a:bodyPr/>
          <a:lstStyle/>
          <a:p>
            <a:fld id="{BCCFD434-A6D3-45D1-8809-B7AC7E1096C4}" type="slidenum">
              <a:rPr lang="fi-FI" smtClean="0"/>
              <a:pPr/>
              <a:t>17</a:t>
            </a:fld>
            <a:endParaRPr lang="fi-FI"/>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18</a:t>
            </a:fld>
            <a:endParaRPr lang="fi-FI"/>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19</a:t>
            </a:fld>
            <a:endParaRPr lang="fi-FI"/>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BCCFD434-A6D3-45D1-8809-B7AC7E1096C4}" type="slidenum">
              <a:rPr lang="fi-FI" smtClean="0"/>
              <a:pPr/>
              <a:t>20</a:t>
            </a:fld>
            <a:endParaRPr lang="fi-FI"/>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21</a:t>
            </a:fld>
            <a:endParaRPr lang="fi-FI"/>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22</a:t>
            </a:fld>
            <a:endParaRPr lang="fi-FI"/>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23</a:t>
            </a:fld>
            <a:endParaRPr lang="fi-FI"/>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24</a:t>
            </a:fld>
            <a:endParaRPr lang="fi-FI"/>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84A3403-C600-4869-A7B7-149FF5FACDF2}"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690CE93-8567-4526-9D88-2AD2A83AC903}" type="slidenum">
              <a:rPr lang="en-GB" smtClean="0"/>
              <a:pPr/>
              <a:t>26</a:t>
            </a:fld>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27</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BEF6690-771F-4847-8602-58558EE0B188}" type="datetime1">
              <a:rPr lang="en-US" smtClean="0"/>
              <a:pPr/>
              <a:t>30/05/17</a:t>
            </a:fld>
            <a:endParaRPr lang="en-US"/>
          </a:p>
        </p:txBody>
      </p:sp>
      <p:sp>
        <p:nvSpPr>
          <p:cNvPr id="5" name="Footer Placeholder 4"/>
          <p:cNvSpPr>
            <a:spLocks noGrp="1"/>
          </p:cNvSpPr>
          <p:nvPr>
            <p:ph type="ftr" sz="quarter" idx="11"/>
          </p:nvPr>
        </p:nvSpPr>
        <p:spPr/>
        <p:txBody>
          <a:bodyPr/>
          <a:lstStyle/>
          <a:p>
            <a:r>
              <a:rPr lang="en-US" smtClean="0"/>
              <a:t>Testauksen suunnittelu ja hallinta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A43777-83AD-4735-A26F-8EFDF58AD2C7}" type="datetime1">
              <a:rPr lang="en-US" smtClean="0"/>
              <a:pPr/>
              <a:t>30/05/17</a:t>
            </a:fld>
            <a:endParaRPr lang="en-US"/>
          </a:p>
        </p:txBody>
      </p:sp>
      <p:sp>
        <p:nvSpPr>
          <p:cNvPr id="5" name="Footer Placeholder 4"/>
          <p:cNvSpPr>
            <a:spLocks noGrp="1"/>
          </p:cNvSpPr>
          <p:nvPr>
            <p:ph type="ftr" sz="quarter" idx="11"/>
          </p:nvPr>
        </p:nvSpPr>
        <p:spPr/>
        <p:txBody>
          <a:bodyPr/>
          <a:lstStyle/>
          <a:p>
            <a:r>
              <a:rPr lang="en-US" smtClean="0"/>
              <a:t>Testauksen suunnittelu ja hallinta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6D112D-DA8A-437E-8175-93A111D3C227}" type="datetime1">
              <a:rPr lang="en-US" smtClean="0"/>
              <a:pPr/>
              <a:t>30/05/17</a:t>
            </a:fld>
            <a:endParaRPr lang="en-US"/>
          </a:p>
        </p:txBody>
      </p:sp>
      <p:sp>
        <p:nvSpPr>
          <p:cNvPr id="5" name="Footer Placeholder 4"/>
          <p:cNvSpPr>
            <a:spLocks noGrp="1"/>
          </p:cNvSpPr>
          <p:nvPr>
            <p:ph type="ftr" sz="quarter" idx="11"/>
          </p:nvPr>
        </p:nvSpPr>
        <p:spPr/>
        <p:txBody>
          <a:bodyPr/>
          <a:lstStyle/>
          <a:p>
            <a:r>
              <a:rPr lang="en-US" smtClean="0"/>
              <a:t>Testauksen suunnittelu ja hallinta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1A568A5-CB47-4925-8465-5C7929C18187}" type="datetime1">
              <a:rPr lang="en-US" smtClean="0"/>
              <a:pPr/>
              <a:t>30/05/17</a:t>
            </a:fld>
            <a:endParaRPr lang="en-US"/>
          </a:p>
        </p:txBody>
      </p:sp>
      <p:sp>
        <p:nvSpPr>
          <p:cNvPr id="6" name="Footer Placeholder 5"/>
          <p:cNvSpPr>
            <a:spLocks noGrp="1"/>
          </p:cNvSpPr>
          <p:nvPr>
            <p:ph type="ftr" sz="quarter" idx="11"/>
          </p:nvPr>
        </p:nvSpPr>
        <p:spPr/>
        <p:txBody>
          <a:bodyPr/>
          <a:lstStyle/>
          <a:p>
            <a:r>
              <a:rPr lang="en-US" smtClean="0"/>
              <a:t>Testauksen suunnittelu ja hallinta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16CA7D4-D978-41CA-82F5-073AD6675DDB}" type="datetime1">
              <a:rPr lang="en-US" smtClean="0"/>
              <a:pPr/>
              <a:t>30/05/17</a:t>
            </a:fld>
            <a:endParaRPr lang="en-US"/>
          </a:p>
        </p:txBody>
      </p:sp>
      <p:sp>
        <p:nvSpPr>
          <p:cNvPr id="8" name="Footer Placeholder 7"/>
          <p:cNvSpPr>
            <a:spLocks noGrp="1"/>
          </p:cNvSpPr>
          <p:nvPr>
            <p:ph type="ftr" sz="quarter" idx="11"/>
          </p:nvPr>
        </p:nvSpPr>
        <p:spPr/>
        <p:txBody>
          <a:bodyPr/>
          <a:lstStyle/>
          <a:p>
            <a:r>
              <a:rPr lang="en-US" smtClean="0"/>
              <a:t>Testauksen suunnittelu ja hallinta</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9815D12-FEF2-4FF5-95E3-AA5820D634B2}" type="datetime1">
              <a:rPr lang="en-US" smtClean="0"/>
              <a:pPr/>
              <a:t>30/05/17</a:t>
            </a:fld>
            <a:endParaRPr lang="en-US"/>
          </a:p>
        </p:txBody>
      </p:sp>
      <p:sp>
        <p:nvSpPr>
          <p:cNvPr id="4" name="Footer Placeholder 3"/>
          <p:cNvSpPr>
            <a:spLocks noGrp="1"/>
          </p:cNvSpPr>
          <p:nvPr>
            <p:ph type="ftr" sz="quarter" idx="11"/>
          </p:nvPr>
        </p:nvSpPr>
        <p:spPr/>
        <p:txBody>
          <a:bodyPr/>
          <a:lstStyle/>
          <a:p>
            <a:r>
              <a:rPr lang="en-US" smtClean="0"/>
              <a:t>Testauksen suunnittelu ja hallinta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1E88D3-680B-4752-A05C-0F825BBBE90F}" type="datetime1">
              <a:rPr lang="en-US" smtClean="0"/>
              <a:pPr/>
              <a:t>30/05/17</a:t>
            </a:fld>
            <a:endParaRPr lang="en-US"/>
          </a:p>
        </p:txBody>
      </p:sp>
      <p:sp>
        <p:nvSpPr>
          <p:cNvPr id="3" name="Footer Placeholder 2"/>
          <p:cNvSpPr>
            <a:spLocks noGrp="1"/>
          </p:cNvSpPr>
          <p:nvPr>
            <p:ph type="ftr" sz="quarter" idx="11"/>
          </p:nvPr>
        </p:nvSpPr>
        <p:spPr/>
        <p:txBody>
          <a:bodyPr/>
          <a:lstStyle/>
          <a:p>
            <a:r>
              <a:rPr lang="en-US" smtClean="0"/>
              <a:t>Testauksen suunnittelu ja hallinta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179C187-F935-4B01-848E-138848EBFDDC}" type="datetime1">
              <a:rPr lang="en-US" smtClean="0"/>
              <a:pPr/>
              <a:t>30/05/17</a:t>
            </a:fld>
            <a:endParaRPr lang="en-US"/>
          </a:p>
        </p:txBody>
      </p:sp>
      <p:sp>
        <p:nvSpPr>
          <p:cNvPr id="6" name="Footer Placeholder 5"/>
          <p:cNvSpPr>
            <a:spLocks noGrp="1"/>
          </p:cNvSpPr>
          <p:nvPr>
            <p:ph type="ftr" sz="quarter" idx="11"/>
          </p:nvPr>
        </p:nvSpPr>
        <p:spPr/>
        <p:txBody>
          <a:bodyPr/>
          <a:lstStyle/>
          <a:p>
            <a:r>
              <a:rPr lang="en-US" smtClean="0"/>
              <a:t>Testauksen suunnittelu ja hallinta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0B30D1-B117-4527-A595-FEDA186DBCB3}" type="datetime1">
              <a:rPr lang="en-US" smtClean="0"/>
              <a:pPr/>
              <a:t>30/05/17</a:t>
            </a:fld>
            <a:endParaRPr lang="en-US"/>
          </a:p>
        </p:txBody>
      </p:sp>
      <p:sp>
        <p:nvSpPr>
          <p:cNvPr id="6" name="Footer Placeholder 5"/>
          <p:cNvSpPr>
            <a:spLocks noGrp="1"/>
          </p:cNvSpPr>
          <p:nvPr>
            <p:ph type="ftr" sz="quarter" idx="11"/>
          </p:nvPr>
        </p:nvSpPr>
        <p:spPr/>
        <p:txBody>
          <a:bodyPr/>
          <a:lstStyle/>
          <a:p>
            <a:r>
              <a:rPr lang="en-US" smtClean="0"/>
              <a:t>Testauksen suunnittelu ja hallinta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FCCC5B-5B30-4867-98A0-237E81CB1850}" type="datetime1">
              <a:rPr lang="en-US" smtClean="0"/>
              <a:pPr/>
              <a:t>30/05/17</a:t>
            </a:fld>
            <a:endParaRPr lang="en-US"/>
          </a:p>
        </p:txBody>
      </p:sp>
      <p:sp>
        <p:nvSpPr>
          <p:cNvPr id="5" name="Footer Placeholder 4"/>
          <p:cNvSpPr>
            <a:spLocks noGrp="1"/>
          </p:cNvSpPr>
          <p:nvPr>
            <p:ph type="ftr" sz="quarter" idx="11"/>
          </p:nvPr>
        </p:nvSpPr>
        <p:spPr/>
        <p:txBody>
          <a:bodyPr/>
          <a:lstStyle/>
          <a:p>
            <a:r>
              <a:rPr lang="en-US" smtClean="0"/>
              <a:t>Testauksen suunnittelu ja hallinta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C118BE9-FD9F-4910-A358-2F894F076E8E}" type="datetime1">
              <a:rPr lang="en-US" smtClean="0"/>
              <a:pPr/>
              <a:t>30/05/17</a:t>
            </a:fld>
            <a:endParaRPr lang="en-US"/>
          </a:p>
        </p:txBody>
      </p:sp>
      <p:sp>
        <p:nvSpPr>
          <p:cNvPr id="5" name="Footer Placeholder 4"/>
          <p:cNvSpPr>
            <a:spLocks noGrp="1"/>
          </p:cNvSpPr>
          <p:nvPr>
            <p:ph type="ftr" sz="quarter" idx="11"/>
          </p:nvPr>
        </p:nvSpPr>
        <p:spPr/>
        <p:txBody>
          <a:bodyPr/>
          <a:lstStyle/>
          <a:p>
            <a:r>
              <a:rPr lang="en-US" smtClean="0"/>
              <a:t>Testauksen suunnittelu ja hallinta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598E43-ED50-4801-A2C5-865FE1953C2B}" type="datetime1">
              <a:rPr lang="en-US" smtClean="0"/>
              <a:pPr/>
              <a:t>30/05/17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Testauksen suunnittelu ja hallinta</a:t>
            </a:r>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hyperlink" Target="http://creativecommons.org/licenses/by/1.0/fi/" TargetMode="External"/><Relationship Id="rId5" Type="http://schemas.openxmlformats.org/officeDocument/2006/relationships/hyperlink" Target="http://creativecommons.org/licenses/by/1.0/fi/deed.en" TargetMode="External"/><Relationship Id="rId6" Type="http://schemas.openxmlformats.org/officeDocument/2006/relationships/image" Target="../media/image2.wmf"/><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4" Type="http://schemas.openxmlformats.org/officeDocument/2006/relationships/image" Target="../media/image4.wmf"/><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4" Type="http://schemas.openxmlformats.org/officeDocument/2006/relationships/image" Target="../media/image6.emf"/><Relationship Id="rId5" Type="http://schemas.openxmlformats.org/officeDocument/2006/relationships/image" Target="../media/image7.emf"/><Relationship Id="rId6" Type="http://schemas.openxmlformats.org/officeDocument/2006/relationships/image" Target="../media/image8.emf"/><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0.wmf"/><Relationship Id="rId4" Type="http://schemas.openxmlformats.org/officeDocument/2006/relationships/image" Target="../media/image11.wmf"/><Relationship Id="rId5" Type="http://schemas.openxmlformats.org/officeDocument/2006/relationships/image" Target="../media/image12.wmf"/><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4" Type="http://schemas.openxmlformats.org/officeDocument/2006/relationships/image" Target="../media/image4.wmf"/><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14.wmf"/><Relationship Id="rId4" Type="http://schemas.openxmlformats.org/officeDocument/2006/relationships/image" Target="../media/image15.png"/><Relationship Id="rId5" Type="http://schemas.openxmlformats.org/officeDocument/2006/relationships/image" Target="../media/image16.wmf"/><Relationship Id="rId6" Type="http://schemas.openxmlformats.org/officeDocument/2006/relationships/image" Target="../media/image17.wmf"/><Relationship Id="rId7" Type="http://schemas.openxmlformats.org/officeDocument/2006/relationships/image" Target="../media/image18.wmf"/><Relationship Id="rId8" Type="http://schemas.openxmlformats.org/officeDocument/2006/relationships/image" Target="../media/image19.wmf"/><Relationship Id="rId9" Type="http://schemas.openxmlformats.org/officeDocument/2006/relationships/image" Target="../media/image20.wmf"/><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21.wmf"/><Relationship Id="rId4" Type="http://schemas.openxmlformats.org/officeDocument/2006/relationships/image" Target="../media/image22.wmf"/><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Roolit ja osaaminen</a:t>
            </a:r>
            <a:endParaRPr lang="fi-FI" dirty="0"/>
          </a:p>
        </p:txBody>
      </p:sp>
      <p:sp>
        <p:nvSpPr>
          <p:cNvPr id="3" name="Text Placeholder 2"/>
          <p:cNvSpPr>
            <a:spLocks noGrp="1"/>
          </p:cNvSpPr>
          <p:nvPr>
            <p:ph type="body" idx="1"/>
          </p:nvPr>
        </p:nvSpPr>
        <p:spPr/>
        <p:txBody>
          <a:bodyPr/>
          <a:lstStyle/>
          <a:p>
            <a:r>
              <a:rPr lang="fi-FI" dirty="0" smtClean="0"/>
              <a:t>Työn jakaantuminen eri rooleille</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pic>
        <p:nvPicPr>
          <p:cNvPr id="11" name="Picture 2" descr="C:\Documents and Settings\Maaret\My Documents\My Pictures\Microsoft Clip Organizer\j0288977.wmf"/>
          <p:cNvPicPr>
            <a:picLocks noChangeAspect="1" noChangeArrowheads="1"/>
          </p:cNvPicPr>
          <p:nvPr/>
        </p:nvPicPr>
        <p:blipFill>
          <a:blip r:embed="rId6" cstate="print"/>
          <a:srcRect/>
          <a:stretch>
            <a:fillRect/>
          </a:stretch>
        </p:blipFill>
        <p:spPr bwMode="auto">
          <a:xfrm>
            <a:off x="4704507" y="357166"/>
            <a:ext cx="4082335" cy="2982916"/>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i-FI" dirty="0" smtClean="0"/>
              <a:t>Perinteiset testauksen roolit</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dirty="0"/>
          </a:p>
        </p:txBody>
      </p:sp>
      <p:pic>
        <p:nvPicPr>
          <p:cNvPr id="1034" name="Picture 10" descr="C:\Documents and Settings\Maaret\My Documents\My Pictures\Microsoft Clip Organizer\j0078758.wmf"/>
          <p:cNvPicPr>
            <a:picLocks noChangeAspect="1" noChangeArrowheads="1"/>
          </p:cNvPicPr>
          <p:nvPr/>
        </p:nvPicPr>
        <p:blipFill>
          <a:blip r:embed="rId3" cstate="print"/>
          <a:srcRect/>
          <a:stretch>
            <a:fillRect/>
          </a:stretch>
        </p:blipFill>
        <p:spPr bwMode="auto">
          <a:xfrm>
            <a:off x="3200400" y="2362200"/>
            <a:ext cx="2381250" cy="2390775"/>
          </a:xfrm>
          <a:prstGeom prst="rect">
            <a:avLst/>
          </a:prstGeom>
          <a:noFill/>
        </p:spPr>
      </p:pic>
      <p:sp>
        <p:nvSpPr>
          <p:cNvPr id="19" name="TextBox 18"/>
          <p:cNvSpPr txBox="1"/>
          <p:nvPr/>
        </p:nvSpPr>
        <p:spPr>
          <a:xfrm>
            <a:off x="457200" y="1676400"/>
            <a:ext cx="2514600" cy="830997"/>
          </a:xfrm>
          <a:prstGeom prst="rect">
            <a:avLst/>
          </a:prstGeom>
          <a:noFill/>
        </p:spPr>
        <p:txBody>
          <a:bodyPr wrap="square" rtlCol="0">
            <a:spAutoFit/>
          </a:bodyPr>
          <a:lstStyle/>
          <a:p>
            <a:pPr algn="ctr"/>
            <a:r>
              <a:rPr lang="fi-FI" sz="2400" dirty="0" smtClean="0"/>
              <a:t>Testausprojektin projektipäällikkö</a:t>
            </a:r>
          </a:p>
        </p:txBody>
      </p:sp>
      <p:sp>
        <p:nvSpPr>
          <p:cNvPr id="20" name="TextBox 19"/>
          <p:cNvSpPr txBox="1"/>
          <p:nvPr/>
        </p:nvSpPr>
        <p:spPr>
          <a:xfrm>
            <a:off x="6019800" y="1981200"/>
            <a:ext cx="2743200" cy="1569660"/>
          </a:xfrm>
          <a:prstGeom prst="rect">
            <a:avLst/>
          </a:prstGeom>
          <a:noFill/>
        </p:spPr>
        <p:txBody>
          <a:bodyPr wrap="square" rtlCol="0">
            <a:spAutoFit/>
          </a:bodyPr>
          <a:lstStyle/>
          <a:p>
            <a:pPr algn="ctr"/>
            <a:r>
              <a:rPr lang="fi-FI" sz="2400" dirty="0" smtClean="0"/>
              <a:t>Testauksen sisällön ja kohdistuksen ohjaaja</a:t>
            </a:r>
          </a:p>
          <a:p>
            <a:pPr algn="ctr"/>
            <a:r>
              <a:rPr lang="fi-FI" sz="2400" i="1" dirty="0" smtClean="0"/>
              <a:t>Analyst / Strategist</a:t>
            </a:r>
            <a:endParaRPr lang="fi-FI" sz="2400" i="1" dirty="0"/>
          </a:p>
        </p:txBody>
      </p:sp>
      <p:sp>
        <p:nvSpPr>
          <p:cNvPr id="21" name="TextBox 20"/>
          <p:cNvSpPr txBox="1"/>
          <p:nvPr/>
        </p:nvSpPr>
        <p:spPr>
          <a:xfrm>
            <a:off x="914400" y="4731603"/>
            <a:ext cx="2514600" cy="830997"/>
          </a:xfrm>
          <a:prstGeom prst="rect">
            <a:avLst/>
          </a:prstGeom>
          <a:noFill/>
        </p:spPr>
        <p:txBody>
          <a:bodyPr wrap="square" rtlCol="0">
            <a:spAutoFit/>
          </a:bodyPr>
          <a:lstStyle/>
          <a:p>
            <a:pPr algn="ctr"/>
            <a:r>
              <a:rPr lang="fi-FI" sz="2400" dirty="0" smtClean="0"/>
              <a:t>Testaajien henkilöesimies</a:t>
            </a:r>
            <a:endParaRPr lang="fi-FI" sz="2400" dirty="0"/>
          </a:p>
        </p:txBody>
      </p:sp>
      <p:grpSp>
        <p:nvGrpSpPr>
          <p:cNvPr id="2" name="Group 23"/>
          <p:cNvGrpSpPr/>
          <p:nvPr/>
        </p:nvGrpSpPr>
        <p:grpSpPr>
          <a:xfrm>
            <a:off x="7239000" y="5211244"/>
            <a:ext cx="1295400" cy="1265756"/>
            <a:chOff x="6781800" y="5001754"/>
            <a:chExt cx="1295400" cy="1265756"/>
          </a:xfrm>
        </p:grpSpPr>
        <p:pic>
          <p:nvPicPr>
            <p:cNvPr id="1036" name="Picture 12" descr="C:\Documents and Settings\Maaret\My Documents\My Pictures\Microsoft Clip Organizer\j0078753.wmf"/>
            <p:cNvPicPr>
              <a:picLocks noChangeAspect="1" noChangeArrowheads="1"/>
            </p:cNvPicPr>
            <p:nvPr/>
          </p:nvPicPr>
          <p:blipFill>
            <a:blip r:embed="rId4" cstate="print"/>
            <a:srcRect/>
            <a:stretch>
              <a:fillRect/>
            </a:stretch>
          </p:blipFill>
          <p:spPr bwMode="auto">
            <a:xfrm>
              <a:off x="7010400" y="5001754"/>
              <a:ext cx="885825" cy="941846"/>
            </a:xfrm>
            <a:prstGeom prst="rect">
              <a:avLst/>
            </a:prstGeom>
            <a:noFill/>
          </p:spPr>
        </p:pic>
        <p:sp>
          <p:nvSpPr>
            <p:cNvPr id="23" name="TextBox 22"/>
            <p:cNvSpPr txBox="1"/>
            <p:nvPr/>
          </p:nvSpPr>
          <p:spPr>
            <a:xfrm>
              <a:off x="6781800" y="5867400"/>
              <a:ext cx="1295400" cy="400110"/>
            </a:xfrm>
            <a:prstGeom prst="rect">
              <a:avLst/>
            </a:prstGeom>
            <a:noFill/>
          </p:spPr>
          <p:txBody>
            <a:bodyPr wrap="square" rtlCol="0">
              <a:spAutoFit/>
            </a:bodyPr>
            <a:lstStyle/>
            <a:p>
              <a:pPr algn="ctr"/>
              <a:r>
                <a:rPr lang="fi-FI" sz="2000" b="1" dirty="0" smtClean="0"/>
                <a:t>Testaaja</a:t>
              </a:r>
              <a:endParaRPr lang="fi-FI" sz="2000" b="1" dirty="0"/>
            </a:p>
          </p:txBody>
        </p:sp>
      </p:grpSp>
      <p:cxnSp>
        <p:nvCxnSpPr>
          <p:cNvPr id="26" name="Straight Connector 25"/>
          <p:cNvCxnSpPr/>
          <p:nvPr/>
        </p:nvCxnSpPr>
        <p:spPr>
          <a:xfrm flipV="1">
            <a:off x="5562600" y="3886200"/>
            <a:ext cx="2819400" cy="2438400"/>
          </a:xfrm>
          <a:prstGeom prst="line">
            <a:avLst/>
          </a:prstGeom>
          <a:ln>
            <a:prstDash val="sysDash"/>
          </a:ln>
        </p:spPr>
        <p:style>
          <a:lnRef idx="3">
            <a:schemeClr val="accent1"/>
          </a:lnRef>
          <a:fillRef idx="0">
            <a:schemeClr val="accent1"/>
          </a:fillRef>
          <a:effectRef idx="2">
            <a:schemeClr val="accent1"/>
          </a:effectRef>
          <a:fontRef idx="minor">
            <a:schemeClr val="tx1"/>
          </a:fontRef>
        </p:style>
      </p:cxnSp>
      <p:sp>
        <p:nvSpPr>
          <p:cNvPr id="13" name="TextBox 12"/>
          <p:cNvSpPr txBox="1"/>
          <p:nvPr/>
        </p:nvSpPr>
        <p:spPr>
          <a:xfrm>
            <a:off x="3733800" y="4648200"/>
            <a:ext cx="1295400" cy="707886"/>
          </a:xfrm>
          <a:prstGeom prst="rect">
            <a:avLst/>
          </a:prstGeom>
          <a:noFill/>
        </p:spPr>
        <p:txBody>
          <a:bodyPr wrap="square" rtlCol="0">
            <a:spAutoFit/>
          </a:bodyPr>
          <a:lstStyle/>
          <a:p>
            <a:pPr algn="ctr"/>
            <a:r>
              <a:rPr lang="fi-FI" sz="2000" b="1" dirty="0" smtClean="0"/>
              <a:t>Testaus-vastaava</a:t>
            </a:r>
            <a:endParaRPr lang="fi-FI" sz="2000" b="1"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Roolien muutos perinteisestä ketterään</a:t>
            </a:r>
            <a:endParaRPr lang="fi-FI" dirty="0"/>
          </a:p>
        </p:txBody>
      </p:sp>
      <p:grpSp>
        <p:nvGrpSpPr>
          <p:cNvPr id="2" name="Group 39"/>
          <p:cNvGrpSpPr/>
          <p:nvPr/>
        </p:nvGrpSpPr>
        <p:grpSpPr>
          <a:xfrm>
            <a:off x="3505200" y="1600200"/>
            <a:ext cx="5486400" cy="3733799"/>
            <a:chOff x="785786" y="1676401"/>
            <a:chExt cx="7500990" cy="4800599"/>
          </a:xfrm>
        </p:grpSpPr>
        <p:grpSp>
          <p:nvGrpSpPr>
            <p:cNvPr id="3" name="Group 9"/>
            <p:cNvGrpSpPr/>
            <p:nvPr/>
          </p:nvGrpSpPr>
          <p:grpSpPr>
            <a:xfrm>
              <a:off x="1500166" y="2143116"/>
              <a:ext cx="2000264" cy="940836"/>
              <a:chOff x="1285852" y="2500306"/>
              <a:chExt cx="2000264" cy="940836"/>
            </a:xfrm>
          </p:grpSpPr>
          <p:pic>
            <p:nvPicPr>
              <p:cNvPr id="6" name="Picture 3"/>
              <p:cNvPicPr>
                <a:picLocks noChangeAspect="1" noChangeArrowheads="1"/>
              </p:cNvPicPr>
              <p:nvPr/>
            </p:nvPicPr>
            <p:blipFill>
              <a:blip r:embed="rId3" cstate="print"/>
              <a:srcRect/>
              <a:stretch>
                <a:fillRect/>
              </a:stretch>
            </p:blipFill>
            <p:spPr bwMode="auto">
              <a:xfrm>
                <a:off x="2000232" y="2500306"/>
                <a:ext cx="542916" cy="542916"/>
              </a:xfrm>
              <a:prstGeom prst="rect">
                <a:avLst/>
              </a:prstGeom>
              <a:noFill/>
              <a:ln w="9525">
                <a:noFill/>
                <a:miter lim="800000"/>
                <a:headEnd/>
                <a:tailEnd/>
              </a:ln>
              <a:effectLst/>
            </p:spPr>
          </p:pic>
          <p:sp>
            <p:nvSpPr>
              <p:cNvPr id="9" name="TextBox 8"/>
              <p:cNvSpPr txBox="1"/>
              <p:nvPr/>
            </p:nvSpPr>
            <p:spPr>
              <a:xfrm>
                <a:off x="1285852" y="3071810"/>
                <a:ext cx="2000264" cy="369332"/>
              </a:xfrm>
              <a:prstGeom prst="rect">
                <a:avLst/>
              </a:prstGeom>
              <a:noFill/>
            </p:spPr>
            <p:txBody>
              <a:bodyPr wrap="square" rtlCol="0">
                <a:spAutoFit/>
              </a:bodyPr>
              <a:lstStyle/>
              <a:p>
                <a:pPr algn="ctr"/>
                <a:r>
                  <a:rPr lang="fi-FI" b="1" dirty="0" smtClean="0"/>
                  <a:t>Product Owner</a:t>
                </a:r>
                <a:endParaRPr lang="fi-FI" b="1" dirty="0"/>
              </a:p>
            </p:txBody>
          </p:sp>
        </p:grpSp>
        <p:grpSp>
          <p:nvGrpSpPr>
            <p:cNvPr id="10" name="Group 11"/>
            <p:cNvGrpSpPr/>
            <p:nvPr/>
          </p:nvGrpSpPr>
          <p:grpSpPr>
            <a:xfrm>
              <a:off x="1357290" y="4572008"/>
              <a:ext cx="2357454" cy="940836"/>
              <a:chOff x="1142976" y="4071942"/>
              <a:chExt cx="2357454" cy="940836"/>
            </a:xfrm>
          </p:grpSpPr>
          <p:pic>
            <p:nvPicPr>
              <p:cNvPr id="5" name="Picture 2"/>
              <p:cNvPicPr>
                <a:picLocks noChangeAspect="1" noChangeArrowheads="1"/>
              </p:cNvPicPr>
              <p:nvPr/>
            </p:nvPicPr>
            <p:blipFill>
              <a:blip r:embed="rId4" cstate="print"/>
              <a:srcRect/>
              <a:stretch>
                <a:fillRect/>
              </a:stretch>
            </p:blipFill>
            <p:spPr bwMode="auto">
              <a:xfrm>
                <a:off x="2000232" y="4071942"/>
                <a:ext cx="542916" cy="542916"/>
              </a:xfrm>
              <a:prstGeom prst="rect">
                <a:avLst/>
              </a:prstGeom>
              <a:noFill/>
              <a:ln w="9525">
                <a:noFill/>
                <a:miter lim="800000"/>
                <a:headEnd/>
                <a:tailEnd/>
              </a:ln>
              <a:effectLst/>
            </p:spPr>
          </p:pic>
          <p:sp>
            <p:nvSpPr>
              <p:cNvPr id="11" name="TextBox 10"/>
              <p:cNvSpPr txBox="1"/>
              <p:nvPr/>
            </p:nvSpPr>
            <p:spPr>
              <a:xfrm>
                <a:off x="1142976" y="4643446"/>
                <a:ext cx="2357454" cy="369332"/>
              </a:xfrm>
              <a:prstGeom prst="rect">
                <a:avLst/>
              </a:prstGeom>
              <a:noFill/>
            </p:spPr>
            <p:txBody>
              <a:bodyPr wrap="square" rtlCol="0">
                <a:spAutoFit/>
              </a:bodyPr>
              <a:lstStyle/>
              <a:p>
                <a:pPr algn="ctr"/>
                <a:r>
                  <a:rPr lang="fi-FI" b="1" dirty="0" smtClean="0"/>
                  <a:t>Scrum Master</a:t>
                </a:r>
                <a:endParaRPr lang="fi-FI" b="1" dirty="0"/>
              </a:p>
            </p:txBody>
          </p:sp>
        </p:grpSp>
        <p:grpSp>
          <p:nvGrpSpPr>
            <p:cNvPr id="12" name="Group 14"/>
            <p:cNvGrpSpPr/>
            <p:nvPr/>
          </p:nvGrpSpPr>
          <p:grpSpPr>
            <a:xfrm>
              <a:off x="4929190" y="2071678"/>
              <a:ext cx="2714644" cy="1217835"/>
              <a:chOff x="4714876" y="2500306"/>
              <a:chExt cx="2714644" cy="1217835"/>
            </a:xfrm>
          </p:grpSpPr>
          <p:pic>
            <p:nvPicPr>
              <p:cNvPr id="8" name="Picture 5"/>
              <p:cNvPicPr>
                <a:picLocks noChangeAspect="1" noChangeArrowheads="1"/>
              </p:cNvPicPr>
              <p:nvPr/>
            </p:nvPicPr>
            <p:blipFill>
              <a:blip r:embed="rId5" cstate="print"/>
              <a:srcRect/>
              <a:stretch>
                <a:fillRect/>
              </a:stretch>
            </p:blipFill>
            <p:spPr bwMode="auto">
              <a:xfrm>
                <a:off x="5857884" y="2500306"/>
                <a:ext cx="542916" cy="542916"/>
              </a:xfrm>
              <a:prstGeom prst="rect">
                <a:avLst/>
              </a:prstGeom>
              <a:noFill/>
              <a:ln w="9525">
                <a:noFill/>
                <a:miter lim="800000"/>
                <a:headEnd/>
                <a:tailEnd/>
              </a:ln>
              <a:effectLst/>
            </p:spPr>
          </p:pic>
          <p:sp>
            <p:nvSpPr>
              <p:cNvPr id="13" name="TextBox 12"/>
              <p:cNvSpPr txBox="1"/>
              <p:nvPr/>
            </p:nvSpPr>
            <p:spPr>
              <a:xfrm>
                <a:off x="4714876" y="3071810"/>
                <a:ext cx="2714644" cy="646331"/>
              </a:xfrm>
              <a:prstGeom prst="rect">
                <a:avLst/>
              </a:prstGeom>
              <a:noFill/>
            </p:spPr>
            <p:txBody>
              <a:bodyPr wrap="square" rtlCol="0">
                <a:spAutoFit/>
              </a:bodyPr>
              <a:lstStyle/>
              <a:p>
                <a:pPr algn="ctr"/>
                <a:r>
                  <a:rPr lang="fi-FI" b="1" dirty="0" smtClean="0"/>
                  <a:t>Team member with development emphasis</a:t>
                </a:r>
                <a:endParaRPr lang="fi-FI" b="1" dirty="0"/>
              </a:p>
            </p:txBody>
          </p:sp>
        </p:grpSp>
        <p:grpSp>
          <p:nvGrpSpPr>
            <p:cNvPr id="15" name="Group 15"/>
            <p:cNvGrpSpPr/>
            <p:nvPr/>
          </p:nvGrpSpPr>
          <p:grpSpPr>
            <a:xfrm>
              <a:off x="5000628" y="4572008"/>
              <a:ext cx="2643206" cy="1214446"/>
              <a:chOff x="5000628" y="4286256"/>
              <a:chExt cx="2643206" cy="1214446"/>
            </a:xfrm>
          </p:grpSpPr>
          <p:pic>
            <p:nvPicPr>
              <p:cNvPr id="7" name="Picture 4"/>
              <p:cNvPicPr>
                <a:picLocks noChangeAspect="1" noChangeArrowheads="1"/>
              </p:cNvPicPr>
              <p:nvPr/>
            </p:nvPicPr>
            <p:blipFill>
              <a:blip r:embed="rId6" cstate="print"/>
              <a:srcRect/>
              <a:stretch>
                <a:fillRect/>
              </a:stretch>
            </p:blipFill>
            <p:spPr bwMode="auto">
              <a:xfrm>
                <a:off x="6000760" y="4286256"/>
                <a:ext cx="542916" cy="542916"/>
              </a:xfrm>
              <a:prstGeom prst="rect">
                <a:avLst/>
              </a:prstGeom>
              <a:noFill/>
              <a:ln w="9525">
                <a:noFill/>
                <a:miter lim="800000"/>
                <a:headEnd/>
                <a:tailEnd/>
              </a:ln>
              <a:effectLst/>
            </p:spPr>
          </p:pic>
          <p:sp>
            <p:nvSpPr>
              <p:cNvPr id="14" name="TextBox 13"/>
              <p:cNvSpPr txBox="1"/>
              <p:nvPr/>
            </p:nvSpPr>
            <p:spPr>
              <a:xfrm>
                <a:off x="5000628" y="4854371"/>
                <a:ext cx="2643206" cy="646331"/>
              </a:xfrm>
              <a:prstGeom prst="rect">
                <a:avLst/>
              </a:prstGeom>
              <a:noFill/>
            </p:spPr>
            <p:txBody>
              <a:bodyPr wrap="square" rtlCol="0">
                <a:spAutoFit/>
              </a:bodyPr>
              <a:lstStyle/>
              <a:p>
                <a:pPr algn="ctr"/>
                <a:r>
                  <a:rPr lang="fi-FI" b="1" dirty="0" smtClean="0"/>
                  <a:t>Team member with testing emphasis</a:t>
                </a:r>
                <a:endParaRPr lang="fi-FI" b="1" dirty="0"/>
              </a:p>
            </p:txBody>
          </p:sp>
        </p:grpSp>
        <p:cxnSp>
          <p:nvCxnSpPr>
            <p:cNvPr id="18" name="Straight Connector 17"/>
            <p:cNvCxnSpPr/>
            <p:nvPr/>
          </p:nvCxnSpPr>
          <p:spPr>
            <a:xfrm rot="16200000" flipH="1">
              <a:off x="2023708" y="4072294"/>
              <a:ext cx="4800599" cy="8814"/>
            </a:xfrm>
            <a:prstGeom prst="line">
              <a:avLst/>
            </a:prstGeom>
          </p:spPr>
          <p:style>
            <a:lnRef idx="2">
              <a:schemeClr val="accent5"/>
            </a:lnRef>
            <a:fillRef idx="0">
              <a:schemeClr val="accent5"/>
            </a:fillRef>
            <a:effectRef idx="1">
              <a:schemeClr val="accent5"/>
            </a:effectRef>
            <a:fontRef idx="minor">
              <a:schemeClr val="tx1"/>
            </a:fontRef>
          </p:style>
        </p:cxnSp>
        <p:cxnSp>
          <p:nvCxnSpPr>
            <p:cNvPr id="20" name="Straight Connector 19"/>
            <p:cNvCxnSpPr/>
            <p:nvPr/>
          </p:nvCxnSpPr>
          <p:spPr>
            <a:xfrm>
              <a:off x="785786" y="3998916"/>
              <a:ext cx="7500990" cy="1588"/>
            </a:xfrm>
            <a:prstGeom prst="line">
              <a:avLst/>
            </a:prstGeom>
          </p:spPr>
          <p:style>
            <a:lnRef idx="2">
              <a:schemeClr val="accent5"/>
            </a:lnRef>
            <a:fillRef idx="0">
              <a:schemeClr val="accent5"/>
            </a:fillRef>
            <a:effectRef idx="1">
              <a:schemeClr val="accent5"/>
            </a:effectRef>
            <a:fontRef idx="minor">
              <a:schemeClr val="tx1"/>
            </a:fontRef>
          </p:style>
        </p:cxnSp>
      </p:grpSp>
      <p:sp>
        <p:nvSpPr>
          <p:cNvPr id="41" name="TextBox 40"/>
          <p:cNvSpPr txBox="1"/>
          <p:nvPr/>
        </p:nvSpPr>
        <p:spPr>
          <a:xfrm>
            <a:off x="381000" y="1447800"/>
            <a:ext cx="3048000" cy="2554545"/>
          </a:xfrm>
          <a:prstGeom prst="rect">
            <a:avLst/>
          </a:prstGeom>
          <a:noFill/>
        </p:spPr>
        <p:txBody>
          <a:bodyPr wrap="square" rtlCol="0">
            <a:spAutoFit/>
          </a:bodyPr>
          <a:lstStyle/>
          <a:p>
            <a:r>
              <a:rPr lang="fi-FI" sz="2000" dirty="0" smtClean="0"/>
              <a:t>PERINTEISET PROJEKTIT:</a:t>
            </a:r>
          </a:p>
          <a:p>
            <a:endParaRPr lang="fi-FI" sz="2000" dirty="0" smtClean="0"/>
          </a:p>
          <a:p>
            <a:r>
              <a:rPr lang="fi-FI" sz="2000" dirty="0" smtClean="0"/>
              <a:t>Projektipäällikkö</a:t>
            </a:r>
          </a:p>
          <a:p>
            <a:r>
              <a:rPr lang="fi-FI" sz="2000" dirty="0" smtClean="0"/>
              <a:t>Testauspäällikkö</a:t>
            </a:r>
          </a:p>
          <a:p>
            <a:r>
              <a:rPr lang="fi-FI" sz="2000" dirty="0" smtClean="0"/>
              <a:t>Vaatimusmäärittelijät</a:t>
            </a:r>
          </a:p>
          <a:p>
            <a:r>
              <a:rPr lang="fi-FI" sz="2000" dirty="0" smtClean="0"/>
              <a:t>Toteuttajat</a:t>
            </a:r>
          </a:p>
          <a:p>
            <a:r>
              <a:rPr lang="fi-FI" sz="2000" dirty="0" smtClean="0"/>
              <a:t>Testaajat</a:t>
            </a:r>
          </a:p>
          <a:p>
            <a:r>
              <a:rPr lang="fi-FI" sz="2000" dirty="0" smtClean="0"/>
              <a:t>...</a:t>
            </a:r>
            <a:endParaRPr lang="fi-FI" sz="2000" dirty="0"/>
          </a:p>
        </p:txBody>
      </p:sp>
      <p:sp>
        <p:nvSpPr>
          <p:cNvPr id="42" name="Right Arrow 41"/>
          <p:cNvSpPr/>
          <p:nvPr/>
        </p:nvSpPr>
        <p:spPr>
          <a:xfrm>
            <a:off x="3048000" y="2590800"/>
            <a:ext cx="304800" cy="685800"/>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fi-FI"/>
          </a:p>
        </p:txBody>
      </p:sp>
      <p:sp>
        <p:nvSpPr>
          <p:cNvPr id="43" name="TextBox 42"/>
          <p:cNvSpPr txBox="1"/>
          <p:nvPr/>
        </p:nvSpPr>
        <p:spPr>
          <a:xfrm>
            <a:off x="381000" y="4999672"/>
            <a:ext cx="3048000" cy="147732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fi-FI" dirty="0" smtClean="0"/>
              <a:t>Moni perinteinen rooli näyttää katoavan mutta vain osa työstä on ollut nk. turhaa – töiden uusjako rooleille</a:t>
            </a:r>
          </a:p>
          <a:p>
            <a:pPr algn="ctr"/>
            <a:r>
              <a:rPr lang="fi-FI" i="1" dirty="0" smtClean="0"/>
              <a:t>Idea: handoff is waste.</a:t>
            </a:r>
            <a:endParaRPr lang="fi-FI" i="1" dirty="0"/>
          </a:p>
        </p:txBody>
      </p:sp>
      <p:sp>
        <p:nvSpPr>
          <p:cNvPr id="21" name="Slide Number Placeholder 20"/>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Muutos ketterien menetelmien myötä</a:t>
            </a:r>
            <a:endParaRPr lang="fi-FI" dirty="0"/>
          </a:p>
        </p:txBody>
      </p:sp>
      <p:sp>
        <p:nvSpPr>
          <p:cNvPr id="6" name="Content Placeholder 5"/>
          <p:cNvSpPr>
            <a:spLocks noGrp="1"/>
          </p:cNvSpPr>
          <p:nvPr>
            <p:ph idx="1"/>
          </p:nvPr>
        </p:nvSpPr>
        <p:spPr/>
        <p:txBody>
          <a:bodyPr>
            <a:normAutofit fontScale="85000" lnSpcReduction="10000"/>
          </a:bodyPr>
          <a:lstStyle/>
          <a:p>
            <a:r>
              <a:rPr lang="fi-FI" dirty="0" smtClean="0">
                <a:solidFill>
                  <a:srgbClr val="FF0000"/>
                </a:solidFill>
              </a:rPr>
              <a:t>Ei </a:t>
            </a:r>
            <a:r>
              <a:rPr lang="fi-FI" i="1" dirty="0" smtClean="0">
                <a:solidFill>
                  <a:srgbClr val="FF0000"/>
                </a:solidFill>
              </a:rPr>
              <a:t>projektipäällikköä</a:t>
            </a:r>
            <a:r>
              <a:rPr lang="fi-FI" dirty="0" smtClean="0">
                <a:solidFill>
                  <a:srgbClr val="FF0000"/>
                </a:solidFill>
              </a:rPr>
              <a:t> vaan </a:t>
            </a:r>
            <a:r>
              <a:rPr lang="fi-FI" i="1" u="sng" dirty="0" smtClean="0">
                <a:solidFill>
                  <a:srgbClr val="FF0000"/>
                </a:solidFill>
              </a:rPr>
              <a:t>tuoteomistaja</a:t>
            </a:r>
            <a:r>
              <a:rPr lang="fi-FI" i="1" dirty="0" smtClean="0">
                <a:solidFill>
                  <a:srgbClr val="FF0000"/>
                </a:solidFill>
              </a:rPr>
              <a:t> </a:t>
            </a:r>
            <a:r>
              <a:rPr lang="fi-FI" dirty="0" smtClean="0">
                <a:solidFill>
                  <a:srgbClr val="FF0000"/>
                </a:solidFill>
              </a:rPr>
              <a:t> ja </a:t>
            </a:r>
            <a:r>
              <a:rPr lang="fi-FI" i="1" u="sng" dirty="0" smtClean="0">
                <a:solidFill>
                  <a:srgbClr val="FF0000"/>
                </a:solidFill>
              </a:rPr>
              <a:t>scrum master</a:t>
            </a:r>
            <a:r>
              <a:rPr lang="fi-FI" i="1" dirty="0" smtClean="0">
                <a:solidFill>
                  <a:srgbClr val="FF0000"/>
                </a:solidFill>
              </a:rPr>
              <a:t> </a:t>
            </a:r>
            <a:r>
              <a:rPr lang="fi-FI" dirty="0" smtClean="0">
                <a:solidFill>
                  <a:srgbClr val="FF0000"/>
                </a:solidFill>
              </a:rPr>
              <a:t>sekä </a:t>
            </a:r>
            <a:r>
              <a:rPr lang="fi-FI" i="1" u="sng" dirty="0" smtClean="0">
                <a:solidFill>
                  <a:srgbClr val="FF0000"/>
                </a:solidFill>
              </a:rPr>
              <a:t>itseohjautuva tiimi</a:t>
            </a:r>
          </a:p>
          <a:p>
            <a:r>
              <a:rPr lang="fi-FI" dirty="0" smtClean="0"/>
              <a:t>Yksittäiseltä testauksen osaajalta tiimissä odotetaan laajempaa panosta suunnitteluun!</a:t>
            </a:r>
          </a:p>
          <a:p>
            <a:pPr lvl="1"/>
            <a:r>
              <a:rPr lang="fi-FI" dirty="0" smtClean="0"/>
              <a:t>Sisällön ja kohdistuksen ohjaus tehdään tiimissä jokaisen tiimiläisen toimesta</a:t>
            </a:r>
          </a:p>
          <a:p>
            <a:r>
              <a:rPr lang="fi-FI" dirty="0" smtClean="0"/>
              <a:t>Testausprojektia ei ole erikseen -- hallinnolliset toimet siirtyvät tuoteomistajan ja scrum masterin rooleihin</a:t>
            </a:r>
          </a:p>
          <a:p>
            <a:r>
              <a:rPr lang="fi-FI" dirty="0" smtClean="0"/>
              <a:t>Henkilöesimiehet ja osaamisen kehittäminen irrallaan menetelmistöstä -- jatkuva oppiminen tuo sisäsyntyistä kehittämistä tiimiin</a:t>
            </a:r>
          </a:p>
          <a:p>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62" name="Rectangle 2"/>
          <p:cNvSpPr>
            <a:spLocks noGrp="1" noChangeArrowheads="1"/>
          </p:cNvSpPr>
          <p:nvPr>
            <p:ph type="title"/>
          </p:nvPr>
        </p:nvSpPr>
        <p:spPr/>
        <p:txBody>
          <a:bodyPr/>
          <a:lstStyle/>
          <a:p>
            <a:r>
              <a:rPr lang="en-GB" dirty="0" smtClean="0"/>
              <a:t>Scrum Master -</a:t>
            </a:r>
            <a:r>
              <a:rPr lang="en-GB" dirty="0" err="1" smtClean="0"/>
              <a:t>rooli</a:t>
            </a:r>
            <a:endParaRPr lang="en-GB" dirty="0"/>
          </a:p>
        </p:txBody>
      </p:sp>
      <p:sp>
        <p:nvSpPr>
          <p:cNvPr id="1320963" name="Rectangle 3"/>
          <p:cNvSpPr>
            <a:spLocks noGrp="1" noChangeArrowheads="1"/>
          </p:cNvSpPr>
          <p:nvPr>
            <p:ph type="body" idx="1"/>
          </p:nvPr>
        </p:nvSpPr>
        <p:spPr/>
        <p:txBody>
          <a:bodyPr>
            <a:noAutofit/>
          </a:bodyPr>
          <a:lstStyle/>
          <a:p>
            <a:pPr>
              <a:lnSpc>
                <a:spcPct val="110000"/>
              </a:lnSpc>
            </a:pPr>
            <a:r>
              <a:rPr lang="en-GB" sz="2400" dirty="0" smtClean="0"/>
              <a:t>Scrum master on </a:t>
            </a:r>
            <a:r>
              <a:rPr lang="en-GB" sz="2400" dirty="0" err="1" smtClean="0"/>
              <a:t>sekä</a:t>
            </a:r>
            <a:r>
              <a:rPr lang="en-GB" sz="2400" dirty="0" smtClean="0"/>
              <a:t> </a:t>
            </a:r>
            <a:r>
              <a:rPr lang="en-GB" sz="2400" dirty="0" err="1" smtClean="0"/>
              <a:t>kehityksen</a:t>
            </a:r>
            <a:r>
              <a:rPr lang="en-GB" sz="2400" dirty="0" smtClean="0"/>
              <a:t> </a:t>
            </a:r>
            <a:r>
              <a:rPr lang="en-GB" sz="2400" dirty="0" err="1" smtClean="0"/>
              <a:t>että</a:t>
            </a:r>
            <a:r>
              <a:rPr lang="en-GB" sz="2400" dirty="0" smtClean="0"/>
              <a:t> </a:t>
            </a:r>
            <a:br>
              <a:rPr lang="en-GB" sz="2400" dirty="0" smtClean="0"/>
            </a:br>
            <a:r>
              <a:rPr lang="en-GB" sz="2400" dirty="0" err="1" smtClean="0"/>
              <a:t>testauksen</a:t>
            </a:r>
            <a:r>
              <a:rPr lang="en-GB" sz="2400" dirty="0" smtClean="0"/>
              <a:t> </a:t>
            </a:r>
            <a:r>
              <a:rPr lang="en-GB" sz="2400" dirty="0" err="1" smtClean="0"/>
              <a:t>tukija</a:t>
            </a:r>
            <a:r>
              <a:rPr lang="en-GB" sz="2400" dirty="0" smtClean="0"/>
              <a:t> </a:t>
            </a:r>
            <a:r>
              <a:rPr lang="en-GB" sz="2400" dirty="0" err="1" smtClean="0"/>
              <a:t>ja</a:t>
            </a:r>
            <a:r>
              <a:rPr lang="en-GB" sz="2400" dirty="0" smtClean="0"/>
              <a:t> </a:t>
            </a:r>
            <a:r>
              <a:rPr lang="en-GB" sz="2400" dirty="0" err="1" smtClean="0"/>
              <a:t>fasilitoija</a:t>
            </a:r>
            <a:endParaRPr lang="en-GB" sz="2400" dirty="0" smtClean="0"/>
          </a:p>
          <a:p>
            <a:pPr>
              <a:lnSpc>
                <a:spcPct val="110000"/>
              </a:lnSpc>
            </a:pPr>
            <a:r>
              <a:rPr lang="en-GB" sz="2400" dirty="0" err="1" smtClean="0"/>
              <a:t>Tukee</a:t>
            </a:r>
            <a:r>
              <a:rPr lang="en-GB" sz="2400" dirty="0" smtClean="0"/>
              <a:t> </a:t>
            </a:r>
            <a:r>
              <a:rPr lang="en-GB" sz="2400" dirty="0" err="1" smtClean="0"/>
              <a:t>kokonaisuutta</a:t>
            </a:r>
            <a:r>
              <a:rPr lang="en-GB" sz="2400" dirty="0" smtClean="0"/>
              <a:t>: </a:t>
            </a:r>
            <a:r>
              <a:rPr lang="en-GB" sz="2400" dirty="0" err="1" smtClean="0"/>
              <a:t>koko</a:t>
            </a:r>
            <a:r>
              <a:rPr lang="en-GB" sz="2400" dirty="0" smtClean="0"/>
              <a:t> </a:t>
            </a:r>
            <a:r>
              <a:rPr lang="en-GB" sz="2400" dirty="0" err="1" smtClean="0"/>
              <a:t>järjestelmää</a:t>
            </a:r>
            <a:r>
              <a:rPr lang="en-GB" sz="2400" dirty="0" smtClean="0"/>
              <a:t>, </a:t>
            </a:r>
            <a:r>
              <a:rPr lang="en-GB" sz="2400" dirty="0" err="1" smtClean="0"/>
              <a:t>ei</a:t>
            </a:r>
            <a:r>
              <a:rPr lang="en-GB" sz="2400" dirty="0" smtClean="0"/>
              <a:t> vain </a:t>
            </a:r>
            <a:r>
              <a:rPr lang="en-GB" sz="2400" dirty="0" err="1" smtClean="0"/>
              <a:t>komponenttia</a:t>
            </a:r>
            <a:r>
              <a:rPr lang="en-GB" sz="2400" dirty="0" smtClean="0"/>
              <a:t>; </a:t>
            </a:r>
            <a:r>
              <a:rPr lang="en-GB" sz="2400" dirty="0" err="1" smtClean="0"/>
              <a:t>ideasta</a:t>
            </a:r>
            <a:r>
              <a:rPr lang="en-GB" sz="2400" dirty="0" smtClean="0"/>
              <a:t> </a:t>
            </a:r>
            <a:r>
              <a:rPr lang="en-GB" sz="2400" dirty="0" err="1" smtClean="0"/>
              <a:t>toimitukseen</a:t>
            </a:r>
            <a:r>
              <a:rPr lang="en-GB" sz="2400" dirty="0" smtClean="0"/>
              <a:t> </a:t>
            </a:r>
            <a:r>
              <a:rPr lang="en-GB" sz="2400" dirty="0" err="1" smtClean="0"/>
              <a:t>toimintaa</a:t>
            </a:r>
            <a:r>
              <a:rPr lang="en-GB" sz="2400" dirty="0" smtClean="0"/>
              <a:t> </a:t>
            </a:r>
            <a:r>
              <a:rPr lang="en-GB" sz="2400" dirty="0" err="1" smtClean="0"/>
              <a:t>jatkuvasti</a:t>
            </a:r>
            <a:r>
              <a:rPr lang="en-GB" sz="2400" dirty="0" smtClean="0"/>
              <a:t> </a:t>
            </a:r>
            <a:r>
              <a:rPr lang="en-GB" sz="2400" dirty="0" err="1" smtClean="0"/>
              <a:t>kehittäen</a:t>
            </a:r>
            <a:endParaRPr lang="en-GB" sz="2400" dirty="0" smtClean="0"/>
          </a:p>
          <a:p>
            <a:pPr>
              <a:lnSpc>
                <a:spcPct val="110000"/>
              </a:lnSpc>
            </a:pPr>
            <a:r>
              <a:rPr lang="en-GB" sz="2400" dirty="0" smtClean="0"/>
              <a:t>Scrum </a:t>
            </a:r>
            <a:r>
              <a:rPr lang="en-GB" sz="2400" dirty="0" err="1" smtClean="0"/>
              <a:t>masterin</a:t>
            </a:r>
            <a:r>
              <a:rPr lang="en-GB" sz="2400" dirty="0" smtClean="0"/>
              <a:t> </a:t>
            </a:r>
            <a:r>
              <a:rPr lang="en-GB" sz="2400" dirty="0" err="1" smtClean="0"/>
              <a:t>pitää</a:t>
            </a:r>
            <a:r>
              <a:rPr lang="en-GB" sz="2400" dirty="0" smtClean="0"/>
              <a:t> </a:t>
            </a:r>
            <a:r>
              <a:rPr lang="en-GB" sz="2400" dirty="0" err="1" smtClean="0"/>
              <a:t>oppia</a:t>
            </a:r>
            <a:r>
              <a:rPr lang="en-GB" sz="2400" dirty="0" smtClean="0"/>
              <a:t> </a:t>
            </a:r>
            <a:r>
              <a:rPr lang="en-GB" sz="2400" dirty="0" err="1" smtClean="0"/>
              <a:t>kysymään</a:t>
            </a:r>
            <a:r>
              <a:rPr lang="en-GB" sz="2400" dirty="0" smtClean="0"/>
              <a:t> </a:t>
            </a:r>
            <a:r>
              <a:rPr lang="en-GB" sz="2400" dirty="0" err="1" smtClean="0"/>
              <a:t>asioita</a:t>
            </a:r>
            <a:r>
              <a:rPr lang="en-GB" sz="2400" dirty="0" smtClean="0"/>
              <a:t> </a:t>
            </a:r>
            <a:r>
              <a:rPr lang="en-GB" sz="2400" dirty="0" err="1" smtClean="0"/>
              <a:t>myös</a:t>
            </a:r>
            <a:r>
              <a:rPr lang="en-GB" sz="2400" dirty="0" smtClean="0"/>
              <a:t> </a:t>
            </a:r>
            <a:r>
              <a:rPr lang="en-GB" sz="2400" dirty="0" err="1" smtClean="0"/>
              <a:t>testauksesta</a:t>
            </a:r>
            <a:r>
              <a:rPr lang="en-GB" sz="2400" dirty="0" smtClean="0"/>
              <a:t>, </a:t>
            </a:r>
            <a:r>
              <a:rPr lang="en-GB" sz="2400" dirty="0" err="1" smtClean="0"/>
              <a:t>esim</a:t>
            </a:r>
            <a:r>
              <a:rPr lang="en-GB" sz="2400" dirty="0" smtClean="0"/>
              <a:t>. </a:t>
            </a:r>
          </a:p>
          <a:p>
            <a:pPr lvl="1">
              <a:lnSpc>
                <a:spcPct val="110000"/>
              </a:lnSpc>
            </a:pPr>
            <a:r>
              <a:rPr lang="en-GB" sz="2000" dirty="0" err="1" smtClean="0"/>
              <a:t>Kuinka</a:t>
            </a:r>
            <a:r>
              <a:rPr lang="en-GB" sz="2000" dirty="0" smtClean="0"/>
              <a:t> </a:t>
            </a:r>
            <a:r>
              <a:rPr lang="en-GB" sz="2000" dirty="0" err="1" smtClean="0"/>
              <a:t>kauan</a:t>
            </a:r>
            <a:r>
              <a:rPr lang="en-GB" sz="2000" dirty="0" smtClean="0"/>
              <a:t> </a:t>
            </a:r>
            <a:r>
              <a:rPr lang="en-GB" sz="2000" dirty="0" err="1" smtClean="0"/>
              <a:t>kalenteriaikaa</a:t>
            </a:r>
            <a:r>
              <a:rPr lang="en-GB" sz="2000" dirty="0" smtClean="0"/>
              <a:t> </a:t>
            </a:r>
            <a:r>
              <a:rPr lang="en-GB" sz="2000" dirty="0" err="1" smtClean="0"/>
              <a:t>ja</a:t>
            </a:r>
            <a:r>
              <a:rPr lang="en-GB" sz="2000" dirty="0" smtClean="0"/>
              <a:t> </a:t>
            </a:r>
            <a:r>
              <a:rPr lang="en-GB" sz="2000" dirty="0" err="1" smtClean="0"/>
              <a:t>kuinka</a:t>
            </a:r>
            <a:r>
              <a:rPr lang="en-GB" sz="2000" dirty="0" smtClean="0"/>
              <a:t> </a:t>
            </a:r>
            <a:r>
              <a:rPr lang="en-GB" sz="2000" dirty="0" err="1" smtClean="0"/>
              <a:t>monta</a:t>
            </a:r>
            <a:r>
              <a:rPr lang="en-GB" sz="2000" dirty="0" smtClean="0"/>
              <a:t> </a:t>
            </a:r>
            <a:r>
              <a:rPr lang="en-GB" sz="2000" dirty="0" err="1" smtClean="0"/>
              <a:t>ihmistä</a:t>
            </a:r>
            <a:r>
              <a:rPr lang="en-GB" sz="2000" dirty="0" smtClean="0"/>
              <a:t> </a:t>
            </a:r>
            <a:r>
              <a:rPr lang="en-GB" sz="2000" dirty="0" err="1" smtClean="0"/>
              <a:t>tarvitaan</a:t>
            </a:r>
            <a:r>
              <a:rPr lang="en-GB" sz="2000" dirty="0" smtClean="0"/>
              <a:t> </a:t>
            </a:r>
            <a:r>
              <a:rPr lang="en-GB" sz="2000" dirty="0" err="1" smtClean="0"/>
              <a:t>että</a:t>
            </a:r>
            <a:r>
              <a:rPr lang="en-GB" sz="2000" dirty="0" smtClean="0"/>
              <a:t> </a:t>
            </a:r>
            <a:r>
              <a:rPr lang="en-GB" sz="2000" dirty="0" err="1" smtClean="0"/>
              <a:t>testaus</a:t>
            </a:r>
            <a:r>
              <a:rPr lang="en-GB" sz="2000" dirty="0" smtClean="0"/>
              <a:t> </a:t>
            </a:r>
            <a:r>
              <a:rPr lang="en-GB" sz="2000" dirty="0" err="1" smtClean="0"/>
              <a:t>tulee</a:t>
            </a:r>
            <a:r>
              <a:rPr lang="en-GB" sz="2000" dirty="0" smtClean="0"/>
              <a:t> </a:t>
            </a:r>
            <a:r>
              <a:rPr lang="en-GB" sz="2000" dirty="0" err="1" smtClean="0"/>
              <a:t>tehtyä</a:t>
            </a:r>
            <a:r>
              <a:rPr lang="en-GB" sz="2000" dirty="0" smtClean="0"/>
              <a:t>?</a:t>
            </a:r>
            <a:endParaRPr lang="en-GB" sz="2000" dirty="0"/>
          </a:p>
          <a:p>
            <a:pPr lvl="1">
              <a:lnSpc>
                <a:spcPct val="90000"/>
              </a:lnSpc>
            </a:pPr>
            <a:r>
              <a:rPr lang="en-GB" sz="2000" dirty="0" err="1" smtClean="0"/>
              <a:t>Miksi</a:t>
            </a:r>
            <a:r>
              <a:rPr lang="en-GB" sz="2000" dirty="0" smtClean="0"/>
              <a:t> </a:t>
            </a:r>
            <a:r>
              <a:rPr lang="en-GB" sz="2000" dirty="0" err="1" smtClean="0"/>
              <a:t>niin</a:t>
            </a:r>
            <a:r>
              <a:rPr lang="en-GB" sz="2000" dirty="0" smtClean="0"/>
              <a:t> </a:t>
            </a:r>
            <a:r>
              <a:rPr lang="en-GB" sz="2000" dirty="0" err="1" smtClean="0"/>
              <a:t>paljon</a:t>
            </a:r>
            <a:r>
              <a:rPr lang="en-GB" sz="2000" dirty="0" smtClean="0"/>
              <a:t>? </a:t>
            </a:r>
            <a:r>
              <a:rPr lang="en-GB" sz="2000" dirty="0" err="1" smtClean="0"/>
              <a:t>Mitä</a:t>
            </a:r>
            <a:r>
              <a:rPr lang="en-GB" sz="2000" dirty="0" smtClean="0"/>
              <a:t> </a:t>
            </a:r>
            <a:r>
              <a:rPr lang="en-GB" sz="2000" dirty="0" err="1" smtClean="0"/>
              <a:t>testausta</a:t>
            </a:r>
            <a:r>
              <a:rPr lang="en-GB" sz="2000" dirty="0" smtClean="0"/>
              <a:t> </a:t>
            </a:r>
            <a:r>
              <a:rPr lang="en-GB" sz="2000" dirty="0" err="1" smtClean="0"/>
              <a:t>aiotte</a:t>
            </a:r>
            <a:r>
              <a:rPr lang="en-GB" sz="2000" dirty="0" smtClean="0"/>
              <a:t> </a:t>
            </a:r>
            <a:r>
              <a:rPr lang="en-GB" sz="2000" dirty="0" err="1" smtClean="0"/>
              <a:t>tehdä</a:t>
            </a:r>
            <a:r>
              <a:rPr lang="en-GB" sz="2000" dirty="0" smtClean="0"/>
              <a:t> </a:t>
            </a:r>
            <a:r>
              <a:rPr lang="en-GB" sz="2000" dirty="0" err="1" smtClean="0"/>
              <a:t>ja</a:t>
            </a:r>
            <a:r>
              <a:rPr lang="en-GB" sz="2000" dirty="0" smtClean="0"/>
              <a:t> </a:t>
            </a:r>
            <a:r>
              <a:rPr lang="en-GB" sz="2000" dirty="0" err="1" smtClean="0"/>
              <a:t>miksi</a:t>
            </a:r>
            <a:r>
              <a:rPr lang="en-GB" sz="2000" dirty="0" smtClean="0"/>
              <a:t>?</a:t>
            </a:r>
            <a:endParaRPr lang="en-GB" sz="2000" dirty="0"/>
          </a:p>
          <a:p>
            <a:pPr lvl="1">
              <a:lnSpc>
                <a:spcPct val="90000"/>
              </a:lnSpc>
            </a:pPr>
            <a:r>
              <a:rPr lang="en-GB" sz="2000" dirty="0" err="1" smtClean="0"/>
              <a:t>Onko</a:t>
            </a:r>
            <a:r>
              <a:rPr lang="en-GB" sz="2000" dirty="0" smtClean="0"/>
              <a:t> se </a:t>
            </a:r>
            <a:r>
              <a:rPr lang="en-GB" sz="2000" dirty="0" err="1" smtClean="0"/>
              <a:t>liikaa</a:t>
            </a:r>
            <a:r>
              <a:rPr lang="en-GB" sz="2000" dirty="0" smtClean="0"/>
              <a:t>? </a:t>
            </a:r>
            <a:r>
              <a:rPr lang="en-GB" sz="2000" dirty="0" err="1" smtClean="0"/>
              <a:t>Entä</a:t>
            </a:r>
            <a:r>
              <a:rPr lang="en-GB" sz="2000" dirty="0" smtClean="0"/>
              <a:t> </a:t>
            </a:r>
            <a:r>
              <a:rPr lang="en-GB" sz="2000" dirty="0" err="1" smtClean="0"/>
              <a:t>jos</a:t>
            </a:r>
            <a:r>
              <a:rPr lang="en-GB" sz="2000" dirty="0" smtClean="0"/>
              <a:t> </a:t>
            </a:r>
            <a:r>
              <a:rPr lang="en-GB" sz="2000" dirty="0" err="1" smtClean="0"/>
              <a:t>saisittekin</a:t>
            </a:r>
            <a:r>
              <a:rPr lang="en-GB" sz="2000" dirty="0" smtClean="0"/>
              <a:t> vain </a:t>
            </a:r>
            <a:r>
              <a:rPr lang="en-GB" sz="2000" dirty="0" err="1" smtClean="0"/>
              <a:t>puolet</a:t>
            </a:r>
            <a:r>
              <a:rPr lang="en-GB" sz="2000" dirty="0" smtClean="0"/>
              <a:t> </a:t>
            </a:r>
            <a:r>
              <a:rPr lang="en-GB" sz="2000" dirty="0" err="1" smtClean="0"/>
              <a:t>tuosta</a:t>
            </a:r>
            <a:r>
              <a:rPr lang="en-GB" sz="2000" dirty="0" smtClean="0"/>
              <a:t> </a:t>
            </a:r>
            <a:r>
              <a:rPr lang="en-GB" sz="2000" dirty="0" err="1" smtClean="0"/>
              <a:t>työmäärästä</a:t>
            </a:r>
            <a:r>
              <a:rPr lang="en-GB" sz="2000" dirty="0" smtClean="0"/>
              <a:t>, </a:t>
            </a:r>
            <a:r>
              <a:rPr lang="en-GB" sz="2000" dirty="0" err="1" smtClean="0"/>
              <a:t>mitä</a:t>
            </a:r>
            <a:r>
              <a:rPr lang="en-GB" sz="2000" dirty="0" smtClean="0"/>
              <a:t> </a:t>
            </a:r>
            <a:r>
              <a:rPr lang="en-GB" sz="2000" dirty="0" err="1" smtClean="0"/>
              <a:t>riskejä</a:t>
            </a:r>
            <a:r>
              <a:rPr lang="en-GB" sz="2000" dirty="0" smtClean="0"/>
              <a:t> </a:t>
            </a:r>
            <a:r>
              <a:rPr lang="en-GB" sz="2000" dirty="0" err="1" smtClean="0"/>
              <a:t>silloin</a:t>
            </a:r>
            <a:r>
              <a:rPr lang="en-GB" sz="2000" dirty="0" smtClean="0"/>
              <a:t> </a:t>
            </a:r>
            <a:r>
              <a:rPr lang="en-GB" sz="2000" dirty="0" err="1" smtClean="0"/>
              <a:t>katetaan</a:t>
            </a:r>
            <a:r>
              <a:rPr lang="en-GB" sz="2000" dirty="0" smtClean="0"/>
              <a:t> </a:t>
            </a:r>
            <a:r>
              <a:rPr lang="en-GB" sz="2000" dirty="0" err="1" smtClean="0"/>
              <a:t>ja</a:t>
            </a:r>
            <a:r>
              <a:rPr lang="en-GB" sz="2000" dirty="0" smtClean="0"/>
              <a:t> </a:t>
            </a:r>
            <a:r>
              <a:rPr lang="en-GB" sz="2000" dirty="0" err="1" smtClean="0"/>
              <a:t>otetaan</a:t>
            </a:r>
            <a:r>
              <a:rPr lang="en-GB" sz="2000" dirty="0" smtClean="0"/>
              <a:t>?</a:t>
            </a:r>
            <a:endParaRPr lang="en-GB" sz="2000" dirty="0"/>
          </a:p>
          <a:p>
            <a:pPr lvl="1">
              <a:lnSpc>
                <a:spcPct val="90000"/>
              </a:lnSpc>
            </a:pPr>
            <a:r>
              <a:rPr lang="en-GB" sz="2000" dirty="0" err="1" smtClean="0"/>
              <a:t>Onko</a:t>
            </a:r>
            <a:r>
              <a:rPr lang="en-GB" sz="2000" dirty="0" smtClean="0"/>
              <a:t> se </a:t>
            </a:r>
            <a:r>
              <a:rPr lang="en-GB" sz="2000" dirty="0" err="1" smtClean="0"/>
              <a:t>liian</a:t>
            </a:r>
            <a:r>
              <a:rPr lang="en-GB" sz="2000" dirty="0" smtClean="0"/>
              <a:t> </a:t>
            </a:r>
            <a:r>
              <a:rPr lang="en-GB" sz="2000" dirty="0" err="1" smtClean="0"/>
              <a:t>vähän</a:t>
            </a:r>
            <a:r>
              <a:rPr lang="en-GB" sz="2000" dirty="0" smtClean="0"/>
              <a:t>? </a:t>
            </a:r>
            <a:r>
              <a:rPr lang="en-GB" sz="2000" dirty="0" err="1" smtClean="0"/>
              <a:t>Mitä</a:t>
            </a:r>
            <a:r>
              <a:rPr lang="en-GB" sz="2000" dirty="0" smtClean="0"/>
              <a:t> </a:t>
            </a:r>
            <a:r>
              <a:rPr lang="en-GB" sz="2000" dirty="0" err="1" smtClean="0"/>
              <a:t>riskejä</a:t>
            </a:r>
            <a:r>
              <a:rPr lang="en-GB" sz="2000" dirty="0" smtClean="0"/>
              <a:t> </a:t>
            </a:r>
            <a:r>
              <a:rPr lang="en-GB" sz="2000" dirty="0" err="1" smtClean="0"/>
              <a:t>oletatte</a:t>
            </a:r>
            <a:r>
              <a:rPr lang="en-GB" sz="2000" dirty="0" smtClean="0"/>
              <a:t> </a:t>
            </a:r>
            <a:r>
              <a:rPr lang="en-GB" sz="2000" dirty="0" err="1" smtClean="0"/>
              <a:t>jonkun</a:t>
            </a:r>
            <a:r>
              <a:rPr lang="en-GB" sz="2000" dirty="0" smtClean="0"/>
              <a:t> </a:t>
            </a:r>
            <a:r>
              <a:rPr lang="en-GB" sz="2000" dirty="0" err="1" smtClean="0"/>
              <a:t>muun</a:t>
            </a:r>
            <a:r>
              <a:rPr lang="en-GB" sz="2000" dirty="0" smtClean="0"/>
              <a:t> </a:t>
            </a:r>
            <a:r>
              <a:rPr lang="en-GB" sz="2000" dirty="0" err="1" smtClean="0"/>
              <a:t>hoitavan</a:t>
            </a:r>
            <a:r>
              <a:rPr lang="en-GB" sz="2000" dirty="0" smtClean="0"/>
              <a:t> </a:t>
            </a:r>
            <a:r>
              <a:rPr lang="en-GB" sz="2000" dirty="0" err="1" smtClean="0"/>
              <a:t>tähän</a:t>
            </a:r>
            <a:r>
              <a:rPr lang="en-GB" sz="2000" dirty="0" smtClean="0"/>
              <a:t> </a:t>
            </a:r>
            <a:r>
              <a:rPr lang="en-GB" sz="2000" dirty="0" err="1" smtClean="0"/>
              <a:t>muutokseen</a:t>
            </a:r>
            <a:r>
              <a:rPr lang="en-GB" sz="2000" dirty="0" smtClean="0"/>
              <a:t> </a:t>
            </a:r>
            <a:r>
              <a:rPr lang="en-GB" sz="2000" dirty="0" err="1" smtClean="0"/>
              <a:t>liittyen</a:t>
            </a:r>
            <a:r>
              <a:rPr lang="en-GB" sz="2000" dirty="0" smtClean="0"/>
              <a:t>?</a:t>
            </a:r>
            <a:endParaRPr lang="en-GB" sz="2000" dirty="0"/>
          </a:p>
        </p:txBody>
      </p:sp>
      <p:pic>
        <p:nvPicPr>
          <p:cNvPr id="1320964" name="Picture 4"/>
          <p:cNvPicPr>
            <a:picLocks noChangeAspect="1" noChangeArrowheads="1"/>
          </p:cNvPicPr>
          <p:nvPr/>
        </p:nvPicPr>
        <p:blipFill>
          <a:blip r:embed="rId3" cstate="print"/>
          <a:srcRect/>
          <a:stretch>
            <a:fillRect/>
          </a:stretch>
        </p:blipFill>
        <p:spPr bwMode="auto">
          <a:xfrm>
            <a:off x="7162800" y="482600"/>
            <a:ext cx="1803400" cy="1803400"/>
          </a:xfrm>
          <a:prstGeom prst="rect">
            <a:avLst/>
          </a:prstGeom>
          <a:noFill/>
          <a:ln w="12700">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GB" dirty="0" err="1" smtClean="0"/>
              <a:t>Suhde</a:t>
            </a:r>
            <a:r>
              <a:rPr lang="en-GB" dirty="0" smtClean="0"/>
              <a:t> </a:t>
            </a:r>
            <a:r>
              <a:rPr lang="en-GB" dirty="0" err="1" smtClean="0"/>
              <a:t>työhön</a:t>
            </a:r>
            <a:r>
              <a:rPr lang="en-GB" dirty="0" smtClean="0"/>
              <a:t> – </a:t>
            </a:r>
            <a:r>
              <a:rPr lang="en-GB" dirty="0" err="1" smtClean="0"/>
              <a:t>Sitoutuneiden</a:t>
            </a:r>
            <a:r>
              <a:rPr lang="en-GB" dirty="0" smtClean="0"/>
              <a:t> </a:t>
            </a:r>
            <a:r>
              <a:rPr lang="en-GB" dirty="0" err="1" smtClean="0"/>
              <a:t>ihmisten</a:t>
            </a:r>
            <a:r>
              <a:rPr lang="en-GB" dirty="0" smtClean="0"/>
              <a:t> </a:t>
            </a:r>
            <a:r>
              <a:rPr lang="en-GB" dirty="0" err="1" smtClean="0"/>
              <a:t>potentiaali</a:t>
            </a:r>
            <a:endParaRPr lang="en-US" dirty="0"/>
          </a:p>
        </p:txBody>
      </p:sp>
      <p:sp>
        <p:nvSpPr>
          <p:cNvPr id="35842" name="TextBox 2"/>
          <p:cNvSpPr txBox="1">
            <a:spLocks noChangeArrowheads="1"/>
          </p:cNvSpPr>
          <p:nvPr/>
        </p:nvSpPr>
        <p:spPr bwMode="auto">
          <a:xfrm>
            <a:off x="5643563" y="1714500"/>
            <a:ext cx="3286125" cy="646113"/>
          </a:xfrm>
          <a:prstGeom prst="rect">
            <a:avLst/>
          </a:prstGeom>
          <a:noFill/>
          <a:ln w="9525">
            <a:noFill/>
            <a:miter lim="800000"/>
            <a:headEnd/>
            <a:tailEnd/>
          </a:ln>
        </p:spPr>
        <p:txBody>
          <a:bodyPr>
            <a:spAutoFit/>
          </a:bodyPr>
          <a:lstStyle/>
          <a:p>
            <a:pPr algn="ctr"/>
            <a:r>
              <a:rPr lang="en-GB" i="1">
                <a:latin typeface="Constantia" pitchFamily="18" charset="0"/>
              </a:rPr>
              <a:t>Muotoiltu Mary Poppendieckin tarinasta</a:t>
            </a:r>
            <a:endParaRPr lang="en-US" i="1">
              <a:latin typeface="Constantia" pitchFamily="18" charset="0"/>
            </a:endParaRPr>
          </a:p>
        </p:txBody>
      </p:sp>
      <p:sp>
        <p:nvSpPr>
          <p:cNvPr id="35843" name="TextBox 3"/>
          <p:cNvSpPr txBox="1">
            <a:spLocks noChangeArrowheads="1"/>
          </p:cNvSpPr>
          <p:nvPr/>
        </p:nvSpPr>
        <p:spPr bwMode="auto">
          <a:xfrm>
            <a:off x="500063" y="1857375"/>
            <a:ext cx="3286125" cy="646113"/>
          </a:xfrm>
          <a:prstGeom prst="rect">
            <a:avLst/>
          </a:prstGeom>
          <a:noFill/>
          <a:ln w="9525">
            <a:noFill/>
            <a:miter lim="800000"/>
            <a:headEnd/>
            <a:tailEnd/>
          </a:ln>
        </p:spPr>
        <p:txBody>
          <a:bodyPr>
            <a:spAutoFit/>
          </a:bodyPr>
          <a:lstStyle/>
          <a:p>
            <a:r>
              <a:rPr lang="en-GB">
                <a:latin typeface="Constantia" pitchFamily="18" charset="0"/>
              </a:rPr>
              <a:t>Kysymys kolmelle kivenhakkaajalle: mitä teette?</a:t>
            </a:r>
            <a:endParaRPr lang="en-US">
              <a:latin typeface="Constantia" pitchFamily="18" charset="0"/>
            </a:endParaRPr>
          </a:p>
        </p:txBody>
      </p:sp>
      <p:sp>
        <p:nvSpPr>
          <p:cNvPr id="35844" name="TextBox 4"/>
          <p:cNvSpPr txBox="1">
            <a:spLocks noChangeArrowheads="1"/>
          </p:cNvSpPr>
          <p:nvPr/>
        </p:nvSpPr>
        <p:spPr bwMode="auto">
          <a:xfrm>
            <a:off x="357188" y="3460750"/>
            <a:ext cx="3286125" cy="368300"/>
          </a:xfrm>
          <a:prstGeom prst="rect">
            <a:avLst/>
          </a:prstGeom>
          <a:noFill/>
          <a:ln w="9525">
            <a:noFill/>
            <a:miter lim="800000"/>
            <a:headEnd/>
            <a:tailEnd/>
          </a:ln>
        </p:spPr>
        <p:txBody>
          <a:bodyPr>
            <a:spAutoFit/>
          </a:bodyPr>
          <a:lstStyle/>
          <a:p>
            <a:r>
              <a:rPr lang="en-GB">
                <a:latin typeface="Constantia" pitchFamily="18" charset="0"/>
              </a:rPr>
              <a:t>“Hakkaan kiviä”</a:t>
            </a:r>
            <a:endParaRPr lang="en-US">
              <a:latin typeface="Constantia" pitchFamily="18" charset="0"/>
            </a:endParaRPr>
          </a:p>
        </p:txBody>
      </p:sp>
      <p:sp>
        <p:nvSpPr>
          <p:cNvPr id="35845" name="TextBox 5"/>
          <p:cNvSpPr txBox="1">
            <a:spLocks noChangeArrowheads="1"/>
          </p:cNvSpPr>
          <p:nvPr/>
        </p:nvSpPr>
        <p:spPr bwMode="auto">
          <a:xfrm>
            <a:off x="4786313" y="2844800"/>
            <a:ext cx="3286125" cy="369888"/>
          </a:xfrm>
          <a:prstGeom prst="rect">
            <a:avLst/>
          </a:prstGeom>
          <a:noFill/>
          <a:ln w="9525">
            <a:noFill/>
            <a:miter lim="800000"/>
            <a:headEnd/>
            <a:tailEnd/>
          </a:ln>
        </p:spPr>
        <p:txBody>
          <a:bodyPr>
            <a:spAutoFit/>
          </a:bodyPr>
          <a:lstStyle/>
          <a:p>
            <a:r>
              <a:rPr lang="en-GB">
                <a:latin typeface="Constantia" pitchFamily="18" charset="0"/>
              </a:rPr>
              <a:t>“Elätän perhettäni”</a:t>
            </a:r>
            <a:endParaRPr lang="en-US">
              <a:latin typeface="Constantia" pitchFamily="18" charset="0"/>
            </a:endParaRPr>
          </a:p>
        </p:txBody>
      </p:sp>
      <p:sp>
        <p:nvSpPr>
          <p:cNvPr id="35846" name="TextBox 6"/>
          <p:cNvSpPr txBox="1">
            <a:spLocks noChangeArrowheads="1"/>
          </p:cNvSpPr>
          <p:nvPr/>
        </p:nvSpPr>
        <p:spPr bwMode="auto">
          <a:xfrm>
            <a:off x="428625" y="5214938"/>
            <a:ext cx="3286125" cy="369887"/>
          </a:xfrm>
          <a:prstGeom prst="rect">
            <a:avLst/>
          </a:prstGeom>
          <a:noFill/>
          <a:ln w="9525">
            <a:noFill/>
            <a:miter lim="800000"/>
            <a:headEnd/>
            <a:tailEnd/>
          </a:ln>
        </p:spPr>
        <p:txBody>
          <a:bodyPr>
            <a:spAutoFit/>
          </a:bodyPr>
          <a:lstStyle/>
          <a:p>
            <a:r>
              <a:rPr lang="en-GB">
                <a:latin typeface="Constantia" pitchFamily="18" charset="0"/>
              </a:rPr>
              <a:t>“Rakennan katedraalia”</a:t>
            </a:r>
            <a:endParaRPr lang="en-US">
              <a:latin typeface="Constantia" pitchFamily="18" charset="0"/>
            </a:endParaRPr>
          </a:p>
        </p:txBody>
      </p:sp>
      <p:sp>
        <p:nvSpPr>
          <p:cNvPr id="8" name="TextBox 7"/>
          <p:cNvSpPr txBox="1"/>
          <p:nvPr/>
        </p:nvSpPr>
        <p:spPr>
          <a:xfrm>
            <a:off x="5357818" y="4857760"/>
            <a:ext cx="3643338" cy="1754326"/>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fontAlgn="auto">
              <a:spcBef>
                <a:spcPts val="0"/>
              </a:spcBef>
              <a:spcAft>
                <a:spcPts val="0"/>
              </a:spcAft>
              <a:defRPr/>
            </a:pPr>
            <a:r>
              <a:rPr lang="en-GB" dirty="0" err="1"/>
              <a:t>Vastuu</a:t>
            </a:r>
            <a:r>
              <a:rPr lang="en-GB" dirty="0"/>
              <a:t> </a:t>
            </a:r>
            <a:r>
              <a:rPr lang="en-GB" dirty="0" err="1"/>
              <a:t>ja</a:t>
            </a:r>
            <a:r>
              <a:rPr lang="en-GB" dirty="0"/>
              <a:t> </a:t>
            </a:r>
            <a:r>
              <a:rPr lang="en-GB" dirty="0" err="1"/>
              <a:t>päätöksenteko</a:t>
            </a:r>
            <a:r>
              <a:rPr lang="en-GB" dirty="0"/>
              <a:t> </a:t>
            </a:r>
            <a:r>
              <a:rPr lang="en-GB" dirty="0" err="1"/>
              <a:t>alimmalla</a:t>
            </a:r>
            <a:r>
              <a:rPr lang="en-GB" dirty="0"/>
              <a:t> </a:t>
            </a:r>
            <a:r>
              <a:rPr lang="en-GB" dirty="0" err="1"/>
              <a:t>mahdollisella</a:t>
            </a:r>
            <a:r>
              <a:rPr lang="en-GB" dirty="0"/>
              <a:t> </a:t>
            </a:r>
            <a:r>
              <a:rPr lang="en-GB" dirty="0" err="1"/>
              <a:t>tasolla</a:t>
            </a:r>
            <a:endParaRPr lang="en-GB" dirty="0"/>
          </a:p>
          <a:p>
            <a:pPr fontAlgn="auto">
              <a:spcBef>
                <a:spcPts val="0"/>
              </a:spcBef>
              <a:spcAft>
                <a:spcPts val="0"/>
              </a:spcAft>
              <a:defRPr/>
            </a:pPr>
            <a:endParaRPr lang="en-GB" dirty="0"/>
          </a:p>
          <a:p>
            <a:pPr fontAlgn="auto">
              <a:spcBef>
                <a:spcPts val="0"/>
              </a:spcBef>
              <a:spcAft>
                <a:spcPts val="0"/>
              </a:spcAft>
              <a:defRPr/>
            </a:pPr>
            <a:r>
              <a:rPr lang="en-GB" dirty="0" err="1"/>
              <a:t>Pikatesti</a:t>
            </a:r>
            <a:r>
              <a:rPr lang="en-GB" dirty="0"/>
              <a:t>: kun </a:t>
            </a:r>
            <a:r>
              <a:rPr lang="en-GB" dirty="0" err="1"/>
              <a:t>tekijät</a:t>
            </a:r>
            <a:r>
              <a:rPr lang="en-GB" dirty="0"/>
              <a:t> </a:t>
            </a:r>
            <a:r>
              <a:rPr lang="en-GB" dirty="0" err="1"/>
              <a:t>ärsyyntyvät</a:t>
            </a:r>
            <a:r>
              <a:rPr lang="en-GB" dirty="0"/>
              <a:t> </a:t>
            </a:r>
            <a:r>
              <a:rPr lang="en-GB" dirty="0" err="1"/>
              <a:t>työhönsä</a:t>
            </a:r>
            <a:r>
              <a:rPr lang="en-GB" dirty="0"/>
              <a:t>, </a:t>
            </a:r>
            <a:r>
              <a:rPr lang="en-GB" dirty="0" err="1"/>
              <a:t>mitä</a:t>
            </a:r>
            <a:r>
              <a:rPr lang="en-GB" dirty="0"/>
              <a:t> </a:t>
            </a:r>
            <a:r>
              <a:rPr lang="en-GB" dirty="0" err="1"/>
              <a:t>tekevät</a:t>
            </a:r>
            <a:r>
              <a:rPr lang="en-GB" dirty="0"/>
              <a:t>:  </a:t>
            </a:r>
            <a:r>
              <a:rPr lang="en-GB" dirty="0" err="1"/>
              <a:t>valittavat</a:t>
            </a:r>
            <a:r>
              <a:rPr lang="en-GB" dirty="0"/>
              <a:t>, </a:t>
            </a:r>
            <a:r>
              <a:rPr lang="en-GB" dirty="0" err="1"/>
              <a:t>ohittavat</a:t>
            </a:r>
            <a:r>
              <a:rPr lang="en-GB" dirty="0"/>
              <a:t> </a:t>
            </a:r>
            <a:r>
              <a:rPr lang="en-GB" dirty="0" err="1"/>
              <a:t>vai</a:t>
            </a:r>
            <a:r>
              <a:rPr lang="en-GB" dirty="0"/>
              <a:t> </a:t>
            </a:r>
            <a:r>
              <a:rPr lang="en-GB" dirty="0" err="1"/>
              <a:t>korjaavat</a:t>
            </a:r>
            <a:r>
              <a:rPr lang="en-GB" dirty="0"/>
              <a:t>?</a:t>
            </a:r>
          </a:p>
        </p:txBody>
      </p:sp>
      <p:pic>
        <p:nvPicPr>
          <p:cNvPr id="35850" name="Picture 2" descr="C:\Documents and Settings\pyhama\My Documents\My Pictures\Microsoft Clip Organizer\j0436163.wmf"/>
          <p:cNvPicPr>
            <a:picLocks noChangeAspect="1" noChangeArrowheads="1"/>
          </p:cNvPicPr>
          <p:nvPr/>
        </p:nvPicPr>
        <p:blipFill>
          <a:blip r:embed="rId3" cstate="print"/>
          <a:srcRect/>
          <a:stretch>
            <a:fillRect/>
          </a:stretch>
        </p:blipFill>
        <p:spPr bwMode="auto">
          <a:xfrm>
            <a:off x="6572250" y="3173413"/>
            <a:ext cx="1841500" cy="1612900"/>
          </a:xfrm>
          <a:prstGeom prst="rect">
            <a:avLst/>
          </a:prstGeom>
          <a:noFill/>
          <a:ln w="9525">
            <a:noFill/>
            <a:miter lim="800000"/>
            <a:headEnd/>
            <a:tailEnd/>
          </a:ln>
        </p:spPr>
      </p:pic>
      <p:pic>
        <p:nvPicPr>
          <p:cNvPr id="35851" name="Picture 3" descr="C:\Documents and Settings\pyhama\My Documents\My Pictures\Microsoft Clip Organizer\in01040_.wmf"/>
          <p:cNvPicPr>
            <a:picLocks noChangeAspect="1" noChangeArrowheads="1"/>
          </p:cNvPicPr>
          <p:nvPr/>
        </p:nvPicPr>
        <p:blipFill>
          <a:blip r:embed="rId4" cstate="print"/>
          <a:srcRect/>
          <a:stretch>
            <a:fillRect/>
          </a:stretch>
        </p:blipFill>
        <p:spPr bwMode="auto">
          <a:xfrm>
            <a:off x="2571750" y="2817813"/>
            <a:ext cx="1714500" cy="1825625"/>
          </a:xfrm>
          <a:prstGeom prst="rect">
            <a:avLst/>
          </a:prstGeom>
          <a:noFill/>
          <a:ln w="9525">
            <a:noFill/>
            <a:miter lim="800000"/>
            <a:headEnd/>
            <a:tailEnd/>
          </a:ln>
        </p:spPr>
      </p:pic>
      <p:pic>
        <p:nvPicPr>
          <p:cNvPr id="35852" name="Picture 4" descr="C:\Documents and Settings\pyhama\My Documents\My Pictures\Microsoft Clip Organizer\tr00012_.wmf"/>
          <p:cNvPicPr>
            <a:picLocks noChangeAspect="1" noChangeArrowheads="1"/>
          </p:cNvPicPr>
          <p:nvPr/>
        </p:nvPicPr>
        <p:blipFill>
          <a:blip r:embed="rId5" cstate="print"/>
          <a:srcRect/>
          <a:stretch>
            <a:fillRect/>
          </a:stretch>
        </p:blipFill>
        <p:spPr bwMode="auto">
          <a:xfrm>
            <a:off x="3000375" y="4714875"/>
            <a:ext cx="1897063" cy="1989138"/>
          </a:xfrm>
          <a:prstGeom prst="rect">
            <a:avLst/>
          </a:prstGeom>
          <a:noFill/>
          <a:ln w="9525">
            <a:noFill/>
            <a:miter lim="800000"/>
            <a:headEnd/>
            <a:tailEnd/>
          </a:ln>
        </p:spPr>
      </p:pic>
      <p:sp>
        <p:nvSpPr>
          <p:cNvPr id="12" name="Oval 11"/>
          <p:cNvSpPr/>
          <p:nvPr/>
        </p:nvSpPr>
        <p:spPr>
          <a:xfrm>
            <a:off x="1143000" y="3000375"/>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a:t>1</a:t>
            </a:r>
            <a:endParaRPr lang="en-US" dirty="0"/>
          </a:p>
        </p:txBody>
      </p:sp>
      <p:sp>
        <p:nvSpPr>
          <p:cNvPr id="13" name="Oval 12"/>
          <p:cNvSpPr/>
          <p:nvPr/>
        </p:nvSpPr>
        <p:spPr>
          <a:xfrm>
            <a:off x="5643563" y="2428875"/>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a:t>2</a:t>
            </a:r>
            <a:endParaRPr lang="en-US" dirty="0"/>
          </a:p>
        </p:txBody>
      </p:sp>
      <p:sp>
        <p:nvSpPr>
          <p:cNvPr id="14" name="Oval 13"/>
          <p:cNvSpPr/>
          <p:nvPr/>
        </p:nvSpPr>
        <p:spPr>
          <a:xfrm>
            <a:off x="1428750" y="4786313"/>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a:t>3</a:t>
            </a:r>
            <a:endParaRPr lang="en-US" dirty="0"/>
          </a:p>
        </p:txBody>
      </p:sp>
      <p:sp>
        <p:nvSpPr>
          <p:cNvPr id="15" name="Slide Number Placeholder 14"/>
          <p:cNvSpPr>
            <a:spLocks noGrp="1"/>
          </p:cNvSpPr>
          <p:nvPr>
            <p:ph type="sldNum" sz="quarter" idx="12"/>
          </p:nvPr>
        </p:nvSpPr>
        <p:spPr/>
        <p:txBody>
          <a:bodyPr/>
          <a:lstStyle/>
          <a:p>
            <a:pPr>
              <a:defRPr/>
            </a:pPr>
            <a:fld id="{FD915DE6-1402-4CE4-A4BA-E009673DC6F8}" type="slidenum">
              <a:rPr lang="sv-SE"/>
              <a:pPr>
                <a:defRPr/>
              </a:pPr>
              <a:t>6</a:t>
            </a:fld>
            <a:endParaRPr lang="sv-SE"/>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smtClean="0"/>
              <a:t>Itseohjautuvan</a:t>
            </a:r>
            <a:r>
              <a:rPr lang="en-GB" dirty="0" smtClean="0"/>
              <a:t> </a:t>
            </a:r>
            <a:r>
              <a:rPr lang="en-GB" dirty="0" err="1" smtClean="0"/>
              <a:t>tiimin</a:t>
            </a:r>
            <a:r>
              <a:rPr lang="en-GB" dirty="0" smtClean="0"/>
              <a:t> </a:t>
            </a:r>
            <a:r>
              <a:rPr lang="en-GB" dirty="0" err="1" smtClean="0"/>
              <a:t>rakentaminen</a:t>
            </a:r>
            <a:r>
              <a:rPr lang="en-GB" dirty="0" smtClean="0"/>
              <a:t> – </a:t>
            </a:r>
            <a:r>
              <a:rPr lang="en-GB" dirty="0" err="1" smtClean="0"/>
              <a:t>myös</a:t>
            </a:r>
            <a:r>
              <a:rPr lang="en-GB" dirty="0" smtClean="0"/>
              <a:t> </a:t>
            </a:r>
            <a:r>
              <a:rPr lang="en-GB" dirty="0" err="1" smtClean="0"/>
              <a:t>testaustaidot</a:t>
            </a:r>
            <a:r>
              <a:rPr lang="en-GB" dirty="0" smtClean="0"/>
              <a:t>!</a:t>
            </a:r>
            <a:endParaRPr lang="en-US" dirty="0"/>
          </a:p>
        </p:txBody>
      </p:sp>
      <p:sp>
        <p:nvSpPr>
          <p:cNvPr id="3" name="Rectangle 2"/>
          <p:cNvSpPr/>
          <p:nvPr/>
        </p:nvSpPr>
        <p:spPr>
          <a:xfrm>
            <a:off x="5867400" y="2828908"/>
            <a:ext cx="3000396" cy="242889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sz="2000" dirty="0" smtClean="0"/>
              <a:t>Scrum master </a:t>
            </a:r>
            <a:r>
              <a:rPr lang="en-GB" sz="2000" dirty="0" err="1" smtClean="0"/>
              <a:t>tukee</a:t>
            </a:r>
            <a:r>
              <a:rPr lang="en-GB" sz="2000" dirty="0" smtClean="0"/>
              <a:t> </a:t>
            </a:r>
            <a:r>
              <a:rPr lang="en-GB" sz="2000" dirty="0" err="1" smtClean="0"/>
              <a:t>prosessissa</a:t>
            </a:r>
            <a:r>
              <a:rPr lang="en-GB" sz="2000" dirty="0" smtClean="0"/>
              <a:t>, </a:t>
            </a:r>
            <a:r>
              <a:rPr lang="en-GB" sz="2000" dirty="0" err="1" smtClean="0"/>
              <a:t>tiimi</a:t>
            </a:r>
            <a:r>
              <a:rPr lang="en-GB" sz="2000" dirty="0" smtClean="0"/>
              <a:t> </a:t>
            </a:r>
            <a:r>
              <a:rPr lang="en-GB" sz="2000" dirty="0" err="1" smtClean="0"/>
              <a:t>tekee</a:t>
            </a:r>
            <a:r>
              <a:rPr lang="en-GB" sz="2000" dirty="0" smtClean="0"/>
              <a:t> </a:t>
            </a:r>
            <a:r>
              <a:rPr lang="en-GB" sz="2000" dirty="0" err="1" smtClean="0"/>
              <a:t>päätökset</a:t>
            </a:r>
            <a:r>
              <a:rPr lang="en-GB" sz="2000" dirty="0" smtClean="0"/>
              <a:t>. </a:t>
            </a:r>
            <a:r>
              <a:rPr lang="en-GB" sz="2000" dirty="0" err="1" smtClean="0"/>
              <a:t>Tukemisen</a:t>
            </a:r>
            <a:r>
              <a:rPr lang="en-GB" sz="2000" dirty="0" smtClean="0"/>
              <a:t> </a:t>
            </a:r>
            <a:r>
              <a:rPr lang="en-GB" sz="2000" dirty="0" err="1" smtClean="0"/>
              <a:t>tapa</a:t>
            </a:r>
            <a:r>
              <a:rPr lang="en-GB" sz="2000" dirty="0" smtClean="0"/>
              <a:t> </a:t>
            </a:r>
            <a:r>
              <a:rPr lang="en-GB" sz="2000" dirty="0" err="1" smtClean="0"/>
              <a:t>ja</a:t>
            </a:r>
            <a:r>
              <a:rPr lang="en-GB" sz="2000" dirty="0" smtClean="0"/>
              <a:t> </a:t>
            </a:r>
            <a:r>
              <a:rPr lang="en-GB" sz="2000" dirty="0" err="1" smtClean="0"/>
              <a:t>aste</a:t>
            </a:r>
            <a:r>
              <a:rPr lang="en-GB" sz="2000" dirty="0" smtClean="0"/>
              <a:t> </a:t>
            </a:r>
            <a:r>
              <a:rPr lang="en-GB" sz="2000" dirty="0" err="1" smtClean="0"/>
              <a:t>riippuu</a:t>
            </a:r>
            <a:r>
              <a:rPr lang="en-GB" sz="2000" dirty="0" smtClean="0"/>
              <a:t> </a:t>
            </a:r>
            <a:r>
              <a:rPr lang="en-GB" sz="2000" dirty="0" err="1" smtClean="0"/>
              <a:t>tiimin</a:t>
            </a:r>
            <a:r>
              <a:rPr lang="en-GB" sz="2000" dirty="0" smtClean="0"/>
              <a:t> </a:t>
            </a:r>
            <a:r>
              <a:rPr lang="en-GB" sz="2000" dirty="0" err="1" smtClean="0"/>
              <a:t>nykyisestä</a:t>
            </a:r>
            <a:r>
              <a:rPr lang="en-GB" sz="2000" dirty="0" smtClean="0"/>
              <a:t> </a:t>
            </a:r>
            <a:r>
              <a:rPr lang="en-GB" sz="2000" dirty="0" err="1" smtClean="0"/>
              <a:t>tilasta</a:t>
            </a:r>
            <a:r>
              <a:rPr lang="en-GB" sz="2000" dirty="0" smtClean="0"/>
              <a:t>. </a:t>
            </a:r>
          </a:p>
        </p:txBody>
      </p:sp>
      <p:sp>
        <p:nvSpPr>
          <p:cNvPr id="9" name="Right Arrow 8"/>
          <p:cNvSpPr/>
          <p:nvPr/>
        </p:nvSpPr>
        <p:spPr>
          <a:xfrm>
            <a:off x="2928926" y="3857627"/>
            <a:ext cx="2071702" cy="857256"/>
          </a:xfrm>
          <a:prstGeom prst="right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GB" b="1" dirty="0" err="1" smtClean="0"/>
              <a:t>Kyvykäs</a:t>
            </a:r>
            <a:endParaRPr lang="en-US" b="1" dirty="0"/>
          </a:p>
        </p:txBody>
      </p:sp>
      <p:sp>
        <p:nvSpPr>
          <p:cNvPr id="10" name="Right Arrow 9"/>
          <p:cNvSpPr/>
          <p:nvPr/>
        </p:nvSpPr>
        <p:spPr>
          <a:xfrm flipH="1">
            <a:off x="642910" y="3857627"/>
            <a:ext cx="2071702" cy="857256"/>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GB" b="1" dirty="0" err="1" smtClean="0"/>
              <a:t>Kyvytön</a:t>
            </a:r>
            <a:endParaRPr lang="en-US" b="1" dirty="0"/>
          </a:p>
        </p:txBody>
      </p:sp>
      <p:sp>
        <p:nvSpPr>
          <p:cNvPr id="11" name="Right Arrow 10"/>
          <p:cNvSpPr/>
          <p:nvPr/>
        </p:nvSpPr>
        <p:spPr>
          <a:xfrm rot="5400000" flipH="1">
            <a:off x="1750199" y="2464586"/>
            <a:ext cx="2071702" cy="857256"/>
          </a:xfrm>
          <a:prstGeom prst="right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GB" b="1" dirty="0" err="1" smtClean="0"/>
              <a:t>Halukas</a:t>
            </a:r>
            <a:endParaRPr lang="en-US" b="1" dirty="0"/>
          </a:p>
        </p:txBody>
      </p:sp>
      <p:sp>
        <p:nvSpPr>
          <p:cNvPr id="12" name="Right Arrow 11"/>
          <p:cNvSpPr/>
          <p:nvPr/>
        </p:nvSpPr>
        <p:spPr>
          <a:xfrm rot="16200000" flipH="1" flipV="1">
            <a:off x="1750199" y="5250669"/>
            <a:ext cx="2071702" cy="857256"/>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GB" b="1" dirty="0" err="1" smtClean="0"/>
              <a:t>Vastahakoinen</a:t>
            </a:r>
            <a:endParaRPr lang="en-US" b="1" dirty="0"/>
          </a:p>
        </p:txBody>
      </p:sp>
      <p:sp>
        <p:nvSpPr>
          <p:cNvPr id="8" name="Slide Number Placeholder 7"/>
          <p:cNvSpPr>
            <a:spLocks noGrp="1"/>
          </p:cNvSpPr>
          <p:nvPr>
            <p:ph type="sldNum" sz="quarter" idx="12"/>
          </p:nvPr>
        </p:nvSpPr>
        <p:spPr/>
        <p:txBody>
          <a:bodyPr/>
          <a:lstStyle/>
          <a:p>
            <a:fld id="{227F0B53-9592-4779-891F-997228E46E01}" type="slidenum">
              <a:rPr lang="sv-SE" smtClean="0"/>
              <a:pPr/>
              <a:t>7</a:t>
            </a:fld>
            <a:endParaRPr lang="sv-SE"/>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8258" name="Rectangle 2"/>
          <p:cNvSpPr>
            <a:spLocks noGrp="1" noChangeArrowheads="1"/>
          </p:cNvSpPr>
          <p:nvPr>
            <p:ph type="title"/>
          </p:nvPr>
        </p:nvSpPr>
        <p:spPr>
          <a:xfrm>
            <a:off x="-32" y="274638"/>
            <a:ext cx="8229600" cy="1143000"/>
          </a:xfrm>
        </p:spPr>
        <p:txBody>
          <a:bodyPr>
            <a:normAutofit fontScale="90000"/>
          </a:bodyPr>
          <a:lstStyle/>
          <a:p>
            <a:pPr fontAlgn="auto">
              <a:spcAft>
                <a:spcPts val="0"/>
              </a:spcAft>
              <a:defRPr/>
            </a:pPr>
            <a:r>
              <a:rPr lang="en-GB" dirty="0" err="1" smtClean="0"/>
              <a:t>Tarvitseeko</a:t>
            </a:r>
            <a:r>
              <a:rPr lang="en-GB" dirty="0" smtClean="0"/>
              <a:t> </a:t>
            </a:r>
            <a:r>
              <a:rPr lang="en-GB" dirty="0" err="1" smtClean="0"/>
              <a:t>ketterä</a:t>
            </a:r>
            <a:r>
              <a:rPr lang="en-GB" dirty="0" smtClean="0"/>
              <a:t> </a:t>
            </a:r>
            <a:r>
              <a:rPr lang="en-GB" dirty="0" err="1" smtClean="0"/>
              <a:t>tiimi</a:t>
            </a:r>
            <a:r>
              <a:rPr lang="en-GB" dirty="0" smtClean="0"/>
              <a:t> </a:t>
            </a:r>
            <a:br>
              <a:rPr lang="en-GB" dirty="0" smtClean="0"/>
            </a:br>
            <a:r>
              <a:rPr lang="en-GB" dirty="0" smtClean="0"/>
              <a:t>“</a:t>
            </a:r>
            <a:r>
              <a:rPr lang="en-GB" dirty="0" err="1" smtClean="0"/>
              <a:t>testaajaa</a:t>
            </a:r>
            <a:r>
              <a:rPr lang="en-GB" dirty="0" smtClean="0"/>
              <a:t>”?</a:t>
            </a:r>
            <a:endParaRPr lang="en-GB" dirty="0"/>
          </a:p>
        </p:txBody>
      </p:sp>
      <p:sp>
        <p:nvSpPr>
          <p:cNvPr id="49154" name="Rectangle 3"/>
          <p:cNvSpPr>
            <a:spLocks noGrp="1" noChangeArrowheads="1"/>
          </p:cNvSpPr>
          <p:nvPr>
            <p:ph type="body" idx="1"/>
          </p:nvPr>
        </p:nvSpPr>
        <p:spPr/>
        <p:txBody>
          <a:bodyPr/>
          <a:lstStyle/>
          <a:p>
            <a:pPr>
              <a:lnSpc>
                <a:spcPct val="110000"/>
              </a:lnSpc>
            </a:pPr>
            <a:r>
              <a:rPr lang="en-GB" sz="1800" dirty="0" err="1" smtClean="0"/>
              <a:t>Usein</a:t>
            </a:r>
            <a:r>
              <a:rPr lang="en-GB" sz="1800" dirty="0" smtClean="0"/>
              <a:t> </a:t>
            </a:r>
            <a:r>
              <a:rPr lang="en-GB" sz="1800" dirty="0" err="1" smtClean="0"/>
              <a:t>puhutaan</a:t>
            </a:r>
            <a:r>
              <a:rPr lang="en-GB" sz="1800" dirty="0" smtClean="0"/>
              <a:t> </a:t>
            </a:r>
            <a:r>
              <a:rPr lang="en-GB" sz="1800" dirty="0" err="1" smtClean="0"/>
              <a:t>että</a:t>
            </a:r>
            <a:r>
              <a:rPr lang="en-GB" sz="1800" dirty="0" smtClean="0"/>
              <a:t> </a:t>
            </a:r>
            <a:r>
              <a:rPr lang="en-GB" sz="1800" dirty="0" err="1" smtClean="0"/>
              <a:t>ketterässä</a:t>
            </a:r>
            <a:r>
              <a:rPr lang="en-GB" sz="1800" dirty="0" smtClean="0"/>
              <a:t> </a:t>
            </a:r>
            <a:r>
              <a:rPr lang="en-GB" sz="1800" dirty="0" err="1" smtClean="0"/>
              <a:t>tiimissä</a:t>
            </a:r>
            <a:r>
              <a:rPr lang="en-GB" sz="1800" dirty="0" smtClean="0"/>
              <a:t> </a:t>
            </a:r>
            <a:r>
              <a:rPr lang="en-GB" sz="1800" dirty="0" err="1" smtClean="0"/>
              <a:t>kaikki</a:t>
            </a:r>
            <a:r>
              <a:rPr lang="en-GB" sz="1800" dirty="0" smtClean="0"/>
              <a:t> </a:t>
            </a:r>
            <a:r>
              <a:rPr lang="en-GB" sz="1800" dirty="0" err="1" smtClean="0"/>
              <a:t>ovat</a:t>
            </a:r>
            <a:r>
              <a:rPr lang="en-GB" sz="1800" dirty="0" smtClean="0"/>
              <a:t> </a:t>
            </a:r>
            <a:r>
              <a:rPr lang="en-GB" sz="1800" dirty="0" err="1" smtClean="0"/>
              <a:t>kehittäjiä</a:t>
            </a:r>
            <a:endParaRPr lang="en-GB" sz="1800" dirty="0" smtClean="0"/>
          </a:p>
          <a:p>
            <a:pPr lvl="1">
              <a:lnSpc>
                <a:spcPct val="110000"/>
              </a:lnSpc>
            </a:pPr>
            <a:r>
              <a:rPr lang="en-GB" sz="1600" dirty="0" err="1" smtClean="0"/>
              <a:t>Kehittäjän</a:t>
            </a:r>
            <a:r>
              <a:rPr lang="en-GB" sz="1600" dirty="0" smtClean="0"/>
              <a:t> </a:t>
            </a:r>
            <a:r>
              <a:rPr lang="en-GB" sz="1600" dirty="0" err="1" smtClean="0"/>
              <a:t>asemesta</a:t>
            </a:r>
            <a:r>
              <a:rPr lang="en-GB" sz="1600" dirty="0" smtClean="0"/>
              <a:t> </a:t>
            </a:r>
            <a:r>
              <a:rPr lang="en-GB" sz="1600" dirty="0" err="1" smtClean="0"/>
              <a:t>sanoisin</a:t>
            </a:r>
            <a:r>
              <a:rPr lang="en-GB" sz="1600" dirty="0" smtClean="0"/>
              <a:t> </a:t>
            </a:r>
            <a:r>
              <a:rPr lang="en-GB" sz="1600" dirty="0" err="1" smtClean="0"/>
              <a:t>mieluummin</a:t>
            </a:r>
            <a:r>
              <a:rPr lang="en-GB" sz="1600" dirty="0" smtClean="0"/>
              <a:t> </a:t>
            </a:r>
            <a:r>
              <a:rPr lang="en-GB" sz="1600" b="1" dirty="0" err="1" smtClean="0"/>
              <a:t>tiimin</a:t>
            </a:r>
            <a:r>
              <a:rPr lang="en-GB" sz="1600" b="1" dirty="0" smtClean="0"/>
              <a:t> </a:t>
            </a:r>
            <a:r>
              <a:rPr lang="en-GB" sz="1600" b="1" dirty="0" err="1" smtClean="0"/>
              <a:t>jäseniä</a:t>
            </a:r>
            <a:endParaRPr lang="en-GB" sz="1600" dirty="0" smtClean="0"/>
          </a:p>
          <a:p>
            <a:pPr lvl="1">
              <a:lnSpc>
                <a:spcPct val="110000"/>
              </a:lnSpc>
            </a:pPr>
            <a:r>
              <a:rPr lang="en-GB" sz="1600" dirty="0" err="1" smtClean="0"/>
              <a:t>Hyvä</a:t>
            </a:r>
            <a:r>
              <a:rPr lang="en-GB" sz="1600" dirty="0" smtClean="0"/>
              <a:t> idea </a:t>
            </a:r>
            <a:r>
              <a:rPr lang="en-GB" sz="1600" dirty="0" err="1" smtClean="0"/>
              <a:t>pyrkiä</a:t>
            </a:r>
            <a:r>
              <a:rPr lang="en-GB" sz="1600" dirty="0" smtClean="0"/>
              <a:t> </a:t>
            </a:r>
            <a:r>
              <a:rPr lang="en-GB" sz="1600" dirty="0" err="1" smtClean="0"/>
              <a:t>sallimaan</a:t>
            </a:r>
            <a:r>
              <a:rPr lang="en-GB" sz="1600" dirty="0" smtClean="0"/>
              <a:t> </a:t>
            </a:r>
            <a:r>
              <a:rPr lang="en-GB" sz="1600" dirty="0" err="1" smtClean="0"/>
              <a:t>ja</a:t>
            </a:r>
            <a:r>
              <a:rPr lang="en-GB" sz="1600" dirty="0" smtClean="0"/>
              <a:t> </a:t>
            </a:r>
            <a:r>
              <a:rPr lang="en-GB" sz="1600" dirty="0" err="1" smtClean="0"/>
              <a:t>mahdollistamaan</a:t>
            </a:r>
            <a:r>
              <a:rPr lang="en-GB" sz="1600" dirty="0" smtClean="0"/>
              <a:t> </a:t>
            </a:r>
            <a:r>
              <a:rPr lang="en-GB" sz="1600" dirty="0" err="1" smtClean="0"/>
              <a:t>osallistuminen</a:t>
            </a:r>
            <a:r>
              <a:rPr lang="en-GB" sz="1600" dirty="0" smtClean="0"/>
              <a:t> </a:t>
            </a:r>
            <a:r>
              <a:rPr lang="en-GB" sz="1600" dirty="0" err="1" smtClean="0"/>
              <a:t>kaikenlaiseen</a:t>
            </a:r>
            <a:r>
              <a:rPr lang="en-GB" sz="1600" dirty="0" smtClean="0"/>
              <a:t> </a:t>
            </a:r>
            <a:r>
              <a:rPr lang="en-GB" sz="1600" dirty="0" err="1" smtClean="0"/>
              <a:t>aktiviteettiin</a:t>
            </a:r>
            <a:r>
              <a:rPr lang="en-GB" sz="1600" dirty="0" smtClean="0"/>
              <a:t> </a:t>
            </a:r>
            <a:r>
              <a:rPr lang="en-GB" sz="1600" dirty="0" err="1" smtClean="0"/>
              <a:t>oman</a:t>
            </a:r>
            <a:r>
              <a:rPr lang="en-GB" sz="1600" dirty="0" smtClean="0"/>
              <a:t> </a:t>
            </a:r>
            <a:r>
              <a:rPr lang="en-GB" sz="1600" dirty="0" err="1" smtClean="0"/>
              <a:t>osaamisen</a:t>
            </a:r>
            <a:r>
              <a:rPr lang="en-GB" sz="1600" dirty="0" smtClean="0"/>
              <a:t> </a:t>
            </a:r>
            <a:r>
              <a:rPr lang="en-GB" sz="1600" dirty="0" err="1" smtClean="0"/>
              <a:t>rajoissa</a:t>
            </a:r>
            <a:endParaRPr lang="en-GB" sz="1600" dirty="0" smtClean="0"/>
          </a:p>
          <a:p>
            <a:pPr lvl="1">
              <a:lnSpc>
                <a:spcPct val="110000"/>
              </a:lnSpc>
            </a:pPr>
            <a:r>
              <a:rPr lang="en-GB" sz="1600" dirty="0" err="1" smtClean="0"/>
              <a:t>Liian</a:t>
            </a:r>
            <a:r>
              <a:rPr lang="en-GB" sz="1600" dirty="0" smtClean="0"/>
              <a:t> </a:t>
            </a:r>
            <a:r>
              <a:rPr lang="en-GB" sz="1600" dirty="0" err="1" smtClean="0"/>
              <a:t>suuri</a:t>
            </a:r>
            <a:r>
              <a:rPr lang="en-GB" sz="1600" dirty="0" smtClean="0"/>
              <a:t> </a:t>
            </a:r>
            <a:r>
              <a:rPr lang="en-GB" sz="1600" dirty="0" err="1" smtClean="0"/>
              <a:t>osaamisten</a:t>
            </a:r>
            <a:r>
              <a:rPr lang="en-GB" sz="1600" dirty="0" smtClean="0"/>
              <a:t> </a:t>
            </a:r>
            <a:r>
              <a:rPr lang="en-GB" sz="1600" dirty="0" err="1" smtClean="0"/>
              <a:t>erottelu</a:t>
            </a:r>
            <a:r>
              <a:rPr lang="en-GB" sz="1600" dirty="0" smtClean="0"/>
              <a:t> </a:t>
            </a:r>
            <a:r>
              <a:rPr lang="en-GB" sz="1600" dirty="0" err="1" smtClean="0"/>
              <a:t>muodostuu</a:t>
            </a:r>
            <a:r>
              <a:rPr lang="en-GB" sz="1600" dirty="0" smtClean="0"/>
              <a:t> </a:t>
            </a:r>
            <a:r>
              <a:rPr lang="en-GB" sz="1600" dirty="0" err="1" smtClean="0"/>
              <a:t>etenemisen</a:t>
            </a:r>
            <a:r>
              <a:rPr lang="en-GB" sz="1600" dirty="0" smtClean="0"/>
              <a:t> </a:t>
            </a:r>
            <a:r>
              <a:rPr lang="en-GB" sz="1600" dirty="0" err="1" smtClean="0"/>
              <a:t>esteeksi</a:t>
            </a:r>
            <a:r>
              <a:rPr lang="en-GB" sz="1600" dirty="0" smtClean="0"/>
              <a:t>, </a:t>
            </a:r>
            <a:r>
              <a:rPr lang="en-GB" sz="1600" dirty="0" err="1" smtClean="0"/>
              <a:t>odotetaan</a:t>
            </a:r>
            <a:r>
              <a:rPr lang="en-GB" sz="1600" dirty="0" smtClean="0"/>
              <a:t> </a:t>
            </a:r>
            <a:r>
              <a:rPr lang="en-GB" sz="1600" dirty="0" err="1" smtClean="0"/>
              <a:t>porukalla</a:t>
            </a:r>
            <a:r>
              <a:rPr lang="en-GB" sz="1600" dirty="0" smtClean="0"/>
              <a:t> </a:t>
            </a:r>
            <a:r>
              <a:rPr lang="en-GB" sz="1600" dirty="0" err="1" smtClean="0"/>
              <a:t>yksilöä</a:t>
            </a:r>
            <a:endParaRPr lang="en-GB" sz="1600" dirty="0" smtClean="0"/>
          </a:p>
          <a:p>
            <a:pPr lvl="1">
              <a:lnSpc>
                <a:spcPct val="110000"/>
              </a:lnSpc>
            </a:pPr>
            <a:r>
              <a:rPr lang="en-GB" sz="1600" dirty="0" err="1" smtClean="0"/>
              <a:t>Itse</a:t>
            </a:r>
            <a:r>
              <a:rPr lang="en-GB" sz="1600" dirty="0" smtClean="0"/>
              <a:t> </a:t>
            </a:r>
            <a:r>
              <a:rPr lang="en-GB" sz="1600" dirty="0" err="1" smtClean="0"/>
              <a:t>uskon</a:t>
            </a:r>
            <a:r>
              <a:rPr lang="en-GB" sz="1600" dirty="0" smtClean="0"/>
              <a:t> </a:t>
            </a:r>
            <a:r>
              <a:rPr lang="en-GB" sz="1600" dirty="0" err="1" smtClean="0"/>
              <a:t>että</a:t>
            </a:r>
            <a:r>
              <a:rPr lang="en-GB" sz="1600" dirty="0" smtClean="0"/>
              <a:t> </a:t>
            </a:r>
            <a:r>
              <a:rPr lang="en-GB" sz="1600" dirty="0" err="1" smtClean="0"/>
              <a:t>jos</a:t>
            </a:r>
            <a:r>
              <a:rPr lang="en-GB" sz="1600" dirty="0" smtClean="0"/>
              <a:t> </a:t>
            </a:r>
            <a:r>
              <a:rPr lang="en-GB" sz="1600" dirty="0" err="1" smtClean="0"/>
              <a:t>yrittää</a:t>
            </a:r>
            <a:r>
              <a:rPr lang="en-GB" sz="1600" dirty="0" smtClean="0"/>
              <a:t> </a:t>
            </a:r>
            <a:r>
              <a:rPr lang="en-GB" sz="1600" dirty="0" err="1" smtClean="0"/>
              <a:t>osata</a:t>
            </a:r>
            <a:r>
              <a:rPr lang="en-GB" sz="1600" dirty="0" smtClean="0"/>
              <a:t> </a:t>
            </a:r>
            <a:r>
              <a:rPr lang="en-GB" sz="1600" dirty="0" err="1" smtClean="0"/>
              <a:t>kaikkea</a:t>
            </a:r>
            <a:r>
              <a:rPr lang="en-GB" sz="1600" dirty="0" smtClean="0"/>
              <a:t>, </a:t>
            </a:r>
            <a:r>
              <a:rPr lang="en-GB" sz="1600" dirty="0" err="1" smtClean="0"/>
              <a:t>ei</a:t>
            </a:r>
            <a:r>
              <a:rPr lang="en-GB" sz="1600" dirty="0" smtClean="0"/>
              <a:t> ole </a:t>
            </a:r>
            <a:r>
              <a:rPr lang="en-GB" sz="1600" dirty="0" err="1" smtClean="0"/>
              <a:t>hyvä</a:t>
            </a:r>
            <a:r>
              <a:rPr lang="en-GB" sz="1600" dirty="0" smtClean="0"/>
              <a:t> </a:t>
            </a:r>
            <a:r>
              <a:rPr lang="en-GB" sz="1600" dirty="0" err="1" smtClean="0"/>
              <a:t>missään</a:t>
            </a:r>
            <a:r>
              <a:rPr lang="en-GB" sz="1600" dirty="0" smtClean="0"/>
              <a:t> – </a:t>
            </a:r>
            <a:r>
              <a:rPr lang="en-GB" sz="1600" dirty="0" err="1" smtClean="0"/>
              <a:t>liikaa</a:t>
            </a:r>
            <a:r>
              <a:rPr lang="en-GB" sz="1600" dirty="0" smtClean="0"/>
              <a:t> </a:t>
            </a:r>
            <a:r>
              <a:rPr lang="en-GB" sz="1600" dirty="0" err="1" smtClean="0"/>
              <a:t>osattavaa</a:t>
            </a:r>
            <a:r>
              <a:rPr lang="en-GB" sz="1600" dirty="0" smtClean="0"/>
              <a:t>. </a:t>
            </a:r>
            <a:r>
              <a:rPr lang="en-GB" sz="1600" dirty="0" err="1" smtClean="0"/>
              <a:t>Valintoja</a:t>
            </a:r>
            <a:r>
              <a:rPr lang="en-GB" sz="1600" dirty="0" smtClean="0"/>
              <a:t> </a:t>
            </a:r>
            <a:r>
              <a:rPr lang="en-GB" sz="1600" dirty="0" err="1" smtClean="0"/>
              <a:t>tarvitaan</a:t>
            </a:r>
            <a:r>
              <a:rPr lang="en-GB" sz="1600" dirty="0" smtClean="0"/>
              <a:t>. </a:t>
            </a:r>
          </a:p>
          <a:p>
            <a:pPr lvl="1">
              <a:lnSpc>
                <a:spcPct val="110000"/>
              </a:lnSpc>
            </a:pPr>
            <a:r>
              <a:rPr lang="en-GB" sz="1600" dirty="0" err="1" smtClean="0"/>
              <a:t>Kehitys-testaus</a:t>
            </a:r>
            <a:r>
              <a:rPr lang="en-GB" sz="1600" dirty="0" smtClean="0"/>
              <a:t> </a:t>
            </a:r>
            <a:r>
              <a:rPr lang="en-GB" sz="1600" dirty="0" err="1" smtClean="0"/>
              <a:t>hattujen</a:t>
            </a:r>
            <a:r>
              <a:rPr lang="en-GB" sz="1600" dirty="0" smtClean="0"/>
              <a:t> </a:t>
            </a:r>
            <a:r>
              <a:rPr lang="en-GB" sz="1600" dirty="0" err="1" smtClean="0"/>
              <a:t>vaihto</a:t>
            </a:r>
            <a:r>
              <a:rPr lang="en-GB" sz="1600" dirty="0" smtClean="0"/>
              <a:t> </a:t>
            </a:r>
            <a:r>
              <a:rPr lang="en-GB" sz="1600" dirty="0" err="1" smtClean="0"/>
              <a:t>vaatii</a:t>
            </a:r>
            <a:r>
              <a:rPr lang="en-GB" sz="1600" dirty="0" smtClean="0"/>
              <a:t> </a:t>
            </a:r>
            <a:r>
              <a:rPr lang="en-GB" sz="1600" dirty="0" err="1" smtClean="0"/>
              <a:t>erotusta</a:t>
            </a:r>
            <a:r>
              <a:rPr lang="en-GB" sz="1600" dirty="0" smtClean="0"/>
              <a:t> </a:t>
            </a:r>
            <a:r>
              <a:rPr lang="en-GB" sz="1600" dirty="0" err="1" smtClean="0"/>
              <a:t>kalenterissa</a:t>
            </a:r>
            <a:r>
              <a:rPr lang="en-GB" sz="1600" dirty="0" smtClean="0"/>
              <a:t> </a:t>
            </a:r>
            <a:r>
              <a:rPr lang="en-GB" sz="1600" dirty="0" err="1" smtClean="0"/>
              <a:t>ja</a:t>
            </a:r>
            <a:r>
              <a:rPr lang="en-GB" sz="1600" dirty="0" smtClean="0"/>
              <a:t> </a:t>
            </a:r>
            <a:r>
              <a:rPr lang="en-GB" sz="1600" dirty="0" err="1" smtClean="0"/>
              <a:t>aktiivista</a:t>
            </a:r>
            <a:r>
              <a:rPr lang="en-GB" sz="1600" dirty="0" smtClean="0"/>
              <a:t> </a:t>
            </a:r>
            <a:r>
              <a:rPr lang="en-GB" sz="1600" dirty="0" err="1" smtClean="0"/>
              <a:t>ajattelua</a:t>
            </a:r>
            <a:r>
              <a:rPr lang="en-GB" sz="1600" dirty="0" smtClean="0"/>
              <a:t>, </a:t>
            </a:r>
            <a:r>
              <a:rPr lang="en-GB" sz="1600" dirty="0" err="1" smtClean="0"/>
              <a:t>vaikka</a:t>
            </a:r>
            <a:r>
              <a:rPr lang="en-GB" sz="1600" dirty="0" smtClean="0"/>
              <a:t> </a:t>
            </a:r>
            <a:r>
              <a:rPr lang="en-GB" sz="1600" dirty="0" err="1" smtClean="0"/>
              <a:t>onkin</a:t>
            </a:r>
            <a:r>
              <a:rPr lang="en-GB" sz="1600" dirty="0" smtClean="0"/>
              <a:t> </a:t>
            </a:r>
            <a:r>
              <a:rPr lang="en-GB" sz="1600" dirty="0" err="1" smtClean="0"/>
              <a:t>varsin</a:t>
            </a:r>
            <a:r>
              <a:rPr lang="en-GB" sz="1600" dirty="0" smtClean="0"/>
              <a:t> </a:t>
            </a:r>
            <a:r>
              <a:rPr lang="en-GB" sz="1600" dirty="0" err="1" smtClean="0"/>
              <a:t>mahdollista</a:t>
            </a:r>
            <a:endParaRPr lang="en-GB" sz="1600" dirty="0" smtClean="0"/>
          </a:p>
          <a:p>
            <a:pPr>
              <a:lnSpc>
                <a:spcPct val="110000"/>
              </a:lnSpc>
            </a:pPr>
            <a:r>
              <a:rPr lang="en-GB" sz="1800" dirty="0" err="1" smtClean="0"/>
              <a:t>Ajattele</a:t>
            </a:r>
            <a:r>
              <a:rPr lang="en-GB" sz="1800" dirty="0" smtClean="0"/>
              <a:t> </a:t>
            </a:r>
            <a:r>
              <a:rPr lang="en-GB" sz="1800" dirty="0" err="1" smtClean="0"/>
              <a:t>ryhmätyötä</a:t>
            </a:r>
            <a:r>
              <a:rPr lang="en-GB" sz="1800" dirty="0" smtClean="0"/>
              <a:t> </a:t>
            </a:r>
            <a:r>
              <a:rPr lang="en-GB" sz="1800" dirty="0" err="1" smtClean="0"/>
              <a:t>yleensäkin</a:t>
            </a:r>
            <a:r>
              <a:rPr lang="en-GB" sz="1800" dirty="0" smtClean="0"/>
              <a:t>, </a:t>
            </a:r>
            <a:r>
              <a:rPr lang="en-GB" sz="1800" dirty="0" err="1" smtClean="0"/>
              <a:t>ei</a:t>
            </a:r>
            <a:r>
              <a:rPr lang="en-GB" sz="1800" dirty="0" smtClean="0"/>
              <a:t> vain </a:t>
            </a:r>
            <a:r>
              <a:rPr lang="en-GB" sz="1800" dirty="0" err="1" smtClean="0"/>
              <a:t>testaajan</a:t>
            </a:r>
            <a:r>
              <a:rPr lang="en-GB" sz="1800" dirty="0" smtClean="0"/>
              <a:t> </a:t>
            </a:r>
            <a:r>
              <a:rPr lang="en-GB" sz="1800" dirty="0" err="1" smtClean="0"/>
              <a:t>roolia</a:t>
            </a:r>
            <a:endParaRPr lang="en-GB" sz="1800" dirty="0" smtClean="0"/>
          </a:p>
          <a:p>
            <a:pPr lvl="1">
              <a:lnSpc>
                <a:spcPct val="110000"/>
              </a:lnSpc>
            </a:pPr>
            <a:r>
              <a:rPr lang="en-GB" sz="1600" dirty="0" err="1" smtClean="0"/>
              <a:t>Yhden</a:t>
            </a:r>
            <a:r>
              <a:rPr lang="en-GB" sz="1600" dirty="0" smtClean="0"/>
              <a:t> </a:t>
            </a:r>
            <a:r>
              <a:rPr lang="en-GB" sz="1600" dirty="0" err="1" smtClean="0"/>
              <a:t>ihmisen</a:t>
            </a:r>
            <a:r>
              <a:rPr lang="en-GB" sz="1600" dirty="0" smtClean="0"/>
              <a:t> </a:t>
            </a:r>
            <a:r>
              <a:rPr lang="en-GB" sz="1600" dirty="0" err="1" smtClean="0"/>
              <a:t>ryhmä</a:t>
            </a:r>
            <a:r>
              <a:rPr lang="en-GB" sz="1600" dirty="0" smtClean="0"/>
              <a:t>: </a:t>
            </a:r>
            <a:r>
              <a:rPr lang="en-GB" sz="1600" dirty="0" err="1" smtClean="0"/>
              <a:t>pienempi</a:t>
            </a:r>
            <a:r>
              <a:rPr lang="en-GB" sz="1600" dirty="0" smtClean="0"/>
              <a:t> </a:t>
            </a:r>
            <a:r>
              <a:rPr lang="en-GB" sz="1600" dirty="0" err="1" smtClean="0"/>
              <a:t>kokonaistyömäärä</a:t>
            </a:r>
            <a:r>
              <a:rPr lang="en-GB" sz="1600" dirty="0" smtClean="0"/>
              <a:t>, </a:t>
            </a:r>
            <a:r>
              <a:rPr lang="en-GB" sz="1600" dirty="0" err="1" smtClean="0"/>
              <a:t>pidempi</a:t>
            </a:r>
            <a:r>
              <a:rPr lang="en-GB" sz="1600" dirty="0" smtClean="0"/>
              <a:t> </a:t>
            </a:r>
            <a:r>
              <a:rPr lang="en-GB" sz="1600" dirty="0" err="1" smtClean="0"/>
              <a:t>kesto</a:t>
            </a:r>
            <a:endParaRPr lang="en-GB" sz="1600" dirty="0" smtClean="0"/>
          </a:p>
          <a:p>
            <a:pPr lvl="1">
              <a:lnSpc>
                <a:spcPct val="110000"/>
              </a:lnSpc>
            </a:pPr>
            <a:r>
              <a:rPr lang="en-GB" sz="1600" dirty="0" err="1" smtClean="0"/>
              <a:t>Tiimi</a:t>
            </a:r>
            <a:r>
              <a:rPr lang="en-GB" sz="1600" dirty="0" smtClean="0"/>
              <a:t> </a:t>
            </a:r>
            <a:r>
              <a:rPr lang="en-GB" sz="1600" dirty="0" err="1" smtClean="0"/>
              <a:t>tekemässä</a:t>
            </a:r>
            <a:r>
              <a:rPr lang="en-GB" sz="1600" dirty="0" smtClean="0"/>
              <a:t>: </a:t>
            </a:r>
            <a:r>
              <a:rPr lang="en-GB" sz="1600" dirty="0" err="1" smtClean="0"/>
              <a:t>suurempi</a:t>
            </a:r>
            <a:r>
              <a:rPr lang="en-GB" sz="1600" dirty="0" smtClean="0"/>
              <a:t> </a:t>
            </a:r>
            <a:r>
              <a:rPr lang="en-GB" sz="1600" dirty="0" err="1" smtClean="0"/>
              <a:t>työmäärä</a:t>
            </a:r>
            <a:r>
              <a:rPr lang="en-GB" sz="1600" dirty="0" smtClean="0"/>
              <a:t>, </a:t>
            </a:r>
            <a:r>
              <a:rPr lang="en-GB" sz="1600" dirty="0" err="1" smtClean="0"/>
              <a:t>lyhyempi</a:t>
            </a:r>
            <a:r>
              <a:rPr lang="en-GB" sz="1600" dirty="0" smtClean="0"/>
              <a:t> </a:t>
            </a:r>
            <a:r>
              <a:rPr lang="en-GB" sz="1600" dirty="0" err="1" smtClean="0"/>
              <a:t>kesto</a:t>
            </a:r>
            <a:r>
              <a:rPr lang="en-GB" sz="1600" dirty="0" smtClean="0"/>
              <a:t>, </a:t>
            </a:r>
            <a:r>
              <a:rPr lang="en-GB" sz="1600" dirty="0" err="1" smtClean="0"/>
              <a:t>mahdollisia</a:t>
            </a:r>
            <a:r>
              <a:rPr lang="en-GB" sz="1600" dirty="0" smtClean="0"/>
              <a:t> </a:t>
            </a:r>
            <a:r>
              <a:rPr lang="en-GB" sz="1600" dirty="0" err="1" smtClean="0"/>
              <a:t>etuja</a:t>
            </a:r>
            <a:r>
              <a:rPr lang="en-GB" sz="1600" dirty="0" smtClean="0"/>
              <a:t> </a:t>
            </a:r>
            <a:r>
              <a:rPr lang="en-GB" sz="1600" dirty="0" err="1" smtClean="0"/>
              <a:t>osaamisissa</a:t>
            </a:r>
            <a:r>
              <a:rPr lang="en-GB" sz="1600" dirty="0" smtClean="0"/>
              <a:t> – </a:t>
            </a:r>
            <a:r>
              <a:rPr lang="en-GB" sz="1600" dirty="0" err="1" smtClean="0"/>
              <a:t>jotkut</a:t>
            </a:r>
            <a:r>
              <a:rPr lang="en-GB" sz="1600" dirty="0" smtClean="0"/>
              <a:t> </a:t>
            </a:r>
            <a:r>
              <a:rPr lang="en-GB" sz="1600" dirty="0" err="1" smtClean="0"/>
              <a:t>tehokkaampia</a:t>
            </a:r>
            <a:r>
              <a:rPr lang="en-GB" sz="1600" dirty="0" smtClean="0"/>
              <a:t> </a:t>
            </a:r>
            <a:r>
              <a:rPr lang="en-GB" sz="1600" dirty="0" err="1" smtClean="0"/>
              <a:t>joissain</a:t>
            </a:r>
            <a:r>
              <a:rPr lang="en-GB" sz="1600" dirty="0" smtClean="0"/>
              <a:t> </a:t>
            </a:r>
            <a:r>
              <a:rPr lang="en-GB" sz="1600" dirty="0" err="1" smtClean="0"/>
              <a:t>asioissa</a:t>
            </a:r>
            <a:r>
              <a:rPr lang="en-GB" sz="1600" dirty="0" smtClean="0"/>
              <a:t>. </a:t>
            </a:r>
          </a:p>
        </p:txBody>
      </p:sp>
      <p:sp>
        <p:nvSpPr>
          <p:cNvPr id="1248260" name="Rectangle 4"/>
          <p:cNvSpPr>
            <a:spLocks noChangeArrowheads="1"/>
          </p:cNvSpPr>
          <p:nvPr/>
        </p:nvSpPr>
        <p:spPr bwMode="auto">
          <a:xfrm>
            <a:off x="6781800" y="609600"/>
            <a:ext cx="2209800" cy="990600"/>
          </a:xfrm>
          <a:prstGeom prst="rect">
            <a:avLst/>
          </a:prstGeom>
          <a:solidFill>
            <a:schemeClr val="bg1"/>
          </a:solidFill>
          <a:ln w="12700">
            <a:solidFill>
              <a:schemeClr val="accent2"/>
            </a:solidFill>
            <a:miter lim="800000"/>
            <a:headEnd/>
            <a:tailEnd/>
          </a:ln>
          <a:effectLst>
            <a:outerShdw dist="107763" dir="18900000" algn="ctr" rotWithShape="0">
              <a:schemeClr val="bg2"/>
            </a:outerShdw>
          </a:effectLst>
        </p:spPr>
        <p:txBody>
          <a:bodyPr lIns="90000" tIns="46800" rIns="90000" bIns="46800" anchor="ctr"/>
          <a:lstStyle/>
          <a:p>
            <a:pPr algn="ctr" fontAlgn="auto">
              <a:spcBef>
                <a:spcPts val="0"/>
              </a:spcBef>
              <a:spcAft>
                <a:spcPts val="0"/>
              </a:spcAft>
              <a:defRPr/>
            </a:pPr>
            <a:r>
              <a:rPr lang="en-GB" sz="1600" b="1" dirty="0" err="1">
                <a:latin typeface="Arial" pitchFamily="34" charset="0"/>
              </a:rPr>
              <a:t>Mieti</a:t>
            </a:r>
            <a:r>
              <a:rPr lang="en-GB" sz="1600" b="1" dirty="0">
                <a:latin typeface="Arial" pitchFamily="34" charset="0"/>
              </a:rPr>
              <a:t> </a:t>
            </a:r>
            <a:r>
              <a:rPr lang="en-GB" sz="1600" b="1" dirty="0" err="1">
                <a:latin typeface="Arial" pitchFamily="34" charset="0"/>
              </a:rPr>
              <a:t>mitä</a:t>
            </a:r>
            <a:r>
              <a:rPr lang="en-GB" sz="1600" b="1" dirty="0">
                <a:latin typeface="Arial" pitchFamily="34" charset="0"/>
              </a:rPr>
              <a:t> </a:t>
            </a:r>
            <a:r>
              <a:rPr lang="en-GB" sz="1600" b="1" dirty="0" err="1">
                <a:latin typeface="Arial" pitchFamily="34" charset="0"/>
              </a:rPr>
              <a:t>palveluja</a:t>
            </a:r>
            <a:r>
              <a:rPr lang="en-GB" sz="1600" b="1" dirty="0">
                <a:latin typeface="Arial" pitchFamily="34" charset="0"/>
              </a:rPr>
              <a:t> </a:t>
            </a:r>
            <a:r>
              <a:rPr lang="en-GB" sz="1600" b="1" dirty="0" err="1">
                <a:latin typeface="Arial" pitchFamily="34" charset="0"/>
              </a:rPr>
              <a:t>sisällytämme</a:t>
            </a:r>
            <a:r>
              <a:rPr lang="en-GB" sz="1600" b="1" dirty="0">
                <a:latin typeface="Arial" pitchFamily="34" charset="0"/>
              </a:rPr>
              <a:t> </a:t>
            </a:r>
            <a:r>
              <a:rPr lang="en-GB" sz="1600" b="1" dirty="0" err="1">
                <a:latin typeface="Arial" pitchFamily="34" charset="0"/>
              </a:rPr>
              <a:t>sanaan</a:t>
            </a:r>
            <a:r>
              <a:rPr lang="en-GB" sz="1600" b="1" dirty="0">
                <a:latin typeface="Arial" pitchFamily="34" charset="0"/>
              </a:rPr>
              <a:t> </a:t>
            </a:r>
            <a:r>
              <a:rPr lang="en-GB" sz="1600" b="1" i="1" dirty="0" err="1">
                <a:latin typeface="Arial" pitchFamily="34" charset="0"/>
              </a:rPr>
              <a:t>testaus</a:t>
            </a:r>
            <a:r>
              <a:rPr lang="en-GB" sz="1600" b="1" i="1" dirty="0">
                <a:latin typeface="Arial" pitchFamily="34" charset="0"/>
              </a:rPr>
              <a:t>. </a:t>
            </a:r>
          </a:p>
        </p:txBody>
      </p:sp>
      <p:sp>
        <p:nvSpPr>
          <p:cNvPr id="5" name="Slide Number Placeholder 4"/>
          <p:cNvSpPr>
            <a:spLocks noGrp="1"/>
          </p:cNvSpPr>
          <p:nvPr>
            <p:ph type="sldNum" sz="quarter" idx="12"/>
          </p:nvPr>
        </p:nvSpPr>
        <p:spPr/>
        <p:txBody>
          <a:bodyPr/>
          <a:lstStyle/>
          <a:p>
            <a:pPr>
              <a:defRPr/>
            </a:pPr>
            <a:fld id="{493527B3-9C9F-4970-B061-17329889DA6E}" type="slidenum">
              <a:rPr lang="sv-SE"/>
              <a:pPr>
                <a:defRPr/>
              </a:pPr>
              <a:t>8</a:t>
            </a:fld>
            <a:endParaRPr lang="sv-SE"/>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Testaukseen erikoistuneiden testaajien hyvät puolet</a:t>
            </a:r>
            <a:endParaRPr lang="fi-FI" dirty="0"/>
          </a:p>
        </p:txBody>
      </p:sp>
      <p:sp>
        <p:nvSpPr>
          <p:cNvPr id="3" name="Content Placeholder 2"/>
          <p:cNvSpPr>
            <a:spLocks noGrp="1"/>
          </p:cNvSpPr>
          <p:nvPr>
            <p:ph idx="1"/>
          </p:nvPr>
        </p:nvSpPr>
        <p:spPr/>
        <p:txBody>
          <a:bodyPr/>
          <a:lstStyle/>
          <a:p>
            <a:r>
              <a:rPr lang="fi-FI" dirty="0" smtClean="0"/>
              <a:t>Keskittyminen asiakkaan ja käyttäjän käyttöön sekä eri osallisten tarpeisiin yli teknisen toteutuksen</a:t>
            </a:r>
          </a:p>
          <a:p>
            <a:r>
              <a:rPr lang="fi-FI" dirty="0" smtClean="0"/>
              <a:t>Keskittyminen virheiden paljastamiseen valmiuden vahvistamisen asemesta</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6" name="TextBox 5"/>
          <p:cNvSpPr txBox="1"/>
          <p:nvPr/>
        </p:nvSpPr>
        <p:spPr>
          <a:xfrm>
            <a:off x="2286000" y="4356318"/>
            <a:ext cx="4495800" cy="2246769"/>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fi-FI" sz="2800" dirty="0" smtClean="0"/>
              <a:t>Projektityö sisältää jatkuvia kompromissejä. Toimituksen onnistumiselle keskeisten näkökulmien ohittaminen ei ole haluttu kompromissi. </a:t>
            </a:r>
            <a:endParaRPr lang="fi-FI" sz="28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7634" name="Rectangle 2"/>
          <p:cNvSpPr>
            <a:spLocks noGrp="1" noChangeArrowheads="1"/>
          </p:cNvSpPr>
          <p:nvPr>
            <p:ph type="title"/>
          </p:nvPr>
        </p:nvSpPr>
        <p:spPr/>
        <p:txBody>
          <a:bodyPr>
            <a:normAutofit fontScale="90000"/>
          </a:bodyPr>
          <a:lstStyle/>
          <a:p>
            <a:r>
              <a:rPr lang="en-US" dirty="0" err="1" smtClean="0"/>
              <a:t>Testauksen</a:t>
            </a:r>
            <a:r>
              <a:rPr lang="en-US" dirty="0" smtClean="0"/>
              <a:t> vs. </a:t>
            </a:r>
            <a:r>
              <a:rPr lang="en-US" dirty="0" err="1" smtClean="0"/>
              <a:t>kehityksen</a:t>
            </a:r>
            <a:r>
              <a:rPr lang="en-US" dirty="0" smtClean="0"/>
              <a:t> </a:t>
            </a:r>
            <a:r>
              <a:rPr lang="en-US" dirty="0" err="1" smtClean="0"/>
              <a:t>keskeiset</a:t>
            </a:r>
            <a:r>
              <a:rPr lang="en-US" dirty="0" smtClean="0"/>
              <a:t> </a:t>
            </a:r>
            <a:r>
              <a:rPr lang="en-US" dirty="0" err="1" smtClean="0"/>
              <a:t>taidot</a:t>
            </a:r>
            <a:endParaRPr lang="en-US" dirty="0"/>
          </a:p>
        </p:txBody>
      </p:sp>
      <p:grpSp>
        <p:nvGrpSpPr>
          <p:cNvPr id="2" name="Group 3"/>
          <p:cNvGrpSpPr>
            <a:grpSpLocks/>
          </p:cNvGrpSpPr>
          <p:nvPr/>
        </p:nvGrpSpPr>
        <p:grpSpPr bwMode="auto">
          <a:xfrm>
            <a:off x="287338" y="2295544"/>
            <a:ext cx="4356100" cy="3776662"/>
            <a:chOff x="1248" y="960"/>
            <a:chExt cx="3072" cy="2592"/>
          </a:xfrm>
        </p:grpSpPr>
        <p:sp>
          <p:nvSpPr>
            <p:cNvPr id="1477636" name="AutoShape 4"/>
            <p:cNvSpPr>
              <a:spLocks noChangeArrowheads="1"/>
            </p:cNvSpPr>
            <p:nvPr/>
          </p:nvSpPr>
          <p:spPr bwMode="auto">
            <a:xfrm>
              <a:off x="1248" y="2256"/>
              <a:ext cx="1536" cy="1296"/>
            </a:xfrm>
            <a:prstGeom prst="flowChartExtract">
              <a:avLst/>
            </a:prstGeom>
            <a:solidFill>
              <a:schemeClr val="accent1"/>
            </a:solidFill>
            <a:ln w="9525">
              <a:noFill/>
              <a:miter lim="800000"/>
              <a:headEnd/>
              <a:tailEnd/>
            </a:ln>
            <a:effectLst/>
          </p:spPr>
          <p:txBody>
            <a:bodyPr wrap="none" anchor="ctr"/>
            <a:lstStyle/>
            <a:p>
              <a:pPr algn="ctr"/>
              <a:r>
                <a:rPr lang="fi-FI" sz="1400" b="1" dirty="0" smtClean="0">
                  <a:solidFill>
                    <a:schemeClr val="bg1"/>
                  </a:solidFill>
                  <a:latin typeface="Arial" charset="0"/>
                </a:rPr>
                <a:t>Sovellusalue</a:t>
              </a:r>
              <a:endParaRPr lang="en-US" sz="1400" b="1" dirty="0">
                <a:solidFill>
                  <a:schemeClr val="bg1"/>
                </a:solidFill>
                <a:latin typeface="Arial" charset="0"/>
              </a:endParaRPr>
            </a:p>
            <a:p>
              <a:pPr algn="ctr" eaLnBrk="1" hangingPunct="1"/>
              <a:endParaRPr lang="en-GB" sz="1400" b="1" dirty="0">
                <a:solidFill>
                  <a:schemeClr val="bg1"/>
                </a:solidFill>
                <a:latin typeface="Arial" charset="0"/>
              </a:endParaRPr>
            </a:p>
          </p:txBody>
        </p:sp>
        <p:sp>
          <p:nvSpPr>
            <p:cNvPr id="1477637" name="AutoShape 5"/>
            <p:cNvSpPr>
              <a:spLocks noChangeArrowheads="1"/>
            </p:cNvSpPr>
            <p:nvPr/>
          </p:nvSpPr>
          <p:spPr bwMode="auto">
            <a:xfrm>
              <a:off x="2784" y="2256"/>
              <a:ext cx="1536" cy="1296"/>
            </a:xfrm>
            <a:prstGeom prst="flowChartExtract">
              <a:avLst/>
            </a:prstGeom>
            <a:solidFill>
              <a:schemeClr val="accent1"/>
            </a:solidFill>
            <a:ln w="9525">
              <a:noFill/>
              <a:miter lim="800000"/>
              <a:headEnd/>
              <a:tailEnd/>
            </a:ln>
            <a:effectLst/>
          </p:spPr>
          <p:txBody>
            <a:bodyPr wrap="none" anchor="ctr"/>
            <a:lstStyle/>
            <a:p>
              <a:pPr algn="ctr" eaLnBrk="1" hangingPunct="1"/>
              <a:r>
                <a:rPr lang="en-US" sz="1400" b="1" dirty="0" err="1" smtClean="0">
                  <a:solidFill>
                    <a:schemeClr val="bg1"/>
                  </a:solidFill>
                  <a:latin typeface="Arial" charset="0"/>
                </a:rPr>
                <a:t>Teknologiat</a:t>
              </a:r>
              <a:endParaRPr lang="en-US" sz="1400" b="1" dirty="0">
                <a:solidFill>
                  <a:schemeClr val="bg1"/>
                </a:solidFill>
                <a:latin typeface="Arial" charset="0"/>
              </a:endParaRPr>
            </a:p>
            <a:p>
              <a:pPr algn="ctr" eaLnBrk="1" hangingPunct="1"/>
              <a:endParaRPr lang="en-GB" sz="1400" b="1" dirty="0">
                <a:solidFill>
                  <a:schemeClr val="bg1"/>
                </a:solidFill>
                <a:latin typeface="Arial" charset="0"/>
              </a:endParaRPr>
            </a:p>
          </p:txBody>
        </p:sp>
        <p:sp>
          <p:nvSpPr>
            <p:cNvPr id="1477638" name="AutoShape 6"/>
            <p:cNvSpPr>
              <a:spLocks noChangeArrowheads="1"/>
            </p:cNvSpPr>
            <p:nvPr/>
          </p:nvSpPr>
          <p:spPr bwMode="auto">
            <a:xfrm>
              <a:off x="2016" y="960"/>
              <a:ext cx="1536" cy="1296"/>
            </a:xfrm>
            <a:prstGeom prst="flowChartExtract">
              <a:avLst/>
            </a:prstGeom>
            <a:solidFill>
              <a:schemeClr val="accent1"/>
            </a:solidFill>
            <a:ln w="9525">
              <a:noFill/>
              <a:miter lim="800000"/>
              <a:headEnd/>
              <a:tailEnd/>
            </a:ln>
            <a:effectLst/>
          </p:spPr>
          <p:txBody>
            <a:bodyPr wrap="none" anchor="ctr"/>
            <a:lstStyle/>
            <a:p>
              <a:endParaRPr lang="en-US"/>
            </a:p>
          </p:txBody>
        </p:sp>
        <p:sp>
          <p:nvSpPr>
            <p:cNvPr id="1477639" name="AutoShape 7"/>
            <p:cNvSpPr>
              <a:spLocks noChangeArrowheads="1"/>
            </p:cNvSpPr>
            <p:nvPr/>
          </p:nvSpPr>
          <p:spPr bwMode="auto">
            <a:xfrm flipV="1">
              <a:off x="2016" y="2256"/>
              <a:ext cx="1536" cy="1296"/>
            </a:xfrm>
            <a:prstGeom prst="flowChartExtract">
              <a:avLst/>
            </a:prstGeom>
            <a:ln>
              <a:headEnd/>
              <a:tailEnd/>
            </a:ln>
          </p:spPr>
          <p:style>
            <a:lnRef idx="3">
              <a:schemeClr val="lt1"/>
            </a:lnRef>
            <a:fillRef idx="1">
              <a:schemeClr val="accent6"/>
            </a:fillRef>
            <a:effectRef idx="1">
              <a:schemeClr val="accent6"/>
            </a:effectRef>
            <a:fontRef idx="minor">
              <a:schemeClr val="lt1"/>
            </a:fontRef>
          </p:style>
          <p:txBody>
            <a:bodyPr rot="10800000" wrap="none" anchor="ctr"/>
            <a:lstStyle/>
            <a:p>
              <a:pPr algn="ctr" eaLnBrk="1" hangingPunct="1"/>
              <a:endParaRPr lang="en-US" sz="1400" b="1" dirty="0">
                <a:solidFill>
                  <a:schemeClr val="bg1"/>
                </a:solidFill>
                <a:latin typeface="Arial" charset="0"/>
              </a:endParaRPr>
            </a:p>
            <a:p>
              <a:pPr algn="ctr" eaLnBrk="1" hangingPunct="1"/>
              <a:endParaRPr lang="en-US" sz="1400" b="1" dirty="0">
                <a:solidFill>
                  <a:schemeClr val="bg1"/>
                </a:solidFill>
                <a:latin typeface="Arial" charset="0"/>
              </a:endParaRPr>
            </a:p>
            <a:p>
              <a:pPr algn="ctr" eaLnBrk="1" hangingPunct="1"/>
              <a:r>
                <a:rPr lang="en-US" sz="1600" b="1" dirty="0" err="1" smtClean="0">
                  <a:solidFill>
                    <a:schemeClr val="bg1"/>
                  </a:solidFill>
                  <a:latin typeface="Arial" charset="0"/>
                </a:rPr>
                <a:t>Testaus</a:t>
              </a:r>
              <a:endParaRPr lang="en-GB" sz="1600" b="1" dirty="0">
                <a:solidFill>
                  <a:schemeClr val="bg1"/>
                </a:solidFill>
                <a:latin typeface="Arial" charset="0"/>
              </a:endParaRPr>
            </a:p>
          </p:txBody>
        </p:sp>
        <p:sp>
          <p:nvSpPr>
            <p:cNvPr id="1477640" name="Text Box 8"/>
            <p:cNvSpPr txBox="1">
              <a:spLocks noChangeArrowheads="1"/>
            </p:cNvSpPr>
            <p:nvPr/>
          </p:nvSpPr>
          <p:spPr bwMode="auto">
            <a:xfrm>
              <a:off x="2170" y="1680"/>
              <a:ext cx="1238" cy="359"/>
            </a:xfrm>
            <a:prstGeom prst="rect">
              <a:avLst/>
            </a:prstGeom>
            <a:noFill/>
            <a:ln w="9525">
              <a:noFill/>
              <a:miter lim="800000"/>
              <a:headEnd/>
              <a:tailEnd/>
            </a:ln>
            <a:effectLst/>
          </p:spPr>
          <p:txBody>
            <a:bodyPr>
              <a:spAutoFit/>
            </a:bodyPr>
            <a:lstStyle/>
            <a:p>
              <a:pPr algn="ctr" eaLnBrk="1" hangingPunct="1"/>
              <a:r>
                <a:rPr lang="en-GB" sz="1400" b="1" dirty="0" err="1" smtClean="0">
                  <a:solidFill>
                    <a:schemeClr val="bg1"/>
                  </a:solidFill>
                  <a:latin typeface="Arial" charset="0"/>
                </a:rPr>
                <a:t>Viestintä</a:t>
              </a:r>
              <a:r>
                <a:rPr lang="en-GB" sz="1400" b="1" dirty="0" smtClean="0">
                  <a:solidFill>
                    <a:schemeClr val="bg1"/>
                  </a:solidFill>
                  <a:latin typeface="Arial" charset="0"/>
                </a:rPr>
                <a:t> </a:t>
              </a:r>
              <a:r>
                <a:rPr lang="en-GB" sz="1400" b="1" dirty="0" err="1" smtClean="0">
                  <a:solidFill>
                    <a:schemeClr val="bg1"/>
                  </a:solidFill>
                  <a:latin typeface="Arial" charset="0"/>
                </a:rPr>
                <a:t>ja</a:t>
              </a:r>
              <a:r>
                <a:rPr lang="en-GB" sz="1400" b="1" dirty="0" smtClean="0">
                  <a:solidFill>
                    <a:schemeClr val="bg1"/>
                  </a:solidFill>
                  <a:latin typeface="Arial" charset="0"/>
                </a:rPr>
                <a:t> </a:t>
              </a:r>
              <a:r>
                <a:rPr lang="en-GB" sz="1400" b="1" dirty="0" err="1" smtClean="0">
                  <a:solidFill>
                    <a:schemeClr val="bg1"/>
                  </a:solidFill>
                  <a:latin typeface="Arial" charset="0"/>
                </a:rPr>
                <a:t>yhteistyö</a:t>
              </a:r>
              <a:endParaRPr lang="en-GB" sz="1400" b="1" dirty="0">
                <a:solidFill>
                  <a:schemeClr val="bg1"/>
                </a:solidFill>
                <a:latin typeface="Arial" charset="0"/>
              </a:endParaRPr>
            </a:p>
          </p:txBody>
        </p:sp>
      </p:grpSp>
      <p:grpSp>
        <p:nvGrpSpPr>
          <p:cNvPr id="3" name="Group 9"/>
          <p:cNvGrpSpPr>
            <a:grpSpLocks/>
          </p:cNvGrpSpPr>
          <p:nvPr/>
        </p:nvGrpSpPr>
        <p:grpSpPr bwMode="auto">
          <a:xfrm>
            <a:off x="4643438" y="2295544"/>
            <a:ext cx="4356100" cy="3776662"/>
            <a:chOff x="1248" y="960"/>
            <a:chExt cx="3072" cy="2592"/>
          </a:xfrm>
        </p:grpSpPr>
        <p:sp>
          <p:nvSpPr>
            <p:cNvPr id="1477642" name="AutoShape 10"/>
            <p:cNvSpPr>
              <a:spLocks noChangeArrowheads="1"/>
            </p:cNvSpPr>
            <p:nvPr/>
          </p:nvSpPr>
          <p:spPr bwMode="auto">
            <a:xfrm>
              <a:off x="1248" y="2256"/>
              <a:ext cx="1536" cy="1296"/>
            </a:xfrm>
            <a:prstGeom prst="flowChartExtract">
              <a:avLst/>
            </a:prstGeom>
            <a:solidFill>
              <a:schemeClr val="accent1"/>
            </a:solidFill>
            <a:ln w="9525">
              <a:noFill/>
              <a:miter lim="800000"/>
              <a:headEnd/>
              <a:tailEnd/>
            </a:ln>
            <a:effectLst/>
          </p:spPr>
          <p:txBody>
            <a:bodyPr wrap="none" anchor="ctr"/>
            <a:lstStyle/>
            <a:p>
              <a:pPr algn="ctr" eaLnBrk="1" hangingPunct="1"/>
              <a:r>
                <a:rPr lang="fi-FI" sz="1400" b="1" dirty="0" smtClean="0">
                  <a:solidFill>
                    <a:schemeClr val="bg1"/>
                  </a:solidFill>
                  <a:latin typeface="Arial" charset="0"/>
                </a:rPr>
                <a:t>Sovellusalue</a:t>
              </a:r>
              <a:endParaRPr lang="en-US" sz="1400" b="1" dirty="0">
                <a:solidFill>
                  <a:schemeClr val="bg1"/>
                </a:solidFill>
                <a:latin typeface="Arial" charset="0"/>
              </a:endParaRPr>
            </a:p>
            <a:p>
              <a:pPr algn="ctr" eaLnBrk="1" hangingPunct="1"/>
              <a:endParaRPr lang="en-GB" sz="1400" b="1" dirty="0">
                <a:solidFill>
                  <a:schemeClr val="bg1"/>
                </a:solidFill>
                <a:latin typeface="Arial" charset="0"/>
              </a:endParaRPr>
            </a:p>
          </p:txBody>
        </p:sp>
        <p:sp>
          <p:nvSpPr>
            <p:cNvPr id="1477643" name="AutoShape 11"/>
            <p:cNvSpPr>
              <a:spLocks noChangeArrowheads="1"/>
            </p:cNvSpPr>
            <p:nvPr/>
          </p:nvSpPr>
          <p:spPr bwMode="auto">
            <a:xfrm>
              <a:off x="2784" y="2256"/>
              <a:ext cx="1536" cy="1296"/>
            </a:xfrm>
            <a:prstGeom prst="flowChartExtract">
              <a:avLst/>
            </a:prstGeom>
            <a:solidFill>
              <a:schemeClr val="accent1"/>
            </a:solidFill>
            <a:ln w="9525">
              <a:noFill/>
              <a:miter lim="800000"/>
              <a:headEnd/>
              <a:tailEnd/>
            </a:ln>
            <a:effectLst/>
          </p:spPr>
          <p:txBody>
            <a:bodyPr wrap="none" anchor="ctr"/>
            <a:lstStyle/>
            <a:p>
              <a:pPr algn="ctr"/>
              <a:r>
                <a:rPr lang="en-US" sz="1400" b="1" dirty="0" err="1" smtClean="0">
                  <a:solidFill>
                    <a:schemeClr val="bg1"/>
                  </a:solidFill>
                  <a:latin typeface="Arial" charset="0"/>
                </a:rPr>
                <a:t>Teknologiat</a:t>
              </a:r>
              <a:endParaRPr lang="en-US" sz="1400" b="1" dirty="0">
                <a:solidFill>
                  <a:schemeClr val="bg1"/>
                </a:solidFill>
                <a:latin typeface="Arial" charset="0"/>
              </a:endParaRPr>
            </a:p>
            <a:p>
              <a:pPr algn="ctr" eaLnBrk="1" hangingPunct="1"/>
              <a:endParaRPr lang="en-GB" sz="1400" b="1" dirty="0">
                <a:solidFill>
                  <a:schemeClr val="bg1"/>
                </a:solidFill>
                <a:latin typeface="Arial" charset="0"/>
              </a:endParaRPr>
            </a:p>
          </p:txBody>
        </p:sp>
        <p:sp>
          <p:nvSpPr>
            <p:cNvPr id="1477644" name="AutoShape 12"/>
            <p:cNvSpPr>
              <a:spLocks noChangeArrowheads="1"/>
            </p:cNvSpPr>
            <p:nvPr/>
          </p:nvSpPr>
          <p:spPr bwMode="auto">
            <a:xfrm>
              <a:off x="2016" y="960"/>
              <a:ext cx="1536" cy="1296"/>
            </a:xfrm>
            <a:prstGeom prst="flowChartExtract">
              <a:avLst/>
            </a:prstGeom>
            <a:solidFill>
              <a:schemeClr val="accent1"/>
            </a:solidFill>
            <a:ln w="9525">
              <a:noFill/>
              <a:miter lim="800000"/>
              <a:headEnd/>
              <a:tailEnd/>
            </a:ln>
            <a:effectLst/>
          </p:spPr>
          <p:txBody>
            <a:bodyPr wrap="none" anchor="ctr"/>
            <a:lstStyle/>
            <a:p>
              <a:endParaRPr lang="en-US"/>
            </a:p>
          </p:txBody>
        </p:sp>
        <p:sp>
          <p:nvSpPr>
            <p:cNvPr id="1477645" name="AutoShape 13"/>
            <p:cNvSpPr>
              <a:spLocks noChangeArrowheads="1"/>
            </p:cNvSpPr>
            <p:nvPr/>
          </p:nvSpPr>
          <p:spPr bwMode="auto">
            <a:xfrm flipV="1">
              <a:off x="2016" y="2256"/>
              <a:ext cx="1536" cy="1296"/>
            </a:xfrm>
            <a:prstGeom prst="flowChartExtract">
              <a:avLst/>
            </a:prstGeom>
            <a:ln>
              <a:headEnd/>
              <a:tailEnd/>
            </a:ln>
          </p:spPr>
          <p:style>
            <a:lnRef idx="3">
              <a:schemeClr val="lt1"/>
            </a:lnRef>
            <a:fillRef idx="1">
              <a:schemeClr val="dk1"/>
            </a:fillRef>
            <a:effectRef idx="1">
              <a:schemeClr val="dk1"/>
            </a:effectRef>
            <a:fontRef idx="minor">
              <a:schemeClr val="lt1"/>
            </a:fontRef>
          </p:style>
          <p:txBody>
            <a:bodyPr rot="10800000" wrap="none" anchor="ctr"/>
            <a:lstStyle/>
            <a:p>
              <a:pPr algn="ctr" eaLnBrk="1" hangingPunct="1"/>
              <a:endParaRPr lang="en-US" sz="1400" b="1" dirty="0">
                <a:solidFill>
                  <a:schemeClr val="bg1"/>
                </a:solidFill>
                <a:latin typeface="Arial" charset="0"/>
              </a:endParaRPr>
            </a:p>
            <a:p>
              <a:pPr algn="ctr" eaLnBrk="1" hangingPunct="1"/>
              <a:endParaRPr lang="en-US" sz="1400" b="1" dirty="0">
                <a:solidFill>
                  <a:schemeClr val="bg1"/>
                </a:solidFill>
                <a:latin typeface="Arial" charset="0"/>
              </a:endParaRPr>
            </a:p>
            <a:p>
              <a:pPr algn="ctr" eaLnBrk="1" hangingPunct="1"/>
              <a:r>
                <a:rPr lang="en-US" sz="1600" b="1" dirty="0" err="1" smtClean="0">
                  <a:solidFill>
                    <a:schemeClr val="bg1"/>
                  </a:solidFill>
                  <a:latin typeface="Arial" charset="0"/>
                </a:rPr>
                <a:t>Kehitys</a:t>
              </a:r>
              <a:endParaRPr lang="en-GB" sz="1600" b="1" dirty="0">
                <a:solidFill>
                  <a:schemeClr val="bg1"/>
                </a:solidFill>
                <a:latin typeface="Arial" charset="0"/>
              </a:endParaRPr>
            </a:p>
          </p:txBody>
        </p:sp>
        <p:sp>
          <p:nvSpPr>
            <p:cNvPr id="1477646" name="Text Box 14"/>
            <p:cNvSpPr txBox="1">
              <a:spLocks noChangeArrowheads="1"/>
            </p:cNvSpPr>
            <p:nvPr/>
          </p:nvSpPr>
          <p:spPr bwMode="auto">
            <a:xfrm>
              <a:off x="2170" y="1680"/>
              <a:ext cx="1238" cy="359"/>
            </a:xfrm>
            <a:prstGeom prst="rect">
              <a:avLst/>
            </a:prstGeom>
            <a:noFill/>
            <a:ln w="9525">
              <a:noFill/>
              <a:miter lim="800000"/>
              <a:headEnd/>
              <a:tailEnd/>
            </a:ln>
            <a:effectLst/>
          </p:spPr>
          <p:txBody>
            <a:bodyPr>
              <a:spAutoFit/>
            </a:bodyPr>
            <a:lstStyle/>
            <a:p>
              <a:pPr algn="ctr"/>
              <a:r>
                <a:rPr lang="en-GB" sz="1400" b="1" dirty="0" err="1" smtClean="0">
                  <a:solidFill>
                    <a:schemeClr val="bg1"/>
                  </a:solidFill>
                  <a:latin typeface="Arial" charset="0"/>
                </a:rPr>
                <a:t>Viestintä</a:t>
              </a:r>
              <a:r>
                <a:rPr lang="en-GB" sz="1400" b="1" dirty="0" smtClean="0">
                  <a:solidFill>
                    <a:schemeClr val="bg1"/>
                  </a:solidFill>
                  <a:latin typeface="Arial" charset="0"/>
                </a:rPr>
                <a:t> </a:t>
              </a:r>
              <a:r>
                <a:rPr lang="en-GB" sz="1400" b="1" dirty="0" err="1" smtClean="0">
                  <a:solidFill>
                    <a:schemeClr val="bg1"/>
                  </a:solidFill>
                  <a:latin typeface="Arial" charset="0"/>
                </a:rPr>
                <a:t>ja</a:t>
              </a:r>
              <a:r>
                <a:rPr lang="en-GB" sz="1400" b="1" dirty="0" smtClean="0">
                  <a:solidFill>
                    <a:schemeClr val="bg1"/>
                  </a:solidFill>
                  <a:latin typeface="Arial" charset="0"/>
                </a:rPr>
                <a:t> </a:t>
              </a:r>
              <a:r>
                <a:rPr lang="en-GB" sz="1400" b="1" dirty="0" err="1" smtClean="0">
                  <a:solidFill>
                    <a:schemeClr val="bg1"/>
                  </a:solidFill>
                  <a:latin typeface="Arial" charset="0"/>
                </a:rPr>
                <a:t>yhteistyö</a:t>
              </a:r>
              <a:endParaRPr lang="en-GB" sz="1400" b="1" dirty="0">
                <a:solidFill>
                  <a:schemeClr val="bg1"/>
                </a:solidFill>
                <a:latin typeface="Arial" charset="0"/>
              </a:endParaRPr>
            </a:p>
          </p:txBody>
        </p:sp>
      </p:grpSp>
      <p:sp>
        <p:nvSpPr>
          <p:cNvPr id="1477647" name="AutoShape 15"/>
          <p:cNvSpPr>
            <a:spLocks noChangeArrowheads="1"/>
          </p:cNvSpPr>
          <p:nvPr/>
        </p:nvSpPr>
        <p:spPr bwMode="auto">
          <a:xfrm>
            <a:off x="3505200" y="2544781"/>
            <a:ext cx="2209800" cy="1295400"/>
          </a:xfrm>
          <a:prstGeom prst="roundRect">
            <a:avLst>
              <a:gd name="adj" fmla="val 16667"/>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p>
            <a:pPr algn="ctr" eaLnBrk="1" hangingPunct="1"/>
            <a:r>
              <a:rPr lang="en-US" b="1" dirty="0" err="1" smtClean="0">
                <a:solidFill>
                  <a:schemeClr val="bg1"/>
                </a:solidFill>
                <a:latin typeface="Arial" charset="0"/>
              </a:rPr>
              <a:t>Osaamiset</a:t>
            </a:r>
            <a:r>
              <a:rPr lang="en-US" b="1" dirty="0" smtClean="0">
                <a:solidFill>
                  <a:schemeClr val="bg1"/>
                </a:solidFill>
                <a:latin typeface="Arial" charset="0"/>
              </a:rPr>
              <a:t> </a:t>
            </a:r>
            <a:r>
              <a:rPr lang="en-US" b="1" dirty="0" err="1" smtClean="0">
                <a:solidFill>
                  <a:schemeClr val="bg1"/>
                </a:solidFill>
                <a:latin typeface="Arial" charset="0"/>
              </a:rPr>
              <a:t>ja</a:t>
            </a:r>
            <a:r>
              <a:rPr lang="en-US" b="1" dirty="0" smtClean="0">
                <a:solidFill>
                  <a:schemeClr val="bg1"/>
                </a:solidFill>
                <a:latin typeface="Arial" charset="0"/>
              </a:rPr>
              <a:t> </a:t>
            </a:r>
            <a:r>
              <a:rPr lang="en-US" b="1" dirty="0" err="1" smtClean="0">
                <a:solidFill>
                  <a:schemeClr val="bg1"/>
                </a:solidFill>
                <a:latin typeface="Arial" charset="0"/>
              </a:rPr>
              <a:t>kyvyt</a:t>
            </a:r>
            <a:endParaRPr lang="en-US" b="1" dirty="0">
              <a:solidFill>
                <a:schemeClr val="bg1"/>
              </a:solidFill>
              <a:latin typeface="Arial" charset="0"/>
            </a:endParaRPr>
          </a:p>
          <a:p>
            <a:pPr algn="ctr" eaLnBrk="1" hangingPunct="1"/>
            <a:endParaRPr lang="en-US" b="1" dirty="0">
              <a:solidFill>
                <a:schemeClr val="bg1"/>
              </a:solidFill>
              <a:latin typeface="Arial" charset="0"/>
            </a:endParaRPr>
          </a:p>
          <a:p>
            <a:pPr algn="ctr" eaLnBrk="1" hangingPunct="1"/>
            <a:endParaRPr lang="en-US" b="1" dirty="0">
              <a:solidFill>
                <a:schemeClr val="bg1"/>
              </a:solidFill>
              <a:latin typeface="Arial" charset="0"/>
            </a:endParaRPr>
          </a:p>
          <a:p>
            <a:pPr algn="ctr" eaLnBrk="1" hangingPunct="1"/>
            <a:r>
              <a:rPr lang="en-US" b="1" dirty="0" err="1" smtClean="0">
                <a:solidFill>
                  <a:schemeClr val="bg1"/>
                </a:solidFill>
                <a:latin typeface="Arial" charset="0"/>
              </a:rPr>
              <a:t>Asenteet</a:t>
            </a:r>
            <a:endParaRPr lang="en-GB" b="1" dirty="0">
              <a:solidFill>
                <a:schemeClr val="bg1"/>
              </a:solidFill>
              <a:latin typeface="Arial" charset="0"/>
            </a:endParaRPr>
          </a:p>
        </p:txBody>
      </p:sp>
      <p:sp>
        <p:nvSpPr>
          <p:cNvPr id="1477648" name="AutoShape 16"/>
          <p:cNvSpPr>
            <a:spLocks noChangeArrowheads="1"/>
          </p:cNvSpPr>
          <p:nvPr/>
        </p:nvSpPr>
        <p:spPr bwMode="auto">
          <a:xfrm>
            <a:off x="4419600" y="2925781"/>
            <a:ext cx="381000" cy="533400"/>
          </a:xfrm>
          <a:prstGeom prst="upDownArrow">
            <a:avLst>
              <a:gd name="adj1" fmla="val 50000"/>
              <a:gd name="adj2" fmla="val 28000"/>
            </a:avLst>
          </a:prstGeom>
          <a:gradFill rotWithShape="0">
            <a:gsLst>
              <a:gs pos="0">
                <a:srgbClr val="FFCCFF"/>
              </a:gs>
              <a:gs pos="50000">
                <a:srgbClr val="FFFFFF"/>
              </a:gs>
              <a:gs pos="100000">
                <a:srgbClr val="FFCCFF"/>
              </a:gs>
            </a:gsLst>
            <a:lin ang="5400000" scaled="1"/>
          </a:gradFill>
          <a:ln w="9525">
            <a:noFill/>
            <a:miter lim="800000"/>
            <a:headEnd/>
            <a:tailEnd/>
          </a:ln>
          <a:effectLst/>
        </p:spPr>
        <p:txBody>
          <a:bodyPr wrap="none" anchor="ctr"/>
          <a:lstStyle/>
          <a:p>
            <a:endParaRPr lang="en-US"/>
          </a:p>
        </p:txBody>
      </p:sp>
      <p:sp>
        <p:nvSpPr>
          <p:cNvPr id="17" name="Slide Number Placeholder 16"/>
          <p:cNvSpPr>
            <a:spLocks noGrp="1"/>
          </p:cNvSpPr>
          <p:nvPr>
            <p:ph type="sldNum" sz="quarter" idx="12"/>
          </p:nvPr>
        </p:nvSpPr>
        <p:spPr/>
        <p:txBody>
          <a:bodyPr/>
          <a:lstStyle/>
          <a:p>
            <a:fld id="{227F0B53-9592-4779-891F-997228E46E01}" type="slidenum">
              <a:rPr lang="sv-SE" smtClean="0"/>
              <a:pPr/>
              <a:t>10</a:t>
            </a:fld>
            <a:endParaRPr lang="sv-SE"/>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ChangeArrowheads="1"/>
          </p:cNvSpPr>
          <p:nvPr/>
        </p:nvSpPr>
        <p:spPr bwMode="auto">
          <a:xfrm>
            <a:off x="228600" y="5029200"/>
            <a:ext cx="8686800" cy="914400"/>
          </a:xfrm>
          <a:prstGeom prst="rect">
            <a:avLst/>
          </a:prstGeom>
          <a:gradFill rotWithShape="0">
            <a:gsLst>
              <a:gs pos="0">
                <a:srgbClr val="FFFFFF"/>
              </a:gs>
              <a:gs pos="50000">
                <a:schemeClr val="hlink"/>
              </a:gs>
              <a:gs pos="100000">
                <a:srgbClr val="FFFFFF"/>
              </a:gs>
            </a:gsLst>
            <a:lin ang="0" scaled="1"/>
          </a:gradFill>
          <a:ln w="9525">
            <a:noFill/>
            <a:miter lim="800000"/>
            <a:headEnd/>
            <a:tailEnd/>
          </a:ln>
          <a:effectLst/>
        </p:spPr>
        <p:txBody>
          <a:bodyPr wrap="none" anchor="ctr"/>
          <a:lstStyle/>
          <a:p>
            <a:pPr fontAlgn="auto">
              <a:spcBef>
                <a:spcPts val="0"/>
              </a:spcBef>
              <a:spcAft>
                <a:spcPts val="0"/>
              </a:spcAft>
              <a:defRPr/>
            </a:pPr>
            <a:endParaRPr lang="en-US">
              <a:latin typeface="+mn-lt"/>
            </a:endParaRPr>
          </a:p>
        </p:txBody>
      </p:sp>
      <p:sp>
        <p:nvSpPr>
          <p:cNvPr id="360451" name="Rectangle 3"/>
          <p:cNvSpPr>
            <a:spLocks noChangeArrowheads="1"/>
          </p:cNvSpPr>
          <p:nvPr/>
        </p:nvSpPr>
        <p:spPr bwMode="auto">
          <a:xfrm>
            <a:off x="228600" y="3886200"/>
            <a:ext cx="8686800" cy="914400"/>
          </a:xfrm>
          <a:prstGeom prst="rect">
            <a:avLst/>
          </a:prstGeom>
          <a:gradFill rotWithShape="0">
            <a:gsLst>
              <a:gs pos="0">
                <a:srgbClr val="FFFFFF"/>
              </a:gs>
              <a:gs pos="50000">
                <a:schemeClr val="hlink"/>
              </a:gs>
              <a:gs pos="100000">
                <a:srgbClr val="FFFFFF"/>
              </a:gs>
            </a:gsLst>
            <a:lin ang="0" scaled="1"/>
          </a:gradFill>
          <a:ln w="9525">
            <a:noFill/>
            <a:miter lim="800000"/>
            <a:headEnd/>
            <a:tailEnd/>
          </a:ln>
          <a:effectLst/>
        </p:spPr>
        <p:txBody>
          <a:bodyPr wrap="none" anchor="ctr"/>
          <a:lstStyle/>
          <a:p>
            <a:pPr fontAlgn="auto">
              <a:spcBef>
                <a:spcPts val="0"/>
              </a:spcBef>
              <a:spcAft>
                <a:spcPts val="0"/>
              </a:spcAft>
              <a:defRPr/>
            </a:pPr>
            <a:endParaRPr lang="en-US">
              <a:latin typeface="+mn-lt"/>
            </a:endParaRPr>
          </a:p>
        </p:txBody>
      </p:sp>
      <p:sp>
        <p:nvSpPr>
          <p:cNvPr id="360452" name="Rectangle 4"/>
          <p:cNvSpPr>
            <a:spLocks noChangeArrowheads="1"/>
          </p:cNvSpPr>
          <p:nvPr/>
        </p:nvSpPr>
        <p:spPr bwMode="auto">
          <a:xfrm>
            <a:off x="228600" y="2743200"/>
            <a:ext cx="8686800" cy="914400"/>
          </a:xfrm>
          <a:prstGeom prst="rect">
            <a:avLst/>
          </a:prstGeom>
          <a:gradFill rotWithShape="0">
            <a:gsLst>
              <a:gs pos="0">
                <a:srgbClr val="FFFFFF"/>
              </a:gs>
              <a:gs pos="50000">
                <a:schemeClr val="hlink"/>
              </a:gs>
              <a:gs pos="100000">
                <a:srgbClr val="FFFFFF"/>
              </a:gs>
            </a:gsLst>
            <a:lin ang="0" scaled="1"/>
          </a:gradFill>
          <a:ln w="9525">
            <a:noFill/>
            <a:miter lim="800000"/>
            <a:headEnd/>
            <a:tailEnd/>
          </a:ln>
          <a:effectLst/>
        </p:spPr>
        <p:txBody>
          <a:bodyPr wrap="none" anchor="ctr"/>
          <a:lstStyle/>
          <a:p>
            <a:pPr fontAlgn="auto">
              <a:spcBef>
                <a:spcPts val="0"/>
              </a:spcBef>
              <a:spcAft>
                <a:spcPts val="0"/>
              </a:spcAft>
              <a:defRPr/>
            </a:pPr>
            <a:endParaRPr lang="en-US">
              <a:latin typeface="+mn-lt"/>
            </a:endParaRPr>
          </a:p>
        </p:txBody>
      </p:sp>
      <p:sp>
        <p:nvSpPr>
          <p:cNvPr id="360453" name="Rectangle 5"/>
          <p:cNvSpPr>
            <a:spLocks noChangeArrowheads="1"/>
          </p:cNvSpPr>
          <p:nvPr/>
        </p:nvSpPr>
        <p:spPr bwMode="auto">
          <a:xfrm>
            <a:off x="228600" y="1676400"/>
            <a:ext cx="8686800" cy="914400"/>
          </a:xfrm>
          <a:prstGeom prst="rect">
            <a:avLst/>
          </a:prstGeom>
          <a:gradFill rotWithShape="0">
            <a:gsLst>
              <a:gs pos="0">
                <a:srgbClr val="FFFFFF"/>
              </a:gs>
              <a:gs pos="50000">
                <a:schemeClr val="hlink"/>
              </a:gs>
              <a:gs pos="100000">
                <a:srgbClr val="FFFFFF"/>
              </a:gs>
            </a:gsLst>
            <a:lin ang="0" scaled="1"/>
          </a:gradFill>
          <a:ln w="9525">
            <a:noFill/>
            <a:miter lim="800000"/>
            <a:headEnd/>
            <a:tailEnd/>
          </a:ln>
          <a:effectLst/>
        </p:spPr>
        <p:txBody>
          <a:bodyPr wrap="none" anchor="ctr"/>
          <a:lstStyle/>
          <a:p>
            <a:pPr fontAlgn="auto">
              <a:spcBef>
                <a:spcPts val="0"/>
              </a:spcBef>
              <a:spcAft>
                <a:spcPts val="0"/>
              </a:spcAft>
              <a:defRPr/>
            </a:pPr>
            <a:endParaRPr lang="en-US">
              <a:latin typeface="+mn-lt"/>
            </a:endParaRPr>
          </a:p>
        </p:txBody>
      </p:sp>
      <p:sp>
        <p:nvSpPr>
          <p:cNvPr id="360454" name="Rectangle 6"/>
          <p:cNvSpPr>
            <a:spLocks noGrp="1" noChangeArrowheads="1"/>
          </p:cNvSpPr>
          <p:nvPr>
            <p:ph type="title"/>
          </p:nvPr>
        </p:nvSpPr>
        <p:spPr>
          <a:xfrm>
            <a:off x="609600" y="469900"/>
            <a:ext cx="7391400" cy="520700"/>
          </a:xfrm>
        </p:spPr>
        <p:txBody>
          <a:bodyPr>
            <a:normAutofit fontScale="90000"/>
          </a:bodyPr>
          <a:lstStyle/>
          <a:p>
            <a:pPr fontAlgn="auto">
              <a:spcAft>
                <a:spcPts val="0"/>
              </a:spcAft>
              <a:defRPr/>
            </a:pPr>
            <a:r>
              <a:rPr lang="en-US"/>
              <a:t>Testaaja vs. Kehittäjä</a:t>
            </a:r>
            <a:br>
              <a:rPr lang="en-US"/>
            </a:br>
            <a:r>
              <a:rPr lang="en-US" sz="1000"/>
              <a:t>Lähde: Mukaillen Bret Pettichord. 2000.Testers and Developers Think Differently</a:t>
            </a:r>
            <a:endParaRPr lang="en-GB" sz="1000"/>
          </a:p>
        </p:txBody>
      </p:sp>
      <p:sp>
        <p:nvSpPr>
          <p:cNvPr id="50182" name="Text Box 7"/>
          <p:cNvSpPr txBox="1">
            <a:spLocks noChangeArrowheads="1"/>
          </p:cNvSpPr>
          <p:nvPr/>
        </p:nvSpPr>
        <p:spPr bwMode="auto">
          <a:xfrm>
            <a:off x="609600" y="1219200"/>
            <a:ext cx="2895600" cy="396875"/>
          </a:xfrm>
          <a:prstGeom prst="rect">
            <a:avLst/>
          </a:prstGeom>
          <a:noFill/>
          <a:ln w="9525">
            <a:noFill/>
            <a:miter lim="800000"/>
            <a:headEnd/>
            <a:tailEnd/>
          </a:ln>
        </p:spPr>
        <p:txBody>
          <a:bodyPr>
            <a:spAutoFit/>
          </a:bodyPr>
          <a:lstStyle/>
          <a:p>
            <a:pPr algn="ctr">
              <a:spcBef>
                <a:spcPct val="50000"/>
              </a:spcBef>
            </a:pPr>
            <a:r>
              <a:rPr lang="en-US" sz="2000" b="1"/>
              <a:t>Testaaja</a:t>
            </a:r>
            <a:endParaRPr lang="en-GB" sz="2000" b="1"/>
          </a:p>
        </p:txBody>
      </p:sp>
      <p:sp>
        <p:nvSpPr>
          <p:cNvPr id="50183" name="Text Box 8"/>
          <p:cNvSpPr txBox="1">
            <a:spLocks noChangeArrowheads="1"/>
          </p:cNvSpPr>
          <p:nvPr/>
        </p:nvSpPr>
        <p:spPr bwMode="auto">
          <a:xfrm>
            <a:off x="5638800" y="1219200"/>
            <a:ext cx="2895600" cy="396875"/>
          </a:xfrm>
          <a:prstGeom prst="rect">
            <a:avLst/>
          </a:prstGeom>
          <a:noFill/>
          <a:ln w="9525">
            <a:noFill/>
            <a:miter lim="800000"/>
            <a:headEnd/>
            <a:tailEnd/>
          </a:ln>
        </p:spPr>
        <p:txBody>
          <a:bodyPr>
            <a:spAutoFit/>
          </a:bodyPr>
          <a:lstStyle/>
          <a:p>
            <a:pPr algn="ctr">
              <a:spcBef>
                <a:spcPct val="50000"/>
              </a:spcBef>
            </a:pPr>
            <a:r>
              <a:rPr lang="en-US" sz="2000" b="1"/>
              <a:t>Kehittäjä</a:t>
            </a:r>
            <a:endParaRPr lang="en-GB" sz="2000" b="1"/>
          </a:p>
        </p:txBody>
      </p:sp>
      <p:sp>
        <p:nvSpPr>
          <p:cNvPr id="50184" name="AutoShape 9"/>
          <p:cNvSpPr>
            <a:spLocks noChangeArrowheads="1"/>
          </p:cNvSpPr>
          <p:nvPr/>
        </p:nvSpPr>
        <p:spPr bwMode="auto">
          <a:xfrm>
            <a:off x="3505200" y="1752600"/>
            <a:ext cx="2133600" cy="685800"/>
          </a:xfrm>
          <a:prstGeom prst="roundRect">
            <a:avLst>
              <a:gd name="adj" fmla="val 16667"/>
            </a:avLst>
          </a:prstGeom>
          <a:solidFill>
            <a:schemeClr val="bg1"/>
          </a:solidFill>
          <a:ln w="9525">
            <a:noFill/>
            <a:round/>
            <a:headEnd/>
            <a:tailEnd/>
          </a:ln>
        </p:spPr>
        <p:txBody>
          <a:bodyPr anchor="ctr"/>
          <a:lstStyle/>
          <a:p>
            <a:pPr algn="ctr"/>
            <a:r>
              <a:rPr lang="en-US"/>
              <a:t>Asiantuntemuksen tarve</a:t>
            </a:r>
            <a:endParaRPr lang="en-GB"/>
          </a:p>
        </p:txBody>
      </p:sp>
      <p:sp>
        <p:nvSpPr>
          <p:cNvPr id="50185" name="AutoShape 10"/>
          <p:cNvSpPr>
            <a:spLocks noChangeArrowheads="1"/>
          </p:cNvSpPr>
          <p:nvPr/>
        </p:nvSpPr>
        <p:spPr bwMode="auto">
          <a:xfrm>
            <a:off x="3505200" y="2819400"/>
            <a:ext cx="2133600" cy="685800"/>
          </a:xfrm>
          <a:prstGeom prst="roundRect">
            <a:avLst>
              <a:gd name="adj" fmla="val 16667"/>
            </a:avLst>
          </a:prstGeom>
          <a:solidFill>
            <a:schemeClr val="bg1"/>
          </a:solidFill>
          <a:ln w="9525">
            <a:noFill/>
            <a:round/>
            <a:headEnd/>
            <a:tailEnd/>
          </a:ln>
        </p:spPr>
        <p:txBody>
          <a:bodyPr anchor="ctr"/>
          <a:lstStyle/>
          <a:p>
            <a:pPr algn="ctr"/>
            <a:r>
              <a:rPr lang="en-US"/>
              <a:t>Mallinnuksessa keskittyy</a:t>
            </a:r>
            <a:endParaRPr lang="en-GB"/>
          </a:p>
        </p:txBody>
      </p:sp>
      <p:sp>
        <p:nvSpPr>
          <p:cNvPr id="50186" name="AutoShape 11"/>
          <p:cNvSpPr>
            <a:spLocks noChangeArrowheads="1"/>
          </p:cNvSpPr>
          <p:nvPr/>
        </p:nvSpPr>
        <p:spPr bwMode="auto">
          <a:xfrm>
            <a:off x="3505200" y="3962400"/>
            <a:ext cx="2133600" cy="685800"/>
          </a:xfrm>
          <a:prstGeom prst="roundRect">
            <a:avLst>
              <a:gd name="adj" fmla="val 16667"/>
            </a:avLst>
          </a:prstGeom>
          <a:solidFill>
            <a:schemeClr val="bg1"/>
          </a:solidFill>
          <a:ln w="9525">
            <a:noFill/>
            <a:round/>
            <a:headEnd/>
            <a:tailEnd/>
          </a:ln>
        </p:spPr>
        <p:txBody>
          <a:bodyPr anchor="ctr"/>
          <a:lstStyle/>
          <a:p>
            <a:pPr algn="ctr"/>
            <a:r>
              <a:rPr lang="en-US"/>
              <a:t>Ajatellessa keskittyy</a:t>
            </a:r>
            <a:endParaRPr lang="en-GB"/>
          </a:p>
        </p:txBody>
      </p:sp>
      <p:sp>
        <p:nvSpPr>
          <p:cNvPr id="50187" name="AutoShape 12"/>
          <p:cNvSpPr>
            <a:spLocks noChangeArrowheads="1"/>
          </p:cNvSpPr>
          <p:nvPr/>
        </p:nvSpPr>
        <p:spPr bwMode="auto">
          <a:xfrm>
            <a:off x="3505200" y="5105400"/>
            <a:ext cx="2133600" cy="685800"/>
          </a:xfrm>
          <a:prstGeom prst="roundRect">
            <a:avLst>
              <a:gd name="adj" fmla="val 16667"/>
            </a:avLst>
          </a:prstGeom>
          <a:solidFill>
            <a:schemeClr val="bg1"/>
          </a:solidFill>
          <a:ln w="9525">
            <a:noFill/>
            <a:round/>
            <a:headEnd/>
            <a:tailEnd/>
          </a:ln>
        </p:spPr>
        <p:txBody>
          <a:bodyPr anchor="ctr"/>
          <a:lstStyle/>
          <a:p>
            <a:pPr algn="ctr"/>
            <a:r>
              <a:rPr lang="en-US"/>
              <a:t>Yksitoikkoisuus ja ristiriidat</a:t>
            </a:r>
            <a:endParaRPr lang="en-GB"/>
          </a:p>
        </p:txBody>
      </p:sp>
      <p:sp>
        <p:nvSpPr>
          <p:cNvPr id="50188" name="Rectangle 13"/>
          <p:cNvSpPr>
            <a:spLocks noChangeArrowheads="1"/>
          </p:cNvSpPr>
          <p:nvPr/>
        </p:nvSpPr>
        <p:spPr bwMode="auto">
          <a:xfrm>
            <a:off x="228600" y="1676400"/>
            <a:ext cx="3581400" cy="942975"/>
          </a:xfrm>
          <a:prstGeom prst="rect">
            <a:avLst/>
          </a:prstGeom>
          <a:noFill/>
          <a:ln w="9525">
            <a:noFill/>
            <a:miter lim="800000"/>
            <a:headEnd/>
            <a:tailEnd/>
          </a:ln>
        </p:spPr>
        <p:txBody>
          <a:bodyPr>
            <a:spAutoFit/>
          </a:bodyPr>
          <a:lstStyle/>
          <a:p>
            <a:pPr algn="ctr">
              <a:spcBef>
                <a:spcPct val="50000"/>
              </a:spcBef>
              <a:spcAft>
                <a:spcPct val="20000"/>
              </a:spcAft>
              <a:buFont typeface="Times" pitchFamily="18" charset="0"/>
              <a:buNone/>
            </a:pPr>
            <a:r>
              <a:rPr lang="fi-FI" sz="1400" b="1"/>
              <a:t>Pystyy aloittamaan nopeasti</a:t>
            </a:r>
            <a:br>
              <a:rPr lang="fi-FI" sz="1400" b="1"/>
            </a:br>
            <a:r>
              <a:rPr lang="fi-FI" sz="1400" b="1"/>
              <a:t>Yleisosaaja</a:t>
            </a:r>
            <a:br>
              <a:rPr lang="fi-FI" sz="1400" b="1"/>
            </a:br>
            <a:r>
              <a:rPr lang="fi-FI" sz="1400" b="1"/>
              <a:t>Sovellusaluetietämys</a:t>
            </a:r>
            <a:br>
              <a:rPr lang="fi-FI" sz="1400" b="1"/>
            </a:br>
            <a:r>
              <a:rPr lang="fi-FI" sz="1400" b="1"/>
              <a:t>Tietämättömyys on tärkeää</a:t>
            </a:r>
            <a:endParaRPr lang="en-GB" sz="1400" b="1"/>
          </a:p>
        </p:txBody>
      </p:sp>
      <p:sp>
        <p:nvSpPr>
          <p:cNvPr id="50189" name="Rectangle 14"/>
          <p:cNvSpPr>
            <a:spLocks noChangeArrowheads="1"/>
          </p:cNvSpPr>
          <p:nvPr/>
        </p:nvSpPr>
        <p:spPr bwMode="auto">
          <a:xfrm>
            <a:off x="5715000" y="1647825"/>
            <a:ext cx="3124200" cy="942975"/>
          </a:xfrm>
          <a:prstGeom prst="rect">
            <a:avLst/>
          </a:prstGeom>
          <a:noFill/>
          <a:ln w="9525">
            <a:noFill/>
            <a:miter lim="800000"/>
            <a:headEnd/>
            <a:tailEnd/>
          </a:ln>
        </p:spPr>
        <p:txBody>
          <a:bodyPr>
            <a:spAutoFit/>
          </a:bodyPr>
          <a:lstStyle/>
          <a:p>
            <a:pPr algn="ctr">
              <a:spcBef>
                <a:spcPct val="50000"/>
              </a:spcBef>
              <a:spcAft>
                <a:spcPct val="20000"/>
              </a:spcAft>
              <a:buFont typeface="Times" pitchFamily="18" charset="0"/>
              <a:buNone/>
            </a:pPr>
            <a:r>
              <a:rPr lang="fi-FI" sz="1400" b="1"/>
              <a:t>Perusteellinen ymmärrys</a:t>
            </a:r>
            <a:br>
              <a:rPr lang="fi-FI" sz="1400" b="1"/>
            </a:br>
            <a:r>
              <a:rPr lang="fi-FI" sz="1400" b="1"/>
              <a:t>Erikoisosaaja</a:t>
            </a:r>
            <a:br>
              <a:rPr lang="fi-FI" sz="1400" b="1"/>
            </a:br>
            <a:r>
              <a:rPr lang="fi-FI" sz="1400" b="1"/>
              <a:t>Tietämys sisäisestä rakenteesta</a:t>
            </a:r>
            <a:br>
              <a:rPr lang="fi-FI" sz="1400" b="1"/>
            </a:br>
            <a:r>
              <a:rPr lang="fi-FI" sz="1400" b="1"/>
              <a:t>Syvällinen osaaminen on tärkeää</a:t>
            </a:r>
            <a:endParaRPr lang="en-GB" sz="1400" b="1"/>
          </a:p>
        </p:txBody>
      </p:sp>
      <p:sp>
        <p:nvSpPr>
          <p:cNvPr id="50190" name="Rectangle 15"/>
          <p:cNvSpPr>
            <a:spLocks noChangeArrowheads="1"/>
          </p:cNvSpPr>
          <p:nvPr/>
        </p:nvSpPr>
        <p:spPr bwMode="auto">
          <a:xfrm>
            <a:off x="0" y="2708275"/>
            <a:ext cx="3505200" cy="942975"/>
          </a:xfrm>
          <a:prstGeom prst="rect">
            <a:avLst/>
          </a:prstGeom>
          <a:noFill/>
          <a:ln w="9525">
            <a:noFill/>
            <a:miter lim="800000"/>
            <a:headEnd/>
            <a:tailEnd/>
          </a:ln>
        </p:spPr>
        <p:txBody>
          <a:bodyPr>
            <a:spAutoFit/>
          </a:bodyPr>
          <a:lstStyle/>
          <a:p>
            <a:pPr algn="ctr">
              <a:spcBef>
                <a:spcPct val="50000"/>
              </a:spcBef>
              <a:spcAft>
                <a:spcPct val="20000"/>
              </a:spcAft>
              <a:buFont typeface="Times" pitchFamily="18" charset="0"/>
              <a:buNone/>
            </a:pPr>
            <a:r>
              <a:rPr lang="fi-FI" sz="1400" b="1"/>
              <a:t>Mallintaa käyttäjän toimintaa</a:t>
            </a:r>
            <a:br>
              <a:rPr lang="fi-FI" sz="1400" b="1"/>
            </a:br>
            <a:r>
              <a:rPr lang="fi-FI" sz="1400" b="1"/>
              <a:t>Keskittyy mahdolliseen epäonnistumiseen</a:t>
            </a:r>
            <a:br>
              <a:rPr lang="fi-FI" sz="1400" b="1"/>
            </a:br>
            <a:r>
              <a:rPr lang="fi-FI" sz="1400" b="1"/>
              <a:t>Keskittyy ongelman vakavuuteen</a:t>
            </a:r>
            <a:endParaRPr lang="en-GB" sz="1400" b="1"/>
          </a:p>
        </p:txBody>
      </p:sp>
      <p:sp>
        <p:nvSpPr>
          <p:cNvPr id="50191" name="Rectangle 16"/>
          <p:cNvSpPr>
            <a:spLocks noChangeArrowheads="1"/>
          </p:cNvSpPr>
          <p:nvPr/>
        </p:nvSpPr>
        <p:spPr bwMode="auto">
          <a:xfrm>
            <a:off x="5756275" y="2708275"/>
            <a:ext cx="3352800" cy="942975"/>
          </a:xfrm>
          <a:prstGeom prst="rect">
            <a:avLst/>
          </a:prstGeom>
          <a:noFill/>
          <a:ln w="9525">
            <a:noFill/>
            <a:miter lim="800000"/>
            <a:headEnd/>
            <a:tailEnd/>
          </a:ln>
        </p:spPr>
        <p:txBody>
          <a:bodyPr>
            <a:spAutoFit/>
          </a:bodyPr>
          <a:lstStyle/>
          <a:p>
            <a:pPr algn="ctr">
              <a:spcBef>
                <a:spcPct val="50000"/>
              </a:spcBef>
              <a:spcAft>
                <a:spcPct val="20000"/>
              </a:spcAft>
              <a:buFont typeface="Times" pitchFamily="18" charset="0"/>
              <a:buNone/>
            </a:pPr>
            <a:r>
              <a:rPr lang="fi-FI" sz="1400" b="1"/>
              <a:t>Mallintaa järjestelmäsuunnittelua</a:t>
            </a:r>
            <a:br>
              <a:rPr lang="fi-FI" sz="1400" b="1"/>
            </a:br>
            <a:r>
              <a:rPr lang="fi-FI" sz="1400" b="1"/>
              <a:t>Keskittyy mahdolliseen toimintaan</a:t>
            </a:r>
            <a:br>
              <a:rPr lang="fi-FI" sz="1400" b="1"/>
            </a:br>
            <a:r>
              <a:rPr lang="fi-FI" sz="1400" b="1"/>
              <a:t>Keskittyy ongelman mielenkiintoisuuteen</a:t>
            </a:r>
            <a:endParaRPr lang="en-GB" sz="1400" b="1"/>
          </a:p>
        </p:txBody>
      </p:sp>
      <p:sp>
        <p:nvSpPr>
          <p:cNvPr id="50192" name="Rectangle 17"/>
          <p:cNvSpPr>
            <a:spLocks noChangeArrowheads="1"/>
          </p:cNvSpPr>
          <p:nvPr/>
        </p:nvSpPr>
        <p:spPr bwMode="auto">
          <a:xfrm>
            <a:off x="762000" y="3917950"/>
            <a:ext cx="2590800" cy="730250"/>
          </a:xfrm>
          <a:prstGeom prst="rect">
            <a:avLst/>
          </a:prstGeom>
          <a:noFill/>
          <a:ln w="9525">
            <a:noFill/>
            <a:miter lim="800000"/>
            <a:headEnd/>
            <a:tailEnd/>
          </a:ln>
        </p:spPr>
        <p:txBody>
          <a:bodyPr>
            <a:spAutoFit/>
          </a:bodyPr>
          <a:lstStyle/>
          <a:p>
            <a:pPr algn="ctr">
              <a:spcBef>
                <a:spcPct val="50000"/>
              </a:spcBef>
              <a:spcAft>
                <a:spcPct val="20000"/>
              </a:spcAft>
              <a:buFont typeface="Times" pitchFamily="18" charset="0"/>
              <a:buNone/>
            </a:pPr>
            <a:r>
              <a:rPr lang="fi-FI" sz="1400" b="1"/>
              <a:t>Käytännöllinen</a:t>
            </a:r>
            <a:br>
              <a:rPr lang="fi-FI" sz="1400" b="1"/>
            </a:br>
            <a:r>
              <a:rPr lang="fi-FI" sz="1400" b="1"/>
              <a:t>Empiirinen havainnointi</a:t>
            </a:r>
            <a:br>
              <a:rPr lang="fi-FI" sz="1400" b="1"/>
            </a:br>
            <a:r>
              <a:rPr lang="fi-FI" sz="1400" b="1"/>
              <a:t>Epäuskoinen</a:t>
            </a:r>
            <a:endParaRPr lang="en-GB" sz="1400" b="1"/>
          </a:p>
        </p:txBody>
      </p:sp>
      <p:sp>
        <p:nvSpPr>
          <p:cNvPr id="50193" name="Rectangle 18"/>
          <p:cNvSpPr>
            <a:spLocks noChangeArrowheads="1"/>
          </p:cNvSpPr>
          <p:nvPr/>
        </p:nvSpPr>
        <p:spPr bwMode="auto">
          <a:xfrm>
            <a:off x="5410200" y="3917950"/>
            <a:ext cx="3505200" cy="730250"/>
          </a:xfrm>
          <a:prstGeom prst="rect">
            <a:avLst/>
          </a:prstGeom>
          <a:noFill/>
          <a:ln w="9525">
            <a:noFill/>
            <a:miter lim="800000"/>
            <a:headEnd/>
            <a:tailEnd/>
          </a:ln>
        </p:spPr>
        <p:txBody>
          <a:bodyPr>
            <a:spAutoFit/>
          </a:bodyPr>
          <a:lstStyle/>
          <a:p>
            <a:pPr algn="ctr">
              <a:spcBef>
                <a:spcPct val="50000"/>
              </a:spcBef>
              <a:spcAft>
                <a:spcPct val="20000"/>
              </a:spcAft>
              <a:buFont typeface="Times" pitchFamily="18" charset="0"/>
              <a:buNone/>
            </a:pPr>
            <a:r>
              <a:rPr lang="fi-FI" sz="1400" b="1"/>
              <a:t>Teoreettinen</a:t>
            </a:r>
            <a:br>
              <a:rPr lang="fi-FI" sz="1400" b="1"/>
            </a:br>
            <a:r>
              <a:rPr lang="fi-FI" sz="1400" b="1"/>
              <a:t>Kuinka suunniteltu toimimaan</a:t>
            </a:r>
            <a:br>
              <a:rPr lang="fi-FI" sz="1400" b="1"/>
            </a:br>
            <a:r>
              <a:rPr lang="fi-FI" sz="1400" b="1"/>
              <a:t>Halukas uskomaan</a:t>
            </a:r>
            <a:endParaRPr lang="en-GB" sz="1400" b="1"/>
          </a:p>
        </p:txBody>
      </p:sp>
      <p:sp>
        <p:nvSpPr>
          <p:cNvPr id="50194" name="Rectangle 19"/>
          <p:cNvSpPr>
            <a:spLocks noChangeArrowheads="1"/>
          </p:cNvSpPr>
          <p:nvPr/>
        </p:nvSpPr>
        <p:spPr bwMode="auto">
          <a:xfrm>
            <a:off x="381000" y="5137150"/>
            <a:ext cx="2819400" cy="730250"/>
          </a:xfrm>
          <a:prstGeom prst="rect">
            <a:avLst/>
          </a:prstGeom>
          <a:noFill/>
          <a:ln w="9525">
            <a:noFill/>
            <a:miter lim="800000"/>
            <a:headEnd/>
            <a:tailEnd/>
          </a:ln>
        </p:spPr>
        <p:txBody>
          <a:bodyPr>
            <a:spAutoFit/>
          </a:bodyPr>
          <a:lstStyle/>
          <a:p>
            <a:pPr algn="ctr">
              <a:spcBef>
                <a:spcPct val="50000"/>
              </a:spcBef>
              <a:spcAft>
                <a:spcPct val="20000"/>
              </a:spcAft>
              <a:buFont typeface="Times" pitchFamily="18" charset="0"/>
              <a:buNone/>
            </a:pPr>
            <a:r>
              <a:rPr lang="fi-FI" sz="1400" b="1"/>
              <a:t>Sietää yksitoikkoisuutta</a:t>
            </a:r>
            <a:br>
              <a:rPr lang="fi-FI" sz="1400" b="1"/>
            </a:br>
            <a:r>
              <a:rPr lang="fi-FI" sz="1400" b="1"/>
              <a:t>Sopeutuu ristiriitatilanteissa</a:t>
            </a:r>
            <a:br>
              <a:rPr lang="fi-FI" sz="1400" b="1"/>
            </a:br>
            <a:r>
              <a:rPr lang="fi-FI" sz="1400" b="1"/>
              <a:t>Raportoi ongelmia</a:t>
            </a:r>
          </a:p>
        </p:txBody>
      </p:sp>
      <p:sp>
        <p:nvSpPr>
          <p:cNvPr id="50195" name="Rectangle 20"/>
          <p:cNvSpPr>
            <a:spLocks noChangeArrowheads="1"/>
          </p:cNvSpPr>
          <p:nvPr/>
        </p:nvSpPr>
        <p:spPr bwMode="auto">
          <a:xfrm>
            <a:off x="5791200" y="5137150"/>
            <a:ext cx="2743200" cy="730250"/>
          </a:xfrm>
          <a:prstGeom prst="rect">
            <a:avLst/>
          </a:prstGeom>
          <a:noFill/>
          <a:ln w="9525">
            <a:noFill/>
            <a:miter lim="800000"/>
            <a:headEnd/>
            <a:tailEnd/>
          </a:ln>
        </p:spPr>
        <p:txBody>
          <a:bodyPr>
            <a:spAutoFit/>
          </a:bodyPr>
          <a:lstStyle/>
          <a:p>
            <a:pPr algn="ctr">
              <a:spcBef>
                <a:spcPct val="50000"/>
              </a:spcBef>
              <a:spcAft>
                <a:spcPct val="20000"/>
              </a:spcAft>
              <a:buFont typeface="Times" pitchFamily="18" charset="0"/>
              <a:buNone/>
            </a:pPr>
            <a:r>
              <a:rPr lang="fi-FI" sz="1400" b="1"/>
              <a:t>Automatisoi yksitoikkoisuutta</a:t>
            </a:r>
            <a:br>
              <a:rPr lang="fi-FI" sz="1400" b="1"/>
            </a:br>
            <a:r>
              <a:rPr lang="fi-FI" sz="1400" b="1"/>
              <a:t>Välttää ristiriitatilanteita</a:t>
            </a:r>
            <a:br>
              <a:rPr lang="fi-FI" sz="1400" b="1"/>
            </a:br>
            <a:r>
              <a:rPr lang="fi-FI" sz="1400" b="1"/>
              <a:t>Ymmärtää ongelmia</a:t>
            </a:r>
            <a:endParaRPr lang="en-GB" sz="1400" b="1"/>
          </a:p>
        </p:txBody>
      </p:sp>
      <p:sp>
        <p:nvSpPr>
          <p:cNvPr id="21" name="Slide Number Placeholder 20"/>
          <p:cNvSpPr>
            <a:spLocks noGrp="1"/>
          </p:cNvSpPr>
          <p:nvPr>
            <p:ph type="sldNum" sz="quarter" idx="12"/>
          </p:nvPr>
        </p:nvSpPr>
        <p:spPr/>
        <p:txBody>
          <a:bodyPr/>
          <a:lstStyle/>
          <a:p>
            <a:pPr>
              <a:defRPr/>
            </a:pPr>
            <a:fld id="{C4EE03DE-D135-4520-BB83-4291CABA1041}" type="slidenum">
              <a:rPr lang="sv-SE"/>
              <a:pPr>
                <a:defRPr/>
              </a:pPr>
              <a:t>11</a:t>
            </a:fld>
            <a:endParaRPr lang="sv-SE"/>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Hyvä testaaja</a:t>
            </a:r>
            <a:endParaRPr lang="fi-FI" dirty="0"/>
          </a:p>
        </p:txBody>
      </p:sp>
      <p:sp>
        <p:nvSpPr>
          <p:cNvPr id="3" name="Content Placeholder 2"/>
          <p:cNvSpPr>
            <a:spLocks noGrp="1"/>
          </p:cNvSpPr>
          <p:nvPr>
            <p:ph idx="1"/>
          </p:nvPr>
        </p:nvSpPr>
        <p:spPr/>
        <p:txBody>
          <a:bodyPr>
            <a:normAutofit fontScale="85000" lnSpcReduction="20000"/>
          </a:bodyPr>
          <a:lstStyle/>
          <a:p>
            <a:r>
              <a:rPr lang="fi-FI" dirty="0" smtClean="0"/>
              <a:t>Jokainen voi testata, mutta kaikki eivät ole siinä kovin hyviä</a:t>
            </a:r>
          </a:p>
          <a:p>
            <a:pPr lvl="1"/>
            <a:r>
              <a:rPr lang="fi-FI" dirty="0" smtClean="0"/>
              <a:t>Ohittavat oleellisia ongelmia</a:t>
            </a:r>
          </a:p>
          <a:p>
            <a:pPr lvl="1"/>
            <a:r>
              <a:rPr lang="fi-FI" dirty="0" smtClean="0"/>
              <a:t>Korostavat epäoleellisia ongelmia</a:t>
            </a:r>
          </a:p>
          <a:p>
            <a:pPr lvl="1"/>
            <a:r>
              <a:rPr lang="fi-FI" dirty="0" smtClean="0"/>
              <a:t>Luottavat liian helposti toimivuuteen</a:t>
            </a:r>
          </a:p>
          <a:p>
            <a:r>
              <a:rPr lang="fi-FI" dirty="0" smtClean="0"/>
              <a:t>Hyvät testaajat pitää yleensä kasvattaa: etsi siis potentiaalia</a:t>
            </a:r>
          </a:p>
          <a:p>
            <a:r>
              <a:rPr lang="fi-FI" dirty="0" smtClean="0"/>
              <a:t>Työntekijät eivät ole vaihdettavissa päittäin oli dokumentoinnin taso mikä tahansa</a:t>
            </a:r>
          </a:p>
          <a:p>
            <a:pPr lvl="1"/>
            <a:r>
              <a:rPr lang="fi-FI" dirty="0" smtClean="0"/>
              <a:t>Ihmisten kasvattaminen yhteistyötä tekevissä tiimeissä on loistava turvaverkko organisaation oppimisille ja osaamisen jatkuvuudelle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Ketterän testaajan vaatimukset</a:t>
            </a:r>
            <a:endParaRPr lang="fi-FI" dirty="0"/>
          </a:p>
        </p:txBody>
      </p:sp>
      <p:sp>
        <p:nvSpPr>
          <p:cNvPr id="3" name="Content Placeholder 2"/>
          <p:cNvSpPr>
            <a:spLocks noGrp="1"/>
          </p:cNvSpPr>
          <p:nvPr>
            <p:ph idx="1"/>
          </p:nvPr>
        </p:nvSpPr>
        <p:spPr/>
        <p:txBody>
          <a:bodyPr>
            <a:normAutofit fontScale="62500" lnSpcReduction="20000"/>
          </a:bodyPr>
          <a:lstStyle/>
          <a:p>
            <a:r>
              <a:rPr lang="fi-FI" dirty="0" smtClean="0"/>
              <a:t>Toivottaa muutoksen tervetulleeksi</a:t>
            </a:r>
          </a:p>
          <a:p>
            <a:pPr lvl="1"/>
            <a:r>
              <a:rPr lang="fi-FI" dirty="0" smtClean="0"/>
              <a:t>Muutos on mahdollisuus parantaa laatua, ei uhka joka tuhoaa jo suoritetun testauksen arvon</a:t>
            </a:r>
          </a:p>
          <a:p>
            <a:r>
              <a:rPr lang="fi-FI" dirty="0" smtClean="0"/>
              <a:t>Toimii hyvin yhteistyössä sekä teknisten että liiketoimintapuolen ihmisten kanssa</a:t>
            </a:r>
          </a:p>
          <a:p>
            <a:pPr lvl="1"/>
            <a:r>
              <a:rPr lang="fi-FI" dirty="0" smtClean="0"/>
              <a:t>Ei joko-tai vaan molemmat</a:t>
            </a:r>
          </a:p>
          <a:p>
            <a:pPr lvl="1"/>
            <a:r>
              <a:rPr lang="fi-FI" dirty="0" smtClean="0"/>
              <a:t>Kysyy kysymyksiä ja pyytää apua</a:t>
            </a:r>
          </a:p>
          <a:p>
            <a:pPr lvl="1"/>
            <a:r>
              <a:rPr lang="fi-FI" dirty="0" smtClean="0"/>
              <a:t>Tiimipeluri</a:t>
            </a:r>
          </a:p>
          <a:p>
            <a:r>
              <a:rPr lang="fi-FI" dirty="0" smtClean="0"/>
              <a:t>Kykenevä työskentelemään vaatimusten sekä inkrementaalisen arvotoimituksen kanssa</a:t>
            </a:r>
          </a:p>
          <a:p>
            <a:pPr lvl="1"/>
            <a:r>
              <a:rPr lang="fi-FI" dirty="0" smtClean="0"/>
              <a:t>Määrittelee hyväksymistestejä toimituksen laajuuden rajaamiseksi</a:t>
            </a:r>
          </a:p>
          <a:p>
            <a:pPr lvl="1"/>
            <a:r>
              <a:rPr lang="fi-FI" dirty="0" smtClean="0"/>
              <a:t>Etsii ratkaisuja työskennellessään ongelmien parissa</a:t>
            </a:r>
          </a:p>
          <a:p>
            <a:r>
              <a:rPr lang="fi-FI" dirty="0" smtClean="0"/>
              <a:t>Kokenut tutkivassa testauksessa</a:t>
            </a:r>
          </a:p>
          <a:p>
            <a:pPr lvl="1"/>
            <a:r>
              <a:rPr lang="fi-FI" dirty="0" smtClean="0"/>
              <a:t>Kykenee oppimaan ja nalaysoimaan omaa tietotasoaan</a:t>
            </a:r>
          </a:p>
          <a:p>
            <a:r>
              <a:rPr lang="fi-FI" dirty="0" smtClean="0"/>
              <a:t>Yleensä, hyvät tekniset kyvyt ja automaatio-osaaminen</a:t>
            </a:r>
          </a:p>
          <a:p>
            <a:endParaRPr lang="fi-FI" dirty="0" smtClean="0"/>
          </a:p>
          <a:p>
            <a:endParaRPr lang="fi-FI" dirty="0"/>
          </a:p>
        </p:txBody>
      </p:sp>
      <p:sp>
        <p:nvSpPr>
          <p:cNvPr id="4" name="TextBox 3"/>
          <p:cNvSpPr txBox="1"/>
          <p:nvPr/>
        </p:nvSpPr>
        <p:spPr>
          <a:xfrm>
            <a:off x="6357950" y="1142984"/>
            <a:ext cx="2500330"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fi-FI" sz="2000" dirty="0" smtClean="0"/>
              <a:t>Proaktiivinen ja itseohjautuva!</a:t>
            </a:r>
            <a:endParaRPr lang="fi-FI" sz="2000" dirty="0"/>
          </a:p>
        </p:txBody>
      </p:sp>
      <p:sp>
        <p:nvSpPr>
          <p:cNvPr id="5" name="TextBox 4"/>
          <p:cNvSpPr txBox="1"/>
          <p:nvPr/>
        </p:nvSpPr>
        <p:spPr>
          <a:xfrm>
            <a:off x="2057400" y="5943600"/>
            <a:ext cx="5286412" cy="70788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fi-FI" sz="2000" dirty="0" smtClean="0"/>
              <a:t>Osaaminen on tärkeää, mutta oikea asenne painaa vaakakupissa enemmän!</a:t>
            </a:r>
            <a:endParaRPr lang="fi-FI"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p:nvPr>
        </p:nvSpPr>
        <p:spPr/>
        <p:txBody>
          <a:bodyPr>
            <a:noAutofit/>
          </a:bodyPr>
          <a:lstStyle/>
          <a:p>
            <a:r>
              <a:rPr lang="en-GB" sz="2800" dirty="0" err="1" smtClean="0"/>
              <a:t>Mitä</a:t>
            </a:r>
            <a:r>
              <a:rPr lang="en-GB" sz="2800" dirty="0" smtClean="0"/>
              <a:t> </a:t>
            </a:r>
            <a:r>
              <a:rPr lang="en-GB" sz="2800" dirty="0" err="1" smtClean="0"/>
              <a:t>perinteisen</a:t>
            </a:r>
            <a:r>
              <a:rPr lang="en-GB" sz="2800" dirty="0" smtClean="0"/>
              <a:t> </a:t>
            </a:r>
            <a:r>
              <a:rPr lang="en-GB" sz="2800" dirty="0" err="1" smtClean="0"/>
              <a:t>testaajan</a:t>
            </a:r>
            <a:r>
              <a:rPr lang="en-GB" sz="2800" dirty="0" smtClean="0"/>
              <a:t> on </a:t>
            </a:r>
            <a:r>
              <a:rPr lang="en-GB" sz="2800" dirty="0" err="1" smtClean="0"/>
              <a:t>opittava</a:t>
            </a:r>
            <a:r>
              <a:rPr lang="en-GB" sz="2800" dirty="0" smtClean="0"/>
              <a:t> </a:t>
            </a:r>
            <a:r>
              <a:rPr lang="en-GB" sz="2800" dirty="0" err="1" smtClean="0"/>
              <a:t>selvitäkseen</a:t>
            </a:r>
            <a:r>
              <a:rPr lang="en-GB" sz="2800" dirty="0" smtClean="0"/>
              <a:t> </a:t>
            </a:r>
            <a:r>
              <a:rPr lang="en-GB" sz="2800" dirty="0" err="1" smtClean="0"/>
              <a:t>ja</a:t>
            </a:r>
            <a:r>
              <a:rPr lang="en-GB" sz="2800" dirty="0" smtClean="0"/>
              <a:t> </a:t>
            </a:r>
            <a:r>
              <a:rPr lang="en-GB" sz="2800" dirty="0" err="1" smtClean="0"/>
              <a:t>loistaakseen</a:t>
            </a:r>
            <a:r>
              <a:rPr lang="en-GB" sz="2800" dirty="0" smtClean="0"/>
              <a:t> </a:t>
            </a:r>
            <a:r>
              <a:rPr lang="en-GB" sz="2800" dirty="0" err="1" smtClean="0"/>
              <a:t>ketterissä</a:t>
            </a:r>
            <a:r>
              <a:rPr lang="en-GB" sz="2800" dirty="0" smtClean="0"/>
              <a:t> </a:t>
            </a:r>
            <a:r>
              <a:rPr lang="en-GB" sz="2800" dirty="0" err="1" smtClean="0"/>
              <a:t>projekteissa</a:t>
            </a:r>
            <a:endParaRPr lang="en-GB" sz="2800" dirty="0" smtClean="0"/>
          </a:p>
        </p:txBody>
      </p:sp>
      <p:sp>
        <p:nvSpPr>
          <p:cNvPr id="1378307" name="Rectangle 3"/>
          <p:cNvSpPr>
            <a:spLocks noGrp="1" noChangeArrowheads="1"/>
          </p:cNvSpPr>
          <p:nvPr>
            <p:ph idx="1"/>
          </p:nvPr>
        </p:nvSpPr>
        <p:spPr/>
        <p:txBody>
          <a:bodyPr>
            <a:normAutofit fontScale="85000" lnSpcReduction="20000"/>
          </a:bodyPr>
          <a:lstStyle/>
          <a:p>
            <a:r>
              <a:rPr lang="en-GB" smtClean="0"/>
              <a:t>Vastuun ottaminen ilman että se annetaan sinulle erikseen roolimäärittelyssä</a:t>
            </a:r>
          </a:p>
          <a:p>
            <a:r>
              <a:rPr lang="en-GB" smtClean="0"/>
              <a:t>Testauksen aloittaminen pinnallisella tiedolla oppien edetessä, tietotasosta puhuminen</a:t>
            </a:r>
          </a:p>
          <a:p>
            <a:r>
              <a:rPr lang="en-GB" smtClean="0"/>
              <a:t>Aktiivisuus tiedon hankkimisessa silmäkkäin eri sidosryhmien kanssa</a:t>
            </a:r>
          </a:p>
          <a:p>
            <a:r>
              <a:rPr lang="en-GB" smtClean="0"/>
              <a:t>Useiden sidosryhmien kanssa toimiminen</a:t>
            </a:r>
          </a:p>
          <a:p>
            <a:r>
              <a:rPr lang="en-GB" smtClean="0"/>
              <a:t>Kyky sanoa ei perustelun kanssa kun valmis ei olekaan valmis testaukselle</a:t>
            </a:r>
          </a:p>
          <a:p>
            <a:r>
              <a:rPr lang="en-GB" smtClean="0"/>
              <a:t>Kustannuksen ja arvon jatkuva neuvottelu ja arviosi perusteiden kyseenalaistaminen positiivisena mekanismina</a:t>
            </a:r>
            <a:endParaRPr lang="en-GB"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Testi: Millainen ketterä testaaja olisit?</a:t>
            </a:r>
            <a:endParaRPr lang="fi-FI" dirty="0"/>
          </a:p>
        </p:txBody>
      </p:sp>
      <p:sp>
        <p:nvSpPr>
          <p:cNvPr id="3" name="Content Placeholder 2"/>
          <p:cNvSpPr>
            <a:spLocks noGrp="1"/>
          </p:cNvSpPr>
          <p:nvPr>
            <p:ph idx="1"/>
          </p:nvPr>
        </p:nvSpPr>
        <p:spPr/>
        <p:txBody>
          <a:bodyPr>
            <a:normAutofit lnSpcReduction="10000"/>
          </a:bodyPr>
          <a:lstStyle/>
          <a:p>
            <a:r>
              <a:rPr lang="fi-FI" dirty="0" smtClean="0"/>
              <a:t>Onko sinulla ohjelmointitaitoja, joilla toteuttaa testiautomaatiota?</a:t>
            </a:r>
          </a:p>
          <a:p>
            <a:pPr lvl="1"/>
            <a:r>
              <a:rPr lang="fi-FI" dirty="0" smtClean="0"/>
              <a:t>Jos on, onko sinulla halua käyttää näitä taitoja merkittävä osa työpäivästäsi?</a:t>
            </a:r>
          </a:p>
          <a:p>
            <a:r>
              <a:rPr lang="fi-FI" dirty="0" smtClean="0"/>
              <a:t>Kun valitset vain toisen, tekisitkö mieluiten rinta rinnan töitä kehitystiimiläisten vai liiketoiminta-asiantuntijoiden / vaatimus-määrittelijöiden kanssa testaustarvetta ymmärtääksesi?</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Testin tulokset: Millainen ketterä testaaja olisit?</a:t>
            </a:r>
            <a:endParaRPr lang="fi-FI" dirty="0"/>
          </a:p>
        </p:txBody>
      </p:sp>
      <p:grpSp>
        <p:nvGrpSpPr>
          <p:cNvPr id="2" name="Group 8"/>
          <p:cNvGrpSpPr/>
          <p:nvPr/>
        </p:nvGrpSpPr>
        <p:grpSpPr>
          <a:xfrm>
            <a:off x="428596" y="1785926"/>
            <a:ext cx="6786610" cy="4357718"/>
            <a:chOff x="5715008" y="4501364"/>
            <a:chExt cx="2786082" cy="1928032"/>
          </a:xfrm>
        </p:grpSpPr>
        <p:cxnSp>
          <p:nvCxnSpPr>
            <p:cNvPr id="5" name="Straight Arrow Connector 4"/>
            <p:cNvCxnSpPr/>
            <p:nvPr/>
          </p:nvCxnSpPr>
          <p:spPr>
            <a:xfrm>
              <a:off x="5715008" y="5572140"/>
              <a:ext cx="2786082" cy="1588"/>
            </a:xfrm>
            <a:prstGeom prst="straightConnector1">
              <a:avLst/>
            </a:prstGeom>
            <a:ln>
              <a:headEnd type="triangl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6" name="Straight Arrow Connector 5"/>
            <p:cNvCxnSpPr/>
            <p:nvPr/>
          </p:nvCxnSpPr>
          <p:spPr>
            <a:xfrm rot="5400000" flipH="1" flipV="1">
              <a:off x="6037273" y="5464983"/>
              <a:ext cx="1928032" cy="794"/>
            </a:xfrm>
            <a:prstGeom prst="straightConnector1">
              <a:avLst/>
            </a:prstGeom>
            <a:ln>
              <a:headEnd type="triangle" w="med" len="med"/>
              <a:tailEnd type="triangle" w="med" len="med"/>
            </a:ln>
          </p:spPr>
          <p:style>
            <a:lnRef idx="3">
              <a:schemeClr val="accent4"/>
            </a:lnRef>
            <a:fillRef idx="0">
              <a:schemeClr val="accent4"/>
            </a:fillRef>
            <a:effectRef idx="2">
              <a:schemeClr val="accent4"/>
            </a:effectRef>
            <a:fontRef idx="minor">
              <a:schemeClr val="tx1"/>
            </a:fontRef>
          </p:style>
        </p:cxnSp>
      </p:grpSp>
      <p:sp>
        <p:nvSpPr>
          <p:cNvPr id="7" name="TextBox 6"/>
          <p:cNvSpPr txBox="1"/>
          <p:nvPr/>
        </p:nvSpPr>
        <p:spPr>
          <a:xfrm>
            <a:off x="3643306" y="1714488"/>
            <a:ext cx="2143140" cy="830997"/>
          </a:xfrm>
          <a:prstGeom prst="rect">
            <a:avLst/>
          </a:prstGeom>
          <a:noFill/>
        </p:spPr>
        <p:txBody>
          <a:bodyPr wrap="square" rtlCol="0">
            <a:spAutoFit/>
          </a:bodyPr>
          <a:lstStyle/>
          <a:p>
            <a:pPr algn="ctr"/>
            <a:r>
              <a:rPr lang="fi-FI" sz="2400" dirty="0" smtClean="0"/>
              <a:t>Ohjelmointi-taidot?</a:t>
            </a:r>
            <a:endParaRPr lang="fi-FI" sz="2400" dirty="0"/>
          </a:p>
        </p:txBody>
      </p:sp>
      <p:sp>
        <p:nvSpPr>
          <p:cNvPr id="8" name="TextBox 7"/>
          <p:cNvSpPr txBox="1"/>
          <p:nvPr/>
        </p:nvSpPr>
        <p:spPr>
          <a:xfrm>
            <a:off x="-161940" y="3357562"/>
            <a:ext cx="2143140" cy="830997"/>
          </a:xfrm>
          <a:prstGeom prst="rect">
            <a:avLst/>
          </a:prstGeom>
          <a:noFill/>
        </p:spPr>
        <p:txBody>
          <a:bodyPr wrap="square" rtlCol="0">
            <a:spAutoFit/>
          </a:bodyPr>
          <a:lstStyle/>
          <a:p>
            <a:pPr algn="ctr"/>
            <a:r>
              <a:rPr lang="fi-FI" sz="2400" dirty="0" smtClean="0"/>
              <a:t>Suosikki-</a:t>
            </a:r>
            <a:br>
              <a:rPr lang="fi-FI" sz="2400" dirty="0" smtClean="0"/>
            </a:br>
            <a:r>
              <a:rPr lang="fi-FI" sz="2400" dirty="0" smtClean="0"/>
              <a:t>kumppani?</a:t>
            </a:r>
            <a:endParaRPr lang="fi-FI" sz="2400" dirty="0"/>
          </a:p>
        </p:txBody>
      </p:sp>
      <p:sp>
        <p:nvSpPr>
          <p:cNvPr id="10" name="TextBox 9"/>
          <p:cNvSpPr txBox="1"/>
          <p:nvPr/>
        </p:nvSpPr>
        <p:spPr>
          <a:xfrm>
            <a:off x="3571868" y="3000372"/>
            <a:ext cx="1071570" cy="369332"/>
          </a:xfrm>
          <a:prstGeom prst="rect">
            <a:avLst/>
          </a:prstGeom>
          <a:noFill/>
        </p:spPr>
        <p:txBody>
          <a:bodyPr wrap="square" rtlCol="0">
            <a:spAutoFit/>
          </a:bodyPr>
          <a:lstStyle/>
          <a:p>
            <a:r>
              <a:rPr lang="fi-FI" dirty="0" smtClean="0"/>
              <a:t>KYLLÄ</a:t>
            </a:r>
            <a:endParaRPr lang="fi-FI" dirty="0"/>
          </a:p>
        </p:txBody>
      </p:sp>
      <p:sp>
        <p:nvSpPr>
          <p:cNvPr id="11" name="TextBox 10"/>
          <p:cNvSpPr txBox="1"/>
          <p:nvPr/>
        </p:nvSpPr>
        <p:spPr>
          <a:xfrm>
            <a:off x="3571868" y="5059932"/>
            <a:ext cx="1071570" cy="369332"/>
          </a:xfrm>
          <a:prstGeom prst="rect">
            <a:avLst/>
          </a:prstGeom>
          <a:noFill/>
        </p:spPr>
        <p:txBody>
          <a:bodyPr wrap="square" rtlCol="0">
            <a:spAutoFit/>
          </a:bodyPr>
          <a:lstStyle/>
          <a:p>
            <a:r>
              <a:rPr lang="fi-FI" dirty="0" smtClean="0"/>
              <a:t>EI</a:t>
            </a:r>
            <a:endParaRPr lang="fi-FI" dirty="0"/>
          </a:p>
        </p:txBody>
      </p:sp>
      <p:sp>
        <p:nvSpPr>
          <p:cNvPr id="12" name="TextBox 11"/>
          <p:cNvSpPr txBox="1"/>
          <p:nvPr/>
        </p:nvSpPr>
        <p:spPr>
          <a:xfrm>
            <a:off x="1214414" y="4214818"/>
            <a:ext cx="1714512" cy="369332"/>
          </a:xfrm>
          <a:prstGeom prst="rect">
            <a:avLst/>
          </a:prstGeom>
          <a:noFill/>
        </p:spPr>
        <p:txBody>
          <a:bodyPr wrap="square" rtlCol="0">
            <a:spAutoFit/>
          </a:bodyPr>
          <a:lstStyle/>
          <a:p>
            <a:pPr algn="ctr"/>
            <a:r>
              <a:rPr lang="fi-FI" dirty="0" smtClean="0"/>
              <a:t>LIIKETOIMINTA</a:t>
            </a:r>
            <a:endParaRPr lang="fi-FI" dirty="0"/>
          </a:p>
        </p:txBody>
      </p:sp>
      <p:sp>
        <p:nvSpPr>
          <p:cNvPr id="13" name="TextBox 12"/>
          <p:cNvSpPr txBox="1"/>
          <p:nvPr/>
        </p:nvSpPr>
        <p:spPr>
          <a:xfrm>
            <a:off x="4214810" y="4214818"/>
            <a:ext cx="1714512" cy="369332"/>
          </a:xfrm>
          <a:prstGeom prst="rect">
            <a:avLst/>
          </a:prstGeom>
          <a:noFill/>
        </p:spPr>
        <p:txBody>
          <a:bodyPr wrap="square" rtlCol="0">
            <a:spAutoFit/>
          </a:bodyPr>
          <a:lstStyle/>
          <a:p>
            <a:pPr algn="ctr"/>
            <a:r>
              <a:rPr lang="fi-FI" dirty="0" smtClean="0"/>
              <a:t>KEHITYS</a:t>
            </a:r>
            <a:endParaRPr lang="fi-FI" dirty="0"/>
          </a:p>
        </p:txBody>
      </p:sp>
      <p:sp>
        <p:nvSpPr>
          <p:cNvPr id="14" name="Cloud 13"/>
          <p:cNvSpPr/>
          <p:nvPr/>
        </p:nvSpPr>
        <p:spPr>
          <a:xfrm>
            <a:off x="4572000" y="2500306"/>
            <a:ext cx="2571768" cy="1643074"/>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dirty="0" smtClean="0"/>
              <a:t>Täydentäjä kehittäjien parina</a:t>
            </a:r>
            <a:endParaRPr lang="fi-FI" dirty="0"/>
          </a:p>
        </p:txBody>
      </p:sp>
      <p:sp>
        <p:nvSpPr>
          <p:cNvPr id="15" name="Cloud 14"/>
          <p:cNvSpPr/>
          <p:nvPr/>
        </p:nvSpPr>
        <p:spPr>
          <a:xfrm>
            <a:off x="428596" y="1785926"/>
            <a:ext cx="2571768" cy="1643074"/>
          </a:xfrm>
          <a:prstGeom prst="cloud">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fi-FI" dirty="0" smtClean="0"/>
              <a:t>Sillanrakentaja</a:t>
            </a:r>
            <a:endParaRPr lang="fi-FI" dirty="0"/>
          </a:p>
        </p:txBody>
      </p:sp>
      <p:sp>
        <p:nvSpPr>
          <p:cNvPr id="16" name="Cloud 15"/>
          <p:cNvSpPr/>
          <p:nvPr/>
        </p:nvSpPr>
        <p:spPr>
          <a:xfrm>
            <a:off x="4143372" y="4572008"/>
            <a:ext cx="2571768" cy="1643074"/>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dirty="0" smtClean="0"/>
              <a:t>Täydentäjä toisten testaajien parina</a:t>
            </a:r>
            <a:endParaRPr lang="fi-FI" dirty="0"/>
          </a:p>
        </p:txBody>
      </p:sp>
      <p:sp>
        <p:nvSpPr>
          <p:cNvPr id="17" name="Cloud 16"/>
          <p:cNvSpPr/>
          <p:nvPr/>
        </p:nvSpPr>
        <p:spPr>
          <a:xfrm>
            <a:off x="500034" y="4714884"/>
            <a:ext cx="2571768" cy="1643074"/>
          </a:xfrm>
          <a:prstGeom prst="cloud">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dirty="0" smtClean="0"/>
              <a:t>Vaatimusten konkretisoija esimerkein</a:t>
            </a:r>
            <a:endParaRPr lang="fi-FI" dirty="0"/>
          </a:p>
        </p:txBody>
      </p:sp>
      <p:sp>
        <p:nvSpPr>
          <p:cNvPr id="19" name="TextBox 18"/>
          <p:cNvSpPr txBox="1"/>
          <p:nvPr/>
        </p:nvSpPr>
        <p:spPr>
          <a:xfrm>
            <a:off x="7358082" y="2500306"/>
            <a:ext cx="1643042" cy="3693319"/>
          </a:xfrm>
          <a:prstGeom prst="rect">
            <a:avLst/>
          </a:prstGeom>
          <a:noFill/>
        </p:spPr>
        <p:txBody>
          <a:bodyPr wrap="square" rtlCol="0">
            <a:spAutoFit/>
          </a:bodyPr>
          <a:lstStyle/>
          <a:p>
            <a:pPr algn="ctr"/>
            <a:r>
              <a:rPr lang="fi-FI" dirty="0" smtClean="0"/>
              <a:t>Onko mahdollista loistaa sekä liiketoiminnassa että teknologiassa? Onko se tyypillistä? Onko tämä yleisosaamisen näkökulma keskeistä tiimille? </a:t>
            </a:r>
            <a:endParaRPr lang="fi-FI" dirty="0"/>
          </a:p>
        </p:txBody>
      </p:sp>
      <p:sp>
        <p:nvSpPr>
          <p:cNvPr id="18" name="Slide Number Placeholder 17"/>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Ketterä testaus – riippuu myös testaajasta</a:t>
            </a:r>
            <a:endParaRPr lang="fi-FI" dirty="0"/>
          </a:p>
        </p:txBody>
      </p:sp>
      <p:sp>
        <p:nvSpPr>
          <p:cNvPr id="3" name="Content Placeholder 2"/>
          <p:cNvSpPr>
            <a:spLocks noGrp="1"/>
          </p:cNvSpPr>
          <p:nvPr>
            <p:ph idx="1"/>
          </p:nvPr>
        </p:nvSpPr>
        <p:spPr/>
        <p:txBody>
          <a:bodyPr>
            <a:noAutofit/>
          </a:bodyPr>
          <a:lstStyle/>
          <a:p>
            <a:r>
              <a:rPr lang="fi-FI" sz="2000" dirty="0" smtClean="0"/>
              <a:t>Teknisesti suuntautunut ketterä testaaja</a:t>
            </a:r>
          </a:p>
          <a:p>
            <a:pPr lvl="1"/>
            <a:r>
              <a:rPr lang="fi-FI" sz="1800" dirty="0" smtClean="0"/>
              <a:t>Loistaa myös liiketoiminta-ajattelussa</a:t>
            </a:r>
          </a:p>
          <a:p>
            <a:pPr lvl="1"/>
            <a:r>
              <a:rPr lang="fi-FI" sz="1800" dirty="0" smtClean="0"/>
              <a:t>Kokee vahvaa yhteyttä teknisen tiimin kanssa</a:t>
            </a:r>
          </a:p>
          <a:p>
            <a:pPr lvl="1"/>
            <a:r>
              <a:rPr lang="fi-FI" sz="1800" dirty="0" smtClean="0"/>
              <a:t>Palvelee asiakasta / liiketoimintaa tiimin jäsenenä</a:t>
            </a:r>
          </a:p>
          <a:p>
            <a:pPr lvl="1"/>
            <a:r>
              <a:rPr lang="fi-FI" sz="1800" dirty="0" smtClean="0"/>
              <a:t>Osaa automatisoida koodaamalla!</a:t>
            </a:r>
          </a:p>
          <a:p>
            <a:pPr lvl="1"/>
            <a:r>
              <a:rPr lang="fi-FI" sz="1800" dirty="0" smtClean="0"/>
              <a:t>Kykenee tekemään sekä tutkivaa testausta että testiautomaatiota</a:t>
            </a:r>
          </a:p>
          <a:p>
            <a:r>
              <a:rPr lang="fi-FI" sz="2000" dirty="0" smtClean="0"/>
              <a:t>Liiketoimintasuuntautunut ketterä testaaja</a:t>
            </a:r>
          </a:p>
          <a:p>
            <a:pPr lvl="1"/>
            <a:r>
              <a:rPr lang="fi-FI" sz="1800" dirty="0" smtClean="0"/>
              <a:t>Monipuolinen ajattelutapa ominaisuuksista ja niiden hyväksymisen kriteereistä</a:t>
            </a:r>
          </a:p>
          <a:p>
            <a:pPr lvl="1"/>
            <a:r>
              <a:rPr lang="fi-FI" sz="1800" dirty="0" smtClean="0"/>
              <a:t>Luovuutta tutkivassa testauksessa</a:t>
            </a:r>
          </a:p>
          <a:p>
            <a:pPr lvl="1"/>
            <a:r>
              <a:rPr lang="fi-FI" sz="1800" dirty="0" smtClean="0"/>
              <a:t>Kokee vahvaa yhteyttä asiakkaan kanssa</a:t>
            </a:r>
          </a:p>
          <a:p>
            <a:pPr lvl="1"/>
            <a:r>
              <a:rPr lang="fi-FI" sz="1800" dirty="0" smtClean="0"/>
              <a:t>Ei ohjelmointitaitoja tai henkilökohtaista kiinnostusta testiautomaatioon</a:t>
            </a:r>
          </a:p>
          <a:p>
            <a:pPr lvl="1"/>
            <a:r>
              <a:rPr lang="fi-FI" sz="1800" dirty="0" smtClean="0"/>
              <a:t>Kyvykäs tekemään tutkivaa testausta, auttamaan tuotteen tehtävälistan kanssa mutta mieluiten jättää automaation muille tiimiläisille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1570" name="Rectangle 2"/>
          <p:cNvSpPr>
            <a:spLocks noGrp="1" noChangeArrowheads="1"/>
          </p:cNvSpPr>
          <p:nvPr>
            <p:ph type="title"/>
          </p:nvPr>
        </p:nvSpPr>
        <p:spPr/>
        <p:txBody>
          <a:bodyPr>
            <a:normAutofit fontScale="90000"/>
          </a:bodyPr>
          <a:lstStyle/>
          <a:p>
            <a:r>
              <a:rPr lang="en-GB" dirty="0" err="1" smtClean="0"/>
              <a:t>Testaajien</a:t>
            </a:r>
            <a:r>
              <a:rPr lang="en-GB" dirty="0" smtClean="0"/>
              <a:t> </a:t>
            </a:r>
            <a:r>
              <a:rPr lang="en-GB" dirty="0" err="1" smtClean="0"/>
              <a:t>sijoittelu</a:t>
            </a:r>
            <a:r>
              <a:rPr lang="en-GB" dirty="0" smtClean="0"/>
              <a:t> </a:t>
            </a:r>
            <a:r>
              <a:rPr lang="en-GB" dirty="0" err="1" smtClean="0"/>
              <a:t>kehitysorganisaatiossa</a:t>
            </a:r>
            <a:endParaRPr lang="en-GB" dirty="0"/>
          </a:p>
        </p:txBody>
      </p:sp>
      <p:sp>
        <p:nvSpPr>
          <p:cNvPr id="1261571" name="Rectangle 3"/>
          <p:cNvSpPr>
            <a:spLocks noGrp="1" noChangeArrowheads="1"/>
          </p:cNvSpPr>
          <p:nvPr>
            <p:ph sz="half" idx="1"/>
          </p:nvPr>
        </p:nvSpPr>
        <p:spPr/>
        <p:txBody>
          <a:bodyPr>
            <a:noAutofit/>
          </a:bodyPr>
          <a:lstStyle/>
          <a:p>
            <a:pPr>
              <a:lnSpc>
                <a:spcPct val="110000"/>
              </a:lnSpc>
            </a:pPr>
            <a:r>
              <a:rPr lang="en-GB" sz="1800" dirty="0" err="1" smtClean="0"/>
              <a:t>Testaajat</a:t>
            </a:r>
            <a:r>
              <a:rPr lang="en-GB" sz="1800" dirty="0" smtClean="0"/>
              <a:t> </a:t>
            </a:r>
            <a:r>
              <a:rPr lang="en-GB" sz="1800" dirty="0" err="1" smtClean="0"/>
              <a:t>tasa-arvoisia</a:t>
            </a:r>
            <a:r>
              <a:rPr lang="en-GB" sz="1800" dirty="0" smtClean="0"/>
              <a:t> </a:t>
            </a:r>
            <a:r>
              <a:rPr lang="en-GB" sz="1800" dirty="0" err="1" smtClean="0"/>
              <a:t>tiimiläisiä</a:t>
            </a:r>
            <a:endParaRPr lang="en-GB" sz="1800" dirty="0" smtClean="0"/>
          </a:p>
          <a:p>
            <a:pPr lvl="1">
              <a:lnSpc>
                <a:spcPct val="90000"/>
              </a:lnSpc>
            </a:pPr>
            <a:r>
              <a:rPr lang="en-GB" sz="1600" dirty="0" err="1" smtClean="0"/>
              <a:t>Kaikki</a:t>
            </a:r>
            <a:r>
              <a:rPr lang="en-GB" sz="1600" dirty="0" smtClean="0"/>
              <a:t> </a:t>
            </a:r>
            <a:r>
              <a:rPr lang="en-GB" sz="1600" dirty="0" err="1" smtClean="0"/>
              <a:t>kehittäjiä</a:t>
            </a:r>
            <a:r>
              <a:rPr lang="en-GB" sz="1600" dirty="0" smtClean="0"/>
              <a:t> / </a:t>
            </a:r>
            <a:r>
              <a:rPr lang="en-GB" sz="1600" dirty="0" err="1" smtClean="0"/>
              <a:t>tiimin</a:t>
            </a:r>
            <a:r>
              <a:rPr lang="en-GB" sz="1600" dirty="0" smtClean="0"/>
              <a:t> </a:t>
            </a:r>
            <a:r>
              <a:rPr lang="en-GB" sz="1600" dirty="0" err="1" smtClean="0"/>
              <a:t>jäseniä</a:t>
            </a:r>
            <a:r>
              <a:rPr lang="en-GB" sz="1600" dirty="0" smtClean="0"/>
              <a:t>, </a:t>
            </a:r>
            <a:r>
              <a:rPr lang="en-GB" sz="1600" dirty="0" err="1" smtClean="0"/>
              <a:t>joista</a:t>
            </a:r>
            <a:r>
              <a:rPr lang="en-GB" sz="1600" dirty="0" smtClean="0"/>
              <a:t> </a:t>
            </a:r>
            <a:r>
              <a:rPr lang="en-GB" sz="1600" dirty="0" err="1" smtClean="0"/>
              <a:t>osalle</a:t>
            </a:r>
            <a:r>
              <a:rPr lang="en-GB" sz="1600" dirty="0" smtClean="0"/>
              <a:t> </a:t>
            </a:r>
            <a:r>
              <a:rPr lang="en-GB" sz="1600" dirty="0" err="1" smtClean="0"/>
              <a:t>saattaa</a:t>
            </a:r>
            <a:r>
              <a:rPr lang="en-GB" sz="1600" dirty="0" smtClean="0"/>
              <a:t> </a:t>
            </a:r>
            <a:r>
              <a:rPr lang="en-GB" sz="1600" dirty="0" err="1" smtClean="0"/>
              <a:t>kertyä</a:t>
            </a:r>
            <a:r>
              <a:rPr lang="en-GB" sz="1600" dirty="0" smtClean="0"/>
              <a:t> </a:t>
            </a:r>
            <a:r>
              <a:rPr lang="en-GB" sz="1600" dirty="0" err="1" smtClean="0"/>
              <a:t>enemmän</a:t>
            </a:r>
            <a:r>
              <a:rPr lang="en-GB" sz="1600" dirty="0" smtClean="0"/>
              <a:t> </a:t>
            </a:r>
            <a:r>
              <a:rPr lang="en-GB" sz="1600" dirty="0" err="1" smtClean="0"/>
              <a:t>testausosaamista</a:t>
            </a:r>
            <a:endParaRPr lang="en-GB" sz="1600" dirty="0"/>
          </a:p>
          <a:p>
            <a:pPr lvl="1">
              <a:lnSpc>
                <a:spcPct val="90000"/>
              </a:lnSpc>
            </a:pPr>
            <a:r>
              <a:rPr lang="en-GB" sz="1600" dirty="0" err="1" smtClean="0"/>
              <a:t>Tiedon</a:t>
            </a:r>
            <a:r>
              <a:rPr lang="en-GB" sz="1600" dirty="0" smtClean="0"/>
              <a:t> </a:t>
            </a:r>
            <a:r>
              <a:rPr lang="en-GB" sz="1600" dirty="0" err="1" smtClean="0"/>
              <a:t>ja</a:t>
            </a:r>
            <a:r>
              <a:rPr lang="en-GB" sz="1600" dirty="0" smtClean="0"/>
              <a:t> </a:t>
            </a:r>
            <a:r>
              <a:rPr lang="en-GB" sz="1600" dirty="0" err="1" smtClean="0"/>
              <a:t>taitojen</a:t>
            </a:r>
            <a:r>
              <a:rPr lang="en-GB" sz="1600" dirty="0" smtClean="0"/>
              <a:t> </a:t>
            </a:r>
            <a:r>
              <a:rPr lang="en-GB" sz="1600" dirty="0" err="1" smtClean="0"/>
              <a:t>jatkuva</a:t>
            </a:r>
            <a:r>
              <a:rPr lang="en-GB" sz="1600" dirty="0" smtClean="0"/>
              <a:t> </a:t>
            </a:r>
            <a:r>
              <a:rPr lang="en-GB" sz="1600" dirty="0" err="1" smtClean="0"/>
              <a:t>jakaminen</a:t>
            </a:r>
            <a:r>
              <a:rPr lang="en-GB" sz="1600" dirty="0" smtClean="0"/>
              <a:t> </a:t>
            </a:r>
            <a:r>
              <a:rPr lang="en-GB" sz="1600" dirty="0" err="1" smtClean="0"/>
              <a:t>vaikka</a:t>
            </a:r>
            <a:r>
              <a:rPr lang="en-GB" sz="1600" dirty="0" smtClean="0"/>
              <a:t> </a:t>
            </a:r>
            <a:r>
              <a:rPr lang="en-GB" sz="1600" dirty="0" err="1" smtClean="0"/>
              <a:t>erikoistuisikin</a:t>
            </a:r>
            <a:endParaRPr lang="en-GB" sz="1600" dirty="0" smtClean="0"/>
          </a:p>
          <a:p>
            <a:pPr lvl="1">
              <a:lnSpc>
                <a:spcPct val="90000"/>
              </a:lnSpc>
            </a:pPr>
            <a:r>
              <a:rPr lang="en-GB" sz="1600" dirty="0" err="1" smtClean="0"/>
              <a:t>Ryhmät</a:t>
            </a:r>
            <a:r>
              <a:rPr lang="en-GB" sz="1600" dirty="0" smtClean="0"/>
              <a:t> </a:t>
            </a:r>
            <a:r>
              <a:rPr lang="en-GB" sz="1600" dirty="0" err="1" smtClean="0"/>
              <a:t>vastuussa</a:t>
            </a:r>
            <a:r>
              <a:rPr lang="en-GB" sz="1600" dirty="0" smtClean="0"/>
              <a:t> </a:t>
            </a:r>
            <a:r>
              <a:rPr lang="en-GB" sz="1600" dirty="0" err="1" smtClean="0"/>
              <a:t>toiminnallisuudesta</a:t>
            </a:r>
            <a:r>
              <a:rPr lang="en-GB" sz="1600" dirty="0" smtClean="0"/>
              <a:t> </a:t>
            </a:r>
            <a:r>
              <a:rPr lang="en-GB" sz="1600" dirty="0" err="1" smtClean="0"/>
              <a:t>ja</a:t>
            </a:r>
            <a:r>
              <a:rPr lang="en-GB" sz="1600" dirty="0" smtClean="0"/>
              <a:t> </a:t>
            </a:r>
            <a:r>
              <a:rPr lang="en-GB" sz="1600" dirty="0" err="1" smtClean="0"/>
              <a:t>sen</a:t>
            </a:r>
            <a:r>
              <a:rPr lang="en-GB" sz="1600" dirty="0" smtClean="0"/>
              <a:t> </a:t>
            </a:r>
            <a:r>
              <a:rPr lang="en-GB" sz="1600" dirty="0" err="1" smtClean="0"/>
              <a:t>vaikutuksista</a:t>
            </a:r>
            <a:r>
              <a:rPr lang="en-GB" sz="1600" dirty="0" smtClean="0"/>
              <a:t> </a:t>
            </a:r>
            <a:r>
              <a:rPr lang="en-GB" sz="1600" dirty="0" err="1" smtClean="0"/>
              <a:t>järjestelmään</a:t>
            </a:r>
            <a:r>
              <a:rPr lang="en-GB" sz="1600" dirty="0" smtClean="0"/>
              <a:t>, </a:t>
            </a:r>
            <a:r>
              <a:rPr lang="en-GB" sz="1600" dirty="0" err="1" smtClean="0"/>
              <a:t>ei</a:t>
            </a:r>
            <a:r>
              <a:rPr lang="en-GB" sz="1600" dirty="0" smtClean="0"/>
              <a:t> vain </a:t>
            </a:r>
            <a:r>
              <a:rPr lang="en-GB" sz="1600" dirty="0" err="1" smtClean="0"/>
              <a:t>komponenteista</a:t>
            </a:r>
            <a:endParaRPr lang="en-GB" sz="1600" dirty="0" smtClean="0"/>
          </a:p>
          <a:p>
            <a:pPr>
              <a:lnSpc>
                <a:spcPct val="110000"/>
              </a:lnSpc>
            </a:pPr>
            <a:r>
              <a:rPr lang="en-GB" sz="1800" dirty="0" err="1" smtClean="0"/>
              <a:t>Erillinen</a:t>
            </a:r>
            <a:r>
              <a:rPr lang="en-GB" sz="1800" dirty="0" smtClean="0"/>
              <a:t> </a:t>
            </a:r>
            <a:r>
              <a:rPr lang="en-GB" sz="1800" dirty="0" err="1" smtClean="0"/>
              <a:t>testausryhmä</a:t>
            </a:r>
            <a:endParaRPr lang="en-GB" sz="1800" dirty="0"/>
          </a:p>
          <a:p>
            <a:pPr lvl="1">
              <a:lnSpc>
                <a:spcPct val="90000"/>
              </a:lnSpc>
            </a:pPr>
            <a:r>
              <a:rPr lang="en-GB" sz="1600" dirty="0" err="1" smtClean="0"/>
              <a:t>Viestinnän</a:t>
            </a:r>
            <a:r>
              <a:rPr lang="en-GB" sz="1600" dirty="0" smtClean="0"/>
              <a:t> </a:t>
            </a:r>
            <a:r>
              <a:rPr lang="en-GB" sz="1600" dirty="0" err="1" smtClean="0"/>
              <a:t>ja</a:t>
            </a:r>
            <a:r>
              <a:rPr lang="en-GB" sz="1600" dirty="0" smtClean="0"/>
              <a:t> </a:t>
            </a:r>
            <a:r>
              <a:rPr lang="en-GB" sz="1600" dirty="0" err="1" smtClean="0"/>
              <a:t>tiedonjaon</a:t>
            </a:r>
            <a:r>
              <a:rPr lang="en-GB" sz="1600" dirty="0" smtClean="0"/>
              <a:t> </a:t>
            </a:r>
            <a:r>
              <a:rPr lang="en-GB" sz="1600" dirty="0" err="1" smtClean="0"/>
              <a:t>mekanismit</a:t>
            </a:r>
            <a:r>
              <a:rPr lang="en-GB" sz="1600" dirty="0" smtClean="0"/>
              <a:t> </a:t>
            </a:r>
            <a:r>
              <a:rPr lang="en-GB" sz="1600" dirty="0" err="1" smtClean="0"/>
              <a:t>tiimin</a:t>
            </a:r>
            <a:r>
              <a:rPr lang="en-GB" sz="1600" dirty="0" smtClean="0"/>
              <a:t> </a:t>
            </a:r>
            <a:r>
              <a:rPr lang="en-GB" sz="1600" dirty="0" err="1" smtClean="0"/>
              <a:t>sisäisiä</a:t>
            </a:r>
            <a:r>
              <a:rPr lang="en-GB" sz="1600" dirty="0" smtClean="0"/>
              <a:t>, </a:t>
            </a:r>
            <a:r>
              <a:rPr lang="en-GB" sz="1600" dirty="0" err="1" smtClean="0"/>
              <a:t>ulkoinen</a:t>
            </a:r>
            <a:r>
              <a:rPr lang="en-GB" sz="1600" dirty="0" smtClean="0"/>
              <a:t> </a:t>
            </a:r>
            <a:r>
              <a:rPr lang="en-GB" sz="1600" dirty="0" err="1" smtClean="0"/>
              <a:t>ryhmä</a:t>
            </a:r>
            <a:r>
              <a:rPr lang="en-GB" sz="1600" dirty="0" smtClean="0"/>
              <a:t> </a:t>
            </a:r>
            <a:r>
              <a:rPr lang="en-GB" sz="1600" dirty="0" err="1" smtClean="0"/>
              <a:t>ei</a:t>
            </a:r>
            <a:r>
              <a:rPr lang="en-GB" sz="1600" dirty="0" smtClean="0"/>
              <a:t> </a:t>
            </a:r>
            <a:r>
              <a:rPr lang="en-GB" sz="1600" dirty="0" err="1" smtClean="0"/>
              <a:t>toimi</a:t>
            </a:r>
            <a:endParaRPr lang="en-GB" sz="1600" dirty="0" smtClean="0"/>
          </a:p>
          <a:p>
            <a:pPr lvl="1">
              <a:lnSpc>
                <a:spcPct val="90000"/>
              </a:lnSpc>
            </a:pPr>
            <a:r>
              <a:rPr lang="en-GB" sz="1600" dirty="0" err="1" smtClean="0"/>
              <a:t>Testauksen</a:t>
            </a:r>
            <a:r>
              <a:rPr lang="en-GB" sz="1600" dirty="0" smtClean="0"/>
              <a:t> </a:t>
            </a:r>
            <a:r>
              <a:rPr lang="en-GB" sz="1600" dirty="0" err="1" smtClean="0"/>
              <a:t>eriyttäminen</a:t>
            </a:r>
            <a:r>
              <a:rPr lang="en-GB" sz="1600" dirty="0" smtClean="0"/>
              <a:t> </a:t>
            </a:r>
            <a:r>
              <a:rPr lang="en-GB" sz="1600" dirty="0" err="1" smtClean="0"/>
              <a:t>hidastaa</a:t>
            </a:r>
            <a:r>
              <a:rPr lang="en-GB" sz="1600" dirty="0" smtClean="0"/>
              <a:t> </a:t>
            </a:r>
            <a:r>
              <a:rPr lang="en-GB" sz="1600" dirty="0" err="1" smtClean="0"/>
              <a:t>palautetta</a:t>
            </a:r>
            <a:r>
              <a:rPr lang="en-GB" sz="1600" dirty="0" smtClean="0"/>
              <a:t> </a:t>
            </a:r>
            <a:r>
              <a:rPr lang="en-GB" sz="1600" dirty="0" err="1" smtClean="0"/>
              <a:t>ja</a:t>
            </a:r>
            <a:r>
              <a:rPr lang="en-GB" sz="1600" dirty="0" smtClean="0"/>
              <a:t> </a:t>
            </a:r>
            <a:r>
              <a:rPr lang="en-GB" sz="1600" dirty="0" err="1" smtClean="0"/>
              <a:t>lisää</a:t>
            </a:r>
            <a:r>
              <a:rPr lang="en-GB" sz="1600" dirty="0" smtClean="0"/>
              <a:t> </a:t>
            </a:r>
            <a:r>
              <a:rPr lang="en-GB" sz="1600" dirty="0" err="1" smtClean="0"/>
              <a:t>viestinnän</a:t>
            </a:r>
            <a:r>
              <a:rPr lang="en-GB" sz="1600" dirty="0" smtClean="0"/>
              <a:t> </a:t>
            </a:r>
            <a:r>
              <a:rPr lang="en-GB" sz="1600" dirty="0" err="1" smtClean="0"/>
              <a:t>kuluja</a:t>
            </a:r>
            <a:endParaRPr lang="en-GB" sz="1600" dirty="0" smtClean="0"/>
          </a:p>
          <a:p>
            <a:pPr lvl="1">
              <a:lnSpc>
                <a:spcPct val="90000"/>
              </a:lnSpc>
            </a:pPr>
            <a:r>
              <a:rPr lang="en-GB" sz="1600" dirty="0" err="1" smtClean="0"/>
              <a:t>Hyväksymistestaustiimi</a:t>
            </a:r>
            <a:r>
              <a:rPr lang="en-GB" sz="1600" dirty="0" smtClean="0"/>
              <a:t> </a:t>
            </a:r>
            <a:r>
              <a:rPr lang="en-GB" sz="1600" dirty="0" err="1" smtClean="0"/>
              <a:t>saattaa</a:t>
            </a:r>
            <a:r>
              <a:rPr lang="en-GB" sz="1600" dirty="0" smtClean="0"/>
              <a:t> </a:t>
            </a:r>
            <a:r>
              <a:rPr lang="en-GB" sz="1600" dirty="0" err="1" smtClean="0"/>
              <a:t>tarjota</a:t>
            </a:r>
            <a:r>
              <a:rPr lang="en-GB" sz="1600" dirty="0" smtClean="0"/>
              <a:t> </a:t>
            </a:r>
            <a:r>
              <a:rPr lang="en-GB" sz="1600" dirty="0" err="1" smtClean="0"/>
              <a:t>palveluita</a:t>
            </a:r>
            <a:r>
              <a:rPr lang="en-GB" sz="1600" dirty="0" smtClean="0"/>
              <a:t> </a:t>
            </a:r>
            <a:r>
              <a:rPr lang="en-GB" sz="1600" dirty="0" err="1" smtClean="0"/>
              <a:t>tuotteen</a:t>
            </a:r>
            <a:r>
              <a:rPr lang="en-GB" sz="1600" dirty="0" smtClean="0"/>
              <a:t> </a:t>
            </a:r>
            <a:r>
              <a:rPr lang="en-GB" sz="1600" dirty="0" err="1" smtClean="0"/>
              <a:t>tehtävälistan</a:t>
            </a:r>
            <a:r>
              <a:rPr lang="en-GB" sz="1600" dirty="0" smtClean="0"/>
              <a:t> </a:t>
            </a:r>
            <a:r>
              <a:rPr lang="en-GB" sz="1600" dirty="0" err="1" smtClean="0"/>
              <a:t>näkyvyyden</a:t>
            </a:r>
            <a:r>
              <a:rPr lang="en-GB" sz="1600" dirty="0" smtClean="0"/>
              <a:t> </a:t>
            </a:r>
            <a:r>
              <a:rPr lang="en-GB" sz="1600" dirty="0" err="1" smtClean="0"/>
              <a:t>tasolla</a:t>
            </a:r>
            <a:endParaRPr lang="en-GB" sz="1600" dirty="0" smtClean="0"/>
          </a:p>
        </p:txBody>
      </p:sp>
      <p:sp>
        <p:nvSpPr>
          <p:cNvPr id="15" name="Content Placeholder 14"/>
          <p:cNvSpPr>
            <a:spLocks noGrp="1"/>
          </p:cNvSpPr>
          <p:nvPr>
            <p:ph sz="half" idx="2"/>
          </p:nvPr>
        </p:nvSpPr>
        <p:spPr/>
        <p:txBody>
          <a:bodyPr>
            <a:noAutofit/>
          </a:bodyPr>
          <a:lstStyle/>
          <a:p>
            <a:pPr marL="381000" indent="-381000"/>
            <a:r>
              <a:rPr lang="en-GB" sz="1600" dirty="0" err="1" smtClean="0"/>
              <a:t>Testaajien</a:t>
            </a:r>
            <a:r>
              <a:rPr lang="en-GB" sz="1600" dirty="0" smtClean="0"/>
              <a:t> </a:t>
            </a:r>
            <a:r>
              <a:rPr lang="en-GB" sz="1600" dirty="0" err="1" smtClean="0"/>
              <a:t>sijoittelu</a:t>
            </a:r>
            <a:r>
              <a:rPr lang="en-GB" sz="1600" dirty="0" smtClean="0"/>
              <a:t> </a:t>
            </a:r>
            <a:r>
              <a:rPr lang="en-GB" sz="1600" dirty="0" err="1" smtClean="0"/>
              <a:t>organisaatiossa</a:t>
            </a:r>
            <a:endParaRPr lang="en-GB" sz="1600" dirty="0" smtClean="0"/>
          </a:p>
          <a:p>
            <a:pPr marL="781050" lvl="1" indent="-381000"/>
            <a:r>
              <a:rPr lang="en-GB" sz="1400" dirty="0" err="1" smtClean="0"/>
              <a:t>Erillinen</a:t>
            </a:r>
            <a:r>
              <a:rPr lang="en-GB" sz="1400" dirty="0" smtClean="0"/>
              <a:t> </a:t>
            </a:r>
            <a:r>
              <a:rPr lang="en-GB" sz="1400" dirty="0" err="1" smtClean="0"/>
              <a:t>testausosaajien</a:t>
            </a:r>
            <a:r>
              <a:rPr lang="en-GB" sz="1400" dirty="0" smtClean="0"/>
              <a:t> </a:t>
            </a:r>
            <a:r>
              <a:rPr lang="en-GB" sz="1400" dirty="0" err="1" smtClean="0"/>
              <a:t>ryhmä</a:t>
            </a:r>
            <a:r>
              <a:rPr lang="en-GB" sz="1400" dirty="0" smtClean="0"/>
              <a:t>: </a:t>
            </a:r>
            <a:r>
              <a:rPr lang="en-GB" sz="1400" dirty="0" err="1" smtClean="0"/>
              <a:t>rakennetaan</a:t>
            </a:r>
            <a:r>
              <a:rPr lang="en-GB" sz="1400" dirty="0" smtClean="0"/>
              <a:t> </a:t>
            </a:r>
            <a:r>
              <a:rPr lang="en-GB" sz="1400" dirty="0" err="1" smtClean="0"/>
              <a:t>osaamista</a:t>
            </a:r>
            <a:r>
              <a:rPr lang="en-GB" sz="1400" dirty="0" smtClean="0"/>
              <a:t> </a:t>
            </a:r>
            <a:r>
              <a:rPr lang="en-GB" sz="1400" dirty="0" err="1" smtClean="0"/>
              <a:t>yhdessä</a:t>
            </a:r>
            <a:endParaRPr lang="en-GB" sz="1400" dirty="0" smtClean="0"/>
          </a:p>
          <a:p>
            <a:pPr marL="781050" lvl="1" indent="-381000"/>
            <a:r>
              <a:rPr lang="en-GB" sz="1400" dirty="0" err="1" smtClean="0"/>
              <a:t>Samat</a:t>
            </a:r>
            <a:r>
              <a:rPr lang="en-GB" sz="1400" dirty="0" smtClean="0"/>
              <a:t> </a:t>
            </a:r>
            <a:r>
              <a:rPr lang="en-GB" sz="1400" dirty="0" err="1" smtClean="0"/>
              <a:t>henkilöesimiehet</a:t>
            </a:r>
            <a:r>
              <a:rPr lang="en-GB" sz="1400" dirty="0" smtClean="0"/>
              <a:t> </a:t>
            </a:r>
            <a:r>
              <a:rPr lang="en-GB" sz="1400" dirty="0" err="1" smtClean="0"/>
              <a:t>kehittäjille</a:t>
            </a:r>
            <a:r>
              <a:rPr lang="en-GB" sz="1400" dirty="0" smtClean="0"/>
              <a:t> </a:t>
            </a:r>
            <a:r>
              <a:rPr lang="en-GB" sz="1400" dirty="0" err="1" smtClean="0"/>
              <a:t>ja</a:t>
            </a:r>
            <a:r>
              <a:rPr lang="en-GB" sz="1400" dirty="0" smtClean="0"/>
              <a:t> </a:t>
            </a:r>
            <a:r>
              <a:rPr lang="en-GB" sz="1400" dirty="0" err="1" smtClean="0"/>
              <a:t>testaajille</a:t>
            </a:r>
            <a:r>
              <a:rPr lang="en-GB" sz="1400" dirty="0" smtClean="0"/>
              <a:t>: </a:t>
            </a:r>
            <a:r>
              <a:rPr lang="en-GB" sz="1400" dirty="0" err="1" smtClean="0"/>
              <a:t>kurotaan</a:t>
            </a:r>
            <a:r>
              <a:rPr lang="en-GB" sz="1400" dirty="0" smtClean="0"/>
              <a:t> </a:t>
            </a:r>
            <a:r>
              <a:rPr lang="en-GB" sz="1400" dirty="0" err="1" smtClean="0"/>
              <a:t>kiinni</a:t>
            </a:r>
            <a:r>
              <a:rPr lang="en-GB" sz="1400" dirty="0" smtClean="0"/>
              <a:t> </a:t>
            </a:r>
            <a:r>
              <a:rPr lang="en-GB" sz="1400" dirty="0" err="1" smtClean="0"/>
              <a:t>kuilua</a:t>
            </a:r>
            <a:r>
              <a:rPr lang="en-GB" sz="1400" dirty="0" smtClean="0"/>
              <a:t> </a:t>
            </a:r>
            <a:r>
              <a:rPr lang="en-GB" sz="1400" dirty="0" err="1" smtClean="0"/>
              <a:t>testauksen</a:t>
            </a:r>
            <a:r>
              <a:rPr lang="en-GB" sz="1400" dirty="0" smtClean="0"/>
              <a:t> </a:t>
            </a:r>
            <a:r>
              <a:rPr lang="en-GB" sz="1400" dirty="0" err="1" smtClean="0"/>
              <a:t>ymmärtämättömyydessä</a:t>
            </a:r>
            <a:endParaRPr lang="en-GB" sz="1800" dirty="0" smtClean="0"/>
          </a:p>
          <a:p>
            <a:pPr marL="381000" indent="-381000"/>
            <a:r>
              <a:rPr lang="en-GB" sz="1600" dirty="0" smtClean="0"/>
              <a:t>On </a:t>
            </a:r>
            <a:r>
              <a:rPr lang="en-GB" sz="1600" dirty="0" err="1" smtClean="0"/>
              <a:t>aina</a:t>
            </a:r>
            <a:r>
              <a:rPr lang="en-GB" sz="1600" dirty="0" smtClean="0"/>
              <a:t> </a:t>
            </a:r>
            <a:r>
              <a:rPr lang="en-GB" sz="1600" dirty="0" err="1" smtClean="0"/>
              <a:t>mahdollista</a:t>
            </a:r>
            <a:r>
              <a:rPr lang="en-GB" sz="1600" dirty="0" smtClean="0"/>
              <a:t> </a:t>
            </a:r>
            <a:r>
              <a:rPr lang="en-GB" sz="1600" dirty="0" err="1" smtClean="0"/>
              <a:t>pitää</a:t>
            </a:r>
            <a:r>
              <a:rPr lang="en-GB" sz="1600" dirty="0" smtClean="0"/>
              <a:t> </a:t>
            </a:r>
            <a:r>
              <a:rPr lang="en-GB" sz="1600" dirty="0" err="1" smtClean="0"/>
              <a:t>molemmat</a:t>
            </a:r>
            <a:r>
              <a:rPr lang="en-GB" sz="1600" dirty="0" smtClean="0"/>
              <a:t>: </a:t>
            </a:r>
            <a:r>
              <a:rPr lang="en-GB" sz="1600" dirty="0" err="1" smtClean="0"/>
              <a:t>toinen</a:t>
            </a:r>
            <a:r>
              <a:rPr lang="en-GB" sz="1600" dirty="0" smtClean="0"/>
              <a:t> </a:t>
            </a:r>
            <a:r>
              <a:rPr lang="en-GB" sz="1600" dirty="0" err="1" smtClean="0"/>
              <a:t>ulottuvuus</a:t>
            </a:r>
            <a:r>
              <a:rPr lang="en-GB" sz="1600" dirty="0" smtClean="0"/>
              <a:t> </a:t>
            </a:r>
            <a:r>
              <a:rPr lang="en-GB" sz="1600" dirty="0" err="1" smtClean="0"/>
              <a:t>virtuaalisena</a:t>
            </a:r>
            <a:r>
              <a:rPr lang="en-GB" sz="1600" dirty="0" smtClean="0"/>
              <a:t> </a:t>
            </a:r>
            <a:r>
              <a:rPr lang="en-GB" sz="1600" dirty="0" err="1" smtClean="0"/>
              <a:t>varaten</a:t>
            </a:r>
            <a:r>
              <a:rPr lang="en-GB" sz="1600" dirty="0" smtClean="0"/>
              <a:t> </a:t>
            </a:r>
            <a:r>
              <a:rPr lang="en-GB" sz="1600" dirty="0" err="1" smtClean="0"/>
              <a:t>aikaa</a:t>
            </a:r>
            <a:r>
              <a:rPr lang="en-GB" sz="1600" dirty="0" smtClean="0"/>
              <a:t> </a:t>
            </a:r>
            <a:r>
              <a:rPr lang="en-GB" sz="1600" dirty="0" err="1" smtClean="0"/>
              <a:t>yhteistyöhön</a:t>
            </a:r>
            <a:endParaRPr lang="en-GB" sz="1600" dirty="0" smtClean="0"/>
          </a:p>
          <a:p>
            <a:pPr marL="381000" indent="-381000"/>
            <a:r>
              <a:rPr lang="en-GB" sz="1600" dirty="0" err="1" smtClean="0"/>
              <a:t>Kokeiltuja</a:t>
            </a:r>
            <a:r>
              <a:rPr lang="en-GB" sz="1600" dirty="0" smtClean="0"/>
              <a:t> </a:t>
            </a:r>
            <a:r>
              <a:rPr lang="en-GB" sz="1600" dirty="0" err="1" smtClean="0"/>
              <a:t>lähestymistapoja</a:t>
            </a:r>
            <a:endParaRPr lang="en-GB" sz="1200" dirty="0" smtClean="0"/>
          </a:p>
          <a:p>
            <a:pPr marL="533400" lvl="1" indent="-342900">
              <a:buFont typeface="Times" pitchFamily="18" charset="0"/>
              <a:buAutoNum type="arabicPeriod"/>
            </a:pPr>
            <a:r>
              <a:rPr lang="en-GB" sz="1400" dirty="0" err="1" smtClean="0"/>
              <a:t>Erillinen</a:t>
            </a:r>
            <a:r>
              <a:rPr lang="en-GB" sz="1400" dirty="0" smtClean="0"/>
              <a:t> </a:t>
            </a:r>
            <a:r>
              <a:rPr lang="en-GB" sz="1400" dirty="0" err="1" smtClean="0"/>
              <a:t>järjestelmä</a:t>
            </a:r>
            <a:r>
              <a:rPr lang="en-GB" sz="1400" dirty="0" smtClean="0"/>
              <a:t>/</a:t>
            </a:r>
            <a:r>
              <a:rPr lang="en-GB" sz="1400" dirty="0" err="1" smtClean="0"/>
              <a:t>hyväksymistestaustiimi</a:t>
            </a:r>
            <a:endParaRPr lang="en-GB" sz="1400" dirty="0" smtClean="0"/>
          </a:p>
          <a:p>
            <a:pPr marL="917575" lvl="2" indent="-342900"/>
            <a:r>
              <a:rPr lang="en-GB" sz="1400" dirty="0" err="1" smtClean="0"/>
              <a:t>Haasteena</a:t>
            </a:r>
            <a:r>
              <a:rPr lang="en-GB" sz="1400" dirty="0" smtClean="0"/>
              <a:t>: </a:t>
            </a:r>
            <a:r>
              <a:rPr lang="en-GB" sz="1400" dirty="0" err="1" smtClean="0"/>
              <a:t>oletus</a:t>
            </a:r>
            <a:r>
              <a:rPr lang="en-GB" sz="1400" dirty="0" smtClean="0"/>
              <a:t> </a:t>
            </a:r>
            <a:r>
              <a:rPr lang="en-GB" sz="1400" dirty="0" err="1" smtClean="0"/>
              <a:t>tarkoitettua</a:t>
            </a:r>
            <a:r>
              <a:rPr lang="en-GB" sz="1400" dirty="0" smtClean="0"/>
              <a:t> </a:t>
            </a:r>
            <a:r>
              <a:rPr lang="en-GB" sz="1400" dirty="0" err="1" smtClean="0"/>
              <a:t>suuremmasta</a:t>
            </a:r>
            <a:r>
              <a:rPr lang="en-GB" sz="1400" dirty="0" smtClean="0"/>
              <a:t> </a:t>
            </a:r>
            <a:r>
              <a:rPr lang="en-GB" sz="1400" dirty="0" err="1" smtClean="0"/>
              <a:t>vastuusta</a:t>
            </a:r>
            <a:r>
              <a:rPr lang="en-GB" sz="1400" dirty="0" smtClean="0"/>
              <a:t>, </a:t>
            </a:r>
            <a:r>
              <a:rPr lang="en-GB" sz="1400" dirty="0" err="1" smtClean="0"/>
              <a:t>jolloin</a:t>
            </a:r>
            <a:r>
              <a:rPr lang="en-GB" sz="1400" dirty="0" smtClean="0"/>
              <a:t> </a:t>
            </a:r>
            <a:r>
              <a:rPr lang="en-GB" sz="1400" dirty="0" err="1" smtClean="0"/>
              <a:t>tiimi</a:t>
            </a:r>
            <a:r>
              <a:rPr lang="en-GB" sz="1400" dirty="0" smtClean="0"/>
              <a:t> </a:t>
            </a:r>
            <a:r>
              <a:rPr lang="en-GB" sz="1400" dirty="0" err="1" smtClean="0"/>
              <a:t>tukahtuu</a:t>
            </a:r>
            <a:r>
              <a:rPr lang="en-GB" sz="1400" dirty="0" smtClean="0"/>
              <a:t> </a:t>
            </a:r>
            <a:r>
              <a:rPr lang="en-GB" sz="1400" dirty="0" err="1" smtClean="0"/>
              <a:t>työkuormaansa</a:t>
            </a:r>
            <a:endParaRPr lang="en-GB" sz="1400" dirty="0" smtClean="0"/>
          </a:p>
          <a:p>
            <a:pPr marL="533400" lvl="1" indent="-342900">
              <a:buFont typeface="Times" pitchFamily="18" charset="0"/>
              <a:buAutoNum type="arabicPeriod"/>
            </a:pPr>
            <a:r>
              <a:rPr lang="en-GB" sz="1400" dirty="0" err="1" smtClean="0"/>
              <a:t>Kaikki</a:t>
            </a:r>
            <a:r>
              <a:rPr lang="en-GB" sz="1400" dirty="0" smtClean="0"/>
              <a:t> </a:t>
            </a:r>
            <a:r>
              <a:rPr lang="en-GB" sz="1400" dirty="0" err="1" smtClean="0"/>
              <a:t>testaajat</a:t>
            </a:r>
            <a:r>
              <a:rPr lang="en-GB" sz="1400" dirty="0" smtClean="0"/>
              <a:t>, </a:t>
            </a:r>
            <a:r>
              <a:rPr lang="en-GB" sz="1400" dirty="0" err="1" smtClean="0"/>
              <a:t>myös</a:t>
            </a:r>
            <a:r>
              <a:rPr lang="en-GB" sz="1400" dirty="0" smtClean="0"/>
              <a:t> </a:t>
            </a:r>
            <a:r>
              <a:rPr lang="en-GB" sz="1400" dirty="0" err="1" smtClean="0"/>
              <a:t>järjestelmä</a:t>
            </a:r>
            <a:r>
              <a:rPr lang="en-GB" sz="1400" dirty="0" smtClean="0"/>
              <a:t>/</a:t>
            </a:r>
            <a:r>
              <a:rPr lang="en-GB" sz="1400" dirty="0" err="1" smtClean="0"/>
              <a:t>hyväksymistestaajat</a:t>
            </a:r>
            <a:r>
              <a:rPr lang="en-GB" sz="1400" dirty="0" smtClean="0"/>
              <a:t>, </a:t>
            </a:r>
            <a:r>
              <a:rPr lang="en-GB" sz="1400" dirty="0" err="1" smtClean="0"/>
              <a:t>jaettu</a:t>
            </a:r>
            <a:r>
              <a:rPr lang="en-GB" sz="1400" dirty="0" smtClean="0"/>
              <a:t> </a:t>
            </a:r>
            <a:r>
              <a:rPr lang="en-GB" sz="1400" dirty="0" err="1" smtClean="0"/>
              <a:t>tiimeihin</a:t>
            </a:r>
            <a:endParaRPr lang="en-GB" sz="1400" dirty="0" smtClean="0"/>
          </a:p>
          <a:p>
            <a:pPr marL="933450" lvl="2" indent="-342900"/>
            <a:r>
              <a:rPr lang="en-GB" sz="1400" dirty="0" err="1" smtClean="0"/>
              <a:t>Haasteena</a:t>
            </a:r>
            <a:r>
              <a:rPr lang="en-GB" sz="1400" dirty="0" smtClean="0"/>
              <a:t>: </a:t>
            </a:r>
            <a:r>
              <a:rPr lang="en-GB" sz="1400" dirty="0" err="1" smtClean="0"/>
              <a:t>testaajan</a:t>
            </a:r>
            <a:r>
              <a:rPr lang="en-GB" sz="1400" dirty="0" smtClean="0"/>
              <a:t> </a:t>
            </a:r>
            <a:r>
              <a:rPr lang="en-GB" sz="1400" dirty="0" err="1" smtClean="0"/>
              <a:t>työn</a:t>
            </a:r>
            <a:r>
              <a:rPr lang="en-GB" sz="1400" dirty="0" smtClean="0"/>
              <a:t> </a:t>
            </a:r>
            <a:r>
              <a:rPr lang="en-GB" sz="1400" dirty="0" err="1" smtClean="0"/>
              <a:t>laajuus</a:t>
            </a:r>
            <a:r>
              <a:rPr lang="en-GB" sz="1400" dirty="0" smtClean="0"/>
              <a:t> </a:t>
            </a:r>
            <a:r>
              <a:rPr lang="en-GB" sz="1400" dirty="0" err="1" smtClean="0"/>
              <a:t>usein</a:t>
            </a:r>
            <a:r>
              <a:rPr lang="en-GB" sz="1400" dirty="0" smtClean="0"/>
              <a:t> </a:t>
            </a:r>
            <a:r>
              <a:rPr lang="en-GB" sz="1400" dirty="0" err="1" smtClean="0"/>
              <a:t>suurempi</a:t>
            </a:r>
            <a:r>
              <a:rPr lang="en-GB" sz="1400" dirty="0" smtClean="0"/>
              <a:t> </a:t>
            </a:r>
            <a:r>
              <a:rPr lang="en-GB" sz="1400" dirty="0" err="1" smtClean="0"/>
              <a:t>kuin</a:t>
            </a:r>
            <a:r>
              <a:rPr lang="en-GB" sz="1400" dirty="0" smtClean="0"/>
              <a:t> </a:t>
            </a:r>
            <a:r>
              <a:rPr lang="en-GB" sz="1400" dirty="0" err="1" smtClean="0"/>
              <a:t>tiimin</a:t>
            </a:r>
            <a:r>
              <a:rPr lang="en-GB" sz="1400" dirty="0" smtClean="0"/>
              <a:t> </a:t>
            </a:r>
            <a:r>
              <a:rPr lang="en-GB" sz="1400" dirty="0" err="1" smtClean="0"/>
              <a:t>ymmärretty</a:t>
            </a:r>
            <a:r>
              <a:rPr lang="en-GB" sz="1400" dirty="0" smtClean="0"/>
              <a:t> </a:t>
            </a:r>
            <a:r>
              <a:rPr lang="en-GB" sz="1400" dirty="0" err="1" smtClean="0"/>
              <a:t>laajuus</a:t>
            </a:r>
            <a:r>
              <a:rPr lang="en-GB" sz="1400" dirty="0" smtClean="0"/>
              <a:t> </a:t>
            </a:r>
            <a:r>
              <a:rPr lang="en-GB" sz="1400" dirty="0" err="1" smtClean="0"/>
              <a:t>ennen</a:t>
            </a:r>
            <a:r>
              <a:rPr lang="en-GB" sz="1400" dirty="0" smtClean="0"/>
              <a:t> </a:t>
            </a:r>
            <a:r>
              <a:rPr lang="en-GB" sz="1400" dirty="0" err="1" smtClean="0"/>
              <a:t>testaajan</a:t>
            </a:r>
            <a:r>
              <a:rPr lang="en-GB" sz="1400" dirty="0" smtClean="0"/>
              <a:t> </a:t>
            </a:r>
            <a:r>
              <a:rPr lang="en-GB" sz="1400" dirty="0" err="1" smtClean="0"/>
              <a:t>liittymistä</a:t>
            </a:r>
            <a:endParaRPr lang="en-GB" sz="1400" dirty="0" smtClean="0"/>
          </a:p>
        </p:txBody>
      </p:sp>
      <p:sp>
        <p:nvSpPr>
          <p:cNvPr id="13" name="Slide Number Placeholder 12"/>
          <p:cNvSpPr>
            <a:spLocks noGrp="1"/>
          </p:cNvSpPr>
          <p:nvPr>
            <p:ph type="sldNum" sz="quarter" idx="12"/>
          </p:nvPr>
        </p:nvSpPr>
        <p:spPr/>
        <p:txBody>
          <a:bodyPr/>
          <a:lstStyle/>
          <a:p>
            <a:fld id="{B6F15528-21DE-4FAA-801E-634DDDAF4B2B}" type="slidenum">
              <a:rPr lang="en-US" smtClean="0"/>
              <a:pPr/>
              <a:t>18</a:t>
            </a:fld>
            <a:endParaRPr lang="en-US"/>
          </a:p>
        </p:txBody>
      </p:sp>
      <p:grpSp>
        <p:nvGrpSpPr>
          <p:cNvPr id="2" name="Group 4"/>
          <p:cNvGrpSpPr>
            <a:grpSpLocks/>
          </p:cNvGrpSpPr>
          <p:nvPr/>
        </p:nvGrpSpPr>
        <p:grpSpPr bwMode="auto">
          <a:xfrm>
            <a:off x="7848600" y="381000"/>
            <a:ext cx="914400" cy="838200"/>
            <a:chOff x="4272" y="528"/>
            <a:chExt cx="336" cy="240"/>
          </a:xfrm>
        </p:grpSpPr>
        <p:grpSp>
          <p:nvGrpSpPr>
            <p:cNvPr id="3" name="Group 5"/>
            <p:cNvGrpSpPr>
              <a:grpSpLocks/>
            </p:cNvGrpSpPr>
            <p:nvPr/>
          </p:nvGrpSpPr>
          <p:grpSpPr bwMode="auto">
            <a:xfrm>
              <a:off x="4512" y="528"/>
              <a:ext cx="96" cy="240"/>
              <a:chOff x="768" y="3120"/>
              <a:chExt cx="96" cy="240"/>
            </a:xfrm>
          </p:grpSpPr>
          <p:sp>
            <p:nvSpPr>
              <p:cNvPr id="1261574" name="Rectangle 6"/>
              <p:cNvSpPr>
                <a:spLocks noChangeArrowheads="1"/>
              </p:cNvSpPr>
              <p:nvPr/>
            </p:nvSpPr>
            <p:spPr bwMode="auto">
              <a:xfrm>
                <a:off x="768" y="3216"/>
                <a:ext cx="96" cy="144"/>
              </a:xfrm>
              <a:prstGeom prst="rect">
                <a:avLst/>
              </a:prstGeom>
              <a:solidFill>
                <a:schemeClr val="folHlink"/>
              </a:solidFill>
              <a:ln w="12700">
                <a:noFill/>
                <a:miter lim="800000"/>
                <a:headEnd/>
                <a:tailEnd/>
              </a:ln>
              <a:effectLst/>
            </p:spPr>
            <p:txBody>
              <a:bodyPr wrap="none" lIns="90000" tIns="46800" rIns="90000" bIns="46800" anchor="ctr"/>
              <a:lstStyle/>
              <a:p>
                <a:endParaRPr lang="en-US"/>
              </a:p>
            </p:txBody>
          </p:sp>
          <p:sp>
            <p:nvSpPr>
              <p:cNvPr id="1261575" name="Oval 7"/>
              <p:cNvSpPr>
                <a:spLocks noChangeArrowheads="1"/>
              </p:cNvSpPr>
              <p:nvPr/>
            </p:nvSpPr>
            <p:spPr bwMode="auto">
              <a:xfrm>
                <a:off x="768" y="3120"/>
                <a:ext cx="96" cy="96"/>
              </a:xfrm>
              <a:prstGeom prst="ellipse">
                <a:avLst/>
              </a:prstGeom>
              <a:solidFill>
                <a:schemeClr val="folHlink"/>
              </a:solidFill>
              <a:ln w="12700">
                <a:noFill/>
                <a:round/>
                <a:headEnd/>
                <a:tailEnd/>
              </a:ln>
              <a:effectLst/>
            </p:spPr>
            <p:txBody>
              <a:bodyPr wrap="none" lIns="90000" tIns="46800" rIns="90000" bIns="46800" anchor="ctr"/>
              <a:lstStyle/>
              <a:p>
                <a:endParaRPr lang="en-US"/>
              </a:p>
            </p:txBody>
          </p:sp>
        </p:grpSp>
        <p:grpSp>
          <p:nvGrpSpPr>
            <p:cNvPr id="4" name="Group 8"/>
            <p:cNvGrpSpPr>
              <a:grpSpLocks/>
            </p:cNvGrpSpPr>
            <p:nvPr/>
          </p:nvGrpSpPr>
          <p:grpSpPr bwMode="auto">
            <a:xfrm>
              <a:off x="4272" y="528"/>
              <a:ext cx="240" cy="240"/>
              <a:chOff x="169" y="3648"/>
              <a:chExt cx="240" cy="240"/>
            </a:xfrm>
          </p:grpSpPr>
          <p:grpSp>
            <p:nvGrpSpPr>
              <p:cNvPr id="5" name="Group 9"/>
              <p:cNvGrpSpPr>
                <a:grpSpLocks/>
              </p:cNvGrpSpPr>
              <p:nvPr/>
            </p:nvGrpSpPr>
            <p:grpSpPr bwMode="auto">
              <a:xfrm>
                <a:off x="240" y="3648"/>
                <a:ext cx="96" cy="240"/>
                <a:chOff x="768" y="3120"/>
                <a:chExt cx="96" cy="240"/>
              </a:xfrm>
            </p:grpSpPr>
            <p:sp>
              <p:nvSpPr>
                <p:cNvPr id="1261578" name="Rectangle 10"/>
                <p:cNvSpPr>
                  <a:spLocks noChangeArrowheads="1"/>
                </p:cNvSpPr>
                <p:nvPr/>
              </p:nvSpPr>
              <p:spPr bwMode="auto">
                <a:xfrm>
                  <a:off x="768" y="3216"/>
                  <a:ext cx="96" cy="144"/>
                </a:xfrm>
                <a:prstGeom prst="rect">
                  <a:avLst/>
                </a:prstGeom>
                <a:solidFill>
                  <a:schemeClr val="bg2"/>
                </a:solidFill>
                <a:ln w="12700">
                  <a:noFill/>
                  <a:miter lim="800000"/>
                  <a:headEnd/>
                  <a:tailEnd/>
                </a:ln>
                <a:effectLst/>
              </p:spPr>
              <p:txBody>
                <a:bodyPr wrap="none" lIns="90000" tIns="46800" rIns="90000" bIns="46800" anchor="ctr"/>
                <a:lstStyle/>
                <a:p>
                  <a:endParaRPr lang="en-US"/>
                </a:p>
              </p:txBody>
            </p:sp>
            <p:sp>
              <p:nvSpPr>
                <p:cNvPr id="1261579" name="Oval 11"/>
                <p:cNvSpPr>
                  <a:spLocks noChangeArrowheads="1"/>
                </p:cNvSpPr>
                <p:nvPr/>
              </p:nvSpPr>
              <p:spPr bwMode="auto">
                <a:xfrm>
                  <a:off x="768" y="3120"/>
                  <a:ext cx="96" cy="96"/>
                </a:xfrm>
                <a:prstGeom prst="ellipse">
                  <a:avLst/>
                </a:prstGeom>
                <a:solidFill>
                  <a:schemeClr val="bg2"/>
                </a:solidFill>
                <a:ln w="12700">
                  <a:noFill/>
                  <a:round/>
                  <a:headEnd/>
                  <a:tailEnd/>
                </a:ln>
                <a:effectLst/>
              </p:spPr>
              <p:txBody>
                <a:bodyPr wrap="none" lIns="90000" tIns="46800" rIns="90000" bIns="46800" anchor="ctr"/>
                <a:lstStyle/>
                <a:p>
                  <a:endParaRPr lang="en-US"/>
                </a:p>
              </p:txBody>
            </p:sp>
          </p:grpSp>
          <p:sp>
            <p:nvSpPr>
              <p:cNvPr id="1261580" name="Text Box 12"/>
              <p:cNvSpPr txBox="1">
                <a:spLocks noChangeArrowheads="1"/>
              </p:cNvSpPr>
              <p:nvPr/>
            </p:nvSpPr>
            <p:spPr bwMode="auto">
              <a:xfrm>
                <a:off x="169" y="3739"/>
                <a:ext cx="240" cy="6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900" b="1"/>
                  <a:t>@</a:t>
                </a:r>
              </a:p>
            </p:txBody>
          </p:sp>
        </p:grpSp>
      </p:grpSp>
      <p:sp>
        <p:nvSpPr>
          <p:cNvPr id="17" name="TextBox 16"/>
          <p:cNvSpPr txBox="1"/>
          <p:nvPr/>
        </p:nvSpPr>
        <p:spPr>
          <a:xfrm>
            <a:off x="7848600" y="5257800"/>
            <a:ext cx="1524000" cy="430887"/>
          </a:xfrm>
          <a:prstGeom prst="rect">
            <a:avLst/>
          </a:prstGeom>
          <a:noFill/>
        </p:spPr>
        <p:txBody>
          <a:bodyPr wrap="square" rtlCol="0">
            <a:spAutoFit/>
          </a:bodyPr>
          <a:lstStyle/>
          <a:p>
            <a:pPr algn="ctr"/>
            <a:r>
              <a:rPr lang="fi-FI" sz="1100" dirty="0" smtClean="0">
                <a:solidFill>
                  <a:schemeClr val="accent2"/>
                </a:solidFill>
              </a:rPr>
              <a:t>SUOSIMANI </a:t>
            </a:r>
            <a:br>
              <a:rPr lang="fi-FI" sz="1100" dirty="0" smtClean="0">
                <a:solidFill>
                  <a:schemeClr val="accent2"/>
                </a:solidFill>
              </a:rPr>
            </a:br>
            <a:r>
              <a:rPr lang="fi-FI" sz="1100" dirty="0" smtClean="0">
                <a:solidFill>
                  <a:schemeClr val="accent2"/>
                </a:solidFill>
              </a:rPr>
              <a:t>KÄYTÄNTÖ</a:t>
            </a:r>
            <a:endParaRPr lang="fi-FI" sz="1100" dirty="0">
              <a:solidFill>
                <a:schemeClr val="accent2"/>
              </a:solidFill>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Testausvastaava ketterissä menetelmissä – ei mainittu</a:t>
            </a:r>
            <a:endParaRPr lang="fi-FI" dirty="0"/>
          </a:p>
        </p:txBody>
      </p:sp>
      <p:sp>
        <p:nvSpPr>
          <p:cNvPr id="3" name="Content Placeholder 2"/>
          <p:cNvSpPr>
            <a:spLocks noGrp="1"/>
          </p:cNvSpPr>
          <p:nvPr>
            <p:ph idx="1"/>
          </p:nvPr>
        </p:nvSpPr>
        <p:spPr/>
        <p:txBody>
          <a:bodyPr>
            <a:normAutofit fontScale="77500" lnSpcReduction="20000"/>
          </a:bodyPr>
          <a:lstStyle/>
          <a:p>
            <a:r>
              <a:rPr lang="fi-FI" dirty="0" smtClean="0"/>
              <a:t>Testausvastaava / päällikköroolia ei mainita ketterien menetelmien yhteydessä</a:t>
            </a:r>
          </a:p>
          <a:p>
            <a:pPr lvl="1"/>
            <a:r>
              <a:rPr lang="fi-FI" dirty="0" smtClean="0"/>
              <a:t>Ei myöskään projektipäällikköä!</a:t>
            </a:r>
          </a:p>
          <a:p>
            <a:pPr>
              <a:buNone/>
            </a:pPr>
            <a:endParaRPr lang="fi-FI" dirty="0"/>
          </a:p>
          <a:p>
            <a:r>
              <a:rPr lang="fi-FI" dirty="0" smtClean="0"/>
              <a:t>Nykyinen uskoni on että optimitilanteessa testausvastaavarooli ei olisi tarpeellinen</a:t>
            </a:r>
          </a:p>
          <a:p>
            <a:r>
              <a:rPr lang="fi-FI" dirty="0" smtClean="0"/>
              <a:t>Huomaa: en sano että ihmisillä joilla tämä rooli on ollut ei olisi merkittäviä ja tarpeellisia taitoja projektien läpivientiin</a:t>
            </a:r>
          </a:p>
          <a:p>
            <a:pPr lvl="1"/>
            <a:r>
              <a:rPr lang="fi-FI" dirty="0" smtClean="0"/>
              <a:t>Kaikki tiimit tarvitsevät tämän osaamisen!</a:t>
            </a:r>
          </a:p>
          <a:p>
            <a:pPr>
              <a:buNone/>
            </a:pPr>
            <a:endParaRPr lang="fi-FI" dirty="0" smtClean="0"/>
          </a:p>
          <a:p>
            <a:r>
              <a:rPr lang="fi-FI" i="1" dirty="0" smtClean="0"/>
              <a:t>Optimitilanne </a:t>
            </a:r>
            <a:r>
              <a:rPr lang="fi-FI" dirty="0" smtClean="0"/>
              <a:t>on aika kaukana kun lähdetään perinteisestä kohti ketteriä menetelmiä</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Testauksen hallinta jakaantuu</a:t>
            </a:r>
            <a:endParaRPr lang="fi-FI" dirty="0"/>
          </a:p>
        </p:txBody>
      </p:sp>
      <p:pic>
        <p:nvPicPr>
          <p:cNvPr id="1026" name="Picture 2" descr="C:\Documents and Settings\Maaret\My Documents\My Pictures\Microsoft Clip Organizer\j0078732.wmf"/>
          <p:cNvPicPr>
            <a:picLocks noChangeAspect="1" noChangeArrowheads="1"/>
          </p:cNvPicPr>
          <p:nvPr/>
        </p:nvPicPr>
        <p:blipFill>
          <a:blip r:embed="rId3" cstate="print"/>
          <a:srcRect/>
          <a:stretch>
            <a:fillRect/>
          </a:stretch>
        </p:blipFill>
        <p:spPr bwMode="auto">
          <a:xfrm>
            <a:off x="3891253" y="2428868"/>
            <a:ext cx="1680879" cy="2403473"/>
          </a:xfrm>
          <a:prstGeom prst="rect">
            <a:avLst/>
          </a:prstGeom>
          <a:noFill/>
        </p:spPr>
      </p:pic>
      <p:sp>
        <p:nvSpPr>
          <p:cNvPr id="6" name="Right Arrow 5"/>
          <p:cNvSpPr/>
          <p:nvPr/>
        </p:nvSpPr>
        <p:spPr>
          <a:xfrm rot="596157">
            <a:off x="5607866" y="2557698"/>
            <a:ext cx="1071570" cy="928694"/>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i-FI"/>
          </a:p>
        </p:txBody>
      </p:sp>
      <p:sp>
        <p:nvSpPr>
          <p:cNvPr id="7" name="TextBox 6"/>
          <p:cNvSpPr txBox="1"/>
          <p:nvPr/>
        </p:nvSpPr>
        <p:spPr>
          <a:xfrm>
            <a:off x="6643702" y="2857496"/>
            <a:ext cx="2071670" cy="830997"/>
          </a:xfrm>
          <a:prstGeom prst="rect">
            <a:avLst/>
          </a:prstGeom>
          <a:noFill/>
        </p:spPr>
        <p:txBody>
          <a:bodyPr wrap="square" rtlCol="0">
            <a:spAutoFit/>
          </a:bodyPr>
          <a:lstStyle/>
          <a:p>
            <a:pPr algn="ctr"/>
            <a:r>
              <a:rPr lang="fi-FI" sz="2400" dirty="0" smtClean="0"/>
              <a:t>Resurssien hallinta</a:t>
            </a:r>
            <a:endParaRPr lang="fi-FI" sz="2400" dirty="0"/>
          </a:p>
        </p:txBody>
      </p:sp>
      <p:sp>
        <p:nvSpPr>
          <p:cNvPr id="8" name="Right Arrow 7"/>
          <p:cNvSpPr/>
          <p:nvPr/>
        </p:nvSpPr>
        <p:spPr>
          <a:xfrm rot="1090747">
            <a:off x="5547383" y="3713646"/>
            <a:ext cx="1071570" cy="92869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i-FI"/>
          </a:p>
        </p:txBody>
      </p:sp>
      <p:sp>
        <p:nvSpPr>
          <p:cNvPr id="9" name="TextBox 8"/>
          <p:cNvSpPr txBox="1"/>
          <p:nvPr/>
        </p:nvSpPr>
        <p:spPr>
          <a:xfrm>
            <a:off x="6786578" y="4000504"/>
            <a:ext cx="2357422" cy="830997"/>
          </a:xfrm>
          <a:prstGeom prst="rect">
            <a:avLst/>
          </a:prstGeom>
          <a:noFill/>
        </p:spPr>
        <p:txBody>
          <a:bodyPr wrap="square" rtlCol="0">
            <a:spAutoFit/>
          </a:bodyPr>
          <a:lstStyle/>
          <a:p>
            <a:pPr algn="ctr"/>
            <a:r>
              <a:rPr lang="fi-FI" sz="2400" dirty="0" smtClean="0"/>
              <a:t>Testausprojektin hallinta</a:t>
            </a:r>
            <a:endParaRPr lang="fi-FI" sz="2400" dirty="0"/>
          </a:p>
        </p:txBody>
      </p:sp>
      <p:sp>
        <p:nvSpPr>
          <p:cNvPr id="10" name="Right Arrow 9"/>
          <p:cNvSpPr/>
          <p:nvPr/>
        </p:nvSpPr>
        <p:spPr>
          <a:xfrm rot="18823186">
            <a:off x="4942681" y="1270486"/>
            <a:ext cx="1071570" cy="9286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1" name="TextBox 10"/>
          <p:cNvSpPr txBox="1"/>
          <p:nvPr/>
        </p:nvSpPr>
        <p:spPr>
          <a:xfrm>
            <a:off x="5929322" y="1000108"/>
            <a:ext cx="2500330" cy="1200329"/>
          </a:xfrm>
          <a:prstGeom prst="rect">
            <a:avLst/>
          </a:prstGeom>
          <a:noFill/>
        </p:spPr>
        <p:txBody>
          <a:bodyPr wrap="square" rtlCol="0">
            <a:spAutoFit/>
          </a:bodyPr>
          <a:lstStyle/>
          <a:p>
            <a:pPr algn="ctr"/>
            <a:r>
              <a:rPr lang="fi-FI" sz="2400" dirty="0" smtClean="0"/>
              <a:t>Strategia (tietosyvyyden neuvottelu)</a:t>
            </a:r>
            <a:endParaRPr lang="fi-FI" sz="2400" dirty="0"/>
          </a:p>
        </p:txBody>
      </p:sp>
      <p:sp>
        <p:nvSpPr>
          <p:cNvPr id="12" name="Right Arrow 11"/>
          <p:cNvSpPr/>
          <p:nvPr/>
        </p:nvSpPr>
        <p:spPr>
          <a:xfrm rot="8993490">
            <a:off x="2618060" y="3325220"/>
            <a:ext cx="1071570" cy="928694"/>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13" name="TextBox 12"/>
          <p:cNvSpPr txBox="1"/>
          <p:nvPr/>
        </p:nvSpPr>
        <p:spPr>
          <a:xfrm>
            <a:off x="914400" y="3741003"/>
            <a:ext cx="2071670" cy="830997"/>
          </a:xfrm>
          <a:prstGeom prst="rect">
            <a:avLst/>
          </a:prstGeom>
          <a:noFill/>
        </p:spPr>
        <p:txBody>
          <a:bodyPr wrap="square" rtlCol="0">
            <a:spAutoFit/>
          </a:bodyPr>
          <a:lstStyle/>
          <a:p>
            <a:pPr algn="ctr"/>
            <a:r>
              <a:rPr lang="fi-FI" sz="2400" dirty="0" smtClean="0"/>
              <a:t>Testi-suunnittelija</a:t>
            </a:r>
            <a:endParaRPr lang="fi-FI" sz="2400" dirty="0"/>
          </a:p>
        </p:txBody>
      </p:sp>
      <p:sp>
        <p:nvSpPr>
          <p:cNvPr id="14" name="Right Arrow 13"/>
          <p:cNvSpPr/>
          <p:nvPr/>
        </p:nvSpPr>
        <p:spPr>
          <a:xfrm>
            <a:off x="4786314" y="5143512"/>
            <a:ext cx="2571768" cy="1571636"/>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sz="2400" dirty="0" smtClean="0"/>
              <a:t>Scrum master / Tuoteomistaja</a:t>
            </a:r>
            <a:endParaRPr lang="fi-FI" sz="2400" dirty="0"/>
          </a:p>
        </p:txBody>
      </p:sp>
      <p:sp>
        <p:nvSpPr>
          <p:cNvPr id="16" name="Left Arrow 15"/>
          <p:cNvSpPr/>
          <p:nvPr/>
        </p:nvSpPr>
        <p:spPr>
          <a:xfrm>
            <a:off x="1928794" y="5143512"/>
            <a:ext cx="2571768" cy="1571636"/>
          </a:xfrm>
          <a:prstGeom prst="lef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sz="2400" dirty="0" smtClean="0"/>
              <a:t>Tiimi</a:t>
            </a:r>
            <a:endParaRPr lang="fi-FI" sz="2400" dirty="0"/>
          </a:p>
        </p:txBody>
      </p:sp>
      <p:sp>
        <p:nvSpPr>
          <p:cNvPr id="15" name="Right Arrow 14"/>
          <p:cNvSpPr/>
          <p:nvPr/>
        </p:nvSpPr>
        <p:spPr>
          <a:xfrm rot="12624585">
            <a:off x="2457436" y="2028742"/>
            <a:ext cx="1071570" cy="9286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7" name="TextBox 16"/>
          <p:cNvSpPr txBox="1"/>
          <p:nvPr/>
        </p:nvSpPr>
        <p:spPr>
          <a:xfrm>
            <a:off x="228600" y="1142984"/>
            <a:ext cx="2414542" cy="1200329"/>
          </a:xfrm>
          <a:prstGeom prst="rect">
            <a:avLst/>
          </a:prstGeom>
          <a:noFill/>
        </p:spPr>
        <p:txBody>
          <a:bodyPr wrap="square" rtlCol="0">
            <a:spAutoFit/>
          </a:bodyPr>
          <a:lstStyle/>
          <a:p>
            <a:pPr algn="ctr"/>
            <a:r>
              <a:rPr lang="fi-FI" sz="2400" dirty="0" smtClean="0"/>
              <a:t>Strategia</a:t>
            </a:r>
          </a:p>
          <a:p>
            <a:pPr algn="ctr"/>
            <a:r>
              <a:rPr lang="fi-FI" sz="2400" dirty="0" smtClean="0"/>
              <a:t>(riskipohjainen testauspainotus)</a:t>
            </a:r>
            <a:endParaRPr lang="fi-FI" sz="2400" dirty="0"/>
          </a:p>
        </p:txBody>
      </p:sp>
      <p:grpSp>
        <p:nvGrpSpPr>
          <p:cNvPr id="2" name="Group 23"/>
          <p:cNvGrpSpPr/>
          <p:nvPr/>
        </p:nvGrpSpPr>
        <p:grpSpPr>
          <a:xfrm>
            <a:off x="381000" y="5287444"/>
            <a:ext cx="1295400" cy="1265756"/>
            <a:chOff x="6781800" y="5001754"/>
            <a:chExt cx="1295400" cy="1265756"/>
          </a:xfrm>
        </p:grpSpPr>
        <p:pic>
          <p:nvPicPr>
            <p:cNvPr id="19" name="Picture 12" descr="C:\Documents and Settings\Maaret\My Documents\My Pictures\Microsoft Clip Organizer\j0078753.wmf"/>
            <p:cNvPicPr>
              <a:picLocks noChangeAspect="1" noChangeArrowheads="1"/>
            </p:cNvPicPr>
            <p:nvPr/>
          </p:nvPicPr>
          <p:blipFill>
            <a:blip r:embed="rId4" cstate="print"/>
            <a:srcRect/>
            <a:stretch>
              <a:fillRect/>
            </a:stretch>
          </p:blipFill>
          <p:spPr bwMode="auto">
            <a:xfrm>
              <a:off x="7010400" y="5001754"/>
              <a:ext cx="885825" cy="941846"/>
            </a:xfrm>
            <a:prstGeom prst="rect">
              <a:avLst/>
            </a:prstGeom>
            <a:noFill/>
          </p:spPr>
        </p:pic>
        <p:sp>
          <p:nvSpPr>
            <p:cNvPr id="20" name="TextBox 19"/>
            <p:cNvSpPr txBox="1"/>
            <p:nvPr/>
          </p:nvSpPr>
          <p:spPr>
            <a:xfrm>
              <a:off x="6781800" y="5867400"/>
              <a:ext cx="1295400" cy="400110"/>
            </a:xfrm>
            <a:prstGeom prst="rect">
              <a:avLst/>
            </a:prstGeom>
            <a:noFill/>
          </p:spPr>
          <p:txBody>
            <a:bodyPr wrap="square" rtlCol="0">
              <a:spAutoFit/>
            </a:bodyPr>
            <a:lstStyle/>
            <a:p>
              <a:pPr algn="ctr"/>
              <a:r>
                <a:rPr lang="fi-FI" sz="2000" b="1" dirty="0" smtClean="0"/>
                <a:t>Testaaja</a:t>
              </a:r>
              <a:endParaRPr lang="fi-FI" sz="2000" b="1" dirty="0"/>
            </a:p>
          </p:txBody>
        </p:sp>
      </p:grpSp>
      <p:sp>
        <p:nvSpPr>
          <p:cNvPr id="22" name="Slide Number Placeholder 21"/>
          <p:cNvSpPr>
            <a:spLocks noGrp="1"/>
          </p:cNvSpPr>
          <p:nvPr>
            <p:ph type="sldNum" sz="quarter" idx="12"/>
          </p:nvPr>
        </p:nvSpPr>
        <p:spPr/>
        <p:txBody>
          <a:bodyPr/>
          <a:lstStyle/>
          <a:p>
            <a:fld id="{B6F15528-21DE-4FAA-801E-634DDDAF4B2B}" type="slidenum">
              <a:rPr lang="en-US" smtClean="0"/>
              <a:pPr/>
              <a:t>20</a:t>
            </a:fld>
            <a:endParaRPr lang="en-US"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sz="4000" dirty="0" smtClean="0"/>
              <a:t>Oppeja projektimallien käytännön eroista: </a:t>
            </a:r>
            <a:r>
              <a:rPr lang="fi-FI" dirty="0" smtClean="0"/>
              <a:t/>
            </a:r>
            <a:br>
              <a:rPr lang="fi-FI" dirty="0" smtClean="0"/>
            </a:br>
            <a:r>
              <a:rPr lang="fi-FI" sz="3100" dirty="0" smtClean="0"/>
              <a:t>miten testausvastaavan arjen haasteet muuttuvat?</a:t>
            </a:r>
            <a:endParaRPr lang="fi-FI" dirty="0"/>
          </a:p>
        </p:txBody>
      </p:sp>
      <p:sp>
        <p:nvSpPr>
          <p:cNvPr id="3" name="Content Placeholder 2"/>
          <p:cNvSpPr>
            <a:spLocks noGrp="1"/>
          </p:cNvSpPr>
          <p:nvPr>
            <p:ph idx="1"/>
          </p:nvPr>
        </p:nvSpPr>
        <p:spPr>
          <a:xfrm>
            <a:off x="457200" y="1600200"/>
            <a:ext cx="6257940" cy="4525963"/>
          </a:xfrm>
        </p:spPr>
        <p:txBody>
          <a:bodyPr>
            <a:noAutofit/>
          </a:bodyPr>
          <a:lstStyle/>
          <a:p>
            <a:r>
              <a:rPr lang="fi-FI" sz="2000" dirty="0" smtClean="0"/>
              <a:t>Perinteisesti testausvastaava on projektipäällikön ”vastavoima”</a:t>
            </a:r>
          </a:p>
          <a:p>
            <a:pPr lvl="1"/>
            <a:r>
              <a:rPr lang="fi-FI" sz="2000" dirty="0" smtClean="0"/>
              <a:t>Keskittyminen laatuun ettei joudu asettamaan aikataulua ja laatua vastakkain henkilötasolla</a:t>
            </a:r>
          </a:p>
          <a:p>
            <a:r>
              <a:rPr lang="fi-FI" sz="2000" dirty="0" smtClean="0"/>
              <a:t>Ketterissä projekteissa ”vastavoima” on tiimit</a:t>
            </a:r>
          </a:p>
          <a:p>
            <a:pPr lvl="1"/>
            <a:r>
              <a:rPr lang="fi-FI" sz="2000" dirty="0" smtClean="0"/>
              <a:t>Itse asiassa, ei projektipäällikköä... </a:t>
            </a:r>
          </a:p>
          <a:p>
            <a:pPr lvl="1"/>
            <a:r>
              <a:rPr lang="fi-FI" sz="2000" dirty="0" smtClean="0"/>
              <a:t>Tehdyn ”DONE” määritelmästä kiinnipitäminen ja rehellisyys tiimeissä – vain valmis on olemassa, puolivalmista ei lasketa</a:t>
            </a:r>
          </a:p>
          <a:p>
            <a:pPr lvl="1"/>
            <a:r>
              <a:rPr lang="fi-FI" sz="2000" dirty="0"/>
              <a:t>Testausvastaavan tarve erityisen riippuvainen Scrum Masterien osaamisesta ja rehellisen, puolueettoman kokonaisuuden raportoinnin </a:t>
            </a:r>
            <a:r>
              <a:rPr lang="fi-FI" sz="2000" dirty="0" smtClean="0"/>
              <a:t>käytännöistä</a:t>
            </a:r>
            <a:endParaRPr lang="fi-FI" sz="2000" b="1" dirty="0" smtClean="0"/>
          </a:p>
          <a:p>
            <a:r>
              <a:rPr lang="fi-FI" sz="2000" b="1" dirty="0" smtClean="0">
                <a:solidFill>
                  <a:schemeClr val="accent2"/>
                </a:solidFill>
              </a:rPr>
              <a:t>Testausvastaavasta testauksen tukijaksi</a:t>
            </a:r>
          </a:p>
          <a:p>
            <a:endParaRPr lang="fi-FI" sz="2000" dirty="0"/>
          </a:p>
        </p:txBody>
      </p:sp>
      <p:sp>
        <p:nvSpPr>
          <p:cNvPr id="4" name="Rectangle 3"/>
          <p:cNvSpPr/>
          <p:nvPr/>
        </p:nvSpPr>
        <p:spPr>
          <a:xfrm>
            <a:off x="6858016" y="1428736"/>
            <a:ext cx="2143140" cy="507209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sz="2000" i="1" dirty="0" smtClean="0"/>
              <a:t>Varsinainen tavoite: testausvastaavaa ei tarvita erikseen, kun kukin tiimi ja kukin scrum master osaa oman osansa siitä mitä perinteinen testausvastaava on kokonaisuuteen tuonut.</a:t>
            </a:r>
            <a:endParaRPr lang="fi-FI" sz="2000" i="1"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Tarvitseeko ketterä projekti testausvastaavaa?</a:t>
            </a:r>
            <a:endParaRPr lang="fi-FI" dirty="0"/>
          </a:p>
        </p:txBody>
      </p:sp>
      <p:sp>
        <p:nvSpPr>
          <p:cNvPr id="3" name="Content Placeholder 2"/>
          <p:cNvSpPr>
            <a:spLocks noGrp="1"/>
          </p:cNvSpPr>
          <p:nvPr>
            <p:ph idx="1"/>
          </p:nvPr>
        </p:nvSpPr>
        <p:spPr/>
        <p:txBody>
          <a:bodyPr>
            <a:normAutofit fontScale="77500" lnSpcReduction="20000"/>
          </a:bodyPr>
          <a:lstStyle/>
          <a:p>
            <a:r>
              <a:rPr lang="fi-FI" dirty="0" smtClean="0"/>
              <a:t>Kokemukseni mukaan joskus tarvitsee, joskus ei</a:t>
            </a:r>
          </a:p>
          <a:p>
            <a:r>
              <a:rPr lang="fi-FI" dirty="0" smtClean="0"/>
              <a:t>Kokeiltuja malleja:</a:t>
            </a:r>
          </a:p>
          <a:p>
            <a:pPr lvl="1"/>
            <a:r>
              <a:rPr lang="fi-FI" dirty="0" smtClean="0"/>
              <a:t>Ei testausvastaavaa</a:t>
            </a:r>
          </a:p>
          <a:p>
            <a:pPr lvl="2"/>
            <a:r>
              <a:rPr lang="fi-FI" dirty="0" smtClean="0"/>
              <a:t>Tiimien edustajien verkosto korvaa testausvastaavan</a:t>
            </a:r>
          </a:p>
          <a:p>
            <a:pPr lvl="2"/>
            <a:r>
              <a:rPr lang="fi-FI" dirty="0" smtClean="0"/>
              <a:t>Jokainen verkoston solmu on aktiivinen toimija</a:t>
            </a:r>
          </a:p>
          <a:p>
            <a:pPr lvl="1"/>
            <a:r>
              <a:rPr lang="fi-FI" dirty="0" smtClean="0"/>
              <a:t>Testausvastaava vain laatutiedon raportoija</a:t>
            </a:r>
          </a:p>
          <a:p>
            <a:pPr lvl="2"/>
            <a:r>
              <a:rPr lang="fi-FI" dirty="0" smtClean="0"/>
              <a:t>Vastavoima optimistiselle projektipäällikölle</a:t>
            </a:r>
          </a:p>
          <a:p>
            <a:pPr lvl="2"/>
            <a:r>
              <a:rPr lang="fi-FI" dirty="0" smtClean="0"/>
              <a:t>Tiimien ääni laadun osalta kuuluviin</a:t>
            </a:r>
          </a:p>
          <a:p>
            <a:pPr lvl="1"/>
            <a:r>
              <a:rPr lang="fi-FI" dirty="0" smtClean="0"/>
              <a:t>Testausvastaava tuoteomistajan apuna </a:t>
            </a:r>
          </a:p>
          <a:p>
            <a:pPr lvl="2"/>
            <a:r>
              <a:rPr lang="fi-FI" dirty="0" smtClean="0"/>
              <a:t>Työtä tulevaisuuden tuotteen tehtävälistan alkioiden kanssa tiimien ulkopuolella</a:t>
            </a:r>
          </a:p>
          <a:p>
            <a:pPr lvl="2"/>
            <a:r>
              <a:rPr lang="fi-FI" dirty="0" smtClean="0"/>
              <a:t>Tiimien kokoonpanojen ja työmäärien ohjailu toimituserien ulkopuolella</a:t>
            </a:r>
          </a:p>
          <a:p>
            <a:pPr lvl="2"/>
            <a:r>
              <a:rPr lang="fi-FI" dirty="0" smtClean="0"/>
              <a:t>Riittävän laadun neuvottelu kunkin alkion osalta oikean laajuuden ymmärtämiseksi</a:t>
            </a:r>
          </a:p>
          <a:p>
            <a:pPr lvl="2"/>
            <a:endParaRPr lang="fi-FI"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Testausvastaava ketterissä – mitä se voisi olla?</a:t>
            </a:r>
            <a:endParaRPr lang="fi-FI" dirty="0"/>
          </a:p>
        </p:txBody>
      </p:sp>
      <p:sp>
        <p:nvSpPr>
          <p:cNvPr id="5" name="Content Placeholder 4"/>
          <p:cNvSpPr>
            <a:spLocks noGrp="1"/>
          </p:cNvSpPr>
          <p:nvPr>
            <p:ph idx="1"/>
          </p:nvPr>
        </p:nvSpPr>
        <p:spPr/>
        <p:txBody>
          <a:bodyPr>
            <a:noAutofit/>
          </a:bodyPr>
          <a:lstStyle/>
          <a:p>
            <a:r>
              <a:rPr lang="fi-FI" sz="1800" b="1" dirty="0" smtClean="0"/>
              <a:t>Laadun yhteenvetäjä: </a:t>
            </a:r>
            <a:r>
              <a:rPr lang="fi-FI" sz="1800" dirty="0" smtClean="0"/>
              <a:t>Auttaa tiimejä pitäytymään ”valmiin määritelmässä” ja tuo esiin ongelmakohtia tunnetusta / tuntemattomasta laadusta koko järjestelmän näkökulmasta. Erityisesti oleellinen projekteissa joissa projektipäälliköt / scrum masterit kokevat perinteisen kaltaista vastuuta aikatauluista laadun kustannuksella. </a:t>
            </a:r>
            <a:endParaRPr lang="fi-FI" sz="1800" b="1" dirty="0" smtClean="0"/>
          </a:p>
          <a:p>
            <a:r>
              <a:rPr lang="fi-FI" sz="1800" b="1" dirty="0" smtClean="0"/>
              <a:t>Testaus/laatu –painotteinen scrum master: </a:t>
            </a:r>
            <a:r>
              <a:rPr lang="fi-FI" sz="1800" dirty="0" smtClean="0"/>
              <a:t>Auttaa monitiimitilanteissa selvittämään mikä on riittävästi, ei liikaa ja optimoimaan ja parantamaan perustuen kokemuksiin siitä mitä testaus on ja kuinka sen voi organisoida. Vaikutusmekanismit epäsuoria ja eroavat vahvasti perinteisen testausvastaavan mekanismeista. </a:t>
            </a:r>
          </a:p>
          <a:p>
            <a:r>
              <a:rPr lang="fi-FI" sz="1800" b="1" dirty="0" smtClean="0"/>
              <a:t>Erinomainen testaaja joka liikkuu tiimien välillä:</a:t>
            </a:r>
            <a:r>
              <a:rPr lang="fi-FI" sz="1800" dirty="0" smtClean="0"/>
              <a:t> Johtaminen esimerkin voimalla – jokainen tiimi tarvitsee osaamiset testauksen suunnitteluun kaikkien tasojen ja näkökulmien osalta. Muutamia sprintteja tiimissä yhtenä tekijöistä voi auttaa tiimiä rakentamaan ja levittämään testausosaamista. </a:t>
            </a:r>
            <a:endParaRPr lang="fi-FI" sz="1800" b="1" dirty="0" smtClean="0"/>
          </a:p>
          <a:p>
            <a:r>
              <a:rPr lang="fi-FI" sz="1800" b="1" dirty="0" smtClean="0"/>
              <a:t>Testauksen resurssiomistaja: </a:t>
            </a:r>
            <a:r>
              <a:rPr lang="fi-FI" sz="1800" dirty="0" smtClean="0"/>
              <a:t>Testausosaamisen allokointi tiimeihin perustuen vastuisiin ja tarpeisiin. Hommia tiimin ulkopuolella valmistellen sprinttien vaihdoshetken siirtoja: testausosaaminen siirtyy henkilöitä siirrettäessä. </a:t>
            </a:r>
            <a:endParaRPr lang="fi-FI" sz="1800" b="1" dirty="0" smtClean="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fi-FI" sz="3600" dirty="0" smtClean="0"/>
              <a:t>Ketterän projektin testausvastaavan mahdollisia tehtäviä monitiimitilanteessa</a:t>
            </a:r>
            <a:endParaRPr lang="fi-FI" sz="3600" dirty="0"/>
          </a:p>
        </p:txBody>
      </p:sp>
      <p:sp>
        <p:nvSpPr>
          <p:cNvPr id="6" name="Content Placeholder 5"/>
          <p:cNvSpPr>
            <a:spLocks noGrp="1"/>
          </p:cNvSpPr>
          <p:nvPr>
            <p:ph idx="1"/>
          </p:nvPr>
        </p:nvSpPr>
        <p:spPr/>
        <p:txBody>
          <a:bodyPr/>
          <a:lstStyle/>
          <a:p>
            <a:r>
              <a:rPr lang="en-US" dirty="0" err="1" smtClean="0"/>
              <a:t>Testauksen</a:t>
            </a:r>
            <a:r>
              <a:rPr lang="en-US" dirty="0" smtClean="0"/>
              <a:t> </a:t>
            </a:r>
            <a:r>
              <a:rPr lang="en-US" dirty="0" err="1" smtClean="0"/>
              <a:t>esimerkkijohtaminen</a:t>
            </a:r>
            <a:r>
              <a:rPr lang="en-US" dirty="0" smtClean="0"/>
              <a:t> (leadership)</a:t>
            </a:r>
          </a:p>
          <a:p>
            <a:r>
              <a:rPr lang="en-US" dirty="0" err="1" smtClean="0"/>
              <a:t>Resursointi</a:t>
            </a:r>
            <a:endParaRPr lang="en-US" dirty="0" smtClean="0"/>
          </a:p>
          <a:p>
            <a:r>
              <a:rPr lang="en-US" dirty="0" err="1" smtClean="0"/>
              <a:t>Pitkän</a:t>
            </a:r>
            <a:r>
              <a:rPr lang="en-US" dirty="0" smtClean="0"/>
              <a:t> </a:t>
            </a:r>
            <a:r>
              <a:rPr lang="en-US" dirty="0" err="1" smtClean="0"/>
              <a:t>aikavälin</a:t>
            </a:r>
            <a:r>
              <a:rPr lang="en-US" dirty="0" smtClean="0"/>
              <a:t> </a:t>
            </a:r>
            <a:r>
              <a:rPr lang="en-US" dirty="0" err="1" smtClean="0"/>
              <a:t>suunnittelun</a:t>
            </a:r>
            <a:r>
              <a:rPr lang="en-US" dirty="0" smtClean="0"/>
              <a:t> </a:t>
            </a:r>
            <a:r>
              <a:rPr lang="en-US" dirty="0" err="1" smtClean="0"/>
              <a:t>testaustuki</a:t>
            </a:r>
            <a:endParaRPr lang="en-US" dirty="0" smtClean="0"/>
          </a:p>
          <a:p>
            <a:r>
              <a:rPr lang="en-US" dirty="0" err="1" smtClean="0"/>
              <a:t>Laadun</a:t>
            </a:r>
            <a:r>
              <a:rPr lang="en-US" dirty="0" smtClean="0"/>
              <a:t> </a:t>
            </a:r>
            <a:r>
              <a:rPr lang="en-US" dirty="0" err="1" smtClean="0"/>
              <a:t>yhteenvetoarvioinnit</a:t>
            </a:r>
            <a:r>
              <a:rPr lang="en-US" dirty="0" smtClean="0"/>
              <a:t> </a:t>
            </a:r>
            <a:r>
              <a:rPr lang="en-US" dirty="0" err="1" smtClean="0"/>
              <a:t>ja</a:t>
            </a:r>
            <a:r>
              <a:rPr lang="en-US" dirty="0" smtClean="0"/>
              <a:t> </a:t>
            </a:r>
            <a:r>
              <a:rPr lang="en-US" dirty="0" err="1" smtClean="0"/>
              <a:t>raportointi</a:t>
            </a:r>
            <a:endParaRPr lang="en-US" dirty="0" smtClean="0"/>
          </a:p>
          <a:p>
            <a:r>
              <a:rPr lang="en-US" dirty="0" err="1" smtClean="0"/>
              <a:t>Testauksen</a:t>
            </a:r>
            <a:r>
              <a:rPr lang="en-US" dirty="0" smtClean="0"/>
              <a:t> </a:t>
            </a:r>
            <a:r>
              <a:rPr lang="en-US" dirty="0" err="1" smtClean="0"/>
              <a:t>laadun</a:t>
            </a:r>
            <a:r>
              <a:rPr lang="en-US" dirty="0" smtClean="0"/>
              <a:t> </a:t>
            </a:r>
            <a:r>
              <a:rPr lang="en-US" dirty="0" err="1" smtClean="0"/>
              <a:t>palautteen</a:t>
            </a:r>
            <a:r>
              <a:rPr lang="en-US" dirty="0" smtClean="0"/>
              <a:t> </a:t>
            </a:r>
            <a:r>
              <a:rPr lang="en-US" dirty="0" err="1" smtClean="0"/>
              <a:t>tukeminen</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2"/>
          <p:cNvSpPr>
            <a:spLocks noChangeArrowheads="1"/>
          </p:cNvSpPr>
          <p:nvPr/>
        </p:nvSpPr>
        <p:spPr bwMode="black">
          <a:xfrm>
            <a:off x="533400" y="4495800"/>
            <a:ext cx="3743325" cy="2160588"/>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lIns="0" tIns="0" rIns="90000" bIns="46800" anchor="ctr"/>
          <a:lstStyle/>
          <a:p>
            <a:endParaRPr lang="fi-FI"/>
          </a:p>
        </p:txBody>
      </p:sp>
      <p:sp>
        <p:nvSpPr>
          <p:cNvPr id="12291" name="Rectangle 3"/>
          <p:cNvSpPr>
            <a:spLocks noGrp="1" noChangeArrowheads="1"/>
          </p:cNvSpPr>
          <p:nvPr>
            <p:ph type="title"/>
          </p:nvPr>
        </p:nvSpPr>
        <p:spPr/>
        <p:txBody>
          <a:bodyPr/>
          <a:lstStyle/>
          <a:p>
            <a:r>
              <a:rPr lang="fi-FI"/>
              <a:t>Urakehitystä testauksessa</a:t>
            </a:r>
            <a:endParaRPr lang="en-US"/>
          </a:p>
        </p:txBody>
      </p:sp>
      <p:sp>
        <p:nvSpPr>
          <p:cNvPr id="12292" name="Text Box 4"/>
          <p:cNvSpPr txBox="1">
            <a:spLocks noChangeArrowheads="1"/>
          </p:cNvSpPr>
          <p:nvPr/>
        </p:nvSpPr>
        <p:spPr bwMode="black">
          <a:xfrm>
            <a:off x="323850" y="3573463"/>
            <a:ext cx="1800225" cy="411162"/>
          </a:xfrm>
          <a:prstGeom prst="rect">
            <a:avLst/>
          </a:prstGeom>
          <a:noFill/>
          <a:ln w="12700" algn="ctr">
            <a:noFill/>
            <a:miter lim="800000"/>
            <a:headEnd/>
            <a:tailEnd/>
          </a:ln>
          <a:effectLst/>
        </p:spPr>
        <p:txBody>
          <a:bodyPr lIns="0" tIns="0" rIns="90000" bIns="46800">
            <a:spAutoFit/>
          </a:bodyPr>
          <a:lstStyle/>
          <a:p>
            <a:pPr>
              <a:spcBef>
                <a:spcPct val="50000"/>
              </a:spcBef>
            </a:pPr>
            <a:r>
              <a:rPr lang="fi-FI"/>
              <a:t>Aloittelija</a:t>
            </a:r>
            <a:endParaRPr lang="en-US"/>
          </a:p>
        </p:txBody>
      </p:sp>
      <p:sp>
        <p:nvSpPr>
          <p:cNvPr id="12293" name="Text Box 5"/>
          <p:cNvSpPr txBox="1">
            <a:spLocks noChangeArrowheads="1"/>
          </p:cNvSpPr>
          <p:nvPr/>
        </p:nvSpPr>
        <p:spPr bwMode="black">
          <a:xfrm>
            <a:off x="2700338" y="3573463"/>
            <a:ext cx="1800225" cy="411162"/>
          </a:xfrm>
          <a:prstGeom prst="rect">
            <a:avLst/>
          </a:prstGeom>
          <a:noFill/>
          <a:ln w="12700" algn="ctr">
            <a:noFill/>
            <a:miter lim="800000"/>
            <a:headEnd/>
            <a:tailEnd/>
          </a:ln>
          <a:effectLst/>
        </p:spPr>
        <p:txBody>
          <a:bodyPr lIns="0" tIns="0" rIns="90000" bIns="46800">
            <a:spAutoFit/>
          </a:bodyPr>
          <a:lstStyle/>
          <a:p>
            <a:pPr>
              <a:spcBef>
                <a:spcPct val="50000"/>
              </a:spcBef>
            </a:pPr>
            <a:r>
              <a:rPr lang="fi-FI"/>
              <a:t>Testaaja</a:t>
            </a:r>
            <a:endParaRPr lang="en-US"/>
          </a:p>
        </p:txBody>
      </p:sp>
      <p:sp>
        <p:nvSpPr>
          <p:cNvPr id="12294" name="Text Box 6"/>
          <p:cNvSpPr txBox="1">
            <a:spLocks noChangeArrowheads="1"/>
          </p:cNvSpPr>
          <p:nvPr/>
        </p:nvSpPr>
        <p:spPr bwMode="black">
          <a:xfrm>
            <a:off x="5292725" y="3582988"/>
            <a:ext cx="2447925" cy="411162"/>
          </a:xfrm>
          <a:prstGeom prst="rect">
            <a:avLst/>
          </a:prstGeom>
          <a:noFill/>
          <a:ln w="12700" algn="ctr">
            <a:noFill/>
            <a:miter lim="800000"/>
            <a:headEnd/>
            <a:tailEnd/>
          </a:ln>
          <a:effectLst/>
        </p:spPr>
        <p:txBody>
          <a:bodyPr lIns="0" tIns="0" rIns="90000" bIns="46800">
            <a:spAutoFit/>
          </a:bodyPr>
          <a:lstStyle/>
          <a:p>
            <a:pPr>
              <a:spcBef>
                <a:spcPct val="50000"/>
              </a:spcBef>
            </a:pPr>
            <a:r>
              <a:rPr lang="fi-FI"/>
              <a:t>Testiarkkitehti</a:t>
            </a:r>
            <a:endParaRPr lang="en-US"/>
          </a:p>
        </p:txBody>
      </p:sp>
      <p:sp>
        <p:nvSpPr>
          <p:cNvPr id="12295" name="Text Box 7"/>
          <p:cNvSpPr txBox="1">
            <a:spLocks noChangeArrowheads="1"/>
          </p:cNvSpPr>
          <p:nvPr/>
        </p:nvSpPr>
        <p:spPr bwMode="black">
          <a:xfrm>
            <a:off x="5133975" y="4786312"/>
            <a:ext cx="1800225" cy="324256"/>
          </a:xfrm>
          <a:prstGeom prst="rect">
            <a:avLst/>
          </a:prstGeom>
          <a:noFill/>
          <a:ln w="12700" algn="ctr">
            <a:noFill/>
            <a:miter lim="800000"/>
            <a:headEnd/>
            <a:tailEnd/>
          </a:ln>
          <a:effectLst/>
        </p:spPr>
        <p:txBody>
          <a:bodyPr lIns="0" tIns="0" rIns="90000" bIns="46800">
            <a:spAutoFit/>
          </a:bodyPr>
          <a:lstStyle/>
          <a:p>
            <a:pPr algn="ctr">
              <a:spcBef>
                <a:spcPct val="50000"/>
              </a:spcBef>
            </a:pPr>
            <a:r>
              <a:rPr lang="fi-FI" dirty="0"/>
              <a:t>Testauksen vetäjä</a:t>
            </a:r>
            <a:endParaRPr lang="en-US" dirty="0"/>
          </a:p>
        </p:txBody>
      </p:sp>
      <p:sp>
        <p:nvSpPr>
          <p:cNvPr id="12296" name="Text Box 8"/>
          <p:cNvSpPr txBox="1">
            <a:spLocks noChangeArrowheads="1"/>
          </p:cNvSpPr>
          <p:nvPr/>
        </p:nvSpPr>
        <p:spPr bwMode="black">
          <a:xfrm>
            <a:off x="5148263" y="6021388"/>
            <a:ext cx="1800225" cy="324256"/>
          </a:xfrm>
          <a:prstGeom prst="rect">
            <a:avLst/>
          </a:prstGeom>
          <a:noFill/>
          <a:ln w="12700" algn="ctr">
            <a:noFill/>
            <a:miter lim="800000"/>
            <a:headEnd/>
            <a:tailEnd/>
          </a:ln>
          <a:effectLst/>
        </p:spPr>
        <p:txBody>
          <a:bodyPr lIns="0" tIns="0" rIns="90000" bIns="46800">
            <a:spAutoFit/>
          </a:bodyPr>
          <a:lstStyle/>
          <a:p>
            <a:pPr algn="ctr">
              <a:spcBef>
                <a:spcPct val="50000"/>
              </a:spcBef>
            </a:pPr>
            <a:r>
              <a:rPr lang="fi-FI" dirty="0" smtClean="0"/>
              <a:t>Testauspäällikkö</a:t>
            </a:r>
            <a:endParaRPr lang="en-US" dirty="0"/>
          </a:p>
        </p:txBody>
      </p:sp>
      <p:sp>
        <p:nvSpPr>
          <p:cNvPr id="12297" name="Text Box 9"/>
          <p:cNvSpPr txBox="1">
            <a:spLocks noChangeArrowheads="1"/>
          </p:cNvSpPr>
          <p:nvPr/>
        </p:nvSpPr>
        <p:spPr bwMode="black">
          <a:xfrm>
            <a:off x="6096000" y="2286000"/>
            <a:ext cx="1800225" cy="776288"/>
          </a:xfrm>
          <a:prstGeom prst="rect">
            <a:avLst/>
          </a:prstGeom>
          <a:noFill/>
          <a:ln w="12700" algn="ctr">
            <a:noFill/>
            <a:miter lim="800000"/>
            <a:headEnd/>
            <a:tailEnd/>
          </a:ln>
          <a:effectLst/>
        </p:spPr>
        <p:txBody>
          <a:bodyPr lIns="0" tIns="0" rIns="90000" bIns="46800">
            <a:spAutoFit/>
          </a:bodyPr>
          <a:lstStyle/>
          <a:p>
            <a:pPr>
              <a:spcBef>
                <a:spcPct val="50000"/>
              </a:spcBef>
            </a:pPr>
            <a:r>
              <a:rPr lang="fi-FI" dirty="0"/>
              <a:t>Testauksen asiantuntija</a:t>
            </a:r>
            <a:endParaRPr lang="en-US" dirty="0"/>
          </a:p>
        </p:txBody>
      </p:sp>
      <p:sp>
        <p:nvSpPr>
          <p:cNvPr id="12298" name="Text Box 10"/>
          <p:cNvSpPr txBox="1">
            <a:spLocks noChangeArrowheads="1"/>
          </p:cNvSpPr>
          <p:nvPr/>
        </p:nvSpPr>
        <p:spPr bwMode="black">
          <a:xfrm>
            <a:off x="3276600" y="2276475"/>
            <a:ext cx="2232025" cy="776288"/>
          </a:xfrm>
          <a:prstGeom prst="rect">
            <a:avLst/>
          </a:prstGeom>
          <a:noFill/>
          <a:ln w="12700" algn="ctr">
            <a:noFill/>
            <a:miter lim="800000"/>
            <a:headEnd/>
            <a:tailEnd/>
          </a:ln>
          <a:effectLst/>
        </p:spPr>
        <p:txBody>
          <a:bodyPr lIns="0" tIns="0" rIns="90000" bIns="46800">
            <a:spAutoFit/>
          </a:bodyPr>
          <a:lstStyle/>
          <a:p>
            <a:pPr>
              <a:spcBef>
                <a:spcPct val="50000"/>
              </a:spcBef>
            </a:pPr>
            <a:r>
              <a:rPr lang="fi-FI"/>
              <a:t>Testien automatisoija</a:t>
            </a:r>
            <a:endParaRPr lang="en-US"/>
          </a:p>
        </p:txBody>
      </p:sp>
      <p:sp>
        <p:nvSpPr>
          <p:cNvPr id="12299" name="Text Box 11"/>
          <p:cNvSpPr txBox="1">
            <a:spLocks noChangeArrowheads="1"/>
          </p:cNvSpPr>
          <p:nvPr/>
        </p:nvSpPr>
        <p:spPr bwMode="black">
          <a:xfrm>
            <a:off x="4429125" y="1117600"/>
            <a:ext cx="1800225" cy="776288"/>
          </a:xfrm>
          <a:prstGeom prst="rect">
            <a:avLst/>
          </a:prstGeom>
          <a:noFill/>
          <a:ln w="12700" algn="ctr">
            <a:noFill/>
            <a:miter lim="800000"/>
            <a:headEnd/>
            <a:tailEnd/>
          </a:ln>
          <a:effectLst/>
        </p:spPr>
        <p:txBody>
          <a:bodyPr lIns="0" tIns="0" rIns="90000" bIns="46800">
            <a:spAutoFit/>
          </a:bodyPr>
          <a:lstStyle/>
          <a:p>
            <a:pPr>
              <a:spcBef>
                <a:spcPct val="50000"/>
              </a:spcBef>
            </a:pPr>
            <a:r>
              <a:rPr lang="fi-FI"/>
              <a:t>Automaatio-asiantuntija</a:t>
            </a:r>
            <a:endParaRPr lang="en-US"/>
          </a:p>
        </p:txBody>
      </p:sp>
      <p:sp>
        <p:nvSpPr>
          <p:cNvPr id="12300" name="Text Box 12"/>
          <p:cNvSpPr txBox="1">
            <a:spLocks noChangeArrowheads="1"/>
          </p:cNvSpPr>
          <p:nvPr/>
        </p:nvSpPr>
        <p:spPr bwMode="black">
          <a:xfrm>
            <a:off x="6877050" y="1196975"/>
            <a:ext cx="1800225" cy="776288"/>
          </a:xfrm>
          <a:prstGeom prst="rect">
            <a:avLst/>
          </a:prstGeom>
          <a:noFill/>
          <a:ln w="12700" algn="ctr">
            <a:noFill/>
            <a:miter lim="800000"/>
            <a:headEnd/>
            <a:tailEnd/>
          </a:ln>
          <a:effectLst/>
        </p:spPr>
        <p:txBody>
          <a:bodyPr lIns="0" tIns="0" rIns="90000" bIns="46800">
            <a:spAutoFit/>
          </a:bodyPr>
          <a:lstStyle/>
          <a:p>
            <a:pPr>
              <a:spcBef>
                <a:spcPct val="50000"/>
              </a:spcBef>
            </a:pPr>
            <a:r>
              <a:rPr lang="fi-FI"/>
              <a:t>Testauksen kehittäjä</a:t>
            </a:r>
            <a:endParaRPr lang="en-US"/>
          </a:p>
        </p:txBody>
      </p:sp>
      <p:sp>
        <p:nvSpPr>
          <p:cNvPr id="12301" name="AutoShape 13"/>
          <p:cNvSpPr>
            <a:spLocks noChangeArrowheads="1"/>
          </p:cNvSpPr>
          <p:nvPr/>
        </p:nvSpPr>
        <p:spPr bwMode="black">
          <a:xfrm>
            <a:off x="1828800" y="3644900"/>
            <a:ext cx="647700" cy="144463"/>
          </a:xfrm>
          <a:prstGeom prst="rightArrow">
            <a:avLst>
              <a:gd name="adj1" fmla="val 50000"/>
              <a:gd name="adj2" fmla="val 112088"/>
            </a:avLst>
          </a:prstGeom>
          <a:solidFill>
            <a:schemeClr val="accent1"/>
          </a:solidFill>
          <a:ln w="12700" algn="ctr">
            <a:solidFill>
              <a:schemeClr val="tx1"/>
            </a:solidFill>
            <a:miter lim="800000"/>
            <a:headEnd/>
            <a:tailEnd/>
          </a:ln>
          <a:effectLst/>
        </p:spPr>
        <p:txBody>
          <a:bodyPr wrap="none" lIns="0" tIns="0" rIns="90000" bIns="46800" anchor="ctr"/>
          <a:lstStyle/>
          <a:p>
            <a:endParaRPr lang="fi-FI"/>
          </a:p>
        </p:txBody>
      </p:sp>
      <p:sp>
        <p:nvSpPr>
          <p:cNvPr id="12302" name="AutoShape 14"/>
          <p:cNvSpPr>
            <a:spLocks noChangeArrowheads="1"/>
          </p:cNvSpPr>
          <p:nvPr/>
        </p:nvSpPr>
        <p:spPr bwMode="black">
          <a:xfrm>
            <a:off x="4356100" y="3644900"/>
            <a:ext cx="647700" cy="144463"/>
          </a:xfrm>
          <a:prstGeom prst="rightArrow">
            <a:avLst>
              <a:gd name="adj1" fmla="val 50000"/>
              <a:gd name="adj2" fmla="val 112088"/>
            </a:avLst>
          </a:prstGeom>
          <a:solidFill>
            <a:schemeClr val="accent1"/>
          </a:solidFill>
          <a:ln w="12700" algn="ctr">
            <a:solidFill>
              <a:schemeClr val="tx1"/>
            </a:solidFill>
            <a:miter lim="800000"/>
            <a:headEnd/>
            <a:tailEnd/>
          </a:ln>
          <a:effectLst/>
        </p:spPr>
        <p:txBody>
          <a:bodyPr wrap="none" lIns="0" tIns="0" rIns="90000" bIns="46800" anchor="ctr"/>
          <a:lstStyle/>
          <a:p>
            <a:endParaRPr lang="fi-FI"/>
          </a:p>
        </p:txBody>
      </p:sp>
      <p:sp>
        <p:nvSpPr>
          <p:cNvPr id="12303" name="AutoShape 15"/>
          <p:cNvSpPr>
            <a:spLocks noChangeArrowheads="1"/>
          </p:cNvSpPr>
          <p:nvPr/>
        </p:nvSpPr>
        <p:spPr bwMode="black">
          <a:xfrm rot="1693042">
            <a:off x="3997325" y="4292600"/>
            <a:ext cx="647700" cy="144463"/>
          </a:xfrm>
          <a:prstGeom prst="rightArrow">
            <a:avLst>
              <a:gd name="adj1" fmla="val 50000"/>
              <a:gd name="adj2" fmla="val 112088"/>
            </a:avLst>
          </a:prstGeom>
          <a:solidFill>
            <a:schemeClr val="accent1"/>
          </a:solidFill>
          <a:ln w="12700" algn="ctr">
            <a:solidFill>
              <a:schemeClr val="tx1"/>
            </a:solidFill>
            <a:miter lim="800000"/>
            <a:headEnd/>
            <a:tailEnd/>
          </a:ln>
          <a:effectLst/>
        </p:spPr>
        <p:txBody>
          <a:bodyPr wrap="none" lIns="0" tIns="0" rIns="90000" bIns="46800" anchor="ctr"/>
          <a:lstStyle/>
          <a:p>
            <a:endParaRPr lang="fi-FI"/>
          </a:p>
        </p:txBody>
      </p:sp>
      <p:sp>
        <p:nvSpPr>
          <p:cNvPr id="12304" name="AutoShape 16"/>
          <p:cNvSpPr>
            <a:spLocks noChangeArrowheads="1"/>
          </p:cNvSpPr>
          <p:nvPr/>
        </p:nvSpPr>
        <p:spPr bwMode="black">
          <a:xfrm rot="5400000">
            <a:off x="5688807" y="5553868"/>
            <a:ext cx="647700" cy="144463"/>
          </a:xfrm>
          <a:prstGeom prst="rightArrow">
            <a:avLst>
              <a:gd name="adj1" fmla="val 50000"/>
              <a:gd name="adj2" fmla="val 112088"/>
            </a:avLst>
          </a:prstGeom>
          <a:solidFill>
            <a:schemeClr val="accent1"/>
          </a:solidFill>
          <a:ln w="12700" algn="ctr">
            <a:solidFill>
              <a:schemeClr val="tx1"/>
            </a:solidFill>
            <a:miter lim="800000"/>
            <a:headEnd/>
            <a:tailEnd/>
          </a:ln>
          <a:effectLst/>
        </p:spPr>
        <p:txBody>
          <a:bodyPr wrap="none" lIns="0" tIns="0" rIns="90000" bIns="46800" anchor="ctr"/>
          <a:lstStyle/>
          <a:p>
            <a:endParaRPr lang="fi-FI"/>
          </a:p>
        </p:txBody>
      </p:sp>
      <p:sp>
        <p:nvSpPr>
          <p:cNvPr id="12305" name="AutoShape 17"/>
          <p:cNvSpPr>
            <a:spLocks noChangeArrowheads="1"/>
          </p:cNvSpPr>
          <p:nvPr/>
        </p:nvSpPr>
        <p:spPr bwMode="black">
          <a:xfrm rot="5400000">
            <a:off x="5688807" y="4185443"/>
            <a:ext cx="647700" cy="144463"/>
          </a:xfrm>
          <a:prstGeom prst="rightArrow">
            <a:avLst>
              <a:gd name="adj1" fmla="val 50000"/>
              <a:gd name="adj2" fmla="val 112088"/>
            </a:avLst>
          </a:prstGeom>
          <a:solidFill>
            <a:schemeClr val="accent1"/>
          </a:solidFill>
          <a:ln w="12700" algn="ctr">
            <a:solidFill>
              <a:schemeClr val="tx1"/>
            </a:solidFill>
            <a:miter lim="800000"/>
            <a:headEnd/>
            <a:tailEnd/>
          </a:ln>
          <a:effectLst/>
        </p:spPr>
        <p:txBody>
          <a:bodyPr wrap="none" lIns="0" tIns="0" rIns="90000" bIns="46800" anchor="ctr"/>
          <a:lstStyle/>
          <a:p>
            <a:endParaRPr lang="fi-FI"/>
          </a:p>
        </p:txBody>
      </p:sp>
      <p:sp>
        <p:nvSpPr>
          <p:cNvPr id="12306" name="AutoShape 18"/>
          <p:cNvSpPr>
            <a:spLocks noChangeArrowheads="1"/>
          </p:cNvSpPr>
          <p:nvPr/>
        </p:nvSpPr>
        <p:spPr bwMode="black">
          <a:xfrm rot="-2491906">
            <a:off x="3563938" y="3141663"/>
            <a:ext cx="647700" cy="144462"/>
          </a:xfrm>
          <a:prstGeom prst="rightArrow">
            <a:avLst>
              <a:gd name="adj1" fmla="val 50000"/>
              <a:gd name="adj2" fmla="val 112088"/>
            </a:avLst>
          </a:prstGeom>
          <a:solidFill>
            <a:schemeClr val="accent1"/>
          </a:solidFill>
          <a:ln w="12700" algn="ctr">
            <a:solidFill>
              <a:schemeClr val="tx1"/>
            </a:solidFill>
            <a:miter lim="800000"/>
            <a:headEnd/>
            <a:tailEnd/>
          </a:ln>
          <a:effectLst/>
        </p:spPr>
        <p:txBody>
          <a:bodyPr wrap="none" lIns="0" tIns="0" rIns="90000" bIns="46800" anchor="ctr"/>
          <a:lstStyle/>
          <a:p>
            <a:endParaRPr lang="fi-FI"/>
          </a:p>
        </p:txBody>
      </p:sp>
      <p:sp>
        <p:nvSpPr>
          <p:cNvPr id="12307" name="AutoShape 19"/>
          <p:cNvSpPr>
            <a:spLocks noChangeArrowheads="1"/>
          </p:cNvSpPr>
          <p:nvPr/>
        </p:nvSpPr>
        <p:spPr bwMode="black">
          <a:xfrm rot="-2491906">
            <a:off x="5942013" y="3213100"/>
            <a:ext cx="647700" cy="144463"/>
          </a:xfrm>
          <a:prstGeom prst="rightArrow">
            <a:avLst>
              <a:gd name="adj1" fmla="val 50000"/>
              <a:gd name="adj2" fmla="val 112088"/>
            </a:avLst>
          </a:prstGeom>
          <a:solidFill>
            <a:schemeClr val="accent1"/>
          </a:solidFill>
          <a:ln w="12700" algn="ctr">
            <a:solidFill>
              <a:schemeClr val="tx1"/>
            </a:solidFill>
            <a:miter lim="800000"/>
            <a:headEnd/>
            <a:tailEnd/>
          </a:ln>
          <a:effectLst/>
        </p:spPr>
        <p:txBody>
          <a:bodyPr wrap="none" lIns="0" tIns="0" rIns="90000" bIns="46800" anchor="ctr"/>
          <a:lstStyle/>
          <a:p>
            <a:endParaRPr lang="fi-FI"/>
          </a:p>
        </p:txBody>
      </p:sp>
      <p:sp>
        <p:nvSpPr>
          <p:cNvPr id="12308" name="AutoShape 20"/>
          <p:cNvSpPr>
            <a:spLocks noChangeArrowheads="1"/>
          </p:cNvSpPr>
          <p:nvPr/>
        </p:nvSpPr>
        <p:spPr bwMode="black">
          <a:xfrm rot="-2491906">
            <a:off x="4573588" y="1989138"/>
            <a:ext cx="647700" cy="144462"/>
          </a:xfrm>
          <a:prstGeom prst="rightArrow">
            <a:avLst>
              <a:gd name="adj1" fmla="val 50000"/>
              <a:gd name="adj2" fmla="val 112088"/>
            </a:avLst>
          </a:prstGeom>
          <a:solidFill>
            <a:schemeClr val="accent1"/>
          </a:solidFill>
          <a:ln w="12700" algn="ctr">
            <a:solidFill>
              <a:schemeClr val="tx1"/>
            </a:solidFill>
            <a:miter lim="800000"/>
            <a:headEnd/>
            <a:tailEnd/>
          </a:ln>
          <a:effectLst/>
        </p:spPr>
        <p:txBody>
          <a:bodyPr wrap="none" lIns="0" tIns="0" rIns="90000" bIns="46800" anchor="ctr"/>
          <a:lstStyle/>
          <a:p>
            <a:endParaRPr lang="fi-FI"/>
          </a:p>
        </p:txBody>
      </p:sp>
      <p:sp>
        <p:nvSpPr>
          <p:cNvPr id="12309" name="Text Box 21"/>
          <p:cNvSpPr txBox="1">
            <a:spLocks noChangeArrowheads="1"/>
          </p:cNvSpPr>
          <p:nvPr/>
        </p:nvSpPr>
        <p:spPr bwMode="black">
          <a:xfrm>
            <a:off x="685800" y="4724400"/>
            <a:ext cx="3455988" cy="662810"/>
          </a:xfrm>
          <a:prstGeom prst="rect">
            <a:avLst/>
          </a:prstGeom>
          <a:noFill/>
          <a:ln w="12700" algn="ctr">
            <a:noFill/>
            <a:miter lim="800000"/>
            <a:headEnd/>
            <a:tailEnd/>
          </a:ln>
          <a:effectLst/>
        </p:spPr>
        <p:txBody>
          <a:bodyPr lIns="0" tIns="0" rIns="90000" bIns="46800">
            <a:spAutoFit/>
          </a:bodyPr>
          <a:lstStyle/>
          <a:p>
            <a:pPr algn="ctr">
              <a:spcBef>
                <a:spcPct val="50000"/>
              </a:spcBef>
            </a:pPr>
            <a:r>
              <a:rPr lang="fi-FI" sz="2000" dirty="0"/>
              <a:t>Testaustietoinen projektipäällikkö</a:t>
            </a:r>
            <a:endParaRPr lang="en-US" sz="2000" dirty="0"/>
          </a:p>
        </p:txBody>
      </p:sp>
      <p:sp>
        <p:nvSpPr>
          <p:cNvPr id="12310" name="Text Box 22"/>
          <p:cNvSpPr txBox="1">
            <a:spLocks noChangeArrowheads="1"/>
          </p:cNvSpPr>
          <p:nvPr/>
        </p:nvSpPr>
        <p:spPr bwMode="black">
          <a:xfrm>
            <a:off x="609600" y="5486400"/>
            <a:ext cx="3779838" cy="355034"/>
          </a:xfrm>
          <a:prstGeom prst="rect">
            <a:avLst/>
          </a:prstGeom>
          <a:noFill/>
          <a:ln w="12700" algn="ctr">
            <a:noFill/>
            <a:miter lim="800000"/>
            <a:headEnd/>
            <a:tailEnd/>
          </a:ln>
          <a:effectLst/>
        </p:spPr>
        <p:txBody>
          <a:bodyPr lIns="0" tIns="0" rIns="90000" bIns="46800">
            <a:spAutoFit/>
          </a:bodyPr>
          <a:lstStyle/>
          <a:p>
            <a:pPr algn="ctr">
              <a:spcBef>
                <a:spcPct val="50000"/>
              </a:spcBef>
            </a:pPr>
            <a:r>
              <a:rPr lang="fi-FI" sz="2000" dirty="0"/>
              <a:t>Testaustietoinen johtaja</a:t>
            </a:r>
            <a:endParaRPr lang="en-US" sz="2000" dirty="0"/>
          </a:p>
        </p:txBody>
      </p:sp>
      <p:sp>
        <p:nvSpPr>
          <p:cNvPr id="12311" name="Text Box 23"/>
          <p:cNvSpPr txBox="1">
            <a:spLocks noChangeArrowheads="1"/>
          </p:cNvSpPr>
          <p:nvPr/>
        </p:nvSpPr>
        <p:spPr bwMode="black">
          <a:xfrm>
            <a:off x="322263" y="6019800"/>
            <a:ext cx="4249737" cy="355034"/>
          </a:xfrm>
          <a:prstGeom prst="rect">
            <a:avLst/>
          </a:prstGeom>
          <a:noFill/>
          <a:ln w="12700" algn="ctr">
            <a:noFill/>
            <a:miter lim="800000"/>
            <a:headEnd/>
            <a:tailEnd/>
          </a:ln>
          <a:effectLst/>
        </p:spPr>
        <p:txBody>
          <a:bodyPr lIns="0" tIns="0" rIns="90000" bIns="46800">
            <a:spAutoFit/>
          </a:bodyPr>
          <a:lstStyle/>
          <a:p>
            <a:pPr algn="ctr">
              <a:spcBef>
                <a:spcPct val="50000"/>
              </a:spcBef>
            </a:pPr>
            <a:r>
              <a:rPr lang="fi-FI" sz="2000" dirty="0"/>
              <a:t>Testaustietoinen kehittäjä</a:t>
            </a:r>
            <a:endParaRPr lang="en-US" sz="2000" dirty="0"/>
          </a:p>
        </p:txBody>
      </p:sp>
      <p:sp>
        <p:nvSpPr>
          <p:cNvPr id="25" name="Slide Number Placeholder 24"/>
          <p:cNvSpPr>
            <a:spLocks noGrp="1"/>
          </p:cNvSpPr>
          <p:nvPr>
            <p:ph type="sldNum" sz="quarter" idx="12"/>
          </p:nvPr>
        </p:nvSpPr>
        <p:spPr/>
        <p:txBody>
          <a:bodyPr/>
          <a:lstStyle/>
          <a:p>
            <a:fld id="{B6F15528-21DE-4FAA-801E-634DDDAF4B2B}" type="slidenum">
              <a:rPr lang="en-US" smtClean="0"/>
              <a:pPr/>
              <a:t>25</a:t>
            </a:fld>
            <a:endParaRPr lang="en-US"/>
          </a:p>
        </p:txBody>
      </p:sp>
      <p:sp>
        <p:nvSpPr>
          <p:cNvPr id="26" name="TextBox 25"/>
          <p:cNvSpPr txBox="1"/>
          <p:nvPr/>
        </p:nvSpPr>
        <p:spPr>
          <a:xfrm>
            <a:off x="381000" y="1600200"/>
            <a:ext cx="1905000" cy="1200329"/>
          </a:xfrm>
          <a:prstGeom prst="rect">
            <a:avLst/>
          </a:prstGeom>
          <a:noFill/>
        </p:spPr>
        <p:txBody>
          <a:bodyPr wrap="square" rtlCol="0">
            <a:spAutoFit/>
          </a:bodyPr>
          <a:lstStyle/>
          <a:p>
            <a:pPr algn="ctr"/>
            <a:r>
              <a:rPr lang="fi-FI" b="1" dirty="0" smtClean="0">
                <a:solidFill>
                  <a:schemeClr val="accent1"/>
                </a:solidFill>
              </a:rPr>
              <a:t>PERINTEINEN MALLI – EI LÖYDY KETTERISSÄ MENETELMISSÄ</a:t>
            </a:r>
            <a:endParaRPr lang="fi-FI" b="1" dirty="0">
              <a:solidFill>
                <a:schemeClr val="accent1"/>
              </a:solidFill>
            </a:endParaRPr>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descr="C:\Documents and Settings\pyhama\Application Data\Microsoft\Media Catalog\Downloaded Clips\cl5d\j0234110.wmf"/>
          <p:cNvPicPr>
            <a:picLocks noChangeAspect="1" noChangeArrowheads="1"/>
          </p:cNvPicPr>
          <p:nvPr/>
        </p:nvPicPr>
        <p:blipFill>
          <a:blip r:embed="rId3" cstate="print"/>
          <a:srcRect/>
          <a:stretch>
            <a:fillRect/>
          </a:stretch>
        </p:blipFill>
        <p:spPr bwMode="auto">
          <a:xfrm>
            <a:off x="3886200" y="2895600"/>
            <a:ext cx="1176338" cy="1747838"/>
          </a:xfrm>
          <a:prstGeom prst="rect">
            <a:avLst/>
          </a:prstGeom>
          <a:noFill/>
        </p:spPr>
      </p:pic>
      <p:sp>
        <p:nvSpPr>
          <p:cNvPr id="9220" name="Rectangle 4"/>
          <p:cNvSpPr>
            <a:spLocks noGrp="1" noChangeArrowheads="1"/>
          </p:cNvSpPr>
          <p:nvPr>
            <p:ph type="title"/>
          </p:nvPr>
        </p:nvSpPr>
        <p:spPr/>
        <p:txBody>
          <a:bodyPr/>
          <a:lstStyle/>
          <a:p>
            <a:r>
              <a:rPr lang="en-GB" dirty="0" err="1" smtClean="0"/>
              <a:t>Ajattele</a:t>
            </a:r>
            <a:r>
              <a:rPr lang="en-GB" dirty="0" smtClean="0"/>
              <a:t> </a:t>
            </a:r>
            <a:r>
              <a:rPr lang="en-GB" dirty="0" err="1" smtClean="0"/>
              <a:t>uraa</a:t>
            </a:r>
            <a:r>
              <a:rPr lang="en-GB" dirty="0" smtClean="0"/>
              <a:t> </a:t>
            </a:r>
            <a:r>
              <a:rPr lang="en-GB" dirty="0" err="1" smtClean="0"/>
              <a:t>eri</a:t>
            </a:r>
            <a:r>
              <a:rPr lang="en-GB" dirty="0" smtClean="0"/>
              <a:t> </a:t>
            </a:r>
            <a:r>
              <a:rPr lang="en-GB" dirty="0" err="1" smtClean="0"/>
              <a:t>tavalla</a:t>
            </a:r>
            <a:endParaRPr lang="en-GB" dirty="0"/>
          </a:p>
        </p:txBody>
      </p:sp>
      <p:sp>
        <p:nvSpPr>
          <p:cNvPr id="9222" name="Text Box 6"/>
          <p:cNvSpPr txBox="1">
            <a:spLocks noChangeArrowheads="1"/>
          </p:cNvSpPr>
          <p:nvPr/>
        </p:nvSpPr>
        <p:spPr bwMode="auto">
          <a:xfrm>
            <a:off x="1905000" y="4267200"/>
            <a:ext cx="3657600" cy="54927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b="1"/>
              <a:t>URA </a:t>
            </a:r>
            <a:br>
              <a:rPr lang="en-GB" b="1"/>
            </a:br>
            <a:r>
              <a:rPr lang="en-GB" sz="1400"/>
              <a:t>– ja vielä testauksessa?</a:t>
            </a:r>
          </a:p>
        </p:txBody>
      </p:sp>
      <p:grpSp>
        <p:nvGrpSpPr>
          <p:cNvPr id="2" name="Group 45"/>
          <p:cNvGrpSpPr>
            <a:grpSpLocks/>
          </p:cNvGrpSpPr>
          <p:nvPr/>
        </p:nvGrpSpPr>
        <p:grpSpPr bwMode="auto">
          <a:xfrm>
            <a:off x="4475163" y="1219200"/>
            <a:ext cx="4592637" cy="1676400"/>
            <a:chOff x="2819" y="768"/>
            <a:chExt cx="2893" cy="1056"/>
          </a:xfrm>
        </p:grpSpPr>
        <p:grpSp>
          <p:nvGrpSpPr>
            <p:cNvPr id="3" name="Group 38"/>
            <p:cNvGrpSpPr>
              <a:grpSpLocks/>
            </p:cNvGrpSpPr>
            <p:nvPr/>
          </p:nvGrpSpPr>
          <p:grpSpPr bwMode="auto">
            <a:xfrm>
              <a:off x="2819" y="768"/>
              <a:ext cx="2893" cy="1056"/>
              <a:chOff x="2819" y="768"/>
              <a:chExt cx="2893" cy="1056"/>
            </a:xfrm>
          </p:grpSpPr>
          <p:pic>
            <p:nvPicPr>
              <p:cNvPr id="9221" name="Picture 5" descr="C:\Documents and Settings\pyhama\Application Data\Microsoft\Media Catalog\Downloaded Clips\clac\j0431631.png"/>
              <p:cNvPicPr>
                <a:picLocks noChangeAspect="1" noChangeArrowheads="1"/>
              </p:cNvPicPr>
              <p:nvPr/>
            </p:nvPicPr>
            <p:blipFill>
              <a:blip r:embed="rId4" cstate="print"/>
              <a:srcRect/>
              <a:stretch>
                <a:fillRect/>
              </a:stretch>
            </p:blipFill>
            <p:spPr bwMode="auto">
              <a:xfrm>
                <a:off x="3600" y="768"/>
                <a:ext cx="864" cy="864"/>
              </a:xfrm>
              <a:prstGeom prst="rect">
                <a:avLst/>
              </a:prstGeom>
              <a:noFill/>
            </p:spPr>
          </p:pic>
          <p:sp>
            <p:nvSpPr>
              <p:cNvPr id="9223" name="Text Box 7"/>
              <p:cNvSpPr txBox="1">
                <a:spLocks noChangeArrowheads="1"/>
              </p:cNvSpPr>
              <p:nvPr/>
            </p:nvSpPr>
            <p:spPr bwMode="auto">
              <a:xfrm>
                <a:off x="4464" y="816"/>
                <a:ext cx="1248" cy="212"/>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Perustoimeentulo</a:t>
                </a:r>
              </a:p>
            </p:txBody>
          </p:sp>
          <p:sp>
            <p:nvSpPr>
              <p:cNvPr id="9224" name="Text Box 8"/>
              <p:cNvSpPr txBox="1">
                <a:spLocks noChangeArrowheads="1"/>
              </p:cNvSpPr>
              <p:nvPr/>
            </p:nvSpPr>
            <p:spPr bwMode="auto">
              <a:xfrm>
                <a:off x="4464" y="1036"/>
                <a:ext cx="1248" cy="366"/>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Organisaation arvostuksen mitta</a:t>
                </a:r>
              </a:p>
            </p:txBody>
          </p:sp>
          <p:sp>
            <p:nvSpPr>
              <p:cNvPr id="9225" name="Text Box 9"/>
              <p:cNvSpPr txBox="1">
                <a:spLocks noChangeArrowheads="1"/>
              </p:cNvSpPr>
              <p:nvPr/>
            </p:nvSpPr>
            <p:spPr bwMode="auto">
              <a:xfrm>
                <a:off x="4464" y="1392"/>
                <a:ext cx="1248" cy="212"/>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Suhteellinen</a:t>
                </a:r>
              </a:p>
            </p:txBody>
          </p:sp>
          <p:cxnSp>
            <p:nvCxnSpPr>
              <p:cNvPr id="9246" name="AutoShape 30"/>
              <p:cNvCxnSpPr>
                <a:cxnSpLocks noChangeShapeType="1"/>
                <a:stCxn id="0" idx="0"/>
                <a:endCxn id="0" idx="1"/>
              </p:cNvCxnSpPr>
              <p:nvPr/>
            </p:nvCxnSpPr>
            <p:spPr bwMode="auto">
              <a:xfrm rot="16200000">
                <a:off x="2898" y="1121"/>
                <a:ext cx="624" cy="781"/>
              </a:xfrm>
              <a:prstGeom prst="curvedConnector2">
                <a:avLst/>
              </a:prstGeom>
              <a:noFill/>
              <a:ln w="28575">
                <a:solidFill>
                  <a:schemeClr val="accent2"/>
                </a:solidFill>
                <a:round/>
                <a:headEnd/>
                <a:tailEnd type="triangle" w="med" len="med"/>
              </a:ln>
              <a:effectLst/>
            </p:spPr>
          </p:cxnSp>
        </p:grpSp>
        <p:sp>
          <p:nvSpPr>
            <p:cNvPr id="9232" name="Text Box 16"/>
            <p:cNvSpPr txBox="1">
              <a:spLocks noChangeArrowheads="1"/>
            </p:cNvSpPr>
            <p:nvPr/>
          </p:nvSpPr>
          <p:spPr bwMode="auto">
            <a:xfrm>
              <a:off x="3216" y="1324"/>
              <a:ext cx="1248" cy="173"/>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200" b="1"/>
                <a:t>RAHA</a:t>
              </a:r>
            </a:p>
          </p:txBody>
        </p:sp>
      </p:grpSp>
      <p:grpSp>
        <p:nvGrpSpPr>
          <p:cNvPr id="4" name="Group 37"/>
          <p:cNvGrpSpPr>
            <a:grpSpLocks/>
          </p:cNvGrpSpPr>
          <p:nvPr/>
        </p:nvGrpSpPr>
        <p:grpSpPr bwMode="auto">
          <a:xfrm>
            <a:off x="2438400" y="1295400"/>
            <a:ext cx="1981200" cy="2474913"/>
            <a:chOff x="1536" y="816"/>
            <a:chExt cx="1248" cy="1559"/>
          </a:xfrm>
        </p:grpSpPr>
        <p:grpSp>
          <p:nvGrpSpPr>
            <p:cNvPr id="5" name="Group 32"/>
            <p:cNvGrpSpPr>
              <a:grpSpLocks/>
            </p:cNvGrpSpPr>
            <p:nvPr/>
          </p:nvGrpSpPr>
          <p:grpSpPr bwMode="auto">
            <a:xfrm>
              <a:off x="1536" y="816"/>
              <a:ext cx="1248" cy="749"/>
              <a:chOff x="480" y="1824"/>
              <a:chExt cx="1248" cy="749"/>
            </a:xfrm>
          </p:grpSpPr>
          <p:pic>
            <p:nvPicPr>
              <p:cNvPr id="9243" name="Picture 27" descr="C:\Documents and Settings\pyhama\Application Data\Microsoft\Media Catalog\Downloaded Clips\cl23\j0089903.wmf"/>
              <p:cNvPicPr>
                <a:picLocks noChangeAspect="1" noChangeArrowheads="1"/>
              </p:cNvPicPr>
              <p:nvPr/>
            </p:nvPicPr>
            <p:blipFill>
              <a:blip r:embed="rId5" cstate="print"/>
              <a:srcRect/>
              <a:stretch>
                <a:fillRect/>
              </a:stretch>
            </p:blipFill>
            <p:spPr bwMode="auto">
              <a:xfrm>
                <a:off x="624" y="1824"/>
                <a:ext cx="613" cy="624"/>
              </a:xfrm>
              <a:prstGeom prst="rect">
                <a:avLst/>
              </a:prstGeom>
              <a:noFill/>
            </p:spPr>
          </p:pic>
          <p:sp>
            <p:nvSpPr>
              <p:cNvPr id="9234" name="Text Box 18"/>
              <p:cNvSpPr txBox="1">
                <a:spLocks noChangeArrowheads="1"/>
              </p:cNvSpPr>
              <p:nvPr/>
            </p:nvSpPr>
            <p:spPr bwMode="auto">
              <a:xfrm>
                <a:off x="480" y="2400"/>
                <a:ext cx="1248" cy="173"/>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200" b="1"/>
                  <a:t>TULOKSET</a:t>
                </a:r>
              </a:p>
            </p:txBody>
          </p:sp>
        </p:grpSp>
        <p:cxnSp>
          <p:nvCxnSpPr>
            <p:cNvPr id="9249" name="AutoShape 33"/>
            <p:cNvCxnSpPr>
              <a:cxnSpLocks noChangeShapeType="1"/>
              <a:stCxn id="0" idx="1"/>
              <a:endCxn id="9234" idx="2"/>
            </p:cNvCxnSpPr>
            <p:nvPr/>
          </p:nvCxnSpPr>
          <p:spPr bwMode="auto">
            <a:xfrm rot="10800000">
              <a:off x="2160" y="1565"/>
              <a:ext cx="288" cy="810"/>
            </a:xfrm>
            <a:prstGeom prst="curvedConnector2">
              <a:avLst/>
            </a:prstGeom>
            <a:noFill/>
            <a:ln w="28575">
              <a:solidFill>
                <a:schemeClr val="accent2"/>
              </a:solidFill>
              <a:round/>
              <a:headEnd/>
              <a:tailEnd type="triangle" w="med" len="med"/>
            </a:ln>
            <a:effectLst/>
          </p:spPr>
        </p:cxnSp>
      </p:grpSp>
      <p:grpSp>
        <p:nvGrpSpPr>
          <p:cNvPr id="6" name="Group 44"/>
          <p:cNvGrpSpPr>
            <a:grpSpLocks/>
          </p:cNvGrpSpPr>
          <p:nvPr/>
        </p:nvGrpSpPr>
        <p:grpSpPr bwMode="auto">
          <a:xfrm>
            <a:off x="5181600" y="4541838"/>
            <a:ext cx="3886200" cy="1585912"/>
            <a:chOff x="3264" y="2861"/>
            <a:chExt cx="2448" cy="999"/>
          </a:xfrm>
        </p:grpSpPr>
        <p:sp>
          <p:nvSpPr>
            <p:cNvPr id="9231" name="Text Box 15"/>
            <p:cNvSpPr txBox="1">
              <a:spLocks noChangeArrowheads="1"/>
            </p:cNvSpPr>
            <p:nvPr/>
          </p:nvSpPr>
          <p:spPr bwMode="auto">
            <a:xfrm>
              <a:off x="3264" y="3676"/>
              <a:ext cx="1248" cy="173"/>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200" b="1"/>
                <a:t>ARVOSTUS</a:t>
              </a:r>
            </a:p>
          </p:txBody>
        </p:sp>
        <p:grpSp>
          <p:nvGrpSpPr>
            <p:cNvPr id="7" name="Group 40"/>
            <p:cNvGrpSpPr>
              <a:grpSpLocks/>
            </p:cNvGrpSpPr>
            <p:nvPr/>
          </p:nvGrpSpPr>
          <p:grpSpPr bwMode="auto">
            <a:xfrm>
              <a:off x="3456" y="2861"/>
              <a:ext cx="2256" cy="999"/>
              <a:chOff x="3456" y="2861"/>
              <a:chExt cx="2256" cy="999"/>
            </a:xfrm>
          </p:grpSpPr>
          <p:pic>
            <p:nvPicPr>
              <p:cNvPr id="9229" name="Picture 13" descr="C:\Documents and Settings\pyhama\Application Data\Microsoft\Media Catalog\Downloaded Clips\cl64\j0250406.wmf"/>
              <p:cNvPicPr>
                <a:picLocks noChangeAspect="1" noChangeArrowheads="1"/>
              </p:cNvPicPr>
              <p:nvPr/>
            </p:nvPicPr>
            <p:blipFill>
              <a:blip r:embed="rId6" cstate="print"/>
              <a:srcRect/>
              <a:stretch>
                <a:fillRect/>
              </a:stretch>
            </p:blipFill>
            <p:spPr bwMode="auto">
              <a:xfrm>
                <a:off x="3456" y="3216"/>
                <a:ext cx="960" cy="500"/>
              </a:xfrm>
              <a:prstGeom prst="rect">
                <a:avLst/>
              </a:prstGeom>
              <a:noFill/>
            </p:spPr>
          </p:pic>
          <p:sp>
            <p:nvSpPr>
              <p:cNvPr id="9238" name="Text Box 22"/>
              <p:cNvSpPr txBox="1">
                <a:spLocks noChangeArrowheads="1"/>
              </p:cNvSpPr>
              <p:nvPr/>
            </p:nvSpPr>
            <p:spPr bwMode="auto">
              <a:xfrm>
                <a:off x="4464" y="3168"/>
                <a:ext cx="1248" cy="212"/>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Omassa porukassa</a:t>
                </a:r>
              </a:p>
            </p:txBody>
          </p:sp>
          <p:sp>
            <p:nvSpPr>
              <p:cNvPr id="9239" name="Text Box 23"/>
              <p:cNvSpPr txBox="1">
                <a:spLocks noChangeArrowheads="1"/>
              </p:cNvSpPr>
              <p:nvPr/>
            </p:nvSpPr>
            <p:spPr bwMode="auto">
              <a:xfrm>
                <a:off x="4464" y="3416"/>
                <a:ext cx="1248" cy="212"/>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Omassa talossa</a:t>
                </a:r>
              </a:p>
            </p:txBody>
          </p:sp>
          <p:sp>
            <p:nvSpPr>
              <p:cNvPr id="9240" name="Text Box 24"/>
              <p:cNvSpPr txBox="1">
                <a:spLocks noChangeArrowheads="1"/>
              </p:cNvSpPr>
              <p:nvPr/>
            </p:nvSpPr>
            <p:spPr bwMode="auto">
              <a:xfrm>
                <a:off x="4464" y="3648"/>
                <a:ext cx="1248" cy="212"/>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Testauskentällä</a:t>
                </a:r>
              </a:p>
            </p:txBody>
          </p:sp>
          <p:cxnSp>
            <p:nvCxnSpPr>
              <p:cNvPr id="9250" name="AutoShape 34"/>
              <p:cNvCxnSpPr>
                <a:cxnSpLocks noChangeShapeType="1"/>
                <a:stCxn id="9222" idx="3"/>
                <a:endCxn id="0" idx="1"/>
              </p:cNvCxnSpPr>
              <p:nvPr/>
            </p:nvCxnSpPr>
            <p:spPr bwMode="auto">
              <a:xfrm flipH="1">
                <a:off x="3456" y="2861"/>
                <a:ext cx="48" cy="605"/>
              </a:xfrm>
              <a:prstGeom prst="curvedConnector5">
                <a:avLst>
                  <a:gd name="adj1" fmla="val -300000"/>
                  <a:gd name="adj2" fmla="val 43634"/>
                  <a:gd name="adj3" fmla="val 400000"/>
                </a:avLst>
              </a:prstGeom>
              <a:noFill/>
              <a:ln w="28575">
                <a:solidFill>
                  <a:schemeClr val="accent2"/>
                </a:solidFill>
                <a:round/>
                <a:headEnd/>
                <a:tailEnd type="triangle" w="med" len="med"/>
              </a:ln>
              <a:effectLst/>
            </p:spPr>
          </p:cxnSp>
        </p:grpSp>
      </p:grpSp>
      <p:grpSp>
        <p:nvGrpSpPr>
          <p:cNvPr id="8" name="Group 47"/>
          <p:cNvGrpSpPr>
            <a:grpSpLocks/>
          </p:cNvGrpSpPr>
          <p:nvPr/>
        </p:nvGrpSpPr>
        <p:grpSpPr bwMode="auto">
          <a:xfrm>
            <a:off x="-152400" y="4648200"/>
            <a:ext cx="3886200" cy="1676400"/>
            <a:chOff x="-96" y="2928"/>
            <a:chExt cx="2448" cy="1056"/>
          </a:xfrm>
        </p:grpSpPr>
        <p:grpSp>
          <p:nvGrpSpPr>
            <p:cNvPr id="9" name="Group 41"/>
            <p:cNvGrpSpPr>
              <a:grpSpLocks/>
            </p:cNvGrpSpPr>
            <p:nvPr/>
          </p:nvGrpSpPr>
          <p:grpSpPr bwMode="auto">
            <a:xfrm>
              <a:off x="-96" y="2928"/>
              <a:ext cx="2400" cy="1056"/>
              <a:chOff x="-96" y="2928"/>
              <a:chExt cx="2400" cy="1056"/>
            </a:xfrm>
          </p:grpSpPr>
          <p:pic>
            <p:nvPicPr>
              <p:cNvPr id="9245" name="Picture 29" descr="C:\Documents and Settings\pyhama\Application Data\Microsoft\Media Catalog\Downloaded Clips\cl5f\j0238208.wmf"/>
              <p:cNvPicPr>
                <a:picLocks noChangeAspect="1" noChangeArrowheads="1"/>
              </p:cNvPicPr>
              <p:nvPr/>
            </p:nvPicPr>
            <p:blipFill>
              <a:blip r:embed="rId7" cstate="print"/>
              <a:srcRect/>
              <a:stretch>
                <a:fillRect/>
              </a:stretch>
            </p:blipFill>
            <p:spPr bwMode="auto">
              <a:xfrm>
                <a:off x="1152" y="2928"/>
                <a:ext cx="730" cy="864"/>
              </a:xfrm>
              <a:prstGeom prst="rect">
                <a:avLst/>
              </a:prstGeom>
              <a:noFill/>
            </p:spPr>
          </p:pic>
          <p:sp>
            <p:nvSpPr>
              <p:cNvPr id="9235" name="Text Box 19"/>
              <p:cNvSpPr txBox="1">
                <a:spLocks noChangeArrowheads="1"/>
              </p:cNvSpPr>
              <p:nvPr/>
            </p:nvSpPr>
            <p:spPr bwMode="auto">
              <a:xfrm>
                <a:off x="1056" y="3696"/>
                <a:ext cx="1248" cy="288"/>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200" b="1"/>
                  <a:t>VALINNAN MAHDOLLISUUS</a:t>
                </a:r>
              </a:p>
            </p:txBody>
          </p:sp>
          <p:sp>
            <p:nvSpPr>
              <p:cNvPr id="9236" name="Text Box 20"/>
              <p:cNvSpPr txBox="1">
                <a:spLocks noChangeArrowheads="1"/>
              </p:cNvSpPr>
              <p:nvPr/>
            </p:nvSpPr>
            <p:spPr bwMode="auto">
              <a:xfrm>
                <a:off x="-48" y="3090"/>
                <a:ext cx="1248" cy="366"/>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dirty="0" err="1"/>
                  <a:t>Siirtyminen</a:t>
                </a:r>
                <a:r>
                  <a:rPr lang="en-GB" dirty="0"/>
                  <a:t> </a:t>
                </a:r>
                <a:r>
                  <a:rPr lang="en-GB" dirty="0" err="1"/>
                  <a:t>toisiin</a:t>
                </a:r>
                <a:r>
                  <a:rPr lang="en-GB" dirty="0"/>
                  <a:t> </a:t>
                </a:r>
                <a:r>
                  <a:rPr lang="en-GB" dirty="0" err="1"/>
                  <a:t>tehtäviin</a:t>
                </a:r>
                <a:endParaRPr lang="en-GB" dirty="0"/>
              </a:p>
            </p:txBody>
          </p:sp>
          <p:sp>
            <p:nvSpPr>
              <p:cNvPr id="9237" name="Text Box 21"/>
              <p:cNvSpPr txBox="1">
                <a:spLocks noChangeArrowheads="1"/>
              </p:cNvSpPr>
              <p:nvPr/>
            </p:nvSpPr>
            <p:spPr bwMode="auto">
              <a:xfrm>
                <a:off x="-96" y="3456"/>
                <a:ext cx="1248" cy="366"/>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Umpikuja vai risteys?</a:t>
                </a:r>
              </a:p>
            </p:txBody>
          </p:sp>
        </p:grpSp>
        <p:cxnSp>
          <p:nvCxnSpPr>
            <p:cNvPr id="9251" name="AutoShape 35"/>
            <p:cNvCxnSpPr>
              <a:cxnSpLocks noChangeShapeType="1"/>
              <a:stCxn id="9222" idx="2"/>
              <a:endCxn id="0" idx="3"/>
            </p:cNvCxnSpPr>
            <p:nvPr/>
          </p:nvCxnSpPr>
          <p:spPr bwMode="auto">
            <a:xfrm rot="5400000">
              <a:off x="1954" y="2962"/>
              <a:ext cx="326" cy="470"/>
            </a:xfrm>
            <a:prstGeom prst="curvedConnector2">
              <a:avLst/>
            </a:prstGeom>
            <a:noFill/>
            <a:ln w="28575">
              <a:solidFill>
                <a:schemeClr val="accent2"/>
              </a:solidFill>
              <a:round/>
              <a:headEnd/>
              <a:tailEnd type="triangle" w="med" len="med"/>
            </a:ln>
            <a:effectLst/>
          </p:spPr>
        </p:cxnSp>
      </p:grpSp>
      <p:grpSp>
        <p:nvGrpSpPr>
          <p:cNvPr id="10" name="Group 46"/>
          <p:cNvGrpSpPr>
            <a:grpSpLocks/>
          </p:cNvGrpSpPr>
          <p:nvPr/>
        </p:nvGrpSpPr>
        <p:grpSpPr bwMode="auto">
          <a:xfrm>
            <a:off x="-381000" y="2743200"/>
            <a:ext cx="3886200" cy="1524000"/>
            <a:chOff x="-240" y="1728"/>
            <a:chExt cx="2448" cy="960"/>
          </a:xfrm>
        </p:grpSpPr>
        <p:grpSp>
          <p:nvGrpSpPr>
            <p:cNvPr id="11" name="Group 42"/>
            <p:cNvGrpSpPr>
              <a:grpSpLocks/>
            </p:cNvGrpSpPr>
            <p:nvPr/>
          </p:nvGrpSpPr>
          <p:grpSpPr bwMode="auto">
            <a:xfrm>
              <a:off x="-240" y="1728"/>
              <a:ext cx="1582" cy="960"/>
              <a:chOff x="-240" y="1728"/>
              <a:chExt cx="1582" cy="960"/>
            </a:xfrm>
          </p:grpSpPr>
          <p:sp>
            <p:nvSpPr>
              <p:cNvPr id="9233" name="Text Box 17"/>
              <p:cNvSpPr txBox="1">
                <a:spLocks noChangeArrowheads="1"/>
              </p:cNvSpPr>
              <p:nvPr/>
            </p:nvSpPr>
            <p:spPr bwMode="auto">
              <a:xfrm>
                <a:off x="48" y="2515"/>
                <a:ext cx="1248" cy="173"/>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200" b="1"/>
                  <a:t>HAUSKUUS</a:t>
                </a:r>
              </a:p>
            </p:txBody>
          </p:sp>
          <p:sp>
            <p:nvSpPr>
              <p:cNvPr id="9241" name="Text Box 25"/>
              <p:cNvSpPr txBox="1">
                <a:spLocks noChangeArrowheads="1"/>
              </p:cNvSpPr>
              <p:nvPr/>
            </p:nvSpPr>
            <p:spPr bwMode="auto">
              <a:xfrm>
                <a:off x="-96" y="1728"/>
                <a:ext cx="1248" cy="212"/>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Motivaatio</a:t>
                </a:r>
              </a:p>
            </p:txBody>
          </p:sp>
          <p:sp>
            <p:nvSpPr>
              <p:cNvPr id="9242" name="Text Box 26"/>
              <p:cNvSpPr txBox="1">
                <a:spLocks noChangeArrowheads="1"/>
              </p:cNvSpPr>
              <p:nvPr/>
            </p:nvSpPr>
            <p:spPr bwMode="auto">
              <a:xfrm>
                <a:off x="-240" y="1948"/>
                <a:ext cx="1248" cy="212"/>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Mielekkyys</a:t>
                </a:r>
              </a:p>
            </p:txBody>
          </p:sp>
          <p:pic>
            <p:nvPicPr>
              <p:cNvPr id="9244" name="Picture 28" descr="C:\Documents and Settings\pyhama\Application Data\Microsoft\Media Catalog\Downloaded Clips\clac\j0430039.wmf"/>
              <p:cNvPicPr>
                <a:picLocks noChangeAspect="1" noChangeArrowheads="1"/>
              </p:cNvPicPr>
              <p:nvPr/>
            </p:nvPicPr>
            <p:blipFill>
              <a:blip r:embed="rId8" cstate="print"/>
              <a:srcRect/>
              <a:stretch>
                <a:fillRect/>
              </a:stretch>
            </p:blipFill>
            <p:spPr bwMode="auto">
              <a:xfrm>
                <a:off x="672" y="1824"/>
                <a:ext cx="670" cy="720"/>
              </a:xfrm>
              <a:prstGeom prst="rect">
                <a:avLst/>
              </a:prstGeom>
              <a:noFill/>
            </p:spPr>
          </p:pic>
        </p:grpSp>
        <p:cxnSp>
          <p:nvCxnSpPr>
            <p:cNvPr id="9252" name="AutoShape 36"/>
            <p:cNvCxnSpPr>
              <a:cxnSpLocks noChangeShapeType="1"/>
              <a:endCxn id="0" idx="2"/>
            </p:cNvCxnSpPr>
            <p:nvPr/>
          </p:nvCxnSpPr>
          <p:spPr bwMode="auto">
            <a:xfrm rot="10800000" flipV="1">
              <a:off x="1007" y="2448"/>
              <a:ext cx="1201" cy="96"/>
            </a:xfrm>
            <a:prstGeom prst="curvedConnector4">
              <a:avLst>
                <a:gd name="adj1" fmla="val 36056"/>
                <a:gd name="adj2" fmla="val 250000"/>
              </a:avLst>
            </a:prstGeom>
            <a:noFill/>
            <a:ln w="28575">
              <a:solidFill>
                <a:schemeClr val="accent2"/>
              </a:solidFill>
              <a:round/>
              <a:headEnd/>
              <a:tailEnd type="triangle" w="med" len="med"/>
            </a:ln>
            <a:effectLst/>
          </p:spPr>
        </p:cxnSp>
      </p:grpSp>
      <p:grpSp>
        <p:nvGrpSpPr>
          <p:cNvPr id="12" name="Group 43"/>
          <p:cNvGrpSpPr>
            <a:grpSpLocks/>
          </p:cNvGrpSpPr>
          <p:nvPr/>
        </p:nvGrpSpPr>
        <p:grpSpPr bwMode="auto">
          <a:xfrm>
            <a:off x="5029200" y="3397250"/>
            <a:ext cx="4114800" cy="1036638"/>
            <a:chOff x="3168" y="2140"/>
            <a:chExt cx="2592" cy="653"/>
          </a:xfrm>
        </p:grpSpPr>
        <p:grpSp>
          <p:nvGrpSpPr>
            <p:cNvPr id="13" name="Group 39"/>
            <p:cNvGrpSpPr>
              <a:grpSpLocks/>
            </p:cNvGrpSpPr>
            <p:nvPr/>
          </p:nvGrpSpPr>
          <p:grpSpPr bwMode="auto">
            <a:xfrm>
              <a:off x="3189" y="2140"/>
              <a:ext cx="2571" cy="596"/>
              <a:chOff x="3189" y="2140"/>
              <a:chExt cx="2571" cy="596"/>
            </a:xfrm>
          </p:grpSpPr>
          <p:pic>
            <p:nvPicPr>
              <p:cNvPr id="9226" name="Picture 10" descr="C:\Documents and Settings\pyhama\Application Data\Microsoft\Media Catalog\Downloaded Clips\cla2\j0406148.wmf"/>
              <p:cNvPicPr>
                <a:picLocks noChangeAspect="1" noChangeArrowheads="1"/>
              </p:cNvPicPr>
              <p:nvPr/>
            </p:nvPicPr>
            <p:blipFill>
              <a:blip r:embed="rId9" cstate="print"/>
              <a:srcRect/>
              <a:stretch>
                <a:fillRect/>
              </a:stretch>
            </p:blipFill>
            <p:spPr bwMode="auto">
              <a:xfrm>
                <a:off x="3648" y="2160"/>
                <a:ext cx="816" cy="571"/>
              </a:xfrm>
              <a:prstGeom prst="rect">
                <a:avLst/>
              </a:prstGeom>
              <a:noFill/>
            </p:spPr>
          </p:pic>
          <p:sp>
            <p:nvSpPr>
              <p:cNvPr id="9227" name="Text Box 11"/>
              <p:cNvSpPr txBox="1">
                <a:spLocks noChangeArrowheads="1"/>
              </p:cNvSpPr>
              <p:nvPr/>
            </p:nvSpPr>
            <p:spPr bwMode="auto">
              <a:xfrm>
                <a:off x="4512" y="2140"/>
                <a:ext cx="1248" cy="366"/>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Päätöksiin osallistuminen</a:t>
                </a:r>
              </a:p>
            </p:txBody>
          </p:sp>
          <p:sp>
            <p:nvSpPr>
              <p:cNvPr id="9228" name="Text Box 12"/>
              <p:cNvSpPr txBox="1">
                <a:spLocks noChangeArrowheads="1"/>
              </p:cNvSpPr>
              <p:nvPr/>
            </p:nvSpPr>
            <p:spPr bwMode="auto">
              <a:xfrm>
                <a:off x="4512" y="2524"/>
                <a:ext cx="1248" cy="212"/>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a:t>Kosketuspinta-ala</a:t>
                </a:r>
              </a:p>
            </p:txBody>
          </p:sp>
          <p:cxnSp>
            <p:nvCxnSpPr>
              <p:cNvPr id="9247" name="AutoShape 31"/>
              <p:cNvCxnSpPr>
                <a:cxnSpLocks noChangeShapeType="1"/>
                <a:stCxn id="0" idx="3"/>
                <a:endCxn id="0" idx="1"/>
              </p:cNvCxnSpPr>
              <p:nvPr/>
            </p:nvCxnSpPr>
            <p:spPr bwMode="auto">
              <a:xfrm>
                <a:off x="3189" y="2375"/>
                <a:ext cx="459" cy="71"/>
              </a:xfrm>
              <a:prstGeom prst="curvedConnector3">
                <a:avLst>
                  <a:gd name="adj1" fmla="val 49889"/>
                </a:avLst>
              </a:prstGeom>
              <a:noFill/>
              <a:ln w="28575">
                <a:solidFill>
                  <a:schemeClr val="accent2"/>
                </a:solidFill>
                <a:round/>
                <a:headEnd/>
                <a:tailEnd type="triangle" w="med" len="med"/>
              </a:ln>
              <a:effectLst/>
            </p:spPr>
          </p:cxnSp>
        </p:grpSp>
        <p:sp>
          <p:nvSpPr>
            <p:cNvPr id="9230" name="Text Box 14"/>
            <p:cNvSpPr txBox="1">
              <a:spLocks noChangeArrowheads="1"/>
            </p:cNvSpPr>
            <p:nvPr/>
          </p:nvSpPr>
          <p:spPr bwMode="auto">
            <a:xfrm>
              <a:off x="3168" y="2620"/>
              <a:ext cx="1248" cy="173"/>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200" b="1"/>
                <a:t>VALTA</a:t>
              </a:r>
            </a:p>
          </p:txBody>
        </p:sp>
      </p:grpSp>
      <p:sp>
        <p:nvSpPr>
          <p:cNvPr id="47" name="Slide Number Placeholder 46"/>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0-#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2333</TotalTime>
  <Words>1687</Words>
  <Application>Microsoft Macintosh PowerPoint</Application>
  <PresentationFormat>On-screen Show (4:3)</PresentationFormat>
  <Paragraphs>347</Paragraphs>
  <Slides>27</Slides>
  <Notes>27</Notes>
  <HiddenSlides>1</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Roolit ja osaaminen</vt:lpstr>
      <vt:lpstr>Perinteiset testauksen roolit</vt:lpstr>
      <vt:lpstr>Roolien muutos perinteisestä ketterään</vt:lpstr>
      <vt:lpstr>Muutos ketterien menetelmien myötä</vt:lpstr>
      <vt:lpstr>Scrum Master -rooli</vt:lpstr>
      <vt:lpstr>Suhde työhön – Sitoutuneiden ihmisten potentiaali</vt:lpstr>
      <vt:lpstr>Itseohjautuvan tiimin rakentaminen – myös testaustaidot!</vt:lpstr>
      <vt:lpstr>Tarvitseeko ketterä tiimi  “testaajaa”?</vt:lpstr>
      <vt:lpstr>Testaukseen erikoistuneiden testaajien hyvät puolet</vt:lpstr>
      <vt:lpstr>Testauksen vs. kehityksen keskeiset taidot</vt:lpstr>
      <vt:lpstr>Testaaja vs. Kehittäjä Lähde: Mukaillen Bret Pettichord. 2000.Testers and Developers Think Differently</vt:lpstr>
      <vt:lpstr>Hyvä testaaja</vt:lpstr>
      <vt:lpstr>Ketterän testaajan vaatimukset</vt:lpstr>
      <vt:lpstr>Mitä perinteisen testaajan on opittava selvitäkseen ja loistaakseen ketterissä projekteissa</vt:lpstr>
      <vt:lpstr>Testi: Millainen ketterä testaaja olisit?</vt:lpstr>
      <vt:lpstr>Testin tulokset: Millainen ketterä testaaja olisit?</vt:lpstr>
      <vt:lpstr>Ketterä testaus – riippuu myös testaajasta</vt:lpstr>
      <vt:lpstr>Testaajien sijoittelu kehitysorganisaatiossa</vt:lpstr>
      <vt:lpstr>Testausvastaava ketterissä menetelmissä – ei mainittu</vt:lpstr>
      <vt:lpstr>Testauksen hallinta jakaantuu</vt:lpstr>
      <vt:lpstr>Oppeja projektimallien käytännön eroista:  miten testausvastaavan arjen haasteet muuttuvat?</vt:lpstr>
      <vt:lpstr>Tarvitseeko ketterä projekti testausvastaavaa?</vt:lpstr>
      <vt:lpstr>Testausvastaava ketterissä – mitä se voisi olla?</vt:lpstr>
      <vt:lpstr>Ketterän projektin testausvastaavan mahdollisia tehtäviä monitiimitilanteessa</vt:lpstr>
      <vt:lpstr>Urakehitystä testauksessa</vt:lpstr>
      <vt:lpstr>Ajattele uraa eri tavalla</vt:lpstr>
      <vt:lpstr>Ideoita, ajatuksia,  kysymyksiä?</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Roles</dc:title>
  <dc:creator>Maaret Pyhäjärvi</dc:creator>
  <cp:lastModifiedBy>Maaret Pyhäjärvi</cp:lastModifiedBy>
  <cp:revision>90</cp:revision>
  <dcterms:created xsi:type="dcterms:W3CDTF">2006-08-16T00:00:00Z</dcterms:created>
  <dcterms:modified xsi:type="dcterms:W3CDTF">2017-05-30T16:28:47Z</dcterms:modified>
</cp:coreProperties>
</file>