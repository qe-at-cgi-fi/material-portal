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57" r:id="rId21"/>
    <p:sldId id="276" r:id="rId22"/>
  </p:sldIdLst>
  <p:sldSz cx="9144000" cy="6858000" type="screen4x3"/>
  <p:notesSz cx="6734175" cy="98679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309" autoAdjust="0"/>
  </p:normalViewPr>
  <p:slideViewPr>
    <p:cSldViewPr>
      <p:cViewPr varScale="1">
        <p:scale>
          <a:sx n="76" d="100"/>
          <a:sy n="76" d="100"/>
        </p:scale>
        <p:origin x="-139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490" y="-126"/>
      </p:cViewPr>
      <p:guideLst>
        <p:guide orient="horz" pos="3108"/>
        <p:guide pos="2121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4474" y="0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5C55B-5751-4D85-896F-91204AA783C7}" type="datetimeFigureOut">
              <a:rPr lang="en-US" smtClean="0"/>
              <a:pPr/>
              <a:t>4/6/2011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739775"/>
            <a:ext cx="4933950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418" y="4687253"/>
            <a:ext cx="5387340" cy="4440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2792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4474" y="9372792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6C0F0-CF11-4FCF-A404-2F2FF520469E}" type="slidenum">
              <a:rPr lang="fi-FI" smtClean="0"/>
              <a:pPr/>
              <a:t>‹#›</a:t>
            </a:fld>
            <a:endParaRPr lang="fi-FI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1</a:t>
            </a:fld>
            <a:endParaRPr lang="fi-FI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2</a:t>
            </a:fld>
            <a:endParaRPr lang="fi-FI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3</a:t>
            </a:fld>
            <a:endParaRPr lang="fi-FI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4</a:t>
            </a:fld>
            <a:endParaRPr lang="fi-FI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5</a:t>
            </a:fld>
            <a:endParaRPr lang="fi-FI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6</a:t>
            </a:fld>
            <a:endParaRPr lang="fi-FI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7</a:t>
            </a:fld>
            <a:endParaRPr lang="fi-FI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9E827C-2908-410D-A2B3-FA8929D7E8B8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9</a:t>
            </a:fld>
            <a:endParaRPr lang="fi-FI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10</a:t>
            </a:fld>
            <a:endParaRPr lang="fi-FI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11</a:t>
            </a:fld>
            <a:endParaRPr lang="fi-FI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12</a:t>
            </a:fld>
            <a:endParaRPr lang="fi-FI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13</a:t>
            </a:fld>
            <a:endParaRPr lang="fi-FI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14</a:t>
            </a:fld>
            <a:endParaRPr lang="fi-FI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AD168E-31A5-4FF1-BDAE-588D5D953A34}" type="slidenum">
              <a:rPr lang="en-US"/>
              <a:pPr/>
              <a:t>15</a:t>
            </a:fld>
            <a:endParaRPr lang="en-US"/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541A1B-BC1A-42E5-B90A-9078E3616266}" type="slidenum">
              <a:rPr lang="en-US"/>
              <a:pPr/>
              <a:t>16</a:t>
            </a:fld>
            <a:endParaRPr lang="en-US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F60DF0-7D57-4BD8-A645-C64DF7AF342A}" type="slidenum">
              <a:rPr lang="en-US"/>
              <a:pPr/>
              <a:t>17</a:t>
            </a:fld>
            <a:endParaRPr lang="en-US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1E6CA7-C936-4A07-9115-E2DB1D0C8BD3}" type="slidenum">
              <a:rPr lang="en-US"/>
              <a:pPr/>
              <a:t>18</a:t>
            </a:fld>
            <a:endParaRPr lang="en-US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F7FC22-B988-41C8-925F-A920B475C3BC}" type="slidenum">
              <a:rPr lang="en-US"/>
              <a:pPr/>
              <a:t>19</a:t>
            </a:fld>
            <a:endParaRPr lang="en-US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0F80B-00F3-431D-B31E-47D2F9301A1B}" type="slidenum">
              <a:rPr lang="fi-FI" smtClean="0"/>
              <a:pPr/>
              <a:t>20</a:t>
            </a:fld>
            <a:endParaRPr lang="fi-FI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0113" y="739775"/>
            <a:ext cx="4933950" cy="37004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119B5D-30D2-4831-8051-56B3D95C1A93}" type="slidenum">
              <a:rPr lang="en-GB" smtClean="0"/>
              <a:pPr/>
              <a:t>21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319BE-3F3F-4207-8485-1F7B94E89621}" type="datetime1">
              <a:rPr lang="en-US" smtClean="0"/>
              <a:pPr/>
              <a:t>4/6/2011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Extras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CA40-F771-4346-B652-580F886B4011}" type="datetime1">
              <a:rPr lang="en-US" smtClean="0"/>
              <a:pPr/>
              <a:t>4/6/2011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Extras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CB6F6-A033-4716-A998-F79F86E8C3C7}" type="datetime1">
              <a:rPr lang="en-US" smtClean="0"/>
              <a:pPr/>
              <a:t>4/6/2011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Extras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8042-D1D4-4F1E-ABF5-67BEE0BE9039}" type="datetime1">
              <a:rPr lang="en-US" smtClean="0"/>
              <a:pPr/>
              <a:t>4/6/2011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Extras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FD8C8-F42C-4922-B166-D3988D4336C4}" type="datetime1">
              <a:rPr lang="en-US" smtClean="0"/>
              <a:pPr/>
              <a:t>4/6/2011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Extras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6EEA-F508-4850-976D-72C18CF12B0B}" type="datetime1">
              <a:rPr lang="en-US" smtClean="0"/>
              <a:pPr/>
              <a:t>4/6/2011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Extras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EFBCD-9AAA-4389-B5B9-5CBAD69B23E9}" type="datetime1">
              <a:rPr lang="en-US" smtClean="0"/>
              <a:pPr/>
              <a:t>4/6/2011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Extras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09731-ECF1-4DCE-9D52-DD1A5B0A0380}" type="datetime1">
              <a:rPr lang="en-US" smtClean="0"/>
              <a:pPr/>
              <a:t>4/6/2011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Extras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147C-609D-48A2-A7FF-7DA109A1FCD7}" type="datetime1">
              <a:rPr lang="en-US" smtClean="0"/>
              <a:pPr/>
              <a:t>4/6/2011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Extras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4997-DFD9-40C7-9797-D99A9DEA581B}" type="datetime1">
              <a:rPr lang="en-US" smtClean="0"/>
              <a:pPr/>
              <a:t>4/6/2011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Extras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C39E1-A63B-4AF0-BF70-7F25A6CBF94F}" type="datetime1">
              <a:rPr lang="en-US" smtClean="0"/>
              <a:pPr/>
              <a:t>4/6/2011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Extras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40C73-13A5-4E1E-8940-0FE2B8796A13}" type="datetime1">
              <a:rPr lang="en-US" smtClean="0"/>
              <a:pPr/>
              <a:t>4/6/2011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Extras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wmf"/><Relationship Id="rId5" Type="http://schemas.openxmlformats.org/officeDocument/2006/relationships/hyperlink" Target="http://creativecommons.org/licenses/by/1.0/fi/deed.en" TargetMode="External"/><Relationship Id="rId4" Type="http://schemas.openxmlformats.org/officeDocument/2006/relationships/hyperlink" Target="http://creativecommons.org/licenses/by/1.0/fi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Roles AND SKILLS – MORE STUFF</a:t>
            </a:r>
            <a:endParaRPr lang="fi-FI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 dirty="0" smtClean="0"/>
              <a:t>Division of work to roles</a:t>
            </a:r>
            <a:endParaRPr lang="fi-FI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4" name="Group 12"/>
          <p:cNvGrpSpPr/>
          <p:nvPr/>
        </p:nvGrpSpPr>
        <p:grpSpPr>
          <a:xfrm>
            <a:off x="4876800" y="5943600"/>
            <a:ext cx="4114800" cy="685800"/>
            <a:chOff x="838200" y="5486400"/>
            <a:chExt cx="4114800" cy="685800"/>
          </a:xfrm>
        </p:grpSpPr>
        <p:sp>
          <p:nvSpPr>
            <p:cNvPr id="12" name="Rectangle 11"/>
            <p:cNvSpPr/>
            <p:nvPr/>
          </p:nvSpPr>
          <p:spPr>
            <a:xfrm>
              <a:off x="838200" y="5486400"/>
              <a:ext cx="4114800" cy="6858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pic>
          <p:nvPicPr>
            <p:cNvPr id="13" name="Picture 12" descr="88x3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9940" y="5638800"/>
              <a:ext cx="1117460" cy="393651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2057400" y="5511225"/>
              <a:ext cx="2819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i-FI" sz="900" b="1" dirty="0" smtClean="0"/>
                <a:t>Erkki Pöyhönen &amp; Maaret Pyhäjärvi</a:t>
              </a:r>
            </a:p>
            <a:p>
              <a:r>
                <a:rPr lang="fi-FI" sz="900" dirty="0" smtClean="0"/>
                <a:t>Nimeä |  Attribution (Finland)</a:t>
              </a:r>
            </a:p>
            <a:p>
              <a:pPr marL="0" lvl="1"/>
              <a:r>
                <a:rPr lang="fi-FI" sz="900" dirty="0" smtClean="0">
                  <a:hlinkClick r:id="rId4"/>
                </a:rPr>
                <a:t>http://creativecommons.org/licenses/by/1.0/fi/</a:t>
              </a:r>
              <a:endParaRPr lang="fi-FI" sz="900" dirty="0" smtClean="0"/>
            </a:p>
            <a:p>
              <a:pPr marL="0" lvl="1"/>
              <a:r>
                <a:rPr lang="fi-FI" sz="900" dirty="0" smtClean="0">
                  <a:hlinkClick r:id="rId5"/>
                </a:rPr>
                <a:t>http://creativecommons.org/licenses/by/1.0/fi/deed.en</a:t>
              </a:r>
              <a:endParaRPr lang="fi-FI" sz="900" dirty="0" smtClean="0"/>
            </a:p>
          </p:txBody>
        </p:sp>
      </p:grpSp>
      <p:pic>
        <p:nvPicPr>
          <p:cNvPr id="11" name="Picture 2" descr="C:\Documents and Settings\Maaret\My Documents\My Pictures\Microsoft Clip Organizer\j0288977.wm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704507" y="357166"/>
            <a:ext cx="4082335" cy="2982916"/>
          </a:xfrm>
          <a:prstGeom prst="rect">
            <a:avLst/>
          </a:prstGeom>
          <a:noFill/>
        </p:spPr>
      </p:pic>
      <p:sp>
        <p:nvSpPr>
          <p:cNvPr id="15" name="TextBox 14"/>
          <p:cNvSpPr txBox="1"/>
          <p:nvPr/>
        </p:nvSpPr>
        <p:spPr>
          <a:xfrm>
            <a:off x="228600" y="152400"/>
            <a:ext cx="56388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4000" b="1" dirty="0" smtClean="0">
                <a:solidFill>
                  <a:schemeClr val="accent1"/>
                </a:solidFill>
                <a:latin typeface="Freestyle Script" pitchFamily="66" charset="0"/>
                <a:cs typeface="Tunga" pitchFamily="2" charset="0"/>
              </a:rPr>
              <a:t>Ketterä testaus</a:t>
            </a:r>
          </a:p>
          <a:p>
            <a:r>
              <a:rPr lang="fi-FI" b="1" dirty="0" smtClean="0">
                <a:solidFill>
                  <a:schemeClr val="accent1"/>
                </a:solidFill>
                <a:latin typeface="Freestyle Script" pitchFamily="66" charset="0"/>
                <a:cs typeface="Tunga" pitchFamily="2" charset="0"/>
              </a:rPr>
              <a:t>v.13 (2011-04)</a:t>
            </a:r>
            <a:endParaRPr lang="fi-FI" sz="1600" b="1" dirty="0">
              <a:solidFill>
                <a:schemeClr val="accent1"/>
              </a:solidFill>
              <a:latin typeface="Freestyle Script" pitchFamily="66" charset="0"/>
              <a:cs typeface="Tunga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F0B53-9592-4779-891F-997228E46E01}" type="slidenum">
              <a:rPr lang="sv-SE" smtClean="0"/>
              <a:pPr/>
              <a:t>2</a:t>
            </a:fld>
            <a:endParaRPr lang="sv-SE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SCRUM MASTER TASKS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Additional Materials</a:t>
            </a:r>
            <a:endParaRPr lang="en-US" dirty="0" smtClean="0"/>
          </a:p>
        </p:txBody>
      </p:sp>
      <p:pic>
        <p:nvPicPr>
          <p:cNvPr id="4099" name="Picture 3" descr="C:\Documents and Settings\Maaret\My Documents\My Pictures\Microsoft Clip Organizer\j0078809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13300" y="889000"/>
            <a:ext cx="2990850" cy="21812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Building a Self-Organized Team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857884" y="2905108"/>
            <a:ext cx="3000396" cy="242889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dirty="0" smtClean="0"/>
              <a:t>Scrum master facilitates the process, team does all decisions. Process facilitation need depends on current state. </a:t>
            </a:r>
            <a:endParaRPr lang="en-US" sz="2000" dirty="0"/>
          </a:p>
        </p:txBody>
      </p:sp>
      <p:sp>
        <p:nvSpPr>
          <p:cNvPr id="9" name="Right Arrow 8"/>
          <p:cNvSpPr/>
          <p:nvPr/>
        </p:nvSpPr>
        <p:spPr>
          <a:xfrm>
            <a:off x="2928926" y="3857627"/>
            <a:ext cx="2071702" cy="85725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/>
              <a:t>Able</a:t>
            </a:r>
            <a:endParaRPr lang="en-US" b="1" dirty="0"/>
          </a:p>
        </p:txBody>
      </p:sp>
      <p:sp>
        <p:nvSpPr>
          <p:cNvPr id="10" name="Right Arrow 9"/>
          <p:cNvSpPr/>
          <p:nvPr/>
        </p:nvSpPr>
        <p:spPr>
          <a:xfrm flipH="1">
            <a:off x="642910" y="3857627"/>
            <a:ext cx="2071702" cy="85725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/>
              <a:t>Unable</a:t>
            </a:r>
            <a:endParaRPr lang="en-US" b="1" dirty="0"/>
          </a:p>
        </p:txBody>
      </p:sp>
      <p:sp>
        <p:nvSpPr>
          <p:cNvPr id="11" name="Right Arrow 10"/>
          <p:cNvSpPr/>
          <p:nvPr/>
        </p:nvSpPr>
        <p:spPr>
          <a:xfrm rot="5400000" flipH="1">
            <a:off x="1750199" y="2464586"/>
            <a:ext cx="2071702" cy="85725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/>
              <a:t>Willing</a:t>
            </a:r>
            <a:endParaRPr lang="en-US" b="1" dirty="0"/>
          </a:p>
        </p:txBody>
      </p:sp>
      <p:sp>
        <p:nvSpPr>
          <p:cNvPr id="12" name="Right Arrow 11"/>
          <p:cNvSpPr/>
          <p:nvPr/>
        </p:nvSpPr>
        <p:spPr>
          <a:xfrm rot="16200000" flipH="1" flipV="1">
            <a:off x="1750199" y="5250669"/>
            <a:ext cx="2071702" cy="85725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/>
              <a:t>Unwilling</a:t>
            </a:r>
            <a:endParaRPr lang="en-US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F0B53-9592-4779-891F-997228E46E01}" type="slidenum">
              <a:rPr lang="sv-SE" smtClean="0"/>
              <a:pPr/>
              <a:t>3</a:t>
            </a:fld>
            <a:endParaRPr lang="sv-S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Unable, Unwilling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Functional manager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GB" dirty="0" smtClean="0"/>
              <a:t>Scrum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en-US" dirty="0" smtClean="0"/>
              <a:t>Career coaching</a:t>
            </a:r>
          </a:p>
          <a:p>
            <a:r>
              <a:rPr lang="en-US" dirty="0" smtClean="0"/>
              <a:t>Disciplinary action</a:t>
            </a:r>
          </a:p>
          <a:p>
            <a:r>
              <a:rPr lang="en-US" dirty="0" smtClean="0"/>
              <a:t>Support SM on task delegation and project decisions</a:t>
            </a:r>
          </a:p>
          <a:p>
            <a:endParaRPr lang="en-GB" dirty="0" smtClean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194175" cy="3951288"/>
          </a:xfrm>
        </p:spPr>
        <p:txBody>
          <a:bodyPr>
            <a:noAutofit/>
          </a:bodyPr>
          <a:lstStyle/>
          <a:p>
            <a:r>
              <a:rPr lang="en-US" sz="1800" dirty="0" smtClean="0"/>
              <a:t>Delegation of tasks</a:t>
            </a:r>
          </a:p>
          <a:p>
            <a:r>
              <a:rPr lang="en-US" sz="1800" dirty="0" smtClean="0"/>
              <a:t>Running meetings</a:t>
            </a:r>
          </a:p>
          <a:p>
            <a:r>
              <a:rPr lang="en-US" sz="1800" dirty="0" smtClean="0"/>
              <a:t>Make decisions for the team</a:t>
            </a:r>
          </a:p>
          <a:p>
            <a:r>
              <a:rPr lang="en-US" sz="1800" dirty="0" smtClean="0"/>
              <a:t>Focus on testing </a:t>
            </a:r>
          </a:p>
          <a:p>
            <a:r>
              <a:rPr lang="en-US" sz="1800" dirty="0" smtClean="0"/>
              <a:t>Expect working code over lengthy design – encourage prototyping and unit testing as early as possible</a:t>
            </a:r>
          </a:p>
          <a:p>
            <a:r>
              <a:rPr lang="en-US" sz="1800" dirty="0" smtClean="0"/>
              <a:t>Encourage small stories and tasks</a:t>
            </a:r>
          </a:p>
          <a:p>
            <a:r>
              <a:rPr lang="en-US" sz="1800" dirty="0" smtClean="0"/>
              <a:t>Encourage idea that team succeeds or fails together</a:t>
            </a:r>
          </a:p>
          <a:p>
            <a:r>
              <a:rPr lang="en-US" sz="1800" dirty="0" smtClean="0"/>
              <a:t>Play on peer pressure if necessary</a:t>
            </a:r>
          </a:p>
          <a:p>
            <a:r>
              <a:rPr lang="en-US" sz="1800" dirty="0" smtClean="0"/>
              <a:t>Reporting employee discipline issues to FM</a:t>
            </a:r>
          </a:p>
          <a:p>
            <a:r>
              <a:rPr lang="en-US" sz="1800" dirty="0" smtClean="0"/>
              <a:t>Discussing specific employee weaknesses with FM</a:t>
            </a:r>
          </a:p>
          <a:p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714348" y="4714884"/>
            <a:ext cx="2786082" cy="171451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Shared responsibility: Strong communication between FM and SM on employee motivation and issues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F0B53-9592-4779-891F-997228E46E01}" type="slidenum">
              <a:rPr lang="sv-SE" smtClean="0"/>
              <a:pPr/>
              <a:t>4</a:t>
            </a:fld>
            <a:endParaRPr lang="sv-S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Unable, Willing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Functional manager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GB" dirty="0" smtClean="0"/>
              <a:t>Scrum master</a:t>
            </a:r>
            <a:endParaRPr lang="en-US" dirty="0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en-US" dirty="0" smtClean="0"/>
              <a:t>Highlight employee successes</a:t>
            </a:r>
          </a:p>
          <a:p>
            <a:r>
              <a:rPr lang="en-US" dirty="0" smtClean="0"/>
              <a:t>Identify learning potentials</a:t>
            </a:r>
          </a:p>
          <a:p>
            <a:r>
              <a:rPr lang="en-US" dirty="0" smtClean="0"/>
              <a:t>Assist employee with difficulties</a:t>
            </a:r>
          </a:p>
          <a:p>
            <a:r>
              <a:rPr lang="en-US" dirty="0" smtClean="0"/>
              <a:t>Query employee on status and comfort</a:t>
            </a:r>
          </a:p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Delegation of tasks</a:t>
            </a:r>
          </a:p>
          <a:p>
            <a:r>
              <a:rPr lang="en-US" dirty="0" smtClean="0"/>
              <a:t>Running meetings</a:t>
            </a:r>
          </a:p>
          <a:p>
            <a:r>
              <a:rPr lang="en-US" dirty="0" smtClean="0"/>
              <a:t>Guide team in decisions</a:t>
            </a:r>
          </a:p>
          <a:p>
            <a:r>
              <a:rPr lang="en-US" dirty="0" smtClean="0"/>
              <a:t>Enforce small stories and small tasks</a:t>
            </a:r>
          </a:p>
          <a:p>
            <a:r>
              <a:rPr lang="en-US" dirty="0" smtClean="0"/>
              <a:t>Discussing employee skill shortcomings with FM</a:t>
            </a:r>
          </a:p>
          <a:p>
            <a:r>
              <a:rPr lang="en-US" dirty="0" smtClean="0"/>
              <a:t>Encouraging employees to work together to teach each other</a:t>
            </a:r>
          </a:p>
          <a:p>
            <a:r>
              <a:rPr lang="en-US" dirty="0" smtClean="0"/>
              <a:t>Highlight employee success to manager and team success to company</a:t>
            </a:r>
          </a:p>
          <a:p>
            <a:r>
              <a:rPr lang="en-US" dirty="0" smtClean="0"/>
              <a:t>Keep time during meetings to keep team focused</a:t>
            </a:r>
          </a:p>
          <a:p>
            <a:r>
              <a:rPr lang="en-US" dirty="0" smtClean="0"/>
              <a:t>Keep team focused on tasks, goals and deadlines</a:t>
            </a:r>
          </a:p>
          <a:p>
            <a:r>
              <a:rPr lang="en-US" dirty="0" smtClean="0"/>
              <a:t>Emphasize automation of testing</a:t>
            </a:r>
          </a:p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142976" y="5072074"/>
            <a:ext cx="2786082" cy="155732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Shared responsibility: Strong communication between FM and SM on employee skills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F0B53-9592-4779-891F-997228E46E01}" type="slidenum">
              <a:rPr lang="sv-SE" smtClean="0"/>
              <a:pPr/>
              <a:t>5</a:t>
            </a:fld>
            <a:endParaRPr lang="sv-S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Able, Unwilling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Functional manager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GB" dirty="0" smtClean="0"/>
              <a:t>Scrum master</a:t>
            </a:r>
            <a:endParaRPr lang="en-US" dirty="0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en-US" dirty="0" smtClean="0"/>
              <a:t>Attitude coaching</a:t>
            </a:r>
          </a:p>
          <a:p>
            <a:r>
              <a:rPr lang="en-US" dirty="0" smtClean="0"/>
              <a:t>Selling opportunity to employee</a:t>
            </a:r>
          </a:p>
          <a:p>
            <a:r>
              <a:rPr lang="en-US" dirty="0" smtClean="0"/>
              <a:t>Focus on employee responsibilities</a:t>
            </a:r>
          </a:p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Start stepping back and letting employees plan more</a:t>
            </a:r>
          </a:p>
          <a:p>
            <a:r>
              <a:rPr lang="en-US" dirty="0" smtClean="0"/>
              <a:t>Enforce small stories and tasks</a:t>
            </a:r>
          </a:p>
          <a:p>
            <a:r>
              <a:rPr lang="en-US" dirty="0" smtClean="0"/>
              <a:t>Focus on accountability and deadlines</a:t>
            </a:r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F0B53-9592-4779-891F-997228E46E01}" type="slidenum">
              <a:rPr lang="sv-SE" smtClean="0"/>
              <a:pPr/>
              <a:t>6</a:t>
            </a:fld>
            <a:endParaRPr lang="sv-S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Able, Willing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Functional manager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GB" dirty="0" smtClean="0"/>
              <a:t>Scrum master</a:t>
            </a:r>
            <a:endParaRPr lang="en-US" dirty="0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en-US" dirty="0" smtClean="0"/>
              <a:t>Find ways to highlight and reward employees’ success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Encourage employees to work together to cross-train and review work</a:t>
            </a:r>
          </a:p>
          <a:p>
            <a:r>
              <a:rPr lang="en-US" dirty="0" smtClean="0"/>
              <a:t>Highlight team success to company</a:t>
            </a:r>
          </a:p>
          <a:p>
            <a:r>
              <a:rPr lang="en-US" dirty="0" smtClean="0"/>
              <a:t>Offer advice with decision making</a:t>
            </a:r>
          </a:p>
          <a:p>
            <a:r>
              <a:rPr lang="en-US" dirty="0" smtClean="0"/>
              <a:t>Focus on release planning Work on cross departmental involvement</a:t>
            </a:r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F0B53-9592-4779-891F-997228E46E01}" type="slidenum">
              <a:rPr lang="sv-SE" smtClean="0"/>
              <a:pPr/>
              <a:t>7</a:t>
            </a:fld>
            <a:endParaRPr lang="sv-S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Constant Responsibilities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Functional manager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GB" dirty="0" smtClean="0"/>
              <a:t>Scrum master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Employee Reviews</a:t>
            </a:r>
          </a:p>
          <a:p>
            <a:r>
              <a:rPr lang="en-US" dirty="0" smtClean="0"/>
              <a:t>Time and attendance tracking</a:t>
            </a:r>
          </a:p>
          <a:p>
            <a:r>
              <a:rPr lang="en-US" dirty="0" smtClean="0"/>
              <a:t>Assistance with research and improvements for department (i.e. compensation plan details, change control, development tools)</a:t>
            </a:r>
          </a:p>
          <a:p>
            <a:r>
              <a:rPr lang="en-US" dirty="0" smtClean="0"/>
              <a:t>Strategic planning</a:t>
            </a:r>
          </a:p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Calling meetings</a:t>
            </a:r>
          </a:p>
          <a:p>
            <a:r>
              <a:rPr lang="en-US" dirty="0" smtClean="0"/>
              <a:t>Clearing impediments</a:t>
            </a:r>
          </a:p>
          <a:p>
            <a:r>
              <a:rPr lang="en-US" dirty="0" smtClean="0"/>
              <a:t>Communication with other departments as necessary</a:t>
            </a:r>
          </a:p>
          <a:p>
            <a:pPr>
              <a:buNone/>
            </a:pPr>
            <a:endParaRPr lang="en-US" dirty="0" smtClean="0"/>
          </a:p>
        </p:txBody>
      </p:sp>
      <p:sp>
        <p:nvSpPr>
          <p:cNvPr id="8" name="Rectangle 7"/>
          <p:cNvSpPr/>
          <p:nvPr/>
        </p:nvSpPr>
        <p:spPr>
          <a:xfrm>
            <a:off x="5500694" y="4786322"/>
            <a:ext cx="2786082" cy="171451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Shared responsibility: Strategies for improvement</a:t>
            </a:r>
          </a:p>
          <a:p>
            <a:pPr algn="ctr"/>
            <a:r>
              <a:rPr lang="en-US" dirty="0" smtClean="0"/>
              <a:t>Continued communication between SM and FM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F0B53-9592-4779-891F-997228E46E01}" type="slidenum">
              <a:rPr lang="sv-SE" smtClean="0"/>
              <a:pPr/>
              <a:t>8</a:t>
            </a:fld>
            <a:endParaRPr lang="sv-S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Testausvastaavan rooli</a:t>
            </a:r>
            <a:endParaRPr lang="fi-FI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Additional Materials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Extras</a:t>
            </a:r>
            <a:endParaRPr lang="en-US"/>
          </a:p>
        </p:txBody>
      </p:sp>
      <p:pic>
        <p:nvPicPr>
          <p:cNvPr id="1033" name="Picture 9" descr="C:\Documents and Settings\Maaret\My Documents\My Pictures\Microsoft Clip Organizer\j0078822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86200" y="152400"/>
            <a:ext cx="4827588" cy="39369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Pääteemat tehtäville – ketterät projektit</a:t>
            </a:r>
            <a:endParaRPr lang="fi-FI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i-FI" dirty="0" smtClean="0"/>
              <a:t>TESTAUSVASTAAVA</a:t>
            </a:r>
            <a:endParaRPr lang="en-US" dirty="0" smtClean="0"/>
          </a:p>
          <a:p>
            <a:r>
              <a:rPr lang="en-US" dirty="0" err="1" smtClean="0"/>
              <a:t>Testauksen</a:t>
            </a:r>
            <a:r>
              <a:rPr lang="en-US" dirty="0" smtClean="0"/>
              <a:t> </a:t>
            </a:r>
            <a:r>
              <a:rPr lang="en-US" dirty="0" err="1" smtClean="0"/>
              <a:t>esimerkkijohtaminen</a:t>
            </a:r>
            <a:r>
              <a:rPr lang="en-US" dirty="0" smtClean="0"/>
              <a:t> (leadership)</a:t>
            </a:r>
          </a:p>
          <a:p>
            <a:r>
              <a:rPr lang="en-US" dirty="0" err="1" smtClean="0"/>
              <a:t>Resursointi</a:t>
            </a:r>
            <a:endParaRPr lang="en-US" dirty="0" smtClean="0"/>
          </a:p>
          <a:p>
            <a:r>
              <a:rPr lang="en-US" dirty="0" err="1" smtClean="0"/>
              <a:t>Pitkän</a:t>
            </a:r>
            <a:r>
              <a:rPr lang="en-US" dirty="0" smtClean="0"/>
              <a:t> </a:t>
            </a:r>
            <a:r>
              <a:rPr lang="en-US" dirty="0" err="1" smtClean="0"/>
              <a:t>aikavälin</a:t>
            </a:r>
            <a:r>
              <a:rPr lang="en-US" dirty="0" smtClean="0"/>
              <a:t> </a:t>
            </a:r>
            <a:r>
              <a:rPr lang="en-US" dirty="0" err="1" smtClean="0"/>
              <a:t>suunnittelun</a:t>
            </a:r>
            <a:r>
              <a:rPr lang="en-US" dirty="0" smtClean="0"/>
              <a:t> </a:t>
            </a:r>
            <a:r>
              <a:rPr lang="en-US" dirty="0" err="1" smtClean="0"/>
              <a:t>testaustuki</a:t>
            </a:r>
            <a:endParaRPr lang="en-US" dirty="0" smtClean="0"/>
          </a:p>
          <a:p>
            <a:r>
              <a:rPr lang="en-US" dirty="0" err="1" smtClean="0"/>
              <a:t>Laadun</a:t>
            </a:r>
            <a:r>
              <a:rPr lang="en-US" dirty="0" smtClean="0"/>
              <a:t> </a:t>
            </a:r>
            <a:r>
              <a:rPr lang="en-US" dirty="0" err="1" smtClean="0"/>
              <a:t>yhteenvetoarvioinnit</a:t>
            </a:r>
            <a:r>
              <a:rPr lang="en-US" dirty="0" smtClean="0"/>
              <a:t> </a:t>
            </a:r>
            <a:r>
              <a:rPr lang="en-US" dirty="0" err="1" smtClean="0"/>
              <a:t>ja</a:t>
            </a:r>
            <a:r>
              <a:rPr lang="en-US" dirty="0" smtClean="0"/>
              <a:t> </a:t>
            </a:r>
            <a:r>
              <a:rPr lang="en-US" dirty="0" err="1" smtClean="0"/>
              <a:t>raportointi</a:t>
            </a:r>
            <a:endParaRPr lang="en-US" dirty="0" smtClean="0"/>
          </a:p>
          <a:p>
            <a:r>
              <a:rPr lang="en-US" dirty="0" err="1" smtClean="0"/>
              <a:t>Testauksen</a:t>
            </a:r>
            <a:r>
              <a:rPr lang="en-US" dirty="0" smtClean="0"/>
              <a:t> </a:t>
            </a:r>
            <a:r>
              <a:rPr lang="en-US" dirty="0" err="1" smtClean="0"/>
              <a:t>laadun</a:t>
            </a:r>
            <a:r>
              <a:rPr lang="en-US" dirty="0" smtClean="0"/>
              <a:t> </a:t>
            </a:r>
            <a:r>
              <a:rPr lang="en-US" dirty="0" err="1" smtClean="0"/>
              <a:t>palautteen</a:t>
            </a:r>
            <a:r>
              <a:rPr lang="en-US" dirty="0" smtClean="0"/>
              <a:t> </a:t>
            </a:r>
            <a:r>
              <a:rPr lang="en-US" dirty="0" err="1" smtClean="0"/>
              <a:t>mahdollistaminen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Testauksen suunnittelu ja hallinta</a:t>
            </a:r>
            <a:endParaRPr lang="en-US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Tehtävää ketterän projektin testausvastaavalle (1/3)</a:t>
            </a:r>
            <a:endParaRPr lang="en-US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err="1" smtClean="0"/>
              <a:t>Testauksen</a:t>
            </a:r>
            <a:r>
              <a:rPr lang="en-US" sz="2400" dirty="0" smtClean="0"/>
              <a:t> </a:t>
            </a:r>
            <a:r>
              <a:rPr lang="en-US" sz="2400" dirty="0" err="1" smtClean="0"/>
              <a:t>esimerkkijohtaminen</a:t>
            </a:r>
            <a:r>
              <a:rPr lang="en-US" sz="2400" dirty="0" smtClean="0"/>
              <a:t> (leadership)</a:t>
            </a:r>
          </a:p>
          <a:p>
            <a:pPr lvl="1"/>
            <a:r>
              <a:rPr lang="en-US" sz="2000" dirty="0" err="1" smtClean="0"/>
              <a:t>Yleisen</a:t>
            </a:r>
            <a:r>
              <a:rPr lang="en-US" sz="2000" dirty="0" smtClean="0"/>
              <a:t> </a:t>
            </a:r>
            <a:r>
              <a:rPr lang="en-US" sz="2000" dirty="0" err="1" smtClean="0"/>
              <a:t>organisoinnin</a:t>
            </a:r>
            <a:r>
              <a:rPr lang="en-US" sz="2000" dirty="0" smtClean="0"/>
              <a:t> </a:t>
            </a:r>
            <a:r>
              <a:rPr lang="en-US" sz="2000" dirty="0" err="1" smtClean="0"/>
              <a:t>mahdollistaminen</a:t>
            </a:r>
            <a:r>
              <a:rPr lang="en-US" sz="2000" dirty="0" smtClean="0"/>
              <a:t> </a:t>
            </a:r>
            <a:r>
              <a:rPr lang="en-US" sz="2000" dirty="0" err="1" smtClean="0"/>
              <a:t>niin</a:t>
            </a:r>
            <a:r>
              <a:rPr lang="en-US" sz="2000" dirty="0" smtClean="0"/>
              <a:t> </a:t>
            </a:r>
            <a:r>
              <a:rPr lang="en-US" sz="2000" dirty="0" err="1" smtClean="0"/>
              <a:t>että</a:t>
            </a:r>
            <a:r>
              <a:rPr lang="en-US" sz="2000" dirty="0" smtClean="0"/>
              <a:t> </a:t>
            </a:r>
            <a:r>
              <a:rPr lang="en-US" sz="2000" dirty="0" err="1" smtClean="0"/>
              <a:t>tiimit</a:t>
            </a:r>
            <a:r>
              <a:rPr lang="en-US" sz="2000" dirty="0" smtClean="0"/>
              <a:t> </a:t>
            </a:r>
            <a:r>
              <a:rPr lang="en-US" sz="2000" dirty="0" err="1" smtClean="0"/>
              <a:t>voivat</a:t>
            </a:r>
            <a:r>
              <a:rPr lang="en-US" sz="2000" dirty="0" smtClean="0"/>
              <a:t> </a:t>
            </a:r>
            <a:r>
              <a:rPr lang="en-US" sz="2000" dirty="0" err="1" smtClean="0"/>
              <a:t>itseohjautua</a:t>
            </a:r>
            <a:r>
              <a:rPr lang="en-US" sz="2000" dirty="0" smtClean="0"/>
              <a:t> </a:t>
            </a:r>
            <a:r>
              <a:rPr lang="en-US" sz="2000" dirty="0" err="1" smtClean="0"/>
              <a:t>myös</a:t>
            </a:r>
            <a:r>
              <a:rPr lang="en-US" sz="2000" dirty="0" smtClean="0"/>
              <a:t> </a:t>
            </a:r>
            <a:r>
              <a:rPr lang="en-US" sz="2000" dirty="0" err="1" smtClean="0"/>
              <a:t>testauksessa</a:t>
            </a:r>
            <a:endParaRPr lang="en-US" sz="2000" dirty="0" smtClean="0"/>
          </a:p>
          <a:p>
            <a:pPr lvl="1"/>
            <a:r>
              <a:rPr lang="en-US" sz="2000" dirty="0" smtClean="0"/>
              <a:t>Oman </a:t>
            </a:r>
            <a:r>
              <a:rPr lang="en-US" sz="2000" dirty="0" err="1" smtClean="0"/>
              <a:t>mielikuvan</a:t>
            </a:r>
            <a:r>
              <a:rPr lang="en-US" sz="2000" dirty="0" smtClean="0"/>
              <a:t> </a:t>
            </a:r>
            <a:r>
              <a:rPr lang="en-US" sz="2000" dirty="0" err="1" smtClean="0"/>
              <a:t>luominen</a:t>
            </a:r>
            <a:r>
              <a:rPr lang="en-US" sz="2000" dirty="0" smtClean="0"/>
              <a:t> </a:t>
            </a:r>
            <a:r>
              <a:rPr lang="en-US" sz="2000" dirty="0" err="1" smtClean="0"/>
              <a:t>kokonaisuuden</a:t>
            </a:r>
            <a:r>
              <a:rPr lang="en-US" sz="2000" dirty="0" smtClean="0"/>
              <a:t> </a:t>
            </a:r>
            <a:r>
              <a:rPr lang="en-US" sz="2000" dirty="0" err="1" smtClean="0"/>
              <a:t>laadun</a:t>
            </a:r>
            <a:r>
              <a:rPr lang="en-US" sz="2000" dirty="0" smtClean="0"/>
              <a:t> </a:t>
            </a:r>
            <a:r>
              <a:rPr lang="en-US" sz="2000" dirty="0" err="1" smtClean="0"/>
              <a:t>arvioinnista</a:t>
            </a:r>
            <a:r>
              <a:rPr lang="en-US" sz="2000" dirty="0" smtClean="0"/>
              <a:t> </a:t>
            </a:r>
            <a:r>
              <a:rPr lang="en-US" sz="2000" dirty="0" err="1" smtClean="0"/>
              <a:t>vertailukohdaksi</a:t>
            </a:r>
            <a:r>
              <a:rPr lang="en-US" sz="2000" dirty="0" smtClean="0"/>
              <a:t> </a:t>
            </a:r>
            <a:r>
              <a:rPr lang="en-US" sz="2000" dirty="0" err="1" smtClean="0"/>
              <a:t>hajautetulle</a:t>
            </a:r>
            <a:r>
              <a:rPr lang="en-US" sz="2000" dirty="0" smtClean="0"/>
              <a:t> </a:t>
            </a:r>
            <a:r>
              <a:rPr lang="en-US" sz="2000" dirty="0" err="1" smtClean="0"/>
              <a:t>tekemiselle</a:t>
            </a:r>
            <a:endParaRPr lang="en-US" sz="2000" dirty="0" smtClean="0"/>
          </a:p>
          <a:p>
            <a:pPr lvl="1"/>
            <a:r>
              <a:rPr lang="en-US" sz="2000" dirty="0" err="1" smtClean="0"/>
              <a:t>Laatutiedon</a:t>
            </a:r>
            <a:r>
              <a:rPr lang="en-US" sz="2000" dirty="0" smtClean="0"/>
              <a:t> </a:t>
            </a:r>
            <a:r>
              <a:rPr lang="en-US" sz="2000" dirty="0" err="1" smtClean="0"/>
              <a:t>kerääminen</a:t>
            </a:r>
            <a:r>
              <a:rPr lang="en-US" sz="2000" dirty="0" smtClean="0"/>
              <a:t> (</a:t>
            </a:r>
            <a:r>
              <a:rPr lang="en-US" sz="2000" dirty="0" err="1" smtClean="0"/>
              <a:t>testaus</a:t>
            </a:r>
            <a:r>
              <a:rPr lang="en-US" sz="2000" dirty="0" smtClean="0"/>
              <a:t> </a:t>
            </a:r>
            <a:r>
              <a:rPr lang="en-US" sz="2000" dirty="0" err="1" smtClean="0"/>
              <a:t>omin</a:t>
            </a:r>
            <a:r>
              <a:rPr lang="en-US" sz="2000" dirty="0" smtClean="0"/>
              <a:t> </a:t>
            </a:r>
            <a:r>
              <a:rPr lang="en-US" sz="2000" dirty="0" err="1" smtClean="0"/>
              <a:t>käsin</a:t>
            </a:r>
            <a:r>
              <a:rPr lang="en-US" sz="2000" dirty="0" smtClean="0"/>
              <a:t>) </a:t>
            </a:r>
            <a:r>
              <a:rPr lang="en-US" sz="2000" dirty="0" err="1" smtClean="0"/>
              <a:t>järjestelmänäkökulmasta</a:t>
            </a:r>
            <a:r>
              <a:rPr lang="en-US" sz="2000" dirty="0" smtClean="0"/>
              <a:t> </a:t>
            </a:r>
            <a:r>
              <a:rPr lang="en-US" sz="2000" dirty="0" err="1" smtClean="0"/>
              <a:t>esimerkillisesti</a:t>
            </a:r>
            <a:endParaRPr lang="en-US" sz="2000" dirty="0" smtClean="0"/>
          </a:p>
          <a:p>
            <a:r>
              <a:rPr lang="en-US" sz="2400" dirty="0" err="1" smtClean="0"/>
              <a:t>Resursointi</a:t>
            </a:r>
            <a:endParaRPr lang="en-US" sz="2400" dirty="0"/>
          </a:p>
          <a:p>
            <a:pPr lvl="1"/>
            <a:r>
              <a:rPr lang="en-US" sz="2000" dirty="0" err="1" smtClean="0"/>
              <a:t>Testauserikoisosaamisen</a:t>
            </a:r>
            <a:r>
              <a:rPr lang="en-US" sz="2000" dirty="0" smtClean="0"/>
              <a:t> </a:t>
            </a:r>
            <a:r>
              <a:rPr lang="en-US" sz="2000" dirty="0" err="1" smtClean="0"/>
              <a:t>invesointitasojen</a:t>
            </a:r>
            <a:r>
              <a:rPr lang="en-US" sz="2000" dirty="0" smtClean="0"/>
              <a:t> </a:t>
            </a:r>
            <a:r>
              <a:rPr lang="en-US" sz="2000" dirty="0" err="1" smtClean="0"/>
              <a:t>neuvottelu</a:t>
            </a:r>
            <a:r>
              <a:rPr lang="en-US" sz="2000" dirty="0" smtClean="0"/>
              <a:t> </a:t>
            </a:r>
            <a:r>
              <a:rPr lang="en-US" sz="2000" dirty="0" err="1" smtClean="0"/>
              <a:t>eri</a:t>
            </a:r>
            <a:r>
              <a:rPr lang="en-US" sz="2000" dirty="0" smtClean="0"/>
              <a:t> </a:t>
            </a:r>
            <a:r>
              <a:rPr lang="en-US" sz="2000" dirty="0" err="1" smtClean="0"/>
              <a:t>tiimeille</a:t>
            </a:r>
            <a:endParaRPr lang="en-US" sz="2000" dirty="0" smtClean="0"/>
          </a:p>
          <a:p>
            <a:pPr lvl="1"/>
            <a:r>
              <a:rPr lang="en-US" sz="2000" dirty="0" err="1" smtClean="0"/>
              <a:t>Testaustyömäärien</a:t>
            </a:r>
            <a:r>
              <a:rPr lang="en-US" sz="2000" dirty="0" smtClean="0"/>
              <a:t> </a:t>
            </a:r>
            <a:r>
              <a:rPr lang="en-US" sz="2000" dirty="0" err="1" smtClean="0"/>
              <a:t>ohjaaminen</a:t>
            </a:r>
            <a:r>
              <a:rPr lang="en-US" sz="2000" dirty="0" smtClean="0"/>
              <a:t> </a:t>
            </a:r>
            <a:r>
              <a:rPr lang="en-US" sz="2000" dirty="0" err="1" smtClean="0"/>
              <a:t>kriittisille</a:t>
            </a:r>
            <a:r>
              <a:rPr lang="en-US" sz="2000" dirty="0" smtClean="0"/>
              <a:t> </a:t>
            </a:r>
            <a:r>
              <a:rPr lang="en-US" sz="2000" dirty="0" err="1" smtClean="0"/>
              <a:t>alueille</a:t>
            </a:r>
            <a:r>
              <a:rPr lang="en-US" sz="2000" dirty="0" smtClean="0"/>
              <a:t> </a:t>
            </a:r>
            <a:r>
              <a:rPr lang="en-US" sz="2000" dirty="0" err="1" smtClean="0"/>
              <a:t>antamalla</a:t>
            </a:r>
            <a:r>
              <a:rPr lang="en-US" sz="2000" dirty="0" smtClean="0"/>
              <a:t> </a:t>
            </a:r>
            <a:r>
              <a:rPr lang="en-US" sz="2000" dirty="0" err="1" smtClean="0"/>
              <a:t>eri</a:t>
            </a:r>
            <a:r>
              <a:rPr lang="en-US" sz="2000" dirty="0" smtClean="0"/>
              <a:t> </a:t>
            </a:r>
            <a:r>
              <a:rPr lang="en-US" sz="2000" dirty="0" err="1" smtClean="0"/>
              <a:t>määrän</a:t>
            </a:r>
            <a:r>
              <a:rPr lang="en-US" sz="2000" dirty="0" smtClean="0"/>
              <a:t> </a:t>
            </a:r>
            <a:r>
              <a:rPr lang="en-US" sz="2000" dirty="0" err="1" smtClean="0"/>
              <a:t>testausosaamistyömäärää</a:t>
            </a:r>
            <a:r>
              <a:rPr lang="en-US" sz="2000" dirty="0" smtClean="0"/>
              <a:t> </a:t>
            </a:r>
            <a:r>
              <a:rPr lang="en-US" sz="2000" dirty="0" err="1" smtClean="0"/>
              <a:t>eri</a:t>
            </a:r>
            <a:r>
              <a:rPr lang="en-US" sz="2000" dirty="0" smtClean="0"/>
              <a:t> </a:t>
            </a:r>
            <a:r>
              <a:rPr lang="en-US" sz="2000" dirty="0" err="1" smtClean="0"/>
              <a:t>porukoille</a:t>
            </a:r>
            <a:endParaRPr lang="en-US" sz="2000" dirty="0" smtClean="0"/>
          </a:p>
          <a:p>
            <a:pPr lvl="1"/>
            <a:r>
              <a:rPr lang="en-US" sz="2000" dirty="0" err="1" smtClean="0"/>
              <a:t>Testaajien</a:t>
            </a:r>
            <a:r>
              <a:rPr lang="en-US" sz="2000" dirty="0" smtClean="0"/>
              <a:t> </a:t>
            </a:r>
            <a:r>
              <a:rPr lang="en-US" sz="2000" dirty="0" err="1" smtClean="0"/>
              <a:t>kasvattaminen</a:t>
            </a:r>
            <a:r>
              <a:rPr lang="en-US" sz="2000" dirty="0" smtClean="0"/>
              <a:t> </a:t>
            </a:r>
            <a:r>
              <a:rPr lang="en-US" sz="2000" dirty="0" err="1" smtClean="0"/>
              <a:t>testausammattilaisina</a:t>
            </a:r>
            <a:r>
              <a:rPr lang="en-US" sz="2000" dirty="0" smtClean="0"/>
              <a:t> </a:t>
            </a:r>
            <a:r>
              <a:rPr lang="en-US" sz="2000" dirty="0" err="1" smtClean="0"/>
              <a:t>osana</a:t>
            </a:r>
            <a:r>
              <a:rPr lang="en-US" sz="2000" dirty="0" smtClean="0"/>
              <a:t> </a:t>
            </a:r>
            <a:r>
              <a:rPr lang="en-US" sz="2000" dirty="0" err="1" smtClean="0"/>
              <a:t>heidän</a:t>
            </a:r>
            <a:r>
              <a:rPr lang="en-US" sz="2000" dirty="0" smtClean="0"/>
              <a:t> </a:t>
            </a:r>
            <a:r>
              <a:rPr lang="en-US" sz="2000" dirty="0" err="1" smtClean="0"/>
              <a:t>tiimejään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Testauksen suunnittelu ja hallinta</a:t>
            </a:r>
            <a:endParaRPr lang="en-US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Tehtävää ketterän projektin testausvastaavalle (2/3</a:t>
            </a:r>
            <a:r>
              <a:rPr lang="fi-FI" dirty="0"/>
              <a:t>)</a:t>
            </a:r>
            <a:endParaRPr 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2400" dirty="0" err="1" smtClean="0"/>
              <a:t>Pitkän</a:t>
            </a:r>
            <a:r>
              <a:rPr lang="en-US" sz="2400" dirty="0" smtClean="0"/>
              <a:t> </a:t>
            </a:r>
            <a:r>
              <a:rPr lang="en-US" sz="2400" dirty="0" err="1" smtClean="0"/>
              <a:t>aikavälin</a:t>
            </a:r>
            <a:r>
              <a:rPr lang="en-US" sz="2400" dirty="0" smtClean="0"/>
              <a:t> </a:t>
            </a:r>
            <a:r>
              <a:rPr lang="en-US" sz="2400" dirty="0" err="1" smtClean="0"/>
              <a:t>suunnittelun</a:t>
            </a:r>
            <a:r>
              <a:rPr lang="en-US" sz="2400" dirty="0" smtClean="0"/>
              <a:t> </a:t>
            </a:r>
            <a:r>
              <a:rPr lang="en-US" sz="2400" dirty="0" err="1" smtClean="0"/>
              <a:t>testaustuki</a:t>
            </a:r>
            <a:endParaRPr lang="en-US" sz="2400" dirty="0" smtClean="0"/>
          </a:p>
          <a:p>
            <a:pPr lvl="1"/>
            <a:r>
              <a:rPr lang="en-US" sz="2000" dirty="0" err="1" smtClean="0"/>
              <a:t>Testausasiantuntemuksen</a:t>
            </a:r>
            <a:r>
              <a:rPr lang="en-US" sz="2000" dirty="0" smtClean="0"/>
              <a:t> </a:t>
            </a:r>
            <a:r>
              <a:rPr lang="en-US" sz="2000" dirty="0" err="1" smtClean="0"/>
              <a:t>pikareitti</a:t>
            </a:r>
            <a:r>
              <a:rPr lang="en-US" sz="2000" dirty="0" smtClean="0"/>
              <a:t> </a:t>
            </a:r>
            <a:r>
              <a:rPr lang="en-US" sz="2000" dirty="0" err="1" smtClean="0"/>
              <a:t>tuoteomistajalla</a:t>
            </a:r>
            <a:r>
              <a:rPr lang="en-US" sz="2000" dirty="0" smtClean="0"/>
              <a:t> </a:t>
            </a:r>
            <a:r>
              <a:rPr lang="en-US" sz="2000" dirty="0" err="1" smtClean="0"/>
              <a:t>kokoluokan</a:t>
            </a:r>
            <a:r>
              <a:rPr lang="en-US" sz="2000" dirty="0" smtClean="0"/>
              <a:t> </a:t>
            </a:r>
            <a:r>
              <a:rPr lang="en-US" sz="2000" dirty="0" err="1" smtClean="0"/>
              <a:t>osalta</a:t>
            </a:r>
            <a:endParaRPr lang="en-US" sz="2000" dirty="0" smtClean="0"/>
          </a:p>
          <a:p>
            <a:pPr lvl="1"/>
            <a:r>
              <a:rPr lang="en-US" sz="2000" dirty="0" err="1" smtClean="0"/>
              <a:t>Testaustyön</a:t>
            </a:r>
            <a:r>
              <a:rPr lang="en-US" sz="2000" dirty="0" smtClean="0"/>
              <a:t> </a:t>
            </a:r>
            <a:r>
              <a:rPr lang="en-US" sz="2000" dirty="0" err="1" smtClean="0"/>
              <a:t>näkyvyyden</a:t>
            </a:r>
            <a:r>
              <a:rPr lang="en-US" sz="2000" dirty="0" smtClean="0"/>
              <a:t> </a:t>
            </a:r>
            <a:r>
              <a:rPr lang="en-US" sz="2000" dirty="0" err="1" smtClean="0"/>
              <a:t>tukeminen</a:t>
            </a:r>
            <a:r>
              <a:rPr lang="en-US" sz="2000" dirty="0" smtClean="0"/>
              <a:t> </a:t>
            </a:r>
            <a:r>
              <a:rPr lang="en-US" sz="2000" dirty="0" err="1" smtClean="0"/>
              <a:t>tuotteen</a:t>
            </a:r>
            <a:r>
              <a:rPr lang="en-US" sz="2000" dirty="0" smtClean="0"/>
              <a:t> </a:t>
            </a:r>
            <a:r>
              <a:rPr lang="en-US" sz="2000" dirty="0" err="1" smtClean="0"/>
              <a:t>tehtävälistalla</a:t>
            </a:r>
            <a:r>
              <a:rPr lang="en-US" sz="2000" dirty="0" smtClean="0"/>
              <a:t> (</a:t>
            </a:r>
            <a:r>
              <a:rPr lang="en-US" sz="2000" dirty="0" err="1" smtClean="0"/>
              <a:t>alkioina</a:t>
            </a:r>
            <a:r>
              <a:rPr lang="en-US" sz="2000" dirty="0" smtClean="0"/>
              <a:t> tai </a:t>
            </a:r>
            <a:r>
              <a:rPr lang="en-US" sz="2000" dirty="0" err="1" smtClean="0"/>
              <a:t>osina</a:t>
            </a:r>
            <a:r>
              <a:rPr lang="en-US" sz="2000" dirty="0" smtClean="0"/>
              <a:t> </a:t>
            </a:r>
            <a:r>
              <a:rPr lang="en-US" sz="2000" dirty="0" err="1" smtClean="0"/>
              <a:t>kokoa</a:t>
            </a:r>
            <a:r>
              <a:rPr lang="en-US" sz="2000" dirty="0" smtClean="0"/>
              <a:t>)</a:t>
            </a:r>
          </a:p>
          <a:p>
            <a:pPr lvl="1"/>
            <a:r>
              <a:rPr lang="en-US" sz="2000" dirty="0" err="1" smtClean="0"/>
              <a:t>Päivittäinen</a:t>
            </a:r>
            <a:r>
              <a:rPr lang="en-US" sz="2000" dirty="0" smtClean="0"/>
              <a:t> </a:t>
            </a:r>
            <a:r>
              <a:rPr lang="en-US" sz="2000" dirty="0" err="1" smtClean="0"/>
              <a:t>päätösten</a:t>
            </a:r>
            <a:r>
              <a:rPr lang="en-US" sz="2000" dirty="0" smtClean="0"/>
              <a:t> </a:t>
            </a:r>
            <a:r>
              <a:rPr lang="en-US" sz="2000" dirty="0" err="1" smtClean="0"/>
              <a:t>katselmointi</a:t>
            </a:r>
            <a:r>
              <a:rPr lang="en-US" sz="2000" dirty="0" smtClean="0"/>
              <a:t> </a:t>
            </a:r>
            <a:r>
              <a:rPr lang="en-US" sz="2000" dirty="0" err="1" smtClean="0"/>
              <a:t>sen</a:t>
            </a:r>
            <a:r>
              <a:rPr lang="en-US" sz="2000" dirty="0" smtClean="0"/>
              <a:t> </a:t>
            </a:r>
            <a:r>
              <a:rPr lang="en-US" sz="2000" dirty="0" err="1" smtClean="0"/>
              <a:t>osalta</a:t>
            </a:r>
            <a:r>
              <a:rPr lang="en-US" sz="2000" dirty="0" smtClean="0"/>
              <a:t> </a:t>
            </a:r>
            <a:r>
              <a:rPr lang="en-US" sz="2000" dirty="0" err="1" smtClean="0"/>
              <a:t>miten</a:t>
            </a:r>
            <a:r>
              <a:rPr lang="en-US" sz="2000" dirty="0" smtClean="0"/>
              <a:t> </a:t>
            </a:r>
            <a:r>
              <a:rPr lang="en-US" sz="2000" dirty="0" err="1" smtClean="0"/>
              <a:t>tulevaisuus</a:t>
            </a:r>
            <a:r>
              <a:rPr lang="en-US" sz="2000" dirty="0" smtClean="0"/>
              <a:t> </a:t>
            </a:r>
            <a:r>
              <a:rPr lang="en-US" sz="2000" dirty="0" err="1" smtClean="0"/>
              <a:t>muotoutuu</a:t>
            </a:r>
            <a:r>
              <a:rPr lang="en-US" sz="2000" dirty="0" smtClean="0"/>
              <a:t> </a:t>
            </a:r>
            <a:r>
              <a:rPr lang="en-US" sz="2000" dirty="0" err="1" smtClean="0"/>
              <a:t>tuotteen</a:t>
            </a:r>
            <a:r>
              <a:rPr lang="en-US" sz="2000" dirty="0" smtClean="0"/>
              <a:t> </a:t>
            </a:r>
            <a:r>
              <a:rPr lang="en-US" sz="2000" dirty="0" err="1" smtClean="0"/>
              <a:t>tehtävälistan</a:t>
            </a:r>
            <a:r>
              <a:rPr lang="en-US" sz="2000" dirty="0" smtClean="0"/>
              <a:t> </a:t>
            </a:r>
            <a:r>
              <a:rPr lang="en-US" sz="2000" dirty="0" err="1" smtClean="0"/>
              <a:t>järjestykseen</a:t>
            </a:r>
            <a:r>
              <a:rPr lang="en-US" sz="2000" dirty="0" smtClean="0"/>
              <a:t> </a:t>
            </a:r>
            <a:r>
              <a:rPr lang="en-US" sz="2000" dirty="0" err="1" smtClean="0"/>
              <a:t>sisäänrakennetuilla</a:t>
            </a:r>
            <a:r>
              <a:rPr lang="en-US" sz="2000" dirty="0" smtClean="0"/>
              <a:t> </a:t>
            </a:r>
            <a:r>
              <a:rPr lang="en-US" sz="2000" dirty="0" err="1" smtClean="0"/>
              <a:t>prioriteeteillä</a:t>
            </a:r>
            <a:endParaRPr lang="en-US" sz="2000" dirty="0"/>
          </a:p>
          <a:p>
            <a:r>
              <a:rPr lang="en-US" sz="2400" dirty="0" err="1" smtClean="0"/>
              <a:t>Laadun</a:t>
            </a:r>
            <a:r>
              <a:rPr lang="en-US" sz="2400" dirty="0" smtClean="0"/>
              <a:t> </a:t>
            </a:r>
            <a:r>
              <a:rPr lang="en-US" sz="2400" dirty="0" err="1" smtClean="0"/>
              <a:t>yhteenvetoarvioinnit</a:t>
            </a:r>
            <a:r>
              <a:rPr lang="en-US" sz="2400" dirty="0" smtClean="0"/>
              <a:t> </a:t>
            </a:r>
            <a:r>
              <a:rPr lang="en-US" sz="2400" dirty="0" err="1" smtClean="0"/>
              <a:t>ja</a:t>
            </a:r>
            <a:r>
              <a:rPr lang="en-US" sz="2400" dirty="0" smtClean="0"/>
              <a:t> </a:t>
            </a:r>
            <a:r>
              <a:rPr lang="en-US" sz="2400" dirty="0" err="1" smtClean="0"/>
              <a:t>raportointi</a:t>
            </a:r>
            <a:endParaRPr lang="en-US" sz="2400" dirty="0" smtClean="0"/>
          </a:p>
          <a:p>
            <a:pPr lvl="1"/>
            <a:r>
              <a:rPr lang="en-US" sz="2000" dirty="0" err="1" smtClean="0"/>
              <a:t>Laatuvelan</a:t>
            </a:r>
            <a:r>
              <a:rPr lang="en-US" sz="2000" dirty="0" smtClean="0"/>
              <a:t> </a:t>
            </a:r>
            <a:r>
              <a:rPr lang="en-US" sz="2000" dirty="0" err="1" smtClean="0"/>
              <a:t>seuranta</a:t>
            </a:r>
            <a:r>
              <a:rPr lang="en-US" sz="2000" dirty="0" smtClean="0"/>
              <a:t> </a:t>
            </a:r>
            <a:r>
              <a:rPr lang="en-US" sz="2000" dirty="0" err="1" smtClean="0"/>
              <a:t>ja</a:t>
            </a:r>
            <a:r>
              <a:rPr lang="en-US" sz="2000" dirty="0" smtClean="0"/>
              <a:t> </a:t>
            </a:r>
            <a:r>
              <a:rPr lang="en-US" sz="2000" dirty="0" err="1" smtClean="0"/>
              <a:t>virheiden</a:t>
            </a:r>
            <a:r>
              <a:rPr lang="en-US" sz="2000" dirty="0" smtClean="0"/>
              <a:t> </a:t>
            </a:r>
            <a:r>
              <a:rPr lang="en-US" sz="2000" dirty="0" err="1" smtClean="0"/>
              <a:t>löytymisen</a:t>
            </a:r>
            <a:r>
              <a:rPr lang="en-US" sz="2000" dirty="0" smtClean="0"/>
              <a:t>/</a:t>
            </a:r>
            <a:r>
              <a:rPr lang="en-US" sz="2000" dirty="0" err="1" smtClean="0"/>
              <a:t>korjaamisen</a:t>
            </a:r>
            <a:r>
              <a:rPr lang="en-US" sz="2000" dirty="0" smtClean="0"/>
              <a:t> </a:t>
            </a:r>
            <a:r>
              <a:rPr lang="en-US" sz="2000" dirty="0" err="1" smtClean="0"/>
              <a:t>trendit</a:t>
            </a:r>
            <a:endParaRPr lang="en-US" sz="2000" dirty="0" smtClean="0"/>
          </a:p>
          <a:p>
            <a:pPr lvl="1"/>
            <a:r>
              <a:rPr lang="en-US" sz="2000" dirty="0" err="1" smtClean="0"/>
              <a:t>Yhteisen</a:t>
            </a:r>
            <a:r>
              <a:rPr lang="en-US" sz="2000" dirty="0" smtClean="0"/>
              <a:t> </a:t>
            </a:r>
            <a:r>
              <a:rPr lang="en-US" sz="2000" dirty="0" err="1" smtClean="0"/>
              <a:t>muotoisen</a:t>
            </a:r>
            <a:r>
              <a:rPr lang="en-US" sz="2000" dirty="0" smtClean="0"/>
              <a:t> </a:t>
            </a:r>
            <a:r>
              <a:rPr lang="en-US" sz="2000" dirty="0" err="1" smtClean="0"/>
              <a:t>laaturaportin</a:t>
            </a:r>
            <a:r>
              <a:rPr lang="en-US" sz="2000" dirty="0" smtClean="0"/>
              <a:t> </a:t>
            </a:r>
            <a:r>
              <a:rPr lang="en-US" sz="2000" dirty="0" err="1" smtClean="0"/>
              <a:t>toimittaminen</a:t>
            </a:r>
            <a:r>
              <a:rPr lang="en-US" sz="2000" dirty="0" smtClean="0"/>
              <a:t> </a:t>
            </a:r>
            <a:r>
              <a:rPr lang="en-US" sz="2000" dirty="0" err="1" smtClean="0"/>
              <a:t>yhteenvetona</a:t>
            </a:r>
            <a:r>
              <a:rPr lang="en-US" sz="2000" dirty="0" smtClean="0"/>
              <a:t> </a:t>
            </a:r>
            <a:r>
              <a:rPr lang="en-US" sz="2000" dirty="0" err="1" smtClean="0"/>
              <a:t>useiden</a:t>
            </a:r>
            <a:r>
              <a:rPr lang="en-US" sz="2000" dirty="0" smtClean="0"/>
              <a:t> </a:t>
            </a:r>
            <a:r>
              <a:rPr lang="en-US" sz="2000" dirty="0" err="1" smtClean="0"/>
              <a:t>tiimien</a:t>
            </a:r>
            <a:r>
              <a:rPr lang="en-US" sz="2000" dirty="0" smtClean="0"/>
              <a:t> </a:t>
            </a:r>
            <a:r>
              <a:rPr lang="en-US" sz="2000" dirty="0" err="1" smtClean="0"/>
              <a:t>työstä</a:t>
            </a:r>
            <a:endParaRPr lang="en-US" sz="2000" dirty="0" smtClean="0"/>
          </a:p>
          <a:p>
            <a:pPr lvl="1"/>
            <a:r>
              <a:rPr lang="en-US" sz="2000" dirty="0" err="1" smtClean="0"/>
              <a:t>Tiimin</a:t>
            </a:r>
            <a:r>
              <a:rPr lang="en-US" sz="2000" dirty="0" smtClean="0"/>
              <a:t> </a:t>
            </a:r>
            <a:r>
              <a:rPr lang="en-US" sz="2000" dirty="0" err="1" smtClean="0"/>
              <a:t>ulkopuolisten</a:t>
            </a:r>
            <a:r>
              <a:rPr lang="en-US" sz="2000" dirty="0" smtClean="0"/>
              <a:t> </a:t>
            </a:r>
            <a:r>
              <a:rPr lang="en-US" sz="2000" dirty="0" err="1" smtClean="0"/>
              <a:t>osallisten</a:t>
            </a:r>
            <a:r>
              <a:rPr lang="en-US" sz="2000" dirty="0" smtClean="0"/>
              <a:t> </a:t>
            </a:r>
            <a:r>
              <a:rPr lang="en-US" sz="2000" dirty="0" err="1" smtClean="0"/>
              <a:t>tiedottaminen</a:t>
            </a:r>
            <a:r>
              <a:rPr lang="en-US" sz="2000" dirty="0" smtClean="0"/>
              <a:t> </a:t>
            </a:r>
            <a:r>
              <a:rPr lang="en-US" sz="2000" dirty="0" err="1" smtClean="0"/>
              <a:t>laadusta</a:t>
            </a:r>
            <a:r>
              <a:rPr lang="en-US" sz="2000" dirty="0" smtClean="0"/>
              <a:t> </a:t>
            </a:r>
            <a:r>
              <a:rPr lang="en-US" sz="2000" dirty="0" err="1" smtClean="0"/>
              <a:t>ja</a:t>
            </a:r>
            <a:r>
              <a:rPr lang="en-US" sz="2000" dirty="0" smtClean="0"/>
              <a:t> </a:t>
            </a:r>
            <a:r>
              <a:rPr lang="en-US" sz="2000" dirty="0" err="1" smtClean="0"/>
              <a:t>riskeistä</a:t>
            </a:r>
            <a:r>
              <a:rPr lang="en-US" sz="2000" dirty="0" smtClean="0"/>
              <a:t>, </a:t>
            </a:r>
            <a:r>
              <a:rPr lang="en-US" sz="2000" dirty="0" err="1" smtClean="0"/>
              <a:t>sekä</a:t>
            </a:r>
            <a:r>
              <a:rPr lang="en-US" sz="2000" dirty="0" smtClean="0"/>
              <a:t> </a:t>
            </a:r>
            <a:r>
              <a:rPr lang="en-US" sz="2000" dirty="0" err="1" smtClean="0"/>
              <a:t>testausymmärryksen</a:t>
            </a:r>
            <a:r>
              <a:rPr lang="en-US" sz="2000" dirty="0" smtClean="0"/>
              <a:t> </a:t>
            </a:r>
            <a:r>
              <a:rPr lang="en-US" sz="2000" dirty="0" err="1" smtClean="0"/>
              <a:t>kasvattaminen</a:t>
            </a:r>
            <a:endParaRPr lang="en-US" sz="2000" dirty="0" smtClean="0"/>
          </a:p>
          <a:p>
            <a:pPr lvl="1"/>
            <a:r>
              <a:rPr lang="en-US" sz="2000" dirty="0" err="1" smtClean="0"/>
              <a:t>Palautekanavien</a:t>
            </a:r>
            <a:r>
              <a:rPr lang="en-US" sz="2000" dirty="0" smtClean="0"/>
              <a:t> </a:t>
            </a:r>
            <a:r>
              <a:rPr lang="en-US" sz="2000" dirty="0" err="1" smtClean="0"/>
              <a:t>tukeminen</a:t>
            </a:r>
            <a:r>
              <a:rPr lang="en-US" sz="2000" dirty="0" smtClean="0"/>
              <a:t>: </a:t>
            </a:r>
            <a:r>
              <a:rPr lang="en-US" sz="2000" dirty="0" err="1" smtClean="0"/>
              <a:t>asiakas</a:t>
            </a:r>
            <a:r>
              <a:rPr lang="en-US" sz="2000" dirty="0" smtClean="0"/>
              <a:t> / beta </a:t>
            </a:r>
            <a:r>
              <a:rPr lang="en-US" sz="2000" dirty="0" err="1" smtClean="0"/>
              <a:t>toimitukset</a:t>
            </a:r>
            <a:r>
              <a:rPr lang="en-US" sz="2000" dirty="0" smtClean="0"/>
              <a:t> </a:t>
            </a:r>
            <a:r>
              <a:rPr lang="en-US" sz="2000" dirty="0" err="1" smtClean="0"/>
              <a:t>ajoissa</a:t>
            </a: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Testauksen suunnittelu ja hallinta</a:t>
            </a:r>
            <a:endParaRPr lang="en-US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Tehtävää ketterän projektin testausvastaavalle (3/3</a:t>
            </a:r>
            <a:r>
              <a:rPr lang="fi-FI" dirty="0"/>
              <a:t>)</a:t>
            </a:r>
            <a:endParaRPr lang="en-US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Testauksen</a:t>
            </a:r>
            <a:r>
              <a:rPr lang="en-US" sz="2400" dirty="0" smtClean="0"/>
              <a:t> </a:t>
            </a:r>
            <a:r>
              <a:rPr lang="en-US" sz="2400" dirty="0" err="1" smtClean="0"/>
              <a:t>laadun</a:t>
            </a:r>
            <a:r>
              <a:rPr lang="en-US" sz="2400" dirty="0" smtClean="0"/>
              <a:t> </a:t>
            </a:r>
            <a:r>
              <a:rPr lang="en-US" sz="2400" dirty="0" err="1" smtClean="0"/>
              <a:t>palautteen</a:t>
            </a:r>
            <a:r>
              <a:rPr lang="en-US" sz="2400" dirty="0" smtClean="0"/>
              <a:t> </a:t>
            </a:r>
            <a:r>
              <a:rPr lang="en-US" sz="2400" dirty="0" err="1" smtClean="0"/>
              <a:t>mahdollistaminen</a:t>
            </a:r>
            <a:endParaRPr lang="en-US" sz="2400" dirty="0" smtClean="0"/>
          </a:p>
          <a:p>
            <a:pPr lvl="1"/>
            <a:r>
              <a:rPr lang="en-US" sz="2000" dirty="0" err="1" smtClean="0"/>
              <a:t>Bugiraporttien</a:t>
            </a:r>
            <a:r>
              <a:rPr lang="en-US" sz="2000" dirty="0" smtClean="0"/>
              <a:t> </a:t>
            </a:r>
            <a:r>
              <a:rPr lang="en-US" sz="2000" dirty="0" err="1" smtClean="0"/>
              <a:t>katselmointi</a:t>
            </a:r>
            <a:r>
              <a:rPr lang="en-US" sz="2000" dirty="0" smtClean="0"/>
              <a:t> </a:t>
            </a:r>
            <a:r>
              <a:rPr lang="en-US" sz="2000" dirty="0" err="1" smtClean="0"/>
              <a:t>vakavuusasteen</a:t>
            </a:r>
            <a:r>
              <a:rPr lang="en-US" sz="2000" dirty="0" smtClean="0"/>
              <a:t> </a:t>
            </a:r>
            <a:r>
              <a:rPr lang="en-US" sz="2000" dirty="0" err="1" smtClean="0"/>
              <a:t>yhdenmukaisen</a:t>
            </a:r>
            <a:r>
              <a:rPr lang="en-US" sz="2000" dirty="0" smtClean="0"/>
              <a:t> </a:t>
            </a:r>
            <a:r>
              <a:rPr lang="en-US" sz="2000" dirty="0" err="1" smtClean="0"/>
              <a:t>käytön</a:t>
            </a:r>
            <a:r>
              <a:rPr lang="en-US" sz="2000" dirty="0" smtClean="0"/>
              <a:t> </a:t>
            </a:r>
            <a:r>
              <a:rPr lang="en-US" sz="2000" dirty="0" err="1" smtClean="0"/>
              <a:t>osalta</a:t>
            </a:r>
            <a:endParaRPr lang="en-US" sz="2000" dirty="0" smtClean="0"/>
          </a:p>
          <a:p>
            <a:pPr lvl="1"/>
            <a:r>
              <a:rPr lang="en-US" sz="2000" dirty="0" err="1" smtClean="0"/>
              <a:t>Varmistus</a:t>
            </a:r>
            <a:r>
              <a:rPr lang="en-US" sz="2000" dirty="0" smtClean="0"/>
              <a:t> </a:t>
            </a:r>
            <a:r>
              <a:rPr lang="en-US" sz="2000" dirty="0" err="1" smtClean="0"/>
              <a:t>että</a:t>
            </a:r>
            <a:r>
              <a:rPr lang="en-US" sz="2000" dirty="0" smtClean="0"/>
              <a:t> </a:t>
            </a:r>
            <a:r>
              <a:rPr lang="en-US" sz="2000" dirty="0" err="1" smtClean="0"/>
              <a:t>tiimit</a:t>
            </a:r>
            <a:r>
              <a:rPr lang="en-US" sz="2000" dirty="0" smtClean="0"/>
              <a:t> </a:t>
            </a:r>
            <a:r>
              <a:rPr lang="en-US" sz="2000" dirty="0" err="1" smtClean="0"/>
              <a:t>saavat</a:t>
            </a:r>
            <a:r>
              <a:rPr lang="en-US" sz="2000" dirty="0" smtClean="0"/>
              <a:t> </a:t>
            </a:r>
            <a:r>
              <a:rPr lang="en-US" sz="2000" dirty="0" err="1" smtClean="0"/>
              <a:t>asiakaspalautetta</a:t>
            </a:r>
            <a:r>
              <a:rPr lang="en-US" sz="2000" dirty="0" smtClean="0"/>
              <a:t> </a:t>
            </a:r>
            <a:r>
              <a:rPr lang="en-US" sz="2000" dirty="0" err="1" smtClean="0"/>
              <a:t>asiakkailta</a:t>
            </a:r>
            <a:r>
              <a:rPr lang="en-US" sz="2000" dirty="0" smtClean="0"/>
              <a:t> </a:t>
            </a:r>
            <a:r>
              <a:rPr lang="en-US" sz="2000" dirty="0" err="1" smtClean="0"/>
              <a:t>ja</a:t>
            </a:r>
            <a:r>
              <a:rPr lang="en-US" sz="2000" dirty="0" smtClean="0"/>
              <a:t> </a:t>
            </a:r>
            <a:r>
              <a:rPr lang="en-US" sz="2000" dirty="0" err="1" smtClean="0"/>
              <a:t>näiden</a:t>
            </a:r>
            <a:r>
              <a:rPr lang="en-US" sz="2000" dirty="0" smtClean="0"/>
              <a:t> </a:t>
            </a:r>
            <a:r>
              <a:rPr lang="en-US" sz="2000" dirty="0" err="1" smtClean="0"/>
              <a:t>edustajilta</a:t>
            </a:r>
            <a:r>
              <a:rPr lang="en-US" sz="2000" dirty="0" smtClean="0"/>
              <a:t> </a:t>
            </a:r>
            <a:r>
              <a:rPr lang="en-US" sz="2000" dirty="0" err="1" smtClean="0"/>
              <a:t>asioiden</a:t>
            </a:r>
            <a:r>
              <a:rPr lang="en-US" sz="2000" dirty="0" smtClean="0"/>
              <a:t> </a:t>
            </a:r>
            <a:r>
              <a:rPr lang="en-US" sz="2000" dirty="0" err="1" smtClean="0"/>
              <a:t>suhteen</a:t>
            </a:r>
            <a:r>
              <a:rPr lang="en-US" sz="2000" dirty="0" smtClean="0"/>
              <a:t> </a:t>
            </a:r>
            <a:r>
              <a:rPr lang="en-US" sz="2000" dirty="0" err="1" smtClean="0"/>
              <a:t>joita</a:t>
            </a:r>
            <a:r>
              <a:rPr lang="en-US" sz="2000" dirty="0" smtClean="0"/>
              <a:t> </a:t>
            </a:r>
            <a:r>
              <a:rPr lang="en-US" sz="2000" dirty="0" err="1" smtClean="0"/>
              <a:t>ohittavat</a:t>
            </a:r>
            <a:r>
              <a:rPr lang="en-US" sz="2000" dirty="0" smtClean="0"/>
              <a:t> tai </a:t>
            </a:r>
            <a:r>
              <a:rPr lang="en-US" sz="2000" dirty="0" err="1" smtClean="0"/>
              <a:t>joista</a:t>
            </a:r>
            <a:r>
              <a:rPr lang="en-US" sz="2000" dirty="0" smtClean="0"/>
              <a:t> </a:t>
            </a:r>
            <a:r>
              <a:rPr lang="en-US" sz="2000" dirty="0" err="1" smtClean="0"/>
              <a:t>tekevät</a:t>
            </a:r>
            <a:r>
              <a:rPr lang="en-US" sz="2000" dirty="0" smtClean="0"/>
              <a:t> </a:t>
            </a:r>
            <a:r>
              <a:rPr lang="en-US" sz="2000" dirty="0" err="1" smtClean="0"/>
              <a:t>vääriä</a:t>
            </a:r>
            <a:r>
              <a:rPr lang="en-US" sz="2000" dirty="0" smtClean="0"/>
              <a:t> </a:t>
            </a:r>
            <a:r>
              <a:rPr lang="en-US" sz="2000" dirty="0" err="1" smtClean="0"/>
              <a:t>päätöksiä</a:t>
            </a: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Testauksen suunnittelu ja hallinta</a:t>
            </a:r>
            <a:endParaRPr lang="en-US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Pääteemat tehtäville – perinteiset projektit</a:t>
            </a:r>
            <a:endParaRPr lang="en-US" dirty="0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fi-FI" sz="2000">
                <a:solidFill>
                  <a:schemeClr val="folHlink"/>
                </a:solidFill>
              </a:rPr>
              <a:t>PROJEKTIPÄÄLLIKKÖ</a:t>
            </a:r>
          </a:p>
          <a:p>
            <a:r>
              <a:rPr lang="fi-FI" sz="2000">
                <a:solidFill>
                  <a:schemeClr val="folHlink"/>
                </a:solidFill>
              </a:rPr>
              <a:t>Yleinen hallinta ja ohjaus</a:t>
            </a:r>
          </a:p>
          <a:p>
            <a:r>
              <a:rPr lang="fi-FI" sz="2000">
                <a:solidFill>
                  <a:schemeClr val="folHlink"/>
                </a:solidFill>
              </a:rPr>
              <a:t>Laajuuden hallinta</a:t>
            </a:r>
          </a:p>
          <a:p>
            <a:r>
              <a:rPr lang="fi-FI" sz="2000">
                <a:solidFill>
                  <a:schemeClr val="folHlink"/>
                </a:solidFill>
              </a:rPr>
              <a:t>Esteiden poistaminen</a:t>
            </a:r>
          </a:p>
          <a:p>
            <a:r>
              <a:rPr lang="fi-FI" sz="2000">
                <a:solidFill>
                  <a:schemeClr val="folHlink"/>
                </a:solidFill>
              </a:rPr>
              <a:t>Resursointi</a:t>
            </a:r>
          </a:p>
          <a:p>
            <a:r>
              <a:rPr lang="fi-FI" sz="2000">
                <a:solidFill>
                  <a:schemeClr val="folHlink"/>
                </a:solidFill>
              </a:rPr>
              <a:t>Osaamisen ja kyvykkyyden kehittäminen</a:t>
            </a:r>
          </a:p>
          <a:p>
            <a:r>
              <a:rPr lang="fi-FI" sz="2000">
                <a:solidFill>
                  <a:schemeClr val="folHlink"/>
                </a:solidFill>
              </a:rPr>
              <a:t>Virheiden hallinta</a:t>
            </a:r>
          </a:p>
          <a:p>
            <a:r>
              <a:rPr lang="fi-FI" sz="2000">
                <a:solidFill>
                  <a:schemeClr val="folHlink"/>
                </a:solidFill>
              </a:rPr>
              <a:t>Raportointi ja eskalointi</a:t>
            </a:r>
          </a:p>
          <a:p>
            <a:r>
              <a:rPr lang="fi-FI" sz="2000">
                <a:solidFill>
                  <a:schemeClr val="folHlink"/>
                </a:solidFill>
              </a:rPr>
              <a:t>Asiakasyhteistyö</a:t>
            </a:r>
            <a:endParaRPr lang="en-US" sz="2000">
              <a:solidFill>
                <a:schemeClr val="folHlink"/>
              </a:solidFill>
            </a:endParaRP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fi-FI" sz="2000" dirty="0"/>
              <a:t>TESTAUSVASTAAVA</a:t>
            </a:r>
          </a:p>
          <a:p>
            <a:r>
              <a:rPr lang="fi-FI" sz="2000" dirty="0"/>
              <a:t>Testauksen hallinta ja ohjaus</a:t>
            </a:r>
          </a:p>
          <a:p>
            <a:r>
              <a:rPr lang="fi-FI" sz="2000" dirty="0"/>
              <a:t>Testauksen resursointi</a:t>
            </a:r>
          </a:p>
          <a:p>
            <a:r>
              <a:rPr lang="fi-FI" sz="2000" dirty="0"/>
              <a:t>Testauksen osaamisen ja kyvykkyyden kehittäminen</a:t>
            </a:r>
          </a:p>
          <a:p>
            <a:r>
              <a:rPr lang="fi-FI" sz="2000" dirty="0"/>
              <a:t>Päätöksenteon tuki</a:t>
            </a:r>
          </a:p>
          <a:p>
            <a:r>
              <a:rPr lang="fi-FI" sz="2000" dirty="0"/>
              <a:t>Ympäristöjen ja versioiden hallinta</a:t>
            </a:r>
          </a:p>
          <a:p>
            <a:r>
              <a:rPr lang="fi-FI" sz="2000" dirty="0"/>
              <a:t>Virheiden hallinta</a:t>
            </a:r>
          </a:p>
          <a:p>
            <a:r>
              <a:rPr lang="fi-FI" sz="2000" dirty="0"/>
              <a:t>Raportointi ja eskalointi</a:t>
            </a:r>
          </a:p>
          <a:p>
            <a:r>
              <a:rPr lang="fi-FI" sz="2000" dirty="0"/>
              <a:t>Asiakkaan laatupalautteen käsittely</a:t>
            </a:r>
            <a:endParaRPr lang="en-US" sz="2000" dirty="0"/>
          </a:p>
        </p:txBody>
      </p:sp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2051050" y="5589588"/>
            <a:ext cx="2016125" cy="10080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fi-FI" sz="1600">
                <a:solidFill>
                  <a:schemeClr val="folHlink"/>
                </a:solidFill>
              </a:rPr>
              <a:t>Projektipäällikön tehtävät testauksen näkökulmasta.</a:t>
            </a:r>
            <a:endParaRPr lang="en-US" sz="1600">
              <a:solidFill>
                <a:schemeClr val="folHlin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Testauksen suunnittelu ja hallinta</a:t>
            </a:r>
            <a:endParaRPr lang="en-US" dirty="0" smtClean="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Perinteisiä testausvastaavan </a:t>
            </a:r>
            <a:r>
              <a:rPr lang="fi-FI" dirty="0"/>
              <a:t>tehtäviä (1/5)</a:t>
            </a:r>
            <a:endParaRPr lang="en-US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i-FI" sz="2800" dirty="0"/>
              <a:t>Testauksen hallinta ja ohjaus</a:t>
            </a:r>
          </a:p>
          <a:p>
            <a:pPr lvl="1"/>
            <a:r>
              <a:rPr lang="fi-FI" sz="2400" dirty="0"/>
              <a:t>Testauksen suunnittelun ohjaaminen kokonaisuutena</a:t>
            </a:r>
          </a:p>
          <a:p>
            <a:pPr lvl="1"/>
            <a:r>
              <a:rPr lang="fi-FI" sz="2400" dirty="0"/>
              <a:t>Testauksen painopisteiden selkiyttäminen ja päällekkäisyyksien optimointi</a:t>
            </a:r>
          </a:p>
          <a:p>
            <a:pPr lvl="1"/>
            <a:r>
              <a:rPr lang="fi-FI" sz="2400" dirty="0"/>
              <a:t>Laatutiedon saamisesta huolehtiminen ja syvyydestä neuvottelu riskien perusteella</a:t>
            </a:r>
          </a:p>
          <a:p>
            <a:pPr lvl="1"/>
            <a:r>
              <a:rPr lang="fi-FI" sz="2400" dirty="0"/>
              <a:t>Kokonaisuuden laatutietokäsityksen rakentaminen ja viestiminen</a:t>
            </a:r>
          </a:p>
          <a:p>
            <a:pPr lvl="1"/>
            <a:r>
              <a:rPr lang="fi-FI" sz="2400" dirty="0"/>
              <a:t>Testauksen etenemisen ja kohdistusten seuranta ja tarkentaminen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i-FI" dirty="0" smtClean="0">
                <a:solidFill>
                  <a:schemeClr val="accent2"/>
                </a:solidFill>
              </a:rPr>
              <a:t>Muutos ketterissä menetelmissä:</a:t>
            </a:r>
          </a:p>
          <a:p>
            <a:pPr lvl="1"/>
            <a:r>
              <a:rPr lang="fi-FI" dirty="0" smtClean="0">
                <a:solidFill>
                  <a:schemeClr val="accent2"/>
                </a:solidFill>
              </a:rPr>
              <a:t>Hallinta ja ohjaus tapahtuu tiimeissä – tehtävät siirtyvät tiimien tehtäviksi</a:t>
            </a:r>
          </a:p>
          <a:p>
            <a:pPr lvl="1"/>
            <a:r>
              <a:rPr lang="fi-FI" dirty="0" smtClean="0">
                <a:solidFill>
                  <a:schemeClr val="accent2"/>
                </a:solidFill>
              </a:rPr>
              <a:t>Testausvastaavana hallinnan pelisäännöt ovat joko tuoteomistajaa vastaavat (ei kesken sprintin) tai testausvastaavan pitää liittyä jonkin tiimin jäseneksi</a:t>
            </a:r>
          </a:p>
          <a:p>
            <a:pPr lvl="1"/>
            <a:r>
              <a:rPr lang="fi-FI" dirty="0" smtClean="0">
                <a:solidFill>
                  <a:schemeClr val="accent2"/>
                </a:solidFill>
              </a:rPr>
              <a:t>Monitiimiympäristössä laadun ja riskien esiinsaaminen voi vaatia tukea jota scrum masterit eivät osaa välttämättä tuottaa</a:t>
            </a:r>
          </a:p>
          <a:p>
            <a:pPr lvl="1"/>
            <a:endParaRPr lang="fi-FI" dirty="0">
              <a:solidFill>
                <a:schemeClr val="accent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Testauksen suunnittelu ja hallinta</a:t>
            </a:r>
            <a:endParaRPr lang="en-US" dirty="0" smtClean="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Testausvastaavan tehtäviä (2/5)</a:t>
            </a: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i-FI" sz="2800" dirty="0"/>
              <a:t>Testauksen resursointi </a:t>
            </a:r>
          </a:p>
          <a:p>
            <a:pPr lvl="1"/>
            <a:r>
              <a:rPr lang="fi-FI" sz="2400" dirty="0"/>
              <a:t>Testauksen työmääräarvioiden kerääminen ja yhdistäminen kokonaisuudeksi</a:t>
            </a:r>
          </a:p>
          <a:p>
            <a:pPr lvl="1"/>
            <a:r>
              <a:rPr lang="fi-FI" sz="2400" dirty="0"/>
              <a:t>Ihmisten ja ympäristöjen saatavuudesta neuvottelu</a:t>
            </a:r>
          </a:p>
          <a:p>
            <a:r>
              <a:rPr lang="fi-FI" sz="2800" dirty="0"/>
              <a:t>Testauksen osaamisen ja kyvykkyyden kehittäminen</a:t>
            </a:r>
          </a:p>
          <a:p>
            <a:pPr lvl="1"/>
            <a:r>
              <a:rPr lang="fi-FI" sz="2400" dirty="0"/>
              <a:t>Projektin testaajien ammattitaidon kasvattamisen tukeminen päivittäisessä työssä</a:t>
            </a:r>
          </a:p>
          <a:p>
            <a:pPr lvl="1"/>
            <a:r>
              <a:rPr lang="fi-FI" sz="2400" dirty="0"/>
              <a:t>Palautteen antaminen päivittäisestä työstä</a:t>
            </a:r>
          </a:p>
          <a:p>
            <a:pPr lvl="1"/>
            <a:r>
              <a:rPr lang="fi-FI" sz="2400" dirty="0"/>
              <a:t>Testaajien hyvinvoinnista, työkuormasta ja motivaatiosta huolehtiminen ja huolenaiheiden eskalointi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fi-FI" sz="2400" dirty="0" smtClean="0">
                <a:solidFill>
                  <a:schemeClr val="accent2"/>
                </a:solidFill>
              </a:rPr>
              <a:t>Muutos ketterissä menetelmissä:</a:t>
            </a:r>
          </a:p>
          <a:p>
            <a:pPr lvl="1"/>
            <a:r>
              <a:rPr lang="fi-FI" sz="2000" dirty="0" smtClean="0">
                <a:solidFill>
                  <a:schemeClr val="accent2"/>
                </a:solidFill>
              </a:rPr>
              <a:t>Resursointi ennen sprinttiä tiimien kokoonpanojen määrittelyjen kautta</a:t>
            </a:r>
          </a:p>
          <a:p>
            <a:pPr lvl="1"/>
            <a:r>
              <a:rPr lang="fi-FI" sz="2000" dirty="0" smtClean="0">
                <a:solidFill>
                  <a:schemeClr val="accent2"/>
                </a:solidFill>
              </a:rPr>
              <a:t>Etukäteispohdinta hankittavalle laitteistolle tai rekrytoitaville osaajille edelleen tarpeen</a:t>
            </a:r>
          </a:p>
          <a:p>
            <a:pPr lvl="1"/>
            <a:r>
              <a:rPr lang="fi-FI" sz="2000" dirty="0" smtClean="0">
                <a:solidFill>
                  <a:schemeClr val="accent2"/>
                </a:solidFill>
              </a:rPr>
              <a:t>Osaamisen jalkautuminen kaikille roolista riippumatta on tärkeää, testausvastaava voi olla laadun ja laatukäytäntöjen puolestapuhuja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Testauksen suunnittelu ja hallinta</a:t>
            </a:r>
            <a:endParaRPr lang="en-US" dirty="0" smtClean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Testausvastaavan tehtäviä (3/5)</a:t>
            </a: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i-FI" sz="2800" dirty="0"/>
              <a:t>Päätöksenteon tuki</a:t>
            </a:r>
          </a:p>
          <a:p>
            <a:pPr lvl="1"/>
            <a:r>
              <a:rPr lang="fi-FI" sz="2400" dirty="0"/>
              <a:t>Päivittäisten ohjauksellisten päätösten testausvaikutusten tarkastelu</a:t>
            </a:r>
          </a:p>
          <a:p>
            <a:pPr lvl="1"/>
            <a:r>
              <a:rPr lang="fi-FI" sz="2400" dirty="0"/>
              <a:t>Tiedon kerääminen tapahtumista ja tilanteesta laaturiskien tunnistamiseksi ja hallitsemiseksi</a:t>
            </a:r>
          </a:p>
          <a:p>
            <a:r>
              <a:rPr lang="fi-FI" sz="2800" dirty="0"/>
              <a:t>Ympäristöjen ja versioiden hallinta</a:t>
            </a:r>
          </a:p>
          <a:p>
            <a:pPr lvl="1"/>
            <a:r>
              <a:rPr lang="fi-FI" sz="2400" dirty="0"/>
              <a:t>Ympäristöjen saatavuudesta sopiminen</a:t>
            </a:r>
          </a:p>
          <a:p>
            <a:pPr lvl="1"/>
            <a:r>
              <a:rPr lang="fi-FI" sz="2400" dirty="0"/>
              <a:t>Ympäristöihin toimitettavien ohjelmaversioiden sisällöstä ja laatutasosta sopiminen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i-FI" dirty="0" smtClean="0">
                <a:solidFill>
                  <a:schemeClr val="accent2"/>
                </a:solidFill>
              </a:rPr>
              <a:t>Muutos ketterissä menetelmissä:</a:t>
            </a:r>
          </a:p>
          <a:p>
            <a:pPr lvl="1"/>
            <a:r>
              <a:rPr lang="fi-FI" dirty="0" smtClean="0">
                <a:solidFill>
                  <a:schemeClr val="accent2"/>
                </a:solidFill>
              </a:rPr>
              <a:t>Projektipäällikköä ei välttämättä ole ja päätökset tehdään tiimeissä</a:t>
            </a:r>
          </a:p>
          <a:p>
            <a:pPr lvl="1"/>
            <a:r>
              <a:rPr lang="fi-FI" dirty="0" smtClean="0">
                <a:solidFill>
                  <a:schemeClr val="accent2"/>
                </a:solidFill>
              </a:rPr>
              <a:t>Yhteistyö tiimien kanssa tarpeen tiimien testausosaamisesta riippuen – kasvatusrooli päätösten kriteerien positiivishenkisen kyseenalaistamisen kautta</a:t>
            </a:r>
          </a:p>
          <a:p>
            <a:pPr lvl="1"/>
            <a:r>
              <a:rPr lang="fi-FI" dirty="0" smtClean="0">
                <a:solidFill>
                  <a:schemeClr val="accent2"/>
                </a:solidFill>
              </a:rPr>
              <a:t>Jatkuvan integroinnin käytännöt oleellinen osa testausympäristöjen hallintaa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Testauksen suunnittelu ja hallinta</a:t>
            </a:r>
            <a:endParaRPr lang="en-US" dirty="0" smtClean="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Testausvastaavan tehtäviä (4/5)</a:t>
            </a:r>
            <a:endParaRPr 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i-FI" sz="2400" dirty="0"/>
              <a:t>Virheiden hallinta</a:t>
            </a:r>
          </a:p>
          <a:p>
            <a:pPr lvl="1"/>
            <a:r>
              <a:rPr lang="fi-FI" sz="1800" dirty="0"/>
              <a:t>Testaustietojen saatavuuden ja virhekorjausten varmistamisen etenemisen seuranta ja tuki</a:t>
            </a:r>
          </a:p>
          <a:p>
            <a:pPr lvl="1"/>
            <a:r>
              <a:rPr lang="fi-FI" sz="1800" dirty="0"/>
              <a:t>Asianomistajien löytäminen virheille joista kaivataan lisätietoa testauksesta sekä korjausten varmistamiseksi</a:t>
            </a:r>
          </a:p>
          <a:p>
            <a:pPr lvl="1"/>
            <a:r>
              <a:rPr lang="fi-FI" sz="1800" dirty="0"/>
              <a:t>Testausta estävien ja haittaavien virhekorjausten oikean aikatauluttamisen tukeminen</a:t>
            </a:r>
          </a:p>
          <a:p>
            <a:pPr lvl="1"/>
            <a:r>
              <a:rPr lang="fi-FI" sz="1800" dirty="0"/>
              <a:t>Asetetun vakavuusasteen katselmointi käytännön yhtenäisyyttä ajatellen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i-FI" sz="2400" dirty="0" smtClean="0">
                <a:solidFill>
                  <a:schemeClr val="accent2"/>
                </a:solidFill>
              </a:rPr>
              <a:t>Muutos ketterissä menetelmissä:</a:t>
            </a:r>
          </a:p>
          <a:p>
            <a:pPr lvl="1"/>
            <a:r>
              <a:rPr lang="fi-FI" sz="1800" dirty="0" smtClean="0">
                <a:solidFill>
                  <a:schemeClr val="accent2"/>
                </a:solidFill>
              </a:rPr>
              <a:t>Virhekorjauksista päättäminen tiimeissä</a:t>
            </a:r>
          </a:p>
          <a:p>
            <a:pPr lvl="1"/>
            <a:r>
              <a:rPr lang="fi-FI" sz="1800" dirty="0" smtClean="0">
                <a:solidFill>
                  <a:schemeClr val="accent2"/>
                </a:solidFill>
              </a:rPr>
              <a:t>Testaustyön (toistettavuus, korjauksen varmistus) organisointi ja jakaminen tiimeissä</a:t>
            </a:r>
          </a:p>
          <a:p>
            <a:pPr lvl="1"/>
            <a:r>
              <a:rPr lang="fi-FI" sz="1800" dirty="0" smtClean="0">
                <a:solidFill>
                  <a:schemeClr val="accent2"/>
                </a:solidFill>
              </a:rPr>
              <a:t>Vakavuusasteen yhdenmukaisuuden katselmointi voi edelleen olla merkittävää laaturaportin merkityksellisyyden tukemiseksi</a:t>
            </a:r>
          </a:p>
          <a:p>
            <a:pPr lvl="1"/>
            <a:r>
              <a:rPr lang="fi-FI" sz="1800" dirty="0" smtClean="0">
                <a:solidFill>
                  <a:schemeClr val="accent2"/>
                </a:solidFill>
              </a:rPr>
              <a:t>Laatuvelan seuranta ja näkyvyys sekä testaamattomuuden että korjaamattomuuden osalta</a:t>
            </a:r>
          </a:p>
          <a:p>
            <a:pPr lvl="1"/>
            <a:r>
              <a:rPr lang="fi-FI" sz="1800" dirty="0" smtClean="0">
                <a:solidFill>
                  <a:schemeClr val="accent2"/>
                </a:solidFill>
              </a:rPr>
              <a:t>Virheraportit saattavat siirtyä näkymättömiin</a:t>
            </a:r>
            <a:endParaRPr lang="fi-FI" sz="1800" dirty="0">
              <a:solidFill>
                <a:schemeClr val="accent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Testauksen suunnittelu ja hallinta</a:t>
            </a:r>
            <a:endParaRPr lang="en-US" dirty="0" smtClean="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Testausvastaavan tehtäviä (5/5)</a:t>
            </a:r>
            <a:endParaRPr 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fi-FI" sz="1800" dirty="0"/>
              <a:t>Raportointi ja eskalointi</a:t>
            </a:r>
          </a:p>
          <a:p>
            <a:pPr lvl="1"/>
            <a:r>
              <a:rPr lang="fi-FI" sz="1600" dirty="0"/>
              <a:t>Järjestelmien ja toimintojen laatutason, laaturiskien ja tietotason raportointi sisäisesti ja ulkoisesti</a:t>
            </a:r>
          </a:p>
          <a:p>
            <a:pPr lvl="1"/>
            <a:r>
              <a:rPr lang="fi-FI" sz="1600" dirty="0"/>
              <a:t>Tiedottaminen projektipäällikölle asioista jotka vaativat eskalointia</a:t>
            </a:r>
          </a:p>
          <a:p>
            <a:pPr lvl="1"/>
            <a:r>
              <a:rPr lang="fi-FI" sz="1600" dirty="0"/>
              <a:t>Virheiden löytymisen ja korjaamisen etenemisen raportointi ja korostaminen</a:t>
            </a:r>
          </a:p>
          <a:p>
            <a:r>
              <a:rPr lang="fi-FI" sz="1800" dirty="0" smtClean="0"/>
              <a:t>Laatupalautteen </a:t>
            </a:r>
            <a:r>
              <a:rPr lang="fi-FI" sz="1800" dirty="0"/>
              <a:t>käsittely</a:t>
            </a:r>
            <a:endParaRPr lang="en-US" sz="1800" dirty="0"/>
          </a:p>
          <a:p>
            <a:pPr lvl="1"/>
            <a:r>
              <a:rPr lang="fi-FI" sz="1600" dirty="0" smtClean="0"/>
              <a:t>Testausvaiheiden </a:t>
            </a:r>
            <a:r>
              <a:rPr lang="fi-FI" sz="1600" dirty="0"/>
              <a:t>testaustietämyksen kasvattaminen tarpeellisten toteutusyksityiskohtien osalta</a:t>
            </a:r>
          </a:p>
          <a:p>
            <a:pPr lvl="1"/>
            <a:r>
              <a:rPr lang="fi-FI" sz="1600" dirty="0" smtClean="0"/>
              <a:t>Testausvaiheiden </a:t>
            </a:r>
            <a:r>
              <a:rPr lang="fi-FI" sz="1600" dirty="0"/>
              <a:t>ohjaaminen kattamaan riskejä kokonaisuudelle tarpeen mukaan</a:t>
            </a:r>
          </a:p>
          <a:p>
            <a:pPr lvl="1"/>
            <a:r>
              <a:rPr lang="fi-FI" sz="1600" dirty="0" smtClean="0"/>
              <a:t>Myöhemmistä testausvaiheista </a:t>
            </a:r>
            <a:r>
              <a:rPr lang="fi-FI" sz="1600" dirty="0"/>
              <a:t>löytyneiden havaintojen </a:t>
            </a:r>
            <a:r>
              <a:rPr lang="fi-FI" sz="1600" dirty="0" smtClean="0"/>
              <a:t>läpikäynti oppi- ja muutostestaustarkoituksissa</a:t>
            </a:r>
            <a:endParaRPr lang="fi-FI" sz="16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i-FI" dirty="0" smtClean="0">
                <a:solidFill>
                  <a:schemeClr val="accent2"/>
                </a:solidFill>
              </a:rPr>
              <a:t>Muutos ketterissä menetelmissä:</a:t>
            </a:r>
          </a:p>
          <a:p>
            <a:pPr lvl="1"/>
            <a:r>
              <a:rPr lang="fi-FI" dirty="0" smtClean="0">
                <a:solidFill>
                  <a:schemeClr val="accent2"/>
                </a:solidFill>
              </a:rPr>
              <a:t>Tiimien viestin näkyviintuominen, ei omaa viestiä laadusta</a:t>
            </a:r>
          </a:p>
          <a:p>
            <a:pPr lvl="1"/>
            <a:r>
              <a:rPr lang="fi-FI" dirty="0" smtClean="0">
                <a:solidFill>
                  <a:schemeClr val="accent2"/>
                </a:solidFill>
              </a:rPr>
              <a:t>Myöhempien vaiheiden löytämien virheiden analysointi oppimista varten</a:t>
            </a:r>
          </a:p>
          <a:p>
            <a:pPr lvl="1"/>
            <a:r>
              <a:rPr lang="fi-FI" dirty="0" smtClean="0">
                <a:solidFill>
                  <a:schemeClr val="accent2"/>
                </a:solidFill>
              </a:rPr>
              <a:t>Palvelu: kaikkien ei erikseen tarvitse metsästää itselleen kuuluvaa palautetta</a:t>
            </a:r>
            <a:endParaRPr lang="fi-FI" dirty="0">
              <a:solidFill>
                <a:schemeClr val="accent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Testauksen suunnittelu ja hallinta</a:t>
            </a:r>
            <a:endParaRPr lang="en-US" dirty="0" smtClean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Ideas, Thoughts, </a:t>
            </a:r>
            <a:br>
              <a:rPr lang="fi-FI" dirty="0" smtClean="0"/>
            </a:br>
            <a:r>
              <a:rPr lang="fi-FI" dirty="0" smtClean="0"/>
              <a:t>Questions?</a:t>
            </a:r>
            <a:endParaRPr lang="fi-FI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pic>
        <p:nvPicPr>
          <p:cNvPr id="4" name="Picture 3" descr="C:\Documents and Settings\mpyhajar.CONFORMIQ\Application Data\Microsoft\Media Catalog\Downloaded Clips\cl1f\j0078711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71736" y="285728"/>
            <a:ext cx="1622425" cy="3933825"/>
          </a:xfrm>
          <a:prstGeom prst="rect">
            <a:avLst/>
          </a:prstGeom>
          <a:noFill/>
        </p:spPr>
      </p:pic>
      <p:pic>
        <p:nvPicPr>
          <p:cNvPr id="5" name="Picture 4" descr="C:\Documents and Settings\mpyhajar.CONFORMIQ\Application Data\Microsoft\Media Catalog\Downloaded Clips\cl1f\j0078625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15140" y="2357430"/>
            <a:ext cx="1295400" cy="3933825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930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 smtClean="0"/>
              <a:t>Organizing for Agility – Testing Specialty in Team vs. as a Community of Practice</a:t>
            </a:r>
            <a:endParaRPr lang="en-GB" sz="3600" dirty="0"/>
          </a:p>
        </p:txBody>
      </p:sp>
      <p:sp>
        <p:nvSpPr>
          <p:cNvPr id="1404931" name="Rectangle 1027"/>
          <p:cNvSpPr>
            <a:spLocks noChangeArrowheads="1"/>
          </p:cNvSpPr>
          <p:nvPr/>
        </p:nvSpPr>
        <p:spPr bwMode="auto">
          <a:xfrm>
            <a:off x="3276600" y="1447800"/>
            <a:ext cx="1905000" cy="175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32" name="Rectangle 1028"/>
          <p:cNvSpPr>
            <a:spLocks noChangeArrowheads="1"/>
          </p:cNvSpPr>
          <p:nvPr/>
        </p:nvSpPr>
        <p:spPr bwMode="auto">
          <a:xfrm>
            <a:off x="5181600" y="1447800"/>
            <a:ext cx="1905000" cy="175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33" name="Rectangle 1029"/>
          <p:cNvSpPr>
            <a:spLocks noChangeArrowheads="1"/>
          </p:cNvSpPr>
          <p:nvPr/>
        </p:nvSpPr>
        <p:spPr bwMode="auto">
          <a:xfrm>
            <a:off x="5181600" y="3200400"/>
            <a:ext cx="1905000" cy="175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34" name="Rectangle 1030"/>
          <p:cNvSpPr>
            <a:spLocks noChangeArrowheads="1"/>
          </p:cNvSpPr>
          <p:nvPr/>
        </p:nvSpPr>
        <p:spPr bwMode="auto">
          <a:xfrm>
            <a:off x="3276600" y="3200400"/>
            <a:ext cx="1905000" cy="175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35" name="Rectangle 1031"/>
          <p:cNvSpPr>
            <a:spLocks noChangeArrowheads="1"/>
          </p:cNvSpPr>
          <p:nvPr/>
        </p:nvSpPr>
        <p:spPr bwMode="auto">
          <a:xfrm>
            <a:off x="7086600" y="1447800"/>
            <a:ext cx="1905000" cy="175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36" name="Rectangle 1032"/>
          <p:cNvSpPr>
            <a:spLocks noChangeArrowheads="1"/>
          </p:cNvSpPr>
          <p:nvPr/>
        </p:nvSpPr>
        <p:spPr bwMode="auto">
          <a:xfrm>
            <a:off x="7086600" y="3200400"/>
            <a:ext cx="1905000" cy="175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37" name="Oval 1033"/>
          <p:cNvSpPr>
            <a:spLocks noChangeArrowheads="1"/>
          </p:cNvSpPr>
          <p:nvPr/>
        </p:nvSpPr>
        <p:spPr bwMode="auto">
          <a:xfrm>
            <a:off x="4419600" y="2133600"/>
            <a:ext cx="228600" cy="2286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38" name="Oval 1034"/>
          <p:cNvSpPr>
            <a:spLocks noChangeArrowheads="1"/>
          </p:cNvSpPr>
          <p:nvPr/>
        </p:nvSpPr>
        <p:spPr bwMode="auto">
          <a:xfrm>
            <a:off x="3810000" y="2514600"/>
            <a:ext cx="228600" cy="228600"/>
          </a:xfrm>
          <a:prstGeom prst="ellipse">
            <a:avLst/>
          </a:prstGeom>
          <a:solidFill>
            <a:schemeClr val="hlink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39" name="Oval 1035"/>
          <p:cNvSpPr>
            <a:spLocks noChangeArrowheads="1"/>
          </p:cNvSpPr>
          <p:nvPr/>
        </p:nvSpPr>
        <p:spPr bwMode="auto">
          <a:xfrm>
            <a:off x="4419600" y="259080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40" name="Oval 1036"/>
          <p:cNvSpPr>
            <a:spLocks noChangeArrowheads="1"/>
          </p:cNvSpPr>
          <p:nvPr/>
        </p:nvSpPr>
        <p:spPr bwMode="auto">
          <a:xfrm>
            <a:off x="6019800" y="198120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41" name="Oval 1037"/>
          <p:cNvSpPr>
            <a:spLocks noChangeArrowheads="1"/>
          </p:cNvSpPr>
          <p:nvPr/>
        </p:nvSpPr>
        <p:spPr bwMode="auto">
          <a:xfrm>
            <a:off x="6477000" y="190500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42" name="Oval 1038"/>
          <p:cNvSpPr>
            <a:spLocks noChangeArrowheads="1"/>
          </p:cNvSpPr>
          <p:nvPr/>
        </p:nvSpPr>
        <p:spPr bwMode="auto">
          <a:xfrm>
            <a:off x="4038600" y="160020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43" name="Oval 1039"/>
          <p:cNvSpPr>
            <a:spLocks noChangeArrowheads="1"/>
          </p:cNvSpPr>
          <p:nvPr/>
        </p:nvSpPr>
        <p:spPr bwMode="auto">
          <a:xfrm>
            <a:off x="4724400" y="175260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44" name="Oval 1040"/>
          <p:cNvSpPr>
            <a:spLocks noChangeArrowheads="1"/>
          </p:cNvSpPr>
          <p:nvPr/>
        </p:nvSpPr>
        <p:spPr bwMode="auto">
          <a:xfrm>
            <a:off x="5486400" y="2514600"/>
            <a:ext cx="228600" cy="228600"/>
          </a:xfrm>
          <a:prstGeom prst="ellipse">
            <a:avLst/>
          </a:prstGeom>
          <a:solidFill>
            <a:schemeClr val="accent2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45" name="Oval 1041"/>
          <p:cNvSpPr>
            <a:spLocks noChangeArrowheads="1"/>
          </p:cNvSpPr>
          <p:nvPr/>
        </p:nvSpPr>
        <p:spPr bwMode="auto">
          <a:xfrm>
            <a:off x="5486400" y="167640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46" name="Oval 1042"/>
          <p:cNvSpPr>
            <a:spLocks noChangeArrowheads="1"/>
          </p:cNvSpPr>
          <p:nvPr/>
        </p:nvSpPr>
        <p:spPr bwMode="auto">
          <a:xfrm>
            <a:off x="5943600" y="1676400"/>
            <a:ext cx="228600" cy="228600"/>
          </a:xfrm>
          <a:prstGeom prst="ellipse">
            <a:avLst/>
          </a:prstGeom>
          <a:solidFill>
            <a:schemeClr val="hlink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47" name="Oval 1043"/>
          <p:cNvSpPr>
            <a:spLocks noChangeArrowheads="1"/>
          </p:cNvSpPr>
          <p:nvPr/>
        </p:nvSpPr>
        <p:spPr bwMode="auto">
          <a:xfrm>
            <a:off x="6172200" y="251460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48" name="Oval 1044"/>
          <p:cNvSpPr>
            <a:spLocks noChangeArrowheads="1"/>
          </p:cNvSpPr>
          <p:nvPr/>
        </p:nvSpPr>
        <p:spPr bwMode="auto">
          <a:xfrm>
            <a:off x="6553200" y="228600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49" name="Oval 1045"/>
          <p:cNvSpPr>
            <a:spLocks noChangeArrowheads="1"/>
          </p:cNvSpPr>
          <p:nvPr/>
        </p:nvSpPr>
        <p:spPr bwMode="auto">
          <a:xfrm>
            <a:off x="7467600" y="281940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50" name="Oval 1046"/>
          <p:cNvSpPr>
            <a:spLocks noChangeArrowheads="1"/>
          </p:cNvSpPr>
          <p:nvPr/>
        </p:nvSpPr>
        <p:spPr bwMode="auto">
          <a:xfrm>
            <a:off x="4343400" y="373380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51" name="Oval 1047"/>
          <p:cNvSpPr>
            <a:spLocks noChangeArrowheads="1"/>
          </p:cNvSpPr>
          <p:nvPr/>
        </p:nvSpPr>
        <p:spPr bwMode="auto">
          <a:xfrm>
            <a:off x="3657600" y="3962400"/>
            <a:ext cx="228600" cy="228600"/>
          </a:xfrm>
          <a:prstGeom prst="ellipse">
            <a:avLst/>
          </a:prstGeom>
          <a:solidFill>
            <a:schemeClr val="hlink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52" name="Oval 1048"/>
          <p:cNvSpPr>
            <a:spLocks noChangeArrowheads="1"/>
          </p:cNvSpPr>
          <p:nvPr/>
        </p:nvSpPr>
        <p:spPr bwMode="auto">
          <a:xfrm>
            <a:off x="4191000" y="426720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53" name="Oval 1049"/>
          <p:cNvSpPr>
            <a:spLocks noChangeArrowheads="1"/>
          </p:cNvSpPr>
          <p:nvPr/>
        </p:nvSpPr>
        <p:spPr bwMode="auto">
          <a:xfrm>
            <a:off x="7315200" y="213360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54" name="Oval 1050"/>
          <p:cNvSpPr>
            <a:spLocks noChangeArrowheads="1"/>
          </p:cNvSpPr>
          <p:nvPr/>
        </p:nvSpPr>
        <p:spPr bwMode="auto">
          <a:xfrm>
            <a:off x="8382000" y="1981200"/>
            <a:ext cx="228600" cy="228600"/>
          </a:xfrm>
          <a:prstGeom prst="ellipse">
            <a:avLst/>
          </a:prstGeom>
          <a:solidFill>
            <a:schemeClr val="accent2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55" name="Oval 1051"/>
          <p:cNvSpPr>
            <a:spLocks noChangeArrowheads="1"/>
          </p:cNvSpPr>
          <p:nvPr/>
        </p:nvSpPr>
        <p:spPr bwMode="auto">
          <a:xfrm>
            <a:off x="8077200" y="274320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56" name="Oval 1052"/>
          <p:cNvSpPr>
            <a:spLocks noChangeArrowheads="1"/>
          </p:cNvSpPr>
          <p:nvPr/>
        </p:nvSpPr>
        <p:spPr bwMode="auto">
          <a:xfrm>
            <a:off x="8382000" y="243840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57" name="Oval 1053"/>
          <p:cNvSpPr>
            <a:spLocks noChangeArrowheads="1"/>
          </p:cNvSpPr>
          <p:nvPr/>
        </p:nvSpPr>
        <p:spPr bwMode="auto">
          <a:xfrm>
            <a:off x="7696200" y="175260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58" name="Oval 1054"/>
          <p:cNvSpPr>
            <a:spLocks noChangeArrowheads="1"/>
          </p:cNvSpPr>
          <p:nvPr/>
        </p:nvSpPr>
        <p:spPr bwMode="auto">
          <a:xfrm>
            <a:off x="8077200" y="175260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59" name="Oval 1055"/>
          <p:cNvSpPr>
            <a:spLocks noChangeArrowheads="1"/>
          </p:cNvSpPr>
          <p:nvPr/>
        </p:nvSpPr>
        <p:spPr bwMode="auto">
          <a:xfrm>
            <a:off x="5562600" y="3733800"/>
            <a:ext cx="228600" cy="228600"/>
          </a:xfrm>
          <a:prstGeom prst="ellipse">
            <a:avLst/>
          </a:prstGeom>
          <a:solidFill>
            <a:schemeClr val="accent2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60" name="Oval 1056"/>
          <p:cNvSpPr>
            <a:spLocks noChangeArrowheads="1"/>
          </p:cNvSpPr>
          <p:nvPr/>
        </p:nvSpPr>
        <p:spPr bwMode="auto">
          <a:xfrm>
            <a:off x="6248400" y="373380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61" name="Oval 1057"/>
          <p:cNvSpPr>
            <a:spLocks noChangeArrowheads="1"/>
          </p:cNvSpPr>
          <p:nvPr/>
        </p:nvSpPr>
        <p:spPr bwMode="auto">
          <a:xfrm>
            <a:off x="5638800" y="4343400"/>
            <a:ext cx="228600" cy="228600"/>
          </a:xfrm>
          <a:prstGeom prst="ellipse">
            <a:avLst/>
          </a:prstGeom>
          <a:solidFill>
            <a:schemeClr val="accent2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62" name="Oval 1058"/>
          <p:cNvSpPr>
            <a:spLocks noChangeArrowheads="1"/>
          </p:cNvSpPr>
          <p:nvPr/>
        </p:nvSpPr>
        <p:spPr bwMode="auto">
          <a:xfrm>
            <a:off x="6248400" y="4267200"/>
            <a:ext cx="228600" cy="228600"/>
          </a:xfrm>
          <a:prstGeom prst="ellipse">
            <a:avLst/>
          </a:prstGeom>
          <a:solidFill>
            <a:schemeClr val="accent2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4963" name="Oval 1059"/>
          <p:cNvSpPr>
            <a:spLocks noChangeArrowheads="1"/>
          </p:cNvSpPr>
          <p:nvPr/>
        </p:nvSpPr>
        <p:spPr bwMode="auto">
          <a:xfrm>
            <a:off x="5867400" y="3429000"/>
            <a:ext cx="228600" cy="228600"/>
          </a:xfrm>
          <a:prstGeom prst="ellipse">
            <a:avLst/>
          </a:prstGeom>
          <a:solidFill>
            <a:schemeClr val="hlink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cxnSp>
        <p:nvCxnSpPr>
          <p:cNvPr id="1404964" name="AutoShape 1060"/>
          <p:cNvCxnSpPr>
            <a:cxnSpLocks noChangeShapeType="1"/>
            <a:stCxn id="1404951" idx="6"/>
            <a:endCxn id="1404950" idx="2"/>
          </p:cNvCxnSpPr>
          <p:nvPr/>
        </p:nvCxnSpPr>
        <p:spPr bwMode="auto">
          <a:xfrm flipV="1">
            <a:off x="3886200" y="3848100"/>
            <a:ext cx="457200" cy="2286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65" name="AutoShape 1061"/>
          <p:cNvCxnSpPr>
            <a:cxnSpLocks noChangeShapeType="1"/>
            <a:stCxn id="1404951" idx="6"/>
            <a:endCxn id="1404952" idx="1"/>
          </p:cNvCxnSpPr>
          <p:nvPr/>
        </p:nvCxnSpPr>
        <p:spPr bwMode="auto">
          <a:xfrm>
            <a:off x="3886200" y="4076700"/>
            <a:ext cx="338138" cy="2238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66" name="AutoShape 1062"/>
          <p:cNvCxnSpPr>
            <a:cxnSpLocks noChangeShapeType="1"/>
            <a:stCxn id="1404952" idx="0"/>
            <a:endCxn id="1404950" idx="3"/>
          </p:cNvCxnSpPr>
          <p:nvPr/>
        </p:nvCxnSpPr>
        <p:spPr bwMode="auto">
          <a:xfrm flipV="1">
            <a:off x="4305300" y="3929063"/>
            <a:ext cx="71438" cy="3381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67" name="AutoShape 1063"/>
          <p:cNvCxnSpPr>
            <a:cxnSpLocks noChangeShapeType="1"/>
            <a:stCxn id="1404931" idx="1"/>
            <a:endCxn id="1404938" idx="3"/>
          </p:cNvCxnSpPr>
          <p:nvPr/>
        </p:nvCxnSpPr>
        <p:spPr bwMode="auto">
          <a:xfrm>
            <a:off x="3276600" y="2324100"/>
            <a:ext cx="566738" cy="385763"/>
          </a:xfrm>
          <a:prstGeom prst="straightConnector1">
            <a:avLst/>
          </a:prstGeom>
          <a:noFill/>
          <a:ln w="12700">
            <a:noFill/>
            <a:round/>
            <a:headEnd/>
            <a:tailEnd/>
          </a:ln>
          <a:effectLst/>
        </p:spPr>
      </p:cxnSp>
      <p:sp>
        <p:nvSpPr>
          <p:cNvPr id="1404968" name="Oval 1064"/>
          <p:cNvSpPr>
            <a:spLocks noChangeArrowheads="1"/>
          </p:cNvSpPr>
          <p:nvPr/>
        </p:nvSpPr>
        <p:spPr bwMode="auto">
          <a:xfrm>
            <a:off x="3733800" y="190500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cxnSp>
        <p:nvCxnSpPr>
          <p:cNvPr id="1404969" name="AutoShape 1065"/>
          <p:cNvCxnSpPr>
            <a:cxnSpLocks noChangeShapeType="1"/>
            <a:stCxn id="1404938" idx="0"/>
            <a:endCxn id="1404968" idx="4"/>
          </p:cNvCxnSpPr>
          <p:nvPr/>
        </p:nvCxnSpPr>
        <p:spPr bwMode="auto">
          <a:xfrm flipH="1" flipV="1">
            <a:off x="3848100" y="2133600"/>
            <a:ext cx="76200" cy="3810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70" name="AutoShape 1066"/>
          <p:cNvCxnSpPr>
            <a:cxnSpLocks noChangeShapeType="1"/>
            <a:stCxn id="1404968" idx="7"/>
            <a:endCxn id="1404942" idx="3"/>
          </p:cNvCxnSpPr>
          <p:nvPr/>
        </p:nvCxnSpPr>
        <p:spPr bwMode="auto">
          <a:xfrm flipV="1">
            <a:off x="3929063" y="1795463"/>
            <a:ext cx="142875" cy="1428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71" name="AutoShape 1067"/>
          <p:cNvCxnSpPr>
            <a:cxnSpLocks noChangeShapeType="1"/>
            <a:stCxn id="1404942" idx="5"/>
            <a:endCxn id="1404937" idx="1"/>
          </p:cNvCxnSpPr>
          <p:nvPr/>
        </p:nvCxnSpPr>
        <p:spPr bwMode="auto">
          <a:xfrm>
            <a:off x="4233863" y="1795463"/>
            <a:ext cx="219075" cy="3714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72" name="AutoShape 1068"/>
          <p:cNvCxnSpPr>
            <a:cxnSpLocks noChangeShapeType="1"/>
            <a:stCxn id="1404937" idx="4"/>
            <a:endCxn id="1404939" idx="0"/>
          </p:cNvCxnSpPr>
          <p:nvPr/>
        </p:nvCxnSpPr>
        <p:spPr bwMode="auto">
          <a:xfrm>
            <a:off x="4533900" y="2362200"/>
            <a:ext cx="0" cy="2286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73" name="AutoShape 1069"/>
          <p:cNvCxnSpPr>
            <a:cxnSpLocks noChangeShapeType="1"/>
            <a:stCxn id="1404938" idx="6"/>
            <a:endCxn id="1404939" idx="2"/>
          </p:cNvCxnSpPr>
          <p:nvPr/>
        </p:nvCxnSpPr>
        <p:spPr bwMode="auto">
          <a:xfrm>
            <a:off x="4038600" y="2628900"/>
            <a:ext cx="381000" cy="76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74" name="AutoShape 1070"/>
          <p:cNvCxnSpPr>
            <a:cxnSpLocks noChangeShapeType="1"/>
            <a:stCxn id="1404968" idx="6"/>
            <a:endCxn id="1404937" idx="2"/>
          </p:cNvCxnSpPr>
          <p:nvPr/>
        </p:nvCxnSpPr>
        <p:spPr bwMode="auto">
          <a:xfrm>
            <a:off x="3962400" y="2019300"/>
            <a:ext cx="457200" cy="2286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75" name="AutoShape 1071"/>
          <p:cNvCxnSpPr>
            <a:cxnSpLocks noChangeShapeType="1"/>
            <a:stCxn id="1404938" idx="7"/>
            <a:endCxn id="1404937" idx="3"/>
          </p:cNvCxnSpPr>
          <p:nvPr/>
        </p:nvCxnSpPr>
        <p:spPr bwMode="auto">
          <a:xfrm flipV="1">
            <a:off x="4005263" y="2328863"/>
            <a:ext cx="447675" cy="2190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76" name="AutoShape 1072"/>
          <p:cNvCxnSpPr>
            <a:cxnSpLocks noChangeShapeType="1"/>
            <a:stCxn id="1404939" idx="2"/>
            <a:endCxn id="1404968" idx="5"/>
          </p:cNvCxnSpPr>
          <p:nvPr/>
        </p:nvCxnSpPr>
        <p:spPr bwMode="auto">
          <a:xfrm flipH="1" flipV="1">
            <a:off x="3929063" y="2100263"/>
            <a:ext cx="490537" cy="6048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77" name="AutoShape 1073"/>
          <p:cNvCxnSpPr>
            <a:cxnSpLocks noChangeShapeType="1"/>
            <a:stCxn id="1404968" idx="6"/>
            <a:endCxn id="1404943" idx="2"/>
          </p:cNvCxnSpPr>
          <p:nvPr/>
        </p:nvCxnSpPr>
        <p:spPr bwMode="auto">
          <a:xfrm flipV="1">
            <a:off x="3962400" y="1866900"/>
            <a:ext cx="762000" cy="152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78" name="AutoShape 1074"/>
          <p:cNvCxnSpPr>
            <a:cxnSpLocks noChangeShapeType="1"/>
            <a:stCxn id="1404942" idx="6"/>
            <a:endCxn id="1404943" idx="1"/>
          </p:cNvCxnSpPr>
          <p:nvPr/>
        </p:nvCxnSpPr>
        <p:spPr bwMode="auto">
          <a:xfrm>
            <a:off x="4267200" y="1714500"/>
            <a:ext cx="490538" cy="714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79" name="AutoShape 1075"/>
          <p:cNvCxnSpPr>
            <a:cxnSpLocks noChangeShapeType="1"/>
            <a:stCxn id="1404937" idx="7"/>
            <a:endCxn id="1404943" idx="3"/>
          </p:cNvCxnSpPr>
          <p:nvPr/>
        </p:nvCxnSpPr>
        <p:spPr bwMode="auto">
          <a:xfrm flipV="1">
            <a:off x="4614863" y="1947863"/>
            <a:ext cx="142875" cy="2190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80" name="AutoShape 1076"/>
          <p:cNvCxnSpPr>
            <a:cxnSpLocks noChangeShapeType="1"/>
            <a:stCxn id="1404939" idx="7"/>
            <a:endCxn id="1404943" idx="4"/>
          </p:cNvCxnSpPr>
          <p:nvPr/>
        </p:nvCxnSpPr>
        <p:spPr bwMode="auto">
          <a:xfrm flipV="1">
            <a:off x="4614863" y="1981200"/>
            <a:ext cx="223837" cy="6429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81" name="AutoShape 1077"/>
          <p:cNvCxnSpPr>
            <a:cxnSpLocks noChangeShapeType="1"/>
            <a:stCxn id="1404944" idx="7"/>
            <a:endCxn id="1404940" idx="3"/>
          </p:cNvCxnSpPr>
          <p:nvPr/>
        </p:nvCxnSpPr>
        <p:spPr bwMode="auto">
          <a:xfrm flipV="1">
            <a:off x="5681663" y="2176463"/>
            <a:ext cx="371475" cy="3714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82" name="AutoShape 1078"/>
          <p:cNvCxnSpPr>
            <a:cxnSpLocks noChangeShapeType="1"/>
            <a:stCxn id="1404944" idx="0"/>
            <a:endCxn id="1404945" idx="4"/>
          </p:cNvCxnSpPr>
          <p:nvPr/>
        </p:nvCxnSpPr>
        <p:spPr bwMode="auto">
          <a:xfrm flipV="1">
            <a:off x="5600700" y="1905000"/>
            <a:ext cx="0" cy="6096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83" name="AutoShape 1079"/>
          <p:cNvCxnSpPr>
            <a:cxnSpLocks noChangeShapeType="1"/>
            <a:stCxn id="1404940" idx="1"/>
            <a:endCxn id="1404945" idx="5"/>
          </p:cNvCxnSpPr>
          <p:nvPr/>
        </p:nvCxnSpPr>
        <p:spPr bwMode="auto">
          <a:xfrm flipH="1" flipV="1">
            <a:off x="5681663" y="1871663"/>
            <a:ext cx="371475" cy="1428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84" name="AutoShape 1080"/>
          <p:cNvCxnSpPr>
            <a:cxnSpLocks noChangeShapeType="1"/>
            <a:stCxn id="1404946" idx="4"/>
            <a:endCxn id="1404940" idx="0"/>
          </p:cNvCxnSpPr>
          <p:nvPr/>
        </p:nvCxnSpPr>
        <p:spPr bwMode="auto">
          <a:xfrm>
            <a:off x="6057900" y="1905000"/>
            <a:ext cx="76200" cy="76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85" name="AutoShape 1081"/>
          <p:cNvCxnSpPr>
            <a:cxnSpLocks noChangeShapeType="1"/>
            <a:stCxn id="1404945" idx="6"/>
            <a:endCxn id="1404946" idx="2"/>
          </p:cNvCxnSpPr>
          <p:nvPr/>
        </p:nvCxnSpPr>
        <p:spPr bwMode="auto">
          <a:xfrm>
            <a:off x="5715000" y="1790700"/>
            <a:ext cx="2286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86" name="AutoShape 1082"/>
          <p:cNvCxnSpPr>
            <a:cxnSpLocks noChangeShapeType="1"/>
            <a:stCxn id="1404946" idx="6"/>
            <a:endCxn id="1404941" idx="1"/>
          </p:cNvCxnSpPr>
          <p:nvPr/>
        </p:nvCxnSpPr>
        <p:spPr bwMode="auto">
          <a:xfrm>
            <a:off x="6172200" y="1790700"/>
            <a:ext cx="338138" cy="1476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87" name="AutoShape 1083"/>
          <p:cNvCxnSpPr>
            <a:cxnSpLocks noChangeShapeType="1"/>
            <a:stCxn id="1404940" idx="6"/>
            <a:endCxn id="1404941" idx="2"/>
          </p:cNvCxnSpPr>
          <p:nvPr/>
        </p:nvCxnSpPr>
        <p:spPr bwMode="auto">
          <a:xfrm flipV="1">
            <a:off x="6248400" y="2019300"/>
            <a:ext cx="228600" cy="76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88" name="AutoShape 1084"/>
          <p:cNvCxnSpPr>
            <a:cxnSpLocks noChangeShapeType="1"/>
            <a:stCxn id="1404944" idx="6"/>
            <a:endCxn id="1404947" idx="2"/>
          </p:cNvCxnSpPr>
          <p:nvPr/>
        </p:nvCxnSpPr>
        <p:spPr bwMode="auto">
          <a:xfrm>
            <a:off x="5715000" y="2628900"/>
            <a:ext cx="457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89" name="AutoShape 1085"/>
          <p:cNvCxnSpPr>
            <a:cxnSpLocks noChangeShapeType="1"/>
            <a:stCxn id="1404940" idx="4"/>
            <a:endCxn id="1404947" idx="1"/>
          </p:cNvCxnSpPr>
          <p:nvPr/>
        </p:nvCxnSpPr>
        <p:spPr bwMode="auto">
          <a:xfrm>
            <a:off x="6134100" y="2209800"/>
            <a:ext cx="71438" cy="3381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90" name="AutoShape 1086"/>
          <p:cNvCxnSpPr>
            <a:cxnSpLocks noChangeShapeType="1"/>
            <a:stCxn id="1404947" idx="7"/>
            <a:endCxn id="1404948" idx="3"/>
          </p:cNvCxnSpPr>
          <p:nvPr/>
        </p:nvCxnSpPr>
        <p:spPr bwMode="auto">
          <a:xfrm flipV="1">
            <a:off x="6367463" y="2481263"/>
            <a:ext cx="219075" cy="666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91" name="AutoShape 1087"/>
          <p:cNvCxnSpPr>
            <a:cxnSpLocks noChangeShapeType="1"/>
            <a:stCxn id="1404948" idx="0"/>
            <a:endCxn id="1404941" idx="4"/>
          </p:cNvCxnSpPr>
          <p:nvPr/>
        </p:nvCxnSpPr>
        <p:spPr bwMode="auto">
          <a:xfrm flipH="1" flipV="1">
            <a:off x="6591300" y="2133600"/>
            <a:ext cx="76200" cy="152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92" name="AutoShape 1088"/>
          <p:cNvCxnSpPr>
            <a:cxnSpLocks noChangeShapeType="1"/>
            <a:stCxn id="1404948" idx="2"/>
            <a:endCxn id="1404944" idx="7"/>
          </p:cNvCxnSpPr>
          <p:nvPr/>
        </p:nvCxnSpPr>
        <p:spPr bwMode="auto">
          <a:xfrm flipH="1">
            <a:off x="5681663" y="2400300"/>
            <a:ext cx="871537" cy="1476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93" name="AutoShape 1089"/>
          <p:cNvCxnSpPr>
            <a:cxnSpLocks noChangeShapeType="1"/>
            <a:stCxn id="1404938" idx="7"/>
            <a:endCxn id="1404943" idx="2"/>
          </p:cNvCxnSpPr>
          <p:nvPr/>
        </p:nvCxnSpPr>
        <p:spPr bwMode="auto">
          <a:xfrm flipV="1">
            <a:off x="4005263" y="1866900"/>
            <a:ext cx="719137" cy="6810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94" name="AutoShape 1090"/>
          <p:cNvCxnSpPr>
            <a:cxnSpLocks noChangeShapeType="1"/>
            <a:stCxn id="1404946" idx="4"/>
            <a:endCxn id="1404944" idx="7"/>
          </p:cNvCxnSpPr>
          <p:nvPr/>
        </p:nvCxnSpPr>
        <p:spPr bwMode="auto">
          <a:xfrm flipH="1">
            <a:off x="5681663" y="1905000"/>
            <a:ext cx="376237" cy="6429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95" name="AutoShape 1091"/>
          <p:cNvCxnSpPr>
            <a:cxnSpLocks noChangeShapeType="1"/>
            <a:stCxn id="1404947" idx="0"/>
            <a:endCxn id="1404941" idx="3"/>
          </p:cNvCxnSpPr>
          <p:nvPr/>
        </p:nvCxnSpPr>
        <p:spPr bwMode="auto">
          <a:xfrm flipV="1">
            <a:off x="6286500" y="2100263"/>
            <a:ext cx="223838" cy="4143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96" name="AutoShape 1092"/>
          <p:cNvCxnSpPr>
            <a:cxnSpLocks noChangeShapeType="1"/>
            <a:stCxn id="1404945" idx="5"/>
            <a:endCxn id="1404947" idx="2"/>
          </p:cNvCxnSpPr>
          <p:nvPr/>
        </p:nvCxnSpPr>
        <p:spPr bwMode="auto">
          <a:xfrm>
            <a:off x="5681663" y="1871663"/>
            <a:ext cx="490537" cy="7572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97" name="AutoShape 1093"/>
          <p:cNvCxnSpPr>
            <a:cxnSpLocks noChangeShapeType="1"/>
            <a:stCxn id="1404948" idx="1"/>
            <a:endCxn id="1404946" idx="5"/>
          </p:cNvCxnSpPr>
          <p:nvPr/>
        </p:nvCxnSpPr>
        <p:spPr bwMode="auto">
          <a:xfrm flipH="1" flipV="1">
            <a:off x="6138863" y="1871663"/>
            <a:ext cx="447675" cy="4476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98" name="AutoShape 1094"/>
          <p:cNvCxnSpPr>
            <a:cxnSpLocks noChangeShapeType="1"/>
            <a:stCxn id="1404941" idx="2"/>
            <a:endCxn id="1404945" idx="5"/>
          </p:cNvCxnSpPr>
          <p:nvPr/>
        </p:nvCxnSpPr>
        <p:spPr bwMode="auto">
          <a:xfrm flipH="1" flipV="1">
            <a:off x="5681663" y="1871663"/>
            <a:ext cx="795337" cy="1476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4999" name="AutoShape 1095"/>
          <p:cNvCxnSpPr>
            <a:cxnSpLocks noChangeShapeType="1"/>
            <a:stCxn id="1404948" idx="1"/>
            <a:endCxn id="1404945" idx="5"/>
          </p:cNvCxnSpPr>
          <p:nvPr/>
        </p:nvCxnSpPr>
        <p:spPr bwMode="auto">
          <a:xfrm flipH="1" flipV="1">
            <a:off x="5681663" y="1871663"/>
            <a:ext cx="904875" cy="4476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00" name="AutoShape 1096"/>
          <p:cNvCxnSpPr>
            <a:cxnSpLocks noChangeShapeType="1"/>
            <a:stCxn id="1404948" idx="1"/>
            <a:endCxn id="1404940" idx="6"/>
          </p:cNvCxnSpPr>
          <p:nvPr/>
        </p:nvCxnSpPr>
        <p:spPr bwMode="auto">
          <a:xfrm flipH="1" flipV="1">
            <a:off x="6248400" y="2095500"/>
            <a:ext cx="338138" cy="2238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01" name="AutoShape 1097"/>
          <p:cNvCxnSpPr>
            <a:cxnSpLocks noChangeShapeType="1"/>
            <a:stCxn id="1404944" idx="7"/>
            <a:endCxn id="1404941" idx="2"/>
          </p:cNvCxnSpPr>
          <p:nvPr/>
        </p:nvCxnSpPr>
        <p:spPr bwMode="auto">
          <a:xfrm flipV="1">
            <a:off x="5681663" y="2019300"/>
            <a:ext cx="795337" cy="5286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02" name="AutoShape 1098"/>
          <p:cNvCxnSpPr>
            <a:cxnSpLocks noChangeShapeType="1"/>
            <a:stCxn id="1404953" idx="4"/>
            <a:endCxn id="1404949" idx="0"/>
          </p:cNvCxnSpPr>
          <p:nvPr/>
        </p:nvCxnSpPr>
        <p:spPr bwMode="auto">
          <a:xfrm>
            <a:off x="7429500" y="2362200"/>
            <a:ext cx="152400" cy="457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03" name="AutoShape 1099"/>
          <p:cNvCxnSpPr>
            <a:cxnSpLocks noChangeShapeType="1"/>
            <a:stCxn id="1404953" idx="0"/>
            <a:endCxn id="1404957" idx="2"/>
          </p:cNvCxnSpPr>
          <p:nvPr/>
        </p:nvCxnSpPr>
        <p:spPr bwMode="auto">
          <a:xfrm flipV="1">
            <a:off x="7429500" y="1866900"/>
            <a:ext cx="266700" cy="2667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04" name="AutoShape 1100"/>
          <p:cNvCxnSpPr>
            <a:cxnSpLocks noChangeShapeType="1"/>
            <a:stCxn id="1404957" idx="6"/>
            <a:endCxn id="1404958" idx="2"/>
          </p:cNvCxnSpPr>
          <p:nvPr/>
        </p:nvCxnSpPr>
        <p:spPr bwMode="auto">
          <a:xfrm>
            <a:off x="7924800" y="1866900"/>
            <a:ext cx="1524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05" name="AutoShape 1101"/>
          <p:cNvCxnSpPr>
            <a:cxnSpLocks noChangeShapeType="1"/>
            <a:stCxn id="1404955" idx="7"/>
            <a:endCxn id="1404956" idx="3"/>
          </p:cNvCxnSpPr>
          <p:nvPr/>
        </p:nvCxnSpPr>
        <p:spPr bwMode="auto">
          <a:xfrm flipV="1">
            <a:off x="8272463" y="2633663"/>
            <a:ext cx="142875" cy="1428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06" name="AutoShape 1102"/>
          <p:cNvCxnSpPr>
            <a:cxnSpLocks noChangeShapeType="1"/>
            <a:stCxn id="1404949" idx="6"/>
            <a:endCxn id="1404955" idx="2"/>
          </p:cNvCxnSpPr>
          <p:nvPr/>
        </p:nvCxnSpPr>
        <p:spPr bwMode="auto">
          <a:xfrm flipV="1">
            <a:off x="7696200" y="2857500"/>
            <a:ext cx="381000" cy="76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07" name="AutoShape 1103"/>
          <p:cNvCxnSpPr>
            <a:cxnSpLocks noChangeShapeType="1"/>
            <a:stCxn id="1404956" idx="0"/>
            <a:endCxn id="1404954" idx="4"/>
          </p:cNvCxnSpPr>
          <p:nvPr/>
        </p:nvCxnSpPr>
        <p:spPr bwMode="auto">
          <a:xfrm flipV="1">
            <a:off x="8496300" y="2209800"/>
            <a:ext cx="0" cy="2286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08" name="AutoShape 1104"/>
          <p:cNvCxnSpPr>
            <a:cxnSpLocks noChangeShapeType="1"/>
            <a:stCxn id="1404958" idx="5"/>
            <a:endCxn id="1404954" idx="1"/>
          </p:cNvCxnSpPr>
          <p:nvPr/>
        </p:nvCxnSpPr>
        <p:spPr bwMode="auto">
          <a:xfrm>
            <a:off x="8272463" y="1947863"/>
            <a:ext cx="142875" cy="666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09" name="AutoShape 1105"/>
          <p:cNvCxnSpPr>
            <a:cxnSpLocks noChangeShapeType="1"/>
            <a:stCxn id="1404949" idx="7"/>
            <a:endCxn id="1404957" idx="4"/>
          </p:cNvCxnSpPr>
          <p:nvPr/>
        </p:nvCxnSpPr>
        <p:spPr bwMode="auto">
          <a:xfrm flipV="1">
            <a:off x="7662863" y="1981200"/>
            <a:ext cx="147637" cy="8715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10" name="AutoShape 1106"/>
          <p:cNvCxnSpPr>
            <a:cxnSpLocks noChangeShapeType="1"/>
            <a:stCxn id="1404949" idx="7"/>
            <a:endCxn id="1404958" idx="4"/>
          </p:cNvCxnSpPr>
          <p:nvPr/>
        </p:nvCxnSpPr>
        <p:spPr bwMode="auto">
          <a:xfrm flipV="1">
            <a:off x="7662863" y="1981200"/>
            <a:ext cx="528637" cy="8715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11" name="AutoShape 1107"/>
          <p:cNvCxnSpPr>
            <a:cxnSpLocks noChangeShapeType="1"/>
            <a:stCxn id="1404949" idx="7"/>
            <a:endCxn id="1404954" idx="3"/>
          </p:cNvCxnSpPr>
          <p:nvPr/>
        </p:nvCxnSpPr>
        <p:spPr bwMode="auto">
          <a:xfrm flipV="1">
            <a:off x="7662863" y="2176463"/>
            <a:ext cx="752475" cy="6762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12" name="AutoShape 1108"/>
          <p:cNvCxnSpPr>
            <a:cxnSpLocks noChangeShapeType="1"/>
            <a:stCxn id="1404949" idx="7"/>
            <a:endCxn id="1404956" idx="2"/>
          </p:cNvCxnSpPr>
          <p:nvPr/>
        </p:nvCxnSpPr>
        <p:spPr bwMode="auto">
          <a:xfrm flipV="1">
            <a:off x="7662863" y="2552700"/>
            <a:ext cx="719137" cy="3000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13" name="AutoShape 1109"/>
          <p:cNvCxnSpPr>
            <a:cxnSpLocks noChangeShapeType="1"/>
            <a:stCxn id="1404955" idx="1"/>
            <a:endCxn id="1404953" idx="5"/>
          </p:cNvCxnSpPr>
          <p:nvPr/>
        </p:nvCxnSpPr>
        <p:spPr bwMode="auto">
          <a:xfrm flipH="1" flipV="1">
            <a:off x="7510463" y="2328863"/>
            <a:ext cx="600075" cy="4476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14" name="AutoShape 1110"/>
          <p:cNvCxnSpPr>
            <a:cxnSpLocks noChangeShapeType="1"/>
            <a:stCxn id="1404953" idx="6"/>
            <a:endCxn id="1404957" idx="3"/>
          </p:cNvCxnSpPr>
          <p:nvPr/>
        </p:nvCxnSpPr>
        <p:spPr bwMode="auto">
          <a:xfrm flipV="1">
            <a:off x="7543800" y="1947863"/>
            <a:ext cx="185738" cy="3000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15" name="AutoShape 1111"/>
          <p:cNvCxnSpPr>
            <a:cxnSpLocks noChangeShapeType="1"/>
            <a:stCxn id="1404957" idx="4"/>
            <a:endCxn id="1404955" idx="0"/>
          </p:cNvCxnSpPr>
          <p:nvPr/>
        </p:nvCxnSpPr>
        <p:spPr bwMode="auto">
          <a:xfrm>
            <a:off x="7810500" y="1981200"/>
            <a:ext cx="381000" cy="7620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16" name="AutoShape 1112"/>
          <p:cNvCxnSpPr>
            <a:cxnSpLocks noChangeShapeType="1"/>
            <a:stCxn id="1404957" idx="5"/>
            <a:endCxn id="1404954" idx="2"/>
          </p:cNvCxnSpPr>
          <p:nvPr/>
        </p:nvCxnSpPr>
        <p:spPr bwMode="auto">
          <a:xfrm>
            <a:off x="7891463" y="1947863"/>
            <a:ext cx="490537" cy="1476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17" name="AutoShape 1113"/>
          <p:cNvCxnSpPr>
            <a:cxnSpLocks noChangeShapeType="1"/>
            <a:stCxn id="1404957" idx="5"/>
            <a:endCxn id="1404956" idx="1"/>
          </p:cNvCxnSpPr>
          <p:nvPr/>
        </p:nvCxnSpPr>
        <p:spPr bwMode="auto">
          <a:xfrm>
            <a:off x="7891463" y="1947863"/>
            <a:ext cx="523875" cy="5238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18" name="AutoShape 1114"/>
          <p:cNvCxnSpPr>
            <a:cxnSpLocks noChangeShapeType="1"/>
            <a:stCxn id="1404944" idx="5"/>
            <a:endCxn id="1404949" idx="2"/>
          </p:cNvCxnSpPr>
          <p:nvPr/>
        </p:nvCxnSpPr>
        <p:spPr bwMode="auto">
          <a:xfrm rot="16200000" flipH="1">
            <a:off x="6462713" y="1928813"/>
            <a:ext cx="223837" cy="1785937"/>
          </a:xfrm>
          <a:prstGeom prst="curvedConnector2">
            <a:avLst/>
          </a:pr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ffectLst/>
        </p:spPr>
      </p:cxnSp>
      <p:cxnSp>
        <p:nvCxnSpPr>
          <p:cNvPr id="1405019" name="AutoShape 1115"/>
          <p:cNvCxnSpPr>
            <a:cxnSpLocks noChangeShapeType="1"/>
            <a:stCxn id="1404941" idx="0"/>
            <a:endCxn id="1404958" idx="6"/>
          </p:cNvCxnSpPr>
          <p:nvPr/>
        </p:nvCxnSpPr>
        <p:spPr bwMode="auto">
          <a:xfrm rot="16200000">
            <a:off x="7429500" y="1028700"/>
            <a:ext cx="38100" cy="1714500"/>
          </a:xfrm>
          <a:prstGeom prst="curvedConnector4">
            <a:avLst>
              <a:gd name="adj1" fmla="val 1000000"/>
              <a:gd name="adj2" fmla="val 113333"/>
            </a:avLst>
          </a:pr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ffectLst/>
        </p:spPr>
      </p:cxnSp>
      <p:cxnSp>
        <p:nvCxnSpPr>
          <p:cNvPr id="1405020" name="AutoShape 1116"/>
          <p:cNvCxnSpPr>
            <a:cxnSpLocks noChangeShapeType="1"/>
            <a:stCxn id="1404939" idx="5"/>
            <a:endCxn id="1404945" idx="2"/>
          </p:cNvCxnSpPr>
          <p:nvPr/>
        </p:nvCxnSpPr>
        <p:spPr bwMode="auto">
          <a:xfrm rot="5400000" flipH="1" flipV="1">
            <a:off x="4552950" y="1852613"/>
            <a:ext cx="995363" cy="871537"/>
          </a:xfrm>
          <a:prstGeom prst="curvedConnector4">
            <a:avLst>
              <a:gd name="adj1" fmla="val -26315"/>
              <a:gd name="adj2" fmla="val 51912"/>
            </a:avLst>
          </a:pr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ffectLst/>
        </p:spPr>
      </p:cxnSp>
      <p:cxnSp>
        <p:nvCxnSpPr>
          <p:cNvPr id="1405021" name="AutoShape 1117"/>
          <p:cNvCxnSpPr>
            <a:cxnSpLocks noChangeShapeType="1"/>
            <a:stCxn id="1404953" idx="5"/>
            <a:endCxn id="1404954" idx="2"/>
          </p:cNvCxnSpPr>
          <p:nvPr/>
        </p:nvCxnSpPr>
        <p:spPr bwMode="auto">
          <a:xfrm flipV="1">
            <a:off x="7510463" y="2095500"/>
            <a:ext cx="871537" cy="2333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22" name="AutoShape 1118"/>
          <p:cNvCxnSpPr>
            <a:cxnSpLocks noChangeShapeType="1"/>
            <a:stCxn id="1404953" idx="5"/>
            <a:endCxn id="1404956" idx="2"/>
          </p:cNvCxnSpPr>
          <p:nvPr/>
        </p:nvCxnSpPr>
        <p:spPr bwMode="auto">
          <a:xfrm>
            <a:off x="7510463" y="2328863"/>
            <a:ext cx="871537" cy="2238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23" name="AutoShape 1119"/>
          <p:cNvCxnSpPr>
            <a:cxnSpLocks noChangeShapeType="1"/>
            <a:stCxn id="1404953" idx="5"/>
            <a:endCxn id="1404958" idx="4"/>
          </p:cNvCxnSpPr>
          <p:nvPr/>
        </p:nvCxnSpPr>
        <p:spPr bwMode="auto">
          <a:xfrm flipV="1">
            <a:off x="7510463" y="1981200"/>
            <a:ext cx="681037" cy="3476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24" name="AutoShape 1120"/>
          <p:cNvCxnSpPr>
            <a:cxnSpLocks noChangeShapeType="1"/>
            <a:stCxn id="1404959" idx="7"/>
            <a:endCxn id="1404963" idx="3"/>
          </p:cNvCxnSpPr>
          <p:nvPr/>
        </p:nvCxnSpPr>
        <p:spPr bwMode="auto">
          <a:xfrm flipV="1">
            <a:off x="5757863" y="3624263"/>
            <a:ext cx="142875" cy="1428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25" name="AutoShape 1121"/>
          <p:cNvCxnSpPr>
            <a:cxnSpLocks noChangeShapeType="1"/>
            <a:stCxn id="1404959" idx="4"/>
            <a:endCxn id="1404961" idx="0"/>
          </p:cNvCxnSpPr>
          <p:nvPr/>
        </p:nvCxnSpPr>
        <p:spPr bwMode="auto">
          <a:xfrm>
            <a:off x="5676900" y="3962400"/>
            <a:ext cx="76200" cy="3810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26" name="AutoShape 1122"/>
          <p:cNvCxnSpPr>
            <a:cxnSpLocks noChangeShapeType="1"/>
            <a:stCxn id="1404961" idx="6"/>
            <a:endCxn id="1404962" idx="2"/>
          </p:cNvCxnSpPr>
          <p:nvPr/>
        </p:nvCxnSpPr>
        <p:spPr bwMode="auto">
          <a:xfrm flipV="1">
            <a:off x="5867400" y="4381500"/>
            <a:ext cx="381000" cy="76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27" name="AutoShape 1123"/>
          <p:cNvCxnSpPr>
            <a:cxnSpLocks noChangeShapeType="1"/>
            <a:stCxn id="1404963" idx="6"/>
            <a:endCxn id="1404960" idx="1"/>
          </p:cNvCxnSpPr>
          <p:nvPr/>
        </p:nvCxnSpPr>
        <p:spPr bwMode="auto">
          <a:xfrm>
            <a:off x="6096000" y="3543300"/>
            <a:ext cx="185738" cy="2238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28" name="AutoShape 1124"/>
          <p:cNvCxnSpPr>
            <a:cxnSpLocks noChangeShapeType="1"/>
            <a:stCxn id="1404962" idx="0"/>
            <a:endCxn id="1404960" idx="4"/>
          </p:cNvCxnSpPr>
          <p:nvPr/>
        </p:nvCxnSpPr>
        <p:spPr bwMode="auto">
          <a:xfrm flipV="1">
            <a:off x="6362700" y="3962400"/>
            <a:ext cx="0" cy="304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29" name="AutoShape 1125"/>
          <p:cNvCxnSpPr>
            <a:cxnSpLocks noChangeShapeType="1"/>
            <a:stCxn id="1404959" idx="6"/>
            <a:endCxn id="1404960" idx="2"/>
          </p:cNvCxnSpPr>
          <p:nvPr/>
        </p:nvCxnSpPr>
        <p:spPr bwMode="auto">
          <a:xfrm>
            <a:off x="5791200" y="3848100"/>
            <a:ext cx="457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30" name="AutoShape 1126"/>
          <p:cNvCxnSpPr>
            <a:cxnSpLocks noChangeShapeType="1"/>
            <a:stCxn id="1404961" idx="7"/>
            <a:endCxn id="1404960" idx="3"/>
          </p:cNvCxnSpPr>
          <p:nvPr/>
        </p:nvCxnSpPr>
        <p:spPr bwMode="auto">
          <a:xfrm flipV="1">
            <a:off x="5834063" y="3929063"/>
            <a:ext cx="447675" cy="4476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31" name="AutoShape 1127"/>
          <p:cNvCxnSpPr>
            <a:cxnSpLocks noChangeShapeType="1"/>
            <a:stCxn id="1404962" idx="2"/>
            <a:endCxn id="1404959" idx="6"/>
          </p:cNvCxnSpPr>
          <p:nvPr/>
        </p:nvCxnSpPr>
        <p:spPr bwMode="auto">
          <a:xfrm flipH="1" flipV="1">
            <a:off x="5791200" y="3848100"/>
            <a:ext cx="45720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32" name="AutoShape 1128"/>
          <p:cNvCxnSpPr>
            <a:cxnSpLocks noChangeShapeType="1"/>
            <a:stCxn id="1404961" idx="7"/>
            <a:endCxn id="1404963" idx="4"/>
          </p:cNvCxnSpPr>
          <p:nvPr/>
        </p:nvCxnSpPr>
        <p:spPr bwMode="auto">
          <a:xfrm flipV="1">
            <a:off x="5834063" y="3657600"/>
            <a:ext cx="147637" cy="7191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33" name="AutoShape 1129"/>
          <p:cNvCxnSpPr>
            <a:cxnSpLocks noChangeShapeType="1"/>
            <a:stCxn id="1404962" idx="1"/>
            <a:endCxn id="1404963" idx="4"/>
          </p:cNvCxnSpPr>
          <p:nvPr/>
        </p:nvCxnSpPr>
        <p:spPr bwMode="auto">
          <a:xfrm flipH="1" flipV="1">
            <a:off x="5981700" y="3657600"/>
            <a:ext cx="300038" cy="6429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1405034" name="Oval 1130"/>
          <p:cNvSpPr>
            <a:spLocks noChangeArrowheads="1"/>
          </p:cNvSpPr>
          <p:nvPr/>
        </p:nvSpPr>
        <p:spPr bwMode="auto">
          <a:xfrm>
            <a:off x="7239000" y="381000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5035" name="Oval 1131"/>
          <p:cNvSpPr>
            <a:spLocks noChangeArrowheads="1"/>
          </p:cNvSpPr>
          <p:nvPr/>
        </p:nvSpPr>
        <p:spPr bwMode="auto">
          <a:xfrm>
            <a:off x="8534400" y="3581400"/>
            <a:ext cx="228600" cy="228600"/>
          </a:xfrm>
          <a:prstGeom prst="ellipse">
            <a:avLst/>
          </a:prstGeom>
          <a:solidFill>
            <a:schemeClr val="hlink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5036" name="Oval 1132"/>
          <p:cNvSpPr>
            <a:spLocks noChangeArrowheads="1"/>
          </p:cNvSpPr>
          <p:nvPr/>
        </p:nvSpPr>
        <p:spPr bwMode="auto">
          <a:xfrm>
            <a:off x="7696200" y="4495800"/>
            <a:ext cx="228600" cy="228600"/>
          </a:xfrm>
          <a:prstGeom prst="ellipse">
            <a:avLst/>
          </a:prstGeom>
          <a:solidFill>
            <a:schemeClr val="accent2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5037" name="Oval 1133"/>
          <p:cNvSpPr>
            <a:spLocks noChangeArrowheads="1"/>
          </p:cNvSpPr>
          <p:nvPr/>
        </p:nvSpPr>
        <p:spPr bwMode="auto">
          <a:xfrm>
            <a:off x="8305800" y="426720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sp>
        <p:nvSpPr>
          <p:cNvPr id="1405038" name="Oval 1134"/>
          <p:cNvSpPr>
            <a:spLocks noChangeArrowheads="1"/>
          </p:cNvSpPr>
          <p:nvPr/>
        </p:nvSpPr>
        <p:spPr bwMode="auto">
          <a:xfrm>
            <a:off x="7924800" y="342900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fi-FI"/>
          </a:p>
        </p:txBody>
      </p:sp>
      <p:cxnSp>
        <p:nvCxnSpPr>
          <p:cNvPr id="1405039" name="AutoShape 1135"/>
          <p:cNvCxnSpPr>
            <a:cxnSpLocks noChangeShapeType="1"/>
            <a:stCxn id="1405034" idx="7"/>
            <a:endCxn id="1405038" idx="3"/>
          </p:cNvCxnSpPr>
          <p:nvPr/>
        </p:nvCxnSpPr>
        <p:spPr bwMode="auto">
          <a:xfrm flipV="1">
            <a:off x="7434263" y="3624263"/>
            <a:ext cx="523875" cy="2190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40" name="AutoShape 1136"/>
          <p:cNvCxnSpPr>
            <a:cxnSpLocks noChangeShapeType="1"/>
            <a:stCxn id="1405034" idx="4"/>
            <a:endCxn id="1405036" idx="0"/>
          </p:cNvCxnSpPr>
          <p:nvPr/>
        </p:nvCxnSpPr>
        <p:spPr bwMode="auto">
          <a:xfrm>
            <a:off x="7353300" y="4038600"/>
            <a:ext cx="457200" cy="457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41" name="AutoShape 1137"/>
          <p:cNvCxnSpPr>
            <a:cxnSpLocks noChangeShapeType="1"/>
            <a:stCxn id="1405036" idx="6"/>
            <a:endCxn id="1405037" idx="2"/>
          </p:cNvCxnSpPr>
          <p:nvPr/>
        </p:nvCxnSpPr>
        <p:spPr bwMode="auto">
          <a:xfrm flipV="1">
            <a:off x="7924800" y="4381500"/>
            <a:ext cx="381000" cy="2286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42" name="AutoShape 1138"/>
          <p:cNvCxnSpPr>
            <a:cxnSpLocks noChangeShapeType="1"/>
            <a:stCxn id="1405038" idx="6"/>
            <a:endCxn id="1405035" idx="1"/>
          </p:cNvCxnSpPr>
          <p:nvPr/>
        </p:nvCxnSpPr>
        <p:spPr bwMode="auto">
          <a:xfrm>
            <a:off x="8153400" y="3543300"/>
            <a:ext cx="414338" cy="714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43" name="AutoShape 1139"/>
          <p:cNvCxnSpPr>
            <a:cxnSpLocks noChangeShapeType="1"/>
            <a:stCxn id="1405037" idx="0"/>
            <a:endCxn id="1405035" idx="4"/>
          </p:cNvCxnSpPr>
          <p:nvPr/>
        </p:nvCxnSpPr>
        <p:spPr bwMode="auto">
          <a:xfrm flipV="1">
            <a:off x="8420100" y="3810000"/>
            <a:ext cx="228600" cy="457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44" name="AutoShape 1140"/>
          <p:cNvCxnSpPr>
            <a:cxnSpLocks noChangeShapeType="1"/>
            <a:stCxn id="1405034" idx="6"/>
            <a:endCxn id="1405035" idx="2"/>
          </p:cNvCxnSpPr>
          <p:nvPr/>
        </p:nvCxnSpPr>
        <p:spPr bwMode="auto">
          <a:xfrm flipV="1">
            <a:off x="7467600" y="3695700"/>
            <a:ext cx="1066800" cy="2286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45" name="AutoShape 1141"/>
          <p:cNvCxnSpPr>
            <a:cxnSpLocks noChangeShapeType="1"/>
            <a:stCxn id="1405036" idx="7"/>
            <a:endCxn id="1405035" idx="3"/>
          </p:cNvCxnSpPr>
          <p:nvPr/>
        </p:nvCxnSpPr>
        <p:spPr bwMode="auto">
          <a:xfrm flipV="1">
            <a:off x="7891463" y="3776663"/>
            <a:ext cx="676275" cy="7524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46" name="AutoShape 1142"/>
          <p:cNvCxnSpPr>
            <a:cxnSpLocks noChangeShapeType="1"/>
            <a:stCxn id="1405037" idx="2"/>
            <a:endCxn id="1405034" idx="6"/>
          </p:cNvCxnSpPr>
          <p:nvPr/>
        </p:nvCxnSpPr>
        <p:spPr bwMode="auto">
          <a:xfrm flipH="1" flipV="1">
            <a:off x="7467600" y="3924300"/>
            <a:ext cx="838200" cy="457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47" name="AutoShape 1143"/>
          <p:cNvCxnSpPr>
            <a:cxnSpLocks noChangeShapeType="1"/>
            <a:stCxn id="1405036" idx="7"/>
            <a:endCxn id="1405038" idx="4"/>
          </p:cNvCxnSpPr>
          <p:nvPr/>
        </p:nvCxnSpPr>
        <p:spPr bwMode="auto">
          <a:xfrm flipV="1">
            <a:off x="7891463" y="3657600"/>
            <a:ext cx="147637" cy="8715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48" name="AutoShape 1144"/>
          <p:cNvCxnSpPr>
            <a:cxnSpLocks noChangeShapeType="1"/>
            <a:stCxn id="1405037" idx="1"/>
            <a:endCxn id="1405038" idx="4"/>
          </p:cNvCxnSpPr>
          <p:nvPr/>
        </p:nvCxnSpPr>
        <p:spPr bwMode="auto">
          <a:xfrm flipH="1" flipV="1">
            <a:off x="8039100" y="3657600"/>
            <a:ext cx="300038" cy="6429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05049" name="AutoShape 1145"/>
          <p:cNvCxnSpPr>
            <a:cxnSpLocks noChangeShapeType="1"/>
            <a:stCxn id="1404950" idx="7"/>
            <a:endCxn id="1404959" idx="1"/>
          </p:cNvCxnSpPr>
          <p:nvPr/>
        </p:nvCxnSpPr>
        <p:spPr bwMode="auto">
          <a:xfrm rot="5400000" flipV="1">
            <a:off x="5066507" y="3239294"/>
            <a:ext cx="1587" cy="1057275"/>
          </a:xfrm>
          <a:prstGeom prst="curvedConnector3">
            <a:avLst>
              <a:gd name="adj1" fmla="val -16500000"/>
            </a:avLst>
          </a:pr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ffectLst/>
        </p:spPr>
      </p:cxnSp>
      <p:cxnSp>
        <p:nvCxnSpPr>
          <p:cNvPr id="1405050" name="AutoShape 1146"/>
          <p:cNvCxnSpPr>
            <a:cxnSpLocks noChangeShapeType="1"/>
            <a:stCxn id="1404963" idx="0"/>
            <a:endCxn id="1404949" idx="3"/>
          </p:cNvCxnSpPr>
          <p:nvPr/>
        </p:nvCxnSpPr>
        <p:spPr bwMode="auto">
          <a:xfrm rot="16200000">
            <a:off x="6534150" y="2462213"/>
            <a:ext cx="414337" cy="1519238"/>
          </a:xfrm>
          <a:prstGeom prst="curvedConnector3">
            <a:avLst>
              <a:gd name="adj1" fmla="val 45977"/>
            </a:avLst>
          </a:pr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ffectLst/>
        </p:spPr>
      </p:cxnSp>
      <p:cxnSp>
        <p:nvCxnSpPr>
          <p:cNvPr id="1405051" name="AutoShape 1147"/>
          <p:cNvCxnSpPr>
            <a:cxnSpLocks noChangeShapeType="1"/>
            <a:stCxn id="1405038" idx="7"/>
            <a:endCxn id="1404956" idx="4"/>
          </p:cNvCxnSpPr>
          <p:nvPr/>
        </p:nvCxnSpPr>
        <p:spPr bwMode="auto">
          <a:xfrm rot="16200000">
            <a:off x="7910513" y="2876550"/>
            <a:ext cx="795338" cy="376237"/>
          </a:xfrm>
          <a:prstGeom prst="curvedConnector3">
            <a:avLst>
              <a:gd name="adj1" fmla="val 52097"/>
            </a:avLst>
          </a:prstGeom>
          <a:noFill/>
          <a:ln w="12700">
            <a:solidFill>
              <a:schemeClr val="accent2"/>
            </a:solidFill>
            <a:prstDash val="dash"/>
            <a:round/>
            <a:headEnd/>
            <a:tailEnd/>
          </a:ln>
          <a:effectLst/>
        </p:spPr>
      </p:cxnSp>
      <p:sp>
        <p:nvSpPr>
          <p:cNvPr id="1405052" name="Rectangle 1148"/>
          <p:cNvSpPr>
            <a:spLocks noChangeArrowheads="1"/>
          </p:cNvSpPr>
          <p:nvPr/>
        </p:nvSpPr>
        <p:spPr bwMode="auto">
          <a:xfrm>
            <a:off x="152400" y="1524000"/>
            <a:ext cx="29718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l" defTabSz="7620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Font typeface="Times" pitchFamily="18" charset="0"/>
              <a:buNone/>
            </a:pPr>
            <a:r>
              <a:rPr lang="en-US" sz="1600">
                <a:latin typeface="Arial" pitchFamily="34" charset="0"/>
              </a:rPr>
              <a:t>Small teams with shared interest</a:t>
            </a:r>
          </a:p>
          <a:p>
            <a:pPr marL="377825" lvl="1" indent="-187325" algn="l" defTabSz="762000"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Times" pitchFamily="18" charset="0"/>
              <a:buChar char="•"/>
            </a:pPr>
            <a:r>
              <a:rPr lang="en-GB" sz="1400">
                <a:latin typeface="Arial" pitchFamily="34" charset="0"/>
              </a:rPr>
              <a:t>Developing a component, subsystem, system</a:t>
            </a:r>
          </a:p>
          <a:p>
            <a:pPr marL="377825" lvl="1" indent="-187325" algn="l" defTabSz="762000"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Times" pitchFamily="18" charset="0"/>
              <a:buChar char="•"/>
            </a:pPr>
            <a:r>
              <a:rPr lang="en-GB" sz="1400">
                <a:latin typeface="Arial" pitchFamily="34" charset="0"/>
              </a:rPr>
              <a:t>Delivering good quality requires testing skills in teams</a:t>
            </a:r>
          </a:p>
          <a:p>
            <a:pPr algn="l" defTabSz="7620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Font typeface="Times" pitchFamily="18" charset="0"/>
              <a:buNone/>
            </a:pPr>
            <a:r>
              <a:rPr lang="en-GB" sz="1600">
                <a:latin typeface="Arial" pitchFamily="34" charset="0"/>
              </a:rPr>
              <a:t>Teams for integrating components, subsystems</a:t>
            </a:r>
          </a:p>
          <a:p>
            <a:pPr marL="377825" lvl="1" indent="-187325" algn="l" defTabSz="762000"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Times" pitchFamily="18" charset="0"/>
              <a:buChar char="•"/>
            </a:pPr>
            <a:r>
              <a:rPr lang="en-GB" sz="1400">
                <a:latin typeface="Arial" pitchFamily="34" charset="0"/>
              </a:rPr>
              <a:t>Inherently more testing-type of work</a:t>
            </a:r>
          </a:p>
          <a:p>
            <a:pPr algn="l" defTabSz="7620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Font typeface="Times" pitchFamily="18" charset="0"/>
              <a:buNone/>
            </a:pPr>
            <a:r>
              <a:rPr lang="en-GB" sz="1600">
                <a:latin typeface="Arial" pitchFamily="34" charset="0"/>
              </a:rPr>
              <a:t>Community of practice is networking </a:t>
            </a:r>
          </a:p>
          <a:p>
            <a:pPr marL="377825" lvl="1" indent="-187325" algn="l" defTabSz="762000"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Times" pitchFamily="18" charset="0"/>
              <a:buChar char="•"/>
            </a:pPr>
            <a:r>
              <a:rPr lang="en-GB" sz="1400">
                <a:latin typeface="Arial" pitchFamily="34" charset="0"/>
              </a:rPr>
              <a:t>With a shared topic</a:t>
            </a:r>
          </a:p>
          <a:p>
            <a:pPr algn="l" defTabSz="7620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Font typeface="Times" pitchFamily="18" charset="0"/>
              <a:buNone/>
            </a:pPr>
            <a:r>
              <a:rPr lang="en-GB" sz="1600">
                <a:latin typeface="Arial" pitchFamily="34" charset="0"/>
              </a:rPr>
              <a:t>Documents as products between teams</a:t>
            </a:r>
          </a:p>
          <a:p>
            <a:pPr marL="377825" lvl="1" indent="-187325" algn="l" defTabSz="762000"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Times" pitchFamily="18" charset="0"/>
              <a:buChar char="•"/>
            </a:pPr>
            <a:r>
              <a:rPr lang="en-GB" sz="1400">
                <a:latin typeface="Arial" pitchFamily="34" charset="0"/>
              </a:rPr>
              <a:t>Architecture, communication protocols</a:t>
            </a:r>
          </a:p>
        </p:txBody>
      </p:sp>
      <p:sp>
        <p:nvSpPr>
          <p:cNvPr id="1405053" name="Rectangle 1149"/>
          <p:cNvSpPr>
            <a:spLocks noChangeArrowheads="1"/>
          </p:cNvSpPr>
          <p:nvPr/>
        </p:nvSpPr>
        <p:spPr bwMode="auto">
          <a:xfrm>
            <a:off x="3581400" y="5181600"/>
            <a:ext cx="5334000" cy="990600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lIns="90000" tIns="46800" rIns="90000" bIns="4680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“System testing” is Community of Practice of testing subsystems, facilitated to the systems picture.</a:t>
            </a:r>
          </a:p>
        </p:txBody>
      </p:sp>
      <p:sp>
        <p:nvSpPr>
          <p:cNvPr id="126" name="Slide Number Placeholder 1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1822</TotalTime>
  <Words>1220</Words>
  <Application>Microsoft Office PowerPoint</Application>
  <PresentationFormat>On-screen Show (4:3)</PresentationFormat>
  <Paragraphs>256</Paragraphs>
  <Slides>21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Roles AND SKILLS – MORE STUFF</vt:lpstr>
      <vt:lpstr>SCRUM MASTER TASKS</vt:lpstr>
      <vt:lpstr>Building a Self-Organized Team</vt:lpstr>
      <vt:lpstr>Unable, Unwilling</vt:lpstr>
      <vt:lpstr>Unable, Willing</vt:lpstr>
      <vt:lpstr>Able, Unwilling</vt:lpstr>
      <vt:lpstr>Able, Willing</vt:lpstr>
      <vt:lpstr>Constant Responsibilities</vt:lpstr>
      <vt:lpstr>Testausvastaavan rooli</vt:lpstr>
      <vt:lpstr>Pääteemat tehtäville – ketterät projektit</vt:lpstr>
      <vt:lpstr>Tehtävää ketterän projektin testausvastaavalle (1/3)</vt:lpstr>
      <vt:lpstr>Tehtävää ketterän projektin testausvastaavalle (2/3)</vt:lpstr>
      <vt:lpstr>Tehtävää ketterän projektin testausvastaavalle (3/3)</vt:lpstr>
      <vt:lpstr>Pääteemat tehtäville – perinteiset projektit</vt:lpstr>
      <vt:lpstr>Perinteisiä testausvastaavan tehtäviä (1/5)</vt:lpstr>
      <vt:lpstr>Testausvastaavan tehtäviä (2/5)</vt:lpstr>
      <vt:lpstr>Testausvastaavan tehtäviä (3/5)</vt:lpstr>
      <vt:lpstr>Testausvastaavan tehtäviä (4/5)</vt:lpstr>
      <vt:lpstr>Testausvastaavan tehtäviä (5/5)</vt:lpstr>
      <vt:lpstr>Ideas, Thoughts,  Questions?</vt:lpstr>
      <vt:lpstr>Organizing for Agility – Testing Specialty in Team vs. as a Community of Practice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Roles AND SKILLS – MORE STUFF</dc:title>
  <dc:creator>Maaret Pyhäjärvi</dc:creator>
  <cp:lastModifiedBy>maarit</cp:lastModifiedBy>
  <cp:revision>2</cp:revision>
  <dcterms:created xsi:type="dcterms:W3CDTF">2006-08-16T00:00:00Z</dcterms:created>
  <dcterms:modified xsi:type="dcterms:W3CDTF">2011-04-06T03:56:41Z</dcterms:modified>
</cp:coreProperties>
</file>